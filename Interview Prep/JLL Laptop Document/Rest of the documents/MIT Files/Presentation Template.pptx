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1"/>
  </p:notesMasterIdLst>
  <p:sldIdLst>
    <p:sldId id="258" r:id="rId2"/>
    <p:sldId id="324" r:id="rId3"/>
    <p:sldId id="259" r:id="rId4"/>
    <p:sldId id="261" r:id="rId5"/>
    <p:sldId id="321" r:id="rId6"/>
    <p:sldId id="332" r:id="rId7"/>
    <p:sldId id="329" r:id="rId8"/>
    <p:sldId id="331" r:id="rId9"/>
    <p:sldId id="335" r:id="rId10"/>
    <p:sldId id="328" r:id="rId11"/>
    <p:sldId id="327" r:id="rId12"/>
    <p:sldId id="330" r:id="rId13"/>
    <p:sldId id="334" r:id="rId14"/>
    <p:sldId id="326" r:id="rId15"/>
    <p:sldId id="325" r:id="rId16"/>
    <p:sldId id="333" r:id="rId17"/>
    <p:sldId id="319" r:id="rId18"/>
    <p:sldId id="315" r:id="rId19"/>
    <p:sldId id="336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hailendra Kumar Tiwari [MAHE-MIT]" initials="SKT[" lastIdx="1" clrIdx="0">
    <p:extLst>
      <p:ext uri="{19B8F6BF-5375-455C-9EA6-DF929625EA0E}">
        <p15:presenceInfo xmlns:p15="http://schemas.microsoft.com/office/powerpoint/2012/main" userId="Shailendra Kumar Tiwari [MAHE-MIT]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91" autoAdjust="0"/>
    <p:restoredTop sz="94660"/>
  </p:normalViewPr>
  <p:slideViewPr>
    <p:cSldViewPr snapToGrid="0">
      <p:cViewPr varScale="1">
        <p:scale>
          <a:sx n="72" d="100"/>
          <a:sy n="72" d="100"/>
        </p:scale>
        <p:origin x="138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9BF506-0E96-4672-8AAA-51ADB26D195F}" type="datetimeFigureOut">
              <a:rPr lang="en-US" smtClean="0"/>
              <a:t>7/29/2020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117821-F1AB-4BE7-812D-2670E5E63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383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A5FC6-1582-4866-90B0-738593B0F24D}" type="datetime1">
              <a:rPr lang="en-US" smtClean="0"/>
              <a:t>7/29/2020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E7C23E-AE08-4D15-8639-83F8BBCB3D7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2023" y="114999"/>
            <a:ext cx="690393" cy="1007365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66B9F98-0B03-4A26-8ECF-A605EA98FE5F}"/>
              </a:ext>
            </a:extLst>
          </p:cNvPr>
          <p:cNvCxnSpPr/>
          <p:nvPr userDrawn="1"/>
        </p:nvCxnSpPr>
        <p:spPr>
          <a:xfrm>
            <a:off x="0" y="1120014"/>
            <a:ext cx="9144000" cy="0"/>
          </a:xfrm>
          <a:prstGeom prst="line">
            <a:avLst/>
          </a:prstGeom>
          <a:ln w="101600" cmpd="tri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27E43675-2C7F-461B-91BA-4224D189855E}"/>
              </a:ext>
            </a:extLst>
          </p:cNvPr>
          <p:cNvSpPr/>
          <p:nvPr userDrawn="1"/>
        </p:nvSpPr>
        <p:spPr>
          <a:xfrm>
            <a:off x="0" y="6508955"/>
            <a:ext cx="9144000" cy="34904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350" dirty="0"/>
              <a:t>Department of Electronics &amp; Communication Engineering, MIT, Manipal</a:t>
            </a:r>
          </a:p>
        </p:txBody>
      </p:sp>
    </p:spTree>
    <p:extLst>
      <p:ext uri="{BB962C8B-B14F-4D97-AF65-F5344CB8AC3E}">
        <p14:creationId xmlns:p14="http://schemas.microsoft.com/office/powerpoint/2010/main" val="4287210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B2C62-AC8A-468D-8A2E-0C1EE2EC5F12}" type="datetime1">
              <a:rPr lang="en-US" smtClean="0"/>
              <a:t>7/29/2020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5B487-FC57-4F97-9B07-BA739D4FB7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274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715F4-9713-4221-B05D-A3E5AF526F63}" type="datetime1">
              <a:rPr lang="en-US" smtClean="0"/>
              <a:t>7/29/2020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5B487-FC57-4F97-9B07-BA739D4FB7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113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73939-D53C-43D3-BE79-A232C7580597}" type="datetime1">
              <a:rPr lang="en-US" smtClean="0"/>
              <a:t>7/29/2020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5B487-FC57-4F97-9B07-BA739D4FB7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614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FE1DB-E981-482D-9A0C-635178E6EBF3}" type="datetime1">
              <a:rPr lang="en-US" smtClean="0"/>
              <a:t>7/29/2020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5B487-FC57-4F97-9B07-BA739D4FB7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72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7E347-D4CA-469D-B11D-0317CE77DB0C}" type="datetime1">
              <a:rPr lang="en-US" smtClean="0"/>
              <a:t>7/29/2020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5B487-FC57-4F97-9B07-BA739D4FB7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295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93F61-A016-46C9-B3E6-A1CF4D5574DA}" type="datetime1">
              <a:rPr lang="en-US" smtClean="0"/>
              <a:t>7/29/2020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5B487-FC57-4F97-9B07-BA739D4FB7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781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E5EB4-3A82-4066-9BEC-203D834196B0}" type="datetime1">
              <a:rPr lang="en-US" smtClean="0"/>
              <a:t>7/29/2020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5B487-FC57-4F97-9B07-BA739D4FB7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028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8665B-5A1B-4B81-8C16-F45C9DF2DA13}" type="datetime1">
              <a:rPr lang="en-US" smtClean="0"/>
              <a:t>7/29/2020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5B487-FC57-4F97-9B07-BA739D4FB7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264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37317-73A9-4CB6-A075-C72507127F3A}" type="datetime1">
              <a:rPr lang="en-US" smtClean="0"/>
              <a:t>7/29/2020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5B487-FC57-4F97-9B07-BA739D4FB7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75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0797A-3773-4C7C-9A7A-D4A1C55CA16C}" type="datetime1">
              <a:rPr lang="en-US" smtClean="0"/>
              <a:t>7/29/2020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5B487-FC57-4F97-9B07-BA739D4FB7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617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8BBAD7-2265-4275-A6D5-7FC2000125C8}" type="datetime1">
              <a:rPr lang="en-US" smtClean="0"/>
              <a:t>7/29/2020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F5B487-FC57-4F97-9B07-BA739D4FB7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80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fi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spark.apache.org/docs" TargetMode="External"/><Relationship Id="rId2" Type="http://schemas.openxmlformats.org/officeDocument/2006/relationships/hyperlink" Target="https://docs.aws.amazon.com/awsaccountbilling/latest/aboutv2/cost-alloc-tags.html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ocs.microsoft.com/en-us/azure/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0" y="1185085"/>
            <a:ext cx="9144000" cy="5232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SG" sz="3200" b="1" dirty="0">
                <a:solidFill>
                  <a:srgbClr val="3333FF"/>
                </a:solidFill>
              </a:rPr>
              <a:t>ETL Pipeline Design</a:t>
            </a:r>
            <a:endParaRPr lang="en-IN" sz="3200" dirty="0">
              <a:solidFill>
                <a:srgbClr val="3333FF"/>
              </a:solidFill>
            </a:endParaRPr>
          </a:p>
          <a:p>
            <a:pPr algn="ctr"/>
            <a:endParaRPr lang="en-IN" sz="1600" dirty="0"/>
          </a:p>
          <a:p>
            <a:pPr algn="ctr"/>
            <a:r>
              <a:rPr lang="en-GB" i="1" dirty="0"/>
              <a:t>A Graduate Project Mid Term Report submitted to Manipal Academy of Higher Education in partial fulfilment of the requirement for the award of the degree of </a:t>
            </a:r>
            <a:endParaRPr lang="en-IN" dirty="0"/>
          </a:p>
          <a:p>
            <a:pPr algn="ctr"/>
            <a:r>
              <a:rPr lang="en-GB" sz="1600" b="1" dirty="0"/>
              <a:t> </a:t>
            </a:r>
            <a:endParaRPr lang="en-IN" sz="1600" dirty="0"/>
          </a:p>
          <a:p>
            <a:pPr algn="ctr"/>
            <a:r>
              <a:rPr lang="en-GB" sz="1600" b="1" dirty="0"/>
              <a:t>BACHELOR OF TECHNOLOGY</a:t>
            </a:r>
            <a:endParaRPr lang="en-IN" sz="1600" dirty="0"/>
          </a:p>
          <a:p>
            <a:pPr algn="ctr"/>
            <a:r>
              <a:rPr lang="en-GB" sz="1600" b="1" dirty="0"/>
              <a:t>in</a:t>
            </a:r>
            <a:endParaRPr lang="en-IN" sz="1600" dirty="0"/>
          </a:p>
          <a:p>
            <a:pPr algn="ctr"/>
            <a:r>
              <a:rPr lang="en-GB" sz="1600" b="1" dirty="0"/>
              <a:t> </a:t>
            </a:r>
            <a:endParaRPr lang="en-IN" sz="1600" dirty="0"/>
          </a:p>
          <a:p>
            <a:pPr algn="ctr"/>
            <a:r>
              <a:rPr lang="en-GB" sz="2000" b="1" dirty="0"/>
              <a:t>Electronics and Communication Engineering</a:t>
            </a:r>
            <a:endParaRPr lang="en-IN" sz="2000" dirty="0"/>
          </a:p>
          <a:p>
            <a:pPr algn="ctr"/>
            <a:r>
              <a:rPr lang="en-GB" sz="1600" b="1" dirty="0"/>
              <a:t> </a:t>
            </a:r>
            <a:endParaRPr lang="en-IN" sz="1600" dirty="0"/>
          </a:p>
          <a:p>
            <a:pPr algn="ctr"/>
            <a:r>
              <a:rPr lang="en-GB" sz="1600" i="1" dirty="0"/>
              <a:t>Submitted by</a:t>
            </a:r>
            <a:endParaRPr lang="en-IN" sz="1600" dirty="0"/>
          </a:p>
          <a:p>
            <a:pPr algn="ctr"/>
            <a:r>
              <a:rPr lang="en-GB" sz="2000" b="1" dirty="0">
                <a:solidFill>
                  <a:srgbClr val="C00000"/>
                </a:solidFill>
              </a:rPr>
              <a:t>    </a:t>
            </a:r>
            <a:r>
              <a:rPr lang="en-US" sz="2000" b="1" dirty="0">
                <a:solidFill>
                  <a:srgbClr val="C00000"/>
                </a:solidFill>
              </a:rPr>
              <a:t>Shivam Pathak</a:t>
            </a:r>
            <a:endParaRPr lang="en-IN" sz="2000" dirty="0">
              <a:solidFill>
                <a:srgbClr val="C00000"/>
              </a:solidFill>
            </a:endParaRPr>
          </a:p>
          <a:p>
            <a:pPr algn="ctr"/>
            <a:r>
              <a:rPr lang="en-GB" sz="1600" dirty="0"/>
              <a:t> Reg No. 160907344</a:t>
            </a:r>
            <a:endParaRPr lang="en-IN" sz="1600" dirty="0"/>
          </a:p>
          <a:p>
            <a:pPr algn="ctr"/>
            <a:r>
              <a:rPr lang="en-GB" sz="1600" i="1" dirty="0"/>
              <a:t>Under the guidance of</a:t>
            </a:r>
            <a:endParaRPr lang="en-IN" sz="1600" dirty="0"/>
          </a:p>
          <a:p>
            <a:pPr algn="ctr"/>
            <a:br>
              <a:rPr lang="en-GB" sz="1600" dirty="0"/>
            </a:br>
            <a:r>
              <a:rPr lang="en-GB" sz="1600" dirty="0"/>
              <a:t> </a:t>
            </a:r>
            <a:endParaRPr lang="en-IN" sz="1600" dirty="0"/>
          </a:p>
          <a:p>
            <a:pPr algn="ctr"/>
            <a:r>
              <a:rPr lang="en-GB" b="1" dirty="0">
                <a:solidFill>
                  <a:srgbClr val="FF0000"/>
                </a:solidFill>
              </a:rPr>
              <a:t>Internal Guide</a:t>
            </a:r>
            <a:r>
              <a:rPr lang="en-GB" sz="1600" b="1" dirty="0"/>
              <a:t>			                                            </a:t>
            </a:r>
            <a:r>
              <a:rPr lang="en-GB" b="1" dirty="0">
                <a:solidFill>
                  <a:srgbClr val="FF0000"/>
                </a:solidFill>
              </a:rPr>
              <a:t> External Guide  </a:t>
            </a:r>
            <a:endParaRPr lang="en-GB" sz="1600" b="1" dirty="0">
              <a:solidFill>
                <a:srgbClr val="FF0000"/>
              </a:solidFill>
            </a:endParaRPr>
          </a:p>
          <a:p>
            <a:pPr algn="just"/>
            <a:r>
              <a:rPr lang="en-GB" sz="1600" b="1" dirty="0"/>
              <a:t>            Name - </a:t>
            </a:r>
            <a:r>
              <a:rPr lang="en-GB" sz="1600" b="1" dirty="0" err="1"/>
              <a:t>Dr.</a:t>
            </a:r>
            <a:r>
              <a:rPr lang="en-GB" sz="1600" b="1" dirty="0"/>
              <a:t> </a:t>
            </a:r>
            <a:r>
              <a:rPr lang="en-GB" sz="1600" b="1" dirty="0" err="1"/>
              <a:t>Somashekara</a:t>
            </a:r>
            <a:r>
              <a:rPr lang="en-GB" sz="1600" b="1" dirty="0"/>
              <a:t> Bhat			Name - Mr Joseph Vinod Miranda                                 Affiliation	- Professor, MIT Manipal 		          Affiliation - Senior Director, Data Management</a:t>
            </a:r>
          </a:p>
        </p:txBody>
      </p:sp>
    </p:spTree>
    <p:extLst>
      <p:ext uri="{BB962C8B-B14F-4D97-AF65-F5344CB8AC3E}">
        <p14:creationId xmlns:p14="http://schemas.microsoft.com/office/powerpoint/2010/main" val="2638537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DA0CCE-68A2-44BA-9815-114247EE18B0}"/>
              </a:ext>
            </a:extLst>
          </p:cNvPr>
          <p:cNvSpPr txBox="1"/>
          <p:nvPr/>
        </p:nvSpPr>
        <p:spPr>
          <a:xfrm>
            <a:off x="1683028" y="344558"/>
            <a:ext cx="60562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About JLL</a:t>
            </a:r>
            <a:endParaRPr lang="en-SG" sz="3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D9541F-12AF-44A1-BEE5-C51001F0DF2F}"/>
              </a:ext>
            </a:extLst>
          </p:cNvPr>
          <p:cNvSpPr txBox="1"/>
          <p:nvPr/>
        </p:nvSpPr>
        <p:spPr>
          <a:xfrm>
            <a:off x="331304" y="1524000"/>
            <a:ext cx="8176592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000" dirty="0"/>
              <a:t>JLL is Commercial Real Estate Company</a:t>
            </a:r>
          </a:p>
          <a:p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sz="2000" dirty="0"/>
              <a:t>JLL Technologies supports the technical projects for various </a:t>
            </a:r>
            <a:r>
              <a:rPr lang="en-US" sz="2000" dirty="0" err="1"/>
              <a:t>Cleints</a:t>
            </a:r>
            <a:r>
              <a:rPr lang="en-US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70730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259307" y="1427333"/>
            <a:ext cx="8666329" cy="4154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l">
              <a:spcBef>
                <a:spcPct val="50000"/>
              </a:spcBef>
              <a:spcAft>
                <a:spcPct val="50000"/>
              </a:spcAft>
              <a:buFontTx/>
              <a:buAutoNum type="arabicPeriod"/>
            </a:pPr>
            <a:r>
              <a:rPr lang="en-US" sz="2400" b="1" dirty="0"/>
              <a:t>Introduction</a:t>
            </a:r>
          </a:p>
          <a:p>
            <a:pPr marL="342900" indent="-342900" algn="l">
              <a:spcBef>
                <a:spcPct val="50000"/>
              </a:spcBef>
              <a:spcAft>
                <a:spcPct val="50000"/>
              </a:spcAft>
              <a:buFontTx/>
              <a:buAutoNum type="arabicPeriod"/>
            </a:pPr>
            <a:r>
              <a:rPr lang="en-GB" sz="2400" b="1" dirty="0"/>
              <a:t>Background theory/literature review</a:t>
            </a:r>
            <a:endParaRPr lang="en-US" sz="2400" b="1" dirty="0"/>
          </a:p>
          <a:p>
            <a:pPr marL="342900" indent="-342900" algn="l">
              <a:spcBef>
                <a:spcPct val="50000"/>
              </a:spcBef>
              <a:spcAft>
                <a:spcPct val="50000"/>
              </a:spcAft>
              <a:buFontTx/>
              <a:buAutoNum type="arabicPeriod"/>
            </a:pPr>
            <a:r>
              <a:rPr lang="en-GB" sz="2400" b="1" dirty="0"/>
              <a:t>Methodology – From data cleaning to building dashboards</a:t>
            </a:r>
          </a:p>
          <a:p>
            <a:pPr marL="342900" indent="-342900" algn="l">
              <a:spcBef>
                <a:spcPct val="50000"/>
              </a:spcBef>
              <a:spcAft>
                <a:spcPct val="50000"/>
              </a:spcAft>
              <a:buFontTx/>
              <a:buAutoNum type="arabicPeriod"/>
            </a:pPr>
            <a:r>
              <a:rPr lang="en-GB" sz="2400" b="1" dirty="0"/>
              <a:t>Example of dashboards</a:t>
            </a:r>
          </a:p>
          <a:p>
            <a:pPr marL="342900" indent="-342900" algn="l">
              <a:spcBef>
                <a:spcPct val="50000"/>
              </a:spcBef>
              <a:spcAft>
                <a:spcPct val="50000"/>
              </a:spcAft>
              <a:buFontTx/>
              <a:buAutoNum type="arabicPeriod"/>
            </a:pPr>
            <a:r>
              <a:rPr lang="en-GB" sz="2400" b="1" dirty="0"/>
              <a:t>Conclusion and future work</a:t>
            </a:r>
          </a:p>
          <a:p>
            <a:pPr marL="342900" indent="-342900" algn="l">
              <a:spcBef>
                <a:spcPct val="50000"/>
              </a:spcBef>
              <a:spcAft>
                <a:spcPct val="50000"/>
              </a:spcAft>
              <a:buFontTx/>
              <a:buAutoNum type="arabicPeriod"/>
            </a:pPr>
            <a:r>
              <a:rPr lang="en-GB" sz="2400" b="1" dirty="0"/>
              <a:t>References</a:t>
            </a:r>
            <a:endParaRPr lang="en-US" sz="2400" b="1" dirty="0"/>
          </a:p>
        </p:txBody>
      </p:sp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4405956" y="462819"/>
            <a:ext cx="47244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3200" b="1" dirty="0">
                <a:solidFill>
                  <a:srgbClr val="CC6600"/>
                </a:solidFill>
              </a:rPr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1200628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3941935" y="545910"/>
            <a:ext cx="5181600" cy="51975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r">
              <a:spcBef>
                <a:spcPct val="50000"/>
              </a:spcBef>
              <a:spcAft>
                <a:spcPct val="50000"/>
              </a:spcAft>
            </a:pPr>
            <a:r>
              <a:rPr lang="en-US" sz="3200" b="1" dirty="0">
                <a:solidFill>
                  <a:srgbClr val="CC6600"/>
                </a:solidFill>
                <a:latin typeface="+mn-lt"/>
              </a:rPr>
              <a:t>Introduction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CFA2F0-DC63-4A8C-942A-2C56DF51A159}"/>
              </a:ext>
            </a:extLst>
          </p:cNvPr>
          <p:cNvSpPr txBox="1"/>
          <p:nvPr/>
        </p:nvSpPr>
        <p:spPr>
          <a:xfrm>
            <a:off x="755374" y="1577009"/>
            <a:ext cx="775252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Collecting and sorting data is a huge problem in today’s scenario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With so much data all around us, there is the problem of getting overwhelmed by the information that leads to information overflow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Data overflow </a:t>
            </a:r>
            <a:r>
              <a:rPr lang="en-US" sz="2000" dirty="0"/>
              <a:t>is a huge problem in the </a:t>
            </a:r>
            <a:r>
              <a:rPr lang="en-US" sz="2000" b="1" dirty="0"/>
              <a:t>real estate business</a:t>
            </a:r>
            <a:r>
              <a:rPr lang="en-US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Aim in this project is to streamline data for various client and teams at JLL</a:t>
            </a:r>
          </a:p>
        </p:txBody>
      </p:sp>
    </p:spTree>
    <p:extLst>
      <p:ext uri="{BB962C8B-B14F-4D97-AF65-F5344CB8AC3E}">
        <p14:creationId xmlns:p14="http://schemas.microsoft.com/office/powerpoint/2010/main" val="2175652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101755" y="545910"/>
            <a:ext cx="7021780" cy="51975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spcBef>
                <a:spcPct val="50000"/>
              </a:spcBef>
              <a:spcAft>
                <a:spcPct val="50000"/>
              </a:spcAft>
            </a:pPr>
            <a:r>
              <a:rPr lang="en-GB" sz="3200" b="1" dirty="0">
                <a:solidFill>
                  <a:schemeClr val="accent2"/>
                </a:solidFill>
                <a:latin typeface="+mn-lt"/>
              </a:rPr>
              <a:t>Handling Data</a:t>
            </a:r>
            <a:endParaRPr lang="en-US" sz="3200" b="1" dirty="0">
              <a:solidFill>
                <a:schemeClr val="accent2"/>
              </a:solidFill>
              <a:latin typeface="+mn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64F8E4-8199-45A1-BACD-F0016218D08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93843"/>
            <a:ext cx="9123535" cy="442622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3852CC9-9B1A-45E2-8DF8-21A657EC7E02}"/>
              </a:ext>
            </a:extLst>
          </p:cNvPr>
          <p:cNvSpPr/>
          <p:nvPr/>
        </p:nvSpPr>
        <p:spPr>
          <a:xfrm>
            <a:off x="165652" y="1310694"/>
            <a:ext cx="83952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Extracting, transforming and loading the datasets into the data warehouse</a:t>
            </a:r>
            <a:endParaRPr lang="en-SG" sz="2000" b="1" dirty="0"/>
          </a:p>
        </p:txBody>
      </p:sp>
    </p:spTree>
    <p:extLst>
      <p:ext uri="{BB962C8B-B14F-4D97-AF65-F5344CB8AC3E}">
        <p14:creationId xmlns:p14="http://schemas.microsoft.com/office/powerpoint/2010/main" val="2232221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3941935" y="545910"/>
            <a:ext cx="5181600" cy="51975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spcBef>
                <a:spcPct val="50000"/>
              </a:spcBef>
              <a:spcAft>
                <a:spcPct val="50000"/>
              </a:spcAft>
            </a:pPr>
            <a:r>
              <a:rPr lang="en-GB" sz="3200" b="1" dirty="0">
                <a:solidFill>
                  <a:schemeClr val="accent2"/>
                </a:solidFill>
                <a:latin typeface="+mn-lt"/>
              </a:rPr>
              <a:t>Methodology</a:t>
            </a:r>
          </a:p>
        </p:txBody>
      </p:sp>
      <p:pic>
        <p:nvPicPr>
          <p:cNvPr id="3" name="Picture 2" descr="A close up of a logo&#10;&#10;Description automatically generated">
            <a:extLst>
              <a:ext uri="{FF2B5EF4-FFF2-40B4-BE49-F238E27FC236}">
                <a16:creationId xmlns:a16="http://schemas.microsoft.com/office/drawing/2014/main" id="{655C2E74-23E5-4F83-87DD-2414F6D230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9444"/>
            <a:ext cx="9144000" cy="5351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536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3941935" y="545910"/>
            <a:ext cx="5181600" cy="51975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spcBef>
                <a:spcPct val="50000"/>
              </a:spcBef>
              <a:spcAft>
                <a:spcPct val="50000"/>
              </a:spcAft>
            </a:pPr>
            <a:r>
              <a:rPr lang="en-GB" sz="3200" b="1" dirty="0">
                <a:solidFill>
                  <a:schemeClr val="accent2"/>
                </a:solidFill>
                <a:latin typeface="+mn-lt"/>
              </a:rPr>
              <a:t>Methodology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8E83221B-9C30-469A-8D19-99B75174721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83" r="1884" b="4567"/>
          <a:stretch/>
        </p:blipFill>
        <p:spPr>
          <a:xfrm>
            <a:off x="-1" y="1065663"/>
            <a:ext cx="9123535" cy="5533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4226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3941935" y="545910"/>
            <a:ext cx="5181600" cy="51975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spcBef>
                <a:spcPct val="50000"/>
              </a:spcBef>
              <a:spcAft>
                <a:spcPct val="50000"/>
              </a:spcAft>
            </a:pPr>
            <a:r>
              <a:rPr lang="en-GB" sz="3200" b="1" dirty="0">
                <a:solidFill>
                  <a:schemeClr val="accent2"/>
                </a:solidFill>
                <a:latin typeface="+mn-lt"/>
              </a:rPr>
              <a:t>Methodology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7EA7C3F9-E03A-4E86-B387-373D1F07E0E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03" r="1594" b="4567"/>
          <a:stretch/>
        </p:blipFill>
        <p:spPr>
          <a:xfrm>
            <a:off x="20465" y="1065663"/>
            <a:ext cx="9123535" cy="5494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7370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3941935" y="545910"/>
            <a:ext cx="5181600" cy="51975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spcBef>
                <a:spcPct val="50000"/>
              </a:spcBef>
              <a:spcAft>
                <a:spcPct val="50000"/>
              </a:spcAft>
            </a:pPr>
            <a:r>
              <a:rPr lang="en-GB" sz="3200" b="1" dirty="0">
                <a:solidFill>
                  <a:schemeClr val="accent2"/>
                </a:solidFill>
                <a:latin typeface="+mn-lt"/>
              </a:rPr>
              <a:t>Methodology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769E6817-0D52-485E-877D-81B0E849A5F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811" t="52900" r="25363" b="26736"/>
          <a:stretch/>
        </p:blipFill>
        <p:spPr>
          <a:xfrm>
            <a:off x="5698435" y="1463228"/>
            <a:ext cx="3034748" cy="1046922"/>
          </a:xfrm>
          <a:prstGeom prst="rect">
            <a:avLst/>
          </a:prstGeom>
        </p:spPr>
      </p:pic>
      <p:pic>
        <p:nvPicPr>
          <p:cNvPr id="7" name="Picture 6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7A5FB8AB-396D-4507-AFAD-AECC809B2DB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39" t="15186" b="39109"/>
          <a:stretch/>
        </p:blipFill>
        <p:spPr>
          <a:xfrm>
            <a:off x="0" y="3034748"/>
            <a:ext cx="9123535" cy="3379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4500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3941935" y="545910"/>
            <a:ext cx="5181600" cy="51975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spcBef>
                <a:spcPct val="50000"/>
              </a:spcBef>
              <a:spcAft>
                <a:spcPct val="50000"/>
              </a:spcAft>
            </a:pPr>
            <a:r>
              <a:rPr lang="en-GB" sz="3200" b="1" dirty="0">
                <a:solidFill>
                  <a:schemeClr val="accent2"/>
                </a:solidFill>
                <a:latin typeface="+mn-lt"/>
              </a:rPr>
              <a:t>Methodology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0D35DE84-30C4-493C-8F82-2A3164E0E16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15" r="1528" b="5828"/>
          <a:stretch/>
        </p:blipFill>
        <p:spPr>
          <a:xfrm>
            <a:off x="13252" y="1563757"/>
            <a:ext cx="9130748" cy="49165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43690F-C3A3-4641-A48B-E992033B62AB}"/>
              </a:ext>
            </a:extLst>
          </p:cNvPr>
          <p:cNvSpPr txBox="1"/>
          <p:nvPr/>
        </p:nvSpPr>
        <p:spPr>
          <a:xfrm>
            <a:off x="20465" y="1114655"/>
            <a:ext cx="74537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Commercial Real Estate Clients in the America and Europe Region</a:t>
            </a:r>
            <a:endParaRPr lang="en-SG" sz="2000" b="1" dirty="0"/>
          </a:p>
        </p:txBody>
      </p:sp>
    </p:spTree>
    <p:extLst>
      <p:ext uri="{BB962C8B-B14F-4D97-AF65-F5344CB8AC3E}">
        <p14:creationId xmlns:p14="http://schemas.microsoft.com/office/powerpoint/2010/main" val="18552724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3941935" y="545910"/>
            <a:ext cx="5181600" cy="51975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spcBef>
                <a:spcPct val="50000"/>
              </a:spcBef>
              <a:spcAft>
                <a:spcPct val="50000"/>
              </a:spcAft>
            </a:pPr>
            <a:r>
              <a:rPr lang="en-GB" sz="3200" b="1">
                <a:solidFill>
                  <a:schemeClr val="accent2"/>
                </a:solidFill>
                <a:latin typeface="+mn-lt"/>
              </a:rPr>
              <a:t>Methodology</a:t>
            </a:r>
            <a:endParaRPr lang="en-GB" sz="3200" b="1" dirty="0">
              <a:solidFill>
                <a:schemeClr val="accent2"/>
              </a:solidFill>
              <a:latin typeface="+mn-lt"/>
            </a:endParaRP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5EAC81C4-7468-4973-A055-E8CD449CEB1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5" t="13825" r="6733" b="4203"/>
          <a:stretch/>
        </p:blipFill>
        <p:spPr>
          <a:xfrm>
            <a:off x="1" y="1749287"/>
            <a:ext cx="9123534" cy="475753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317027C-697E-4612-8A91-7B76F5AE1D0C}"/>
              </a:ext>
            </a:extLst>
          </p:cNvPr>
          <p:cNvSpPr txBox="1"/>
          <p:nvPr/>
        </p:nvSpPr>
        <p:spPr>
          <a:xfrm>
            <a:off x="0" y="1222809"/>
            <a:ext cx="51683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How Clients get access to there reports?</a:t>
            </a:r>
            <a:endParaRPr lang="en-SG" sz="2000" b="1" dirty="0"/>
          </a:p>
        </p:txBody>
      </p:sp>
    </p:spTree>
    <p:extLst>
      <p:ext uri="{BB962C8B-B14F-4D97-AF65-F5344CB8AC3E}">
        <p14:creationId xmlns:p14="http://schemas.microsoft.com/office/powerpoint/2010/main" val="343568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3941935" y="545910"/>
            <a:ext cx="5181600" cy="51975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spcBef>
                <a:spcPct val="50000"/>
              </a:spcBef>
              <a:spcAft>
                <a:spcPct val="50000"/>
              </a:spcAft>
            </a:pPr>
            <a:r>
              <a:rPr lang="en-GB" sz="3200" b="1" dirty="0">
                <a:solidFill>
                  <a:schemeClr val="accent2"/>
                </a:solidFill>
                <a:latin typeface="+mn-lt"/>
              </a:rPr>
              <a:t>Methodology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5F85962E-60F0-4376-A3A2-E3AC3CB7707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51" t="15007" r="25362" b="5341"/>
          <a:stretch/>
        </p:blipFill>
        <p:spPr>
          <a:xfrm>
            <a:off x="1" y="1065663"/>
            <a:ext cx="9123534" cy="5388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0094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3941935" y="545910"/>
            <a:ext cx="5181600" cy="51975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spcBef>
                <a:spcPct val="50000"/>
              </a:spcBef>
              <a:spcAft>
                <a:spcPct val="50000"/>
              </a:spcAft>
            </a:pPr>
            <a:r>
              <a:rPr lang="en-GB" sz="3200" b="1" dirty="0">
                <a:solidFill>
                  <a:schemeClr val="accent2"/>
                </a:solidFill>
                <a:latin typeface="+mn-lt"/>
              </a:rPr>
              <a:t>How Clients view the page</a:t>
            </a:r>
            <a:endParaRPr lang="en-US" sz="3200" b="1" dirty="0">
              <a:solidFill>
                <a:schemeClr val="accent2"/>
              </a:solidFill>
              <a:latin typeface="+mn-lt"/>
            </a:endParaRPr>
          </a:p>
        </p:txBody>
      </p:sp>
      <p:pic>
        <p:nvPicPr>
          <p:cNvPr id="3" name="Picture 2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F721C984-C1BF-4853-B8A3-37A28EA9335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45" b="26172"/>
          <a:stretch/>
        </p:blipFill>
        <p:spPr>
          <a:xfrm>
            <a:off x="0" y="1065663"/>
            <a:ext cx="9164465" cy="5494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8388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3941935" y="545910"/>
            <a:ext cx="5181600" cy="51975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spcBef>
                <a:spcPct val="50000"/>
              </a:spcBef>
              <a:spcAft>
                <a:spcPct val="50000"/>
              </a:spcAft>
            </a:pPr>
            <a:endParaRPr lang="en-US" sz="3200" b="1" dirty="0">
              <a:solidFill>
                <a:schemeClr val="accent2"/>
              </a:solidFill>
              <a:latin typeface="+mn-lt"/>
            </a:endParaRPr>
          </a:p>
        </p:txBody>
      </p:sp>
      <p:pic>
        <p:nvPicPr>
          <p:cNvPr id="7" name="Picture 6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549EA417-41AD-437F-9B8B-1A18EA35473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02" r="15797" b="38851"/>
          <a:stretch/>
        </p:blipFill>
        <p:spPr>
          <a:xfrm>
            <a:off x="0" y="1065663"/>
            <a:ext cx="9144000" cy="5547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192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A61370-0C03-444E-BF0A-232E3F49AE37}"/>
              </a:ext>
            </a:extLst>
          </p:cNvPr>
          <p:cNvSpPr txBox="1"/>
          <p:nvPr/>
        </p:nvSpPr>
        <p:spPr>
          <a:xfrm>
            <a:off x="4572000" y="377686"/>
            <a:ext cx="457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Example of the report of the Nokia</a:t>
            </a:r>
            <a:endParaRPr lang="en-SG" sz="2000" b="1" dirty="0"/>
          </a:p>
        </p:txBody>
      </p:sp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94DE580B-F321-4E5D-AAC9-E9400732869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02" r="2174" b="21580"/>
          <a:stretch/>
        </p:blipFill>
        <p:spPr>
          <a:xfrm>
            <a:off x="0" y="1086679"/>
            <a:ext cx="9144000" cy="539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7357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F8E5B45A-4A9D-4DBD-BAAD-04292CBE2C2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45" r="2754" b="16940"/>
          <a:stretch/>
        </p:blipFill>
        <p:spPr>
          <a:xfrm>
            <a:off x="0" y="1139687"/>
            <a:ext cx="9144000" cy="53406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CA61370-0C03-444E-BF0A-232E3F49AE37}"/>
              </a:ext>
            </a:extLst>
          </p:cNvPr>
          <p:cNvSpPr txBox="1"/>
          <p:nvPr/>
        </p:nvSpPr>
        <p:spPr>
          <a:xfrm>
            <a:off x="4572000" y="377686"/>
            <a:ext cx="457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Example of the report of the Nokia</a:t>
            </a:r>
            <a:endParaRPr lang="en-SG" sz="2000" b="1" dirty="0"/>
          </a:p>
        </p:txBody>
      </p:sp>
    </p:spTree>
    <p:extLst>
      <p:ext uri="{BB962C8B-B14F-4D97-AF65-F5344CB8AC3E}">
        <p14:creationId xmlns:p14="http://schemas.microsoft.com/office/powerpoint/2010/main" val="12061805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2920621" y="600498"/>
            <a:ext cx="6189269" cy="436729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2" algn="r">
              <a:spcBef>
                <a:spcPct val="50000"/>
              </a:spcBef>
              <a:spcAft>
                <a:spcPct val="50000"/>
              </a:spcAft>
            </a:pPr>
            <a:r>
              <a:rPr lang="en-GB" sz="3200" b="1" dirty="0">
                <a:solidFill>
                  <a:schemeClr val="accent2"/>
                </a:solidFill>
              </a:rPr>
              <a:t>Conclusion and future work</a:t>
            </a:r>
            <a:endParaRPr lang="en-US" sz="3200" b="1" dirty="0">
              <a:solidFill>
                <a:schemeClr val="accent2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62E834-E7DB-4F5F-94CB-251F4CF18C1A}"/>
              </a:ext>
            </a:extLst>
          </p:cNvPr>
          <p:cNvSpPr txBox="1"/>
          <p:nvPr/>
        </p:nvSpPr>
        <p:spPr>
          <a:xfrm>
            <a:off x="675861" y="1855304"/>
            <a:ext cx="743446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Conclusion</a:t>
            </a:r>
          </a:p>
          <a:p>
            <a:r>
              <a:rPr lang="en-US" dirty="0"/>
              <a:t>Our aim is to streamline the data and make data handling easier for our business team.</a:t>
            </a:r>
          </a:p>
          <a:p>
            <a:endParaRPr lang="en-US" dirty="0"/>
          </a:p>
          <a:p>
            <a:r>
              <a:rPr lang="en-US" b="1" dirty="0"/>
              <a:t>Future Scope</a:t>
            </a:r>
            <a:endParaRPr lang="en-SG" b="1" dirty="0"/>
          </a:p>
          <a:p>
            <a:pPr marL="342900" indent="-342900">
              <a:buAutoNum type="arabicPeriod"/>
            </a:pPr>
            <a:r>
              <a:rPr lang="en-SG" dirty="0"/>
              <a:t>Build the same tool for various other clients at JLL</a:t>
            </a:r>
          </a:p>
          <a:p>
            <a:pPr marL="342900" indent="-342900">
              <a:buFontTx/>
              <a:buAutoNum type="arabicPeriod"/>
            </a:pPr>
            <a:r>
              <a:rPr lang="en-SG" dirty="0"/>
              <a:t>Add a secure transmission channel for JLL so that the intermediate files are encrypted and could not be assessed without having the proper keys.</a:t>
            </a:r>
            <a:endParaRPr lang="en-US" dirty="0"/>
          </a:p>
          <a:p>
            <a:pPr marL="342900" indent="-342900">
              <a:buAutoNum type="arabicPeriod"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6029406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3941935" y="545910"/>
            <a:ext cx="5181600" cy="51975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spcBef>
                <a:spcPct val="50000"/>
              </a:spcBef>
              <a:spcAft>
                <a:spcPct val="50000"/>
              </a:spcAft>
            </a:pPr>
            <a:r>
              <a:rPr lang="en-GB" sz="3200" b="1" dirty="0">
                <a:solidFill>
                  <a:schemeClr val="accent2"/>
                </a:solidFill>
                <a:latin typeface="+mn-lt"/>
              </a:rPr>
              <a:t>References</a:t>
            </a:r>
            <a:endParaRPr lang="en-US" sz="3200" b="1" dirty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639345-C036-48F0-BECE-9E104C788E4B}"/>
              </a:ext>
            </a:extLst>
          </p:cNvPr>
          <p:cNvSpPr txBox="1"/>
          <p:nvPr/>
        </p:nvSpPr>
        <p:spPr>
          <a:xfrm>
            <a:off x="834888" y="1815548"/>
            <a:ext cx="775252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 </a:t>
            </a:r>
            <a:endParaRPr lang="en-SG" b="1" dirty="0"/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“</a:t>
            </a:r>
            <a:r>
              <a:rPr lang="en-US" i="1" dirty="0"/>
              <a:t>Azure Databricks - A Complete Guide - 2019 Edition</a:t>
            </a:r>
            <a:r>
              <a:rPr lang="en-US" dirty="0"/>
              <a:t>”, by Gerardus </a:t>
            </a:r>
            <a:r>
              <a:rPr lang="en-US" dirty="0" err="1"/>
              <a:t>Blokdyk</a:t>
            </a:r>
            <a:endParaRPr lang="en-SG" dirty="0"/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Anaconda.org [Online].</a:t>
            </a:r>
            <a:endParaRPr lang="en-SG" dirty="0"/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Python.org/documentation [Online]</a:t>
            </a:r>
            <a:endParaRPr lang="en-SG" dirty="0"/>
          </a:p>
          <a:p>
            <a:pPr marL="342900" lvl="0" indent="-342900">
              <a:buFont typeface="+mj-lt"/>
              <a:buAutoNum type="arabicPeriod"/>
            </a:pPr>
            <a:r>
              <a:rPr lang="en-US" u="sng" dirty="0">
                <a:hlinkClick r:id="rId2"/>
              </a:rPr>
              <a:t>https://docs.aws.amazon.com/awsaccountbilling/latest/aboutv2/cost-alloc-tags.html</a:t>
            </a:r>
            <a:r>
              <a:rPr lang="en-US" u="sng" dirty="0"/>
              <a:t>  [Online]</a:t>
            </a:r>
            <a:endParaRPr lang="en-SG" dirty="0"/>
          </a:p>
          <a:p>
            <a:pPr marL="342900" lvl="0" indent="-342900">
              <a:buFont typeface="+mj-lt"/>
              <a:buAutoNum type="arabicPeriod"/>
            </a:pPr>
            <a:r>
              <a:rPr lang="en-US" u="sng" dirty="0">
                <a:hlinkClick r:id="rId3"/>
              </a:rPr>
              <a:t>https://spark.apache.org/docs</a:t>
            </a:r>
            <a:r>
              <a:rPr lang="en-US" dirty="0"/>
              <a:t> [Online]</a:t>
            </a:r>
            <a:endParaRPr lang="en-SG" dirty="0"/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Interactive Python Dashboards with </a:t>
            </a:r>
            <a:r>
              <a:rPr lang="en-US" dirty="0" err="1"/>
              <a:t>Plotly</a:t>
            </a:r>
            <a:r>
              <a:rPr lang="en-US" dirty="0"/>
              <a:t> and Dash</a:t>
            </a:r>
            <a:endParaRPr lang="en-SG" dirty="0"/>
          </a:p>
          <a:p>
            <a:pPr marL="342900" lvl="0" indent="-342900">
              <a:buFont typeface="+mj-lt"/>
              <a:buAutoNum type="arabicPeriod"/>
            </a:pPr>
            <a:r>
              <a:rPr lang="en-US" u="sng" dirty="0">
                <a:hlinkClick r:id="rId4"/>
              </a:rPr>
              <a:t>https://docs.microsoft.com/en-us/azure/</a:t>
            </a:r>
            <a:endParaRPr lang="en-SG" dirty="0"/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H. KT, "Hafeez KT", </a:t>
            </a:r>
            <a:r>
              <a:rPr lang="en-US" i="1" dirty="0"/>
              <a:t>YouTube</a:t>
            </a:r>
            <a:r>
              <a:rPr lang="en-US" dirty="0"/>
              <a:t>, 2020. </a:t>
            </a:r>
            <a:r>
              <a:rPr lang="en-US" u="sng" dirty="0"/>
              <a:t>[Online]. </a:t>
            </a:r>
            <a:r>
              <a:rPr lang="en-US" dirty="0"/>
              <a:t>Available: https://www.youtube.com/channel/UCEXcqylc45jam5xa6vvEG7A. [Accessed: 14- May- 2020].</a:t>
            </a:r>
            <a:endParaRPr lang="en-SG" b="1" dirty="0"/>
          </a:p>
          <a:p>
            <a:r>
              <a:rPr lang="en-US" dirty="0"/>
              <a:t> 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6145452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668647" y="2998699"/>
            <a:ext cx="5181600" cy="51975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spcBef>
                <a:spcPct val="50000"/>
              </a:spcBef>
              <a:spcAft>
                <a:spcPct val="50000"/>
              </a:spcAft>
            </a:pPr>
            <a:r>
              <a:rPr lang="en-GB" sz="3200" b="1" dirty="0">
                <a:solidFill>
                  <a:schemeClr val="accent2"/>
                </a:solidFill>
                <a:latin typeface="+mn-lt"/>
              </a:rPr>
              <a:t>Thank you!</a:t>
            </a:r>
            <a:endParaRPr lang="en-US" sz="3200" b="1" dirty="0">
              <a:solidFill>
                <a:schemeClr val="accent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83235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4846</TotalTime>
  <Words>251</Words>
  <Application>Microsoft Office PowerPoint</Application>
  <PresentationFormat>On-screen Show (4:3)</PresentationFormat>
  <Paragraphs>69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Shailendra Kumar Tiwari [MAHE-MIT]</dc:creator>
  <cp:lastModifiedBy>Pathak, Shivam</cp:lastModifiedBy>
  <cp:revision>173</cp:revision>
  <dcterms:created xsi:type="dcterms:W3CDTF">2018-09-28T09:35:33Z</dcterms:created>
  <dcterms:modified xsi:type="dcterms:W3CDTF">2020-07-29T06:41:08Z</dcterms:modified>
</cp:coreProperties>
</file>