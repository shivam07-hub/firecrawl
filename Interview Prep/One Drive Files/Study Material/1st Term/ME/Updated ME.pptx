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72" r:id="rId6"/>
    <p:sldId id="264" r:id="rId7"/>
    <p:sldId id="273" r:id="rId8"/>
    <p:sldId id="265" r:id="rId9"/>
    <p:sldId id="274" r:id="rId10"/>
    <p:sldId id="275" r:id="rId11"/>
    <p:sldId id="302" r:id="rId12"/>
    <p:sldId id="276" r:id="rId13"/>
    <p:sldId id="277" r:id="rId14"/>
    <p:sldId id="278" r:id="rId15"/>
    <p:sldId id="280" r:id="rId16"/>
    <p:sldId id="281" r:id="rId17"/>
    <p:sldId id="285" r:id="rId18"/>
    <p:sldId id="282" r:id="rId19"/>
    <p:sldId id="306" r:id="rId20"/>
    <p:sldId id="283" r:id="rId21"/>
    <p:sldId id="303" r:id="rId22"/>
    <p:sldId id="284" r:id="rId23"/>
    <p:sldId id="286" r:id="rId24"/>
    <p:sldId id="287" r:id="rId25"/>
    <p:sldId id="288" r:id="rId26"/>
    <p:sldId id="289" r:id="rId27"/>
    <p:sldId id="301" r:id="rId28"/>
    <p:sldId id="290" r:id="rId29"/>
    <p:sldId id="292" r:id="rId30"/>
    <p:sldId id="293" r:id="rId31"/>
    <p:sldId id="294" r:id="rId32"/>
    <p:sldId id="296" r:id="rId33"/>
    <p:sldId id="291" r:id="rId34"/>
    <p:sldId id="295" r:id="rId35"/>
    <p:sldId id="300" r:id="rId36"/>
    <p:sldId id="297" r:id="rId37"/>
    <p:sldId id="298" r:id="rId38"/>
    <p:sldId id="299" r:id="rId39"/>
    <p:sldId id="305" r:id="rId40"/>
    <p:sldId id="308" r:id="rId41"/>
    <p:sldId id="309" r:id="rId42"/>
    <p:sldId id="310" r:id="rId43"/>
    <p:sldId id="311" r:id="rId44"/>
    <p:sldId id="312" r:id="rId45"/>
    <p:sldId id="313" r:id="rId46"/>
    <p:sldId id="324" r:id="rId47"/>
    <p:sldId id="323" r:id="rId48"/>
    <p:sldId id="326" r:id="rId49"/>
    <p:sldId id="332" r:id="rId50"/>
    <p:sldId id="331" r:id="rId51"/>
    <p:sldId id="330" r:id="rId52"/>
    <p:sldId id="327" r:id="rId53"/>
    <p:sldId id="328" r:id="rId54"/>
    <p:sldId id="314" r:id="rId55"/>
    <p:sldId id="315" r:id="rId56"/>
    <p:sldId id="316" r:id="rId57"/>
    <p:sldId id="317" r:id="rId58"/>
    <p:sldId id="319" r:id="rId59"/>
    <p:sldId id="318" r:id="rId60"/>
    <p:sldId id="320" r:id="rId61"/>
    <p:sldId id="333" r:id="rId62"/>
    <p:sldId id="334" r:id="rId63"/>
    <p:sldId id="335" r:id="rId64"/>
    <p:sldId id="336" r:id="rId65"/>
    <p:sldId id="337" r:id="rId66"/>
    <p:sldId id="338" r:id="rId67"/>
    <p:sldId id="339" r:id="rId68"/>
    <p:sldId id="304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1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0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2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3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9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8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8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0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52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81001"/>
            <a:ext cx="9855200" cy="4873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165226"/>
            <a:ext cx="5384800" cy="511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65226"/>
            <a:ext cx="5384800" cy="511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011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5DC35-7EE0-4B59-99B8-71BE22EE74CA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68429-A92A-4174-A3B2-C4DA3D96B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73.png"/><Relationship Id="rId5" Type="http://schemas.openxmlformats.org/officeDocument/2006/relationships/image" Target="../media/image66.png"/><Relationship Id="rId10" Type="http://schemas.openxmlformats.org/officeDocument/2006/relationships/image" Target="../media/image72.png"/><Relationship Id="rId4" Type="http://schemas.openxmlformats.org/officeDocument/2006/relationships/image" Target="../media/image65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3.png"/><Relationship Id="rId2" Type="http://schemas.openxmlformats.org/officeDocument/2006/relationships/image" Target="../media/image77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1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68547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The basics of demand and supply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2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Topic to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4462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Demand and Supply</a:t>
            </a:r>
          </a:p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The Demand Curve</a:t>
            </a:r>
          </a:p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The Supply Curve</a:t>
            </a:r>
          </a:p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Market Equilibrium</a:t>
            </a:r>
          </a:p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Surplus</a:t>
            </a:r>
          </a:p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Effects of Government Intervention—Price Controls</a:t>
            </a:r>
          </a:p>
          <a:p>
            <a:pPr>
              <a:lnSpc>
                <a:spcPct val="200000"/>
              </a:lnSpc>
            </a:pPr>
            <a:r>
              <a:rPr lang="en-US" altLang="en-US" sz="3100" dirty="0">
                <a:latin typeface="Arial" panose="020B0604020202020204" pitchFamily="34" charset="0"/>
              </a:rPr>
              <a:t>Elasticity and revenue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8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Demand and Supply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Understanding and predicting how changing world economic conditions affect market price and production</a:t>
            </a:r>
          </a:p>
          <a:p>
            <a:pPr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Evaluating the impact of government price controls, minimum wages, price supports, and production incentives</a:t>
            </a:r>
          </a:p>
          <a:p>
            <a:pPr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Determining how taxes, subsidies, tariffs, and import quotas affect consumers and producers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5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38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The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8507"/>
            <a:ext cx="10515600" cy="4928456"/>
          </a:xfrm>
        </p:spPr>
        <p:txBody>
          <a:bodyPr/>
          <a:lstStyle/>
          <a:p>
            <a:r>
              <a:rPr lang="en-US" altLang="en-US" sz="2400" dirty="0">
                <a:solidFill>
                  <a:srgbClr val="382344"/>
                </a:solidFill>
                <a:latin typeface="Arial" panose="020B0604020202020204" pitchFamily="34" charset="0"/>
              </a:rPr>
              <a:t> Relationship between the quantity of a good that consumers are willing to  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382344"/>
                </a:solidFill>
                <a:latin typeface="Arial" panose="020B0604020202020204" pitchFamily="34" charset="0"/>
              </a:rPr>
              <a:t>    buy and the price of the good. </a:t>
            </a:r>
          </a:p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demand curve is thus a relationship between the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quantity demanded   </a:t>
            </a:r>
          </a:p>
          <a:p>
            <a:pPr marL="0" indent="0">
              <a:buNone/>
            </a:pP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 the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We can write this relationship as an equation:</a:t>
            </a:r>
          </a:p>
          <a:p>
            <a:pPr marL="0" indent="0" algn="ctr"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04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5539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The Linear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1752600"/>
            <a:ext cx="0" cy="38100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751043" y="2057400"/>
            <a:ext cx="5411757" cy="350520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000" y="1459468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 </a:t>
            </a:r>
            <a:r>
              <a:rPr lang="en-US" sz="1400" dirty="0"/>
              <a:t>($)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4888468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1216876" y="18727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876" y="29072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876" y="37338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$20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752600" y="3048000"/>
            <a:ext cx="1524000" cy="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752600" y="3886200"/>
            <a:ext cx="2819400" cy="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276600" y="3048000"/>
            <a:ext cx="3180" cy="2514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572000" y="3886200"/>
            <a:ext cx="10236" cy="16764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48000" y="5638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1076" y="5650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52600" y="4800600"/>
            <a:ext cx="4191000" cy="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6876" y="46598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5638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696" y="5638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5943600" y="4800600"/>
            <a:ext cx="0" cy="7620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792811" y="2743200"/>
            <a:ext cx="0" cy="0"/>
          </a:xfrm>
          <a:prstGeom prst="straightConnector1">
            <a:avLst/>
          </a:prstGeom>
          <a:ln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5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7" grpId="0"/>
      <p:bldP spid="18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4544"/>
          </a:xfrm>
        </p:spPr>
        <p:txBody>
          <a:bodyPr>
            <a:normAutofit/>
          </a:bodyPr>
          <a:lstStyle/>
          <a:p>
            <a:r>
              <a:rPr lang="en-US" sz="4900" dirty="0">
                <a:solidFill>
                  <a:srgbClr val="0070C0"/>
                </a:solidFill>
              </a:rPr>
              <a:t>Other variables that affect Demand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392"/>
            <a:ext cx="10515600" cy="524021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quantity that buyers are willing to buy depends not only on the price but also on the following: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of the related goods</a:t>
            </a:r>
          </a:p>
          <a:p>
            <a:pPr marL="0" indent="0" algn="just">
              <a:buNone/>
            </a:pPr>
            <a:r>
              <a:rPr lang="en-US" altLang="en-US" sz="2400" b="1" dirty="0">
                <a:solidFill>
                  <a:srgbClr val="382344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</a:rPr>
              <a:t>Substitutes</a:t>
            </a:r>
            <a:r>
              <a:rPr lang="en-US" altLang="en-US" sz="2400" b="1" dirty="0">
                <a:solidFill>
                  <a:srgbClr val="382344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2400" dirty="0">
                <a:solidFill>
                  <a:srgbClr val="382344"/>
                </a:solidFill>
                <a:latin typeface="Arial" panose="020B0604020202020204" pitchFamily="34" charset="0"/>
              </a:rPr>
              <a:t>Two goods for which an increase in the price of one leads to an increase in the demand of the other.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solidFill>
                  <a:srgbClr val="382344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</a:rPr>
              <a:t>Complements</a:t>
            </a:r>
            <a:r>
              <a:rPr lang="en-US" altLang="en-US" sz="2400" b="1" dirty="0">
                <a:solidFill>
                  <a:srgbClr val="382344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382344"/>
                </a:solidFill>
                <a:latin typeface="Arial" panose="020B0604020202020204" pitchFamily="34" charset="0"/>
              </a:rPr>
              <a:t>Two goods for which an increase in the price of one leads to a decrease in the demand of the other.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Taste and preferences  </a:t>
            </a:r>
          </a:p>
          <a:p>
            <a:pPr marL="0" indent="0" algn="just"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in demand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refers to shifts in the demand curve</a:t>
            </a:r>
          </a:p>
          <a:p>
            <a:pPr marL="0" indent="0" algn="just">
              <a:buNone/>
            </a:pP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in the quantity demanded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refers to movements along the demand curve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1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606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Shifting of Demand curve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87169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752600" y="1600200"/>
            <a:ext cx="0" cy="39624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438400" y="2286000"/>
            <a:ext cx="3314700" cy="3015734"/>
          </a:xfrm>
          <a:prstGeom prst="line">
            <a:avLst/>
          </a:prstGeom>
          <a:ln w="22225" cap="rnd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55627" y="5562600"/>
            <a:ext cx="1354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 of  </a:t>
            </a:r>
          </a:p>
          <a:p>
            <a:r>
              <a:rPr lang="en-US" dirty="0"/>
              <a:t>clothing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676" y="29718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692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$40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752600" y="3124200"/>
            <a:ext cx="2362200" cy="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118755" y="3810001"/>
            <a:ext cx="7936" cy="1752599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44529" y="565046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285" y="1295400"/>
            <a:ext cx="947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 of </a:t>
            </a:r>
          </a:p>
          <a:p>
            <a:r>
              <a:rPr lang="en-US" dirty="0"/>
              <a:t>clothing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752600" y="3810000"/>
            <a:ext cx="2358219" cy="1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124200" y="2218730"/>
            <a:ext cx="2996680" cy="2734270"/>
          </a:xfrm>
          <a:prstGeom prst="line">
            <a:avLst/>
          </a:prstGeom>
          <a:ln w="22225" cap="rnd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6000" y="4888468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US" baseline="30000" dirty="0"/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4876800" y="3810000"/>
            <a:ext cx="3178" cy="1752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95800" y="5638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193268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US" baseline="30000" dirty="0"/>
              <a:t>1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048000" y="2729763"/>
            <a:ext cx="457200" cy="0"/>
          </a:xfrm>
          <a:prstGeom prst="straightConnector1">
            <a:avLst/>
          </a:prstGeom>
          <a:ln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114800" y="3810000"/>
            <a:ext cx="765178" cy="2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109243" y="3124200"/>
            <a:ext cx="13494" cy="685799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58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simple, but useful, representation of a demand function is the </a:t>
                </a:r>
                <a:r>
                  <a:rPr lang="en-US" i="1" dirty="0"/>
                  <a:t>linear demand function</a:t>
                </a:r>
                <a:r>
                  <a:rPr lang="en-US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𝑀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𝐻</m:t>
                          </m:r>
                        </m:sub>
                      </m:sSub>
                      <m:r>
                        <a:rPr lang="en-US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the number of units of good X demanded;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the price of good X;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is the price of a related good Y;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en-US" dirty="0"/>
                  <a:t> is income;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is the value of any other variable affecting demand.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829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7308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Signs of coefficients of 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The signs and magnitude of the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400" dirty="0"/>
                  <a:t> coefficients  determine the impact of each variable on the number of units of X demanded.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𝑀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For example: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&lt;0</m:t>
                    </m:r>
                  </m:oMath>
                </a14:m>
                <a:r>
                  <a:rPr lang="en-US" dirty="0"/>
                  <a:t> by the law of demand;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&gt;0</m:t>
                    </m:r>
                  </m:oMath>
                </a14:m>
                <a:r>
                  <a:rPr lang="en-US" dirty="0"/>
                  <a:t> if good Y is a substitute for good X;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&lt;0</m:t>
                    </m:r>
                  </m:oMath>
                </a14:m>
                <a:r>
                  <a:rPr lang="en-US" dirty="0"/>
                  <a:t> if good Y is a complement for good X;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&lt;0</m:t>
                    </m:r>
                  </m:oMath>
                </a14:m>
                <a:r>
                  <a:rPr lang="en-US" dirty="0"/>
                  <a:t> if good X is an inferior good.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288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Suppose that an economic consultant for </a:t>
                </a:r>
                <a:r>
                  <a:rPr lang="en-US" sz="2400" i="1" dirty="0"/>
                  <a:t>Microsoft Corp. </a:t>
                </a:r>
                <a:r>
                  <a:rPr lang="en-US" sz="2400" dirty="0"/>
                  <a:t>recently provided the firm’s marketing manager with this estimate of the demand function for the firm’s product: </a:t>
                </a:r>
                <a:endParaRPr lang="en-US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=12,000−3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−1</m:t>
                      </m:r>
                      <m:r>
                        <a:rPr lang="en-US" sz="2400" i="1">
                          <a:latin typeface="Cambria Math"/>
                        </a:rPr>
                        <m:t>𝑀</m:t>
                      </m:r>
                      <m:r>
                        <a:rPr lang="en-US" sz="2400" i="1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u="sng" dirty="0"/>
              </a:p>
              <a:p>
                <a:pPr marL="0" indent="0">
                  <a:buNone/>
                </a:pPr>
                <a:r>
                  <a:rPr lang="en-US" sz="2400" u="sng" dirty="0"/>
                  <a:t>Question</a:t>
                </a:r>
                <a:r>
                  <a:rPr lang="en-US" sz="2400" dirty="0"/>
                  <a:t>: How many of good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2400" dirty="0"/>
                  <a:t> will consumers purchase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=$200</m:t>
                    </m:r>
                  </m:oMath>
                </a14:m>
                <a:r>
                  <a:rPr lang="en-US" sz="2400" dirty="0"/>
                  <a:t> per unit,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=$15</m:t>
                    </m:r>
                  </m:oMath>
                </a14:m>
                <a:r>
                  <a:rPr lang="en-US" sz="2400" dirty="0"/>
                  <a:t> per unit,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𝑀</m:t>
                    </m:r>
                    <m:r>
                      <a:rPr lang="en-US" sz="2400">
                        <a:latin typeface="Cambria Math"/>
                      </a:rPr>
                      <m:t>=$10,000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=2,000</m:t>
                    </m:r>
                  </m:oMath>
                </a14:m>
                <a:r>
                  <a:rPr lang="en-US" sz="2400" dirty="0"/>
                  <a:t>? </a:t>
                </a:r>
              </a:p>
              <a:p>
                <a:pPr marL="0" indent="0">
                  <a:buNone/>
                </a:pPr>
                <a:r>
                  <a:rPr lang="en-US" sz="2400" dirty="0"/>
                  <a:t>Are goods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dirty="0"/>
                  <a:t> substitutes or complements? </a:t>
                </a:r>
              </a:p>
              <a:p>
                <a:pPr marL="0" indent="0">
                  <a:buNone/>
                </a:pPr>
                <a:r>
                  <a:rPr lang="en-US" sz="2400" dirty="0"/>
                  <a:t>Is good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2400" dirty="0"/>
                  <a:t> a normal or an inferior good?</a:t>
                </a:r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46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416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u="sng" dirty="0"/>
                  <a:t>Answer</a:t>
                </a:r>
                <a:r>
                  <a:rPr lang="en-US" dirty="0"/>
                  <a:t>: </a:t>
                </a: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=12,000−3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200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+4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15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−1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10,000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+2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2000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=5,460</m:t>
                    </m:r>
                  </m:oMath>
                </a14:m>
                <a:r>
                  <a:rPr lang="en-US" sz="2400" dirty="0"/>
                  <a:t> units. </a:t>
                </a:r>
              </a:p>
              <a:p>
                <a:pPr marL="0" indent="0">
                  <a:buNone/>
                </a:pPr>
                <a:r>
                  <a:rPr lang="en-US" sz="2400" dirty="0"/>
                  <a:t>Goods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dirty="0"/>
                  <a:t> are substitutes. </a:t>
                </a:r>
              </a:p>
              <a:p>
                <a:pPr marL="0" indent="0">
                  <a:buNone/>
                </a:pPr>
                <a:r>
                  <a:rPr lang="en-US" sz="2400" dirty="0"/>
                  <a:t>Good 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2400" dirty="0"/>
                  <a:t> is an inferior good.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4169" cy="4351338"/>
              </a:xfrm>
              <a:blipFill>
                <a:blip r:embed="rId2"/>
                <a:stretch>
                  <a:fillRect l="-110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542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187"/>
            <a:ext cx="10515600" cy="130541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Inverse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0055"/>
                <a:ext cx="10515600" cy="486690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Suppose that an economic consultant for </a:t>
                </a:r>
                <a:r>
                  <a:rPr lang="en-US" i="1" dirty="0"/>
                  <a:t>Microsoft Corp. </a:t>
                </a:r>
                <a:r>
                  <a:rPr lang="en-US" dirty="0"/>
                  <a:t>recently provided the firm’s marketing manager with this estimate of the demand function for the firm’s product: </a:t>
                </a: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=12,000−3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+4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−1</m:t>
                      </m:r>
                      <m:r>
                        <a:rPr lang="en-US" i="1">
                          <a:latin typeface="Cambria Math"/>
                        </a:rPr>
                        <m:t>𝑀</m:t>
                      </m:r>
                      <m:r>
                        <a:rPr lang="en-US" i="1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=$</m:t>
                    </m:r>
                    <m:r>
                      <a:rPr lang="en-US" b="0" i="1" smtClean="0">
                        <a:latin typeface="Cambria Math"/>
                      </a:rPr>
                      <m:t>15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$</m:t>
                    </m:r>
                    <m:r>
                      <a:rPr lang="en-US" i="1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0,000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,000</m:t>
                    </m:r>
                  </m:oMath>
                </a14:m>
                <a:r>
                  <a:rPr lang="en-US" dirty="0"/>
                  <a:t> the demand function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2</m:t>
                      </m:r>
                      <m:r>
                        <a:rPr lang="en-US" sz="2400" b="0" i="1" smtClean="0">
                          <a:latin typeface="Cambria Math"/>
                        </a:rPr>
                        <m:t>,00</m:t>
                      </m:r>
                      <m:r>
                        <a:rPr lang="en-US" sz="2400" i="1">
                          <a:latin typeface="Cambria Math"/>
                        </a:rPr>
                        <m:t>0−</m:t>
                      </m:r>
                      <m:r>
                        <a:rPr lang="en-US" sz="2400" b="0" i="1" smtClean="0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+4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15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−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10,000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2,000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341313" indent="0">
                  <a:buNone/>
                </a:pPr>
                <a:r>
                  <a:rPr lang="en-US" dirty="0"/>
                  <a:t>the linear demand function simplifies to</a:t>
                </a:r>
              </a:p>
              <a:p>
                <a:pPr marL="34131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6,060−3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341313" indent="0">
                  <a:buNone/>
                </a:pPr>
                <a:r>
                  <a:rPr lang="en-US" dirty="0"/>
                  <a:t>Represent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marL="798513" indent="-457200"/>
                <a:r>
                  <a:rPr lang="en-US" dirty="0"/>
                  <a:t>Solving this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in terms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results in </a:t>
                </a:r>
              </a:p>
              <a:p>
                <a:pPr marL="34131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=</m:t>
                      </m:r>
                      <m:r>
                        <a:rPr lang="en-US" b="0" i="1" smtClean="0">
                          <a:latin typeface="Cambria Math"/>
                        </a:rPr>
                        <m:t>2,020−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341313" indent="0">
                  <a:buNone/>
                </a:pPr>
                <a:r>
                  <a:rPr lang="en-US" dirty="0"/>
                  <a:t>which is called the </a:t>
                </a:r>
                <a:r>
                  <a:rPr lang="en-US" i="1" dirty="0">
                    <a:solidFill>
                      <a:srgbClr val="0070C0"/>
                    </a:solidFill>
                  </a:rPr>
                  <a:t>inverse demand function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0055"/>
                <a:ext cx="10515600" cy="4866908"/>
              </a:xfrm>
              <a:blipFill>
                <a:blip r:embed="rId2"/>
                <a:stretch>
                  <a:fillRect l="-812" t="-2882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98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Graph of inverse demand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1752600"/>
            <a:ext cx="0" cy="38100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751043" y="2329934"/>
            <a:ext cx="5221653" cy="3232666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07312" y="5663625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5946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24400" y="3429000"/>
                <a:ext cx="218399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=2,020−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429000"/>
                <a:ext cx="2183995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14400" y="214526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$2,020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56504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6,060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792811" y="2743200"/>
            <a:ext cx="0" cy="0"/>
          </a:xfrm>
          <a:prstGeom prst="straightConnector1">
            <a:avLst/>
          </a:prstGeom>
          <a:ln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9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38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The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8507"/>
            <a:ext cx="10515600" cy="4928456"/>
          </a:xfrm>
        </p:spPr>
        <p:txBody>
          <a:bodyPr/>
          <a:lstStyle/>
          <a:p>
            <a:r>
              <a:rPr lang="en-US" altLang="en-US" sz="2400" dirty="0">
                <a:solidFill>
                  <a:srgbClr val="382344"/>
                </a:solidFill>
                <a:latin typeface="Arial" panose="020B0604020202020204" pitchFamily="34" charset="0"/>
              </a:rPr>
              <a:t> Relationship between the quantity of a good that producers are willing to  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382344"/>
                </a:solidFill>
                <a:latin typeface="Arial" panose="020B0604020202020204" pitchFamily="34" charset="0"/>
              </a:rPr>
              <a:t>    sell and the price of the good. </a:t>
            </a:r>
          </a:p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supply curve is thus a relationship between the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quantity supplied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  </a:t>
            </a:r>
          </a:p>
          <a:p>
            <a:pPr marL="0" indent="0"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the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We can write this relationship as an equation: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47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The Linear Supply curve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732912" y="1456532"/>
            <a:ext cx="36262" cy="41148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55627" y="5663625"/>
            <a:ext cx="100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383268"/>
            <a:ext cx="64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Freeform 11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3505200" y="2133600"/>
            <a:ext cx="2133600" cy="29601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7"/>
          <p:cNvSpPr/>
          <p:nvPr/>
        </p:nvSpPr>
        <p:spPr>
          <a:xfrm flipH="1">
            <a:off x="5135881" y="2773681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 flipH="1">
            <a:off x="3581400" y="4202668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Flowchart: Connector 19"/>
          <p:cNvSpPr/>
          <p:nvPr/>
        </p:nvSpPr>
        <p:spPr>
          <a:xfrm flipH="1">
            <a:off x="3810000" y="4602481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 flipH="1">
            <a:off x="4876800" y="2438400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4588" y="1752600"/>
            <a:ext cx="36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baseline="30000" dirty="0"/>
              <a:t>0</a:t>
            </a:r>
            <a:endParaRPr lang="en-US" baseline="-2500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57157" y="4639468"/>
            <a:ext cx="2052256" cy="8731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1732912" y="2806502"/>
            <a:ext cx="3390053" cy="2409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122966" y="2830592"/>
            <a:ext cx="12915" cy="2732008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0" idx="4"/>
          </p:cNvCxnSpPr>
          <p:nvPr/>
        </p:nvCxnSpPr>
        <p:spPr>
          <a:xfrm>
            <a:off x="3832859" y="4648200"/>
            <a:ext cx="0" cy="897563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4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216876" y="263470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876" y="4463506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25967" y="5553751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2572" y="5539099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258133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animBg="1"/>
      <p:bldP spid="21" grpId="0"/>
      <p:bldP spid="43" grpId="0"/>
      <p:bldP spid="44" grpId="0"/>
      <p:bldP spid="45" grpId="0"/>
      <p:bldP spid="46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8551"/>
            <a:ext cx="10515600" cy="10152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Other variables that affect Supply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8654"/>
            <a:ext cx="10515600" cy="46383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quantity that producers are willing to sell depends not only on the price they receive but also on their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costs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including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wages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 charges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the </a:t>
            </a: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 of raw materials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in supply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refers to shifts in the supply curve</a:t>
            </a:r>
          </a:p>
          <a:p>
            <a:pPr marL="0" indent="0" algn="just">
              <a:buNone/>
            </a:pPr>
            <a:r>
              <a:rPr lang="en-US" altLang="en-US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in the quantity supplied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refers to movements along the supply curve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487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Shifting of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329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716338" y="1447800"/>
            <a:ext cx="36262" cy="41148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862146" y="2584938"/>
            <a:ext cx="1890346" cy="2892670"/>
          </a:xfrm>
          <a:prstGeom prst="line">
            <a:avLst/>
          </a:prstGeom>
          <a:ln w="22225" cap="rnd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55627" y="5663625"/>
            <a:ext cx="100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383268"/>
            <a:ext cx="64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3868"/>
            <a:ext cx="36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baseline="30000" dirty="0"/>
              <a:t>2</a:t>
            </a:r>
            <a:endParaRPr lang="en-US" baseline="-25000" dirty="0"/>
          </a:p>
        </p:txBody>
      </p:sp>
      <p:sp>
        <p:nvSpPr>
          <p:cNvPr id="12" name="Freeform 11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25615" y="1981200"/>
            <a:ext cx="1846385" cy="2573215"/>
          </a:xfrm>
          <a:prstGeom prst="line">
            <a:avLst/>
          </a:prstGeom>
          <a:ln w="22225" cap="rnd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0800" y="2630269"/>
            <a:ext cx="110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Decrease </a:t>
            </a:r>
          </a:p>
          <a:p>
            <a:r>
              <a:rPr lang="en-US" dirty="0"/>
              <a:t>in supply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4730262" y="3635633"/>
            <a:ext cx="756138" cy="4382"/>
          </a:xfrm>
          <a:prstGeom prst="line">
            <a:avLst/>
          </a:prstGeom>
          <a:ln w="19050"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38600" y="3102233"/>
            <a:ext cx="762000" cy="21967"/>
          </a:xfrm>
          <a:prstGeom prst="line">
            <a:avLst/>
          </a:prstGeom>
          <a:ln w="19050"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505200" y="2133600"/>
            <a:ext cx="2133600" cy="29601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4588" y="1752600"/>
            <a:ext cx="36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baseline="30000" dirty="0"/>
              <a:t>0</a:t>
            </a:r>
            <a:endParaRPr lang="en-US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07788" y="1676400"/>
            <a:ext cx="36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baseline="30000" dirty="0"/>
              <a:t>1</a:t>
            </a:r>
            <a:endParaRPr lang="en-US" baseline="-25000" dirty="0"/>
          </a:p>
        </p:txBody>
      </p:sp>
      <p:sp>
        <p:nvSpPr>
          <p:cNvPr id="24" name="TextBox 23"/>
          <p:cNvSpPr txBox="1"/>
          <p:nvPr/>
        </p:nvSpPr>
        <p:spPr>
          <a:xfrm>
            <a:off x="6125236" y="3486834"/>
            <a:ext cx="1024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 </a:t>
            </a:r>
          </a:p>
          <a:p>
            <a:r>
              <a:rPr lang="en-US" dirty="0"/>
              <a:t>in supply</a:t>
            </a:r>
          </a:p>
        </p:txBody>
      </p:sp>
    </p:spTree>
    <p:extLst>
      <p:ext uri="{BB962C8B-B14F-4D97-AF65-F5344CB8AC3E}">
        <p14:creationId xmlns:p14="http://schemas.microsoft.com/office/powerpoint/2010/main" val="130776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Linear supply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8654"/>
                <a:ext cx="10515600" cy="463830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One simple, but useful, representation of a supply function is the linear supply function: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𝑊</m:t>
                      </m:r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𝑟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	where: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 is the number of units of good X produced;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the price of good X;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𝑊</m:t>
                    </m:r>
                  </m:oMath>
                </a14:m>
                <a:r>
                  <a:rPr lang="en-US" dirty="0"/>
                  <a:t> is the price of an input;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price of technologically related goods;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is the value of any other variable affecting supply.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8654"/>
                <a:ext cx="10515600" cy="4638309"/>
              </a:xfrm>
              <a:blipFill>
                <a:blip r:embed="rId2"/>
                <a:stretch>
                  <a:fillRect l="-81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268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Signs of coefficients of linear supply function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signs and magnitude of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/>
                  <a:t> coefficients  determine the impact of each variable on the number of units of X produced.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𝑊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example: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&gt;0</m:t>
                    </m:r>
                  </m:oMath>
                </a14:m>
                <a:r>
                  <a:rPr lang="en-US" dirty="0"/>
                  <a:t> by the law of supply.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𝑊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&lt;0</m:t>
                    </m:r>
                  </m:oMath>
                </a14:m>
                <a:r>
                  <a:rPr lang="en-US" dirty="0"/>
                  <a:t> increasing input price.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&gt;0</m:t>
                    </m:r>
                  </m:oMath>
                </a14:m>
                <a:r>
                  <a:rPr lang="en-US" dirty="0"/>
                  <a:t> technology lowers the cost of producing good X.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493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Linear supply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8654"/>
                <a:ext cx="10515600" cy="463830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Your research department estimates that the supply function for televisions sets is given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b="0" i="1" smtClean="0">
                          <a:latin typeface="Cambria Math"/>
                        </a:rPr>
                        <m:t>,000+3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−4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−1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341313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u="sng" dirty="0"/>
                  <a:t>Question</a:t>
                </a:r>
                <a:r>
                  <a:rPr lang="en-US" sz="2400" dirty="0"/>
                  <a:t>: How many televisions are produced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=$400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=$100</m:t>
                    </m:r>
                  </m:oMath>
                </a14:m>
                <a:r>
                  <a:rPr lang="en-US" sz="2400" dirty="0"/>
                  <a:t> per unit,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𝑊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=$2,000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8654"/>
                <a:ext cx="10515600" cy="4638309"/>
              </a:xfrm>
              <a:blipFill>
                <a:blip r:embed="rId2"/>
                <a:stretch>
                  <a:fillRect l="-928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922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Linear supply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8654"/>
                <a:ext cx="10515600" cy="46383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r>
                  <a:rPr lang="en-US" u="sng" dirty="0"/>
                  <a:t>Answer</a:t>
                </a:r>
                <a:r>
                  <a:rPr lang="en-US" dirty="0"/>
                  <a:t>: </a:t>
                </a: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00+3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400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latin typeface="Cambria Math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2,000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800</m:t>
                    </m:r>
                  </m:oMath>
                </a14:m>
                <a:r>
                  <a:rPr lang="en-US" dirty="0"/>
                  <a:t> television sets.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8654"/>
                <a:ext cx="10515600" cy="4638309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613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Inverse supply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2469"/>
                <a:ext cx="10515600" cy="535451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Your research department estimates that the supply function for televisions sets is given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b="0" i="1" smtClean="0">
                          <a:latin typeface="Cambria Math"/>
                        </a:rPr>
                        <m:t>,000+3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−4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−1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𝑊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=$</m:t>
                    </m:r>
                    <m:r>
                      <a:rPr lang="en-US" sz="2400" b="0" i="1" smtClean="0">
                        <a:latin typeface="Cambria Math"/>
                      </a:rPr>
                      <m:t>2,000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=$</m:t>
                    </m:r>
                    <m:r>
                      <a:rPr lang="en-US" sz="2400" b="0" i="0" smtClean="0">
                        <a:latin typeface="Cambria Math"/>
                      </a:rPr>
                      <m:t>100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b="0" i="1" smtClean="0">
                          <a:latin typeface="Cambria Math"/>
                        </a:rPr>
                        <m:t>,000+3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−4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100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−1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2,000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341313" indent="0">
                  <a:buNone/>
                </a:pPr>
                <a:r>
                  <a:rPr lang="en-US" sz="2400" dirty="0"/>
                  <a:t>the linear supply function simplifies to</a:t>
                </a:r>
              </a:p>
              <a:p>
                <a:pPr marL="34131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−400</m:t>
                      </m:r>
                    </m:oMath>
                  </m:oMathPara>
                </a14:m>
                <a:endParaRPr lang="en-US" sz="2400" b="0" dirty="0"/>
              </a:p>
              <a:p>
                <a:pPr marL="798513" indent="-457200"/>
                <a:endParaRPr lang="en-US" sz="2400" dirty="0"/>
              </a:p>
              <a:p>
                <a:pPr marL="798513" indent="-457200"/>
                <a:r>
                  <a:rPr lang="en-US" sz="2400" dirty="0"/>
                  <a:t>Solving this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400" dirty="0"/>
                  <a:t> in terms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2400" dirty="0"/>
                  <a:t> results in </a:t>
                </a:r>
              </a:p>
              <a:p>
                <a:pPr marL="34131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400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341313" indent="0">
                  <a:buNone/>
                </a:pPr>
                <a:r>
                  <a:rPr lang="en-US" sz="2400" dirty="0"/>
                  <a:t>which is called the </a:t>
                </a:r>
                <a:r>
                  <a:rPr lang="en-US" sz="2400" i="1" dirty="0">
                    <a:solidFill>
                      <a:srgbClr val="0070C0"/>
                    </a:solidFill>
                  </a:rPr>
                  <a:t>inverse supply function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2469"/>
                <a:ext cx="10515600" cy="5354516"/>
              </a:xfrm>
              <a:blipFill>
                <a:blip r:embed="rId2"/>
                <a:stretch>
                  <a:fillRect l="-812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475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Market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Competitive market equilibrium</a:t>
            </a:r>
          </a:p>
          <a:p>
            <a:pPr lvl="1"/>
            <a:r>
              <a:rPr lang="en-US" dirty="0"/>
              <a:t>Price of a good is determined by the interactions of the market demand and market supply for the good.</a:t>
            </a:r>
          </a:p>
          <a:p>
            <a:pPr lvl="1"/>
            <a:r>
              <a:rPr lang="en-US" dirty="0"/>
              <a:t>A price and quantity such that there is no shortage or surplus in the market.</a:t>
            </a:r>
          </a:p>
          <a:p>
            <a:pPr lvl="1"/>
            <a:r>
              <a:rPr lang="en-US" dirty="0"/>
              <a:t>Forces that drive market demand and market supply are balanced, and there is no pressure on prices or quantities to change.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23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Market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1263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2057400"/>
            <a:ext cx="0" cy="35052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751043" y="2242066"/>
            <a:ext cx="5211121" cy="2863334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5627" y="5663625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92982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962164" y="19812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Supply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26046" y="2971800"/>
                <a:ext cx="526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046" y="2971800"/>
                <a:ext cx="52655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752600" y="3171546"/>
            <a:ext cx="3467100" cy="2885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219700" y="3200400"/>
            <a:ext cx="38100" cy="23622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752600" y="2743200"/>
            <a:ext cx="5410200" cy="281940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34200" y="50292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2667000" y="3178759"/>
            <a:ext cx="0" cy="2383841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52600" y="4543146"/>
            <a:ext cx="3505200" cy="2885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752600" y="3171546"/>
            <a:ext cx="924024" cy="14427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/>
          <p:cNvSpPr/>
          <p:nvPr/>
        </p:nvSpPr>
        <p:spPr>
          <a:xfrm rot="16200000">
            <a:off x="3780654" y="1717420"/>
            <a:ext cx="344640" cy="25334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505200" y="237386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Surplus 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1752600" y="4543146"/>
            <a:ext cx="933648" cy="14427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667000" y="4572000"/>
            <a:ext cx="19248" cy="990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Brace 23"/>
          <p:cNvSpPr/>
          <p:nvPr/>
        </p:nvSpPr>
        <p:spPr>
          <a:xfrm rot="5400000" flipV="1">
            <a:off x="3761406" y="3513954"/>
            <a:ext cx="344640" cy="25334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458540" y="4840069"/>
            <a:ext cx="1021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Shortage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257800" y="4572000"/>
            <a:ext cx="19050" cy="990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184534" y="3657600"/>
                <a:ext cx="491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34" y="3657600"/>
                <a:ext cx="4918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>
            <a:off x="1752600" y="3857346"/>
            <a:ext cx="2216689" cy="1992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962400" y="3886200"/>
            <a:ext cx="26137" cy="16764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219200" y="4355068"/>
                <a:ext cx="491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355068"/>
                <a:ext cx="4912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422971" y="5650468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971" y="5650468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760073" y="563880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073" y="5638800"/>
                <a:ext cx="50712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055473" y="563880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73" y="5638800"/>
                <a:ext cx="507127" cy="369332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58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20" grpId="0" animBg="1"/>
      <p:bldP spid="20" grpId="1" animBg="1"/>
      <p:bldP spid="21" grpId="0"/>
      <p:bldP spid="21" grpId="1"/>
      <p:bldP spid="24" grpId="0" animBg="1"/>
      <p:bldP spid="24" grpId="1" animBg="1"/>
      <p:bldP spid="25" grpId="0"/>
      <p:bldP spid="25" grpId="1"/>
      <p:bldP spid="27" grpId="0"/>
      <p:bldP spid="30" grpId="0"/>
      <p:bldP spid="30" grpId="1"/>
      <p:bldP spid="31" grpId="0"/>
      <p:bldP spid="31" grpId="1"/>
      <p:bldP spid="31" grpId="2"/>
      <p:bldP spid="31" grpId="3"/>
      <p:bldP spid="32" grpId="0"/>
      <p:bldP spid="33" grpId="0"/>
      <p:bldP spid="33" grpId="1"/>
      <p:bldP spid="33" grpId="2"/>
      <p:bldP spid="33" grpId="3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Market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Consider a market with demand and supply functions, respectively,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=10−2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=2+2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Find the equilibrium price and quantity.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068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Market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1160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competitive market equilibrium exists at a price,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sz="2400" dirty="0"/>
                  <a:t>,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That is,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10−2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  <m:r>
                        <a:rPr lang="en-US" sz="2400" i="1">
                          <a:latin typeface="Cambria Math"/>
                        </a:rPr>
                        <m:t>=2+2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8=4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𝑒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=$2</m:t>
                      </m:r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=10−2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$2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=6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=2+2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$2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=6</m:t>
                    </m:r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=6</m:t>
                    </m:r>
                  </m:oMath>
                </a14:m>
                <a:r>
                  <a:rPr lang="en-US" sz="2400" dirty="0"/>
                  <a:t> units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11608" cy="4351338"/>
              </a:xfrm>
              <a:blipFill>
                <a:blip r:embed="rId2"/>
                <a:stretch>
                  <a:fillRect l="-790" t="-1821" r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949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Stable and unstable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8992"/>
            <a:ext cx="10515600" cy="4818185"/>
          </a:xfrm>
        </p:spPr>
        <p:txBody>
          <a:bodyPr/>
          <a:lstStyle/>
          <a:p>
            <a:r>
              <a:rPr lang="en-US" sz="2400" dirty="0"/>
              <a:t>Follow the diagram below where A, B, and C are three equilibriums. Find the stable and unstable equilibriums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" name="Canvas 105"/>
          <p:cNvGrpSpPr/>
          <p:nvPr/>
        </p:nvGrpSpPr>
        <p:grpSpPr>
          <a:xfrm>
            <a:off x="3851031" y="2457449"/>
            <a:ext cx="5345723" cy="3407019"/>
            <a:chOff x="0" y="0"/>
            <a:chExt cx="3086100" cy="1943100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3086100" cy="1943100"/>
            </a:xfrm>
            <a:prstGeom prst="rect">
              <a:avLst/>
            </a:prstGeom>
            <a:noFill/>
            <a:ln>
              <a:noFill/>
            </a:ln>
          </p:spPr>
        </p:sp>
        <p:cxnSp>
          <p:nvCxnSpPr>
            <p:cNvPr id="7" name="Line 4"/>
            <p:cNvCxnSpPr/>
            <p:nvPr/>
          </p:nvCxnSpPr>
          <p:spPr bwMode="auto">
            <a:xfrm flipV="1">
              <a:off x="457200" y="114126"/>
              <a:ext cx="762" cy="16007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5"/>
            <p:cNvCxnSpPr/>
            <p:nvPr/>
          </p:nvCxnSpPr>
          <p:spPr bwMode="auto">
            <a:xfrm>
              <a:off x="457200" y="1714849"/>
              <a:ext cx="2286000" cy="7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6"/>
            <p:cNvCxnSpPr/>
            <p:nvPr/>
          </p:nvCxnSpPr>
          <p:spPr bwMode="auto">
            <a:xfrm flipV="1">
              <a:off x="800100" y="456503"/>
              <a:ext cx="1028700" cy="10293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685800" y="571369"/>
              <a:ext cx="1047750" cy="800362"/>
            </a:xfrm>
            <a:custGeom>
              <a:avLst/>
              <a:gdLst>
                <a:gd name="T0" fmla="*/ 1440 w 1650"/>
                <a:gd name="T1" fmla="*/ 1260 h 1260"/>
                <a:gd name="T2" fmla="*/ 540 w 1650"/>
                <a:gd name="T3" fmla="*/ 1080 h 1260"/>
                <a:gd name="T4" fmla="*/ 360 w 1650"/>
                <a:gd name="T5" fmla="*/ 900 h 1260"/>
                <a:gd name="T6" fmla="*/ 1260 w 1650"/>
                <a:gd name="T7" fmla="*/ 720 h 1260"/>
                <a:gd name="T8" fmla="*/ 1440 w 1650"/>
                <a:gd name="T9" fmla="*/ 540 h 1260"/>
                <a:gd name="T10" fmla="*/ 0 w 1650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50" h="1260">
                  <a:moveTo>
                    <a:pt x="1440" y="1260"/>
                  </a:moveTo>
                  <a:cubicBezTo>
                    <a:pt x="1080" y="1200"/>
                    <a:pt x="720" y="1140"/>
                    <a:pt x="540" y="1080"/>
                  </a:cubicBezTo>
                  <a:cubicBezTo>
                    <a:pt x="360" y="1020"/>
                    <a:pt x="240" y="960"/>
                    <a:pt x="360" y="900"/>
                  </a:cubicBezTo>
                  <a:cubicBezTo>
                    <a:pt x="480" y="840"/>
                    <a:pt x="1080" y="780"/>
                    <a:pt x="1260" y="720"/>
                  </a:cubicBezTo>
                  <a:cubicBezTo>
                    <a:pt x="1440" y="660"/>
                    <a:pt x="1650" y="660"/>
                    <a:pt x="1440" y="540"/>
                  </a:cubicBezTo>
                  <a:cubicBezTo>
                    <a:pt x="1230" y="420"/>
                    <a:pt x="240" y="9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683166" y="1512599"/>
              <a:ext cx="228600" cy="1532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93895" y="1306636"/>
              <a:ext cx="228600" cy="2282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085519" y="928931"/>
              <a:ext cx="132670" cy="1215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340014" y="635964"/>
              <a:ext cx="121820" cy="123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40777" y="505113"/>
              <a:ext cx="228600" cy="2289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1828800" y="313497"/>
              <a:ext cx="228600" cy="2282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1600200" y="1256864"/>
              <a:ext cx="228600" cy="2289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228600" y="1714849"/>
              <a:ext cx="228600" cy="2282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342900" cy="2282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</a:t>
              </a:r>
              <a:r>
                <a:rPr lang="en-US" sz="1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2743200" y="1599982"/>
              <a:ext cx="342900" cy="2289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Q</a:t>
              </a:r>
              <a:r>
                <a:rPr lang="en-US" sz="1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x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2882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Consumer surplus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i="1" dirty="0">
                <a:solidFill>
                  <a:srgbClr val="0070C0"/>
                </a:solidFill>
              </a:rPr>
              <a:t>Total consumer value </a:t>
            </a:r>
            <a:r>
              <a:rPr lang="en-US" dirty="0"/>
              <a:t>is the sum of the maximum amount a consumer is willing to pay at different quantities.</a:t>
            </a:r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Total expenditure </a:t>
            </a:r>
            <a:r>
              <a:rPr lang="en-US" dirty="0"/>
              <a:t>is the per-unit market price times the number of units consumed.</a:t>
            </a:r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Consumer surplus </a:t>
            </a:r>
            <a:r>
              <a:rPr lang="en-US" dirty="0"/>
              <a:t>is the extra value that consumers derive from a good but do not pay for. Alternatively, the </a:t>
            </a:r>
            <a:r>
              <a:rPr lang="en-US" i="1" dirty="0">
                <a:solidFill>
                  <a:srgbClr val="0070C0"/>
                </a:solidFill>
              </a:rPr>
              <a:t>difference between </a:t>
            </a:r>
            <a:r>
              <a:rPr lang="en-US" dirty="0"/>
              <a:t>the </a:t>
            </a:r>
            <a:r>
              <a:rPr lang="en-US" i="1" dirty="0">
                <a:solidFill>
                  <a:srgbClr val="0070C0"/>
                </a:solidFill>
              </a:rPr>
              <a:t>reservation price </a:t>
            </a:r>
            <a:r>
              <a:rPr lang="en-US" dirty="0"/>
              <a:t>and the </a:t>
            </a:r>
            <a:r>
              <a:rPr lang="en-US" i="1" dirty="0">
                <a:solidFill>
                  <a:srgbClr val="0070C0"/>
                </a:solidFill>
              </a:rPr>
              <a:t>price consumers actually pay</a:t>
            </a:r>
            <a:r>
              <a:rPr lang="en-US" dirty="0"/>
              <a:t> is consumer surplus.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9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Consumer surplus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2057400"/>
            <a:ext cx="0" cy="35052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752600" y="2743200"/>
            <a:ext cx="5410200" cy="281940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5627" y="5663625"/>
            <a:ext cx="1056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 </a:t>
            </a:r>
          </a:p>
          <a:p>
            <a:r>
              <a:rPr lang="en-US" dirty="0"/>
              <a:t>in liters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70" y="1752600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 per </a:t>
            </a:r>
          </a:p>
          <a:p>
            <a:r>
              <a:rPr lang="en-US" dirty="0"/>
              <a:t>liter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50292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257696" y="2590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821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6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752600" y="3962400"/>
            <a:ext cx="2362200" cy="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114800" y="3962400"/>
            <a:ext cx="0" cy="16002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908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5514" y="5650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696" y="4953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114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514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1" name="Freeform 20"/>
          <p:cNvSpPr/>
          <p:nvPr/>
        </p:nvSpPr>
        <p:spPr>
          <a:xfrm>
            <a:off x="1733267" y="2710638"/>
            <a:ext cx="2395182" cy="2851962"/>
          </a:xfrm>
          <a:custGeom>
            <a:avLst/>
            <a:gdLst>
              <a:gd name="connsiteX0" fmla="*/ 0 w 3070747"/>
              <a:gd name="connsiteY0" fmla="*/ 0 h 2852382"/>
              <a:gd name="connsiteX1" fmla="*/ 0 w 3070747"/>
              <a:gd name="connsiteY1" fmla="*/ 2852382 h 2852382"/>
              <a:gd name="connsiteX2" fmla="*/ 3070747 w 3070747"/>
              <a:gd name="connsiteY2" fmla="*/ 2825087 h 2852382"/>
              <a:gd name="connsiteX3" fmla="*/ 3070747 w 3070747"/>
              <a:gd name="connsiteY3" fmla="*/ 1610436 h 2852382"/>
              <a:gd name="connsiteX4" fmla="*/ 0 w 3070747"/>
              <a:gd name="connsiteY4" fmla="*/ 0 h 2852382"/>
              <a:gd name="connsiteX0" fmla="*/ 0 w 3141137"/>
              <a:gd name="connsiteY0" fmla="*/ 0 h 2852382"/>
              <a:gd name="connsiteX1" fmla="*/ 0 w 3141137"/>
              <a:gd name="connsiteY1" fmla="*/ 2852382 h 2852382"/>
              <a:gd name="connsiteX2" fmla="*/ 3070747 w 3141137"/>
              <a:gd name="connsiteY2" fmla="*/ 2825087 h 2852382"/>
              <a:gd name="connsiteX3" fmla="*/ 3141137 w 3141137"/>
              <a:gd name="connsiteY3" fmla="*/ 1282842 h 2852382"/>
              <a:gd name="connsiteX4" fmla="*/ 0 w 3141137"/>
              <a:gd name="connsiteY4" fmla="*/ 0 h 2852382"/>
              <a:gd name="connsiteX0" fmla="*/ 0 w 3088345"/>
              <a:gd name="connsiteY0" fmla="*/ 0 h 2852382"/>
              <a:gd name="connsiteX1" fmla="*/ 0 w 3088345"/>
              <a:gd name="connsiteY1" fmla="*/ 2852382 h 2852382"/>
              <a:gd name="connsiteX2" fmla="*/ 3070747 w 3088345"/>
              <a:gd name="connsiteY2" fmla="*/ 2825087 h 2852382"/>
              <a:gd name="connsiteX3" fmla="*/ 3088345 w 3088345"/>
              <a:gd name="connsiteY3" fmla="*/ 1282842 h 2852382"/>
              <a:gd name="connsiteX4" fmla="*/ 0 w 3088345"/>
              <a:gd name="connsiteY4" fmla="*/ 0 h 285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8345" h="2852382">
                <a:moveTo>
                  <a:pt x="0" y="0"/>
                </a:moveTo>
                <a:lnTo>
                  <a:pt x="0" y="2852382"/>
                </a:lnTo>
                <a:lnTo>
                  <a:pt x="3070747" y="2825087"/>
                </a:lnTo>
                <a:lnTo>
                  <a:pt x="3088345" y="1282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Freeform 21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24" idx="1"/>
          </p:cNvCxnSpPr>
          <p:nvPr/>
        </p:nvCxnSpPr>
        <p:spPr>
          <a:xfrm flipH="1">
            <a:off x="3320716" y="3090611"/>
            <a:ext cx="1070598" cy="155272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91314" y="2767445"/>
            <a:ext cx="2940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Consumer Value:</a:t>
            </a:r>
          </a:p>
          <a:p>
            <a:r>
              <a:rPr lang="en-US" dirty="0"/>
              <a:t>0.5($5 - $3)x2+(3-0)(2-0) = $8</a:t>
            </a:r>
          </a:p>
        </p:txBody>
      </p:sp>
      <p:sp>
        <p:nvSpPr>
          <p:cNvPr id="25" name="Freeform 24"/>
          <p:cNvSpPr/>
          <p:nvPr/>
        </p:nvSpPr>
        <p:spPr>
          <a:xfrm>
            <a:off x="1739959" y="3962400"/>
            <a:ext cx="2405218" cy="1647967"/>
          </a:xfrm>
          <a:custGeom>
            <a:avLst/>
            <a:gdLst>
              <a:gd name="connsiteX0" fmla="*/ 0 w 3070747"/>
              <a:gd name="connsiteY0" fmla="*/ 0 h 2852382"/>
              <a:gd name="connsiteX1" fmla="*/ 0 w 3070747"/>
              <a:gd name="connsiteY1" fmla="*/ 2852382 h 2852382"/>
              <a:gd name="connsiteX2" fmla="*/ 3070747 w 3070747"/>
              <a:gd name="connsiteY2" fmla="*/ 2825087 h 2852382"/>
              <a:gd name="connsiteX3" fmla="*/ 3070747 w 3070747"/>
              <a:gd name="connsiteY3" fmla="*/ 1610436 h 2852382"/>
              <a:gd name="connsiteX4" fmla="*/ 0 w 3070747"/>
              <a:gd name="connsiteY4" fmla="*/ 0 h 2852382"/>
              <a:gd name="connsiteX0" fmla="*/ 0 w 3084395"/>
              <a:gd name="connsiteY0" fmla="*/ 0 h 2852382"/>
              <a:gd name="connsiteX1" fmla="*/ 0 w 3084395"/>
              <a:gd name="connsiteY1" fmla="*/ 2852382 h 2852382"/>
              <a:gd name="connsiteX2" fmla="*/ 3084395 w 3084395"/>
              <a:gd name="connsiteY2" fmla="*/ 2838735 h 2852382"/>
              <a:gd name="connsiteX3" fmla="*/ 3070747 w 3084395"/>
              <a:gd name="connsiteY3" fmla="*/ 1610436 h 2852382"/>
              <a:gd name="connsiteX4" fmla="*/ 0 w 3084395"/>
              <a:gd name="connsiteY4" fmla="*/ 0 h 2852382"/>
              <a:gd name="connsiteX0" fmla="*/ 0 w 3084395"/>
              <a:gd name="connsiteY0" fmla="*/ 0 h 2852382"/>
              <a:gd name="connsiteX1" fmla="*/ 0 w 3084395"/>
              <a:gd name="connsiteY1" fmla="*/ 2852382 h 2852382"/>
              <a:gd name="connsiteX2" fmla="*/ 3084395 w 3084395"/>
              <a:gd name="connsiteY2" fmla="*/ 2838735 h 2852382"/>
              <a:gd name="connsiteX3" fmla="*/ 3070747 w 3084395"/>
              <a:gd name="connsiteY3" fmla="*/ 1610436 h 2852382"/>
              <a:gd name="connsiteX4" fmla="*/ 0 w 3084395"/>
              <a:gd name="connsiteY4" fmla="*/ 0 h 2852382"/>
              <a:gd name="connsiteX0" fmla="*/ 13648 w 3084395"/>
              <a:gd name="connsiteY0" fmla="*/ 0 h 1269241"/>
              <a:gd name="connsiteX1" fmla="*/ 0 w 3084395"/>
              <a:gd name="connsiteY1" fmla="*/ 1269241 h 1269241"/>
              <a:gd name="connsiteX2" fmla="*/ 3084395 w 3084395"/>
              <a:gd name="connsiteY2" fmla="*/ 1255594 h 1269241"/>
              <a:gd name="connsiteX3" fmla="*/ 3070747 w 3084395"/>
              <a:gd name="connsiteY3" fmla="*/ 27295 h 1269241"/>
              <a:gd name="connsiteX4" fmla="*/ 13648 w 3084395"/>
              <a:gd name="connsiteY4" fmla="*/ 0 h 1269241"/>
              <a:gd name="connsiteX0" fmla="*/ 0 w 3123622"/>
              <a:gd name="connsiteY0" fmla="*/ 0 h 1269241"/>
              <a:gd name="connsiteX1" fmla="*/ 39227 w 3123622"/>
              <a:gd name="connsiteY1" fmla="*/ 1269241 h 1269241"/>
              <a:gd name="connsiteX2" fmla="*/ 3123622 w 3123622"/>
              <a:gd name="connsiteY2" fmla="*/ 1255594 h 1269241"/>
              <a:gd name="connsiteX3" fmla="*/ 3109974 w 3123622"/>
              <a:gd name="connsiteY3" fmla="*/ 27295 h 1269241"/>
              <a:gd name="connsiteX4" fmla="*/ 0 w 3123622"/>
              <a:gd name="connsiteY4" fmla="*/ 0 h 1269241"/>
              <a:gd name="connsiteX0" fmla="*/ 0 w 3145225"/>
              <a:gd name="connsiteY0" fmla="*/ 0 h 1269241"/>
              <a:gd name="connsiteX1" fmla="*/ 39227 w 3145225"/>
              <a:gd name="connsiteY1" fmla="*/ 1269241 h 1269241"/>
              <a:gd name="connsiteX2" fmla="*/ 3123622 w 3145225"/>
              <a:gd name="connsiteY2" fmla="*/ 1255594 h 1269241"/>
              <a:gd name="connsiteX3" fmla="*/ 3145225 w 3145225"/>
              <a:gd name="connsiteY3" fmla="*/ 54591 h 1269241"/>
              <a:gd name="connsiteX4" fmla="*/ 0 w 3145225"/>
              <a:gd name="connsiteY4" fmla="*/ 0 h 1269241"/>
              <a:gd name="connsiteX0" fmla="*/ 14561 w 3159786"/>
              <a:gd name="connsiteY0" fmla="*/ 0 h 1283480"/>
              <a:gd name="connsiteX1" fmla="*/ 0 w 3159786"/>
              <a:gd name="connsiteY1" fmla="*/ 1283480 h 1283480"/>
              <a:gd name="connsiteX2" fmla="*/ 3138183 w 3159786"/>
              <a:gd name="connsiteY2" fmla="*/ 1255594 h 1283480"/>
              <a:gd name="connsiteX3" fmla="*/ 3159786 w 3159786"/>
              <a:gd name="connsiteY3" fmla="*/ 54591 h 1283480"/>
              <a:gd name="connsiteX4" fmla="*/ 14561 w 3159786"/>
              <a:gd name="connsiteY4" fmla="*/ 0 h 1283480"/>
              <a:gd name="connsiteX0" fmla="*/ 14561 w 3159786"/>
              <a:gd name="connsiteY0" fmla="*/ 16600 h 1228889"/>
              <a:gd name="connsiteX1" fmla="*/ 0 w 3159786"/>
              <a:gd name="connsiteY1" fmla="*/ 1228889 h 1228889"/>
              <a:gd name="connsiteX2" fmla="*/ 3138183 w 3159786"/>
              <a:gd name="connsiteY2" fmla="*/ 1201003 h 1228889"/>
              <a:gd name="connsiteX3" fmla="*/ 3159786 w 3159786"/>
              <a:gd name="connsiteY3" fmla="*/ 0 h 1228889"/>
              <a:gd name="connsiteX4" fmla="*/ 14561 w 3159786"/>
              <a:gd name="connsiteY4" fmla="*/ 16600 h 122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9786" h="1228889">
                <a:moveTo>
                  <a:pt x="14561" y="16600"/>
                </a:moveTo>
                <a:lnTo>
                  <a:pt x="0" y="1228889"/>
                </a:lnTo>
                <a:lnTo>
                  <a:pt x="3138183" y="1201003"/>
                </a:lnTo>
                <a:lnTo>
                  <a:pt x="3159786" y="0"/>
                </a:lnTo>
                <a:lnTo>
                  <a:pt x="14561" y="166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943600" y="3733800"/>
            <a:ext cx="1906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Expenditures: </a:t>
            </a:r>
          </a:p>
          <a:p>
            <a:r>
              <a:rPr lang="en-US" dirty="0"/>
              <a:t>$(3-0) x (2-0) = $6 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3333553" y="4050528"/>
            <a:ext cx="2610047" cy="978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08426" y="2191434"/>
            <a:ext cx="2526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 Surplus: </a:t>
            </a:r>
          </a:p>
          <a:p>
            <a:r>
              <a:rPr lang="en-US" dirty="0"/>
              <a:t>    0.5($5 - $3)x(2-0) = $2</a:t>
            </a:r>
          </a:p>
        </p:txBody>
      </p:sp>
      <p:cxnSp>
        <p:nvCxnSpPr>
          <p:cNvPr id="29" name="Straight Arrow Connector 28"/>
          <p:cNvCxnSpPr>
            <a:stCxn id="28" idx="1"/>
          </p:cNvCxnSpPr>
          <p:nvPr/>
        </p:nvCxnSpPr>
        <p:spPr>
          <a:xfrm flipH="1">
            <a:off x="2590800" y="2514600"/>
            <a:ext cx="1317626" cy="10668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19200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9914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99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24" grpId="1"/>
      <p:bldP spid="25" grpId="0" animBg="1"/>
      <p:bldP spid="26" grpId="0"/>
      <p:bldP spid="26" grpId="1"/>
      <p:bldP spid="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Producer surplus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amount producers receive in excess of the amount necessary to induce them to produce the good.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359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Producer surplus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2057400"/>
            <a:ext cx="0" cy="35052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752600" y="2242066"/>
            <a:ext cx="5029200" cy="3091934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5627" y="5663625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863" y="192982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812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Supply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066800" y="25908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56388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800</a:t>
            </a:r>
          </a:p>
        </p:txBody>
      </p:sp>
      <p:sp>
        <p:nvSpPr>
          <p:cNvPr id="13" name="Freeform 12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52600" y="2746612"/>
            <a:ext cx="4191000" cy="2885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943600" y="2775466"/>
            <a:ext cx="38100" cy="278713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67200" y="1879811"/>
                <a:ext cx="2533201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400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879811"/>
                <a:ext cx="2533201" cy="6347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6"/>
          <p:cNvSpPr/>
          <p:nvPr/>
        </p:nvSpPr>
        <p:spPr>
          <a:xfrm>
            <a:off x="1746913" y="2756848"/>
            <a:ext cx="4217159" cy="2579427"/>
          </a:xfrm>
          <a:custGeom>
            <a:avLst/>
            <a:gdLst>
              <a:gd name="connsiteX0" fmla="*/ 0 w 4217159"/>
              <a:gd name="connsiteY0" fmla="*/ 0 h 2579427"/>
              <a:gd name="connsiteX1" fmla="*/ 0 w 4217159"/>
              <a:gd name="connsiteY1" fmla="*/ 2579427 h 2579427"/>
              <a:gd name="connsiteX2" fmla="*/ 4217159 w 4217159"/>
              <a:gd name="connsiteY2" fmla="*/ 0 h 2579427"/>
              <a:gd name="connsiteX3" fmla="*/ 0 w 4217159"/>
              <a:gd name="connsiteY3" fmla="*/ 0 h 2579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159" h="2579427">
                <a:moveTo>
                  <a:pt x="0" y="0"/>
                </a:moveTo>
                <a:lnTo>
                  <a:pt x="0" y="2579427"/>
                </a:lnTo>
                <a:lnTo>
                  <a:pt x="4217159" y="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293194" y="3037995"/>
            <a:ext cx="3086496" cy="721668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66800" y="5029200"/>
                <a:ext cx="739305" cy="627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/>
                            </a:rPr>
                            <m:t>$400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029200"/>
                <a:ext cx="739305" cy="627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477000" y="2960132"/>
            <a:ext cx="1769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Producer surplus</a:t>
            </a:r>
          </a:p>
        </p:txBody>
      </p:sp>
    </p:spTree>
    <p:extLst>
      <p:ext uri="{BB962C8B-B14F-4D97-AF65-F5344CB8AC3E}">
        <p14:creationId xmlns:p14="http://schemas.microsoft.com/office/powerpoint/2010/main" val="372437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53346" cy="4351338"/>
          </a:xfrm>
        </p:spPr>
        <p:txBody>
          <a:bodyPr/>
          <a:lstStyle/>
          <a:p>
            <a:r>
              <a:rPr lang="en-US" sz="2400" dirty="0"/>
              <a:t>In a competitive market equilibrium, price and quantity freely adjust to the forces of demand and supply.</a:t>
            </a:r>
          </a:p>
          <a:p>
            <a:r>
              <a:rPr lang="en-US" sz="2400" dirty="0"/>
              <a:t>Sometimes the government controls how much prices are permitted to fall or rise. 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Price floor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Price ceiling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24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floor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2057400"/>
            <a:ext cx="0" cy="35052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752600" y="2350532"/>
            <a:ext cx="5266056" cy="2678668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43482" y="5638800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92982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2164" y="19812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Supply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69403" y="2971800"/>
                <a:ext cx="502958" cy="376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𝑓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03" y="2971800"/>
                <a:ext cx="502958" cy="3769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76896" y="5638800"/>
                <a:ext cx="522066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96" y="5638800"/>
                <a:ext cx="522066" cy="374270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61421" y="5650468"/>
                <a:ext cx="505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421" y="5650468"/>
                <a:ext cx="505779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26876" y="5591454"/>
                <a:ext cx="499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876" y="5591454"/>
                <a:ext cx="499880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52600" y="2743200"/>
            <a:ext cx="5410200" cy="281940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34200" y="50292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2667000" y="3178759"/>
            <a:ext cx="19248" cy="2383841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752600" y="3200400"/>
            <a:ext cx="4724400" cy="28854"/>
          </a:xfrm>
          <a:prstGeom prst="line">
            <a:avLst/>
          </a:prstGeom>
          <a:ln w="22225"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/>
          <p:cNvSpPr/>
          <p:nvPr/>
        </p:nvSpPr>
        <p:spPr>
          <a:xfrm rot="16200000">
            <a:off x="3899819" y="1766219"/>
            <a:ext cx="152401" cy="25635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471891" y="255853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Surplus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5287909" y="3229254"/>
            <a:ext cx="0" cy="232584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84534" y="3657600"/>
                <a:ext cx="491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34" y="3657600"/>
                <a:ext cx="49186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1752600" y="3857346"/>
            <a:ext cx="2216689" cy="1992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62400" y="3886200"/>
            <a:ext cx="26137" cy="16764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93512" y="3048000"/>
            <a:ext cx="945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Price</a:t>
            </a:r>
            <a:r>
              <a:rPr lang="en-US" baseline="-25000" dirty="0" err="1"/>
              <a:t>floor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2667000" y="3200400"/>
            <a:ext cx="2609816" cy="235469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477000" y="3659875"/>
            <a:ext cx="14487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of </a:t>
            </a:r>
          </a:p>
          <a:p>
            <a:r>
              <a:rPr lang="en-US" dirty="0"/>
              <a:t>purchasing </a:t>
            </a:r>
          </a:p>
          <a:p>
            <a:r>
              <a:rPr lang="en-US" dirty="0"/>
              <a:t>excess supply</a:t>
            </a:r>
          </a:p>
        </p:txBody>
      </p:sp>
      <p:cxnSp>
        <p:nvCxnSpPr>
          <p:cNvPr id="29" name="Straight Arrow Connector 28"/>
          <p:cNvCxnSpPr>
            <a:stCxn id="28" idx="1"/>
          </p:cNvCxnSpPr>
          <p:nvPr/>
        </p:nvCxnSpPr>
        <p:spPr>
          <a:xfrm flipH="1">
            <a:off x="4385628" y="4121540"/>
            <a:ext cx="2091372" cy="4527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55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3" grpId="1"/>
      <p:bldP spid="14" grpId="0"/>
      <p:bldP spid="20" grpId="0" animBg="1"/>
      <p:bldP spid="21" grpId="0"/>
      <p:bldP spid="23" grpId="0"/>
      <p:bldP spid="23" grpId="1"/>
      <p:bldP spid="26" grpId="0"/>
      <p:bldP spid="27" grpId="0" animBg="1"/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floor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a market with demand and supply functions, respectively,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=10−2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=2+2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Find the equilibrium price and quantity</a:t>
                </a:r>
              </a:p>
              <a:p>
                <a:r>
                  <a:rPr lang="en-US" sz="2400" dirty="0"/>
                  <a:t>Suppose a $4 price floor is imposed on the market. Find the surplus and the cost to the government of purchasing the surplus.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783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floor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:r>
                  <a:rPr lang="en-US" dirty="0"/>
                  <a:t>Answer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=10−2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$4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=2</m:t>
                    </m:r>
                  </m:oMath>
                </a14:m>
                <a:r>
                  <a:rPr lang="en-US" dirty="0"/>
                  <a:t> units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=2+2($4)=10</m:t>
                    </m:r>
                  </m:oMath>
                </a14:m>
                <a:r>
                  <a:rPr lang="en-US" dirty="0"/>
                  <a:t> units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a surplus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10−2=8</m:t>
                    </m:r>
                  </m:oMath>
                </a14:m>
                <a:r>
                  <a:rPr lang="en-US" dirty="0"/>
                  <a:t> units exists</a:t>
                </a:r>
              </a:p>
              <a:p>
                <a:pPr lvl="1"/>
                <a:r>
                  <a:rPr lang="en-US" dirty="0"/>
                  <a:t>The cost to the government of purchasing the surplus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$4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×8=$32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65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ceiling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2057400"/>
            <a:ext cx="0" cy="35052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751043" y="2242066"/>
            <a:ext cx="5211121" cy="2863334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43482" y="5638800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92982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2164" y="19812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Supply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600200" y="563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69403" y="2971800"/>
                <a:ext cx="5069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𝐹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03" y="2971800"/>
                <a:ext cx="50699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171005" y="4355068"/>
                <a:ext cx="485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05" y="4355068"/>
                <a:ext cx="4857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76896" y="5638800"/>
                <a:ext cx="499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896" y="5638800"/>
                <a:ext cx="499880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61421" y="5650468"/>
                <a:ext cx="505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421" y="5650468"/>
                <a:ext cx="505779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26876" y="5591454"/>
                <a:ext cx="522066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876" y="5591454"/>
                <a:ext cx="522066" cy="374270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17332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52600" y="2743200"/>
            <a:ext cx="5410200" cy="281940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50292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667000" y="3178759"/>
            <a:ext cx="19248" cy="2383841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752600" y="4543146"/>
            <a:ext cx="4724400" cy="28854"/>
          </a:xfrm>
          <a:prstGeom prst="line">
            <a:avLst/>
          </a:prstGeom>
          <a:ln w="22225"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52600" y="3171546"/>
            <a:ext cx="924024" cy="14427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2676624" y="4572000"/>
            <a:ext cx="9624" cy="990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/>
          <p:cNvSpPr/>
          <p:nvPr/>
        </p:nvSpPr>
        <p:spPr>
          <a:xfrm rot="5400000" flipV="1">
            <a:off x="3780654" y="3552054"/>
            <a:ext cx="344640" cy="24572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458540" y="4840069"/>
            <a:ext cx="1021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Shortage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5257800" y="4572000"/>
            <a:ext cx="38100" cy="990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84534" y="3657600"/>
                <a:ext cx="491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34" y="3657600"/>
                <a:ext cx="49186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1752600" y="3857346"/>
            <a:ext cx="2216689" cy="1992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962400" y="3886200"/>
            <a:ext cx="26137" cy="16764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93512" y="4343400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Price</a:t>
            </a:r>
            <a:r>
              <a:rPr lang="en-US" baseline="-25000" dirty="0" err="1"/>
              <a:t>ceiling</a:t>
            </a:r>
            <a:endParaRPr lang="en-US" dirty="0"/>
          </a:p>
        </p:txBody>
      </p:sp>
      <p:sp>
        <p:nvSpPr>
          <p:cNvPr id="30" name="Right Brace 29"/>
          <p:cNvSpPr/>
          <p:nvPr/>
        </p:nvSpPr>
        <p:spPr>
          <a:xfrm flipH="1">
            <a:off x="1112857" y="3121441"/>
            <a:ext cx="106343" cy="1406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3" grpId="0" animBg="1"/>
      <p:bldP spid="24" grpId="0"/>
      <p:bldP spid="26" grpId="0"/>
      <p:bldP spid="29" grpId="0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ceiling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Consider a market with demand and supply functions, respectively,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=10−2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=2+2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Find the equilibrium price and quantity</a:t>
                </a:r>
              </a:p>
              <a:p>
                <a:r>
                  <a:rPr lang="en-US" sz="2400" dirty="0"/>
                  <a:t>Suppose a $1.50 price ceiling is imposed on the market. Find the full price and the nonpecuniary price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576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Price ceiling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Answer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=10−2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$1.50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 units.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=2+2($1.50)=5</m:t>
                    </m:r>
                  </m:oMath>
                </a14:m>
                <a:r>
                  <a:rPr lang="en-US" dirty="0"/>
                  <a:t> units.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 a shortage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7−5=2</m:t>
                    </m:r>
                  </m:oMath>
                </a14:m>
                <a:r>
                  <a:rPr lang="en-US" dirty="0"/>
                  <a:t> units exists.</a:t>
                </a:r>
              </a:p>
              <a:p>
                <a:pPr lvl="1"/>
                <a:r>
                  <a:rPr lang="en-US" dirty="0"/>
                  <a:t>Full economic price of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𝑡h</m:t>
                    </m:r>
                  </m:oMath>
                </a14:m>
                <a:r>
                  <a:rPr lang="en-US" dirty="0"/>
                  <a:t> unit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5=10−2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𝑓𝑢𝑙𝑙</m:t>
                        </m:r>
                      </m:sub>
                    </m:sSub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𝑓𝑢𝑙𝑙</m:t>
                        </m:r>
                      </m:sub>
                    </m:sSub>
                    <m:r>
                      <a:rPr lang="en-US">
                        <a:latin typeface="Cambria Math"/>
                      </a:rPr>
                      <m:t>=$2.50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Of this, </a:t>
                </a:r>
              </a:p>
              <a:p>
                <a:pPr lvl="2"/>
                <a:r>
                  <a:rPr lang="en-US" dirty="0"/>
                  <a:t>$1.50 is the dollar price</a:t>
                </a:r>
              </a:p>
              <a:p>
                <a:pPr lvl="2"/>
                <a:r>
                  <a:rPr lang="en-US" dirty="0"/>
                  <a:t>$1 is the nonpecuniary price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598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Dead weight loss</a:t>
            </a:r>
          </a:p>
        </p:txBody>
      </p:sp>
      <p:pic>
        <p:nvPicPr>
          <p:cNvPr id="1026" name="Picture 2" descr="Just who are those &quot;consumers&quot;? - Econlib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024" y="1556238"/>
            <a:ext cx="5882054" cy="477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847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Simultaneous Shifts in Supply and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that simultaneously the following two events occur:</a:t>
            </a:r>
          </a:p>
          <a:p>
            <a:pPr lvl="1"/>
            <a:r>
              <a:rPr lang="en-US" dirty="0"/>
              <a:t>worldwide demand for automobiles is projected to decrease by 30% next year. </a:t>
            </a:r>
          </a:p>
          <a:p>
            <a:pPr lvl="1"/>
            <a:r>
              <a:rPr lang="en-US" dirty="0"/>
              <a:t>war breaks out in a major oil-producing country in the Middle East. </a:t>
            </a:r>
          </a:p>
          <a:p>
            <a:r>
              <a:rPr lang="en-US" sz="2400" dirty="0"/>
              <a:t>What is the combined impact on the international crude oil market?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382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Simultaneous Shifts in Supply and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905000" y="2057400"/>
            <a:ext cx="0" cy="35052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905000" y="55626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903443" y="2242066"/>
            <a:ext cx="5211121" cy="2863334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1929825"/>
            <a:ext cx="1564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  <a:p>
            <a:r>
              <a:rPr lang="en-US" sz="1400" dirty="0"/>
              <a:t>(Dollars per Barrel)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564" y="1981200"/>
            <a:ext cx="10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Supply</a:t>
            </a:r>
            <a:r>
              <a:rPr lang="en-US" baseline="-25000" dirty="0"/>
              <a:t>oil1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5908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365" y="4038600"/>
            <a:ext cx="102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30000" dirty="0"/>
              <a:t>e2</a:t>
            </a:r>
            <a:r>
              <a:rPr lang="en-US" dirty="0"/>
              <a:t> = $65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3880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30000" dirty="0"/>
              <a:t>e2</a:t>
            </a:r>
            <a:r>
              <a:rPr lang="en-US" dirty="0"/>
              <a:t> =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0" y="5650468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30000" dirty="0"/>
              <a:t>e1</a:t>
            </a:r>
            <a:r>
              <a:rPr lang="en-US" dirty="0"/>
              <a:t> = 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5105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56388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8961" y="1544557"/>
            <a:ext cx="3279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International Oil Market</a:t>
            </a:r>
          </a:p>
        </p:txBody>
      </p:sp>
      <p:sp>
        <p:nvSpPr>
          <p:cNvPr id="16" name="Freeform 15"/>
          <p:cNvSpPr/>
          <p:nvPr/>
        </p:nvSpPr>
        <p:spPr>
          <a:xfrm>
            <a:off x="1885666" y="4339988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905000" y="2743200"/>
            <a:ext cx="5410200" cy="2819400"/>
          </a:xfrm>
          <a:prstGeom prst="line">
            <a:avLst/>
          </a:prstGeom>
          <a:ln w="22225" cap="rnd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17409" y="511706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r>
              <a:rPr lang="en-US" baseline="-25000" dirty="0"/>
              <a:t>oil1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657600"/>
            <a:ext cx="100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30000" dirty="0"/>
              <a:t>e1 </a:t>
            </a:r>
            <a:r>
              <a:rPr lang="en-US" dirty="0"/>
              <a:t>= $80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905000" y="3857346"/>
            <a:ext cx="2216689" cy="19924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14800" y="3886200"/>
            <a:ext cx="26137" cy="16764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Arrow 21"/>
          <p:cNvSpPr/>
          <p:nvPr/>
        </p:nvSpPr>
        <p:spPr>
          <a:xfrm flipH="1">
            <a:off x="4674337" y="2971800"/>
            <a:ext cx="583463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flipH="1">
            <a:off x="2514600" y="6096000"/>
            <a:ext cx="16002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 rot="16200000" flipH="1">
            <a:off x="317868" y="3949332"/>
            <a:ext cx="583463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1905000" y="2209800"/>
            <a:ext cx="3886200" cy="2145268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16818" y="1992868"/>
            <a:ext cx="10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Supply</a:t>
            </a:r>
            <a:r>
              <a:rPr lang="en-US" baseline="-25000" dirty="0"/>
              <a:t>oil2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200" y="519326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r>
              <a:rPr lang="en-US" baseline="-25000" dirty="0"/>
              <a:t>oil2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6597" y="3282434"/>
            <a:ext cx="31632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equilibrium price increases </a:t>
            </a:r>
          </a:p>
          <a:p>
            <a:r>
              <a:rPr lang="en-US" dirty="0"/>
              <a:t>or decreases depending on the</a:t>
            </a:r>
          </a:p>
          <a:p>
            <a:r>
              <a:rPr lang="en-US" dirty="0"/>
              <a:t>magnitude of the demand </a:t>
            </a:r>
          </a:p>
          <a:p>
            <a:r>
              <a:rPr lang="en-US" dirty="0"/>
              <a:t>and supply changes.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1905000" y="4191000"/>
            <a:ext cx="304800" cy="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209800" y="4191000"/>
            <a:ext cx="0" cy="1371600"/>
          </a:xfrm>
          <a:prstGeom prst="line">
            <a:avLst/>
          </a:prstGeom>
          <a:ln w="19050"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905000" y="4038600"/>
            <a:ext cx="2971800" cy="1524000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/>
          <p:cNvSpPr/>
          <p:nvPr/>
        </p:nvSpPr>
        <p:spPr>
          <a:xfrm flipH="1">
            <a:off x="4826737" y="4876800"/>
            <a:ext cx="583463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0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2" grpId="0" animBg="1"/>
      <p:bldP spid="23" grpId="0" animBg="1"/>
      <p:bldP spid="24" grpId="0" animBg="1"/>
      <p:bldP spid="26" grpId="0"/>
      <p:bldP spid="27" grpId="0"/>
      <p:bldP spid="28" grpId="0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Measures the responsiveness of a percentage change in one variable resulting from a percentage change in another variable.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𝑀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𝐻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      For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400" dirty="0"/>
                  <a:t>, the elasticity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/>
                              <a:ea typeface="Cambria Math"/>
                            </a:rPr>
                            <m:t>Δ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/>
                              <a:ea typeface="Cambria Math"/>
                            </a:rPr>
                            <m:t>Δ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22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Own price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Own price elasticity of demand </a:t>
                </a:r>
              </a:p>
              <a:p>
                <a:pPr lvl="1" algn="just"/>
                <a:r>
                  <a:rPr lang="en-US" dirty="0"/>
                  <a:t>Measures the responsiveness of a percentage change in the quantity demanded of good X to a percentage change in its price.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sub>
                        </m:sSub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dirty="0"/>
                  <a:t>Sign: negative by law of demand.</a:t>
                </a:r>
              </a:p>
              <a:p>
                <a:pPr lvl="1"/>
                <a:r>
                  <a:rPr lang="en-US" dirty="0"/>
                  <a:t>Magnitude of absolute value relative to unity: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&gt;1</m:t>
                    </m:r>
                  </m:oMath>
                </a14:m>
                <a:r>
                  <a:rPr lang="en-US" dirty="0"/>
                  <a:t>: Elastic.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: Inelastic.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: Unitary elastic.</a:t>
                </a:r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751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Own price elasticity on linear demand curve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62"/>
          <p:cNvSpPr txBox="1">
            <a:spLocks noChangeArrowheads="1"/>
          </p:cNvSpPr>
          <p:nvPr/>
        </p:nvSpPr>
        <p:spPr bwMode="auto">
          <a:xfrm>
            <a:off x="990600" y="1963006"/>
            <a:ext cx="678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1775" indent="-231775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buClr>
                <a:schemeClr val="bg2"/>
              </a:buClr>
              <a:buSzPct val="100000"/>
              <a:buFont typeface="Arial" panose="020B0604020202020204" pitchFamily="34" charset="0"/>
              <a:buChar char="●"/>
            </a:pPr>
            <a:r>
              <a:rPr lang="en-US" altLang="en-US" sz="1600" b="1" dirty="0">
                <a:solidFill>
                  <a:srgbClr val="382344"/>
                </a:solidFill>
                <a:latin typeface="Arial" panose="020B0604020202020204" pitchFamily="34" charset="0"/>
              </a:rPr>
              <a:t>linear demand curve </a:t>
            </a:r>
            <a:r>
              <a:rPr lang="en-US" altLang="en-US" sz="1600" b="1" i="1" dirty="0">
                <a:solidFill>
                  <a:srgbClr val="382344"/>
                </a:solidFill>
                <a:latin typeface="Arial" panose="020B0604020202020204" pitchFamily="34" charset="0"/>
              </a:rPr>
              <a:t>Q </a:t>
            </a:r>
            <a:r>
              <a:rPr lang="en-US" altLang="en-US" sz="1600" b="1" dirty="0">
                <a:solidFill>
                  <a:srgbClr val="382344"/>
                </a:solidFill>
                <a:latin typeface="Arial" panose="020B0604020202020204" pitchFamily="34" charset="0"/>
              </a:rPr>
              <a:t>= 8 – 2</a:t>
            </a:r>
            <a:r>
              <a:rPr lang="en-US" altLang="en-US" sz="1600" b="1" i="1" dirty="0">
                <a:solidFill>
                  <a:srgbClr val="382344"/>
                </a:solidFill>
                <a:latin typeface="Arial" panose="020B0604020202020204" pitchFamily="34" charset="0"/>
              </a:rPr>
              <a:t>P</a:t>
            </a:r>
            <a:endParaRPr lang="en-US" altLang="en-US" sz="1600" i="1" dirty="0"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19150" y="2743200"/>
            <a:ext cx="2609850" cy="3733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The price elasticity of demand depends not only on the slope of the demand curve but also on the price and quantity.</a:t>
            </a:r>
          </a:p>
          <a:p>
            <a:pPr eaLnBrk="1" hangingPunct="1"/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The elasticity, therefore, varies along the curve as price and quantity change. Slope is constant for this linear demand curve. </a:t>
            </a:r>
          </a:p>
          <a:p>
            <a:pPr eaLnBrk="1" hangingPunct="1"/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Near the top, because price is high and quantity is small, the elasticity is large in magnitude. </a:t>
            </a:r>
          </a:p>
          <a:p>
            <a:pPr eaLnBrk="1" hangingPunct="1"/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The elasticity becomes smaller as we move down the curve.</a:t>
            </a:r>
          </a:p>
        </p:txBody>
      </p:sp>
      <p:pic>
        <p:nvPicPr>
          <p:cNvPr id="10" name="Picture 2" descr="C:\Documents and Settings\Kyle M. Thiel\Desktop\Pindyck_7e\ppts\aparna_ppts\aparna_ppts\ch02\fig2.11\fig2.11_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 descr="C:\Documents and Settings\Kyle M. Thiel\Desktop\Pindyck_7e\ppts\aparna_ppts\aparna_ppts\ch02\fig2.11\fig2.11_0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C:\Documents and Settings\Kyle M. Thiel\Desktop\Pindyck_7e\ppts\aparna_ppts\aparna_ppts\ch02\fig2.11\fig2.11_0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C:\Documents and Settings\Kyle M. Thiel\Desktop\Pindyck_7e\ppts\aparna_ppts\aparna_ppts\ch02\fig2.11\fig2.11_04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C:\Documents and Settings\Kyle M. Thiel\Desktop\Pindyck_7e\ppts\aparna_ppts\aparna_ppts\ch02\fig2.11\fig2.11_05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 descr="C:\Documents and Settings\Kyle M. Thiel\Desktop\Pindyck_7e\ppts\aparna_ppts\aparna_ppts\ch02\fig2.11\fig2.11_06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 descr="C:\Documents and Settings\Kyle M. Thiel\Desktop\Pindyck_7e\ppts\aparna_ppts\aparna_ppts\ch02\fig2.11\fig2.11_07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55340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221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052"/>
            <a:ext cx="10515600" cy="10808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079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1447800"/>
            <a:ext cx="0" cy="38100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2578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5627" y="5358825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63" y="114300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752600" y="2883877"/>
            <a:ext cx="6459415" cy="1230923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239000" y="3429000"/>
                <a:ext cx="1600823" cy="5048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&gt;1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429000"/>
                <a:ext cx="1600823" cy="504818"/>
              </a:xfrm>
              <a:prstGeom prst="rect">
                <a:avLst/>
              </a:prstGeom>
              <a:blipFill>
                <a:blip r:embed="rId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936109" y="3048000"/>
            <a:ext cx="83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elastic</a:t>
            </a:r>
          </a:p>
        </p:txBody>
      </p:sp>
    </p:spTree>
    <p:extLst>
      <p:ext uri="{BB962C8B-B14F-4D97-AF65-F5344CB8AC3E}">
        <p14:creationId xmlns:p14="http://schemas.microsoft.com/office/powerpoint/2010/main" val="182589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052"/>
            <a:ext cx="10515600" cy="10808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Inelastic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079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1447800"/>
            <a:ext cx="0" cy="38100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2578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5627" y="5358825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863" y="114300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969477" y="1723292"/>
            <a:ext cx="1301261" cy="3433484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185747" y="3429000"/>
                <a:ext cx="1600823" cy="5048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&lt;1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747" y="3429000"/>
                <a:ext cx="1600823" cy="504818"/>
              </a:xfrm>
              <a:prstGeom prst="rect">
                <a:avLst/>
              </a:prstGeom>
              <a:blipFill>
                <a:blip r:embed="rId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586740" y="3048000"/>
            <a:ext cx="1010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Inelastic</a:t>
            </a:r>
          </a:p>
        </p:txBody>
      </p:sp>
    </p:spTree>
    <p:extLst>
      <p:ext uri="{BB962C8B-B14F-4D97-AF65-F5344CB8AC3E}">
        <p14:creationId xmlns:p14="http://schemas.microsoft.com/office/powerpoint/2010/main" val="311719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052"/>
            <a:ext cx="10515600" cy="10808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Extreme Elasticities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079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752600" y="1447800"/>
            <a:ext cx="0" cy="381000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752600" y="5257800"/>
            <a:ext cx="5943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4572000" y="1676400"/>
            <a:ext cx="0" cy="3581400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5627" y="5358825"/>
            <a:ext cx="10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33112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026863" y="114300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410200"/>
            <a:ext cx="1832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Perfectly Inelastic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48200" y="2286000"/>
                <a:ext cx="1452705" cy="428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2286000"/>
                <a:ext cx="1452705" cy="428451"/>
              </a:xfrm>
              <a:prstGeom prst="rect">
                <a:avLst/>
              </a:prstGeom>
              <a:blipFill>
                <a:blip r:embed="rId2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1752600" y="3352800"/>
            <a:ext cx="5703027" cy="0"/>
          </a:xfrm>
          <a:prstGeom prst="line">
            <a:avLst/>
          </a:prstGeom>
          <a:ln w="22225" cap="rnd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53041" y="31242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Demand</a:t>
            </a: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239000" y="3429000"/>
                <a:ext cx="1693156" cy="428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429000"/>
                <a:ext cx="1693156" cy="428451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17264" y="3048000"/>
            <a:ext cx="1059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Perfectly </a:t>
            </a:r>
          </a:p>
          <a:p>
            <a:r>
              <a:rPr lang="en-US" dirty="0"/>
              <a:t>elastic</a:t>
            </a:r>
          </a:p>
        </p:txBody>
      </p:sp>
    </p:spTree>
    <p:extLst>
      <p:ext uri="{BB962C8B-B14F-4D97-AF65-F5344CB8AC3E}">
        <p14:creationId xmlns:p14="http://schemas.microsoft.com/office/powerpoint/2010/main" val="109771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4" grpId="0"/>
      <p:bldP spid="15" grpId="0"/>
      <p:bldP spid="15" grpId="1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of Demand &amp; Supply</a:t>
            </a:r>
            <a:endParaRPr lang="en-IN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8051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     </a:t>
                </a:r>
                <a:r>
                  <a:rPr lang="en-US" sz="2400" dirty="0"/>
                  <a:t>Consider a wheat market with demand and supply functions, respectively,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3550</m:t>
                    </m:r>
                    <m:r>
                      <a:rPr lang="en-US" sz="2400" i="1">
                        <a:latin typeface="Cambria Math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66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1800</m:t>
                    </m:r>
                    <m:r>
                      <a:rPr lang="en-US" sz="2400" i="1">
                        <a:latin typeface="Cambria Math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34</m:t>
                    </m:r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80510" cy="4351338"/>
              </a:xfrm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156748" y="3244334"/>
            <a:ext cx="656634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/>
              <a:t>Determine the market-clearing price of wheat.</a:t>
            </a:r>
          </a:p>
          <a:p>
            <a:endParaRPr lang="en-US" altLang="en-US" sz="2400" dirty="0"/>
          </a:p>
          <a:p>
            <a:r>
              <a:rPr lang="en-US" altLang="en-US" sz="2400" dirty="0"/>
              <a:t>Determine price elasticities of demand and supply.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40672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1329"/>
                <a:ext cx="1081160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 competitive market equilibrium exists at a price,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sz="2400" dirty="0"/>
                  <a:t>,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𝑑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pPr marL="0" indent="0" algn="ctr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3550</m:t>
                      </m:r>
                      <m:r>
                        <a:rPr lang="en-US" sz="2000" i="1">
                          <a:latin typeface="Cambria Math"/>
                        </a:rPr>
                        <m:t>−2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66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r>
                        <a:rPr lang="en-US" sz="2000" i="1">
                          <a:latin typeface="Cambria Math"/>
                        </a:rPr>
                        <m:t>=1800+234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r>
                        <m:rPr>
                          <m:nor/>
                        </m:rPr>
                        <a:rPr lang="en-US" sz="2000" dirty="0"/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750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500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=$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3.5</m:t>
                    </m:r>
                  </m:oMath>
                </a14:m>
                <a:r>
                  <a:rPr lang="en-US" sz="2000" dirty="0"/>
                  <a:t>/bushel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3550</m:t>
                    </m:r>
                    <m:r>
                      <a:rPr lang="en-US" sz="2000" i="1">
                        <a:latin typeface="Cambria Math"/>
                      </a:rPr>
                      <m:t>−2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66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$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3.5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2619</m:t>
                    </m:r>
                  </m:oMath>
                </a14:m>
                <a:r>
                  <a:rPr lang="en-US" sz="2000" dirty="0"/>
                  <a:t> bushels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3550</m:t>
                    </m:r>
                    <m:r>
                      <a:rPr lang="en-US" sz="2000" i="1">
                        <a:latin typeface="Cambria Math"/>
                      </a:rPr>
                      <m:t>−2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66</m:t>
                    </m:r>
                    <m:r>
                      <a:rPr lang="en-US" sz="20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 or,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− </m:t>
                    </m:r>
                  </m:oMath>
                </a14:m>
                <a:r>
                  <a:rPr lang="en-US" sz="2000" dirty="0"/>
                  <a:t>266</a:t>
                </a:r>
              </a:p>
              <a:p>
                <a:pPr marL="0" indent="0">
                  <a:buNone/>
                </a:pPr>
                <a:r>
                  <a:rPr lang="en-US" sz="2000" dirty="0"/>
                  <a:t>Price elasticity of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(−266)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3.5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2619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0.355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1800</m:t>
                    </m:r>
                    <m:r>
                      <a:rPr lang="en-US" sz="2000" i="1">
                        <a:latin typeface="Cambria Math"/>
                      </a:rPr>
                      <m:t>+2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34</m:t>
                    </m:r>
                    <m:r>
                      <a:rPr lang="en-US" sz="20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or,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000" dirty="0"/>
                  <a:t> = 234</a:t>
                </a:r>
              </a:p>
              <a:p>
                <a:pPr marL="0" indent="0">
                  <a:buNone/>
                </a:pPr>
                <a:r>
                  <a:rPr lang="en-US" sz="2000" dirty="0"/>
                  <a:t>Price elasticity of supply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3.5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2619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0.313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1329"/>
                <a:ext cx="10811608" cy="4351338"/>
              </a:xfrm>
              <a:blipFill>
                <a:blip r:embed="rId2"/>
                <a:stretch>
                  <a:fillRect l="-790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Elasticities of Demand &amp; Supply</a:t>
            </a:r>
          </a:p>
        </p:txBody>
      </p:sp>
    </p:spTree>
    <p:extLst>
      <p:ext uri="{BB962C8B-B14F-4D97-AF65-F5344CB8AC3E}">
        <p14:creationId xmlns:p14="http://schemas.microsoft.com/office/powerpoint/2010/main" val="3948558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Point vs Arc Elasticities</a:t>
            </a:r>
            <a:endParaRPr lang="en-IN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61077" cy="435133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en-IN" sz="2400" dirty="0"/>
                  <a:t> </a:t>
                </a:r>
                <a:r>
                  <a:rPr lang="en-US" sz="2400" i="1" dirty="0">
                    <a:solidFill>
                      <a:srgbClr val="0070C0"/>
                    </a:solidFill>
                    <a:latin typeface="Palatino-Roman"/>
                  </a:rPr>
                  <a:t>P</a:t>
                </a:r>
                <a:r>
                  <a:rPr lang="en-US" altLang="en-US" sz="2400" i="1" dirty="0">
                    <a:solidFill>
                      <a:srgbClr val="0070C0"/>
                    </a:solidFill>
                    <a:latin typeface="Palatino-Roman"/>
                  </a:rPr>
                  <a:t>oint elasticity of demand</a:t>
                </a:r>
                <a:r>
                  <a:rPr lang="en-US" altLang="en-US" sz="2400" dirty="0">
                    <a:latin typeface="Palatino-Roman"/>
                  </a:rPr>
                  <a:t>    </a:t>
                </a:r>
                <a:r>
                  <a:rPr lang="en-US" altLang="en-US" sz="2400" dirty="0">
                    <a:latin typeface="Arial" panose="020B0604020202020204" pitchFamily="34" charset="0"/>
                  </a:rPr>
                  <a:t>Price elasticity at a particular point on the demand curve.</a:t>
                </a:r>
              </a:p>
              <a:p>
                <a:pPr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en-US" altLang="en-US" sz="2400" i="1" dirty="0">
                    <a:solidFill>
                      <a:srgbClr val="0070C0"/>
                    </a:solidFill>
                    <a:latin typeface="Palatino-Roman"/>
                  </a:rPr>
                  <a:t>Arc elasticity of demand    </a:t>
                </a:r>
                <a:r>
                  <a:rPr lang="en-US" altLang="en-US" sz="2400" dirty="0">
                    <a:latin typeface="Arial" panose="020B0604020202020204" pitchFamily="34" charset="0"/>
                  </a:rPr>
                  <a:t>Price elasticity calculated over a range of prices.</a:t>
                </a:r>
              </a:p>
              <a:p>
                <a:pPr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en-US" sz="2400" dirty="0"/>
                  <a:t>Arc elasticity of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/</m:t>
                        </m:r>
                        <m:acc>
                          <m:accPr>
                            <m:chr m:val="̅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/</m:t>
                        </m:r>
                        <m:acc>
                          <m:accPr>
                            <m:chr m:val="̅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)/2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)/2</m:t>
                        </m:r>
                      </m:den>
                    </m:f>
                  </m:oMath>
                </a14:m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algn="just"/>
                <a:r>
                  <a:rPr lang="en-IN" sz="2400" dirty="0"/>
                  <a:t>Calculate both point and arc elasticity from the following demand schedule:</a:t>
                </a:r>
              </a:p>
              <a:p>
                <a:pPr algn="just"/>
                <a:endParaRPr lang="en-IN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61077" cy="4351338"/>
              </a:xfrm>
              <a:blipFill>
                <a:blip r:embed="rId2"/>
                <a:stretch>
                  <a:fillRect l="-72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5341"/>
              </p:ext>
            </p:extLst>
          </p:nvPr>
        </p:nvGraphicFramePr>
        <p:xfrm>
          <a:off x="3279533" y="4447605"/>
          <a:ext cx="56886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312">
                  <a:extLst>
                    <a:ext uri="{9D8B030D-6E8A-4147-A177-3AD203B41FA5}">
                      <a16:colId xmlns:a16="http://schemas.microsoft.com/office/drawing/2014/main" val="3125486297"/>
                    </a:ext>
                  </a:extLst>
                </a:gridCol>
                <a:gridCol w="2844312">
                  <a:extLst>
                    <a:ext uri="{9D8B030D-6E8A-4147-A177-3AD203B41FA5}">
                      <a16:colId xmlns:a16="http://schemas.microsoft.com/office/drawing/2014/main" val="230888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 of tea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 demanded (Kg.)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33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350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12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7662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Short Run Vs Long Run Demand Curves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8051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 Diagrammatically explain the following </a:t>
            </a:r>
          </a:p>
          <a:p>
            <a:r>
              <a:rPr lang="en-IN" sz="2400" dirty="0"/>
              <a:t>The demand for gasoline in the short run and long run.</a:t>
            </a:r>
          </a:p>
          <a:p>
            <a:r>
              <a:rPr lang="en-IN" sz="2400" dirty="0"/>
              <a:t>The demand for automobile in the short run and long run.</a:t>
            </a:r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058763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792" cy="1325563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altLang="en-US" sz="4000" dirty="0">
                <a:solidFill>
                  <a:srgbClr val="0070C0"/>
                </a:solidFill>
              </a:rPr>
              <a:t>Gasoline: Short-Run and Long-Run Demand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8051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 </a:t>
            </a:r>
            <a:endParaRPr lang="en-IN" sz="2400" b="1" dirty="0"/>
          </a:p>
        </p:txBody>
      </p:sp>
      <p:pic>
        <p:nvPicPr>
          <p:cNvPr id="8" name="Picture 2" descr="C:\Documents and Settings\Kyle M. Thiel\Desktop\Pindyck_7e\ppts\aparna_ppts\aparna_ppts\ch02\fig2.13\fig2.13a\fig2.13a_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828800"/>
            <a:ext cx="467677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C:\Documents and Settings\Kyle M. Thiel\Desktop\Pindyck_7e\ppts\aparna_ppts\aparna_ppts\ch02\fig2.13\fig2.13a\fig2.13a_0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828800"/>
            <a:ext cx="467677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C:\Documents and Settings\Kyle M. Thiel\Desktop\Pindyck_7e\ppts\aparna_ppts\aparna_ppts\ch02\fig2.13\fig2.13a\fig2.13a_0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828800"/>
            <a:ext cx="467677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12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2092" cy="1325563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altLang="en-US" sz="4000" dirty="0">
                <a:solidFill>
                  <a:srgbClr val="0070C0"/>
                </a:solidFill>
              </a:rPr>
              <a:t>Automobile: Short-Run and Long-Run Demand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8051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 </a:t>
            </a:r>
            <a:endParaRPr lang="en-IN" sz="2400" b="1" dirty="0"/>
          </a:p>
        </p:txBody>
      </p:sp>
      <p:pic>
        <p:nvPicPr>
          <p:cNvPr id="20" name="Picture 2" descr="C:\Documents and Settings\Kyle M. Thiel\Desktop\Pindyck_7e\ppts\aparna_ppts\aparna_ppts\ch02\fig2.13\fig2.13b\fig2.13b_0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49244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 descr="C:\Documents and Settings\Kyle M. Thiel\Desktop\Pindyck_7e\ppts\aparna_ppts\aparna_ppts\ch02\fig2.13\fig2.13b\fig2.13b_0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49244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4" descr="C:\Documents and Settings\Kyle M. Thiel\Desktop\Pindyck_7e\ppts\aparna_ppts\aparna_ppts\ch02\fig2.13\fig2.13b\fig2.13b_0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49244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9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Income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Measures responsiveness of a percent change in demand for good X due to a percent change in income.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𝑀</m:t>
                        </m:r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𝑀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𝑀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𝑋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a normal good.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𝑀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𝑋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an inferior good.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5328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Income elasticity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Suppose that the income elasticity of demand for transportation is estimated to be 1.80. If income is projected to decrease by 15 %, what is the impact on the demand for transportation? </a:t>
            </a:r>
          </a:p>
          <a:p>
            <a:pPr algn="just"/>
            <a:r>
              <a:rPr lang="en-US" sz="2400" dirty="0"/>
              <a:t>Is transportation a normal or inferior good?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402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Income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Answer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1.8=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/>
                              <a:ea typeface="Cambria Math"/>
                            </a:rPr>
                            <m:t>Δ</m:t>
                          </m:r>
                          <m:sSup>
                            <m:sSupPr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l-GR" sz="2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−15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Demand for transportation will decline by 27 percent.</a:t>
                </a:r>
              </a:p>
              <a:p>
                <a:pPr lvl="1"/>
                <a:r>
                  <a:rPr lang="en-US" dirty="0"/>
                  <a:t>Since demand decreases as income declines, transportation is a normal good.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396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Cross-price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Measures responsiveness of a percent change in demand for good X due to a percent change in the price of good Y.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𝑌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400" i="1">
                            <a:latin typeface="Cambria Math"/>
                            <a:ea typeface="Cambria Math"/>
                          </a:rPr>
                          <m:t>Δ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𝑌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𝑌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&gt;0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𝑋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 are substitutes.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𝑋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 are complements.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5273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of 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Given a linear demand function: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𝑀</m:t>
                      </m:r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Own price elasticity: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Cross price elasticity: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Income elasticity: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𝑀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𝑀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0628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of 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    The daily demand for Invigorated PED shoes is estimated to be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=100−3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−0.01</m:t>
                      </m:r>
                      <m:r>
                        <a:rPr lang="en-US" sz="2400" i="1">
                          <a:latin typeface="Cambria Math"/>
                        </a:rPr>
                        <m:t>𝑀</m:t>
                      </m:r>
                      <m:r>
                        <a:rPr lang="en-US" sz="2400" i="1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341313" indent="0">
                  <a:buNone/>
                </a:pPr>
                <a:r>
                  <a:rPr lang="en-US" sz="2400" dirty="0"/>
                  <a:t>Suppose good X sells at $25 a pair, good Y sells at $35, the company utilizes 50 units of advertising, and average consumer income is $20,000. Calculate the own price, cross-price and income elasticities of demand.</a:t>
                </a:r>
              </a:p>
              <a:p>
                <a:pPr marL="457200" lvl="1" indent="0">
                  <a:buNone/>
                </a:pPr>
                <a:endParaRPr lang="en-US" sz="4400" dirty="0">
                  <a:solidFill>
                    <a:srgbClr val="0070C0"/>
                  </a:solidFill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8250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of Linear Demand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Answer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=100−3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$25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$35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−0.01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$20,000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50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=65</m:t>
                    </m:r>
                  </m:oMath>
                </a14:m>
                <a:r>
                  <a:rPr lang="en-US" dirty="0"/>
                  <a:t> units.</a:t>
                </a:r>
              </a:p>
              <a:p>
                <a:pPr lvl="1"/>
                <a:r>
                  <a:rPr lang="en-US" dirty="0"/>
                  <a:t>Own price elasticity: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−3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25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65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=−1.15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Cross-price elasticity: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4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35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65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=2.15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Income elasticity: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−0.01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20,000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65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=−3.08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endParaRPr lang="en-US" sz="4400" dirty="0">
                  <a:solidFill>
                    <a:srgbClr val="0070C0"/>
                  </a:solidFill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5989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and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Calculate price elasticity of demand from the following demand schedules:</a:t>
            </a:r>
          </a:p>
          <a:p>
            <a:pPr marL="0" indent="0" algn="just">
              <a:buNone/>
            </a:pPr>
            <a:endParaRPr lang="en-IN" sz="2400" b="1" dirty="0"/>
          </a:p>
          <a:p>
            <a:pPr marL="457200" lvl="1" indent="0">
              <a:buNone/>
            </a:pPr>
            <a:endParaRPr lang="en-US" sz="44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47278"/>
              </p:ext>
            </p:extLst>
          </p:nvPr>
        </p:nvGraphicFramePr>
        <p:xfrm>
          <a:off x="3421182" y="2425374"/>
          <a:ext cx="486117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910">
                  <a:extLst>
                    <a:ext uri="{9D8B030D-6E8A-4147-A177-3AD203B41FA5}">
                      <a16:colId xmlns:a16="http://schemas.microsoft.com/office/drawing/2014/main" val="82418990"/>
                    </a:ext>
                  </a:extLst>
                </a:gridCol>
                <a:gridCol w="1838630">
                  <a:extLst>
                    <a:ext uri="{9D8B030D-6E8A-4147-A177-3AD203B41FA5}">
                      <a16:colId xmlns:a16="http://schemas.microsoft.com/office/drawing/2014/main" val="99576917"/>
                    </a:ext>
                  </a:extLst>
                </a:gridCol>
                <a:gridCol w="1838630">
                  <a:extLst>
                    <a:ext uri="{9D8B030D-6E8A-4147-A177-3AD203B41FA5}">
                      <a16:colId xmlns:a16="http://schemas.microsoft.com/office/drawing/2014/main" val="2412243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Quantity</a:t>
                      </a:r>
                      <a:r>
                        <a:rPr lang="en-US" baseline="0" dirty="0"/>
                        <a:t> Demanded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47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2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84354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756539"/>
              </p:ext>
            </p:extLst>
          </p:nvPr>
        </p:nvGraphicFramePr>
        <p:xfrm>
          <a:off x="3405550" y="4489694"/>
          <a:ext cx="486117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910">
                  <a:extLst>
                    <a:ext uri="{9D8B030D-6E8A-4147-A177-3AD203B41FA5}">
                      <a16:colId xmlns:a16="http://schemas.microsoft.com/office/drawing/2014/main" val="214933010"/>
                    </a:ext>
                  </a:extLst>
                </a:gridCol>
                <a:gridCol w="1838630">
                  <a:extLst>
                    <a:ext uri="{9D8B030D-6E8A-4147-A177-3AD203B41FA5}">
                      <a16:colId xmlns:a16="http://schemas.microsoft.com/office/drawing/2014/main" val="3472772133"/>
                    </a:ext>
                  </a:extLst>
                </a:gridCol>
                <a:gridCol w="1838630">
                  <a:extLst>
                    <a:ext uri="{9D8B030D-6E8A-4147-A177-3AD203B41FA5}">
                      <a16:colId xmlns:a16="http://schemas.microsoft.com/office/drawing/2014/main" val="1579432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Quantity</a:t>
                      </a:r>
                      <a:r>
                        <a:rPr lang="en-US" baseline="0" dirty="0"/>
                        <a:t> Demanded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9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550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800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7045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and Revenue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24286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2400" dirty="0"/>
                  <a:t>Answer</a:t>
                </a:r>
              </a:p>
              <a:p>
                <a:pPr marL="0" indent="0" algn="just">
                  <a:buNone/>
                </a:pPr>
                <a:endParaRPr lang="en-IN" sz="2400" b="1" dirty="0"/>
              </a:p>
              <a:p>
                <a:pPr marL="457200" lvl="1" indent="0">
                  <a:buNone/>
                </a:pPr>
                <a:r>
                  <a:rPr lang="en-US" sz="1400" dirty="0"/>
                  <a:t>                                                                                                                                                   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800" i="1">
                                    <a:latin typeface="Cambria Math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=1.5</m:t>
                    </m:r>
                    <m:r>
                      <a:rPr lang="en-US" sz="1800" i="1">
                        <a:latin typeface="Cambria Math"/>
                      </a:rPr>
                      <m:t>&gt;1</m:t>
                    </m:r>
                  </m:oMath>
                </a14:m>
                <a:r>
                  <a:rPr lang="en-US" sz="1800" dirty="0"/>
                  <a:t>: Elastic</a:t>
                </a:r>
                <a:endParaRPr lang="en-US" sz="1800" dirty="0">
                  <a:solidFill>
                    <a:srgbClr val="0070C0"/>
                  </a:solidFill>
                  <a:latin typeface="+mj-lt"/>
                  <a:ea typeface="+mj-ea"/>
                  <a:cs typeface="+mj-cs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24286" cy="4351338"/>
              </a:xfrm>
              <a:blipFill>
                <a:blip r:embed="rId2"/>
                <a:stretch>
                  <a:fillRect l="-78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292986"/>
                  </p:ext>
                </p:extLst>
              </p:nvPr>
            </p:nvGraphicFramePr>
            <p:xfrm>
              <a:off x="3421182" y="2425374"/>
              <a:ext cx="4861170" cy="14057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3910">
                      <a:extLst>
                        <a:ext uri="{9D8B030D-6E8A-4147-A177-3AD203B41FA5}">
                          <a16:colId xmlns:a16="http://schemas.microsoft.com/office/drawing/2014/main" val="82418990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99576917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2412243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Price</a:t>
                          </a:r>
                        </a:p>
                        <a:p>
                          <a:pPr algn="ctr"/>
                          <a:r>
                            <a:rPr lang="en-US" sz="18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  <a:r>
                            <a:rPr lang="en-US" baseline="0" dirty="0"/>
                            <a:t> Demanded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Revenue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47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923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88435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292986"/>
                  </p:ext>
                </p:extLst>
              </p:nvPr>
            </p:nvGraphicFramePr>
            <p:xfrm>
              <a:off x="3421182" y="2425374"/>
              <a:ext cx="4861170" cy="14057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3910">
                      <a:extLst>
                        <a:ext uri="{9D8B030D-6E8A-4147-A177-3AD203B41FA5}">
                          <a16:colId xmlns:a16="http://schemas.microsoft.com/office/drawing/2014/main" val="82418990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99576917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2412243208"/>
                        </a:ext>
                      </a:extLst>
                    </a:gridCol>
                  </a:tblGrid>
                  <a:tr h="664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5" t="-4545" r="-313402" b="-12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570" t="-4545" r="-101325" b="-12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Revenue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476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2000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923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85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88435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9075930"/>
                  </p:ext>
                </p:extLst>
              </p:nvPr>
            </p:nvGraphicFramePr>
            <p:xfrm>
              <a:off x="3405550" y="4489694"/>
              <a:ext cx="4861170" cy="14057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3910">
                      <a:extLst>
                        <a:ext uri="{9D8B030D-6E8A-4147-A177-3AD203B41FA5}">
                          <a16:colId xmlns:a16="http://schemas.microsoft.com/office/drawing/2014/main" val="214933010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3472772133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15794322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Price</a:t>
                          </a:r>
                        </a:p>
                        <a:p>
                          <a:pPr algn="ctr"/>
                          <a:r>
                            <a:rPr lang="en-US" sz="18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  <a:r>
                            <a:rPr lang="en-US" baseline="0" dirty="0"/>
                            <a:t> Demanded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Revenue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6293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6550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10450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800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9075930"/>
                  </p:ext>
                </p:extLst>
              </p:nvPr>
            </p:nvGraphicFramePr>
            <p:xfrm>
              <a:off x="3405550" y="4489694"/>
              <a:ext cx="4861170" cy="14057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3910">
                      <a:extLst>
                        <a:ext uri="{9D8B030D-6E8A-4147-A177-3AD203B41FA5}">
                          <a16:colId xmlns:a16="http://schemas.microsoft.com/office/drawing/2014/main" val="214933010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3472772133"/>
                        </a:ext>
                      </a:extLst>
                    </a:gridCol>
                    <a:gridCol w="1838630">
                      <a:extLst>
                        <a:ext uri="{9D8B030D-6E8A-4147-A177-3AD203B41FA5}">
                          <a16:colId xmlns:a16="http://schemas.microsoft.com/office/drawing/2014/main" val="1579432223"/>
                        </a:ext>
                      </a:extLst>
                    </a:gridCol>
                  </a:tblGrid>
                  <a:tr h="664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13" t="-4545" r="-311795" b="-1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901" t="-4545" r="-101325" b="-1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Revenue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6293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10000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6550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95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10450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800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719922" y="4882298"/>
                <a:ext cx="3042564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i="1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: Inelastic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922" y="4882298"/>
                <a:ext cx="3042564" cy="504818"/>
              </a:xfrm>
              <a:prstGeom prst="rect">
                <a:avLst/>
              </a:prstGeom>
              <a:blipFill>
                <a:blip r:embed="rId5"/>
                <a:stretch>
                  <a:fillRect r="-1200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2124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Elasticities and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2428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b="1" dirty="0"/>
          </a:p>
          <a:p>
            <a:pPr marL="457200" lvl="1" indent="0">
              <a:buNone/>
            </a:pPr>
            <a:r>
              <a:rPr lang="en-US" sz="1400" dirty="0"/>
              <a:t>                                                                                                                                                                                           </a:t>
            </a:r>
            <a:endParaRPr lang="en-US" sz="18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863357"/>
                  </p:ext>
                </p:extLst>
              </p:nvPr>
            </p:nvGraphicFramePr>
            <p:xfrm>
              <a:off x="2381956" y="1501422"/>
              <a:ext cx="8466665" cy="39605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5037">
                      <a:extLst>
                        <a:ext uri="{9D8B030D-6E8A-4147-A177-3AD203B41FA5}">
                          <a16:colId xmlns:a16="http://schemas.microsoft.com/office/drawing/2014/main" val="82418990"/>
                        </a:ext>
                      </a:extLst>
                    </a:gridCol>
                    <a:gridCol w="3015814">
                      <a:extLst>
                        <a:ext uri="{9D8B030D-6E8A-4147-A177-3AD203B41FA5}">
                          <a16:colId xmlns:a16="http://schemas.microsoft.com/office/drawing/2014/main" val="99576917"/>
                        </a:ext>
                      </a:extLst>
                    </a:gridCol>
                    <a:gridCol w="3015814">
                      <a:extLst>
                        <a:ext uri="{9D8B030D-6E8A-4147-A177-3AD203B41FA5}">
                          <a16:colId xmlns:a16="http://schemas.microsoft.com/office/drawing/2014/main" val="2412243208"/>
                        </a:ext>
                      </a:extLst>
                    </a:gridCol>
                  </a:tblGrid>
                  <a:tr h="8015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Elasticity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Price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Revenue/consumer expenditure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476094"/>
                      </a:ext>
                    </a:extLst>
                  </a:tr>
                  <a:tr h="516443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/>
                                                  </a:rPr>
                                                  <m:t>𝑄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latin typeface="Cambria Math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sz="1800" i="1">
                                                <a:latin typeface="Cambria Math"/>
                                              </a:rPr>
                                              <m:t>𝑑</m:t>
                                            </m:r>
                                          </m:sup>
                                        </m:sSup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latin typeface="Cambria Math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latin typeface="Cambria Math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 i="1">
                                    <a:latin typeface="Cambria Math"/>
                                  </a:rPr>
                                  <m:t>&gt;1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923483"/>
                      </a:ext>
                    </a:extLst>
                  </a:tr>
                  <a:tr h="516443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8843548"/>
                      </a:ext>
                    </a:extLst>
                  </a:tr>
                  <a:tr h="516443">
                    <a:tc row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/>
                                                  </a:rPr>
                                                  <m:t>𝑄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𝑑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&lt;1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3401596"/>
                      </a:ext>
                    </a:extLst>
                  </a:tr>
                  <a:tr h="576785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742172"/>
                      </a:ext>
                    </a:extLst>
                  </a:tr>
                  <a:tr h="516443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/>
                                                  </a:rPr>
                                                  <m:t>𝑄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𝑑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Unchanged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2624515"/>
                      </a:ext>
                    </a:extLst>
                  </a:tr>
                  <a:tr h="516443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Unchanged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84556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863357"/>
                  </p:ext>
                </p:extLst>
              </p:nvPr>
            </p:nvGraphicFramePr>
            <p:xfrm>
              <a:off x="2381956" y="1501422"/>
              <a:ext cx="8466665" cy="39605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5037">
                      <a:extLst>
                        <a:ext uri="{9D8B030D-6E8A-4147-A177-3AD203B41FA5}">
                          <a16:colId xmlns:a16="http://schemas.microsoft.com/office/drawing/2014/main" val="82418990"/>
                        </a:ext>
                      </a:extLst>
                    </a:gridCol>
                    <a:gridCol w="3015814">
                      <a:extLst>
                        <a:ext uri="{9D8B030D-6E8A-4147-A177-3AD203B41FA5}">
                          <a16:colId xmlns:a16="http://schemas.microsoft.com/office/drawing/2014/main" val="99576917"/>
                        </a:ext>
                      </a:extLst>
                    </a:gridCol>
                    <a:gridCol w="3015814">
                      <a:extLst>
                        <a:ext uri="{9D8B030D-6E8A-4147-A177-3AD203B41FA5}">
                          <a16:colId xmlns:a16="http://schemas.microsoft.com/office/drawing/2014/main" val="2412243208"/>
                        </a:ext>
                      </a:extLst>
                    </a:gridCol>
                  </a:tblGrid>
                  <a:tr h="8015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Elasticity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Price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Revenue/consumer expenditure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476094"/>
                      </a:ext>
                    </a:extLst>
                  </a:tr>
                  <a:tr h="51644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81065" r="-248500" b="-2082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923483"/>
                      </a:ext>
                    </a:extLst>
                  </a:tr>
                  <a:tr h="516443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8843548"/>
                      </a:ext>
                    </a:extLst>
                  </a:tr>
                  <a:tr h="51644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170950" r="-248500" b="-966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3401596"/>
                      </a:ext>
                    </a:extLst>
                  </a:tr>
                  <a:tr h="576785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742172"/>
                      </a:ext>
                    </a:extLst>
                  </a:tr>
                  <a:tr h="51644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0" t="-285294" r="-248500" b="-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Unchanged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2624515"/>
                      </a:ext>
                    </a:extLst>
                  </a:tr>
                  <a:tr h="516443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Unchanged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84556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21758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590" name="Picture 38" descr="fig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91" name="Picture 39" descr="fig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88" name="Picture 36" descr="fig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89" name="Picture 37" descr="fig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151792" y="381000"/>
            <a:ext cx="7763608" cy="4572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olidFill>
                  <a:srgbClr val="0070C0"/>
                </a:solidFill>
              </a:rPr>
              <a:t>THE IMPACT OF A TAX</a:t>
            </a:r>
          </a:p>
        </p:txBody>
      </p:sp>
      <p:sp>
        <p:nvSpPr>
          <p:cNvPr id="37912" name="Line 8"/>
          <p:cNvSpPr>
            <a:spLocks noChangeShapeType="1"/>
          </p:cNvSpPr>
          <p:nvPr/>
        </p:nvSpPr>
        <p:spPr bwMode="auto">
          <a:xfrm>
            <a:off x="1981200" y="241"/>
            <a:ext cx="8229600" cy="0"/>
          </a:xfrm>
          <a:prstGeom prst="line">
            <a:avLst/>
          </a:prstGeom>
          <a:noFill/>
          <a:ln w="9525">
            <a:solidFill>
              <a:srgbClr val="53BE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3562" name="Rectangle 10"/>
          <p:cNvSpPr>
            <a:spLocks noChangeArrowheads="1"/>
          </p:cNvSpPr>
          <p:nvPr/>
        </p:nvSpPr>
        <p:spPr bwMode="auto">
          <a:xfrm>
            <a:off x="2438400" y="1491763"/>
            <a:ext cx="2590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i="1" dirty="0" err="1">
                <a:latin typeface="Arial" panose="020B0604020202020204" pitchFamily="34" charset="0"/>
              </a:rPr>
              <a:t>P</a:t>
            </a:r>
            <a:r>
              <a:rPr lang="en-US" altLang="en-US" sz="1400" i="1" baseline="-25000" dirty="0" err="1">
                <a:latin typeface="Arial" panose="020B0604020202020204" pitchFamily="34" charset="0"/>
              </a:rPr>
              <a:t>b</a:t>
            </a:r>
            <a:r>
              <a:rPr lang="en-US" altLang="en-US" sz="1400" dirty="0">
                <a:latin typeface="Arial" panose="020B0604020202020204" pitchFamily="34" charset="0"/>
              </a:rPr>
              <a:t> is the price (including the tax) paid by buyers. </a:t>
            </a:r>
            <a:r>
              <a:rPr lang="en-US" altLang="en-US" sz="1400" i="1" dirty="0">
                <a:latin typeface="Arial" panose="020B0604020202020204" pitchFamily="34" charset="0"/>
              </a:rPr>
              <a:t>P</a:t>
            </a:r>
            <a:r>
              <a:rPr lang="en-US" altLang="en-US" sz="1400" i="1" baseline="-25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 is the price that sellers receive, less the tax.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Here the burden of the tax is split evenly between buyers and sellers. 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Buyers lose </a:t>
            </a:r>
            <a:r>
              <a:rPr lang="en-US" altLang="en-US" sz="1400" i="1" dirty="0">
                <a:latin typeface="Arial" panose="020B0604020202020204" pitchFamily="34" charset="0"/>
              </a:rPr>
              <a:t>A</a:t>
            </a:r>
            <a:r>
              <a:rPr lang="en-US" altLang="en-US" sz="1400" dirty="0">
                <a:latin typeface="Arial" panose="020B0604020202020204" pitchFamily="34" charset="0"/>
              </a:rPr>
              <a:t> + </a:t>
            </a:r>
            <a:r>
              <a:rPr lang="en-US" altLang="en-US" sz="1400" i="1" dirty="0">
                <a:latin typeface="Arial" panose="020B0604020202020204" pitchFamily="34" charset="0"/>
              </a:rPr>
              <a:t>B.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i="1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ellers lose </a:t>
            </a:r>
            <a:r>
              <a:rPr lang="en-US" altLang="en-US" sz="1400" i="1" dirty="0">
                <a:latin typeface="Arial" panose="020B0604020202020204" pitchFamily="34" charset="0"/>
              </a:rPr>
              <a:t>D</a:t>
            </a:r>
            <a:r>
              <a:rPr lang="en-US" altLang="en-US" sz="1400" dirty="0">
                <a:latin typeface="Arial" panose="020B0604020202020204" pitchFamily="34" charset="0"/>
              </a:rPr>
              <a:t> + </a:t>
            </a:r>
            <a:r>
              <a:rPr lang="en-US" altLang="en-US" sz="1400" i="1" dirty="0">
                <a:latin typeface="Arial" panose="020B0604020202020204" pitchFamily="34" charset="0"/>
              </a:rPr>
              <a:t>C.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i="1" dirty="0">
                <a:latin typeface="Arial" panose="020B0604020202020204" pitchFamily="34" charset="0"/>
              </a:rPr>
              <a:t>T</a:t>
            </a:r>
            <a:r>
              <a:rPr lang="en-US" altLang="en-US" sz="1400" dirty="0">
                <a:latin typeface="Arial" panose="020B0604020202020204" pitchFamily="34" charset="0"/>
              </a:rPr>
              <a:t>he government earns </a:t>
            </a:r>
            <a:r>
              <a:rPr lang="en-US" altLang="en-US" sz="1400" i="1" dirty="0">
                <a:latin typeface="Arial" panose="020B0604020202020204" pitchFamily="34" charset="0"/>
              </a:rPr>
              <a:t>A</a:t>
            </a:r>
            <a:r>
              <a:rPr lang="en-US" altLang="en-US" sz="1400" dirty="0">
                <a:latin typeface="Arial" panose="020B0604020202020204" pitchFamily="34" charset="0"/>
              </a:rPr>
              <a:t> + </a:t>
            </a:r>
            <a:r>
              <a:rPr lang="en-US" altLang="en-US" sz="1400" i="1" dirty="0">
                <a:latin typeface="Arial" panose="020B0604020202020204" pitchFamily="34" charset="0"/>
              </a:rPr>
              <a:t>D</a:t>
            </a:r>
            <a:r>
              <a:rPr lang="en-US" altLang="en-US" sz="1400" dirty="0">
                <a:latin typeface="Arial" panose="020B0604020202020204" pitchFamily="34" charset="0"/>
              </a:rPr>
              <a:t> in revenue.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The deadweight loss is </a:t>
            </a:r>
            <a:r>
              <a:rPr lang="en-US" altLang="en-US" sz="1400" i="1" dirty="0">
                <a:latin typeface="Arial" panose="020B0604020202020204" pitchFamily="34" charset="0"/>
              </a:rPr>
              <a:t>B</a:t>
            </a:r>
            <a:r>
              <a:rPr lang="en-US" altLang="en-US" sz="1400" dirty="0">
                <a:latin typeface="Arial" panose="020B0604020202020204" pitchFamily="34" charset="0"/>
              </a:rPr>
              <a:t> + </a:t>
            </a:r>
            <a:r>
              <a:rPr lang="en-US" altLang="en-US" sz="1400" i="1" dirty="0">
                <a:latin typeface="Arial" panose="020B0604020202020204" pitchFamily="34" charset="0"/>
              </a:rPr>
              <a:t>C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63565" name="Text Box 13"/>
          <p:cNvSpPr txBox="1">
            <a:spLocks noChangeArrowheads="1"/>
          </p:cNvSpPr>
          <p:nvPr/>
        </p:nvSpPr>
        <p:spPr bwMode="auto">
          <a:xfrm>
            <a:off x="1981200" y="928688"/>
            <a:ext cx="685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1775" indent="-231775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buClr>
                <a:schemeClr val="bg2"/>
              </a:buClr>
              <a:buFontTx/>
              <a:buNone/>
            </a:pPr>
            <a:r>
              <a:rPr lang="en-US" altLang="en-US" b="1" dirty="0">
                <a:solidFill>
                  <a:srgbClr val="382344"/>
                </a:solidFill>
                <a:latin typeface="Arial" panose="020B0604020202020204" pitchFamily="34" charset="0"/>
              </a:rPr>
              <a:t>specific tax    </a:t>
            </a:r>
            <a:r>
              <a:rPr lang="en-US" altLang="en-US" dirty="0" err="1">
                <a:latin typeface="Arial" panose="020B0604020202020204" pitchFamily="34" charset="0"/>
              </a:rPr>
              <a:t>Tax</a:t>
            </a:r>
            <a:r>
              <a:rPr lang="en-US" altLang="en-US" dirty="0">
                <a:latin typeface="Arial" panose="020B0604020202020204" pitchFamily="34" charset="0"/>
              </a:rPr>
              <a:t> of a certain amount of money per unit sold.</a:t>
            </a:r>
          </a:p>
        </p:txBody>
      </p:sp>
      <p:pic>
        <p:nvPicPr>
          <p:cNvPr id="663576" name="Picture 24" descr="fig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77" name="Picture 25" descr="fig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78" name="Picture 26" descr="fig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79" name="Picture 27" descr="fig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81" name="Picture 29" descr="fig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84" name="Picture 32" descr="fig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85" name="Picture 33" descr="fig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586" name="Picture 34" descr="fig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3592" name="Rectangle 40"/>
          <p:cNvSpPr>
            <a:spLocks noChangeArrowheads="1"/>
          </p:cNvSpPr>
          <p:nvPr/>
        </p:nvSpPr>
        <p:spPr bwMode="auto">
          <a:xfrm>
            <a:off x="2438400" y="5167313"/>
            <a:ext cx="7239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Market clearing requires </a:t>
            </a:r>
            <a:r>
              <a:rPr lang="en-US" altLang="en-US" sz="1600" i="1">
                <a:latin typeface="Arial" panose="020B0604020202020204" pitchFamily="34" charset="0"/>
              </a:rPr>
              <a:t>four conditions</a:t>
            </a:r>
            <a:r>
              <a:rPr lang="en-US" altLang="en-US" sz="1600">
                <a:latin typeface="Arial" panose="020B0604020202020204" pitchFamily="34" charset="0"/>
              </a:rPr>
              <a:t> to be satisfied after the tax is in place:</a:t>
            </a:r>
          </a:p>
        </p:txBody>
      </p:sp>
      <p:sp>
        <p:nvSpPr>
          <p:cNvPr id="663593" name="Rectangle 41"/>
          <p:cNvSpPr>
            <a:spLocks noChangeArrowheads="1"/>
          </p:cNvSpPr>
          <p:nvPr/>
        </p:nvSpPr>
        <p:spPr bwMode="auto">
          <a:xfrm>
            <a:off x="3352800" y="5513388"/>
            <a:ext cx="5486400" cy="97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algn="ctr"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sz="1400" i="1" dirty="0">
                <a:latin typeface="Arial" panose="020B0604020202020204" pitchFamily="34" charset="0"/>
              </a:rPr>
              <a:t>Q</a:t>
            </a:r>
            <a:r>
              <a:rPr lang="en-US" altLang="en-US" sz="1400" i="1" baseline="30000" dirty="0">
                <a:latin typeface="Arial" panose="020B0604020202020204" pitchFamily="34" charset="0"/>
              </a:rPr>
              <a:t>D</a:t>
            </a:r>
            <a:r>
              <a:rPr lang="en-US" altLang="en-US" sz="1400" dirty="0">
                <a:latin typeface="Arial" panose="020B0604020202020204" pitchFamily="34" charset="0"/>
              </a:rPr>
              <a:t> = </a:t>
            </a:r>
            <a:r>
              <a:rPr lang="en-US" altLang="en-US" sz="1400" i="1" dirty="0">
                <a:latin typeface="Arial" panose="020B0604020202020204" pitchFamily="34" charset="0"/>
              </a:rPr>
              <a:t>Q</a:t>
            </a:r>
            <a:r>
              <a:rPr lang="en-US" altLang="en-US" sz="1400" i="1" baseline="30000" dirty="0">
                <a:latin typeface="Arial" panose="020B0604020202020204" pitchFamily="34" charset="0"/>
              </a:rPr>
              <a:t>D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i="1" dirty="0" err="1">
                <a:latin typeface="Arial" panose="020B0604020202020204" pitchFamily="34" charset="0"/>
              </a:rPr>
              <a:t>P</a:t>
            </a:r>
            <a:r>
              <a:rPr lang="en-US" altLang="en-US" sz="1400" i="1" baseline="-25000" dirty="0" err="1">
                <a:latin typeface="Arial" panose="020B0604020202020204" pitchFamily="34" charset="0"/>
              </a:rPr>
              <a:t>b</a:t>
            </a:r>
            <a:r>
              <a:rPr lang="en-US" altLang="en-US" sz="1400" dirty="0">
                <a:latin typeface="Arial" panose="020B0604020202020204" pitchFamily="34" charset="0"/>
              </a:rPr>
              <a:t>) 			</a:t>
            </a:r>
          </a:p>
          <a:p>
            <a:pPr algn="ctr"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Q</a:t>
            </a:r>
            <a:r>
              <a:rPr lang="en-US" altLang="en-US" sz="1400" i="1" baseline="30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 = </a:t>
            </a:r>
            <a:r>
              <a:rPr lang="en-US" altLang="en-US" sz="1400" i="1" dirty="0">
                <a:latin typeface="Arial" panose="020B0604020202020204" pitchFamily="34" charset="0"/>
              </a:rPr>
              <a:t>Q</a:t>
            </a:r>
            <a:r>
              <a:rPr lang="en-US" altLang="en-US" sz="1400" i="1" baseline="30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i="1" dirty="0">
                <a:latin typeface="Arial" panose="020B0604020202020204" pitchFamily="34" charset="0"/>
              </a:rPr>
              <a:t>P</a:t>
            </a:r>
            <a:r>
              <a:rPr lang="en-US" altLang="en-US" sz="1400" i="1" baseline="-25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) 			</a:t>
            </a:r>
          </a:p>
          <a:p>
            <a:pPr algn="ctr"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sz="1400" i="1" dirty="0">
                <a:latin typeface="Arial" panose="020B0604020202020204" pitchFamily="34" charset="0"/>
              </a:rPr>
              <a:t>Q</a:t>
            </a:r>
            <a:r>
              <a:rPr lang="en-US" altLang="en-US" sz="1400" i="1" baseline="30000" dirty="0">
                <a:latin typeface="Arial" panose="020B0604020202020204" pitchFamily="34" charset="0"/>
              </a:rPr>
              <a:t>D</a:t>
            </a:r>
            <a:r>
              <a:rPr lang="en-US" altLang="en-US" sz="1400" dirty="0">
                <a:latin typeface="Arial" panose="020B0604020202020204" pitchFamily="34" charset="0"/>
              </a:rPr>
              <a:t> = </a:t>
            </a:r>
            <a:r>
              <a:rPr lang="en-US" altLang="en-US" sz="1400" i="1" dirty="0">
                <a:latin typeface="Arial" panose="020B0604020202020204" pitchFamily="34" charset="0"/>
              </a:rPr>
              <a:t>Q</a:t>
            </a:r>
            <a:r>
              <a:rPr lang="en-US" altLang="en-US" sz="1400" i="1" baseline="30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 				</a:t>
            </a:r>
          </a:p>
          <a:p>
            <a:pPr algn="ctr"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sz="1400" i="1" dirty="0" err="1">
                <a:latin typeface="Arial" panose="020B0604020202020204" pitchFamily="34" charset="0"/>
              </a:rPr>
              <a:t>P</a:t>
            </a:r>
            <a:r>
              <a:rPr lang="en-US" altLang="en-US" sz="1400" i="1" baseline="-25000" dirty="0" err="1">
                <a:latin typeface="Arial" panose="020B0604020202020204" pitchFamily="34" charset="0"/>
              </a:rPr>
              <a:t>b</a:t>
            </a:r>
            <a:r>
              <a:rPr lang="en-US" altLang="en-US" sz="1400" dirty="0">
                <a:latin typeface="Arial" panose="020B0604020202020204" pitchFamily="34" charset="0"/>
              </a:rPr>
              <a:t> − </a:t>
            </a:r>
            <a:r>
              <a:rPr lang="en-US" altLang="en-US" sz="1400" i="1" dirty="0">
                <a:latin typeface="Arial" panose="020B0604020202020204" pitchFamily="34" charset="0"/>
              </a:rPr>
              <a:t>P</a:t>
            </a:r>
            <a:r>
              <a:rPr lang="en-US" altLang="en-US" sz="1400" i="1" baseline="-25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latin typeface="Arial" panose="020B0604020202020204" pitchFamily="34" charset="0"/>
              </a:rPr>
              <a:t> = </a:t>
            </a:r>
            <a:r>
              <a:rPr lang="en-US" altLang="en-US" sz="1400" i="1" dirty="0">
                <a:latin typeface="Arial" panose="020B0604020202020204" pitchFamily="34" charset="0"/>
              </a:rPr>
              <a:t>t</a:t>
            </a:r>
            <a:r>
              <a:rPr lang="en-US" altLang="en-US" sz="1400" dirty="0">
                <a:latin typeface="Arial" panose="020B0604020202020204" pitchFamily="34" charset="0"/>
              </a:rPr>
              <a:t> 				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pic>
        <p:nvPicPr>
          <p:cNvPr id="37914" name="Picture 26" descr="fig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95400"/>
            <a:ext cx="45910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43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6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6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3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6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66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6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3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63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6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3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66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6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3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3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63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6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7" grpId="0"/>
      <p:bldP spid="663562" grpId="0" uiExpand="1" build="p"/>
      <p:bldP spid="663565" grpId="0"/>
      <p:bldP spid="663592" grpId="0" build="p"/>
      <p:bldP spid="66359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title"/>
          </p:nvPr>
        </p:nvSpPr>
        <p:spPr>
          <a:xfrm>
            <a:off x="984738" y="381000"/>
            <a:ext cx="7315200" cy="4572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olidFill>
                  <a:srgbClr val="0070C0"/>
                </a:solidFill>
              </a:rPr>
              <a:t>THE IMPACT OF A TAX</a:t>
            </a:r>
          </a:p>
        </p:txBody>
      </p:sp>
      <p:sp>
        <p:nvSpPr>
          <p:cNvPr id="38938" name="Line 9"/>
          <p:cNvSpPr>
            <a:spLocks noChangeShapeType="1"/>
          </p:cNvSpPr>
          <p:nvPr/>
        </p:nvSpPr>
        <p:spPr bwMode="auto">
          <a:xfrm>
            <a:off x="1981200" y="241"/>
            <a:ext cx="8229600" cy="0"/>
          </a:xfrm>
          <a:prstGeom prst="line">
            <a:avLst/>
          </a:prstGeom>
          <a:noFill/>
          <a:ln w="9525">
            <a:solidFill>
              <a:srgbClr val="53BE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4587" name="Rectangle 11"/>
          <p:cNvSpPr>
            <a:spLocks noChangeArrowheads="1"/>
          </p:cNvSpPr>
          <p:nvPr/>
        </p:nvSpPr>
        <p:spPr bwMode="auto">
          <a:xfrm>
            <a:off x="2809875" y="5638800"/>
            <a:ext cx="3200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(a)</a:t>
            </a:r>
            <a:r>
              <a:rPr lang="en-US" altLang="en-US" sz="1400">
                <a:latin typeface="Arial" panose="020B0604020202020204" pitchFamily="34" charset="0"/>
              </a:rPr>
              <a:t> If demand is very inelastic relative to supply, the burden of the tax falls mostly on buyers.</a:t>
            </a:r>
          </a:p>
        </p:txBody>
      </p:sp>
      <p:sp>
        <p:nvSpPr>
          <p:cNvPr id="664588" name="Rectangle 12"/>
          <p:cNvSpPr>
            <a:spLocks noChangeArrowheads="1"/>
          </p:cNvSpPr>
          <p:nvPr/>
        </p:nvSpPr>
        <p:spPr bwMode="auto">
          <a:xfrm>
            <a:off x="2438400" y="869705"/>
            <a:ext cx="4724400" cy="314325"/>
          </a:xfrm>
          <a:prstGeom prst="rect">
            <a:avLst/>
          </a:prstGeom>
          <a:solidFill>
            <a:srgbClr val="B27CB6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None/>
            </a:pPr>
            <a:r>
              <a:rPr lang="en-US" altLang="en-US" sz="1200" b="1" dirty="0">
                <a:latin typeface="Arial" panose="020B0604020202020204" pitchFamily="34" charset="0"/>
              </a:rPr>
              <a:t>Impact of a Tax Depends on Elasticities of Supply and Demand</a:t>
            </a:r>
          </a:p>
        </p:txBody>
      </p:sp>
      <p:sp>
        <p:nvSpPr>
          <p:cNvPr id="664601" name="Rectangle 25"/>
          <p:cNvSpPr>
            <a:spLocks noChangeArrowheads="1"/>
          </p:cNvSpPr>
          <p:nvPr/>
        </p:nvSpPr>
        <p:spPr bwMode="auto">
          <a:xfrm>
            <a:off x="6238875" y="5638800"/>
            <a:ext cx="3200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(b)</a:t>
            </a:r>
            <a:r>
              <a:rPr lang="en-US" altLang="en-US" sz="1400">
                <a:latin typeface="Arial" panose="020B0604020202020204" pitchFamily="34" charset="0"/>
              </a:rPr>
              <a:t> If demand is very elastic relative to supply, it falls mostly on sellers.</a:t>
            </a:r>
          </a:p>
        </p:txBody>
      </p:sp>
      <p:pic>
        <p:nvPicPr>
          <p:cNvPr id="664603" name="Picture 27" descr="fig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04" name="Picture 28" descr="fig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05" name="Picture 29" descr="fig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06" name="Picture 30" descr="fig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07" name="Picture 31" descr="fig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08" name="Picture 32" descr="fig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09" name="Picture 33" descr="fig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0" name="Picture 34" descr="fig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31908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1" name="Picture 35" descr="fig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2" name="Picture 36" descr="fig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3" name="Picture 37" descr="fig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4" name="Picture 38" descr="fig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5" name="Picture 39" descr="fig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6" name="Picture 40" descr="fig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7" name="Picture 41" descr="fig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618" name="Picture 42" descr="fig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52601"/>
            <a:ext cx="32004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70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4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6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6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6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6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66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6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6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64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66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66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6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6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66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66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66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87" grpId="0" build="p"/>
      <p:bldP spid="664588" grpId="0" animBg="1"/>
      <p:bldP spid="664601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70C0"/>
                </a:solidFill>
              </a:rPr>
              <a:t>THE IMPACT OF A TAX: A NUMERICAL EXAMPLE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24286" cy="36959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b="1" dirty="0"/>
          </a:p>
          <a:p>
            <a:pPr marL="457200" lvl="1" indent="0">
              <a:buNone/>
            </a:pPr>
            <a:r>
              <a:rPr lang="en-US" sz="1400" dirty="0"/>
              <a:t>                                                                                                                                                                                           </a:t>
            </a:r>
            <a:endParaRPr lang="en-US" sz="18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310054" y="1825872"/>
            <a:ext cx="8642838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Assume there is a tax of $1 per unit on a FMCG good. The linear demand and supply curves are as follows: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sz="2000" i="1" dirty="0">
                <a:latin typeface="Arial" panose="020B0604020202020204" pitchFamily="34" charset="0"/>
              </a:rPr>
              <a:t>Q</a:t>
            </a:r>
            <a:r>
              <a:rPr lang="en-US" altLang="en-US" sz="2000" i="1" baseline="30000" dirty="0">
                <a:latin typeface="Arial" panose="020B0604020202020204" pitchFamily="34" charset="0"/>
              </a:rPr>
              <a:t>D</a:t>
            </a:r>
            <a:r>
              <a:rPr lang="en-US" altLang="en-US" sz="2000" dirty="0">
                <a:latin typeface="Arial" panose="020B0604020202020204" pitchFamily="34" charset="0"/>
              </a:rPr>
              <a:t> = 150 </a:t>
            </a:r>
            <a:r>
              <a:rPr lang="en-US" altLang="en-US" sz="2000" dirty="0"/>
              <a:t>–</a:t>
            </a:r>
            <a:r>
              <a:rPr lang="en-US" altLang="en-US" sz="2000" dirty="0">
                <a:latin typeface="Arial" panose="020B0604020202020204" pitchFamily="34" charset="0"/>
              </a:rPr>
              <a:t> 25</a:t>
            </a:r>
            <a:r>
              <a:rPr lang="en-US" altLang="en-US" sz="2000" i="1" dirty="0">
                <a:latin typeface="Arial" panose="020B0604020202020204" pitchFamily="34" charset="0"/>
              </a:rPr>
              <a:t>P</a:t>
            </a:r>
            <a:r>
              <a:rPr lang="en-US" altLang="en-US" sz="2000" i="1" baseline="-25000" dirty="0">
                <a:latin typeface="Arial" panose="020B0604020202020204" pitchFamily="34" charset="0"/>
              </a:rPr>
              <a:t>b</a:t>
            </a:r>
            <a:r>
              <a:rPr lang="en-US" altLang="en-US" sz="2000" dirty="0">
                <a:latin typeface="Arial" panose="020B0604020202020204" pitchFamily="34" charset="0"/>
              </a:rPr>
              <a:t>			(Demand)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Q</a:t>
            </a:r>
            <a:r>
              <a:rPr lang="en-US" altLang="en-US" sz="2000" i="1" baseline="30000" dirty="0">
                <a:latin typeface="Arial" panose="020B0604020202020204" pitchFamily="34" charset="0"/>
              </a:rPr>
              <a:t>S</a:t>
            </a:r>
            <a:r>
              <a:rPr lang="en-US" altLang="en-US" sz="2000" dirty="0">
                <a:latin typeface="Arial" panose="020B0604020202020204" pitchFamily="34" charset="0"/>
              </a:rPr>
              <a:t> = 60 + 20</a:t>
            </a:r>
            <a:r>
              <a:rPr lang="en-US" altLang="en-US" sz="2000" i="1" dirty="0">
                <a:latin typeface="Arial" panose="020B0604020202020204" pitchFamily="34" charset="0"/>
              </a:rPr>
              <a:t>P</a:t>
            </a:r>
            <a:r>
              <a:rPr lang="en-US" altLang="en-US" sz="2000" i="1" baseline="-25000" dirty="0">
                <a:latin typeface="Arial" panose="020B0604020202020204" pitchFamily="34" charset="0"/>
              </a:rPr>
              <a:t>s</a:t>
            </a:r>
            <a:r>
              <a:rPr lang="en-US" altLang="en-US" sz="2000" dirty="0">
                <a:latin typeface="Arial" panose="020B0604020202020204" pitchFamily="34" charset="0"/>
              </a:rPr>
              <a:t> 			             (Supply)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(Calculate the government earning as tax revenue and deadweight loss. </a:t>
            </a:r>
          </a:p>
        </p:txBody>
      </p:sp>
    </p:spTree>
    <p:extLst>
      <p:ext uri="{BB962C8B-B14F-4D97-AF65-F5344CB8AC3E}">
        <p14:creationId xmlns:p14="http://schemas.microsoft.com/office/powerpoint/2010/main" val="142557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ChangeArrowheads="1"/>
          </p:cNvSpPr>
          <p:nvPr/>
        </p:nvSpPr>
        <p:spPr bwMode="auto">
          <a:xfrm>
            <a:off x="2209801" y="3750746"/>
            <a:ext cx="8201025" cy="369332"/>
          </a:xfrm>
          <a:prstGeom prst="rect">
            <a:avLst/>
          </a:prstGeom>
          <a:solidFill>
            <a:srgbClr val="F7F4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xfrm>
            <a:off x="1186963" y="381001"/>
            <a:ext cx="10049608" cy="487363"/>
          </a:xfrm>
          <a:noFill/>
        </p:spPr>
        <p:txBody>
          <a:bodyPr>
            <a:noAutofit/>
          </a:bodyPr>
          <a:lstStyle/>
          <a:p>
            <a:pPr marL="495300" indent="-495300"/>
            <a:r>
              <a:rPr lang="en-US" altLang="en-US" sz="4000" dirty="0">
                <a:solidFill>
                  <a:srgbClr val="0070C0"/>
                </a:solidFill>
              </a:rPr>
              <a:t>THE IMPACT OF A TAX: A NUMERICAL EXAMPLE</a:t>
            </a:r>
          </a:p>
        </p:txBody>
      </p:sp>
      <p:sp>
        <p:nvSpPr>
          <p:cNvPr id="40970" name="Line 6"/>
          <p:cNvSpPr>
            <a:spLocks noChangeShapeType="1"/>
          </p:cNvSpPr>
          <p:nvPr/>
        </p:nvSpPr>
        <p:spPr bwMode="auto">
          <a:xfrm>
            <a:off x="1981200" y="241"/>
            <a:ext cx="8229600" cy="0"/>
          </a:xfrm>
          <a:prstGeom prst="line">
            <a:avLst/>
          </a:prstGeom>
          <a:noFill/>
          <a:ln w="9525">
            <a:solidFill>
              <a:srgbClr val="53BE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647" name="Rectangle 23"/>
          <p:cNvSpPr>
            <a:spLocks noChangeArrowheads="1"/>
          </p:cNvSpPr>
          <p:nvPr/>
        </p:nvSpPr>
        <p:spPr bwMode="auto">
          <a:xfrm>
            <a:off x="2209800" y="1371600"/>
            <a:ext cx="7239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Effect of a $1-per-unit tax:</a:t>
            </a:r>
          </a:p>
        </p:txBody>
      </p:sp>
      <p:sp>
        <p:nvSpPr>
          <p:cNvPr id="666648" name="Rectangle 24"/>
          <p:cNvSpPr>
            <a:spLocks noChangeArrowheads="1"/>
          </p:cNvSpPr>
          <p:nvPr/>
        </p:nvSpPr>
        <p:spPr bwMode="auto">
          <a:xfrm>
            <a:off x="2209800" y="1835151"/>
            <a:ext cx="8490438" cy="434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alatino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Palatino" pitchFamily="2" charset="0"/>
              </a:defRPr>
            </a:lvl9pPr>
          </a:lstStyle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>
                <a:latin typeface="Arial" panose="020B0604020202020204" pitchFamily="34" charset="0"/>
              </a:rPr>
              <a:t>Q</a:t>
            </a:r>
            <a:r>
              <a:rPr lang="en-US" altLang="en-US" i="1" baseline="30000" dirty="0">
                <a:latin typeface="Arial" panose="020B0604020202020204" pitchFamily="34" charset="0"/>
              </a:rPr>
              <a:t>D</a:t>
            </a:r>
            <a:r>
              <a:rPr lang="en-US" altLang="en-US" dirty="0">
                <a:latin typeface="Arial" panose="020B0604020202020204" pitchFamily="34" charset="0"/>
              </a:rPr>
              <a:t> = 150 </a:t>
            </a:r>
            <a:r>
              <a:rPr lang="en-US" altLang="en-US" dirty="0"/>
              <a:t>–</a:t>
            </a:r>
            <a:r>
              <a:rPr lang="en-US" altLang="en-US" dirty="0">
                <a:latin typeface="Arial" panose="020B0604020202020204" pitchFamily="34" charset="0"/>
              </a:rPr>
              <a:t> 25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b</a:t>
            </a:r>
            <a:r>
              <a:rPr lang="en-US" altLang="en-US" dirty="0">
                <a:latin typeface="Arial" panose="020B0604020202020204" pitchFamily="34" charset="0"/>
              </a:rPr>
              <a:t>			(Demand)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Q</a:t>
            </a:r>
            <a:r>
              <a:rPr lang="en-US" altLang="en-US" i="1" baseline="30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= 60 + 20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			(Supply)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>
                <a:latin typeface="Arial" panose="020B0604020202020204" pitchFamily="34" charset="0"/>
              </a:rPr>
              <a:t>Q</a:t>
            </a:r>
            <a:r>
              <a:rPr lang="en-US" altLang="en-US" i="1" baseline="30000" dirty="0">
                <a:latin typeface="Arial" panose="020B0604020202020204" pitchFamily="34" charset="0"/>
              </a:rPr>
              <a:t>D</a:t>
            </a:r>
            <a:r>
              <a:rPr lang="en-US" altLang="en-US" dirty="0">
                <a:latin typeface="Arial" panose="020B0604020202020204" pitchFamily="34" charset="0"/>
              </a:rPr>
              <a:t> = </a:t>
            </a:r>
            <a:r>
              <a:rPr lang="en-US" altLang="en-US" i="1" dirty="0">
                <a:latin typeface="Arial" panose="020B0604020202020204" pitchFamily="34" charset="0"/>
              </a:rPr>
              <a:t>Q</a:t>
            </a:r>
            <a:r>
              <a:rPr lang="en-US" altLang="en-US" i="1" baseline="30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				(Supply must equal demand)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 err="1">
                <a:latin typeface="Arial" panose="020B0604020202020204" pitchFamily="34" charset="0"/>
              </a:rPr>
              <a:t>P</a:t>
            </a:r>
            <a:r>
              <a:rPr lang="en-US" altLang="en-US" i="1" baseline="-25000" dirty="0" err="1">
                <a:latin typeface="Arial" panose="020B0604020202020204" pitchFamily="34" charset="0"/>
              </a:rPr>
              <a:t>b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/>
              <a:t>–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= 1.00			(Government must receive $1.00/unit)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150 − 25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b </a:t>
            </a:r>
            <a:r>
              <a:rPr lang="en-US" altLang="en-US" dirty="0">
                <a:latin typeface="Arial" panose="020B0604020202020204" pitchFamily="34" charset="0"/>
              </a:rPr>
              <a:t>= 60 + 20</a:t>
            </a:r>
            <a:r>
              <a:rPr lang="en-US" altLang="en-US" i="1" dirty="0">
                <a:latin typeface="Arial" panose="020B0604020202020204" pitchFamily="34" charset="0"/>
              </a:rPr>
              <a:t>Ps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i="1" dirty="0" err="1">
                <a:latin typeface="Arial" panose="020B0604020202020204" pitchFamily="34" charset="0"/>
              </a:rPr>
              <a:t>P</a:t>
            </a:r>
            <a:r>
              <a:rPr lang="en-US" altLang="en-US" i="1" baseline="-25000" dirty="0" err="1">
                <a:latin typeface="Arial" panose="020B0604020202020204" pitchFamily="34" charset="0"/>
              </a:rPr>
              <a:t>b</a:t>
            </a:r>
            <a:r>
              <a:rPr lang="en-US" altLang="en-US" dirty="0">
                <a:latin typeface="Arial" panose="020B0604020202020204" pitchFamily="34" charset="0"/>
              </a:rPr>
              <a:t> = 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+ 1.00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150 − 25(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i="1" dirty="0">
                <a:latin typeface="Arial" panose="020B0604020202020204" pitchFamily="34" charset="0"/>
              </a:rPr>
              <a:t> + </a:t>
            </a:r>
            <a:r>
              <a:rPr lang="en-US" altLang="en-US" dirty="0">
                <a:latin typeface="Arial" panose="020B0604020202020204" pitchFamily="34" charset="0"/>
              </a:rPr>
              <a:t>1)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= 60 + 20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20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 </a:t>
            </a:r>
            <a:r>
              <a:rPr lang="en-US" altLang="en-US" dirty="0">
                <a:latin typeface="Arial" panose="020B0604020202020204" pitchFamily="34" charset="0"/>
              </a:rPr>
              <a:t>+ 25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= 150 – 25 – 60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45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= 65, or </a:t>
            </a:r>
            <a:r>
              <a:rPr lang="en-US" altLang="en-US" i="1" dirty="0">
                <a:latin typeface="Arial" panose="020B0604020202020204" pitchFamily="34" charset="0"/>
              </a:rPr>
              <a:t>P</a:t>
            </a:r>
            <a:r>
              <a:rPr lang="en-US" altLang="en-US" i="1" baseline="-25000" dirty="0">
                <a:latin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</a:rPr>
              <a:t> = 1.44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Q = 150 – (25)(2.44) = 150 – 61, or Q = 89 million unit/</a:t>
            </a:r>
            <a:r>
              <a:rPr lang="en-US" altLang="en-US" dirty="0" err="1">
                <a:latin typeface="Arial" panose="020B0604020202020204" pitchFamily="34" charset="0"/>
              </a:rPr>
              <a:t>yr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endParaRPr lang="en-US" altLang="en-US" sz="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Annual revenue from the tax </a:t>
            </a:r>
            <a:r>
              <a:rPr lang="en-US" altLang="en-US" dirty="0" err="1">
                <a:latin typeface="Arial" panose="020B0604020202020204" pitchFamily="34" charset="0"/>
              </a:rPr>
              <a:t>tQ</a:t>
            </a:r>
            <a:r>
              <a:rPr lang="en-US" altLang="en-US" dirty="0">
                <a:latin typeface="Arial" panose="020B0604020202020204" pitchFamily="34" charset="0"/>
              </a:rPr>
              <a:t> = (1.00)(89) = $89 million per year</a:t>
            </a:r>
          </a:p>
          <a:p>
            <a:pPr eaLnBrk="1" hangingPunct="1">
              <a:lnSpc>
                <a:spcPct val="105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Deadweight loss: (1/2) x ($1.00/unit) x (11 million unit/year = $5.5 million per year</a:t>
            </a:r>
            <a:endParaRPr lang="en-US" alt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0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6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66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66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66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66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666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666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666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666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666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6666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6666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6666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626" grpId="0" animBg="1"/>
      <p:bldP spid="666647" grpId="0" build="p"/>
      <p:bldP spid="666648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4255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Baye</a:t>
            </a:r>
            <a:r>
              <a:rPr lang="en-US" sz="2400" dirty="0"/>
              <a:t>, M. R. and Jeffrey T. Prince, J. T. (2014) Managerial Economics and Business Strategy. 8th Edition, </a:t>
            </a:r>
            <a:r>
              <a:rPr lang="en-US" sz="2400" dirty="0" err="1"/>
              <a:t>McGrawHill</a:t>
            </a:r>
            <a:r>
              <a:rPr lang="en-US" sz="2400" dirty="0"/>
              <a:t> Education (India) Private Limited, New Delhi</a:t>
            </a:r>
          </a:p>
          <a:p>
            <a:pPr marL="0" indent="0">
              <a:buNone/>
            </a:pPr>
            <a:r>
              <a:rPr lang="en-US" sz="2400" dirty="0" err="1"/>
              <a:t>Pindyck</a:t>
            </a:r>
            <a:r>
              <a:rPr lang="en-US" sz="2400" dirty="0"/>
              <a:t>, R.S. and </a:t>
            </a:r>
            <a:r>
              <a:rPr lang="en-US" sz="2400" dirty="0" err="1"/>
              <a:t>Rubinfeld</a:t>
            </a:r>
            <a:r>
              <a:rPr lang="en-US" sz="2400" dirty="0"/>
              <a:t>, D.L. (2017) Microeconomics, 8th Edition, Pearson Education, New Delhi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</a:t>
            </a:r>
            <a:endParaRPr lang="en-US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44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3487</Words>
  <Application>Microsoft Office PowerPoint</Application>
  <PresentationFormat>Widescreen</PresentationFormat>
  <Paragraphs>580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Calibri</vt:lpstr>
      <vt:lpstr>Calibri Light</vt:lpstr>
      <vt:lpstr>Cambria Math</vt:lpstr>
      <vt:lpstr>Palatino</vt:lpstr>
      <vt:lpstr>Palatino-Roman</vt:lpstr>
      <vt:lpstr>Times New Roman</vt:lpstr>
      <vt:lpstr>Wingdings</vt:lpstr>
      <vt:lpstr>Office Theme</vt:lpstr>
      <vt:lpstr>The basics of demand and supply</vt:lpstr>
      <vt:lpstr>Topic to cover</vt:lpstr>
      <vt:lpstr>Demand and Supply</vt:lpstr>
      <vt:lpstr>The Demand curve</vt:lpstr>
      <vt:lpstr>The Linear Demand curve</vt:lpstr>
      <vt:lpstr>Other variables that affect Demand </vt:lpstr>
      <vt:lpstr>Shifting of Demand curve</vt:lpstr>
      <vt:lpstr>Linear demand function</vt:lpstr>
      <vt:lpstr>Signs of coefficients of linear demand function</vt:lpstr>
      <vt:lpstr>Linear demand function</vt:lpstr>
      <vt:lpstr>Linear demand function</vt:lpstr>
      <vt:lpstr>Inverse demand function</vt:lpstr>
      <vt:lpstr>Graph of inverse demand function</vt:lpstr>
      <vt:lpstr>The Supply curve</vt:lpstr>
      <vt:lpstr>The Linear Supply curve</vt:lpstr>
      <vt:lpstr>Other variables that affect Supply </vt:lpstr>
      <vt:lpstr>Shifting of Supply curve</vt:lpstr>
      <vt:lpstr>Linear supply function</vt:lpstr>
      <vt:lpstr>Signs of coefficients of linear supply function</vt:lpstr>
      <vt:lpstr>Linear supply function</vt:lpstr>
      <vt:lpstr>Linear supply function</vt:lpstr>
      <vt:lpstr>Inverse supply function</vt:lpstr>
      <vt:lpstr>Market equilibrium</vt:lpstr>
      <vt:lpstr>Market equilibrium</vt:lpstr>
      <vt:lpstr>Market equilibrium</vt:lpstr>
      <vt:lpstr>Market equilibrium</vt:lpstr>
      <vt:lpstr>Stable and unstable equilibrium</vt:lpstr>
      <vt:lpstr>Consumer surplus</vt:lpstr>
      <vt:lpstr>Consumer surplus</vt:lpstr>
      <vt:lpstr>Producer surplus</vt:lpstr>
      <vt:lpstr>Producer surplus</vt:lpstr>
      <vt:lpstr>Price controls</vt:lpstr>
      <vt:lpstr>Price floor</vt:lpstr>
      <vt:lpstr>Price floor</vt:lpstr>
      <vt:lpstr>Price floor</vt:lpstr>
      <vt:lpstr>Price ceiling</vt:lpstr>
      <vt:lpstr>Price ceiling</vt:lpstr>
      <vt:lpstr>Price ceiling</vt:lpstr>
      <vt:lpstr>Dead weight loss</vt:lpstr>
      <vt:lpstr>Simultaneous Shifts in Supply and Demand</vt:lpstr>
      <vt:lpstr>Simultaneous Shifts in Supply and Demand</vt:lpstr>
      <vt:lpstr>Elasticity</vt:lpstr>
      <vt:lpstr>Own price elasticity</vt:lpstr>
      <vt:lpstr>Own price elasticity on linear demand curve </vt:lpstr>
      <vt:lpstr>Elastic Demand Curve</vt:lpstr>
      <vt:lpstr>Inelastic Demand Curve</vt:lpstr>
      <vt:lpstr>Extreme Elasticities</vt:lpstr>
      <vt:lpstr>Elasticities of Demand &amp; Supply</vt:lpstr>
      <vt:lpstr>Elasticities of Demand &amp; Supply</vt:lpstr>
      <vt:lpstr>Point vs Arc Elasticities</vt:lpstr>
      <vt:lpstr>Short Run Vs Long Run Demand Curves</vt:lpstr>
      <vt:lpstr>Gasoline: Short-Run and Long-Run Demand Curves</vt:lpstr>
      <vt:lpstr>Automobile: Short-Run and Long-Run Demand Curves</vt:lpstr>
      <vt:lpstr>Income elasticity</vt:lpstr>
      <vt:lpstr>Income elasticity</vt:lpstr>
      <vt:lpstr>Income elasticity</vt:lpstr>
      <vt:lpstr>Cross-price elasticity</vt:lpstr>
      <vt:lpstr>Elasticities of Linear Demand Function</vt:lpstr>
      <vt:lpstr>Elasticities of Linear Demand Function</vt:lpstr>
      <vt:lpstr>Elasticities of Linear Demand Function</vt:lpstr>
      <vt:lpstr>Elasticities and Revenue</vt:lpstr>
      <vt:lpstr>Elasticities and Revenue</vt:lpstr>
      <vt:lpstr>Elasticities and Revenue</vt:lpstr>
      <vt:lpstr>THE IMPACT OF A TAX</vt:lpstr>
      <vt:lpstr>THE IMPACT OF A TAX</vt:lpstr>
      <vt:lpstr>THE IMPACT OF A TAX: A NUMERICAL EXAMPLE</vt:lpstr>
      <vt:lpstr>THE IMPACT OF A TAX: A NUMERICAL EXAMPLE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basic supply and demand</dc:title>
  <dc:creator>iim</dc:creator>
  <cp:lastModifiedBy>user</cp:lastModifiedBy>
  <cp:revision>70</cp:revision>
  <dcterms:created xsi:type="dcterms:W3CDTF">2020-08-11T11:26:06Z</dcterms:created>
  <dcterms:modified xsi:type="dcterms:W3CDTF">2022-07-19T07:11:56Z</dcterms:modified>
</cp:coreProperties>
</file>