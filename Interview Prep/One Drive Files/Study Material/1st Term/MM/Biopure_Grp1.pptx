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430575-6585-42B8-A0E0-27C009DDE5F1}">
  <a:tblStyle styleId="{7D430575-6585-42B8-A0E0-27C009DDE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c10f9da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c10f9da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c10f9daf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c10f9daf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c10f9daf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c10f9daf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3c041726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3c041726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3c0d1feb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3c0d1fe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c10f9daf0_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3c10f9daf0_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c0538770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3c053877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c181949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c181949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c041726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3c041726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c0dd6c4d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c0dd6c4d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c0dd6c4d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3c0dd6c4d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c14cadf4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c14cadf4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</a:t>
            </a:r>
            <a:r>
              <a:rPr lang="en">
                <a:solidFill>
                  <a:srgbClr val="8E7CC3"/>
                </a:solidFill>
              </a:rPr>
              <a:t>1</a:t>
            </a:r>
            <a:endParaRPr>
              <a:solidFill>
                <a:srgbClr val="8E7CC3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Biopure Corporation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rgbClr val="000000"/>
                </a:solidFill>
              </a:rPr>
              <a:t>Background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•Biopure Corporation founded in </a:t>
            </a:r>
            <a:r>
              <a:rPr lang="en" sz="17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1984</a:t>
            </a:r>
            <a:r>
              <a:rPr lang="en" sz="1700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by Carl Raush &amp; David Judelson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•Products (blood substitutes): Oxyglobin &amp; Hemopure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•Invested </a:t>
            </a:r>
            <a:r>
              <a:rPr lang="en" sz="17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$200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 in development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•Currently no revenues with very little debt &amp; financing of </a:t>
            </a:r>
            <a:r>
              <a:rPr lang="en" sz="17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$50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M to support operations for another </a:t>
            </a:r>
            <a:r>
              <a:rPr lang="en" sz="17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yrs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•Stakeholders anxious to make the company public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hen to launch </a:t>
            </a:r>
            <a:r>
              <a:rPr b="1" lang="en" sz="1700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Oxyglobin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Postpone the launch of Oxyglobin until and after Hemopure Had established itself in the marketplace 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Immediately launch Oxyglobin and reap the near term benefits ?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266200" y="27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{7D430575-6585-42B8-A0E0-27C009DDE5F1}</a:tableStyleId>
              </a:tblPr>
              <a:tblGrid>
                <a:gridCol w="2152900"/>
                <a:gridCol w="2152900"/>
                <a:gridCol w="2152900"/>
                <a:gridCol w="2152900"/>
              </a:tblGrid>
              <a:tr h="4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Oswald"/>
                          <a:ea typeface="Oswald"/>
                          <a:cs typeface="Oswald"/>
                          <a:sym typeface="Oswald"/>
                        </a:rPr>
                        <a:t>Company</a:t>
                      </a:r>
                      <a:endParaRPr sz="15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Oswald"/>
                          <a:ea typeface="Oswald"/>
                          <a:cs typeface="Oswald"/>
                          <a:sym typeface="Oswald"/>
                        </a:rPr>
                        <a:t>Biopure Corporation</a:t>
                      </a:r>
                      <a:endParaRPr sz="15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Oswald"/>
                          <a:ea typeface="Oswald"/>
                          <a:cs typeface="Oswald"/>
                          <a:sym typeface="Oswald"/>
                        </a:rPr>
                        <a:t>Northfield Laboratories</a:t>
                      </a:r>
                      <a:endParaRPr sz="15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Oswald"/>
                          <a:ea typeface="Oswald"/>
                          <a:cs typeface="Oswald"/>
                          <a:sym typeface="Oswald"/>
                        </a:rPr>
                        <a:t>Baxter International</a:t>
                      </a:r>
                      <a:endParaRPr sz="15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</a:tr>
              <a:tr h="43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Product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8C7B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Oxyglobin &amp; Hemopure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8C7B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PolyHeme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8C7B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HemAssist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8C7BE9"/>
                    </a:solidFill>
                  </a:tcPr>
                </a:tc>
              </a:tr>
              <a:tr h="66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Source of Hemoglobin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Bovine Blood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Outdated RCB of Human Blood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Outdated RCB of Human Blood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Cost of Production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$15</a:t>
                      </a: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 M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$70</a:t>
                      </a: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 M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$50</a:t>
                      </a: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 M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Raw Material Cost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$1.5</a:t>
                      </a: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 per unit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$26</a:t>
                      </a: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 per unit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$8</a:t>
                      </a: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 per unit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Storage 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Stable at room temp.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Need to be frozen &lt; </a:t>
                      </a: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4°C</a:t>
                      </a:r>
                      <a:endParaRPr sz="15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Need to be frozen &lt; </a:t>
                      </a: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4°C</a:t>
                      </a:r>
                      <a:endParaRPr sz="15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Clinical Trial Phase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Oxyglobin - All cleared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Hemopure - Phase 3 (1998)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Phase 3 (1998)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Phase 3 (1998)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Pricing</a:t>
                      </a:r>
                      <a:endParaRPr sz="15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Oxyglobin - </a:t>
                      </a: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$80-$200</a:t>
                      </a:r>
                      <a:endParaRPr sz="1500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434343"/>
                          </a:solidFill>
                        </a:rPr>
                        <a:t>Hemopure - </a:t>
                      </a: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$600-$800</a:t>
                      </a:r>
                      <a:endParaRPr sz="15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$600-$800</a:t>
                      </a:r>
                      <a:endParaRPr sz="15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$600-$800</a:t>
                      </a:r>
                      <a:endParaRPr sz="15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Oswald"/>
                <a:ea typeface="Oswald"/>
                <a:cs typeface="Oswald"/>
                <a:sym typeface="Oswald"/>
              </a:rPr>
              <a:t>Reasons against immediately launching Oxyglobin</a:t>
            </a:r>
            <a:endParaRPr sz="30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>
                <a:solidFill>
                  <a:srgbClr val="666666"/>
                </a:solidFill>
                <a:highlight>
                  <a:srgbClr val="FFFFFF"/>
                </a:highlight>
              </a:rPr>
              <a:t>A</a:t>
            </a:r>
            <a:r>
              <a:rPr lang="en" sz="1600">
                <a:solidFill>
                  <a:srgbClr val="666666"/>
                </a:solidFill>
              </a:rPr>
              <a:t> chance to establish better in IPO</a:t>
            </a:r>
            <a:endParaRPr sz="16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>
                <a:solidFill>
                  <a:srgbClr val="666666"/>
                </a:solidFill>
                <a:highlight>
                  <a:srgbClr val="FFFFFF"/>
                </a:highlight>
              </a:rPr>
              <a:t>Allow the department to gather all the resources and building up on the supply chain</a:t>
            </a:r>
            <a:endParaRPr sz="16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>
                <a:solidFill>
                  <a:srgbClr val="666666"/>
                </a:solidFill>
                <a:highlight>
                  <a:schemeClr val="lt1"/>
                </a:highlight>
              </a:rPr>
              <a:t>Market might not accept a higher price point for Hemopure</a:t>
            </a:r>
            <a:endParaRPr sz="16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666666"/>
              </a:buClr>
              <a:buSzPts val="1600"/>
              <a:buChar char="●"/>
            </a:pPr>
            <a:r>
              <a:rPr lang="en" sz="1600">
                <a:solidFill>
                  <a:srgbClr val="666666"/>
                </a:solidFill>
                <a:highlight>
                  <a:schemeClr val="lt1"/>
                </a:highlight>
              </a:rPr>
              <a:t>A perception that Biopure is a pure veterinary brand</a:t>
            </a:r>
            <a:endParaRPr sz="16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Reasons for immediately launching Oxyglobin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99" y="725000"/>
            <a:ext cx="6594650" cy="43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66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      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      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MARKET POTENTIAL OF HEMOPURE AND OXYGLOBIN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975"/>
            <a:ext cx="8839200" cy="4761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>
                <a:latin typeface="Oswald"/>
                <a:ea typeface="Oswald"/>
                <a:cs typeface="Oswald"/>
                <a:sym typeface="Oswald"/>
              </a:rPr>
              <a:t>Reasons for exorbitant price | </a:t>
            </a:r>
            <a:r>
              <a:rPr lang="en" sz="2520">
                <a:solidFill>
                  <a:srgbClr val="8C7BE9"/>
                </a:solidFill>
                <a:latin typeface="Oswald"/>
                <a:ea typeface="Oswald"/>
                <a:cs typeface="Oswald"/>
                <a:sym typeface="Oswald"/>
              </a:rPr>
              <a:t>Hemopure</a:t>
            </a:r>
            <a:endParaRPr sz="2520">
              <a:solidFill>
                <a:srgbClr val="8C7BE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671500" cy="3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As there are already 2 competitors namely Baxter International and Northfield Laboratories.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Based on anticipatory price of ‘HemAssist’ from Baxter to be around </a:t>
            </a:r>
            <a:r>
              <a:rPr lang="en" sz="1700">
                <a:solidFill>
                  <a:srgbClr val="8C7BE9"/>
                </a:solidFill>
              </a:rPr>
              <a:t>$600 – $800 </a:t>
            </a:r>
            <a:r>
              <a:rPr lang="en" sz="1700">
                <a:solidFill>
                  <a:schemeClr val="dk1"/>
                </a:solidFill>
              </a:rPr>
              <a:t>per unit.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Due to different production process as compared to others.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Lower output due to removal of hemoglobin clusters.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Lack of good systematic testing for acceptability and information regarding price sensitivity of medical personnel, patients or insurance providers.   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Oswald"/>
                <a:ea typeface="Oswald"/>
                <a:cs typeface="Oswald"/>
                <a:sym typeface="Oswald"/>
              </a:rPr>
              <a:t>The impact of Oxyglobin 's pricing on Hemopure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Oxyglobin and Hemopure 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in a sequence is posing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 a threat of product cannibalization </a:t>
            </a:r>
            <a:endParaRPr sz="1700">
              <a:solidFill>
                <a:srgbClr val="5A5A5A"/>
              </a:solidFill>
              <a:highlight>
                <a:srgbClr val="FFFFFF"/>
              </a:highlight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Hemopure 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is considered as 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a high-margin product </a:t>
            </a:r>
            <a:r>
              <a:rPr lang="en" sz="1700">
                <a:solidFill>
                  <a:srgbClr val="9900FF"/>
                </a:solidFill>
                <a:highlight>
                  <a:srgbClr val="FFFFFF"/>
                </a:highlight>
              </a:rPr>
              <a:t>(600$-800$)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, but the launch of Oxyglobin will reduce its worth and the consumers may perceive it as a low-price product.</a:t>
            </a:r>
            <a:endParaRPr sz="1700">
              <a:solidFill>
                <a:srgbClr val="5A5A5A"/>
              </a:solidFill>
              <a:highlight>
                <a:srgbClr val="FFFFFF"/>
              </a:highlight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They are planning to 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launch Oxyglobin at </a:t>
            </a:r>
            <a:r>
              <a:rPr lang="en" sz="1700">
                <a:solidFill>
                  <a:srgbClr val="9900FF"/>
                </a:solidFill>
                <a:highlight>
                  <a:srgbClr val="FFFFFF"/>
                </a:highlight>
              </a:rPr>
              <a:t>80$ - 100$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, but vets uses ‘Doubling Rule’, so they are thinking of pricing it at </a:t>
            </a:r>
            <a:r>
              <a:rPr lang="en" sz="1700">
                <a:solidFill>
                  <a:srgbClr val="9900FF"/>
                </a:solidFill>
                <a:highlight>
                  <a:srgbClr val="FFFFFF"/>
                </a:highlight>
              </a:rPr>
              <a:t>160$-200$</a:t>
            </a:r>
            <a:endParaRPr sz="1700">
              <a:solidFill>
                <a:srgbClr val="9900FF"/>
              </a:solidFill>
              <a:highlight>
                <a:srgbClr val="FFFFFF"/>
              </a:highlight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The survey conducted among vets and pet owner shows, that they are willing to recommend the product and willing to buy the product with price range between </a:t>
            </a:r>
            <a:r>
              <a:rPr lang="en" sz="1700">
                <a:solidFill>
                  <a:srgbClr val="9900FF"/>
                </a:solidFill>
                <a:highlight>
                  <a:srgbClr val="FFFFFF"/>
                </a:highlight>
              </a:rPr>
              <a:t>100$-150$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 with</a:t>
            </a:r>
            <a:r>
              <a:rPr lang="en" sz="1700">
                <a:solidFill>
                  <a:srgbClr val="9900FF"/>
                </a:solidFill>
                <a:highlight>
                  <a:srgbClr val="FFFFFF"/>
                </a:highlight>
              </a:rPr>
              <a:t> 90%</a:t>
            </a:r>
            <a:r>
              <a:rPr lang="en" sz="1700">
                <a:solidFill>
                  <a:srgbClr val="5A5A5A"/>
                </a:solidFill>
                <a:highlight>
                  <a:srgbClr val="FFFFFF"/>
                </a:highlight>
              </a:rPr>
              <a:t> of their vote respectively </a:t>
            </a:r>
            <a:endParaRPr sz="1700">
              <a:solidFill>
                <a:srgbClr val="5A5A5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Oswald"/>
                <a:ea typeface="Oswald"/>
                <a:cs typeface="Oswald"/>
                <a:sym typeface="Oswald"/>
              </a:rPr>
              <a:t>Challenges of how to go to market</a:t>
            </a:r>
            <a:endParaRPr sz="30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Wait for Hemopure (FDA APPROVAL, currently in phase 3) will take upto 2 years and Biopure Corporation is </a:t>
            </a:r>
            <a:r>
              <a:rPr lang="en" sz="1700">
                <a:solidFill>
                  <a:srgbClr val="9900FF"/>
                </a:solidFill>
              </a:rPr>
              <a:t>Optimistic</a:t>
            </a:r>
            <a:r>
              <a:rPr lang="en" sz="1700"/>
              <a:t> about the approval but is not guaranteed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Single Manufacturing unit 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Risk of losing first mover advantage and market attractiveness for Oxyglobin, since Baxter’s HemAssist is also in development and might beat them to product launch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Lack of awareness on</a:t>
            </a:r>
            <a:r>
              <a:rPr lang="en" sz="1700"/>
              <a:t> competition or substitutes in the market</a:t>
            </a:r>
            <a:endParaRPr sz="17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222222"/>
                </a:solidFill>
                <a:latin typeface="Oswald"/>
                <a:ea typeface="Oswald"/>
                <a:cs typeface="Oswald"/>
                <a:sym typeface="Oswald"/>
              </a:rPr>
              <a:t>Challenges of how to go to market </a:t>
            </a:r>
            <a:endParaRPr sz="3020">
              <a:solidFill>
                <a:srgbClr val="22222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A5A5A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Handling Market expectations due to identical products</a:t>
            </a:r>
            <a:endParaRPr sz="1700">
              <a:solidFill>
                <a:srgbClr val="5A5A5A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A5A5A"/>
                </a:solidFill>
              </a:rPr>
              <a:t>(price gap between Hemopure and Oxyglobin)</a:t>
            </a:r>
            <a:endParaRPr sz="1700">
              <a:solidFill>
                <a:srgbClr val="5A5A5A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Distribution</a:t>
            </a:r>
            <a:r>
              <a:rPr lang="en" sz="1700">
                <a:solidFill>
                  <a:srgbClr val="5A5A5A"/>
                </a:solidFill>
              </a:rPr>
              <a:t> not stable</a:t>
            </a:r>
            <a:r>
              <a:rPr lang="en" sz="1700">
                <a:solidFill>
                  <a:srgbClr val="5A5A5A"/>
                </a:solidFill>
              </a:rPr>
              <a:t> for veterinary medicines</a:t>
            </a:r>
            <a:endParaRPr sz="1700">
              <a:solidFill>
                <a:srgbClr val="5A5A5A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Poor revenue stream and </a:t>
            </a:r>
            <a:r>
              <a:rPr lang="en" sz="1700">
                <a:solidFill>
                  <a:srgbClr val="5A5A5A"/>
                </a:solidFill>
              </a:rPr>
              <a:t>inability</a:t>
            </a:r>
            <a:r>
              <a:rPr lang="en" sz="1700">
                <a:solidFill>
                  <a:srgbClr val="5A5A5A"/>
                </a:solidFill>
              </a:rPr>
              <a:t> to generate profits at regular intervals</a:t>
            </a:r>
            <a:endParaRPr sz="1700">
              <a:solidFill>
                <a:srgbClr val="5A5A5A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Hemopure shortcomings </a:t>
            </a:r>
            <a:endParaRPr sz="1700">
              <a:solidFill>
                <a:srgbClr val="5A5A5A"/>
              </a:solidFill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Presence of strong competitors in human blood substitute market</a:t>
            </a:r>
            <a:endParaRPr sz="1700">
              <a:solidFill>
                <a:srgbClr val="5A5A5A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A5A5A"/>
                </a:solidFill>
              </a:rPr>
              <a:t>       </a:t>
            </a:r>
            <a:endParaRPr sz="1700">
              <a:solidFill>
                <a:srgbClr val="5A5A5A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Oswald"/>
                <a:ea typeface="Oswald"/>
                <a:cs typeface="Oswald"/>
                <a:sym typeface="Oswald"/>
              </a:rPr>
              <a:t>Conclusion</a:t>
            </a:r>
            <a:endParaRPr sz="30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Launch of Oxyglobin by Biopure Corp immediately</a:t>
            </a:r>
            <a:endParaRPr sz="1700">
              <a:solidFill>
                <a:srgbClr val="5A5A5A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Pricing of Oxyglobin at </a:t>
            </a:r>
            <a:r>
              <a:rPr lang="en" sz="1700">
                <a:solidFill>
                  <a:srgbClr val="9900FF"/>
                </a:solidFill>
              </a:rPr>
              <a:t>$200</a:t>
            </a:r>
            <a:endParaRPr sz="1700">
              <a:solidFill>
                <a:srgbClr val="9900FF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Generated revenues expand the production capacity</a:t>
            </a:r>
            <a:endParaRPr sz="1700">
              <a:solidFill>
                <a:srgbClr val="5A5A5A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5A5A5A"/>
              </a:buClr>
              <a:buSzPts val="1700"/>
              <a:buChar char="●"/>
            </a:pPr>
            <a:r>
              <a:rPr lang="en" sz="1700">
                <a:solidFill>
                  <a:srgbClr val="5A5A5A"/>
                </a:solidFill>
              </a:rPr>
              <a:t>In case of Hemopure rejection, Oxyglobin will dominate the market</a:t>
            </a:r>
            <a:endParaRPr sz="17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