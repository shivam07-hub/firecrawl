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7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5" r:id="rId6"/>
    <p:sldId id="267" r:id="rId7"/>
    <p:sldId id="268" r:id="rId8"/>
    <p:sldId id="271" r:id="rId9"/>
    <p:sldId id="272" r:id="rId10"/>
    <p:sldId id="273" r:id="rId11"/>
    <p:sldId id="274" r:id="rId12"/>
    <p:sldId id="275" r:id="rId13"/>
    <p:sldId id="27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F9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>
        <c:manualLayout>
          <c:xMode val="edge"/>
          <c:yMode val="edge"/>
          <c:x val="0.22929605580160142"/>
          <c:y val="5.4020766092918553E-2"/>
        </c:manualLayout>
      </c:layout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Customers' perception of RIN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Fabric washer</c:v>
                </c:pt>
                <c:pt idx="1">
                  <c:v>Dishwasher</c:v>
                </c:pt>
                <c:pt idx="2">
                  <c:v>Both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0.15</c:v>
                </c:pt>
                <c:pt idx="1">
                  <c:v>0.65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53-4D45-924D-7C94ECEA8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12DEA4-B9E5-47FF-93E1-6FC929A3B638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4763D0-20CC-4CB9-AAF7-2C227FAE8A05}">
      <dgm:prSet phldrT="[Text]"/>
      <dgm:spPr/>
      <dgm:t>
        <a:bodyPr/>
        <a:lstStyle/>
        <a:p>
          <a:r>
            <a:rPr lang="en-IN" dirty="0"/>
            <a:t>1</a:t>
          </a:r>
        </a:p>
      </dgm:t>
    </dgm:pt>
    <dgm:pt modelId="{9DF800BB-B626-4AF6-9329-CDC36AAA28BD}" type="parTrans" cxnId="{02E509D2-9C2C-4D63-8098-C4E8FE5F0CAE}">
      <dgm:prSet/>
      <dgm:spPr/>
      <dgm:t>
        <a:bodyPr/>
        <a:lstStyle/>
        <a:p>
          <a:endParaRPr lang="en-IN"/>
        </a:p>
      </dgm:t>
    </dgm:pt>
    <dgm:pt modelId="{CAEAD2D2-C833-4FF0-91AE-269F69637780}" type="sibTrans" cxnId="{02E509D2-9C2C-4D63-8098-C4E8FE5F0CAE}">
      <dgm:prSet/>
      <dgm:spPr/>
      <dgm:t>
        <a:bodyPr/>
        <a:lstStyle/>
        <a:p>
          <a:endParaRPr lang="en-IN"/>
        </a:p>
      </dgm:t>
    </dgm:pt>
    <dgm:pt modelId="{5DCD4281-2878-4E17-9E7E-4551661C05F1}">
      <dgm:prSet phldrT="[Text]"/>
      <dgm:spPr/>
      <dgm:t>
        <a:bodyPr/>
        <a:lstStyle/>
        <a:p>
          <a:r>
            <a:rPr lang="en-IN" b="1" u="sng" dirty="0"/>
            <a:t>Fabric + Dish washer</a:t>
          </a:r>
        </a:p>
      </dgm:t>
    </dgm:pt>
    <dgm:pt modelId="{1E499CC6-9494-4979-AA38-403801127962}" type="parTrans" cxnId="{3CE753E5-85A0-40B6-994C-F1337075F7E5}">
      <dgm:prSet/>
      <dgm:spPr/>
      <dgm:t>
        <a:bodyPr/>
        <a:lstStyle/>
        <a:p>
          <a:endParaRPr lang="en-IN"/>
        </a:p>
      </dgm:t>
    </dgm:pt>
    <dgm:pt modelId="{836C7950-7BE5-4961-B8B4-C3BC3DE2F255}" type="sibTrans" cxnId="{3CE753E5-85A0-40B6-994C-F1337075F7E5}">
      <dgm:prSet/>
      <dgm:spPr/>
      <dgm:t>
        <a:bodyPr/>
        <a:lstStyle/>
        <a:p>
          <a:endParaRPr lang="en-IN"/>
        </a:p>
      </dgm:t>
    </dgm:pt>
    <dgm:pt modelId="{3E7953ED-125A-407F-8FE6-15D654328801}">
      <dgm:prSet phldrT="[Text]"/>
      <dgm:spPr/>
      <dgm:t>
        <a:bodyPr/>
        <a:lstStyle/>
        <a:p>
          <a:r>
            <a:rPr lang="en-IN" dirty="0"/>
            <a:t>Plant is already underutilized, 2-in-1 use might revamp sales scenario</a:t>
          </a:r>
        </a:p>
      </dgm:t>
    </dgm:pt>
    <dgm:pt modelId="{468CD793-C849-4F79-ABCB-A12B497044C9}" type="parTrans" cxnId="{DEA1302E-42F8-4E7B-B84F-55E0E01F5751}">
      <dgm:prSet/>
      <dgm:spPr/>
      <dgm:t>
        <a:bodyPr/>
        <a:lstStyle/>
        <a:p>
          <a:endParaRPr lang="en-IN"/>
        </a:p>
      </dgm:t>
    </dgm:pt>
    <dgm:pt modelId="{685710A9-D3C2-495C-B0ED-150655DCB41B}" type="sibTrans" cxnId="{DEA1302E-42F8-4E7B-B84F-55E0E01F5751}">
      <dgm:prSet/>
      <dgm:spPr/>
      <dgm:t>
        <a:bodyPr/>
        <a:lstStyle/>
        <a:p>
          <a:endParaRPr lang="en-IN"/>
        </a:p>
      </dgm:t>
    </dgm:pt>
    <dgm:pt modelId="{7B3CCB71-4875-4F49-BAF3-FCFADEB3C4A7}">
      <dgm:prSet phldrT="[Text]"/>
      <dgm:spPr/>
      <dgm:t>
        <a:bodyPr/>
        <a:lstStyle/>
        <a:p>
          <a:r>
            <a:rPr lang="en-IN" dirty="0"/>
            <a:t>2</a:t>
          </a:r>
        </a:p>
      </dgm:t>
    </dgm:pt>
    <dgm:pt modelId="{79818932-1304-4DDD-9013-1D6A59FC1BE2}" type="parTrans" cxnId="{CEBCD9AE-5C0A-4410-AE0D-B5A5E4A5BBF7}">
      <dgm:prSet/>
      <dgm:spPr/>
      <dgm:t>
        <a:bodyPr/>
        <a:lstStyle/>
        <a:p>
          <a:endParaRPr lang="en-IN"/>
        </a:p>
      </dgm:t>
    </dgm:pt>
    <dgm:pt modelId="{B4BF3B2E-510C-4822-8510-D981222FBF04}" type="sibTrans" cxnId="{CEBCD9AE-5C0A-4410-AE0D-B5A5E4A5BBF7}">
      <dgm:prSet/>
      <dgm:spPr/>
      <dgm:t>
        <a:bodyPr/>
        <a:lstStyle/>
        <a:p>
          <a:endParaRPr lang="en-IN"/>
        </a:p>
      </dgm:t>
    </dgm:pt>
    <dgm:pt modelId="{FE4F243E-C563-4F93-97BD-77242E0A5E46}">
      <dgm:prSet phldrT="[Text]"/>
      <dgm:spPr/>
      <dgm:t>
        <a:bodyPr/>
        <a:lstStyle/>
        <a:p>
          <a:r>
            <a:rPr lang="en-IN" b="1" u="sng" dirty="0"/>
            <a:t>Fabric washer only</a:t>
          </a:r>
        </a:p>
      </dgm:t>
    </dgm:pt>
    <dgm:pt modelId="{D2E61BB1-BFCA-476C-A156-BFFBE117190F}" type="parTrans" cxnId="{76AD3927-75BB-455C-90BE-A28EB0DD248E}">
      <dgm:prSet/>
      <dgm:spPr/>
      <dgm:t>
        <a:bodyPr/>
        <a:lstStyle/>
        <a:p>
          <a:endParaRPr lang="en-IN"/>
        </a:p>
      </dgm:t>
    </dgm:pt>
    <dgm:pt modelId="{ABFC18B3-BBE3-4D23-91D9-C683ABEC8043}" type="sibTrans" cxnId="{76AD3927-75BB-455C-90BE-A28EB0DD248E}">
      <dgm:prSet/>
      <dgm:spPr/>
      <dgm:t>
        <a:bodyPr/>
        <a:lstStyle/>
        <a:p>
          <a:endParaRPr lang="en-IN"/>
        </a:p>
      </dgm:t>
    </dgm:pt>
    <dgm:pt modelId="{D26696BE-7641-4BEF-8A8F-7DB7F20809B1}">
      <dgm:prSet phldrT="[Text]"/>
      <dgm:spPr/>
      <dgm:t>
        <a:bodyPr/>
        <a:lstStyle/>
        <a:p>
          <a:r>
            <a:rPr lang="en-IN" dirty="0"/>
            <a:t>3</a:t>
          </a:r>
        </a:p>
      </dgm:t>
    </dgm:pt>
    <dgm:pt modelId="{D7FE9070-D5D2-4A25-8197-73F93E60991D}" type="parTrans" cxnId="{6A5FEC74-0B7F-4197-AE44-E57AB5545A6A}">
      <dgm:prSet/>
      <dgm:spPr/>
      <dgm:t>
        <a:bodyPr/>
        <a:lstStyle/>
        <a:p>
          <a:endParaRPr lang="en-IN"/>
        </a:p>
      </dgm:t>
    </dgm:pt>
    <dgm:pt modelId="{479DDE8A-9987-45D8-B800-D288D986F7D8}" type="sibTrans" cxnId="{6A5FEC74-0B7F-4197-AE44-E57AB5545A6A}">
      <dgm:prSet/>
      <dgm:spPr/>
      <dgm:t>
        <a:bodyPr/>
        <a:lstStyle/>
        <a:p>
          <a:endParaRPr lang="en-IN"/>
        </a:p>
      </dgm:t>
    </dgm:pt>
    <dgm:pt modelId="{DB72230C-7839-4C44-9CF1-9D04A1048BB0}">
      <dgm:prSet phldrT="[Text]"/>
      <dgm:spPr/>
      <dgm:t>
        <a:bodyPr/>
        <a:lstStyle/>
        <a:p>
          <a:r>
            <a:rPr lang="en-IN" b="1" u="sng" dirty="0"/>
            <a:t>Dish washer only</a:t>
          </a:r>
        </a:p>
      </dgm:t>
    </dgm:pt>
    <dgm:pt modelId="{CD31BD35-A424-46F1-810C-4EAA4835CC08}" type="parTrans" cxnId="{1BE22B53-8098-415D-A8FB-676941976229}">
      <dgm:prSet/>
      <dgm:spPr/>
      <dgm:t>
        <a:bodyPr/>
        <a:lstStyle/>
        <a:p>
          <a:endParaRPr lang="en-IN"/>
        </a:p>
      </dgm:t>
    </dgm:pt>
    <dgm:pt modelId="{B54526A3-FF95-4C51-B34D-9B4E34069709}" type="sibTrans" cxnId="{1BE22B53-8098-415D-A8FB-676941976229}">
      <dgm:prSet/>
      <dgm:spPr/>
      <dgm:t>
        <a:bodyPr/>
        <a:lstStyle/>
        <a:p>
          <a:endParaRPr lang="en-IN"/>
        </a:p>
      </dgm:t>
    </dgm:pt>
    <dgm:pt modelId="{16D548D1-E40E-4967-AC23-A98D546C3A47}">
      <dgm:prSet phldrT="[Text]"/>
      <dgm:spPr/>
      <dgm:t>
        <a:bodyPr/>
        <a:lstStyle/>
        <a:p>
          <a:r>
            <a:rPr lang="en-IN" dirty="0"/>
            <a:t>Allows us to target entire customer base of Pakistan</a:t>
          </a:r>
        </a:p>
      </dgm:t>
    </dgm:pt>
    <dgm:pt modelId="{D04C472F-4D41-439B-B300-3D901563A97F}" type="parTrans" cxnId="{1FA3560C-AFB4-4F8C-836C-0F5BFE2EE153}">
      <dgm:prSet/>
      <dgm:spPr/>
      <dgm:t>
        <a:bodyPr/>
        <a:lstStyle/>
        <a:p>
          <a:endParaRPr lang="en-IN"/>
        </a:p>
      </dgm:t>
    </dgm:pt>
    <dgm:pt modelId="{04178F1E-564C-4E1E-B769-A491189E71D9}" type="sibTrans" cxnId="{1FA3560C-AFB4-4F8C-836C-0F5BFE2EE153}">
      <dgm:prSet/>
      <dgm:spPr/>
      <dgm:t>
        <a:bodyPr/>
        <a:lstStyle/>
        <a:p>
          <a:endParaRPr lang="en-IN"/>
        </a:p>
      </dgm:t>
    </dgm:pt>
    <dgm:pt modelId="{47996B59-3D0E-4D6F-ADF2-4BAB700176DF}">
      <dgm:prSet phldrT="[Text]"/>
      <dgm:spPr/>
      <dgm:t>
        <a:bodyPr/>
        <a:lstStyle/>
        <a:p>
          <a:r>
            <a:rPr lang="en-IN" dirty="0"/>
            <a:t>Also, positioning as a ‘fabric washer’ only hasn’t yielded desired results</a:t>
          </a:r>
        </a:p>
      </dgm:t>
    </dgm:pt>
    <dgm:pt modelId="{674A1CF6-222D-4A29-8F1B-A34CD0E001BF}" type="parTrans" cxnId="{AFBAB6D5-1A41-44BF-AAD5-4C5A8E6ADFCD}">
      <dgm:prSet/>
      <dgm:spPr/>
      <dgm:t>
        <a:bodyPr/>
        <a:lstStyle/>
        <a:p>
          <a:endParaRPr lang="en-IN"/>
        </a:p>
      </dgm:t>
    </dgm:pt>
    <dgm:pt modelId="{1988E098-6B15-4E72-8483-C97B16DAFC70}" type="sibTrans" cxnId="{AFBAB6D5-1A41-44BF-AAD5-4C5A8E6ADFCD}">
      <dgm:prSet/>
      <dgm:spPr/>
      <dgm:t>
        <a:bodyPr/>
        <a:lstStyle/>
        <a:p>
          <a:endParaRPr lang="en-IN"/>
        </a:p>
      </dgm:t>
    </dgm:pt>
    <dgm:pt modelId="{4DDBCFD6-F184-4043-8EC5-F4439D99CCBB}">
      <dgm:prSet phldrT="[Text]"/>
      <dgm:spPr/>
      <dgm:t>
        <a:bodyPr/>
        <a:lstStyle/>
        <a:p>
          <a:r>
            <a:rPr lang="en-IN" b="0" u="none" dirty="0"/>
            <a:t>Looks at only part of the entire market</a:t>
          </a:r>
        </a:p>
      </dgm:t>
    </dgm:pt>
    <dgm:pt modelId="{CB8A5CB6-EDCC-4625-9341-FAA874C11D5C}" type="parTrans" cxnId="{60F0138E-94A5-45B0-808E-CBCA1782FD4F}">
      <dgm:prSet/>
      <dgm:spPr/>
      <dgm:t>
        <a:bodyPr/>
        <a:lstStyle/>
        <a:p>
          <a:endParaRPr lang="en-GB"/>
        </a:p>
      </dgm:t>
    </dgm:pt>
    <dgm:pt modelId="{B446963B-CEC7-47A0-8897-F4F390ACE3F5}" type="sibTrans" cxnId="{60F0138E-94A5-45B0-808E-CBCA1782FD4F}">
      <dgm:prSet/>
      <dgm:spPr/>
      <dgm:t>
        <a:bodyPr/>
        <a:lstStyle/>
        <a:p>
          <a:endParaRPr lang="en-GB"/>
        </a:p>
      </dgm:t>
    </dgm:pt>
    <dgm:pt modelId="{5A00D115-EA90-40E3-969A-66B6757E43A7}">
      <dgm:prSet phldrT="[Text]"/>
      <dgm:spPr/>
      <dgm:t>
        <a:bodyPr/>
        <a:lstStyle/>
        <a:p>
          <a:r>
            <a:rPr lang="en-IN" b="0" u="none" dirty="0"/>
            <a:t>Changes in product promotion and features can yield desired outcome</a:t>
          </a:r>
        </a:p>
      </dgm:t>
    </dgm:pt>
    <dgm:pt modelId="{A33E4236-4144-4EAF-A648-42CB26B6720F}" type="parTrans" cxnId="{EB125D4C-CF0F-4826-8A6A-DFDBB9C228E3}">
      <dgm:prSet/>
      <dgm:spPr/>
      <dgm:t>
        <a:bodyPr/>
        <a:lstStyle/>
        <a:p>
          <a:endParaRPr lang="en-GB"/>
        </a:p>
      </dgm:t>
    </dgm:pt>
    <dgm:pt modelId="{4B0F4DC8-65DC-4FEF-95E6-D648DA243D88}" type="sibTrans" cxnId="{EB125D4C-CF0F-4826-8A6A-DFDBB9C228E3}">
      <dgm:prSet/>
      <dgm:spPr/>
      <dgm:t>
        <a:bodyPr/>
        <a:lstStyle/>
        <a:p>
          <a:endParaRPr lang="en-GB"/>
        </a:p>
      </dgm:t>
    </dgm:pt>
    <dgm:pt modelId="{D6BB9B70-779A-4407-956E-050F71DC884D}">
      <dgm:prSet phldrT="[Text]"/>
      <dgm:spPr/>
      <dgm:t>
        <a:bodyPr/>
        <a:lstStyle/>
        <a:p>
          <a:r>
            <a:rPr lang="en-IN" b="0" u="none" dirty="0"/>
            <a:t>Minimum cost implications</a:t>
          </a:r>
        </a:p>
      </dgm:t>
    </dgm:pt>
    <dgm:pt modelId="{57D2C52D-FECE-4F1C-B5DF-4F6E09574569}" type="parTrans" cxnId="{1480899B-12DC-4E1C-BAE3-4FCF0E9418EA}">
      <dgm:prSet/>
      <dgm:spPr/>
      <dgm:t>
        <a:bodyPr/>
        <a:lstStyle/>
        <a:p>
          <a:endParaRPr lang="en-GB"/>
        </a:p>
      </dgm:t>
    </dgm:pt>
    <dgm:pt modelId="{1FB1E975-2ED1-49E5-82BA-19C3079E009D}" type="sibTrans" cxnId="{1480899B-12DC-4E1C-BAE3-4FCF0E9418EA}">
      <dgm:prSet/>
      <dgm:spPr/>
      <dgm:t>
        <a:bodyPr/>
        <a:lstStyle/>
        <a:p>
          <a:endParaRPr lang="en-GB"/>
        </a:p>
      </dgm:t>
    </dgm:pt>
    <dgm:pt modelId="{D3B44A7A-CE4D-4DD9-B8F3-1553F808971C}">
      <dgm:prSet phldrT="[Text]"/>
      <dgm:spPr/>
      <dgm:t>
        <a:bodyPr/>
        <a:lstStyle/>
        <a:p>
          <a:r>
            <a:rPr lang="en-IN" b="0" u="none" dirty="0"/>
            <a:t>However, leaves the potential fabric washer market untouched</a:t>
          </a:r>
        </a:p>
      </dgm:t>
    </dgm:pt>
    <dgm:pt modelId="{89CA55F1-DDD4-4B5A-B83F-D9362C4D59C0}" type="parTrans" cxnId="{D4E85710-4414-4EFD-BDDD-BEF8D4747B2F}">
      <dgm:prSet/>
      <dgm:spPr/>
      <dgm:t>
        <a:bodyPr/>
        <a:lstStyle/>
        <a:p>
          <a:endParaRPr lang="en-GB"/>
        </a:p>
      </dgm:t>
    </dgm:pt>
    <dgm:pt modelId="{B883D0D0-3077-487F-9BB3-B7EB16248986}" type="sibTrans" cxnId="{D4E85710-4414-4EFD-BDDD-BEF8D4747B2F}">
      <dgm:prSet/>
      <dgm:spPr/>
      <dgm:t>
        <a:bodyPr/>
        <a:lstStyle/>
        <a:p>
          <a:endParaRPr lang="en-GB"/>
        </a:p>
      </dgm:t>
    </dgm:pt>
    <dgm:pt modelId="{A95A95B3-94F0-406B-9327-B17EFB03070C}">
      <dgm:prSet phldrT="[Text]"/>
      <dgm:spPr/>
      <dgm:t>
        <a:bodyPr/>
        <a:lstStyle/>
        <a:p>
          <a:r>
            <a:rPr lang="en-IN" b="0" u="none" dirty="0"/>
            <a:t>Demand of NSD bar in dish washer market is only 12% (slide 3)</a:t>
          </a:r>
        </a:p>
      </dgm:t>
    </dgm:pt>
    <dgm:pt modelId="{4DAF7D24-22B2-4E69-9092-DD71249F3A0D}" type="parTrans" cxnId="{29BC5F0B-AFD7-4456-919F-8A818405582A}">
      <dgm:prSet/>
      <dgm:spPr/>
      <dgm:t>
        <a:bodyPr/>
        <a:lstStyle/>
        <a:p>
          <a:endParaRPr lang="en-GB"/>
        </a:p>
      </dgm:t>
    </dgm:pt>
    <dgm:pt modelId="{6AFCB56A-8D8F-4253-B151-323D91289A1A}" type="sibTrans" cxnId="{29BC5F0B-AFD7-4456-919F-8A818405582A}">
      <dgm:prSet/>
      <dgm:spPr/>
      <dgm:t>
        <a:bodyPr/>
        <a:lstStyle/>
        <a:p>
          <a:endParaRPr lang="en-GB"/>
        </a:p>
      </dgm:t>
    </dgm:pt>
    <dgm:pt modelId="{6EADBAEB-0B58-4962-B061-34589497CD9C}" type="pres">
      <dgm:prSet presAssocID="{2E12DEA4-B9E5-47FF-93E1-6FC929A3B638}" presName="linearFlow" presStyleCnt="0">
        <dgm:presLayoutVars>
          <dgm:dir/>
          <dgm:animLvl val="lvl"/>
          <dgm:resizeHandles val="exact"/>
        </dgm:presLayoutVars>
      </dgm:prSet>
      <dgm:spPr/>
    </dgm:pt>
    <dgm:pt modelId="{9DD9BECC-1B21-4B3F-8759-8F5735112999}" type="pres">
      <dgm:prSet presAssocID="{964763D0-20CC-4CB9-AAF7-2C227FAE8A05}" presName="composite" presStyleCnt="0"/>
      <dgm:spPr/>
    </dgm:pt>
    <dgm:pt modelId="{7943CFD1-E697-46B5-A126-02365DA935F1}" type="pres">
      <dgm:prSet presAssocID="{964763D0-20CC-4CB9-AAF7-2C227FAE8A0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1DCFFDC-1EB0-40EB-BF0B-684EE18CDB4D}" type="pres">
      <dgm:prSet presAssocID="{964763D0-20CC-4CB9-AAF7-2C227FAE8A05}" presName="descendantText" presStyleLbl="alignAcc1" presStyleIdx="0" presStyleCnt="3">
        <dgm:presLayoutVars>
          <dgm:bulletEnabled val="1"/>
        </dgm:presLayoutVars>
      </dgm:prSet>
      <dgm:spPr/>
    </dgm:pt>
    <dgm:pt modelId="{265E5997-1070-4793-BF0A-F8713E7419E4}" type="pres">
      <dgm:prSet presAssocID="{CAEAD2D2-C833-4FF0-91AE-269F69637780}" presName="sp" presStyleCnt="0"/>
      <dgm:spPr/>
    </dgm:pt>
    <dgm:pt modelId="{6887A496-CD1A-4A11-B918-35C5EA1966DC}" type="pres">
      <dgm:prSet presAssocID="{7B3CCB71-4875-4F49-BAF3-FCFADEB3C4A7}" presName="composite" presStyleCnt="0"/>
      <dgm:spPr/>
    </dgm:pt>
    <dgm:pt modelId="{40A665A7-CBB0-4C99-ABF5-5B0DF373D113}" type="pres">
      <dgm:prSet presAssocID="{7B3CCB71-4875-4F49-BAF3-FCFADEB3C4A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A4569D4-B7D8-480E-990B-043187E217E7}" type="pres">
      <dgm:prSet presAssocID="{7B3CCB71-4875-4F49-BAF3-FCFADEB3C4A7}" presName="descendantText" presStyleLbl="alignAcc1" presStyleIdx="1" presStyleCnt="3">
        <dgm:presLayoutVars>
          <dgm:bulletEnabled val="1"/>
        </dgm:presLayoutVars>
      </dgm:prSet>
      <dgm:spPr/>
    </dgm:pt>
    <dgm:pt modelId="{FE5D0180-55EA-4B2F-994B-C290B41BFD2E}" type="pres">
      <dgm:prSet presAssocID="{B4BF3B2E-510C-4822-8510-D981222FBF04}" presName="sp" presStyleCnt="0"/>
      <dgm:spPr/>
    </dgm:pt>
    <dgm:pt modelId="{7FD19AF5-DA9A-473E-B60A-D8D891544198}" type="pres">
      <dgm:prSet presAssocID="{D26696BE-7641-4BEF-8A8F-7DB7F20809B1}" presName="composite" presStyleCnt="0"/>
      <dgm:spPr/>
    </dgm:pt>
    <dgm:pt modelId="{006A237B-1F41-4E9F-8D36-363C4E11EF9D}" type="pres">
      <dgm:prSet presAssocID="{D26696BE-7641-4BEF-8A8F-7DB7F20809B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DE813E4-D694-4726-8026-FD7C9718521C}" type="pres">
      <dgm:prSet presAssocID="{D26696BE-7641-4BEF-8A8F-7DB7F20809B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9BC5F0B-AFD7-4456-919F-8A818405582A}" srcId="{D26696BE-7641-4BEF-8A8F-7DB7F20809B1}" destId="{A95A95B3-94F0-406B-9327-B17EFB03070C}" srcOrd="3" destOrd="0" parTransId="{4DAF7D24-22B2-4E69-9092-DD71249F3A0D}" sibTransId="{6AFCB56A-8D8F-4253-B151-323D91289A1A}"/>
    <dgm:cxn modelId="{1FA3560C-AFB4-4F8C-836C-0F5BFE2EE153}" srcId="{964763D0-20CC-4CB9-AAF7-2C227FAE8A05}" destId="{16D548D1-E40E-4967-AC23-A98D546C3A47}" srcOrd="1" destOrd="0" parTransId="{D04C472F-4D41-439B-B300-3D901563A97F}" sibTransId="{04178F1E-564C-4E1E-B769-A491189E71D9}"/>
    <dgm:cxn modelId="{D4E85710-4414-4EFD-BDDD-BEF8D4747B2F}" srcId="{D26696BE-7641-4BEF-8A8F-7DB7F20809B1}" destId="{D3B44A7A-CE4D-4DD9-B8F3-1553F808971C}" srcOrd="2" destOrd="0" parTransId="{89CA55F1-DDD4-4B5A-B83F-D9362C4D59C0}" sibTransId="{B883D0D0-3077-487F-9BB3-B7EB16248986}"/>
    <dgm:cxn modelId="{A8A79726-3647-0C42-9EAB-389B49293143}" type="presOf" srcId="{4DDBCFD6-F184-4043-8EC5-F4439D99CCBB}" destId="{8A4569D4-B7D8-480E-990B-043187E217E7}" srcOrd="0" destOrd="1" presId="urn:microsoft.com/office/officeart/2005/8/layout/chevron2"/>
    <dgm:cxn modelId="{76AD3927-75BB-455C-90BE-A28EB0DD248E}" srcId="{7B3CCB71-4875-4F49-BAF3-FCFADEB3C4A7}" destId="{FE4F243E-C563-4F93-97BD-77242E0A5E46}" srcOrd="0" destOrd="0" parTransId="{D2E61BB1-BFCA-476C-A156-BFFBE117190F}" sibTransId="{ABFC18B3-BBE3-4D23-91D9-C683ABEC8043}"/>
    <dgm:cxn modelId="{C7BD8B29-20D8-6542-B601-3F5D61D82900}" type="presOf" srcId="{16D548D1-E40E-4967-AC23-A98D546C3A47}" destId="{01DCFFDC-1EB0-40EB-BF0B-684EE18CDB4D}" srcOrd="0" destOrd="1" presId="urn:microsoft.com/office/officeart/2005/8/layout/chevron2"/>
    <dgm:cxn modelId="{2EBF762C-2501-5648-A553-9C6FBFEFDC0F}" type="presOf" srcId="{D3B44A7A-CE4D-4DD9-B8F3-1553F808971C}" destId="{EDE813E4-D694-4726-8026-FD7C9718521C}" srcOrd="0" destOrd="2" presId="urn:microsoft.com/office/officeart/2005/8/layout/chevron2"/>
    <dgm:cxn modelId="{DEA1302E-42F8-4E7B-B84F-55E0E01F5751}" srcId="{964763D0-20CC-4CB9-AAF7-2C227FAE8A05}" destId="{3E7953ED-125A-407F-8FE6-15D654328801}" srcOrd="2" destOrd="0" parTransId="{468CD793-C849-4F79-ABCB-A12B497044C9}" sibTransId="{685710A9-D3C2-495C-B0ED-150655DCB41B}"/>
    <dgm:cxn modelId="{EB125D4C-CF0F-4826-8A6A-DFDBB9C228E3}" srcId="{7B3CCB71-4875-4F49-BAF3-FCFADEB3C4A7}" destId="{5A00D115-EA90-40E3-969A-66B6757E43A7}" srcOrd="2" destOrd="0" parTransId="{A33E4236-4144-4EAF-A648-42CB26B6720F}" sibTransId="{4B0F4DC8-65DC-4FEF-95E6-D648DA243D88}"/>
    <dgm:cxn modelId="{024CBE50-1BA8-0E47-A192-C169A9714D4C}" type="presOf" srcId="{964763D0-20CC-4CB9-AAF7-2C227FAE8A05}" destId="{7943CFD1-E697-46B5-A126-02365DA935F1}" srcOrd="0" destOrd="0" presId="urn:microsoft.com/office/officeart/2005/8/layout/chevron2"/>
    <dgm:cxn modelId="{1BE22B53-8098-415D-A8FB-676941976229}" srcId="{D26696BE-7641-4BEF-8A8F-7DB7F20809B1}" destId="{DB72230C-7839-4C44-9CF1-9D04A1048BB0}" srcOrd="0" destOrd="0" parTransId="{CD31BD35-A424-46F1-810C-4EAA4835CC08}" sibTransId="{B54526A3-FF95-4C51-B34D-9B4E34069709}"/>
    <dgm:cxn modelId="{6A5FEC74-0B7F-4197-AE44-E57AB5545A6A}" srcId="{2E12DEA4-B9E5-47FF-93E1-6FC929A3B638}" destId="{D26696BE-7641-4BEF-8A8F-7DB7F20809B1}" srcOrd="2" destOrd="0" parTransId="{D7FE9070-D5D2-4A25-8197-73F93E60991D}" sibTransId="{479DDE8A-9987-45D8-B800-D288D986F7D8}"/>
    <dgm:cxn modelId="{4B8DD475-D131-BE44-A642-EAE69DA9EEA6}" type="presOf" srcId="{D26696BE-7641-4BEF-8A8F-7DB7F20809B1}" destId="{006A237B-1F41-4E9F-8D36-363C4E11EF9D}" srcOrd="0" destOrd="0" presId="urn:microsoft.com/office/officeart/2005/8/layout/chevron2"/>
    <dgm:cxn modelId="{8D4A6079-62F6-E241-9905-02B46A14EB53}" type="presOf" srcId="{FE4F243E-C563-4F93-97BD-77242E0A5E46}" destId="{8A4569D4-B7D8-480E-990B-043187E217E7}" srcOrd="0" destOrd="0" presId="urn:microsoft.com/office/officeart/2005/8/layout/chevron2"/>
    <dgm:cxn modelId="{A6693C7B-7A05-9643-AF78-3F52AF2D2CEF}" type="presOf" srcId="{5DCD4281-2878-4E17-9E7E-4551661C05F1}" destId="{01DCFFDC-1EB0-40EB-BF0B-684EE18CDB4D}" srcOrd="0" destOrd="0" presId="urn:microsoft.com/office/officeart/2005/8/layout/chevron2"/>
    <dgm:cxn modelId="{BCAB3084-67AE-5C42-9E55-539E66D98330}" type="presOf" srcId="{2E12DEA4-B9E5-47FF-93E1-6FC929A3B638}" destId="{6EADBAEB-0B58-4962-B061-34589497CD9C}" srcOrd="0" destOrd="0" presId="urn:microsoft.com/office/officeart/2005/8/layout/chevron2"/>
    <dgm:cxn modelId="{C3D82E85-B459-4C4F-A5C4-821D4B3BB7A7}" type="presOf" srcId="{A95A95B3-94F0-406B-9327-B17EFB03070C}" destId="{EDE813E4-D694-4726-8026-FD7C9718521C}" srcOrd="0" destOrd="3" presId="urn:microsoft.com/office/officeart/2005/8/layout/chevron2"/>
    <dgm:cxn modelId="{F3173B8B-954E-7D4F-840F-2FFCE0E3871D}" type="presOf" srcId="{D6BB9B70-779A-4407-956E-050F71DC884D}" destId="{EDE813E4-D694-4726-8026-FD7C9718521C}" srcOrd="0" destOrd="1" presId="urn:microsoft.com/office/officeart/2005/8/layout/chevron2"/>
    <dgm:cxn modelId="{60F0138E-94A5-45B0-808E-CBCA1782FD4F}" srcId="{7B3CCB71-4875-4F49-BAF3-FCFADEB3C4A7}" destId="{4DDBCFD6-F184-4043-8EC5-F4439D99CCBB}" srcOrd="1" destOrd="0" parTransId="{CB8A5CB6-EDCC-4625-9341-FAA874C11D5C}" sibTransId="{B446963B-CEC7-47A0-8897-F4F390ACE3F5}"/>
    <dgm:cxn modelId="{1480899B-12DC-4E1C-BAE3-4FCF0E9418EA}" srcId="{D26696BE-7641-4BEF-8A8F-7DB7F20809B1}" destId="{D6BB9B70-779A-4407-956E-050F71DC884D}" srcOrd="1" destOrd="0" parTransId="{57D2C52D-FECE-4F1C-B5DF-4F6E09574569}" sibTransId="{1FB1E975-2ED1-49E5-82BA-19C3079E009D}"/>
    <dgm:cxn modelId="{6D6736AA-ADA7-6A4D-83C0-D116D49D2FF1}" type="presOf" srcId="{DB72230C-7839-4C44-9CF1-9D04A1048BB0}" destId="{EDE813E4-D694-4726-8026-FD7C9718521C}" srcOrd="0" destOrd="0" presId="urn:microsoft.com/office/officeart/2005/8/layout/chevron2"/>
    <dgm:cxn modelId="{76988DAE-7392-BF41-A3C7-DA651D917365}" type="presOf" srcId="{5A00D115-EA90-40E3-969A-66B6757E43A7}" destId="{8A4569D4-B7D8-480E-990B-043187E217E7}" srcOrd="0" destOrd="2" presId="urn:microsoft.com/office/officeart/2005/8/layout/chevron2"/>
    <dgm:cxn modelId="{CEBCD9AE-5C0A-4410-AE0D-B5A5E4A5BBF7}" srcId="{2E12DEA4-B9E5-47FF-93E1-6FC929A3B638}" destId="{7B3CCB71-4875-4F49-BAF3-FCFADEB3C4A7}" srcOrd="1" destOrd="0" parTransId="{79818932-1304-4DDD-9013-1D6A59FC1BE2}" sibTransId="{B4BF3B2E-510C-4822-8510-D981222FBF04}"/>
    <dgm:cxn modelId="{02E509D2-9C2C-4D63-8098-C4E8FE5F0CAE}" srcId="{2E12DEA4-B9E5-47FF-93E1-6FC929A3B638}" destId="{964763D0-20CC-4CB9-AAF7-2C227FAE8A05}" srcOrd="0" destOrd="0" parTransId="{9DF800BB-B626-4AF6-9329-CDC36AAA28BD}" sibTransId="{CAEAD2D2-C833-4FF0-91AE-269F69637780}"/>
    <dgm:cxn modelId="{AFBAB6D5-1A41-44BF-AAD5-4C5A8E6ADFCD}" srcId="{964763D0-20CC-4CB9-AAF7-2C227FAE8A05}" destId="{47996B59-3D0E-4D6F-ADF2-4BAB700176DF}" srcOrd="3" destOrd="0" parTransId="{674A1CF6-222D-4A29-8F1B-A34CD0E001BF}" sibTransId="{1988E098-6B15-4E72-8483-C97B16DAFC70}"/>
    <dgm:cxn modelId="{3CE753E5-85A0-40B6-994C-F1337075F7E5}" srcId="{964763D0-20CC-4CB9-AAF7-2C227FAE8A05}" destId="{5DCD4281-2878-4E17-9E7E-4551661C05F1}" srcOrd="0" destOrd="0" parTransId="{1E499CC6-9494-4979-AA38-403801127962}" sibTransId="{836C7950-7BE5-4961-B8B4-C3BC3DE2F255}"/>
    <dgm:cxn modelId="{5713DFE9-BE22-EF40-BD44-8A12931EE1C7}" type="presOf" srcId="{3E7953ED-125A-407F-8FE6-15D654328801}" destId="{01DCFFDC-1EB0-40EB-BF0B-684EE18CDB4D}" srcOrd="0" destOrd="2" presId="urn:microsoft.com/office/officeart/2005/8/layout/chevron2"/>
    <dgm:cxn modelId="{8B13BCEF-74EA-FD43-9E60-100230B88C47}" type="presOf" srcId="{7B3CCB71-4875-4F49-BAF3-FCFADEB3C4A7}" destId="{40A665A7-CBB0-4C99-ABF5-5B0DF373D113}" srcOrd="0" destOrd="0" presId="urn:microsoft.com/office/officeart/2005/8/layout/chevron2"/>
    <dgm:cxn modelId="{C7C656F7-1BC4-CC4B-9729-A707D8A93428}" type="presOf" srcId="{47996B59-3D0E-4D6F-ADF2-4BAB700176DF}" destId="{01DCFFDC-1EB0-40EB-BF0B-684EE18CDB4D}" srcOrd="0" destOrd="3" presId="urn:microsoft.com/office/officeart/2005/8/layout/chevron2"/>
    <dgm:cxn modelId="{8DFEB4B4-A8E4-CD4D-898F-96781144B214}" type="presParOf" srcId="{6EADBAEB-0B58-4962-B061-34589497CD9C}" destId="{9DD9BECC-1B21-4B3F-8759-8F5735112999}" srcOrd="0" destOrd="0" presId="urn:microsoft.com/office/officeart/2005/8/layout/chevron2"/>
    <dgm:cxn modelId="{725CCA8C-49E9-E644-ABDE-3E26D97B74F7}" type="presParOf" srcId="{9DD9BECC-1B21-4B3F-8759-8F5735112999}" destId="{7943CFD1-E697-46B5-A126-02365DA935F1}" srcOrd="0" destOrd="0" presId="urn:microsoft.com/office/officeart/2005/8/layout/chevron2"/>
    <dgm:cxn modelId="{3F7CB2C0-43AE-FD4B-9522-195F87C13180}" type="presParOf" srcId="{9DD9BECC-1B21-4B3F-8759-8F5735112999}" destId="{01DCFFDC-1EB0-40EB-BF0B-684EE18CDB4D}" srcOrd="1" destOrd="0" presId="urn:microsoft.com/office/officeart/2005/8/layout/chevron2"/>
    <dgm:cxn modelId="{1881BBF1-5FB2-EB4A-B608-9339ADD70679}" type="presParOf" srcId="{6EADBAEB-0B58-4962-B061-34589497CD9C}" destId="{265E5997-1070-4793-BF0A-F8713E7419E4}" srcOrd="1" destOrd="0" presId="urn:microsoft.com/office/officeart/2005/8/layout/chevron2"/>
    <dgm:cxn modelId="{EFFCFF58-BEB7-BF48-BA26-FADA6125AD52}" type="presParOf" srcId="{6EADBAEB-0B58-4962-B061-34589497CD9C}" destId="{6887A496-CD1A-4A11-B918-35C5EA1966DC}" srcOrd="2" destOrd="0" presId="urn:microsoft.com/office/officeart/2005/8/layout/chevron2"/>
    <dgm:cxn modelId="{F64F3F4B-ADD9-2842-9590-B8151B69F90C}" type="presParOf" srcId="{6887A496-CD1A-4A11-B918-35C5EA1966DC}" destId="{40A665A7-CBB0-4C99-ABF5-5B0DF373D113}" srcOrd="0" destOrd="0" presId="urn:microsoft.com/office/officeart/2005/8/layout/chevron2"/>
    <dgm:cxn modelId="{C4CE7EF1-1170-C647-975B-7912365703B6}" type="presParOf" srcId="{6887A496-CD1A-4A11-B918-35C5EA1966DC}" destId="{8A4569D4-B7D8-480E-990B-043187E217E7}" srcOrd="1" destOrd="0" presId="urn:microsoft.com/office/officeart/2005/8/layout/chevron2"/>
    <dgm:cxn modelId="{C5A19791-75B9-BA4B-8C2F-0AE34FB7940F}" type="presParOf" srcId="{6EADBAEB-0B58-4962-B061-34589497CD9C}" destId="{FE5D0180-55EA-4B2F-994B-C290B41BFD2E}" srcOrd="3" destOrd="0" presId="urn:microsoft.com/office/officeart/2005/8/layout/chevron2"/>
    <dgm:cxn modelId="{11C7295A-D0D4-294D-A36D-024C7E5D265A}" type="presParOf" srcId="{6EADBAEB-0B58-4962-B061-34589497CD9C}" destId="{7FD19AF5-DA9A-473E-B60A-D8D891544198}" srcOrd="4" destOrd="0" presId="urn:microsoft.com/office/officeart/2005/8/layout/chevron2"/>
    <dgm:cxn modelId="{BFCB0EED-561F-2841-8BE7-E1FF48C1AD1B}" type="presParOf" srcId="{7FD19AF5-DA9A-473E-B60A-D8D891544198}" destId="{006A237B-1F41-4E9F-8D36-363C4E11EF9D}" srcOrd="0" destOrd="0" presId="urn:microsoft.com/office/officeart/2005/8/layout/chevron2"/>
    <dgm:cxn modelId="{0100641E-63B8-4647-B7C7-34C222C7DBA9}" type="presParOf" srcId="{7FD19AF5-DA9A-473E-B60A-D8D891544198}" destId="{EDE813E4-D694-4726-8026-FD7C971852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3CFD1-E697-46B5-A126-02365DA935F1}">
      <dsp:nvSpPr>
        <dsp:cNvPr id="0" name=""/>
        <dsp:cNvSpPr/>
      </dsp:nvSpPr>
      <dsp:spPr>
        <a:xfrm rot="5400000">
          <a:off x="-267430" y="269263"/>
          <a:ext cx="1782872" cy="12480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1</a:t>
          </a:r>
        </a:p>
      </dsp:txBody>
      <dsp:txXfrm rot="-5400000">
        <a:off x="1" y="625837"/>
        <a:ext cx="1248010" cy="534862"/>
      </dsp:txXfrm>
    </dsp:sp>
    <dsp:sp modelId="{01DCFFDC-1EB0-40EB-BF0B-684EE18CDB4D}">
      <dsp:nvSpPr>
        <dsp:cNvPr id="0" name=""/>
        <dsp:cNvSpPr/>
      </dsp:nvSpPr>
      <dsp:spPr>
        <a:xfrm rot="5400000">
          <a:off x="4916597" y="-3666754"/>
          <a:ext cx="1158866" cy="84960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u="sng" kern="1200" dirty="0"/>
            <a:t>Fabric + Dish washer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Allows us to target entire customer base of Pakistan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Plant is already underutilized, 2-in-1 use might revamp sales scenario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Also, positioning as a ‘fabric washer’ only hasn’t yielded desired results</a:t>
          </a:r>
        </a:p>
      </dsp:txBody>
      <dsp:txXfrm rot="-5400000">
        <a:off x="1248010" y="58404"/>
        <a:ext cx="8439470" cy="1045724"/>
      </dsp:txXfrm>
    </dsp:sp>
    <dsp:sp modelId="{40A665A7-CBB0-4C99-ABF5-5B0DF373D113}">
      <dsp:nvSpPr>
        <dsp:cNvPr id="0" name=""/>
        <dsp:cNvSpPr/>
      </dsp:nvSpPr>
      <dsp:spPr>
        <a:xfrm rot="5400000">
          <a:off x="-267430" y="1859887"/>
          <a:ext cx="1782872" cy="12480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2</a:t>
          </a:r>
        </a:p>
      </dsp:txBody>
      <dsp:txXfrm rot="-5400000">
        <a:off x="1" y="2216461"/>
        <a:ext cx="1248010" cy="534862"/>
      </dsp:txXfrm>
    </dsp:sp>
    <dsp:sp modelId="{8A4569D4-B7D8-480E-990B-043187E217E7}">
      <dsp:nvSpPr>
        <dsp:cNvPr id="0" name=""/>
        <dsp:cNvSpPr/>
      </dsp:nvSpPr>
      <dsp:spPr>
        <a:xfrm rot="5400000">
          <a:off x="4916597" y="-2076130"/>
          <a:ext cx="1158866" cy="84960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u="sng" kern="1200" dirty="0"/>
            <a:t>Fabric washer only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u="none" kern="1200" dirty="0"/>
            <a:t>Looks at only part of the entire market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u="none" kern="1200" dirty="0"/>
            <a:t>Changes in product promotion and features can yield desired outcome</a:t>
          </a:r>
        </a:p>
      </dsp:txBody>
      <dsp:txXfrm rot="-5400000">
        <a:off x="1248010" y="1649028"/>
        <a:ext cx="8439470" cy="1045724"/>
      </dsp:txXfrm>
    </dsp:sp>
    <dsp:sp modelId="{006A237B-1F41-4E9F-8D36-363C4E11EF9D}">
      <dsp:nvSpPr>
        <dsp:cNvPr id="0" name=""/>
        <dsp:cNvSpPr/>
      </dsp:nvSpPr>
      <dsp:spPr>
        <a:xfrm rot="5400000">
          <a:off x="-267430" y="3450510"/>
          <a:ext cx="1782872" cy="12480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3</a:t>
          </a:r>
        </a:p>
      </dsp:txBody>
      <dsp:txXfrm rot="-5400000">
        <a:off x="1" y="3807084"/>
        <a:ext cx="1248010" cy="534862"/>
      </dsp:txXfrm>
    </dsp:sp>
    <dsp:sp modelId="{EDE813E4-D694-4726-8026-FD7C9718521C}">
      <dsp:nvSpPr>
        <dsp:cNvPr id="0" name=""/>
        <dsp:cNvSpPr/>
      </dsp:nvSpPr>
      <dsp:spPr>
        <a:xfrm rot="5400000">
          <a:off x="4916597" y="-485507"/>
          <a:ext cx="1158866" cy="84960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u="sng" kern="1200" dirty="0"/>
            <a:t>Dish washer only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u="none" kern="1200" dirty="0"/>
            <a:t>Minimum cost implications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u="none" kern="1200" dirty="0"/>
            <a:t>However, leaves the potential fabric washer market untouched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u="none" kern="1200" dirty="0"/>
            <a:t>Demand of NSD bar in dish washer market is only 12% (slide 3)</a:t>
          </a:r>
        </a:p>
      </dsp:txBody>
      <dsp:txXfrm rot="-5400000">
        <a:off x="1248010" y="3239651"/>
        <a:ext cx="8439470" cy="1045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B6D39-8269-4DE5-B61B-42E526894626}" type="datetimeFigureOut">
              <a:rPr lang="en-IN" smtClean="0"/>
              <a:pPr/>
              <a:t>01/08/22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2E9D0-4A84-4C06-A288-F75C1CEA836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89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9D5A-C03E-4712-B701-5AD2EEA31468}" type="datetime1">
              <a:rPr lang="en-US" smtClean="0"/>
              <a:t>8/1/22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77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37E-01DF-447C-BD68-D7F62D8DFCD0}" type="datetime1">
              <a:rPr lang="en-US" smtClean="0"/>
              <a:t>8/1/22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5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068B-0C7F-401A-96DD-87EE5876584F}" type="datetime1">
              <a:rPr lang="en-US" smtClean="0"/>
              <a:t>8/1/22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7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B2FF9-B9FC-4C53-9CA8-57EFC51688BD}" type="datetime1">
              <a:rPr lang="en-US" smtClean="0"/>
              <a:t>8/1/22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8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049E-D1ED-4956-90DB-BA02996A4F5F}" type="datetime1">
              <a:rPr lang="en-US" smtClean="0"/>
              <a:t>8/1/22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024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7BCE-595C-417C-B6B2-9CD464027F4F}" type="datetime1">
              <a:rPr lang="en-US" smtClean="0"/>
              <a:t>8/1/22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7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E414B-D6F7-424C-B2DE-B5601961AE6C}" type="datetime1">
              <a:rPr lang="en-US" smtClean="0"/>
              <a:t>8/1/22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1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CDB0-12A4-43A7-8B43-EAAC9B1304E4}" type="datetime1">
              <a:rPr lang="en-US" smtClean="0"/>
              <a:t>8/1/22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59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6E53DFE-5C16-4B6B-A921-8EAA0F35FD3C}" type="datetime1">
              <a:rPr lang="en-US" smtClean="0"/>
              <a:t>8/1/22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6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385A-EE8E-4FA9-932F-589792C777EB}" type="datetime1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9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B119-CC82-4EB0-97FA-A0AD8B73BC78}" type="datetime1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9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59E049E-D1ED-4956-90DB-BA02996A4F5F}" type="datetime1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E0E5A7-C929-4EEF-9A00-C9BDF179F8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943" y="2490283"/>
            <a:ext cx="6411685" cy="1877437"/>
          </a:xfrm>
        </p:spPr>
        <p:txBody>
          <a:bodyPr>
            <a:normAutofit/>
          </a:bodyPr>
          <a:lstStyle/>
          <a:p>
            <a:r>
              <a:rPr lang="en-US" sz="3500" b="1" dirty="0"/>
              <a:t>RIN Detergent</a:t>
            </a:r>
            <a:br>
              <a:rPr lang="en-US" sz="3500" dirty="0"/>
            </a:br>
            <a:r>
              <a:rPr lang="en-US" sz="2800" dirty="0"/>
              <a:t>To position or reposition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65040EF-32B8-46F3-823C-6BA3A49A7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9873" y="1382487"/>
            <a:ext cx="3657119" cy="4463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By: Group 5</a:t>
            </a:r>
          </a:p>
          <a:p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57D0D-0F44-0B47-D177-4C8BDFFF59FE}"/>
              </a:ext>
            </a:extLst>
          </p:cNvPr>
          <p:cNvSpPr txBox="1"/>
          <p:nvPr/>
        </p:nvSpPr>
        <p:spPr>
          <a:xfrm>
            <a:off x="8654143" y="1763487"/>
            <a:ext cx="287450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Gauri Jain PGP38190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Vaibhav Sharma PGP38191</a:t>
            </a:r>
          </a:p>
          <a:p>
            <a:r>
              <a:rPr lang="en-US" dirty="0" err="1">
                <a:solidFill>
                  <a:schemeClr val="bg1"/>
                </a:solidFill>
              </a:rPr>
              <a:t>Rutuja</a:t>
            </a:r>
            <a:r>
              <a:rPr lang="en-US" dirty="0">
                <a:solidFill>
                  <a:schemeClr val="bg1"/>
                </a:solidFill>
              </a:rPr>
              <a:t> Patil PGP38194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Shashank </a:t>
            </a:r>
            <a:r>
              <a:rPr lang="en-US" dirty="0" err="1">
                <a:solidFill>
                  <a:schemeClr val="bg1"/>
                </a:solidFill>
              </a:rPr>
              <a:t>Lipate</a:t>
            </a:r>
            <a:r>
              <a:rPr lang="en-US" dirty="0">
                <a:solidFill>
                  <a:schemeClr val="bg1"/>
                </a:solidFill>
              </a:rPr>
              <a:t> PGP38204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Shatakshi</a:t>
            </a:r>
            <a:r>
              <a:rPr lang="en-US" dirty="0">
                <a:solidFill>
                  <a:schemeClr val="bg1"/>
                </a:solidFill>
              </a:rPr>
              <a:t> Singh PGP38205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Shazad</a:t>
            </a:r>
            <a:r>
              <a:rPr lang="en-US" dirty="0">
                <a:solidFill>
                  <a:schemeClr val="bg1"/>
                </a:solidFill>
              </a:rPr>
              <a:t> Shroff PGP38206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Prem Shinde PGP38207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Shristi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Luhariwala</a:t>
            </a:r>
            <a:r>
              <a:rPr lang="en-US" dirty="0">
                <a:solidFill>
                  <a:schemeClr val="bg1"/>
                </a:solidFill>
              </a:rPr>
              <a:t> PGP38208</a:t>
            </a:r>
          </a:p>
        </p:txBody>
      </p:sp>
    </p:spTree>
    <p:extLst>
      <p:ext uri="{BB962C8B-B14F-4D97-AF65-F5344CB8AC3E}">
        <p14:creationId xmlns:p14="http://schemas.microsoft.com/office/powerpoint/2010/main" val="180438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Company 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Level Brothers Pakistan Limited (Levers), a subsidiary of Level Brothers International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Produced and marketed consumer products in Pakistan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Product line consisted of shampoos, skin and shaving creams, edible oils, margarine, toilet soaps, scourers and laundry detergents (powder &amp; bar)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1988, Levers had Rs. 277 million of profit before tax on sales of Rs. 3.65 billion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8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8">
            <a:extLst>
              <a:ext uri="{FF2B5EF4-FFF2-40B4-BE49-F238E27FC236}">
                <a16:creationId xmlns:a16="http://schemas.microsoft.com/office/drawing/2014/main" id="{7A816DFB-8B0F-47B3-BC12-7B9F59B4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8703"/>
            <a:ext cx="4823364" cy="30425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>
                <a:solidFill>
                  <a:srgbClr val="FFFFFF"/>
                </a:solidFill>
              </a:rPr>
              <a:t>In 1988, Total fabric washers’ sales of 263,050 tonnes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>
                <a:solidFill>
                  <a:srgbClr val="FFFFFF"/>
                </a:solidFill>
              </a:rPr>
              <a:t>Surf and Sunlight, 2 NSD powder products of Levers covered 50% of the NSD powder market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>
                <a:solidFill>
                  <a:srgbClr val="FFFFFF"/>
                </a:solidFill>
              </a:rPr>
              <a:t>Lever had no entry in laundry soap segment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>
                <a:solidFill>
                  <a:srgbClr val="FFFFFF"/>
                </a:solidFill>
              </a:rPr>
              <a:t>Total dishwash sales of 60,000 tonnes, 88% hard soaps and 12% bars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>
                <a:solidFill>
                  <a:srgbClr val="FFFFFF"/>
                </a:solidFill>
              </a:rPr>
              <a:t>No product of Levers in dish washing market currently</a:t>
            </a: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E87D435C-84AC-4E27-9CD3-0AAAF73E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EFA4C881-BF60-416C-A273-70541298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7586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4763"/>
              </p:ext>
            </p:extLst>
          </p:nvPr>
        </p:nvGraphicFramePr>
        <p:xfrm>
          <a:off x="7064692" y="1843088"/>
          <a:ext cx="4159569" cy="3435543"/>
        </p:xfrm>
        <a:graphic>
          <a:graphicData uri="http://schemas.openxmlformats.org/drawingml/2006/table">
            <a:tbl>
              <a:tblPr firstRow="1" bandRow="1">
                <a:noFill/>
                <a:tableStyleId>{21E4AEA4-8DFA-4A89-87EB-49C32662AFE0}</a:tableStyleId>
              </a:tblPr>
              <a:tblGrid>
                <a:gridCol w="971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3592">
                <a:tc>
                  <a:txBody>
                    <a:bodyPr/>
                    <a:lstStyle/>
                    <a:p>
                      <a:pPr algn="ctr"/>
                      <a:r>
                        <a:rPr lang="en-IN" sz="900" b="1" cap="all" spc="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Product type</a:t>
                      </a:r>
                    </a:p>
                  </a:txBody>
                  <a:tcPr marL="102407" marR="76805" marT="51203" marB="512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cap="all" spc="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Quantity (tonnes)</a:t>
                      </a:r>
                      <a:r>
                        <a:rPr lang="en-IN" sz="900" b="1" cap="all" spc="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endParaRPr lang="en-IN" sz="900" b="1" cap="all" spc="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2407" marR="76805" marT="51203" marB="512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cap="all" spc="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% Market Share</a:t>
                      </a:r>
                    </a:p>
                  </a:txBody>
                  <a:tcPr marL="102407" marR="76805" marT="51203" marB="512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cap="all" spc="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 Growth from 1987-88</a:t>
                      </a:r>
                    </a:p>
                  </a:txBody>
                  <a:tcPr marL="102407" marR="76805" marT="51203" marB="512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693"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Laundry soap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247,000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93.9%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693"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NSD powder</a:t>
                      </a:r>
                      <a:r>
                        <a:rPr lang="en-IN" sz="1600" cap="none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endParaRPr lang="en-IN" sz="16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14,500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5.5%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693"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NSD bars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1,550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0.6%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29%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693">
                <a:tc>
                  <a:txBody>
                    <a:bodyPr/>
                    <a:lstStyle/>
                    <a:p>
                      <a:pPr algn="ctr"/>
                      <a:r>
                        <a:rPr lang="en-IN" sz="16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263,050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100%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2407" marR="76805" marT="51203" marB="512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539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107" y="1473958"/>
            <a:ext cx="9416505" cy="443726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Introduced in 1984, as solid blue NSD bar, priced at Rs 2.95/pack size of 130g</a:t>
            </a:r>
          </a:p>
          <a:p>
            <a:r>
              <a:rPr lang="en-IN" dirty="0"/>
              <a:t>Rs 5.7 million spent on introductory advertising and promotion</a:t>
            </a:r>
          </a:p>
          <a:p>
            <a:r>
              <a:rPr lang="en-IN" dirty="0"/>
              <a:t>Advertised as “</a:t>
            </a:r>
            <a:r>
              <a:rPr lang="en-IN" dirty="0">
                <a:solidFill>
                  <a:srgbClr val="0070C0"/>
                </a:solidFill>
              </a:rPr>
              <a:t>A little amount of RIN washes a large lot of clothes</a:t>
            </a:r>
            <a:r>
              <a:rPr lang="en-IN" dirty="0"/>
              <a:t>”</a:t>
            </a:r>
          </a:p>
          <a:p>
            <a:r>
              <a:rPr lang="en-IN" dirty="0"/>
              <a:t>Several price-off campaigns were launched in 1984 and 1985, like price off campaign, newspaper coupons </a:t>
            </a:r>
            <a:r>
              <a:rPr lang="en-IN" dirty="0" err="1"/>
              <a:t>etc.Multiple</a:t>
            </a:r>
            <a:r>
              <a:rPr lang="en-IN" dirty="0"/>
              <a:t> promotional events organized across major cities of Pakistan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kern="0" dirty="0">
                <a:solidFill>
                  <a:srgbClr val="000000"/>
                </a:solidFill>
                <a:cs typeface="Arial"/>
                <a:sym typeface="Arial"/>
              </a:rPr>
              <a:t>A new media campaign was launched with a well known movie star; RIN endorsed as superior fabric washing product than laundry soaps</a:t>
            </a:r>
          </a:p>
          <a:p>
            <a:r>
              <a:rPr lang="en-IN" kern="0" dirty="0">
                <a:solidFill>
                  <a:srgbClr val="000000"/>
                </a:solidFill>
                <a:cs typeface="Arial"/>
                <a:sym typeface="Arial"/>
              </a:rPr>
              <a:t>Re-launch was successful, sales &gt; 1,000 tonnes in 1987</a:t>
            </a:r>
          </a:p>
          <a:p>
            <a:endParaRPr lang="en-IN" kern="0" dirty="0">
              <a:solidFill>
                <a:srgbClr val="000000"/>
              </a:solidFill>
              <a:cs typeface="Arial"/>
              <a:sym typeface="Arial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275368"/>
              </p:ext>
            </p:extLst>
          </p:nvPr>
        </p:nvGraphicFramePr>
        <p:xfrm>
          <a:off x="2219112" y="3092818"/>
          <a:ext cx="9023630" cy="15335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4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8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0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Target Sales Volume(Tonnes)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Actual Sales Volume(Tonnes)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2238084" y="528576"/>
            <a:ext cx="8911687" cy="8634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RIN over the years 									 </a:t>
            </a:r>
          </a:p>
        </p:txBody>
      </p:sp>
    </p:spTree>
    <p:extLst>
      <p:ext uri="{BB962C8B-B14F-4D97-AF65-F5344CB8AC3E}">
        <p14:creationId xmlns:p14="http://schemas.microsoft.com/office/powerpoint/2010/main" val="150185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Dilemma – Dish or Fabric washer?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03244" y="2638044"/>
            <a:ext cx="3063765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People could not relate to RIN as a fabric washer because</a:t>
            </a:r>
          </a:p>
          <a:p>
            <a:pPr marL="800100" lvl="1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First dishwashing bar  in Pakistan was blue in colour</a:t>
            </a:r>
          </a:p>
          <a:p>
            <a:pPr marL="800100" lvl="1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Incorrect shelving of RIN by retailers</a:t>
            </a:r>
          </a:p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Laundry soaps in Pakistan were either unwrapped, yellow or white </a:t>
            </a:r>
          </a:p>
          <a:p>
            <a:pPr marL="342900" lv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marR="0" lvl="0" indent="-22860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6A8C2-8B3A-4AD3-AFCC-F1D3F1F02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64937-39B5-4AB3-A2EF-EA689BA60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906502"/>
              </p:ext>
            </p:extLst>
          </p:nvPr>
        </p:nvGraphicFramePr>
        <p:xfrm>
          <a:off x="4823366" y="1293275"/>
          <a:ext cx="6227064" cy="427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566F98-8352-4542-3B7D-88DF9FF6FF3D}"/>
              </a:ext>
            </a:extLst>
          </p:cNvPr>
          <p:cNvSpPr/>
          <p:nvPr/>
        </p:nvSpPr>
        <p:spPr>
          <a:xfrm>
            <a:off x="2107936" y="4465576"/>
            <a:ext cx="2188177" cy="78980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ounded Rectangle 2"/>
          <p:cNvSpPr/>
          <p:nvPr/>
        </p:nvSpPr>
        <p:spPr>
          <a:xfrm>
            <a:off x="3957851" y="627797"/>
            <a:ext cx="4503761" cy="24565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230807" y="1160060"/>
            <a:ext cx="39169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Alternatives for RIN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0424" y="3184329"/>
            <a:ext cx="477672" cy="1419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965805">
            <a:off x="3520898" y="3029859"/>
            <a:ext cx="477672" cy="1419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wn Arrow 8"/>
          <p:cNvSpPr/>
          <p:nvPr/>
        </p:nvSpPr>
        <p:spPr>
          <a:xfrm rot="19365567">
            <a:off x="8386183" y="3009603"/>
            <a:ext cx="477672" cy="1419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8392191" y="4397139"/>
            <a:ext cx="2188177" cy="78980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2048788" y="4675813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Fabric &amp; Dish washer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2191" y="4603696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Dishwasher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5187BE-37BF-B410-E341-18A229856F4C}"/>
              </a:ext>
            </a:extLst>
          </p:cNvPr>
          <p:cNvSpPr/>
          <p:nvPr/>
        </p:nvSpPr>
        <p:spPr>
          <a:xfrm>
            <a:off x="5278161" y="4703631"/>
            <a:ext cx="2188177" cy="78980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70D4E7-FDB5-1BD5-F462-7F01CBBE9CEC}"/>
              </a:ext>
            </a:extLst>
          </p:cNvPr>
          <p:cNvSpPr txBox="1"/>
          <p:nvPr/>
        </p:nvSpPr>
        <p:spPr>
          <a:xfrm>
            <a:off x="5166767" y="4886051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Fabric washer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3910" y="1586484"/>
            <a:ext cx="3641290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FFFF"/>
                </a:solidFill>
              </a:rPr>
              <a:t>Alternative I: </a:t>
            </a:r>
            <a:r>
              <a:rPr lang="en-IN" sz="2300" dirty="0">
                <a:solidFill>
                  <a:srgbClr val="FFFFFF"/>
                </a:solidFill>
              </a:rPr>
              <a:t>RIN as Fabric + Dish washer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543" y="825097"/>
            <a:ext cx="6746175" cy="4923472"/>
          </a:xfrm>
        </p:spPr>
        <p:txBody>
          <a:bodyPr anchor="ctr">
            <a:noAutofit/>
          </a:bodyPr>
          <a:lstStyle/>
          <a:p>
            <a:pPr indent="-120600" algn="just">
              <a:spcBef>
                <a:spcPts val="400"/>
              </a:spcBef>
            </a:pPr>
            <a:r>
              <a:rPr lang="en-IN" sz="1600" b="1" u="sng" dirty="0">
                <a:solidFill>
                  <a:srgbClr val="404040"/>
                </a:solidFill>
              </a:rPr>
              <a:t>Objective:</a:t>
            </a:r>
            <a:r>
              <a:rPr lang="en-IN" sz="1600" dirty="0">
                <a:solidFill>
                  <a:srgbClr val="404040"/>
                </a:solidFill>
              </a:rPr>
              <a:t> Uniquely position and clearly differentiate RIN from competing products, which are either fabric or dish washers</a:t>
            </a:r>
          </a:p>
          <a:p>
            <a:pPr indent="-120600" algn="just">
              <a:spcBef>
                <a:spcPts val="400"/>
              </a:spcBef>
            </a:pPr>
            <a:r>
              <a:rPr lang="en-IN" sz="1600" b="1" u="sng" dirty="0">
                <a:solidFill>
                  <a:srgbClr val="404040"/>
                </a:solidFill>
              </a:rPr>
              <a:t>Benefit:</a:t>
            </a:r>
            <a:r>
              <a:rPr lang="en-IN" sz="1600" dirty="0">
                <a:solidFill>
                  <a:srgbClr val="404040"/>
                </a:solidFill>
              </a:rPr>
              <a:t> It will be able to cater its entire customer base, intended and unintended without sacrificing any of them</a:t>
            </a:r>
          </a:p>
          <a:p>
            <a:pPr indent="-120600">
              <a:spcBef>
                <a:spcPts val="400"/>
              </a:spcBef>
            </a:pPr>
            <a:r>
              <a:rPr lang="en-IN" sz="1600" b="1" u="sng" dirty="0"/>
              <a:t>Financial Implications:</a:t>
            </a:r>
          </a:p>
          <a:p>
            <a:pPr lvl="1" indent="-120600">
              <a:spcBef>
                <a:spcPts val="400"/>
              </a:spcBef>
            </a:pPr>
            <a:r>
              <a:rPr lang="en-IN" dirty="0"/>
              <a:t>No change in product, only change the packaging will incur some cost</a:t>
            </a:r>
          </a:p>
          <a:p>
            <a:pPr lvl="1" indent="-120600">
              <a:spcBef>
                <a:spcPts val="400"/>
              </a:spcBef>
            </a:pPr>
            <a:r>
              <a:rPr lang="en-IN" dirty="0"/>
              <a:t>Ads &amp; sales promotions campaigns will be major additional expenditure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0" y="1586484"/>
            <a:ext cx="3689950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300" dirty="0">
                <a:solidFill>
                  <a:srgbClr val="FFFFFF"/>
                </a:solidFill>
              </a:rPr>
              <a:t>Alternative-II:RIN as a FABRIC washer          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1700" b="1" u="sng">
                <a:solidFill>
                  <a:srgbClr val="404040"/>
                </a:solidFill>
              </a:rPr>
              <a:t>Objective:</a:t>
            </a:r>
            <a:r>
              <a:rPr lang="en-IN" sz="1700">
                <a:solidFill>
                  <a:srgbClr val="404040"/>
                </a:solidFill>
              </a:rPr>
              <a:t> RIN as a ‘fabric washer’- to penetrate the fabric washer market in Pakistan.</a:t>
            </a:r>
          </a:p>
          <a:p>
            <a:pPr lvl="1">
              <a:lnSpc>
                <a:spcPct val="90000"/>
              </a:lnSpc>
            </a:pPr>
            <a:r>
              <a:rPr lang="en-IN" sz="1700">
                <a:solidFill>
                  <a:srgbClr val="404040"/>
                </a:solidFill>
              </a:rPr>
              <a:t>RIN being the only NSD bar in the market, it is sensible to further penetrate its market as a unique product</a:t>
            </a:r>
          </a:p>
          <a:p>
            <a:pPr lvl="1">
              <a:lnSpc>
                <a:spcPct val="90000"/>
              </a:lnSpc>
            </a:pPr>
            <a:r>
              <a:rPr lang="en-IN" sz="1700">
                <a:solidFill>
                  <a:srgbClr val="404040"/>
                </a:solidFill>
              </a:rPr>
              <a:t>Secondary sales in the form of dish washing will continue to come by in any case</a:t>
            </a:r>
          </a:p>
          <a:p>
            <a:pPr>
              <a:lnSpc>
                <a:spcPct val="90000"/>
              </a:lnSpc>
            </a:pPr>
            <a:r>
              <a:rPr lang="en-IN" sz="1700" b="1" u="sng">
                <a:solidFill>
                  <a:srgbClr val="404040"/>
                </a:solidFill>
              </a:rPr>
              <a:t>Product modification:</a:t>
            </a:r>
          </a:p>
          <a:p>
            <a:pPr lvl="1">
              <a:lnSpc>
                <a:spcPct val="90000"/>
              </a:lnSpc>
            </a:pPr>
            <a:r>
              <a:rPr lang="en-IN" sz="1700">
                <a:solidFill>
                  <a:srgbClr val="404040"/>
                </a:solidFill>
              </a:rPr>
              <a:t>Making it non blue in colour as to make it different from dish washing bar in Pakistan</a:t>
            </a:r>
          </a:p>
          <a:p>
            <a:pPr lvl="1">
              <a:lnSpc>
                <a:spcPct val="90000"/>
              </a:lnSpc>
            </a:pPr>
            <a:r>
              <a:rPr lang="en-IN" sz="1700">
                <a:solidFill>
                  <a:srgbClr val="404040"/>
                </a:solidFill>
              </a:rPr>
              <a:t>Completely new fragrance to create its own identity</a:t>
            </a:r>
          </a:p>
          <a:p>
            <a:pPr>
              <a:lnSpc>
                <a:spcPct val="90000"/>
              </a:lnSpc>
            </a:pPr>
            <a:r>
              <a:rPr lang="en-IN" sz="1700" b="1" u="sng">
                <a:solidFill>
                  <a:srgbClr val="404040"/>
                </a:solidFill>
              </a:rPr>
              <a:t>Promotion strategy:</a:t>
            </a:r>
          </a:p>
          <a:p>
            <a:pPr lvl="1">
              <a:lnSpc>
                <a:spcPct val="90000"/>
              </a:lnSpc>
            </a:pPr>
            <a:r>
              <a:rPr lang="en-IN" sz="1700">
                <a:solidFill>
                  <a:srgbClr val="404040"/>
                </a:solidFill>
              </a:rPr>
              <a:t>Media communication campaign which will focus on new features and outcomes through a well known female personality</a:t>
            </a:r>
          </a:p>
          <a:p>
            <a:pPr lvl="1">
              <a:lnSpc>
                <a:spcPct val="90000"/>
              </a:lnSpc>
            </a:pPr>
            <a:endParaRPr lang="en-IN" sz="1700">
              <a:solidFill>
                <a:srgbClr val="40404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300" dirty="0">
                <a:solidFill>
                  <a:srgbClr val="FFFFFF"/>
                </a:solidFill>
              </a:rPr>
              <a:t>Alternative-II:RIN as a FABRIC washer          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I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IN" b="1" u="sng">
                <a:solidFill>
                  <a:srgbClr val="404040"/>
                </a:solidFill>
              </a:rPr>
              <a:t>Distribution strategy: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Retailers to ensure shelving of RIN properly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Identifying the margins earned by retailers and give them more than competitors of all fabric washing product at the initial stages</a:t>
            </a:r>
          </a:p>
          <a:p>
            <a:pPr lvl="1">
              <a:lnSpc>
                <a:spcPct val="90000"/>
              </a:lnSpc>
            </a:pPr>
            <a:endParaRPr lang="en-I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IN" b="1" u="sng">
                <a:solidFill>
                  <a:srgbClr val="404040"/>
                </a:solidFill>
              </a:rPr>
              <a:t>Financial Implications: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Additional cost on new product development and new packaging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At the time of product launch, expenditure on advertisement and trade promotions.</a:t>
            </a:r>
          </a:p>
          <a:p>
            <a:pPr lvl="1">
              <a:lnSpc>
                <a:spcPct val="90000"/>
              </a:lnSpc>
            </a:pPr>
            <a:endParaRPr lang="en-IN">
              <a:solidFill>
                <a:srgbClr val="40404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300">
                <a:solidFill>
                  <a:srgbClr val="FFFFFF"/>
                </a:solidFill>
              </a:rPr>
              <a:t> Alternative-III:RIN as a dish washer        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u="sng">
                <a:solidFill>
                  <a:srgbClr val="404040"/>
                </a:solidFill>
              </a:rPr>
              <a:t>Objective:</a:t>
            </a:r>
            <a:r>
              <a:rPr lang="en-IN" b="1">
                <a:solidFill>
                  <a:srgbClr val="404040"/>
                </a:solidFill>
              </a:rPr>
              <a:t> </a:t>
            </a:r>
            <a:r>
              <a:rPr lang="en-IN">
                <a:solidFill>
                  <a:srgbClr val="404040"/>
                </a:solidFill>
              </a:rPr>
              <a:t>Relaunch RIN as a dish washer and not a fabric washer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Targeting the ‘actual customer’ instead of the ‘intended one’</a:t>
            </a:r>
          </a:p>
          <a:p>
            <a:pPr lvl="1">
              <a:lnSpc>
                <a:spcPct val="90000"/>
              </a:lnSpc>
              <a:buNone/>
            </a:pPr>
            <a:endParaRPr lang="en-I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IN" b="1" u="sng">
                <a:solidFill>
                  <a:srgbClr val="404040"/>
                </a:solidFill>
              </a:rPr>
              <a:t>Product modification: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Blue in colour with minor changes in the packaging to make it different from the competitors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Elimination of special fabric wash ingredients</a:t>
            </a:r>
          </a:p>
          <a:p>
            <a:pPr lvl="1">
              <a:lnSpc>
                <a:spcPct val="90000"/>
              </a:lnSpc>
              <a:buNone/>
            </a:pPr>
            <a:endParaRPr lang="en-I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IN" b="1" u="sng">
                <a:solidFill>
                  <a:srgbClr val="404040"/>
                </a:solidFill>
              </a:rPr>
              <a:t>Promotion strategy:</a:t>
            </a:r>
          </a:p>
          <a:p>
            <a:pPr lvl="1">
              <a:lnSpc>
                <a:spcPct val="90000"/>
              </a:lnSpc>
            </a:pPr>
            <a:r>
              <a:rPr lang="en-IN">
                <a:solidFill>
                  <a:srgbClr val="404040"/>
                </a:solidFill>
              </a:rPr>
              <a:t>Media campaigning which will focus only on dish washing qualities</a:t>
            </a:r>
          </a:p>
          <a:p>
            <a:pPr lvl="1">
              <a:lnSpc>
                <a:spcPct val="90000"/>
              </a:lnSpc>
              <a:buNone/>
            </a:pPr>
            <a:endParaRPr lang="en-IN" b="1" u="sng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endParaRPr lang="en-IN">
              <a:solidFill>
                <a:srgbClr val="40404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300">
                <a:solidFill>
                  <a:srgbClr val="FFFFFF"/>
                </a:solidFill>
              </a:rPr>
              <a:t> Alternative-III:RIN as a dish washer        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pPr>
              <a:buNone/>
            </a:pPr>
            <a:endParaRPr lang="en-IN">
              <a:solidFill>
                <a:srgbClr val="404040"/>
              </a:solidFill>
            </a:endParaRPr>
          </a:p>
          <a:p>
            <a:r>
              <a:rPr lang="en-IN" b="1" u="sng">
                <a:solidFill>
                  <a:srgbClr val="404040"/>
                </a:solidFill>
              </a:rPr>
              <a:t>Distribution strategy: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Giving the retailers maximum margin among all dish washing products at the initial stages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Retailers need to ensure shelving of RIN properly</a:t>
            </a:r>
          </a:p>
          <a:p>
            <a:pPr lvl="1">
              <a:buNone/>
            </a:pPr>
            <a:endParaRPr lang="en-IN">
              <a:solidFill>
                <a:srgbClr val="404040"/>
              </a:solidFill>
            </a:endParaRPr>
          </a:p>
          <a:p>
            <a:r>
              <a:rPr lang="en-IN" b="1" u="sng">
                <a:solidFill>
                  <a:srgbClr val="404040"/>
                </a:solidFill>
              </a:rPr>
              <a:t>Financial implications: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33% reduction in variable cost due to elimination of fabric washing ingredients.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Initial expenditure on advertisement and trade promotions with new agenda.</a:t>
            </a:r>
          </a:p>
          <a:p>
            <a:pPr lvl="1"/>
            <a:endParaRPr lang="en-IN" b="1" u="sng">
              <a:solidFill>
                <a:srgbClr val="40404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9723"/>
          </a:xfrm>
        </p:spPr>
        <p:txBody>
          <a:bodyPr>
            <a:normAutofit fontScale="90000"/>
          </a:bodyPr>
          <a:lstStyle/>
          <a:p>
            <a:r>
              <a:rPr lang="en-IN" dirty="0"/>
              <a:t>Our Recommendations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55453"/>
              </p:ext>
            </p:extLst>
          </p:nvPr>
        </p:nvGraphicFramePr>
        <p:xfrm>
          <a:off x="1760561" y="1446663"/>
          <a:ext cx="9744052" cy="4967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E5A7-C929-4EEF-9A00-C9BDF179F8F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F644-DB2A-F94B-4F3D-9247B2F1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70C0-A598-72B4-5EAE-AF4FE9F2A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GROUP 5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Gauri Jain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Vaibhav Sharma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</a:t>
            </a:r>
            <a:r>
              <a:rPr lang="en-US" dirty="0" err="1">
                <a:solidFill>
                  <a:schemeClr val="bg1"/>
                </a:solidFill>
              </a:rPr>
              <a:t>Rutuja</a:t>
            </a:r>
            <a:r>
              <a:rPr lang="en-US" dirty="0">
                <a:solidFill>
                  <a:schemeClr val="bg1"/>
                </a:solidFill>
              </a:rPr>
              <a:t> Patil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Shashank </a:t>
            </a:r>
            <a:r>
              <a:rPr lang="en-US" dirty="0" err="1">
                <a:solidFill>
                  <a:schemeClr val="bg1"/>
                </a:solidFill>
              </a:rPr>
              <a:t>Lipate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</a:t>
            </a:r>
            <a:r>
              <a:rPr lang="en-US" dirty="0" err="1">
                <a:solidFill>
                  <a:schemeClr val="bg1"/>
                </a:solidFill>
              </a:rPr>
              <a:t>Shatakshi</a:t>
            </a:r>
            <a:r>
              <a:rPr lang="en-US" dirty="0">
                <a:solidFill>
                  <a:schemeClr val="bg1"/>
                </a:solidFill>
              </a:rPr>
              <a:t> Singh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</a:t>
            </a:r>
            <a:r>
              <a:rPr lang="en-US" dirty="0" err="1">
                <a:solidFill>
                  <a:schemeClr val="bg1"/>
                </a:solidFill>
              </a:rPr>
              <a:t>Shazad</a:t>
            </a:r>
            <a:r>
              <a:rPr lang="en-US" dirty="0">
                <a:solidFill>
                  <a:schemeClr val="bg1"/>
                </a:solidFill>
              </a:rPr>
              <a:t> Shroff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Prem Shinde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== </a:t>
            </a:r>
            <a:r>
              <a:rPr lang="en-US" dirty="0" err="1">
                <a:solidFill>
                  <a:schemeClr val="bg1"/>
                </a:solidFill>
              </a:rPr>
              <a:t>Shristi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Luhariwala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2B5E4-2869-F231-123C-AB460B41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DE0E5A7-C929-4EEF-9A00-C9BDF179F8F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8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{46017AEE-5878-D344-BE6A-139512D67CA4}tf10001120</Template>
  <TotalTime>3218</TotalTime>
  <Words>942</Words>
  <Application>Microsoft Macintosh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</vt:lpstr>
      <vt:lpstr>Parcel</vt:lpstr>
      <vt:lpstr>RIN Detergent To position or reposition ?</vt:lpstr>
      <vt:lpstr>Company </vt:lpstr>
      <vt:lpstr>Market</vt:lpstr>
      <vt:lpstr>PowerPoint Presentation</vt:lpstr>
      <vt:lpstr>Dilemma – Dish or Fabric washer?</vt:lpstr>
      <vt:lpstr>PowerPoint Presentation</vt:lpstr>
      <vt:lpstr>Alternative I: RIN as Fabric + Dish washer </vt:lpstr>
      <vt:lpstr>Alternative-II:RIN as a FABRIC washer           (1/2)</vt:lpstr>
      <vt:lpstr>Alternative-II:RIN as a FABRIC washer           (2/2)</vt:lpstr>
      <vt:lpstr> Alternative-III:RIN as a dish washer         (1/2)</vt:lpstr>
      <vt:lpstr> Alternative-III:RIN as a dish washer         (2/2)</vt:lpstr>
      <vt:lpstr>Our Recommendations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 Detergent: To position or reposition?</dc:title>
  <dc:creator>Administrator</dc:creator>
  <cp:lastModifiedBy>SHASHANK LIPATE</cp:lastModifiedBy>
  <cp:revision>69</cp:revision>
  <dcterms:created xsi:type="dcterms:W3CDTF">2016-07-02T10:39:52Z</dcterms:created>
  <dcterms:modified xsi:type="dcterms:W3CDTF">2022-08-02T16:05:21Z</dcterms:modified>
</cp:coreProperties>
</file>