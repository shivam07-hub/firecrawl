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359E7A-19D2-4C8B-96E1-1CC95392D2D0}">
  <a:tblStyle styleId="{97359E7A-19D2-4C8B-96E1-1CC95392D2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e120a62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e120a62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e120a625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e120a625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e28954f4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3e28954f4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ec149694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3ec149694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e120a625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e120a625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e267011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3e267011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e267011c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e267011c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e267011c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e267011c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e28954f4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e28954f4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3ec149694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3ec149694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3e3097234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13e3097234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6d1b067b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136d1b067b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3e3097228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3e3097228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36d1b067b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36d1b067b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36d1b067b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36d1b067b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6d1b067b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36d1b067b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3ec149694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3ec149694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801150" y="-1218525"/>
            <a:ext cx="531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Group-4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265250" y="834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&amp; Decker Corporation</a:t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775" y="1626675"/>
            <a:ext cx="2319949" cy="144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2014700" y="3138100"/>
            <a:ext cx="5347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Abhinav Bansal (PGP38163)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Amrutha Palli (PGP38173)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Phaneendra Maseedu (PGP38192)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Vemula Akshara (PGP38212)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Utkarsh Singh (PGP38213)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Manideep Vulli (PGP38214)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Sunny Ranjan (PGP38496)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lin ang="5400012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solidFill>
                  <a:srgbClr val="FF9900"/>
                </a:solidFill>
              </a:rPr>
              <a:t>Background</a:t>
            </a:r>
            <a:endParaRPr b="1" sz="2920">
              <a:solidFill>
                <a:srgbClr val="FF9900"/>
              </a:solidFill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2007400"/>
            <a:ext cx="8520600" cy="21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Founded in 1910 by Duncan Black &amp; Alonzo Decker Sr.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Received patent for world’s first portable power drill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World’s largest producer of Power Tools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Moved from “garage to house” - introduced Dustbuster in 1979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Bought General Electric House ware Division in 1984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587" y="112125"/>
            <a:ext cx="3373139" cy="18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904"/>
              <a:buFont typeface="Arial"/>
              <a:buNone/>
            </a:pPr>
            <a:r>
              <a:rPr b="1" lang="en" sz="2920">
                <a:solidFill>
                  <a:srgbClr val="FF9900"/>
                </a:solidFill>
              </a:rPr>
              <a:t>Black &amp; Decker Products</a:t>
            </a:r>
            <a:endParaRPr b="1"/>
          </a:p>
        </p:txBody>
      </p:sp>
      <p:graphicFrame>
        <p:nvGraphicFramePr>
          <p:cNvPr id="145" name="Google Shape;145;p27"/>
          <p:cNvGraphicFramePr/>
          <p:nvPr/>
        </p:nvGraphicFramePr>
        <p:xfrm>
          <a:off x="311700" y="134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{97359E7A-19D2-4C8B-96E1-1CC95392D2D0}</a:tableStyleId>
              </a:tblPr>
              <a:tblGrid>
                <a:gridCol w="2840200"/>
                <a:gridCol w="2840200"/>
                <a:gridCol w="2840200"/>
              </a:tblGrid>
              <a:tr h="34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Consumer Products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Tradesmen Products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Industrial Products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  <a:tr h="306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At Home use</a:t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Used for Household Applications</a:t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Professional Use</a:t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Used by “tradesmen” - electricians, plumbers, etc.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Professional Use</a:t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Corporation purchasing tools for employee usage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576" y="3009300"/>
            <a:ext cx="1424850" cy="166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075" y="2949063"/>
            <a:ext cx="1790400" cy="17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4257" y="3009300"/>
            <a:ext cx="2163589" cy="166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904"/>
              <a:buFont typeface="Arial"/>
              <a:buNone/>
            </a:pPr>
            <a:r>
              <a:rPr b="1" lang="en" sz="2920">
                <a:solidFill>
                  <a:srgbClr val="FF9900"/>
                </a:solidFill>
              </a:rPr>
              <a:t>Major</a:t>
            </a:r>
            <a:r>
              <a:rPr b="1" lang="en" sz="2920">
                <a:solidFill>
                  <a:srgbClr val="FF9900"/>
                </a:solidFill>
              </a:rPr>
              <a:t> Competitors</a:t>
            </a:r>
            <a:endParaRPr b="1"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432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Makita Electric of Japan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Took over the “Tradesman” products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80% share in cordless drills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50% of the entire Tradesman product sector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Other competitors: Milwaukee Electric, Ryobi, Skil, etc.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2674" y="513205"/>
            <a:ext cx="2290650" cy="22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904"/>
              <a:buFont typeface="Arial"/>
              <a:buNone/>
            </a:pPr>
            <a:r>
              <a:rPr b="1" lang="en" sz="2920">
                <a:solidFill>
                  <a:srgbClr val="FF9900"/>
                </a:solidFill>
              </a:rPr>
              <a:t>Revenue of Black &amp; Decker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46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1980s were volatile for B&amp;D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19% increase in revenue BUT sales stagnated through 1983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1981 to 1985, company lost money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B&amp;D acquired Emhart Corporation (doubled their revenue); Kwikset Locks and Price Pfisters Faucets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acquisitions raised long-term debt to $4.2 billion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671"/>
              <a:buFont typeface="Arial"/>
              <a:buNone/>
            </a:pPr>
            <a:r>
              <a:rPr b="1" lang="en" sz="2920">
                <a:solidFill>
                  <a:srgbClr val="FF9900"/>
                </a:solidFill>
              </a:rPr>
              <a:t>Problem Statement</a:t>
            </a:r>
            <a:endParaRPr b="1"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Management Decision Problem 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to increase Black &amp; Decker’s market Share in Tradesmen Products?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Three Options Available: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Harvest Tradesmen Channels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Sub-Branding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Drop B&amp;D brand name from Professional Tradesmen Segment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6425" y="2073450"/>
            <a:ext cx="4236324" cy="282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62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D7D31"/>
                </a:solidFill>
              </a:rPr>
              <a:t>Perception among Tradesmen</a:t>
            </a:r>
            <a:endParaRPr>
              <a:solidFill>
                <a:srgbClr val="ED7D31"/>
              </a:solidFill>
            </a:endParaRPr>
          </a:p>
        </p:txBody>
      </p:sp>
      <p:pic>
        <p:nvPicPr>
          <p:cNvPr id="188" name="Google Shape;188;p33"/>
          <p:cNvPicPr preferRelativeResize="0"/>
          <p:nvPr/>
        </p:nvPicPr>
        <p:blipFill rotWithShape="1">
          <a:blip r:embed="rId3">
            <a:alphaModFix/>
          </a:blip>
          <a:srcRect b="0" l="0" r="0" t="25065"/>
          <a:stretch/>
        </p:blipFill>
        <p:spPr>
          <a:xfrm>
            <a:off x="0" y="1213050"/>
            <a:ext cx="9144000" cy="385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671"/>
              <a:buFont typeface="Arial"/>
              <a:buNone/>
            </a:pPr>
            <a:r>
              <a:rPr lang="en" sz="2920">
                <a:solidFill>
                  <a:srgbClr val="FF9900"/>
                </a:solidFill>
              </a:rPr>
              <a:t>The Professional Segment Buyer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Strength as consumer brand, not necessarily good for Tradesman Segment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Average spending of tradesmen was $1000 per year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34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20">
                <a:solidFill>
                  <a:srgbClr val="FF9900"/>
                </a:solidFill>
              </a:rPr>
              <a:t>Brand Perception</a:t>
            </a:r>
            <a:endParaRPr/>
          </a:p>
        </p:txBody>
      </p:sp>
      <p:cxnSp>
        <p:nvCxnSpPr>
          <p:cNvPr id="196" name="Google Shape;196;p34"/>
          <p:cNvCxnSpPr/>
          <p:nvPr/>
        </p:nvCxnSpPr>
        <p:spPr>
          <a:xfrm>
            <a:off x="311700" y="3026575"/>
            <a:ext cx="8520600" cy="0"/>
          </a:xfrm>
          <a:prstGeom prst="straightConnector1">
            <a:avLst/>
          </a:prstGeom>
          <a:noFill/>
          <a:ln cap="flat" cmpd="sng" w="38100">
            <a:solidFill>
              <a:srgbClr val="ED7D3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4"/>
          <p:cNvSpPr txBox="1"/>
          <p:nvPr/>
        </p:nvSpPr>
        <p:spPr>
          <a:xfrm>
            <a:off x="298650" y="2638125"/>
            <a:ext cx="12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HIGHEST</a:t>
            </a:r>
            <a:endParaRPr b="1" sz="1500"/>
          </a:p>
        </p:txBody>
      </p:sp>
      <p:sp>
        <p:nvSpPr>
          <p:cNvPr id="198" name="Google Shape;198;p34"/>
          <p:cNvSpPr txBox="1"/>
          <p:nvPr/>
        </p:nvSpPr>
        <p:spPr>
          <a:xfrm>
            <a:off x="7571400" y="2599063"/>
            <a:ext cx="12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LOWEST</a:t>
            </a:r>
            <a:endParaRPr b="1" sz="1500"/>
          </a:p>
        </p:txBody>
      </p:sp>
      <p:sp>
        <p:nvSpPr>
          <p:cNvPr id="199" name="Google Shape;199;p34"/>
          <p:cNvSpPr txBox="1"/>
          <p:nvPr/>
        </p:nvSpPr>
        <p:spPr>
          <a:xfrm>
            <a:off x="311700" y="3238525"/>
            <a:ext cx="1563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Makita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Milwaukee</a:t>
            </a:r>
            <a:endParaRPr sz="2100"/>
          </a:p>
        </p:txBody>
      </p:sp>
      <p:sp>
        <p:nvSpPr>
          <p:cNvPr id="200" name="Google Shape;200;p34"/>
          <p:cNvSpPr txBox="1"/>
          <p:nvPr/>
        </p:nvSpPr>
        <p:spPr>
          <a:xfrm>
            <a:off x="2289225" y="3238525"/>
            <a:ext cx="2008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Bosch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Hitachi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Porter Cable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Panasonic</a:t>
            </a:r>
            <a:endParaRPr sz="2100"/>
          </a:p>
        </p:txBody>
      </p:sp>
      <p:sp>
        <p:nvSpPr>
          <p:cNvPr id="201" name="Google Shape;201;p34"/>
          <p:cNvSpPr txBox="1"/>
          <p:nvPr/>
        </p:nvSpPr>
        <p:spPr>
          <a:xfrm>
            <a:off x="4711650" y="3238525"/>
            <a:ext cx="2008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Black &amp; Decker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Ryobi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Skil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Cratfsman</a:t>
            </a:r>
            <a:endParaRPr sz="2100"/>
          </a:p>
        </p:txBody>
      </p:sp>
      <p:sp>
        <p:nvSpPr>
          <p:cNvPr id="202" name="Google Shape;202;p34"/>
          <p:cNvSpPr txBox="1"/>
          <p:nvPr/>
        </p:nvSpPr>
        <p:spPr>
          <a:xfrm>
            <a:off x="8216175" y="3138975"/>
            <a:ext cx="84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Wen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671"/>
              <a:buFont typeface="Arial"/>
              <a:buNone/>
            </a:pPr>
            <a:r>
              <a:rPr lang="en" sz="2920">
                <a:solidFill>
                  <a:srgbClr val="FF9900"/>
                </a:solidFill>
              </a:rPr>
              <a:t>Colour Perceptions</a:t>
            </a:r>
            <a:endParaRPr/>
          </a:p>
        </p:txBody>
      </p:sp>
      <p:graphicFrame>
        <p:nvGraphicFramePr>
          <p:cNvPr id="208" name="Google Shape;208;p35"/>
          <p:cNvGraphicFramePr/>
          <p:nvPr/>
        </p:nvGraphicFramePr>
        <p:xfrm>
          <a:off x="906075" y="167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{97359E7A-19D2-4C8B-96E1-1CC95392D2D0}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Professional Grade Equipment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Consumer Grade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Makita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Black &amp; Decker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8888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Milwaukee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Craftsman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8888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Bosch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Skil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8888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Hitachi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8888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Black &amp; Decker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Private Label Products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88888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265" y="1307465"/>
            <a:ext cx="3429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8355" y="1307465"/>
            <a:ext cx="34290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6"/>
          <p:cNvSpPr txBox="1"/>
          <p:nvPr/>
        </p:nvSpPr>
        <p:spPr>
          <a:xfrm>
            <a:off x="723265" y="841365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who prefer Makita</a:t>
            </a:r>
            <a:endParaRPr b="1" i="0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6"/>
          <p:cNvSpPr txBox="1"/>
          <p:nvPr/>
        </p:nvSpPr>
        <p:spPr>
          <a:xfrm>
            <a:off x="4618355" y="841365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who prefer Milwaukee</a:t>
            </a:r>
            <a:endParaRPr sz="1100"/>
          </a:p>
        </p:txBody>
      </p:sp>
      <p:sp>
        <p:nvSpPr>
          <p:cNvPr id="217" name="Google Shape;217;p36"/>
          <p:cNvSpPr/>
          <p:nvPr/>
        </p:nvSpPr>
        <p:spPr>
          <a:xfrm>
            <a:off x="0" y="0"/>
            <a:ext cx="9144000" cy="510540"/>
          </a:xfrm>
          <a:prstGeom prst="rect">
            <a:avLst/>
          </a:prstGeom>
          <a:solidFill>
            <a:srgbClr val="53535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Study regarding agreeableness of specific attributes</a:t>
            </a:r>
            <a:endParaRPr b="1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/>
          <p:nvPr/>
        </p:nvSpPr>
        <p:spPr>
          <a:xfrm>
            <a:off x="0" y="0"/>
            <a:ext cx="9144000" cy="510600"/>
          </a:xfrm>
          <a:prstGeom prst="rect">
            <a:avLst/>
          </a:prstGeom>
          <a:solidFill>
            <a:srgbClr val="53535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Awareness of Power Tool Suppliers among Tradespeople</a:t>
            </a:r>
            <a:endParaRPr b="1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50" y="974250"/>
            <a:ext cx="4976375" cy="29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775" y="1246450"/>
            <a:ext cx="3536675" cy="21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ED7D31"/>
                </a:solidFill>
              </a:rPr>
              <a:t>Option 1</a:t>
            </a:r>
            <a:endParaRPr>
              <a:solidFill>
                <a:srgbClr val="ED7D31"/>
              </a:solidFill>
            </a:endParaRPr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Harvest Professional-Tradesmen Channels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31" name="Google Shape;231;p38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{97359E7A-19D2-4C8B-96E1-1CC95392D2D0}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Increase Profitability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Sacrifice growth in market share in one of the fastest growing sectors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2" name="Google Shape;232;p38"/>
          <p:cNvSpPr/>
          <p:nvPr/>
        </p:nvSpPr>
        <p:spPr>
          <a:xfrm>
            <a:off x="476263" y="3796337"/>
            <a:ext cx="8191469" cy="8210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Option 1 is not viable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ED7D31"/>
                </a:solidFill>
              </a:rPr>
              <a:t>Option 2</a:t>
            </a:r>
            <a:endParaRPr>
              <a:solidFill>
                <a:srgbClr val="ED7D31"/>
              </a:solidFill>
            </a:endParaRPr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2. Sub Branding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39" name="Google Shape;239;p39"/>
          <p:cNvGraphicFramePr/>
          <p:nvPr/>
        </p:nvGraphicFramePr>
        <p:xfrm>
          <a:off x="10814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{97359E7A-19D2-4C8B-96E1-1CC95392D2D0}</a:tableStyleId>
              </a:tblPr>
              <a:tblGrid>
                <a:gridCol w="3619500"/>
                <a:gridCol w="3619500"/>
              </a:tblGrid>
              <a:tr h="34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  <a:tr h="89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Successful</a:t>
                      </a:r>
                      <a:r>
                        <a:rPr lang="en"/>
                        <a:t> in the past with spacemaker line of products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Perception will not be improved as Black and Decker name negative perception is still associated with product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40" name="Google Shape;2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150" y="445025"/>
            <a:ext cx="1898025" cy="18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ED7D31"/>
                </a:solidFill>
              </a:rPr>
              <a:t>Option 3</a:t>
            </a:r>
            <a:endParaRPr>
              <a:solidFill>
                <a:srgbClr val="ED7D31"/>
              </a:solidFill>
            </a:endParaRPr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080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Drop Black &amp; Decker name from the professional tradesmen segment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47" name="Google Shape;247;p40"/>
          <p:cNvGraphicFramePr/>
          <p:nvPr/>
        </p:nvGraphicFramePr>
        <p:xfrm>
          <a:off x="823575" y="154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{97359E7A-19D2-4C8B-96E1-1CC95392D2D0}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Perception</a:t>
                      </a:r>
                      <a:r>
                        <a:rPr lang="en"/>
                        <a:t> improves as black and decker name is dropped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Highly percieved brand like Dewalt available  and back by black and decker 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 walt was never associated with tools segment and hence takes time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ED7D31"/>
                </a:solidFill>
              </a:rPr>
              <a:t>Perception of Dewalt</a:t>
            </a:r>
            <a:endParaRPr>
              <a:solidFill>
                <a:srgbClr val="ED7D31"/>
              </a:solidFill>
            </a:endParaRPr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244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54" name="Google Shape;254;p41"/>
          <p:cNvGraphicFramePr/>
          <p:nvPr/>
        </p:nvGraphicFramePr>
        <p:xfrm>
          <a:off x="1698825" y="1439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{97359E7A-19D2-4C8B-96E1-1CC95392D2D0}</a:tableStyleId>
              </a:tblPr>
              <a:tblGrid>
                <a:gridCol w="2566450"/>
                <a:gridCol w="2566450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Identified as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Percent purchase interest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Dewalt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2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Dewalt-Serviced and Distributed by B&amp;D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Dewalt-manufactured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Serviced and Distributed by B&amp;D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53%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500" y="55869"/>
            <a:ext cx="3313450" cy="11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311700" y="1913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/>
              <a:t>THANK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