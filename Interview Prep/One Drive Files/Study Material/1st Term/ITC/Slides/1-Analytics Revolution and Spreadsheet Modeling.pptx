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1.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2.xml" ContentType="application/inkml+xml"/>
  <Override PartName="/ppt/ink/ink3.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2" r:id="rId1"/>
  </p:sldMasterIdLst>
  <p:notesMasterIdLst>
    <p:notesMasterId r:id="rId32"/>
  </p:notesMasterIdLst>
  <p:handoutMasterIdLst>
    <p:handoutMasterId r:id="rId33"/>
  </p:handoutMasterIdLst>
  <p:sldIdLst>
    <p:sldId id="338" r:id="rId2"/>
    <p:sldId id="481" r:id="rId3"/>
    <p:sldId id="400" r:id="rId4"/>
    <p:sldId id="482" r:id="rId5"/>
    <p:sldId id="402" r:id="rId6"/>
    <p:sldId id="483" r:id="rId7"/>
    <p:sldId id="464" r:id="rId8"/>
    <p:sldId id="468" r:id="rId9"/>
    <p:sldId id="1915" r:id="rId10"/>
    <p:sldId id="1916" r:id="rId11"/>
    <p:sldId id="484" r:id="rId12"/>
    <p:sldId id="469" r:id="rId13"/>
    <p:sldId id="475" r:id="rId14"/>
    <p:sldId id="491" r:id="rId15"/>
    <p:sldId id="1914" r:id="rId16"/>
    <p:sldId id="1894" r:id="rId17"/>
    <p:sldId id="1904" r:id="rId18"/>
    <p:sldId id="1905" r:id="rId19"/>
    <p:sldId id="459" r:id="rId20"/>
    <p:sldId id="1907" r:id="rId21"/>
    <p:sldId id="490" r:id="rId22"/>
    <p:sldId id="660" r:id="rId23"/>
    <p:sldId id="1917" r:id="rId24"/>
    <p:sldId id="462" r:id="rId25"/>
    <p:sldId id="485" r:id="rId26"/>
    <p:sldId id="486" r:id="rId27"/>
    <p:sldId id="488" r:id="rId28"/>
    <p:sldId id="487" r:id="rId29"/>
    <p:sldId id="489" r:id="rId30"/>
    <p:sldId id="412" r:id="rId31"/>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521415D9-36F7-43E2-AB2F-B90AF26B5E84}">
      <p14:sectionLst xmlns:p14="http://schemas.microsoft.com/office/powerpoint/2010/main">
        <p14:section name="Default Section" id="{89735779-228D-43D7-883A-6B2D5A61C77E}">
          <p14:sldIdLst>
            <p14:sldId id="338"/>
            <p14:sldId id="481"/>
            <p14:sldId id="400"/>
            <p14:sldId id="482"/>
            <p14:sldId id="402"/>
            <p14:sldId id="483"/>
            <p14:sldId id="464"/>
            <p14:sldId id="468"/>
            <p14:sldId id="1915"/>
            <p14:sldId id="1916"/>
            <p14:sldId id="484"/>
            <p14:sldId id="469"/>
            <p14:sldId id="475"/>
            <p14:sldId id="491"/>
            <p14:sldId id="1914"/>
            <p14:sldId id="1894"/>
            <p14:sldId id="1904"/>
            <p14:sldId id="1905"/>
            <p14:sldId id="459"/>
            <p14:sldId id="1907"/>
            <p14:sldId id="490"/>
            <p14:sldId id="660"/>
            <p14:sldId id="1917"/>
            <p14:sldId id="462"/>
            <p14:sldId id="485"/>
            <p14:sldId id="486"/>
            <p14:sldId id="488"/>
            <p14:sldId id="487"/>
            <p14:sldId id="489"/>
            <p14:sldId id="412"/>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guide id="3" orient="horz" pos="166">
          <p15:clr>
            <a:srgbClr val="A4A3A4"/>
          </p15:clr>
        </p15:guide>
        <p15:guide id="4" orient="horz" pos="1632">
          <p15:clr>
            <a:srgbClr val="A4A3A4"/>
          </p15:clr>
        </p15:guide>
        <p15:guide id="5" pos="184">
          <p15:clr>
            <a:srgbClr val="A4A3A4"/>
          </p15:clr>
        </p15:guide>
        <p15:guide id="6" pos="223">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FF"/>
    <a:srgbClr val="1199DD"/>
    <a:srgbClr val="0F9FC3"/>
    <a:srgbClr val="F1592D"/>
    <a:srgbClr val="0F9FFA"/>
    <a:srgbClr val="E95D44"/>
    <a:srgbClr val="007CC3"/>
    <a:srgbClr val="0F96FA"/>
    <a:srgbClr val="B8B8B8"/>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31" autoAdjust="0"/>
    <p:restoredTop sz="86410" autoAdjust="0"/>
  </p:normalViewPr>
  <p:slideViewPr>
    <p:cSldViewPr snapToGrid="0" snapToObjects="1">
      <p:cViewPr varScale="1">
        <p:scale>
          <a:sx n="130" d="100"/>
          <a:sy n="130" d="100"/>
        </p:scale>
        <p:origin x="1332" y="120"/>
      </p:cViewPr>
      <p:guideLst>
        <p:guide orient="horz" pos="1620"/>
        <p:guide pos="2880"/>
        <p:guide orient="horz" pos="166"/>
        <p:guide orient="horz" pos="1632"/>
        <p:guide pos="184"/>
        <p:guide pos="223"/>
      </p:guideLst>
    </p:cSldViewPr>
  </p:slideViewPr>
  <p:outlineViewPr>
    <p:cViewPr>
      <p:scale>
        <a:sx n="33" d="100"/>
        <a:sy n="33" d="100"/>
      </p:scale>
      <p:origin x="0" y="0"/>
    </p:cViewPr>
  </p:outlineViewPr>
  <p:notesTextViewPr>
    <p:cViewPr>
      <p:scale>
        <a:sx n="3" d="2"/>
        <a:sy n="3" d="2"/>
      </p:scale>
      <p:origin x="0" y="0"/>
    </p:cViewPr>
  </p:notesTextViewPr>
  <p:sorterViewPr>
    <p:cViewPr>
      <p:scale>
        <a:sx n="200" d="100"/>
        <a:sy n="200" d="100"/>
      </p:scale>
      <p:origin x="0" y="0"/>
    </p:cViewPr>
  </p:sorterViewPr>
  <p:notesViewPr>
    <p:cSldViewPr snapToGrid="0" snapToObjects="1">
      <p:cViewPr varScale="1">
        <p:scale>
          <a:sx n="87" d="100"/>
          <a:sy n="87" d="100"/>
        </p:scale>
        <p:origin x="3840"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C1A40A-DA2D-446F-8519-C13BD959F2CC}" type="doc">
      <dgm:prSet loTypeId="urn:microsoft.com/office/officeart/2005/8/layout/cycle8" loCatId="cycle" qsTypeId="urn:microsoft.com/office/officeart/2005/8/quickstyle/simple1" qsCatId="simple" csTypeId="urn:microsoft.com/office/officeart/2005/8/colors/colorful3" csCatId="colorful" phldr="1"/>
      <dgm:spPr/>
      <dgm:t>
        <a:bodyPr/>
        <a:lstStyle/>
        <a:p>
          <a:endParaRPr lang="en-IN"/>
        </a:p>
      </dgm:t>
    </dgm:pt>
    <dgm:pt modelId="{EBFA0728-2AB3-4493-9CC2-C4DDC1B52CDE}">
      <dgm:prSet phldrT="[Text]" custT="1"/>
      <dgm:spPr/>
      <dgm:t>
        <a:bodyPr/>
        <a:lstStyle/>
        <a:p>
          <a:r>
            <a:rPr lang="en-IN" sz="1100" b="1" dirty="0"/>
            <a:t>Medium (Awareness) </a:t>
          </a:r>
        </a:p>
      </dgm:t>
    </dgm:pt>
    <dgm:pt modelId="{A149F11D-729E-4633-8254-6F3B58723BEF}" type="parTrans" cxnId="{5E98F9FF-850D-4DAA-9313-4A56A026C27C}">
      <dgm:prSet/>
      <dgm:spPr/>
      <dgm:t>
        <a:bodyPr/>
        <a:lstStyle/>
        <a:p>
          <a:endParaRPr lang="en-IN"/>
        </a:p>
      </dgm:t>
    </dgm:pt>
    <dgm:pt modelId="{365D022D-1E7B-47B7-9711-B75066F48731}" type="sibTrans" cxnId="{5E98F9FF-850D-4DAA-9313-4A56A026C27C}">
      <dgm:prSet/>
      <dgm:spPr/>
      <dgm:t>
        <a:bodyPr/>
        <a:lstStyle/>
        <a:p>
          <a:endParaRPr lang="en-IN"/>
        </a:p>
      </dgm:t>
    </dgm:pt>
    <dgm:pt modelId="{BC1B8930-C1ED-472E-B421-822ACEA511C8}">
      <dgm:prSet phldrT="[Text]" custT="1"/>
      <dgm:spPr/>
      <dgm:t>
        <a:bodyPr/>
        <a:lstStyle/>
        <a:p>
          <a:r>
            <a:rPr lang="en-IN" sz="1100" b="1" dirty="0"/>
            <a:t>Advanced (Experienced) </a:t>
          </a:r>
        </a:p>
      </dgm:t>
    </dgm:pt>
    <dgm:pt modelId="{348E3000-3802-45FF-A8BE-F4D89BE0D2E1}" type="parTrans" cxnId="{EDFA94C8-0334-40A0-8369-D7588425869E}">
      <dgm:prSet/>
      <dgm:spPr/>
      <dgm:t>
        <a:bodyPr/>
        <a:lstStyle/>
        <a:p>
          <a:endParaRPr lang="en-IN"/>
        </a:p>
      </dgm:t>
    </dgm:pt>
    <dgm:pt modelId="{9C67C5B2-9D56-4E23-AF2E-9D0C56686AC7}" type="sibTrans" cxnId="{EDFA94C8-0334-40A0-8369-D7588425869E}">
      <dgm:prSet/>
      <dgm:spPr/>
      <dgm:t>
        <a:bodyPr/>
        <a:lstStyle/>
        <a:p>
          <a:endParaRPr lang="en-IN"/>
        </a:p>
      </dgm:t>
    </dgm:pt>
    <dgm:pt modelId="{83A82BB1-1B1C-4397-A0BB-457E0E19E543}">
      <dgm:prSet phldrT="[Text]" custT="1"/>
      <dgm:spPr/>
      <dgm:t>
        <a:bodyPr/>
        <a:lstStyle/>
        <a:p>
          <a:r>
            <a:rPr lang="en-IN" sz="1100" b="1" dirty="0"/>
            <a:t>Basic </a:t>
          </a:r>
        </a:p>
        <a:p>
          <a:r>
            <a:rPr lang="en-IN" sz="1100" b="1" dirty="0"/>
            <a:t>(New)</a:t>
          </a:r>
        </a:p>
      </dgm:t>
    </dgm:pt>
    <dgm:pt modelId="{A569337D-531B-4E3D-AA44-4336FCC2CD3E}" type="parTrans" cxnId="{4FF38456-52E3-43E1-B89C-ACCD317ABD0C}">
      <dgm:prSet/>
      <dgm:spPr/>
      <dgm:t>
        <a:bodyPr/>
        <a:lstStyle/>
        <a:p>
          <a:endParaRPr lang="en-IN"/>
        </a:p>
      </dgm:t>
    </dgm:pt>
    <dgm:pt modelId="{A0C5F8B7-32CA-4886-80E7-AAE329B2DCB2}" type="sibTrans" cxnId="{4FF38456-52E3-43E1-B89C-ACCD317ABD0C}">
      <dgm:prSet/>
      <dgm:spPr/>
      <dgm:t>
        <a:bodyPr/>
        <a:lstStyle/>
        <a:p>
          <a:endParaRPr lang="en-IN"/>
        </a:p>
      </dgm:t>
    </dgm:pt>
    <dgm:pt modelId="{1CF14D57-086E-401D-9FE7-BBD7406096DF}" type="pres">
      <dgm:prSet presAssocID="{25C1A40A-DA2D-446F-8519-C13BD959F2CC}" presName="compositeShape" presStyleCnt="0">
        <dgm:presLayoutVars>
          <dgm:chMax val="7"/>
          <dgm:dir/>
          <dgm:resizeHandles val="exact"/>
        </dgm:presLayoutVars>
      </dgm:prSet>
      <dgm:spPr/>
    </dgm:pt>
    <dgm:pt modelId="{3A175146-AB70-40A9-AFA4-F51D236D471A}" type="pres">
      <dgm:prSet presAssocID="{25C1A40A-DA2D-446F-8519-C13BD959F2CC}" presName="wedge1" presStyleLbl="node1" presStyleIdx="0" presStyleCnt="3"/>
      <dgm:spPr/>
    </dgm:pt>
    <dgm:pt modelId="{145B310D-EC5F-4C38-8549-A7721A63C3E9}" type="pres">
      <dgm:prSet presAssocID="{25C1A40A-DA2D-446F-8519-C13BD959F2CC}" presName="dummy1a" presStyleCnt="0"/>
      <dgm:spPr/>
    </dgm:pt>
    <dgm:pt modelId="{89DC3B3E-0799-4ACE-B4A5-C5C440283341}" type="pres">
      <dgm:prSet presAssocID="{25C1A40A-DA2D-446F-8519-C13BD959F2CC}" presName="dummy1b" presStyleCnt="0"/>
      <dgm:spPr/>
    </dgm:pt>
    <dgm:pt modelId="{BB4C1322-4114-4C4A-B948-295EFFA0A40A}" type="pres">
      <dgm:prSet presAssocID="{25C1A40A-DA2D-446F-8519-C13BD959F2CC}" presName="wedge1Tx" presStyleLbl="node1" presStyleIdx="0" presStyleCnt="3">
        <dgm:presLayoutVars>
          <dgm:chMax val="0"/>
          <dgm:chPref val="0"/>
          <dgm:bulletEnabled val="1"/>
        </dgm:presLayoutVars>
      </dgm:prSet>
      <dgm:spPr/>
    </dgm:pt>
    <dgm:pt modelId="{E7DC12EC-64C3-4BC0-B374-B021B635EE5E}" type="pres">
      <dgm:prSet presAssocID="{25C1A40A-DA2D-446F-8519-C13BD959F2CC}" presName="wedge2" presStyleLbl="node1" presStyleIdx="1" presStyleCnt="3" custScaleX="99960" custScaleY="101259"/>
      <dgm:spPr/>
    </dgm:pt>
    <dgm:pt modelId="{3EDB37E4-4F43-45AA-B7C5-C688DA60FD00}" type="pres">
      <dgm:prSet presAssocID="{25C1A40A-DA2D-446F-8519-C13BD959F2CC}" presName="dummy2a" presStyleCnt="0"/>
      <dgm:spPr/>
    </dgm:pt>
    <dgm:pt modelId="{3458A9E3-4137-490E-9CB3-226A407C73AE}" type="pres">
      <dgm:prSet presAssocID="{25C1A40A-DA2D-446F-8519-C13BD959F2CC}" presName="dummy2b" presStyleCnt="0"/>
      <dgm:spPr/>
    </dgm:pt>
    <dgm:pt modelId="{882B370B-169C-4749-80F1-7947A9C3A4EC}" type="pres">
      <dgm:prSet presAssocID="{25C1A40A-DA2D-446F-8519-C13BD959F2CC}" presName="wedge2Tx" presStyleLbl="node1" presStyleIdx="1" presStyleCnt="3">
        <dgm:presLayoutVars>
          <dgm:chMax val="0"/>
          <dgm:chPref val="0"/>
          <dgm:bulletEnabled val="1"/>
        </dgm:presLayoutVars>
      </dgm:prSet>
      <dgm:spPr/>
    </dgm:pt>
    <dgm:pt modelId="{86D8A14B-DC44-46C5-9EFB-DF18724FCD7C}" type="pres">
      <dgm:prSet presAssocID="{25C1A40A-DA2D-446F-8519-C13BD959F2CC}" presName="wedge3" presStyleLbl="node1" presStyleIdx="2" presStyleCnt="3"/>
      <dgm:spPr/>
    </dgm:pt>
    <dgm:pt modelId="{12B4AC7F-DE9A-4C3B-BA3C-9581B14DB9A4}" type="pres">
      <dgm:prSet presAssocID="{25C1A40A-DA2D-446F-8519-C13BD959F2CC}" presName="dummy3a" presStyleCnt="0"/>
      <dgm:spPr/>
    </dgm:pt>
    <dgm:pt modelId="{11998F71-9C6C-4D1A-B81E-10788644D317}" type="pres">
      <dgm:prSet presAssocID="{25C1A40A-DA2D-446F-8519-C13BD959F2CC}" presName="dummy3b" presStyleCnt="0"/>
      <dgm:spPr/>
    </dgm:pt>
    <dgm:pt modelId="{05009D41-9910-4EF7-A83C-7E1E917EC85D}" type="pres">
      <dgm:prSet presAssocID="{25C1A40A-DA2D-446F-8519-C13BD959F2CC}" presName="wedge3Tx" presStyleLbl="node1" presStyleIdx="2" presStyleCnt="3">
        <dgm:presLayoutVars>
          <dgm:chMax val="0"/>
          <dgm:chPref val="0"/>
          <dgm:bulletEnabled val="1"/>
        </dgm:presLayoutVars>
      </dgm:prSet>
      <dgm:spPr/>
    </dgm:pt>
    <dgm:pt modelId="{BC30CBF7-A701-4641-9EBE-02F5F0843E87}" type="pres">
      <dgm:prSet presAssocID="{365D022D-1E7B-47B7-9711-B75066F48731}" presName="arrowWedge1" presStyleLbl="fgSibTrans2D1" presStyleIdx="0" presStyleCnt="3"/>
      <dgm:spPr/>
    </dgm:pt>
    <dgm:pt modelId="{64BBA807-3A99-46E9-BCC2-C9658067F29E}" type="pres">
      <dgm:prSet presAssocID="{9C67C5B2-9D56-4E23-AF2E-9D0C56686AC7}" presName="arrowWedge2" presStyleLbl="fgSibTrans2D1" presStyleIdx="1" presStyleCnt="3"/>
      <dgm:spPr/>
    </dgm:pt>
    <dgm:pt modelId="{F90FCDF2-7810-4F43-9078-171F5FDD1711}" type="pres">
      <dgm:prSet presAssocID="{A0C5F8B7-32CA-4886-80E7-AAE329B2DCB2}" presName="arrowWedge3" presStyleLbl="fgSibTrans2D1" presStyleIdx="2" presStyleCnt="3"/>
      <dgm:spPr/>
    </dgm:pt>
  </dgm:ptLst>
  <dgm:cxnLst>
    <dgm:cxn modelId="{F386102F-900B-42CE-B059-5852B95621E4}" type="presOf" srcId="{EBFA0728-2AB3-4493-9CC2-C4DDC1B52CDE}" destId="{BB4C1322-4114-4C4A-B948-295EFFA0A40A}" srcOrd="1" destOrd="0" presId="urn:microsoft.com/office/officeart/2005/8/layout/cycle8"/>
    <dgm:cxn modelId="{69E2F35C-2848-4FE0-9B19-2FABD83D0794}" type="presOf" srcId="{BC1B8930-C1ED-472E-B421-822ACEA511C8}" destId="{882B370B-169C-4749-80F1-7947A9C3A4EC}" srcOrd="1" destOrd="0" presId="urn:microsoft.com/office/officeart/2005/8/layout/cycle8"/>
    <dgm:cxn modelId="{FEA10760-AC51-414D-BBAA-5F0343127B9E}" type="presOf" srcId="{BC1B8930-C1ED-472E-B421-822ACEA511C8}" destId="{E7DC12EC-64C3-4BC0-B374-B021B635EE5E}" srcOrd="0" destOrd="0" presId="urn:microsoft.com/office/officeart/2005/8/layout/cycle8"/>
    <dgm:cxn modelId="{4FF38456-52E3-43E1-B89C-ACCD317ABD0C}" srcId="{25C1A40A-DA2D-446F-8519-C13BD959F2CC}" destId="{83A82BB1-1B1C-4397-A0BB-457E0E19E543}" srcOrd="2" destOrd="0" parTransId="{A569337D-531B-4E3D-AA44-4336FCC2CD3E}" sibTransId="{A0C5F8B7-32CA-4886-80E7-AAE329B2DCB2}"/>
    <dgm:cxn modelId="{7A726A93-E039-4F00-AF6E-065C05EFCA04}" type="presOf" srcId="{83A82BB1-1B1C-4397-A0BB-457E0E19E543}" destId="{05009D41-9910-4EF7-A83C-7E1E917EC85D}" srcOrd="1" destOrd="0" presId="urn:microsoft.com/office/officeart/2005/8/layout/cycle8"/>
    <dgm:cxn modelId="{7EEDB8C2-0A59-436A-BF3E-CA6965C24A70}" type="presOf" srcId="{EBFA0728-2AB3-4493-9CC2-C4DDC1B52CDE}" destId="{3A175146-AB70-40A9-AFA4-F51D236D471A}" srcOrd="0" destOrd="0" presId="urn:microsoft.com/office/officeart/2005/8/layout/cycle8"/>
    <dgm:cxn modelId="{EDFA94C8-0334-40A0-8369-D7588425869E}" srcId="{25C1A40A-DA2D-446F-8519-C13BD959F2CC}" destId="{BC1B8930-C1ED-472E-B421-822ACEA511C8}" srcOrd="1" destOrd="0" parTransId="{348E3000-3802-45FF-A8BE-F4D89BE0D2E1}" sibTransId="{9C67C5B2-9D56-4E23-AF2E-9D0C56686AC7}"/>
    <dgm:cxn modelId="{350519DD-3357-4011-BD5F-38AC3C7380EB}" type="presOf" srcId="{25C1A40A-DA2D-446F-8519-C13BD959F2CC}" destId="{1CF14D57-086E-401D-9FE7-BBD7406096DF}" srcOrd="0" destOrd="0" presId="urn:microsoft.com/office/officeart/2005/8/layout/cycle8"/>
    <dgm:cxn modelId="{8CC341E6-F6F1-4A78-8699-17CB4EB0C335}" type="presOf" srcId="{83A82BB1-1B1C-4397-A0BB-457E0E19E543}" destId="{86D8A14B-DC44-46C5-9EFB-DF18724FCD7C}" srcOrd="0" destOrd="0" presId="urn:microsoft.com/office/officeart/2005/8/layout/cycle8"/>
    <dgm:cxn modelId="{5E98F9FF-850D-4DAA-9313-4A56A026C27C}" srcId="{25C1A40A-DA2D-446F-8519-C13BD959F2CC}" destId="{EBFA0728-2AB3-4493-9CC2-C4DDC1B52CDE}" srcOrd="0" destOrd="0" parTransId="{A149F11D-729E-4633-8254-6F3B58723BEF}" sibTransId="{365D022D-1E7B-47B7-9711-B75066F48731}"/>
    <dgm:cxn modelId="{EF7A56F6-51C0-48C0-9CB7-ACF62AFEB3E1}" type="presParOf" srcId="{1CF14D57-086E-401D-9FE7-BBD7406096DF}" destId="{3A175146-AB70-40A9-AFA4-F51D236D471A}" srcOrd="0" destOrd="0" presId="urn:microsoft.com/office/officeart/2005/8/layout/cycle8"/>
    <dgm:cxn modelId="{1D42B510-4F77-4873-B060-1E3DEB0426D4}" type="presParOf" srcId="{1CF14D57-086E-401D-9FE7-BBD7406096DF}" destId="{145B310D-EC5F-4C38-8549-A7721A63C3E9}" srcOrd="1" destOrd="0" presId="urn:microsoft.com/office/officeart/2005/8/layout/cycle8"/>
    <dgm:cxn modelId="{F2028F21-B3BD-4882-956E-A15804538AB0}" type="presParOf" srcId="{1CF14D57-086E-401D-9FE7-BBD7406096DF}" destId="{89DC3B3E-0799-4ACE-B4A5-C5C440283341}" srcOrd="2" destOrd="0" presId="urn:microsoft.com/office/officeart/2005/8/layout/cycle8"/>
    <dgm:cxn modelId="{0B95F7A1-115E-4908-99D2-941DF642B53E}" type="presParOf" srcId="{1CF14D57-086E-401D-9FE7-BBD7406096DF}" destId="{BB4C1322-4114-4C4A-B948-295EFFA0A40A}" srcOrd="3" destOrd="0" presId="urn:microsoft.com/office/officeart/2005/8/layout/cycle8"/>
    <dgm:cxn modelId="{3FB7C69E-1498-4B20-BE72-241B0A05EE5B}" type="presParOf" srcId="{1CF14D57-086E-401D-9FE7-BBD7406096DF}" destId="{E7DC12EC-64C3-4BC0-B374-B021B635EE5E}" srcOrd="4" destOrd="0" presId="urn:microsoft.com/office/officeart/2005/8/layout/cycle8"/>
    <dgm:cxn modelId="{801191C3-D487-4652-A484-AFE8AFB7DF73}" type="presParOf" srcId="{1CF14D57-086E-401D-9FE7-BBD7406096DF}" destId="{3EDB37E4-4F43-45AA-B7C5-C688DA60FD00}" srcOrd="5" destOrd="0" presId="urn:microsoft.com/office/officeart/2005/8/layout/cycle8"/>
    <dgm:cxn modelId="{A94A51D1-10BC-41DA-91DD-79F42EBF19EB}" type="presParOf" srcId="{1CF14D57-086E-401D-9FE7-BBD7406096DF}" destId="{3458A9E3-4137-490E-9CB3-226A407C73AE}" srcOrd="6" destOrd="0" presId="urn:microsoft.com/office/officeart/2005/8/layout/cycle8"/>
    <dgm:cxn modelId="{11193ADC-450C-4F27-BEBE-2C25FB5BA913}" type="presParOf" srcId="{1CF14D57-086E-401D-9FE7-BBD7406096DF}" destId="{882B370B-169C-4749-80F1-7947A9C3A4EC}" srcOrd="7" destOrd="0" presId="urn:microsoft.com/office/officeart/2005/8/layout/cycle8"/>
    <dgm:cxn modelId="{69BED22A-8207-493F-9246-97ED70203490}" type="presParOf" srcId="{1CF14D57-086E-401D-9FE7-BBD7406096DF}" destId="{86D8A14B-DC44-46C5-9EFB-DF18724FCD7C}" srcOrd="8" destOrd="0" presId="urn:microsoft.com/office/officeart/2005/8/layout/cycle8"/>
    <dgm:cxn modelId="{15600734-ACA3-4278-8E38-A130092E396E}" type="presParOf" srcId="{1CF14D57-086E-401D-9FE7-BBD7406096DF}" destId="{12B4AC7F-DE9A-4C3B-BA3C-9581B14DB9A4}" srcOrd="9" destOrd="0" presId="urn:microsoft.com/office/officeart/2005/8/layout/cycle8"/>
    <dgm:cxn modelId="{B1DC8C0D-00A1-48B9-8F51-F43CF007BAC0}" type="presParOf" srcId="{1CF14D57-086E-401D-9FE7-BBD7406096DF}" destId="{11998F71-9C6C-4D1A-B81E-10788644D317}" srcOrd="10" destOrd="0" presId="urn:microsoft.com/office/officeart/2005/8/layout/cycle8"/>
    <dgm:cxn modelId="{992365C2-29D5-4522-BA27-A85904F8D518}" type="presParOf" srcId="{1CF14D57-086E-401D-9FE7-BBD7406096DF}" destId="{05009D41-9910-4EF7-A83C-7E1E917EC85D}" srcOrd="11" destOrd="0" presId="urn:microsoft.com/office/officeart/2005/8/layout/cycle8"/>
    <dgm:cxn modelId="{7EC7723B-57DE-4A62-9163-75E553EF5BE0}" type="presParOf" srcId="{1CF14D57-086E-401D-9FE7-BBD7406096DF}" destId="{BC30CBF7-A701-4641-9EBE-02F5F0843E87}" srcOrd="12" destOrd="0" presId="urn:microsoft.com/office/officeart/2005/8/layout/cycle8"/>
    <dgm:cxn modelId="{9BEB70D3-6885-4361-AC5F-BB83BD0E58AE}" type="presParOf" srcId="{1CF14D57-086E-401D-9FE7-BBD7406096DF}" destId="{64BBA807-3A99-46E9-BCC2-C9658067F29E}" srcOrd="13" destOrd="0" presId="urn:microsoft.com/office/officeart/2005/8/layout/cycle8"/>
    <dgm:cxn modelId="{893E1623-EC2A-4CAA-B648-4255DFF3F6CE}" type="presParOf" srcId="{1CF14D57-086E-401D-9FE7-BBD7406096DF}" destId="{F90FCDF2-7810-4F43-9078-171F5FDD1711}"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25C1A40A-DA2D-446F-8519-C13BD959F2CC}" type="doc">
      <dgm:prSet loTypeId="urn:microsoft.com/office/officeart/2005/8/layout/cycle8" loCatId="cycle" qsTypeId="urn:microsoft.com/office/officeart/2005/8/quickstyle/simple1" qsCatId="simple" csTypeId="urn:microsoft.com/office/officeart/2005/8/colors/colorful3" csCatId="colorful" phldr="1"/>
      <dgm:spPr/>
      <dgm:t>
        <a:bodyPr/>
        <a:lstStyle/>
        <a:p>
          <a:endParaRPr lang="en-IN"/>
        </a:p>
      </dgm:t>
    </dgm:pt>
    <dgm:pt modelId="{EBFA0728-2AB3-4493-9CC2-C4DDC1B52CDE}">
      <dgm:prSet phldrT="[Text]" custT="1"/>
      <dgm:spPr/>
      <dgm:t>
        <a:bodyPr/>
        <a:lstStyle/>
        <a:p>
          <a:r>
            <a:rPr lang="en-IN" sz="1100" b="1" dirty="0"/>
            <a:t>Project</a:t>
          </a:r>
        </a:p>
        <a:p>
          <a:r>
            <a:rPr lang="en-IN" sz="1100" b="1" dirty="0"/>
            <a:t>(Practice)</a:t>
          </a:r>
          <a:r>
            <a:rPr lang="en-IN" sz="1100" dirty="0"/>
            <a:t> </a:t>
          </a:r>
          <a:endParaRPr lang="en-IN" sz="1100" b="1" dirty="0"/>
        </a:p>
      </dgm:t>
    </dgm:pt>
    <dgm:pt modelId="{A149F11D-729E-4633-8254-6F3B58723BEF}" type="parTrans" cxnId="{5E98F9FF-850D-4DAA-9313-4A56A026C27C}">
      <dgm:prSet/>
      <dgm:spPr/>
      <dgm:t>
        <a:bodyPr/>
        <a:lstStyle/>
        <a:p>
          <a:endParaRPr lang="en-IN"/>
        </a:p>
      </dgm:t>
    </dgm:pt>
    <dgm:pt modelId="{365D022D-1E7B-47B7-9711-B75066F48731}" type="sibTrans" cxnId="{5E98F9FF-850D-4DAA-9313-4A56A026C27C}">
      <dgm:prSet/>
      <dgm:spPr/>
      <dgm:t>
        <a:bodyPr/>
        <a:lstStyle/>
        <a:p>
          <a:endParaRPr lang="en-IN"/>
        </a:p>
      </dgm:t>
    </dgm:pt>
    <dgm:pt modelId="{BC1B8930-C1ED-472E-B421-822ACEA511C8}">
      <dgm:prSet phldrT="[Text]" custT="1"/>
      <dgm:spPr/>
      <dgm:t>
        <a:bodyPr/>
        <a:lstStyle/>
        <a:p>
          <a:r>
            <a:rPr lang="en-IN" sz="1100" b="1" dirty="0"/>
            <a:t>Case Studies</a:t>
          </a:r>
        </a:p>
        <a:p>
          <a:r>
            <a:rPr lang="en-IN" sz="1100" b="1" dirty="0"/>
            <a:t>(Trends)</a:t>
          </a:r>
          <a:endParaRPr lang="en-IN" sz="2000" b="1" dirty="0"/>
        </a:p>
      </dgm:t>
    </dgm:pt>
    <dgm:pt modelId="{348E3000-3802-45FF-A8BE-F4D89BE0D2E1}" type="parTrans" cxnId="{EDFA94C8-0334-40A0-8369-D7588425869E}">
      <dgm:prSet/>
      <dgm:spPr/>
      <dgm:t>
        <a:bodyPr/>
        <a:lstStyle/>
        <a:p>
          <a:endParaRPr lang="en-IN"/>
        </a:p>
      </dgm:t>
    </dgm:pt>
    <dgm:pt modelId="{9C67C5B2-9D56-4E23-AF2E-9D0C56686AC7}" type="sibTrans" cxnId="{EDFA94C8-0334-40A0-8369-D7588425869E}">
      <dgm:prSet/>
      <dgm:spPr/>
      <dgm:t>
        <a:bodyPr/>
        <a:lstStyle/>
        <a:p>
          <a:endParaRPr lang="en-IN"/>
        </a:p>
      </dgm:t>
    </dgm:pt>
    <dgm:pt modelId="{83A82BB1-1B1C-4397-A0BB-457E0E19E543}">
      <dgm:prSet phldrT="[Text]" custT="1"/>
      <dgm:spPr/>
      <dgm:t>
        <a:bodyPr/>
        <a:lstStyle/>
        <a:p>
          <a:r>
            <a:rPr lang="en-IN" sz="1100" b="1" dirty="0"/>
            <a:t>e-Book</a:t>
          </a:r>
        </a:p>
        <a:p>
          <a:r>
            <a:rPr lang="en-IN" sz="1100" b="1" dirty="0"/>
            <a:t>(Theory)</a:t>
          </a:r>
        </a:p>
      </dgm:t>
    </dgm:pt>
    <dgm:pt modelId="{A569337D-531B-4E3D-AA44-4336FCC2CD3E}" type="parTrans" cxnId="{4FF38456-52E3-43E1-B89C-ACCD317ABD0C}">
      <dgm:prSet/>
      <dgm:spPr/>
      <dgm:t>
        <a:bodyPr/>
        <a:lstStyle/>
        <a:p>
          <a:endParaRPr lang="en-IN"/>
        </a:p>
      </dgm:t>
    </dgm:pt>
    <dgm:pt modelId="{A0C5F8B7-32CA-4886-80E7-AAE329B2DCB2}" type="sibTrans" cxnId="{4FF38456-52E3-43E1-B89C-ACCD317ABD0C}">
      <dgm:prSet/>
      <dgm:spPr/>
      <dgm:t>
        <a:bodyPr/>
        <a:lstStyle/>
        <a:p>
          <a:endParaRPr lang="en-IN"/>
        </a:p>
      </dgm:t>
    </dgm:pt>
    <dgm:pt modelId="{1CF14D57-086E-401D-9FE7-BBD7406096DF}" type="pres">
      <dgm:prSet presAssocID="{25C1A40A-DA2D-446F-8519-C13BD959F2CC}" presName="compositeShape" presStyleCnt="0">
        <dgm:presLayoutVars>
          <dgm:chMax val="7"/>
          <dgm:dir/>
          <dgm:resizeHandles val="exact"/>
        </dgm:presLayoutVars>
      </dgm:prSet>
      <dgm:spPr/>
    </dgm:pt>
    <dgm:pt modelId="{3A175146-AB70-40A9-AFA4-F51D236D471A}" type="pres">
      <dgm:prSet presAssocID="{25C1A40A-DA2D-446F-8519-C13BD959F2CC}" presName="wedge1" presStyleLbl="node1" presStyleIdx="0" presStyleCnt="3"/>
      <dgm:spPr/>
    </dgm:pt>
    <dgm:pt modelId="{145B310D-EC5F-4C38-8549-A7721A63C3E9}" type="pres">
      <dgm:prSet presAssocID="{25C1A40A-DA2D-446F-8519-C13BD959F2CC}" presName="dummy1a" presStyleCnt="0"/>
      <dgm:spPr/>
    </dgm:pt>
    <dgm:pt modelId="{89DC3B3E-0799-4ACE-B4A5-C5C440283341}" type="pres">
      <dgm:prSet presAssocID="{25C1A40A-DA2D-446F-8519-C13BD959F2CC}" presName="dummy1b" presStyleCnt="0"/>
      <dgm:spPr/>
    </dgm:pt>
    <dgm:pt modelId="{BB4C1322-4114-4C4A-B948-295EFFA0A40A}" type="pres">
      <dgm:prSet presAssocID="{25C1A40A-DA2D-446F-8519-C13BD959F2CC}" presName="wedge1Tx" presStyleLbl="node1" presStyleIdx="0" presStyleCnt="3">
        <dgm:presLayoutVars>
          <dgm:chMax val="0"/>
          <dgm:chPref val="0"/>
          <dgm:bulletEnabled val="1"/>
        </dgm:presLayoutVars>
      </dgm:prSet>
      <dgm:spPr/>
    </dgm:pt>
    <dgm:pt modelId="{E7DC12EC-64C3-4BC0-B374-B021B635EE5E}" type="pres">
      <dgm:prSet presAssocID="{25C1A40A-DA2D-446F-8519-C13BD959F2CC}" presName="wedge2" presStyleLbl="node1" presStyleIdx="1" presStyleCnt="3"/>
      <dgm:spPr/>
    </dgm:pt>
    <dgm:pt modelId="{3EDB37E4-4F43-45AA-B7C5-C688DA60FD00}" type="pres">
      <dgm:prSet presAssocID="{25C1A40A-DA2D-446F-8519-C13BD959F2CC}" presName="dummy2a" presStyleCnt="0"/>
      <dgm:spPr/>
    </dgm:pt>
    <dgm:pt modelId="{3458A9E3-4137-490E-9CB3-226A407C73AE}" type="pres">
      <dgm:prSet presAssocID="{25C1A40A-DA2D-446F-8519-C13BD959F2CC}" presName="dummy2b" presStyleCnt="0"/>
      <dgm:spPr/>
    </dgm:pt>
    <dgm:pt modelId="{882B370B-169C-4749-80F1-7947A9C3A4EC}" type="pres">
      <dgm:prSet presAssocID="{25C1A40A-DA2D-446F-8519-C13BD959F2CC}" presName="wedge2Tx" presStyleLbl="node1" presStyleIdx="1" presStyleCnt="3">
        <dgm:presLayoutVars>
          <dgm:chMax val="0"/>
          <dgm:chPref val="0"/>
          <dgm:bulletEnabled val="1"/>
        </dgm:presLayoutVars>
      </dgm:prSet>
      <dgm:spPr/>
    </dgm:pt>
    <dgm:pt modelId="{86D8A14B-DC44-46C5-9EFB-DF18724FCD7C}" type="pres">
      <dgm:prSet presAssocID="{25C1A40A-DA2D-446F-8519-C13BD959F2CC}" presName="wedge3" presStyleLbl="node1" presStyleIdx="2" presStyleCnt="3" custScaleX="105019" custScaleY="99395"/>
      <dgm:spPr/>
    </dgm:pt>
    <dgm:pt modelId="{12B4AC7F-DE9A-4C3B-BA3C-9581B14DB9A4}" type="pres">
      <dgm:prSet presAssocID="{25C1A40A-DA2D-446F-8519-C13BD959F2CC}" presName="dummy3a" presStyleCnt="0"/>
      <dgm:spPr/>
    </dgm:pt>
    <dgm:pt modelId="{11998F71-9C6C-4D1A-B81E-10788644D317}" type="pres">
      <dgm:prSet presAssocID="{25C1A40A-DA2D-446F-8519-C13BD959F2CC}" presName="dummy3b" presStyleCnt="0"/>
      <dgm:spPr/>
    </dgm:pt>
    <dgm:pt modelId="{05009D41-9910-4EF7-A83C-7E1E917EC85D}" type="pres">
      <dgm:prSet presAssocID="{25C1A40A-DA2D-446F-8519-C13BD959F2CC}" presName="wedge3Tx" presStyleLbl="node1" presStyleIdx="2" presStyleCnt="3">
        <dgm:presLayoutVars>
          <dgm:chMax val="0"/>
          <dgm:chPref val="0"/>
          <dgm:bulletEnabled val="1"/>
        </dgm:presLayoutVars>
      </dgm:prSet>
      <dgm:spPr/>
    </dgm:pt>
    <dgm:pt modelId="{BC30CBF7-A701-4641-9EBE-02F5F0843E87}" type="pres">
      <dgm:prSet presAssocID="{365D022D-1E7B-47B7-9711-B75066F48731}" presName="arrowWedge1" presStyleLbl="fgSibTrans2D1" presStyleIdx="0" presStyleCnt="3"/>
      <dgm:spPr/>
    </dgm:pt>
    <dgm:pt modelId="{64BBA807-3A99-46E9-BCC2-C9658067F29E}" type="pres">
      <dgm:prSet presAssocID="{9C67C5B2-9D56-4E23-AF2E-9D0C56686AC7}" presName="arrowWedge2" presStyleLbl="fgSibTrans2D1" presStyleIdx="1" presStyleCnt="3"/>
      <dgm:spPr/>
    </dgm:pt>
    <dgm:pt modelId="{F90FCDF2-7810-4F43-9078-171F5FDD1711}" type="pres">
      <dgm:prSet presAssocID="{A0C5F8B7-32CA-4886-80E7-AAE329B2DCB2}" presName="arrowWedge3" presStyleLbl="fgSibTrans2D1" presStyleIdx="2" presStyleCnt="3"/>
      <dgm:spPr/>
    </dgm:pt>
  </dgm:ptLst>
  <dgm:cxnLst>
    <dgm:cxn modelId="{F386102F-900B-42CE-B059-5852B95621E4}" type="presOf" srcId="{EBFA0728-2AB3-4493-9CC2-C4DDC1B52CDE}" destId="{BB4C1322-4114-4C4A-B948-295EFFA0A40A}" srcOrd="1" destOrd="0" presId="urn:microsoft.com/office/officeart/2005/8/layout/cycle8"/>
    <dgm:cxn modelId="{69E2F35C-2848-4FE0-9B19-2FABD83D0794}" type="presOf" srcId="{BC1B8930-C1ED-472E-B421-822ACEA511C8}" destId="{882B370B-169C-4749-80F1-7947A9C3A4EC}" srcOrd="1" destOrd="0" presId="urn:microsoft.com/office/officeart/2005/8/layout/cycle8"/>
    <dgm:cxn modelId="{FEA10760-AC51-414D-BBAA-5F0343127B9E}" type="presOf" srcId="{BC1B8930-C1ED-472E-B421-822ACEA511C8}" destId="{E7DC12EC-64C3-4BC0-B374-B021B635EE5E}" srcOrd="0" destOrd="0" presId="urn:microsoft.com/office/officeart/2005/8/layout/cycle8"/>
    <dgm:cxn modelId="{4FF38456-52E3-43E1-B89C-ACCD317ABD0C}" srcId="{25C1A40A-DA2D-446F-8519-C13BD959F2CC}" destId="{83A82BB1-1B1C-4397-A0BB-457E0E19E543}" srcOrd="2" destOrd="0" parTransId="{A569337D-531B-4E3D-AA44-4336FCC2CD3E}" sibTransId="{A0C5F8B7-32CA-4886-80E7-AAE329B2DCB2}"/>
    <dgm:cxn modelId="{7A726A93-E039-4F00-AF6E-065C05EFCA04}" type="presOf" srcId="{83A82BB1-1B1C-4397-A0BB-457E0E19E543}" destId="{05009D41-9910-4EF7-A83C-7E1E917EC85D}" srcOrd="1" destOrd="0" presId="urn:microsoft.com/office/officeart/2005/8/layout/cycle8"/>
    <dgm:cxn modelId="{7EEDB8C2-0A59-436A-BF3E-CA6965C24A70}" type="presOf" srcId="{EBFA0728-2AB3-4493-9CC2-C4DDC1B52CDE}" destId="{3A175146-AB70-40A9-AFA4-F51D236D471A}" srcOrd="0" destOrd="0" presId="urn:microsoft.com/office/officeart/2005/8/layout/cycle8"/>
    <dgm:cxn modelId="{EDFA94C8-0334-40A0-8369-D7588425869E}" srcId="{25C1A40A-DA2D-446F-8519-C13BD959F2CC}" destId="{BC1B8930-C1ED-472E-B421-822ACEA511C8}" srcOrd="1" destOrd="0" parTransId="{348E3000-3802-45FF-A8BE-F4D89BE0D2E1}" sibTransId="{9C67C5B2-9D56-4E23-AF2E-9D0C56686AC7}"/>
    <dgm:cxn modelId="{350519DD-3357-4011-BD5F-38AC3C7380EB}" type="presOf" srcId="{25C1A40A-DA2D-446F-8519-C13BD959F2CC}" destId="{1CF14D57-086E-401D-9FE7-BBD7406096DF}" srcOrd="0" destOrd="0" presId="urn:microsoft.com/office/officeart/2005/8/layout/cycle8"/>
    <dgm:cxn modelId="{8CC341E6-F6F1-4A78-8699-17CB4EB0C335}" type="presOf" srcId="{83A82BB1-1B1C-4397-A0BB-457E0E19E543}" destId="{86D8A14B-DC44-46C5-9EFB-DF18724FCD7C}" srcOrd="0" destOrd="0" presId="urn:microsoft.com/office/officeart/2005/8/layout/cycle8"/>
    <dgm:cxn modelId="{5E98F9FF-850D-4DAA-9313-4A56A026C27C}" srcId="{25C1A40A-DA2D-446F-8519-C13BD959F2CC}" destId="{EBFA0728-2AB3-4493-9CC2-C4DDC1B52CDE}" srcOrd="0" destOrd="0" parTransId="{A149F11D-729E-4633-8254-6F3B58723BEF}" sibTransId="{365D022D-1E7B-47B7-9711-B75066F48731}"/>
    <dgm:cxn modelId="{EF7A56F6-51C0-48C0-9CB7-ACF62AFEB3E1}" type="presParOf" srcId="{1CF14D57-086E-401D-9FE7-BBD7406096DF}" destId="{3A175146-AB70-40A9-AFA4-F51D236D471A}" srcOrd="0" destOrd="0" presId="urn:microsoft.com/office/officeart/2005/8/layout/cycle8"/>
    <dgm:cxn modelId="{1D42B510-4F77-4873-B060-1E3DEB0426D4}" type="presParOf" srcId="{1CF14D57-086E-401D-9FE7-BBD7406096DF}" destId="{145B310D-EC5F-4C38-8549-A7721A63C3E9}" srcOrd="1" destOrd="0" presId="urn:microsoft.com/office/officeart/2005/8/layout/cycle8"/>
    <dgm:cxn modelId="{F2028F21-B3BD-4882-956E-A15804538AB0}" type="presParOf" srcId="{1CF14D57-086E-401D-9FE7-BBD7406096DF}" destId="{89DC3B3E-0799-4ACE-B4A5-C5C440283341}" srcOrd="2" destOrd="0" presId="urn:microsoft.com/office/officeart/2005/8/layout/cycle8"/>
    <dgm:cxn modelId="{0B95F7A1-115E-4908-99D2-941DF642B53E}" type="presParOf" srcId="{1CF14D57-086E-401D-9FE7-BBD7406096DF}" destId="{BB4C1322-4114-4C4A-B948-295EFFA0A40A}" srcOrd="3" destOrd="0" presId="urn:microsoft.com/office/officeart/2005/8/layout/cycle8"/>
    <dgm:cxn modelId="{3FB7C69E-1498-4B20-BE72-241B0A05EE5B}" type="presParOf" srcId="{1CF14D57-086E-401D-9FE7-BBD7406096DF}" destId="{E7DC12EC-64C3-4BC0-B374-B021B635EE5E}" srcOrd="4" destOrd="0" presId="urn:microsoft.com/office/officeart/2005/8/layout/cycle8"/>
    <dgm:cxn modelId="{801191C3-D487-4652-A484-AFE8AFB7DF73}" type="presParOf" srcId="{1CF14D57-086E-401D-9FE7-BBD7406096DF}" destId="{3EDB37E4-4F43-45AA-B7C5-C688DA60FD00}" srcOrd="5" destOrd="0" presId="urn:microsoft.com/office/officeart/2005/8/layout/cycle8"/>
    <dgm:cxn modelId="{A94A51D1-10BC-41DA-91DD-79F42EBF19EB}" type="presParOf" srcId="{1CF14D57-086E-401D-9FE7-BBD7406096DF}" destId="{3458A9E3-4137-490E-9CB3-226A407C73AE}" srcOrd="6" destOrd="0" presId="urn:microsoft.com/office/officeart/2005/8/layout/cycle8"/>
    <dgm:cxn modelId="{11193ADC-450C-4F27-BEBE-2C25FB5BA913}" type="presParOf" srcId="{1CF14D57-086E-401D-9FE7-BBD7406096DF}" destId="{882B370B-169C-4749-80F1-7947A9C3A4EC}" srcOrd="7" destOrd="0" presId="urn:microsoft.com/office/officeart/2005/8/layout/cycle8"/>
    <dgm:cxn modelId="{69BED22A-8207-493F-9246-97ED70203490}" type="presParOf" srcId="{1CF14D57-086E-401D-9FE7-BBD7406096DF}" destId="{86D8A14B-DC44-46C5-9EFB-DF18724FCD7C}" srcOrd="8" destOrd="0" presId="urn:microsoft.com/office/officeart/2005/8/layout/cycle8"/>
    <dgm:cxn modelId="{15600734-ACA3-4278-8E38-A130092E396E}" type="presParOf" srcId="{1CF14D57-086E-401D-9FE7-BBD7406096DF}" destId="{12B4AC7F-DE9A-4C3B-BA3C-9581B14DB9A4}" srcOrd="9" destOrd="0" presId="urn:microsoft.com/office/officeart/2005/8/layout/cycle8"/>
    <dgm:cxn modelId="{B1DC8C0D-00A1-48B9-8F51-F43CF007BAC0}" type="presParOf" srcId="{1CF14D57-086E-401D-9FE7-BBD7406096DF}" destId="{11998F71-9C6C-4D1A-B81E-10788644D317}" srcOrd="10" destOrd="0" presId="urn:microsoft.com/office/officeart/2005/8/layout/cycle8"/>
    <dgm:cxn modelId="{992365C2-29D5-4522-BA27-A85904F8D518}" type="presParOf" srcId="{1CF14D57-086E-401D-9FE7-BBD7406096DF}" destId="{05009D41-9910-4EF7-A83C-7E1E917EC85D}" srcOrd="11" destOrd="0" presId="urn:microsoft.com/office/officeart/2005/8/layout/cycle8"/>
    <dgm:cxn modelId="{7EC7723B-57DE-4A62-9163-75E553EF5BE0}" type="presParOf" srcId="{1CF14D57-086E-401D-9FE7-BBD7406096DF}" destId="{BC30CBF7-A701-4641-9EBE-02F5F0843E87}" srcOrd="12" destOrd="0" presId="urn:microsoft.com/office/officeart/2005/8/layout/cycle8"/>
    <dgm:cxn modelId="{9BEB70D3-6885-4361-AC5F-BB83BD0E58AE}" type="presParOf" srcId="{1CF14D57-086E-401D-9FE7-BBD7406096DF}" destId="{64BBA807-3A99-46E9-BCC2-C9658067F29E}" srcOrd="13" destOrd="0" presId="urn:microsoft.com/office/officeart/2005/8/layout/cycle8"/>
    <dgm:cxn modelId="{893E1623-EC2A-4CAA-B648-4255DFF3F6CE}" type="presParOf" srcId="{1CF14D57-086E-401D-9FE7-BBD7406096DF}" destId="{F90FCDF2-7810-4F43-9078-171F5FDD1711}" srcOrd="14" destOrd="0" presId="urn:microsoft.com/office/officeart/2005/8/layout/cycle8"/>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175146-AB70-40A9-AFA4-F51D236D471A}">
      <dsp:nvSpPr>
        <dsp:cNvPr id="0" name=""/>
        <dsp:cNvSpPr/>
      </dsp:nvSpPr>
      <dsp:spPr>
        <a:xfrm>
          <a:off x="808125" y="162913"/>
          <a:ext cx="2194604" cy="2194604"/>
        </a:xfrm>
        <a:prstGeom prst="pie">
          <a:avLst>
            <a:gd name="adj1" fmla="val 16200000"/>
            <a:gd name="adj2" fmla="val 180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IN" sz="1100" b="1" kern="1200" dirty="0"/>
            <a:t>Medium (Awareness) </a:t>
          </a:r>
        </a:p>
      </dsp:txBody>
      <dsp:txXfrm>
        <a:off x="1964734" y="627960"/>
        <a:ext cx="783787" cy="653155"/>
      </dsp:txXfrm>
    </dsp:sp>
    <dsp:sp modelId="{E7DC12EC-64C3-4BC0-B374-B021B635EE5E}">
      <dsp:nvSpPr>
        <dsp:cNvPr id="0" name=""/>
        <dsp:cNvSpPr/>
      </dsp:nvSpPr>
      <dsp:spPr>
        <a:xfrm>
          <a:off x="763366" y="227476"/>
          <a:ext cx="2193726" cy="2222234"/>
        </a:xfrm>
        <a:prstGeom prst="pie">
          <a:avLst>
            <a:gd name="adj1" fmla="val 1800000"/>
            <a:gd name="adj2" fmla="val 9000000"/>
          </a:avLst>
        </a:prstGeom>
        <a:solidFill>
          <a:schemeClr val="accent3">
            <a:hueOff val="4927703"/>
            <a:satOff val="-26639"/>
            <a:lumOff val="-98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IN" sz="1100" b="1" kern="1200" dirty="0"/>
            <a:t>Advanced (Experienced) </a:t>
          </a:r>
        </a:p>
      </dsp:txBody>
      <dsp:txXfrm>
        <a:off x="1285682" y="1669283"/>
        <a:ext cx="1175210" cy="582013"/>
      </dsp:txXfrm>
    </dsp:sp>
    <dsp:sp modelId="{86D8A14B-DC44-46C5-9EFB-DF18724FCD7C}">
      <dsp:nvSpPr>
        <dsp:cNvPr id="0" name=""/>
        <dsp:cNvSpPr/>
      </dsp:nvSpPr>
      <dsp:spPr>
        <a:xfrm>
          <a:off x="717729" y="162913"/>
          <a:ext cx="2194604" cy="2194604"/>
        </a:xfrm>
        <a:prstGeom prst="pie">
          <a:avLst>
            <a:gd name="adj1" fmla="val 9000000"/>
            <a:gd name="adj2" fmla="val 16200000"/>
          </a:avLst>
        </a:prstGeom>
        <a:solidFill>
          <a:schemeClr val="accent3">
            <a:hueOff val="9855406"/>
            <a:satOff val="-53278"/>
            <a:lumOff val="-1961"/>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IN" sz="1100" b="1" kern="1200" dirty="0"/>
            <a:t>Basic </a:t>
          </a:r>
        </a:p>
        <a:p>
          <a:pPr marL="0" lvl="0" indent="0" algn="ctr" defTabSz="488950">
            <a:lnSpc>
              <a:spcPct val="90000"/>
            </a:lnSpc>
            <a:spcBef>
              <a:spcPct val="0"/>
            </a:spcBef>
            <a:spcAft>
              <a:spcPct val="35000"/>
            </a:spcAft>
            <a:buNone/>
          </a:pPr>
          <a:r>
            <a:rPr lang="en-IN" sz="1100" b="1" kern="1200" dirty="0"/>
            <a:t>(New)</a:t>
          </a:r>
        </a:p>
      </dsp:txBody>
      <dsp:txXfrm>
        <a:off x="971937" y="627960"/>
        <a:ext cx="783787" cy="653155"/>
      </dsp:txXfrm>
    </dsp:sp>
    <dsp:sp modelId="{BC30CBF7-A701-4641-9EBE-02F5F0843E87}">
      <dsp:nvSpPr>
        <dsp:cNvPr id="0" name=""/>
        <dsp:cNvSpPr/>
      </dsp:nvSpPr>
      <dsp:spPr>
        <a:xfrm>
          <a:off x="672450" y="27056"/>
          <a:ext cx="2466317" cy="2466317"/>
        </a:xfrm>
        <a:prstGeom prst="circularArrow">
          <a:avLst>
            <a:gd name="adj1" fmla="val 5085"/>
            <a:gd name="adj2" fmla="val 327528"/>
            <a:gd name="adj3" fmla="val 1472472"/>
            <a:gd name="adj4" fmla="val 16199432"/>
            <a:gd name="adj5" fmla="val 5932"/>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4BBA807-3A99-46E9-BCC2-C9658067F29E}">
      <dsp:nvSpPr>
        <dsp:cNvPr id="0" name=""/>
        <dsp:cNvSpPr/>
      </dsp:nvSpPr>
      <dsp:spPr>
        <a:xfrm>
          <a:off x="627078" y="105069"/>
          <a:ext cx="2466317" cy="2466317"/>
        </a:xfrm>
        <a:prstGeom prst="circularArrow">
          <a:avLst>
            <a:gd name="adj1" fmla="val 5085"/>
            <a:gd name="adj2" fmla="val 327528"/>
            <a:gd name="adj3" fmla="val 8671970"/>
            <a:gd name="adj4" fmla="val 1800502"/>
            <a:gd name="adj5" fmla="val 5932"/>
          </a:avLst>
        </a:prstGeom>
        <a:solidFill>
          <a:schemeClr val="accent3">
            <a:hueOff val="4927703"/>
            <a:satOff val="-26639"/>
            <a:lumOff val="-98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90FCDF2-7810-4F43-9078-171F5FDD1711}">
      <dsp:nvSpPr>
        <dsp:cNvPr id="0" name=""/>
        <dsp:cNvSpPr/>
      </dsp:nvSpPr>
      <dsp:spPr>
        <a:xfrm>
          <a:off x="581691" y="27056"/>
          <a:ext cx="2466317" cy="2466317"/>
        </a:xfrm>
        <a:prstGeom prst="circularArrow">
          <a:avLst>
            <a:gd name="adj1" fmla="val 5085"/>
            <a:gd name="adj2" fmla="val 327528"/>
            <a:gd name="adj3" fmla="val 15873039"/>
            <a:gd name="adj4" fmla="val 9000000"/>
            <a:gd name="adj5" fmla="val 5932"/>
          </a:avLst>
        </a:prstGeom>
        <a:solidFill>
          <a:schemeClr val="accent3">
            <a:hueOff val="9855406"/>
            <a:satOff val="-53278"/>
            <a:lumOff val="-1961"/>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175146-AB70-40A9-AFA4-F51D236D471A}">
      <dsp:nvSpPr>
        <dsp:cNvPr id="0" name=""/>
        <dsp:cNvSpPr/>
      </dsp:nvSpPr>
      <dsp:spPr>
        <a:xfrm>
          <a:off x="590421" y="166714"/>
          <a:ext cx="2154458" cy="2154458"/>
        </a:xfrm>
        <a:prstGeom prst="pie">
          <a:avLst>
            <a:gd name="adj1" fmla="val 16200000"/>
            <a:gd name="adj2" fmla="val 180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IN" sz="1100" b="1" kern="1200" dirty="0"/>
            <a:t>Project</a:t>
          </a:r>
        </a:p>
        <a:p>
          <a:pPr marL="0" lvl="0" indent="0" algn="ctr" defTabSz="488950">
            <a:lnSpc>
              <a:spcPct val="90000"/>
            </a:lnSpc>
            <a:spcBef>
              <a:spcPct val="0"/>
            </a:spcBef>
            <a:spcAft>
              <a:spcPct val="35000"/>
            </a:spcAft>
            <a:buNone/>
          </a:pPr>
          <a:r>
            <a:rPr lang="en-IN" sz="1100" b="1" kern="1200" dirty="0"/>
            <a:t>(Practice)</a:t>
          </a:r>
          <a:r>
            <a:rPr lang="en-IN" sz="1100" kern="1200" dirty="0"/>
            <a:t> </a:t>
          </a:r>
          <a:endParaRPr lang="en-IN" sz="1100" b="1" kern="1200" dirty="0"/>
        </a:p>
      </dsp:txBody>
      <dsp:txXfrm>
        <a:off x="1725872" y="623254"/>
        <a:ext cx="769449" cy="641208"/>
      </dsp:txXfrm>
    </dsp:sp>
    <dsp:sp modelId="{E7DC12EC-64C3-4BC0-B374-B021B635EE5E}">
      <dsp:nvSpPr>
        <dsp:cNvPr id="0" name=""/>
        <dsp:cNvSpPr/>
      </dsp:nvSpPr>
      <dsp:spPr>
        <a:xfrm>
          <a:off x="546049" y="243659"/>
          <a:ext cx="2154458" cy="2154458"/>
        </a:xfrm>
        <a:prstGeom prst="pie">
          <a:avLst>
            <a:gd name="adj1" fmla="val 1800000"/>
            <a:gd name="adj2" fmla="val 9000000"/>
          </a:avLst>
        </a:prstGeom>
        <a:solidFill>
          <a:schemeClr val="accent3">
            <a:hueOff val="4927703"/>
            <a:satOff val="-26639"/>
            <a:lumOff val="-98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IN" sz="1100" b="1" kern="1200" dirty="0"/>
            <a:t>Case Studies</a:t>
          </a:r>
        </a:p>
        <a:p>
          <a:pPr marL="0" lvl="0" indent="0" algn="ctr" defTabSz="488950">
            <a:lnSpc>
              <a:spcPct val="90000"/>
            </a:lnSpc>
            <a:spcBef>
              <a:spcPct val="0"/>
            </a:spcBef>
            <a:spcAft>
              <a:spcPct val="35000"/>
            </a:spcAft>
            <a:buNone/>
          </a:pPr>
          <a:r>
            <a:rPr lang="en-IN" sz="1100" b="1" kern="1200" dirty="0"/>
            <a:t>(Trends)</a:t>
          </a:r>
          <a:endParaRPr lang="en-IN" sz="2000" b="1" kern="1200" dirty="0"/>
        </a:p>
      </dsp:txBody>
      <dsp:txXfrm>
        <a:off x="1059016" y="1641492"/>
        <a:ext cx="1154174" cy="564263"/>
      </dsp:txXfrm>
    </dsp:sp>
    <dsp:sp modelId="{86D8A14B-DC44-46C5-9EFB-DF18724FCD7C}">
      <dsp:nvSpPr>
        <dsp:cNvPr id="0" name=""/>
        <dsp:cNvSpPr/>
      </dsp:nvSpPr>
      <dsp:spPr>
        <a:xfrm>
          <a:off x="447611" y="173231"/>
          <a:ext cx="2262591" cy="2141424"/>
        </a:xfrm>
        <a:prstGeom prst="pie">
          <a:avLst>
            <a:gd name="adj1" fmla="val 9000000"/>
            <a:gd name="adj2" fmla="val 16200000"/>
          </a:avLst>
        </a:prstGeom>
        <a:solidFill>
          <a:schemeClr val="accent3">
            <a:hueOff val="9855406"/>
            <a:satOff val="-53278"/>
            <a:lumOff val="-1961"/>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IN" sz="1100" b="1" kern="1200" dirty="0"/>
            <a:t>e-Book</a:t>
          </a:r>
        </a:p>
        <a:p>
          <a:pPr marL="0" lvl="0" indent="0" algn="ctr" defTabSz="488950">
            <a:lnSpc>
              <a:spcPct val="90000"/>
            </a:lnSpc>
            <a:spcBef>
              <a:spcPct val="0"/>
            </a:spcBef>
            <a:spcAft>
              <a:spcPct val="35000"/>
            </a:spcAft>
            <a:buNone/>
          </a:pPr>
          <a:r>
            <a:rPr lang="en-IN" sz="1100" b="1" kern="1200" dirty="0"/>
            <a:t>(Theory)</a:t>
          </a:r>
        </a:p>
      </dsp:txBody>
      <dsp:txXfrm>
        <a:off x="709695" y="627009"/>
        <a:ext cx="808068" cy="637328"/>
      </dsp:txXfrm>
    </dsp:sp>
    <dsp:sp modelId="{BC30CBF7-A701-4641-9EBE-02F5F0843E87}">
      <dsp:nvSpPr>
        <dsp:cNvPr id="0" name=""/>
        <dsp:cNvSpPr/>
      </dsp:nvSpPr>
      <dsp:spPr>
        <a:xfrm>
          <a:off x="457227" y="33342"/>
          <a:ext cx="2421201" cy="2421201"/>
        </a:xfrm>
        <a:prstGeom prst="circularArrow">
          <a:avLst>
            <a:gd name="adj1" fmla="val 5085"/>
            <a:gd name="adj2" fmla="val 327528"/>
            <a:gd name="adj3" fmla="val 1472472"/>
            <a:gd name="adj4" fmla="val 16199432"/>
            <a:gd name="adj5" fmla="val 5932"/>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4BBA807-3A99-46E9-BCC2-C9658067F29E}">
      <dsp:nvSpPr>
        <dsp:cNvPr id="0" name=""/>
        <dsp:cNvSpPr/>
      </dsp:nvSpPr>
      <dsp:spPr>
        <a:xfrm>
          <a:off x="412678" y="110151"/>
          <a:ext cx="2421201" cy="2421201"/>
        </a:xfrm>
        <a:prstGeom prst="circularArrow">
          <a:avLst>
            <a:gd name="adj1" fmla="val 5085"/>
            <a:gd name="adj2" fmla="val 327528"/>
            <a:gd name="adj3" fmla="val 8671970"/>
            <a:gd name="adj4" fmla="val 1800502"/>
            <a:gd name="adj5" fmla="val 5932"/>
          </a:avLst>
        </a:prstGeom>
        <a:solidFill>
          <a:schemeClr val="accent3">
            <a:hueOff val="4927703"/>
            <a:satOff val="-26639"/>
            <a:lumOff val="-98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90FCDF2-7810-4F43-9078-171F5FDD1711}">
      <dsp:nvSpPr>
        <dsp:cNvPr id="0" name=""/>
        <dsp:cNvSpPr/>
      </dsp:nvSpPr>
      <dsp:spPr>
        <a:xfrm>
          <a:off x="367225" y="33451"/>
          <a:ext cx="2421201" cy="2421201"/>
        </a:xfrm>
        <a:prstGeom prst="circularArrow">
          <a:avLst>
            <a:gd name="adj1" fmla="val 5085"/>
            <a:gd name="adj2" fmla="val 327528"/>
            <a:gd name="adj3" fmla="val 15873039"/>
            <a:gd name="adj4" fmla="val 9000000"/>
            <a:gd name="adj5" fmla="val 5932"/>
          </a:avLst>
        </a:prstGeom>
        <a:solidFill>
          <a:schemeClr val="accent3">
            <a:hueOff val="9855406"/>
            <a:satOff val="-53278"/>
            <a:lumOff val="-1961"/>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B9839F2-6511-431F-84DF-8E31FF9AEA65}" type="datetimeFigureOut">
              <a:rPr lang="en-US" smtClean="0"/>
              <a:t>7/6/2022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AA778C-6419-462D-9759-CC6BFFB4B83A}" type="slidenum">
              <a:rPr lang="en-US" smtClean="0"/>
              <a:t>‹#›</a:t>
            </a:fld>
            <a:endParaRPr lang="en-US"/>
          </a:p>
        </p:txBody>
      </p:sp>
    </p:spTree>
    <p:extLst>
      <p:ext uri="{BB962C8B-B14F-4D97-AF65-F5344CB8AC3E}">
        <p14:creationId xmlns:p14="http://schemas.microsoft.com/office/powerpoint/2010/main" val="350394178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9-07T15:02:44.4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9-07T15:02:37.5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1537 1,'-159'0,"-479"15,577-8,2 3,-1 3,1 3,1 2,1 4,-30 17,70-30,-1 1,1 1,1 0,-1 2,2 0,0 1,0 1,1 1,0 0,2 1,-1 1,2 0,0 1,1 0,1 1,0 0,1 1,1 0,1 0,-3 19,-23 173,31-187,-1 9,1 0,1-1,2 1,1-1,1 1,2-1,0-1,4 6,6 4,1 0,2-2,2 0,1-1,3 1,-8-14,16 27,2-1,2-2,1-2,3-2,6 3,-20-25,16 18,2-2,2-2,1-3,1-2,2-2,8 0,41 6,1-6,1-4,103 11,-183-35,289 43,1-15,151-14,202-21,-627 3,1-2,-1-3,0-1,0-2,-1-1,0-3,0-2,-1-1,30-20,-42 21,0-2,-2-2,0 0,0-1,-2-2,0 0,-1-2,-1 0,0-1,-2-1,8-18,-13 23,-1-2,0 1,-2-1,0-1,-1 0,-1 0,-1 0,-1-1,-1 0,0 0,-2-10,1 7,-2 0,0 0,-2 1,0-1,-2 0,0 1,-2 0,0 1,-2-2,-14-22,-1 0,-3 2,-1 1,-2 1,-2 2,-1 2,-20-19,5 10,-2 3,-1 3,-2 2,-32-17,70 49,-177-120,-80-33,201 129,-1 4,-1 3,-25-3,-8-4,-49-11,0 8,-2 7,-11 8,-203 14,362 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9-07T15:02:44.4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9-01T14:54:44.28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1,'213'0,"184"0,82 0,4 0,-41 0,-69 0,-76 0,-80 0,-71 0,-57 0,-44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01T14:55:05.792"/>
    </inkml:context>
    <inkml:brush xml:id="br0">
      <inkml:brushProperty name="width" value="0.05" units="cm"/>
      <inkml:brushProperty name="height" value="0.05" units="cm"/>
      <inkml:brushProperty name="color" value="#E71224"/>
    </inkml:brush>
  </inkml:definitions>
  <inkml:trace contextRef="#ctx0" brushRef="#br0">338 32 352,'0'0'624,"0"0"-111,0 0-81,0 0-128,0 0-176,0 0-80,0 0-48,0 0-16,-4 0-272,4-2-256,0-2-209,0 2 129</inkml:trace>
  <inkml:trace contextRef="#ctx0" brushRef="#br0" timeOffset="15113.357">351 0 160,'0'0'328,"0"0"43,0 0 40,0 0-27,0 0 0,0 0-58,0 0-110,0 0-88,0 0-72,0 0-35,-19 0 2127,-187 22-2135,205-22 3,0 0-1,0 1 1,0-1-1,0 0 1,0 0 0,0 1-1,0-1 1,0 1-1,0-1 1,0 1-1,0-1 1,0 1-1,0 0 1,0-1-1,0 1 1,0 0 0,1 0-1,-1 0 1,0 0-1,1 0 1,-1-1-1,0 1 1,1 0-1,-1 0 1,1 1-1,0-1 1,-1 0 0,1 0-1,0 0 1,-1 0-1,1 0 1,0 0-1,0 0 1,0 0-1,0 1 1,0-1 0,0 0-1,1 0 1,-1 0-1,0 0 1,0 0-1,1 1-15,-1 9 38,-47 246 56,37-158-169,-31 80 304,39-146-168,1-29-74,0 0-1,0 0 1,1 0 0,-1 0 0,1 1 0,0-1 0,0 0 0,1 0-1,-1 0 1,1 0 0,0 0 0,0 0 0,0 0 0,0 0-1,1 0 1,0-1 0,0 1 0,0 0 0,0-1 0,1 2 13,15 40 531,52-41 1011,161-8 85,-227 3-1600,-3 0-9,-1 1 6,0 0 27,0 0-16,0 0-19,1 0-16,0 0-8,-1 0 24,0 0 24,0 0-6,0 0-2,0 0-2,0 0-12,0 0-2,0 0 3,0 0 10,0 0 1,0 0-12,0 0-1,0 0-1,0 0 0,0 0 5,0 0 16,0 0-15,0 0-6,0 0 0,0 0 2,0 0 9,0 0 0,0 0 45,0 0 80,0 0 45,0 0-7,0 0-25,-18-17-6805,7 14 3804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01T14:55:41.556"/>
    </inkml:context>
    <inkml:brush xml:id="br0">
      <inkml:brushProperty name="width" value="0.05" units="cm"/>
      <inkml:brushProperty name="height" value="0.05" units="cm"/>
      <inkml:brushProperty name="color" value="#E71224"/>
    </inkml:brush>
  </inkml:definitions>
  <inkml:trace contextRef="#ctx0" brushRef="#br0">138 10 416,'0'0'406,"0"0"-70,0 0 128,0 0 40,0 0-88,0 0-90,0 0-27,0 0-62,0 0 11,0 0-29,0 0 29,0 0-26,0 0-14,0 0-59,0 0-45,0 0-10,0 0-14,0 0 8,0 0 93,0 0 57,0 0-17,0 0 27,0 0 51,0 0-32,0 0-73,40 0 585,107 1-699,-143 2-113,-1 1-1,1-1 0,-1 1 0,0 1 0,0-1 1,0 0-1,0 1 0,-1-1 0,0 1 0,0 0 0,0-1 1,-1 1-1,1 0 0,-1 0 0,0 0 0,-1 1 0,1-1 1,-1 0-1,0 0 0,0 0 0,-1 0 0,0 0 1,1 0-1,-2 0 0,1 0 0,-1 2 34,1 21-68,-37 138-60,-13 111 8,48 35 1780,30-185-1335,-23 27-13,-32-56 233,16-91-416,1 0 0,-2-1 0,1-1 0,0 0 0,-1 0 0,0-1 0,0-1 1,0 0-1,-1-1 0,1-1 0,-1 0 0,1 0 0,-1-1 0,1-1 0,-1-1 1,1 0-130,-34 2-44,46 0 62,1 0 31,0 0 31,0 0 32,0 0 26,0 0 4,0 0-22,0 0-43,0 0-5,0 0-21,0 0-6,0 0 46,0 0 21,0 0-29,0 0 13,0 0-30,0 0-28,0 0-9,0 0-10,0 0-3,0 0 0,0 0 5,0 0 22,0 0 0,0 0-22,0 0-5,0 0 0,0 0 5,0 0 19,0 0-13,0 0-40,0 0-33,0 0-42,0 0-141,0 0-211,0 0-326,0 0-368,0 0-307,0 0-570,0 0-665</inkml:trace>
  <inkml:trace contextRef="#ctx0" brushRef="#br0" timeOffset="2375.51">29 6 112,'0'0'147,"0"0"13,0 0 0,0 0-61,0 0-65,-10-6 2746,260 6-2812,-249 0 46,-1 0 2,0 0 10,0 0 68,0 0 106,0 0 11,0 0-59,0 0-24,0 0 29,0 0-40,0 0-90,0 0-38,-27 0 158,-120 24-163,98-18 16,49-6 19,0 0 10,0 0 14,0 0 42,0 0 9,0 0-9,0 0 3,0 0-16,0 0 5,0 0-7,0 0-49,0 0-37,0 0-35,0 0-45,0 0-72,0 0-197,0 0-348,0 0-359,0 0-150,0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01T14:55:58.858"/>
    </inkml:context>
    <inkml:brush xml:id="br0">
      <inkml:brushProperty name="width" value="0.05" units="cm"/>
      <inkml:brushProperty name="height" value="0.05" units="cm"/>
      <inkml:brushProperty name="color" value="#E71224"/>
    </inkml:brush>
  </inkml:definitions>
  <inkml:trace contextRef="#ctx0" brushRef="#br0">754 65 448,'0'0'488,"0"0"-45,0 0-72,0 0-64,0 0-24,0 0 74,-56-6 2015,-270 4-1729,171 46-406,134-33-78,0 2-1,0 0 0,2 1 0,0 1 0,0 1 0,2 0 0,0 2 0,0 0 1,-3 7-159,18-22 44,-2 5 28,0 0 1,1 0-1,0 0 1,1 1-1,0-1 1,0 1-1,1 0 1,0-1-1,0 1 1,1 0 0,0 0-1,1 0 1,0-1-1,1 8-72,0 21 575,-1-32-530,0 1 1,0-1-1,0 0 0,1 0 1,0 0-1,0 0 0,0-1 1,1 1-1,-1 0 0,1-1 1,0 0-1,0 0 1,1 0-1,-1 0 0,1 0 1,0 0-1,0-1 0,0 0 1,0 0-1,1 0 1,-1 0-1,1-1 0,0 0 1,4 2-46,124 40 1037,326 12 142,-26-26-290,-282-72-510,-127 35-193,0-1 1,0-1 0,-1-2 0,0 0-1,0-1 1,-1-1 0,11-10-187,-25 18 54,1 0 0,-2-1 1,1 0-1,-1 0 0,0 0 1,0-1-1,0 0 0,-1-1 0,-1 1 1,1-1-1,-1 0 0,0-1 1,-1 1-1,0-1 0,0 0 0,-1 0 1,0 0-1,-1 0 0,0 0 1,0-1-1,-1 1 0,0-1 0,-1-4-54,1 1 13,-1 7-10,1 0-1,-1 0 1,0-1 0,0 1 0,-1 0-1,0 0 1,0 0 0,0-1-1,-1 1 1,0 0 0,0 1-1,0-1 1,-1 0 0,0 1 0,0-1-1,0 1 1,-1 0 0,-3-4-3,-102-85-400,65 75 360,-1 3 0,0 1 0,-1 3-1,0 1 1,-1 3 0,-30-2 40,-368-14-205,226 24 173,124 31-141,-61 63-52,53-20 223,94-38-11780,9-22 10022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67" name="Shape 367"/>
          <p:cNvSpPr>
            <a:spLocks noGrp="1" noRot="1" noChangeAspect="1"/>
          </p:cNvSpPr>
          <p:nvPr>
            <p:ph type="sldImg"/>
          </p:nvPr>
        </p:nvSpPr>
        <p:spPr>
          <a:xfrm>
            <a:off x="1143000" y="685800"/>
            <a:ext cx="4572000" cy="3429000"/>
          </a:xfrm>
          <a:prstGeom prst="rect">
            <a:avLst/>
          </a:prstGeom>
        </p:spPr>
        <p:txBody>
          <a:bodyPr/>
          <a:lstStyle/>
          <a:p>
            <a:endParaRPr/>
          </a:p>
        </p:txBody>
      </p:sp>
      <p:sp>
        <p:nvSpPr>
          <p:cNvPr id="368" name="Shape 36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493021223"/>
      </p:ext>
    </p:extLst>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hbr.org/1958/11/management-in-the-1980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52372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80244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baseline="0" dirty="0">
                <a:latin typeface="+mn-lt"/>
                <a:ea typeface="+mn-ea"/>
                <a:cs typeface="+mn-cs"/>
                <a:sym typeface="Calibri"/>
              </a:rPr>
              <a:t>In this session, we will</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1. Understand how increasingly standardized data, access to </a:t>
            </a:r>
            <a:r>
              <a:rPr lang="en-US" sz="1200" b="1" i="0" u="none" strike="noStrike" baseline="0" dirty="0">
                <a:latin typeface="+mn-lt"/>
                <a:ea typeface="+mn-ea"/>
                <a:cs typeface="+mn-cs"/>
                <a:sym typeface="Calibri"/>
              </a:rPr>
              <a:t>third-party data sets</a:t>
            </a:r>
            <a:r>
              <a:rPr lang="en-US" sz="1200" b="0" i="0" u="none" strike="noStrike" baseline="0" dirty="0">
                <a:latin typeface="+mn-lt"/>
                <a:ea typeface="+mn-ea"/>
                <a:cs typeface="+mn-cs"/>
                <a:sym typeface="Calibri"/>
              </a:rPr>
              <a:t>, cheap, fast computing and easier-to-use software are collectively enabling a </a:t>
            </a:r>
            <a:r>
              <a:rPr lang="en-US" sz="1200" b="1" i="0" u="none" strike="noStrike" baseline="0" dirty="0">
                <a:latin typeface="+mn-lt"/>
                <a:ea typeface="+mn-ea"/>
                <a:cs typeface="+mn-cs"/>
                <a:sym typeface="Calibri"/>
              </a:rPr>
              <a:t>new age of decision making</a:t>
            </a:r>
            <a:r>
              <a:rPr lang="en-US" sz="1200" b="0" i="0" u="none" strike="noStrike" baseline="0" dirty="0">
                <a:latin typeface="+mn-lt"/>
                <a:ea typeface="+mn-ea"/>
                <a:cs typeface="+mn-cs"/>
                <a:sym typeface="Calibri"/>
              </a:rPr>
              <a:t>.</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2. Be familiar with some of the enterprises that have benefited from </a:t>
            </a:r>
            <a:r>
              <a:rPr lang="en-US" sz="1200" b="1" i="0" u="none" strike="noStrike" baseline="0" dirty="0">
                <a:latin typeface="+mn-lt"/>
                <a:ea typeface="+mn-ea"/>
                <a:cs typeface="+mn-cs"/>
                <a:sym typeface="Calibri"/>
              </a:rPr>
              <a:t>data-driven, fact-based decision </a:t>
            </a:r>
            <a:r>
              <a:rPr lang="en-IN" sz="1200" b="1" i="0" u="none" strike="noStrike" baseline="0" dirty="0">
                <a:latin typeface="+mn-lt"/>
                <a:ea typeface="+mn-ea"/>
                <a:cs typeface="+mn-cs"/>
                <a:sym typeface="Calibri"/>
              </a:rPr>
              <a:t>making</a:t>
            </a:r>
            <a:r>
              <a:rPr lang="en-IN" sz="1200" b="0" i="0" u="none" strike="noStrike" baseline="0" dirty="0">
                <a:latin typeface="+mn-lt"/>
                <a:ea typeface="+mn-ea"/>
                <a:cs typeface="+mn-cs"/>
                <a:sym typeface="Calibri"/>
              </a:rPr>
              <a:t>.</a:t>
            </a:r>
          </a:p>
          <a:p>
            <a:endParaRPr lang="en-IN" dirty="0"/>
          </a:p>
        </p:txBody>
      </p:sp>
    </p:spTree>
    <p:extLst>
      <p:ext uri="{BB962C8B-B14F-4D97-AF65-F5344CB8AC3E}">
        <p14:creationId xmlns:p14="http://schemas.microsoft.com/office/powerpoint/2010/main" val="1863848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7332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071610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baseline="0" dirty="0">
                <a:latin typeface="+mn-lt"/>
                <a:ea typeface="+mn-ea"/>
                <a:cs typeface="+mn-cs"/>
                <a:sym typeface="Calibri"/>
              </a:rPr>
              <a:t>What do you mean by </a:t>
            </a:r>
            <a:r>
              <a:rPr lang="en-US" sz="1200" i="1" dirty="0"/>
              <a:t>more efficiently and productively </a:t>
            </a:r>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1. Saving Time </a:t>
            </a:r>
            <a:endParaRPr lang="en-IN" sz="1200" b="0" i="0" u="none" strike="noStrike" baseline="0" dirty="0">
              <a:latin typeface="+mn-lt"/>
              <a:ea typeface="+mn-ea"/>
              <a:cs typeface="+mn-cs"/>
              <a:sym typeface="Calibri"/>
            </a:endParaRPr>
          </a:p>
          <a:p>
            <a:r>
              <a:rPr lang="en-IN" sz="1200" b="0" i="0" u="none" strike="noStrike" baseline="0" dirty="0">
                <a:latin typeface="+mn-lt"/>
                <a:ea typeface="+mn-ea"/>
                <a:cs typeface="+mn-cs"/>
                <a:sym typeface="Calibri"/>
              </a:rPr>
              <a:t>2. New and improved </a:t>
            </a:r>
            <a:r>
              <a:rPr lang="en-US" sz="1200" b="0" i="0" u="none" strike="noStrike" baseline="0" dirty="0">
                <a:latin typeface="+mn-lt"/>
                <a:ea typeface="+mn-ea"/>
                <a:cs typeface="+mn-cs"/>
                <a:sym typeface="Calibri"/>
              </a:rPr>
              <a:t>approaches for analyzing important business</a:t>
            </a:r>
          </a:p>
          <a:p>
            <a:endParaRPr lang="en-US" sz="1200" b="0" i="0" u="none" strike="noStrike" baseline="0" dirty="0">
              <a:latin typeface="+mn-lt"/>
              <a:ea typeface="+mn-ea"/>
              <a:cs typeface="+mn-cs"/>
              <a:sym typeface="Calibri"/>
            </a:endParaRPr>
          </a:p>
          <a:p>
            <a:pPr marL="0" marR="0" lvl="0" indent="0" defTabSz="457200" eaLnBrk="1" fontAlgn="auto" latinLnBrk="0" hangingPunct="1">
              <a:lnSpc>
                <a:spcPct val="100000"/>
              </a:lnSpc>
              <a:spcBef>
                <a:spcPts val="0"/>
              </a:spcBef>
              <a:spcAft>
                <a:spcPts val="0"/>
              </a:spcAft>
              <a:buClrTx/>
              <a:buSzTx/>
              <a:buFontTx/>
              <a:buNone/>
              <a:tabLst/>
              <a:defRPr/>
            </a:pPr>
            <a:r>
              <a:rPr lang="en-US" sz="1200" b="0" i="0" u="none" strike="noStrike" baseline="0" dirty="0">
                <a:latin typeface="+mn-lt"/>
                <a:ea typeface="+mn-ea"/>
                <a:cs typeface="+mn-cs"/>
                <a:sym typeface="Calibri"/>
              </a:rPr>
              <a:t>You can see, </a:t>
            </a:r>
            <a:r>
              <a:rPr lang="en-IN" sz="1200" b="0" i="0" u="none" strike="noStrike" baseline="0" dirty="0">
                <a:latin typeface="+mn-lt"/>
                <a:ea typeface="+mn-ea"/>
                <a:cs typeface="+mn-cs"/>
                <a:sym typeface="Calibri"/>
              </a:rPr>
              <a:t>95% </a:t>
            </a:r>
            <a:r>
              <a:rPr lang="en-US" sz="1200" b="0" i="0" u="none" strike="noStrike" baseline="0" dirty="0">
                <a:latin typeface="+mn-lt"/>
                <a:ea typeface="+mn-ea"/>
                <a:cs typeface="+mn-cs"/>
                <a:sym typeface="Calibri"/>
              </a:rPr>
              <a:t>of MBA students at Indiana University took </a:t>
            </a:r>
            <a:r>
              <a:rPr lang="en-US" sz="1200" dirty="0">
                <a:effectLst/>
                <a:latin typeface="+mn-lt"/>
                <a:ea typeface="+mn-ea"/>
                <a:cs typeface="+mn-cs"/>
                <a:sym typeface="Calibri"/>
              </a:rPr>
              <a:t>Authors</a:t>
            </a:r>
            <a:r>
              <a:rPr lang="en-US" sz="1200" b="0" i="0" u="none" strike="noStrike" baseline="0" dirty="0">
                <a:latin typeface="+mn-lt"/>
                <a:ea typeface="+mn-ea"/>
                <a:cs typeface="+mn-cs"/>
                <a:sym typeface="Calibri"/>
              </a:rPr>
              <a:t> spreadsheet modeling class even though it was an elective.</a:t>
            </a:r>
          </a:p>
          <a:p>
            <a:pPr marL="0" marR="0" lvl="0" indent="0" defTabSz="457200" eaLnBrk="1" fontAlgn="auto" latinLnBrk="0" hangingPunct="1">
              <a:lnSpc>
                <a:spcPct val="100000"/>
              </a:lnSpc>
              <a:spcBef>
                <a:spcPts val="0"/>
              </a:spcBef>
              <a:spcAft>
                <a:spcPts val="0"/>
              </a:spcAft>
              <a:buClrTx/>
              <a:buSzTx/>
              <a:buFontTx/>
              <a:buNone/>
              <a:tabLst/>
              <a:defRPr/>
            </a:pPr>
            <a:endParaRPr lang="en-US" sz="1200" b="0" i="0" u="none" strike="noStrike" baseline="0" dirty="0">
              <a:latin typeface="+mn-lt"/>
              <a:ea typeface="+mn-ea"/>
              <a:cs typeface="+mn-cs"/>
              <a:sym typeface="Calibri"/>
            </a:endParaRPr>
          </a:p>
          <a:p>
            <a:pPr marL="0" marR="0" lvl="0" indent="0" defTabSz="457200" eaLnBrk="1" fontAlgn="auto" latinLnBrk="0" hangingPunct="1">
              <a:lnSpc>
                <a:spcPct val="100000"/>
              </a:lnSpc>
              <a:spcBef>
                <a:spcPts val="0"/>
              </a:spcBef>
              <a:spcAft>
                <a:spcPts val="0"/>
              </a:spcAft>
              <a:buClrTx/>
              <a:buSzTx/>
              <a:buFontTx/>
              <a:buNone/>
              <a:tabLst/>
              <a:defRPr/>
            </a:pPr>
            <a:endParaRPr lang="en-US" sz="1200" b="0" i="0" u="none" strike="noStrike" baseline="0" dirty="0">
              <a:latin typeface="+mn-lt"/>
              <a:ea typeface="+mn-ea"/>
              <a:cs typeface="+mn-cs"/>
              <a:sym typeface="Calibri"/>
            </a:endParaRPr>
          </a:p>
          <a:p>
            <a:endParaRPr lang="en-US" sz="1200" b="0" i="0" u="none" strike="noStrike" baseline="0" dirty="0">
              <a:latin typeface="+mn-lt"/>
              <a:ea typeface="+mn-ea"/>
              <a:cs typeface="+mn-cs"/>
              <a:sym typeface="Calibri"/>
            </a:endParaRPr>
          </a:p>
          <a:p>
            <a:endParaRPr lang="en-US" sz="1200" b="0" i="0" u="none" strike="noStrike" baseline="0" dirty="0">
              <a:latin typeface="+mn-lt"/>
              <a:ea typeface="+mn-ea"/>
              <a:cs typeface="+mn-cs"/>
              <a:sym typeface="Calibri"/>
            </a:endParaRPr>
          </a:p>
          <a:p>
            <a:endParaRPr lang="en-IN" dirty="0"/>
          </a:p>
        </p:txBody>
      </p:sp>
    </p:spTree>
    <p:extLst>
      <p:ext uri="{BB962C8B-B14F-4D97-AF65-F5344CB8AC3E}">
        <p14:creationId xmlns:p14="http://schemas.microsoft.com/office/powerpoint/2010/main" val="1567444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25000" lvl="7" indent="0">
              <a:buClr>
                <a:srgbClr val="0070C0"/>
              </a:buClr>
              <a:buFont typeface="Wingdings" panose="05000000000000000000" pitchFamily="2" charset="2"/>
              <a:buNone/>
            </a:pPr>
            <a:r>
              <a:rPr lang="en-US" sz="1800" dirty="0">
                <a:solidFill>
                  <a:srgbClr val="0070C0"/>
                </a:solidFill>
              </a:rPr>
              <a:t>“Information Technology” as per </a:t>
            </a:r>
            <a:r>
              <a:rPr lang="en-US" sz="1800" dirty="0">
                <a:solidFill>
                  <a:srgbClr val="0070C0"/>
                </a:solidFill>
                <a:hlinkClick r:id="rId3">
                  <a:extLst>
                    <a:ext uri="{A12FA001-AC4F-418D-AE19-62706E023703}">
                      <ahyp:hlinkClr xmlns:ahyp="http://schemas.microsoft.com/office/drawing/2018/hyperlinkcolor" val="tx"/>
                    </a:ext>
                  </a:extLst>
                </a:hlinkClick>
              </a:rPr>
              <a:t>https://hbr.org/1958/11/management-in-the-1980s</a:t>
            </a:r>
            <a:r>
              <a:rPr lang="en-US" sz="1800" dirty="0">
                <a:solidFill>
                  <a:srgbClr val="0070C0"/>
                </a:solidFill>
              </a:rPr>
              <a:t> </a:t>
            </a:r>
          </a:p>
          <a:p>
            <a:pPr lvl="2">
              <a:lnSpc>
                <a:spcPct val="110000"/>
              </a:lnSpc>
              <a:buClr>
                <a:schemeClr val="tx1"/>
              </a:buClr>
              <a:buFont typeface="Wingdings" panose="05000000000000000000" pitchFamily="2" charset="2"/>
              <a:buChar char="ü"/>
            </a:pPr>
            <a:r>
              <a:rPr lang="en-US" sz="1100" dirty="0">
                <a:solidFill>
                  <a:schemeClr val="tx1"/>
                </a:solidFill>
              </a:rPr>
              <a:t>First part includes techniques for </a:t>
            </a:r>
            <a:r>
              <a:rPr lang="en-US" sz="1100" b="1" dirty="0">
                <a:solidFill>
                  <a:schemeClr val="tx1"/>
                </a:solidFill>
              </a:rPr>
              <a:t>processing</a:t>
            </a:r>
            <a:r>
              <a:rPr lang="en-US" sz="1100" dirty="0">
                <a:solidFill>
                  <a:schemeClr val="tx1"/>
                </a:solidFill>
              </a:rPr>
              <a:t> large amounts of </a:t>
            </a:r>
            <a:r>
              <a:rPr lang="en-US" sz="1100" b="1" dirty="0">
                <a:solidFill>
                  <a:schemeClr val="tx1"/>
                </a:solidFill>
              </a:rPr>
              <a:t>information</a:t>
            </a:r>
            <a:r>
              <a:rPr lang="en-US" sz="1100" dirty="0">
                <a:solidFill>
                  <a:schemeClr val="tx1"/>
                </a:solidFill>
              </a:rPr>
              <a:t> rapidly, and it is epitomized by </a:t>
            </a:r>
            <a:r>
              <a:rPr lang="en-US" sz="1100" b="1" dirty="0">
                <a:solidFill>
                  <a:schemeClr val="tx1"/>
                </a:solidFill>
              </a:rPr>
              <a:t>the high-speed computer</a:t>
            </a:r>
            <a:endParaRPr lang="en-US" sz="1100" dirty="0">
              <a:solidFill>
                <a:schemeClr val="tx1"/>
              </a:solidFill>
            </a:endParaRPr>
          </a:p>
          <a:p>
            <a:pPr lvl="2">
              <a:lnSpc>
                <a:spcPct val="110000"/>
              </a:lnSpc>
              <a:buClr>
                <a:schemeClr val="tx1"/>
              </a:buClr>
              <a:buFont typeface="Wingdings" panose="05000000000000000000" pitchFamily="2" charset="2"/>
              <a:buChar char="ü"/>
            </a:pPr>
            <a:r>
              <a:rPr lang="en-IN" sz="1100" dirty="0">
                <a:solidFill>
                  <a:schemeClr val="tx1"/>
                </a:solidFill>
              </a:rPr>
              <a:t>Second part centres around a</a:t>
            </a:r>
            <a:r>
              <a:rPr lang="en-US" sz="1100" dirty="0">
                <a:solidFill>
                  <a:schemeClr val="tx1"/>
                </a:solidFill>
              </a:rPr>
              <a:t>application of </a:t>
            </a:r>
            <a:r>
              <a:rPr lang="en-US" sz="1100" b="1" dirty="0">
                <a:solidFill>
                  <a:schemeClr val="tx1"/>
                </a:solidFill>
              </a:rPr>
              <a:t>statistical and mathematical methods </a:t>
            </a:r>
            <a:r>
              <a:rPr lang="en-US" sz="1100" dirty="0">
                <a:solidFill>
                  <a:schemeClr val="tx1"/>
                </a:solidFill>
              </a:rPr>
              <a:t>to </a:t>
            </a:r>
            <a:r>
              <a:rPr lang="en-US" sz="1100" b="1" dirty="0">
                <a:solidFill>
                  <a:schemeClr val="tx1"/>
                </a:solidFill>
              </a:rPr>
              <a:t>decision-making</a:t>
            </a:r>
            <a:r>
              <a:rPr lang="en-US" sz="1100" dirty="0">
                <a:solidFill>
                  <a:schemeClr val="tx1"/>
                </a:solidFill>
              </a:rPr>
              <a:t> problems (mathematical programing, and by methodologies like operations research)</a:t>
            </a:r>
          </a:p>
          <a:p>
            <a:pPr lvl="2">
              <a:lnSpc>
                <a:spcPct val="110000"/>
              </a:lnSpc>
              <a:buClr>
                <a:schemeClr val="tx1"/>
              </a:buClr>
              <a:buFont typeface="Wingdings" panose="05000000000000000000" pitchFamily="2" charset="2"/>
              <a:buChar char="ü"/>
            </a:pPr>
            <a:r>
              <a:rPr lang="en-US" sz="1100" dirty="0">
                <a:solidFill>
                  <a:schemeClr val="tx1"/>
                </a:solidFill>
              </a:rPr>
              <a:t>Third part is in the offing,  though its applications have not yet emerged very clearly; it consists of the </a:t>
            </a:r>
            <a:r>
              <a:rPr lang="en-US" sz="1100" b="1" dirty="0">
                <a:solidFill>
                  <a:schemeClr val="tx1"/>
                </a:solidFill>
              </a:rPr>
              <a:t>simulation of higher-order thinking </a:t>
            </a:r>
            <a:r>
              <a:rPr lang="en-US" sz="1100" dirty="0">
                <a:solidFill>
                  <a:schemeClr val="tx1"/>
                </a:solidFill>
              </a:rPr>
              <a:t>through </a:t>
            </a:r>
            <a:r>
              <a:rPr lang="en-US" sz="1100" b="1" dirty="0">
                <a:solidFill>
                  <a:schemeClr val="tx1"/>
                </a:solidFill>
              </a:rPr>
              <a:t>computer programs</a:t>
            </a:r>
            <a:endParaRPr lang="en-IN" sz="1100" b="1" dirty="0">
              <a:solidFill>
                <a:schemeClr val="tx1"/>
              </a:solidFill>
            </a:endParaRPr>
          </a:p>
          <a:p>
            <a:endParaRPr lang="en-IN" dirty="0"/>
          </a:p>
        </p:txBody>
      </p:sp>
    </p:spTree>
    <p:extLst>
      <p:ext uri="{BB962C8B-B14F-4D97-AF65-F5344CB8AC3E}">
        <p14:creationId xmlns:p14="http://schemas.microsoft.com/office/powerpoint/2010/main" val="397332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baseline="0" dirty="0">
                <a:latin typeface="+mn-lt"/>
                <a:ea typeface="+mn-ea"/>
                <a:cs typeface="+mn-cs"/>
                <a:sym typeface="Calibri"/>
              </a:rPr>
              <a:t>In this session, we will</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1. Understand how increasingly standardized data, access to </a:t>
            </a:r>
            <a:r>
              <a:rPr lang="en-US" sz="1200" b="1" i="0" u="none" strike="noStrike" baseline="0" dirty="0">
                <a:latin typeface="+mn-lt"/>
                <a:ea typeface="+mn-ea"/>
                <a:cs typeface="+mn-cs"/>
                <a:sym typeface="Calibri"/>
              </a:rPr>
              <a:t>third-party data sets</a:t>
            </a:r>
            <a:r>
              <a:rPr lang="en-US" sz="1200" b="0" i="0" u="none" strike="noStrike" baseline="0" dirty="0">
                <a:latin typeface="+mn-lt"/>
                <a:ea typeface="+mn-ea"/>
                <a:cs typeface="+mn-cs"/>
                <a:sym typeface="Calibri"/>
              </a:rPr>
              <a:t>, cheap, fast computing and easier-to-use software are collectively enabling a </a:t>
            </a:r>
            <a:r>
              <a:rPr lang="en-US" sz="1200" b="1" i="0" u="none" strike="noStrike" baseline="0" dirty="0">
                <a:latin typeface="+mn-lt"/>
                <a:ea typeface="+mn-ea"/>
                <a:cs typeface="+mn-cs"/>
                <a:sym typeface="Calibri"/>
              </a:rPr>
              <a:t>new age of decision making</a:t>
            </a:r>
            <a:r>
              <a:rPr lang="en-US" sz="1200" b="0" i="0" u="none" strike="noStrike" baseline="0" dirty="0">
                <a:latin typeface="+mn-lt"/>
                <a:ea typeface="+mn-ea"/>
                <a:cs typeface="+mn-cs"/>
                <a:sym typeface="Calibri"/>
              </a:rPr>
              <a:t>.</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2. Be familiar with some of the enterprises that have benefited from </a:t>
            </a:r>
            <a:r>
              <a:rPr lang="en-US" sz="1200" b="1" i="0" u="none" strike="noStrike" baseline="0" dirty="0">
                <a:latin typeface="+mn-lt"/>
                <a:ea typeface="+mn-ea"/>
                <a:cs typeface="+mn-cs"/>
                <a:sym typeface="Calibri"/>
              </a:rPr>
              <a:t>data-driven, fact-based decision </a:t>
            </a:r>
            <a:r>
              <a:rPr lang="en-IN" sz="1200" b="1" i="0" u="none" strike="noStrike" baseline="0" dirty="0">
                <a:latin typeface="+mn-lt"/>
                <a:ea typeface="+mn-ea"/>
                <a:cs typeface="+mn-cs"/>
                <a:sym typeface="Calibri"/>
              </a:rPr>
              <a:t>making</a:t>
            </a:r>
            <a:r>
              <a:rPr lang="en-IN" sz="1200" b="0" i="0" u="none" strike="noStrike" baseline="0" dirty="0">
                <a:latin typeface="+mn-lt"/>
                <a:ea typeface="+mn-ea"/>
                <a:cs typeface="+mn-cs"/>
                <a:sym typeface="Calibri"/>
              </a:rPr>
              <a:t>.</a:t>
            </a:r>
          </a:p>
          <a:p>
            <a:endParaRPr lang="en-IN" dirty="0"/>
          </a:p>
        </p:txBody>
      </p:sp>
    </p:spTree>
    <p:extLst>
      <p:ext uri="{BB962C8B-B14F-4D97-AF65-F5344CB8AC3E}">
        <p14:creationId xmlns:p14="http://schemas.microsoft.com/office/powerpoint/2010/main" val="1851002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baseline="0" dirty="0">
                <a:latin typeface="+mn-lt"/>
                <a:ea typeface="+mn-ea"/>
                <a:cs typeface="+mn-cs"/>
                <a:sym typeface="Calibri"/>
              </a:rPr>
              <a:t>In this session, we will</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1. Understand how increasingly standardized data, access to </a:t>
            </a:r>
            <a:r>
              <a:rPr lang="en-US" sz="1200" b="1" i="0" u="none" strike="noStrike" baseline="0" dirty="0">
                <a:latin typeface="+mn-lt"/>
                <a:ea typeface="+mn-ea"/>
                <a:cs typeface="+mn-cs"/>
                <a:sym typeface="Calibri"/>
              </a:rPr>
              <a:t>third-party data sets</a:t>
            </a:r>
            <a:r>
              <a:rPr lang="en-US" sz="1200" b="0" i="0" u="none" strike="noStrike" baseline="0" dirty="0">
                <a:latin typeface="+mn-lt"/>
                <a:ea typeface="+mn-ea"/>
                <a:cs typeface="+mn-cs"/>
                <a:sym typeface="Calibri"/>
              </a:rPr>
              <a:t>, cheap, fast computing and easier-to-use software are collectively enabling a </a:t>
            </a:r>
            <a:r>
              <a:rPr lang="en-US" sz="1200" b="1" i="0" u="none" strike="noStrike" baseline="0" dirty="0">
                <a:latin typeface="+mn-lt"/>
                <a:ea typeface="+mn-ea"/>
                <a:cs typeface="+mn-cs"/>
                <a:sym typeface="Calibri"/>
              </a:rPr>
              <a:t>new age of decision making</a:t>
            </a:r>
            <a:r>
              <a:rPr lang="en-US" sz="1200" b="0" i="0" u="none" strike="noStrike" baseline="0" dirty="0">
                <a:latin typeface="+mn-lt"/>
                <a:ea typeface="+mn-ea"/>
                <a:cs typeface="+mn-cs"/>
                <a:sym typeface="Calibri"/>
              </a:rPr>
              <a:t>.</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2. Be familiar with some of the enterprises that have benefited from </a:t>
            </a:r>
            <a:r>
              <a:rPr lang="en-US" sz="1200" b="1" i="0" u="none" strike="noStrike" baseline="0" dirty="0">
                <a:latin typeface="+mn-lt"/>
                <a:ea typeface="+mn-ea"/>
                <a:cs typeface="+mn-cs"/>
                <a:sym typeface="Calibri"/>
              </a:rPr>
              <a:t>data-driven, fact-based decision </a:t>
            </a:r>
            <a:r>
              <a:rPr lang="en-IN" sz="1200" b="1" i="0" u="none" strike="noStrike" baseline="0" dirty="0">
                <a:latin typeface="+mn-lt"/>
                <a:ea typeface="+mn-ea"/>
                <a:cs typeface="+mn-cs"/>
                <a:sym typeface="Calibri"/>
              </a:rPr>
              <a:t>making</a:t>
            </a:r>
            <a:r>
              <a:rPr lang="en-IN" sz="1200" b="0" i="0" u="none" strike="noStrike" baseline="0" dirty="0">
                <a:latin typeface="+mn-lt"/>
                <a:ea typeface="+mn-ea"/>
                <a:cs typeface="+mn-cs"/>
                <a:sym typeface="Calibri"/>
              </a:rPr>
              <a:t>.</a:t>
            </a:r>
          </a:p>
          <a:p>
            <a:endParaRPr lang="en-IN" dirty="0"/>
          </a:p>
        </p:txBody>
      </p:sp>
    </p:spTree>
    <p:extLst>
      <p:ext uri="{BB962C8B-B14F-4D97-AF65-F5344CB8AC3E}">
        <p14:creationId xmlns:p14="http://schemas.microsoft.com/office/powerpoint/2010/main" val="31277772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baseline="0" dirty="0">
                <a:latin typeface="+mn-lt"/>
                <a:ea typeface="+mn-ea"/>
                <a:cs typeface="+mn-cs"/>
                <a:sym typeface="Calibri"/>
              </a:rPr>
              <a:t>In this session, we will</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1. Understand how increasingly standardized data, access to </a:t>
            </a:r>
            <a:r>
              <a:rPr lang="en-US" sz="1200" b="1" i="0" u="none" strike="noStrike" baseline="0" dirty="0">
                <a:latin typeface="+mn-lt"/>
                <a:ea typeface="+mn-ea"/>
                <a:cs typeface="+mn-cs"/>
                <a:sym typeface="Calibri"/>
              </a:rPr>
              <a:t>third-party data sets</a:t>
            </a:r>
            <a:r>
              <a:rPr lang="en-US" sz="1200" b="0" i="0" u="none" strike="noStrike" baseline="0" dirty="0">
                <a:latin typeface="+mn-lt"/>
                <a:ea typeface="+mn-ea"/>
                <a:cs typeface="+mn-cs"/>
                <a:sym typeface="Calibri"/>
              </a:rPr>
              <a:t>, cheap, fast computing and easier-to-use software are collectively enabling a </a:t>
            </a:r>
            <a:r>
              <a:rPr lang="en-US" sz="1200" b="1" i="0" u="none" strike="noStrike" baseline="0" dirty="0">
                <a:latin typeface="+mn-lt"/>
                <a:ea typeface="+mn-ea"/>
                <a:cs typeface="+mn-cs"/>
                <a:sym typeface="Calibri"/>
              </a:rPr>
              <a:t>new age of decision making</a:t>
            </a:r>
            <a:r>
              <a:rPr lang="en-US" sz="1200" b="0" i="0" u="none" strike="noStrike" baseline="0" dirty="0">
                <a:latin typeface="+mn-lt"/>
                <a:ea typeface="+mn-ea"/>
                <a:cs typeface="+mn-cs"/>
                <a:sym typeface="Calibri"/>
              </a:rPr>
              <a:t>.</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2. Be familiar with some of the enterprises that have benefited from </a:t>
            </a:r>
            <a:r>
              <a:rPr lang="en-US" sz="1200" b="1" i="0" u="none" strike="noStrike" baseline="0" dirty="0">
                <a:latin typeface="+mn-lt"/>
                <a:ea typeface="+mn-ea"/>
                <a:cs typeface="+mn-cs"/>
                <a:sym typeface="Calibri"/>
              </a:rPr>
              <a:t>data-driven, fact-based decision </a:t>
            </a:r>
            <a:r>
              <a:rPr lang="en-IN" sz="1200" b="1" i="0" u="none" strike="noStrike" baseline="0" dirty="0">
                <a:latin typeface="+mn-lt"/>
                <a:ea typeface="+mn-ea"/>
                <a:cs typeface="+mn-cs"/>
                <a:sym typeface="Calibri"/>
              </a:rPr>
              <a:t>making</a:t>
            </a:r>
            <a:r>
              <a:rPr lang="en-IN" sz="1200" b="0" i="0" u="none" strike="noStrike" baseline="0" dirty="0">
                <a:latin typeface="+mn-lt"/>
                <a:ea typeface="+mn-ea"/>
                <a:cs typeface="+mn-cs"/>
                <a:sym typeface="Calibri"/>
              </a:rPr>
              <a:t>.</a:t>
            </a:r>
          </a:p>
          <a:p>
            <a:endParaRPr lang="en-IN" dirty="0"/>
          </a:p>
        </p:txBody>
      </p:sp>
    </p:spTree>
    <p:extLst>
      <p:ext uri="{BB962C8B-B14F-4D97-AF65-F5344CB8AC3E}">
        <p14:creationId xmlns:p14="http://schemas.microsoft.com/office/powerpoint/2010/main" val="27831052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938112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baseline="0" dirty="0">
                <a:latin typeface="+mn-lt"/>
                <a:ea typeface="+mn-ea"/>
                <a:cs typeface="+mn-cs"/>
                <a:sym typeface="Calibri"/>
              </a:rPr>
              <a:t>In this session, we will</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1. Understand how increasingly standardized data, access to </a:t>
            </a:r>
            <a:r>
              <a:rPr lang="en-US" sz="1200" b="1" i="0" u="none" strike="noStrike" baseline="0" dirty="0">
                <a:latin typeface="+mn-lt"/>
                <a:ea typeface="+mn-ea"/>
                <a:cs typeface="+mn-cs"/>
                <a:sym typeface="Calibri"/>
              </a:rPr>
              <a:t>third-party data sets</a:t>
            </a:r>
            <a:r>
              <a:rPr lang="en-US" sz="1200" b="0" i="0" u="none" strike="noStrike" baseline="0" dirty="0">
                <a:latin typeface="+mn-lt"/>
                <a:ea typeface="+mn-ea"/>
                <a:cs typeface="+mn-cs"/>
                <a:sym typeface="Calibri"/>
              </a:rPr>
              <a:t>, cheap, fast computing and easier-to-use software are collectively enabling a </a:t>
            </a:r>
            <a:r>
              <a:rPr lang="en-US" sz="1200" b="1" i="0" u="none" strike="noStrike" baseline="0" dirty="0">
                <a:latin typeface="+mn-lt"/>
                <a:ea typeface="+mn-ea"/>
                <a:cs typeface="+mn-cs"/>
                <a:sym typeface="Calibri"/>
              </a:rPr>
              <a:t>new age of decision making</a:t>
            </a:r>
            <a:r>
              <a:rPr lang="en-US" sz="1200" b="0" i="0" u="none" strike="noStrike" baseline="0" dirty="0">
                <a:latin typeface="+mn-lt"/>
                <a:ea typeface="+mn-ea"/>
                <a:cs typeface="+mn-cs"/>
                <a:sym typeface="Calibri"/>
              </a:rPr>
              <a:t>.</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2. Be familiar with some of the enterprises that have benefited from </a:t>
            </a:r>
            <a:r>
              <a:rPr lang="en-US" sz="1200" b="1" i="0" u="none" strike="noStrike" baseline="0" dirty="0">
                <a:latin typeface="+mn-lt"/>
                <a:ea typeface="+mn-ea"/>
                <a:cs typeface="+mn-cs"/>
                <a:sym typeface="Calibri"/>
              </a:rPr>
              <a:t>data-driven, fact-based decision </a:t>
            </a:r>
            <a:r>
              <a:rPr lang="en-IN" sz="1200" b="1" i="0" u="none" strike="noStrike" baseline="0" dirty="0">
                <a:latin typeface="+mn-lt"/>
                <a:ea typeface="+mn-ea"/>
                <a:cs typeface="+mn-cs"/>
                <a:sym typeface="Calibri"/>
              </a:rPr>
              <a:t>making</a:t>
            </a:r>
            <a:r>
              <a:rPr lang="en-IN" sz="1200" b="0" i="0" u="none" strike="noStrike" baseline="0" dirty="0">
                <a:latin typeface="+mn-lt"/>
                <a:ea typeface="+mn-ea"/>
                <a:cs typeface="+mn-cs"/>
                <a:sym typeface="Calibri"/>
              </a:rPr>
              <a:t>.</a:t>
            </a:r>
          </a:p>
          <a:p>
            <a:endParaRPr lang="en-IN" dirty="0"/>
          </a:p>
        </p:txBody>
      </p:sp>
    </p:spTree>
    <p:extLst>
      <p:ext uri="{BB962C8B-B14F-4D97-AF65-F5344CB8AC3E}">
        <p14:creationId xmlns:p14="http://schemas.microsoft.com/office/powerpoint/2010/main" val="41514769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baseline="0" dirty="0">
                <a:latin typeface="+mn-lt"/>
                <a:ea typeface="+mn-ea"/>
                <a:cs typeface="+mn-cs"/>
                <a:sym typeface="Calibri"/>
              </a:rPr>
              <a:t>In this session, we will</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1. Understand how increasingly standardized data, access to </a:t>
            </a:r>
            <a:r>
              <a:rPr lang="en-US" sz="1200" b="1" i="0" u="none" strike="noStrike" baseline="0" dirty="0">
                <a:latin typeface="+mn-lt"/>
                <a:ea typeface="+mn-ea"/>
                <a:cs typeface="+mn-cs"/>
                <a:sym typeface="Calibri"/>
              </a:rPr>
              <a:t>third-party data sets</a:t>
            </a:r>
            <a:r>
              <a:rPr lang="en-US" sz="1200" b="0" i="0" u="none" strike="noStrike" baseline="0" dirty="0">
                <a:latin typeface="+mn-lt"/>
                <a:ea typeface="+mn-ea"/>
                <a:cs typeface="+mn-cs"/>
                <a:sym typeface="Calibri"/>
              </a:rPr>
              <a:t>, cheap, fast computing and easier-to-use software are collectively enabling a </a:t>
            </a:r>
            <a:r>
              <a:rPr lang="en-US" sz="1200" b="1" i="0" u="none" strike="noStrike" baseline="0" dirty="0">
                <a:latin typeface="+mn-lt"/>
                <a:ea typeface="+mn-ea"/>
                <a:cs typeface="+mn-cs"/>
                <a:sym typeface="Calibri"/>
              </a:rPr>
              <a:t>new age of decision making</a:t>
            </a:r>
            <a:r>
              <a:rPr lang="en-US" sz="1200" b="0" i="0" u="none" strike="noStrike" baseline="0" dirty="0">
                <a:latin typeface="+mn-lt"/>
                <a:ea typeface="+mn-ea"/>
                <a:cs typeface="+mn-cs"/>
                <a:sym typeface="Calibri"/>
              </a:rPr>
              <a:t>.</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2. Be familiar with some of the enterprises that have benefited from </a:t>
            </a:r>
            <a:r>
              <a:rPr lang="en-US" sz="1200" b="1" i="0" u="none" strike="noStrike" baseline="0" dirty="0">
                <a:latin typeface="+mn-lt"/>
                <a:ea typeface="+mn-ea"/>
                <a:cs typeface="+mn-cs"/>
                <a:sym typeface="Calibri"/>
              </a:rPr>
              <a:t>data-driven, fact-based decision </a:t>
            </a:r>
            <a:r>
              <a:rPr lang="en-IN" sz="1200" b="1" i="0" u="none" strike="noStrike" baseline="0" dirty="0">
                <a:latin typeface="+mn-lt"/>
                <a:ea typeface="+mn-ea"/>
                <a:cs typeface="+mn-cs"/>
                <a:sym typeface="Calibri"/>
              </a:rPr>
              <a:t>making</a:t>
            </a:r>
            <a:r>
              <a:rPr lang="en-IN" sz="1200" b="0" i="0" u="none" strike="noStrike" baseline="0" dirty="0">
                <a:latin typeface="+mn-lt"/>
                <a:ea typeface="+mn-ea"/>
                <a:cs typeface="+mn-cs"/>
                <a:sym typeface="Calibri"/>
              </a:rPr>
              <a:t>.</a:t>
            </a:r>
          </a:p>
          <a:p>
            <a:endParaRPr lang="en-IN" dirty="0"/>
          </a:p>
        </p:txBody>
      </p:sp>
    </p:spTree>
    <p:extLst>
      <p:ext uri="{BB962C8B-B14F-4D97-AF65-F5344CB8AC3E}">
        <p14:creationId xmlns:p14="http://schemas.microsoft.com/office/powerpoint/2010/main" val="20561680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baseline="0" dirty="0">
                <a:latin typeface="+mn-lt"/>
                <a:ea typeface="+mn-ea"/>
                <a:cs typeface="+mn-cs"/>
                <a:sym typeface="Calibri"/>
              </a:rPr>
              <a:t>In this session, we will</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1. Understand how increasingly standardized data, access to </a:t>
            </a:r>
            <a:r>
              <a:rPr lang="en-US" sz="1200" b="1" i="0" u="none" strike="noStrike" baseline="0" dirty="0">
                <a:latin typeface="+mn-lt"/>
                <a:ea typeface="+mn-ea"/>
                <a:cs typeface="+mn-cs"/>
                <a:sym typeface="Calibri"/>
              </a:rPr>
              <a:t>third-party data sets</a:t>
            </a:r>
            <a:r>
              <a:rPr lang="en-US" sz="1200" b="0" i="0" u="none" strike="noStrike" baseline="0" dirty="0">
                <a:latin typeface="+mn-lt"/>
                <a:ea typeface="+mn-ea"/>
                <a:cs typeface="+mn-cs"/>
                <a:sym typeface="Calibri"/>
              </a:rPr>
              <a:t>, cheap, fast computing and easier-to-use software are collectively enabling a </a:t>
            </a:r>
            <a:r>
              <a:rPr lang="en-US" sz="1200" b="1" i="0" u="none" strike="noStrike" baseline="0" dirty="0">
                <a:latin typeface="+mn-lt"/>
                <a:ea typeface="+mn-ea"/>
                <a:cs typeface="+mn-cs"/>
                <a:sym typeface="Calibri"/>
              </a:rPr>
              <a:t>new age of decision making</a:t>
            </a:r>
            <a:r>
              <a:rPr lang="en-US" sz="1200" b="0" i="0" u="none" strike="noStrike" baseline="0" dirty="0">
                <a:latin typeface="+mn-lt"/>
                <a:ea typeface="+mn-ea"/>
                <a:cs typeface="+mn-cs"/>
                <a:sym typeface="Calibri"/>
              </a:rPr>
              <a:t>.</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2. Be familiar with some of the enterprises that have benefited from </a:t>
            </a:r>
            <a:r>
              <a:rPr lang="en-US" sz="1200" b="1" i="0" u="none" strike="noStrike" baseline="0" dirty="0">
                <a:latin typeface="+mn-lt"/>
                <a:ea typeface="+mn-ea"/>
                <a:cs typeface="+mn-cs"/>
                <a:sym typeface="Calibri"/>
              </a:rPr>
              <a:t>data-driven, fact-based decision </a:t>
            </a:r>
            <a:r>
              <a:rPr lang="en-IN" sz="1200" b="1" i="0" u="none" strike="noStrike" baseline="0" dirty="0">
                <a:latin typeface="+mn-lt"/>
                <a:ea typeface="+mn-ea"/>
                <a:cs typeface="+mn-cs"/>
                <a:sym typeface="Calibri"/>
              </a:rPr>
              <a:t>making</a:t>
            </a:r>
            <a:r>
              <a:rPr lang="en-IN" sz="1200" b="0" i="0" u="none" strike="noStrike" baseline="0" dirty="0">
                <a:latin typeface="+mn-lt"/>
                <a:ea typeface="+mn-ea"/>
                <a:cs typeface="+mn-cs"/>
                <a:sym typeface="Calibri"/>
              </a:rPr>
              <a:t>.</a:t>
            </a:r>
          </a:p>
          <a:p>
            <a:endParaRPr lang="en-IN" dirty="0"/>
          </a:p>
        </p:txBody>
      </p:sp>
    </p:spTree>
    <p:extLst>
      <p:ext uri="{BB962C8B-B14F-4D97-AF65-F5344CB8AC3E}">
        <p14:creationId xmlns:p14="http://schemas.microsoft.com/office/powerpoint/2010/main" val="22615848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672775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452817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864115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096996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sz="1200" b="0" i="0" u="none" strike="noStrike" baseline="0" dirty="0">
              <a:latin typeface="+mn-lt"/>
              <a:ea typeface="+mn-ea"/>
              <a:cs typeface="+mn-cs"/>
              <a:sym typeface="Calibri"/>
            </a:endParaRPr>
          </a:p>
        </p:txBody>
      </p:sp>
    </p:spTree>
    <p:extLst>
      <p:ext uri="{BB962C8B-B14F-4D97-AF65-F5344CB8AC3E}">
        <p14:creationId xmlns:p14="http://schemas.microsoft.com/office/powerpoint/2010/main" val="8300339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sz="1200" b="0" i="0" u="none" strike="noStrike" baseline="0" dirty="0">
              <a:latin typeface="+mn-lt"/>
              <a:ea typeface="+mn-ea"/>
              <a:cs typeface="+mn-cs"/>
              <a:sym typeface="Calibri"/>
            </a:endParaRPr>
          </a:p>
        </p:txBody>
      </p:sp>
    </p:spTree>
    <p:extLst>
      <p:ext uri="{BB962C8B-B14F-4D97-AF65-F5344CB8AC3E}">
        <p14:creationId xmlns:p14="http://schemas.microsoft.com/office/powerpoint/2010/main" val="32052014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525118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baseline="0" dirty="0">
                <a:latin typeface="+mn-lt"/>
                <a:ea typeface="+mn-ea"/>
                <a:cs typeface="+mn-cs"/>
                <a:sym typeface="Calibri"/>
              </a:rPr>
              <a:t>In this session, we will</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1. Understand how increasingly standardized data, access to </a:t>
            </a:r>
            <a:r>
              <a:rPr lang="en-US" sz="1200" b="1" i="0" u="none" strike="noStrike" baseline="0" dirty="0">
                <a:latin typeface="+mn-lt"/>
                <a:ea typeface="+mn-ea"/>
                <a:cs typeface="+mn-cs"/>
                <a:sym typeface="Calibri"/>
              </a:rPr>
              <a:t>third-party data sets</a:t>
            </a:r>
            <a:r>
              <a:rPr lang="en-US" sz="1200" b="0" i="0" u="none" strike="noStrike" baseline="0" dirty="0">
                <a:latin typeface="+mn-lt"/>
                <a:ea typeface="+mn-ea"/>
                <a:cs typeface="+mn-cs"/>
                <a:sym typeface="Calibri"/>
              </a:rPr>
              <a:t>, cheap, fast computing and easier-to-use software are collectively enabling a </a:t>
            </a:r>
            <a:r>
              <a:rPr lang="en-US" sz="1200" b="1" i="0" u="none" strike="noStrike" baseline="0" dirty="0">
                <a:latin typeface="+mn-lt"/>
                <a:ea typeface="+mn-ea"/>
                <a:cs typeface="+mn-cs"/>
                <a:sym typeface="Calibri"/>
              </a:rPr>
              <a:t>new age of decision making</a:t>
            </a:r>
            <a:r>
              <a:rPr lang="en-US" sz="1200" b="0" i="0" u="none" strike="noStrike" baseline="0" dirty="0">
                <a:latin typeface="+mn-lt"/>
                <a:ea typeface="+mn-ea"/>
                <a:cs typeface="+mn-cs"/>
                <a:sym typeface="Calibri"/>
              </a:rPr>
              <a:t>.</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2. Be familiar with some of the enterprises that have benefited from </a:t>
            </a:r>
            <a:r>
              <a:rPr lang="en-US" sz="1200" b="1" i="0" u="none" strike="noStrike" baseline="0" dirty="0">
                <a:latin typeface="+mn-lt"/>
                <a:ea typeface="+mn-ea"/>
                <a:cs typeface="+mn-cs"/>
                <a:sym typeface="Calibri"/>
              </a:rPr>
              <a:t>data-driven, fact-based decision </a:t>
            </a:r>
            <a:r>
              <a:rPr lang="en-IN" sz="1200" b="1" i="0" u="none" strike="noStrike" baseline="0" dirty="0">
                <a:latin typeface="+mn-lt"/>
                <a:ea typeface="+mn-ea"/>
                <a:cs typeface="+mn-cs"/>
                <a:sym typeface="Calibri"/>
              </a:rPr>
              <a:t>making</a:t>
            </a:r>
            <a:r>
              <a:rPr lang="en-IN" sz="1200" b="0" i="0" u="none" strike="noStrike" baseline="0" dirty="0">
                <a:latin typeface="+mn-lt"/>
                <a:ea typeface="+mn-ea"/>
                <a:cs typeface="+mn-cs"/>
                <a:sym typeface="Calibri"/>
              </a:rPr>
              <a:t>.</a:t>
            </a:r>
          </a:p>
          <a:p>
            <a:endParaRPr lang="en-IN" dirty="0"/>
          </a:p>
        </p:txBody>
      </p:sp>
    </p:spTree>
    <p:extLst>
      <p:ext uri="{BB962C8B-B14F-4D97-AF65-F5344CB8AC3E}">
        <p14:creationId xmlns:p14="http://schemas.microsoft.com/office/powerpoint/2010/main" val="29561665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baseline="0" dirty="0">
                <a:latin typeface="+mn-lt"/>
                <a:ea typeface="+mn-ea"/>
                <a:cs typeface="+mn-cs"/>
                <a:sym typeface="Calibri"/>
              </a:rPr>
              <a:t>What do you mean by </a:t>
            </a:r>
            <a:r>
              <a:rPr lang="en-US" sz="1200" i="1" dirty="0"/>
              <a:t>more efficiently and productively </a:t>
            </a:r>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1. Saving Time </a:t>
            </a:r>
            <a:endParaRPr lang="en-IN" sz="1200" b="0" i="0" u="none" strike="noStrike" baseline="0" dirty="0">
              <a:latin typeface="+mn-lt"/>
              <a:ea typeface="+mn-ea"/>
              <a:cs typeface="+mn-cs"/>
              <a:sym typeface="Calibri"/>
            </a:endParaRPr>
          </a:p>
          <a:p>
            <a:r>
              <a:rPr lang="en-IN" sz="1200" b="0" i="0" u="none" strike="noStrike" baseline="0" dirty="0">
                <a:latin typeface="+mn-lt"/>
                <a:ea typeface="+mn-ea"/>
                <a:cs typeface="+mn-cs"/>
                <a:sym typeface="Calibri"/>
              </a:rPr>
              <a:t>2. New and improved </a:t>
            </a:r>
            <a:r>
              <a:rPr lang="en-US" sz="1200" b="0" i="0" u="none" strike="noStrike" baseline="0" dirty="0">
                <a:latin typeface="+mn-lt"/>
                <a:ea typeface="+mn-ea"/>
                <a:cs typeface="+mn-cs"/>
                <a:sym typeface="Calibri"/>
              </a:rPr>
              <a:t>approaches for analyzing important business</a:t>
            </a:r>
          </a:p>
          <a:p>
            <a:endParaRPr lang="en-US" sz="1200" b="0" i="0" u="none" strike="noStrike" baseline="0" dirty="0">
              <a:latin typeface="+mn-lt"/>
              <a:ea typeface="+mn-ea"/>
              <a:cs typeface="+mn-cs"/>
              <a:sym typeface="Calibri"/>
            </a:endParaRPr>
          </a:p>
          <a:p>
            <a:pPr marL="0" marR="0" lvl="0" indent="0" defTabSz="457200" eaLnBrk="1" fontAlgn="auto" latinLnBrk="0" hangingPunct="1">
              <a:lnSpc>
                <a:spcPct val="100000"/>
              </a:lnSpc>
              <a:spcBef>
                <a:spcPts val="0"/>
              </a:spcBef>
              <a:spcAft>
                <a:spcPts val="0"/>
              </a:spcAft>
              <a:buClrTx/>
              <a:buSzTx/>
              <a:buFontTx/>
              <a:buNone/>
              <a:tabLst/>
              <a:defRPr/>
            </a:pPr>
            <a:r>
              <a:rPr lang="en-US" sz="1200" b="0" i="0" u="none" strike="noStrike" baseline="0" dirty="0">
                <a:latin typeface="+mn-lt"/>
                <a:ea typeface="+mn-ea"/>
                <a:cs typeface="+mn-cs"/>
                <a:sym typeface="Calibri"/>
              </a:rPr>
              <a:t>You can see, </a:t>
            </a:r>
            <a:r>
              <a:rPr lang="en-IN" sz="1200" b="0" i="0" u="none" strike="noStrike" baseline="0" dirty="0">
                <a:latin typeface="+mn-lt"/>
                <a:ea typeface="+mn-ea"/>
                <a:cs typeface="+mn-cs"/>
                <a:sym typeface="Calibri"/>
              </a:rPr>
              <a:t>95% </a:t>
            </a:r>
            <a:r>
              <a:rPr lang="en-US" sz="1200" b="0" i="0" u="none" strike="noStrike" baseline="0" dirty="0">
                <a:latin typeface="+mn-lt"/>
                <a:ea typeface="+mn-ea"/>
                <a:cs typeface="+mn-cs"/>
                <a:sym typeface="Calibri"/>
              </a:rPr>
              <a:t>of MBA students at Indiana University took </a:t>
            </a:r>
            <a:r>
              <a:rPr lang="en-US" sz="1200" dirty="0">
                <a:effectLst/>
                <a:latin typeface="+mn-lt"/>
                <a:ea typeface="+mn-ea"/>
                <a:cs typeface="+mn-cs"/>
                <a:sym typeface="Calibri"/>
              </a:rPr>
              <a:t>Authors</a:t>
            </a:r>
            <a:r>
              <a:rPr lang="en-US" sz="1200" b="0" i="0" u="none" strike="noStrike" baseline="0" dirty="0">
                <a:latin typeface="+mn-lt"/>
                <a:ea typeface="+mn-ea"/>
                <a:cs typeface="+mn-cs"/>
                <a:sym typeface="Calibri"/>
              </a:rPr>
              <a:t> spreadsheet modeling class even though it was an elective.</a:t>
            </a:r>
          </a:p>
          <a:p>
            <a:pPr marL="0" marR="0" lvl="0" indent="0" defTabSz="457200" eaLnBrk="1" fontAlgn="auto" latinLnBrk="0" hangingPunct="1">
              <a:lnSpc>
                <a:spcPct val="100000"/>
              </a:lnSpc>
              <a:spcBef>
                <a:spcPts val="0"/>
              </a:spcBef>
              <a:spcAft>
                <a:spcPts val="0"/>
              </a:spcAft>
              <a:buClrTx/>
              <a:buSzTx/>
              <a:buFontTx/>
              <a:buNone/>
              <a:tabLst/>
              <a:defRPr/>
            </a:pPr>
            <a:endParaRPr lang="en-US" sz="1200" b="0" i="0" u="none" strike="noStrike" baseline="0" dirty="0">
              <a:latin typeface="+mn-lt"/>
              <a:ea typeface="+mn-ea"/>
              <a:cs typeface="+mn-cs"/>
              <a:sym typeface="Calibri"/>
            </a:endParaRPr>
          </a:p>
          <a:p>
            <a:pPr marL="0" marR="0" lvl="0" indent="0" defTabSz="457200" eaLnBrk="1" fontAlgn="auto" latinLnBrk="0" hangingPunct="1">
              <a:lnSpc>
                <a:spcPct val="100000"/>
              </a:lnSpc>
              <a:spcBef>
                <a:spcPts val="0"/>
              </a:spcBef>
              <a:spcAft>
                <a:spcPts val="0"/>
              </a:spcAft>
              <a:buClrTx/>
              <a:buSzTx/>
              <a:buFontTx/>
              <a:buNone/>
              <a:tabLst/>
              <a:defRPr/>
            </a:pPr>
            <a:endParaRPr lang="en-US" sz="1200" b="0" i="0" u="none" strike="noStrike" baseline="0" dirty="0">
              <a:latin typeface="+mn-lt"/>
              <a:ea typeface="+mn-ea"/>
              <a:cs typeface="+mn-cs"/>
              <a:sym typeface="Calibri"/>
            </a:endParaRPr>
          </a:p>
          <a:p>
            <a:endParaRPr lang="en-US" sz="1200" b="0" i="0" u="none" strike="noStrike" baseline="0" dirty="0">
              <a:latin typeface="+mn-lt"/>
              <a:ea typeface="+mn-ea"/>
              <a:cs typeface="+mn-cs"/>
              <a:sym typeface="Calibri"/>
            </a:endParaRPr>
          </a:p>
          <a:p>
            <a:endParaRPr lang="en-US" sz="1200" b="0" i="0" u="none" strike="noStrike" baseline="0" dirty="0">
              <a:latin typeface="+mn-lt"/>
              <a:ea typeface="+mn-ea"/>
              <a:cs typeface="+mn-cs"/>
              <a:sym typeface="Calibri"/>
            </a:endParaRPr>
          </a:p>
          <a:p>
            <a:endParaRPr lang="en-IN" dirty="0"/>
          </a:p>
        </p:txBody>
      </p:sp>
    </p:spTree>
    <p:extLst>
      <p:ext uri="{BB962C8B-B14F-4D97-AF65-F5344CB8AC3E}">
        <p14:creationId xmlns:p14="http://schemas.microsoft.com/office/powerpoint/2010/main" val="3973329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baseline="0" dirty="0">
                <a:latin typeface="+mn-lt"/>
                <a:ea typeface="+mn-ea"/>
                <a:cs typeface="+mn-cs"/>
                <a:sym typeface="Calibri"/>
              </a:rPr>
              <a:t>What do you mean by </a:t>
            </a:r>
            <a:r>
              <a:rPr lang="en-US" sz="1200" i="1" dirty="0"/>
              <a:t>more efficiently and productively </a:t>
            </a:r>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1. Saving Time </a:t>
            </a:r>
            <a:endParaRPr lang="en-IN" sz="1200" b="0" i="0" u="none" strike="noStrike" baseline="0" dirty="0">
              <a:latin typeface="+mn-lt"/>
              <a:ea typeface="+mn-ea"/>
              <a:cs typeface="+mn-cs"/>
              <a:sym typeface="Calibri"/>
            </a:endParaRPr>
          </a:p>
          <a:p>
            <a:r>
              <a:rPr lang="en-IN" sz="1200" b="0" i="0" u="none" strike="noStrike" baseline="0" dirty="0">
                <a:latin typeface="+mn-lt"/>
                <a:ea typeface="+mn-ea"/>
                <a:cs typeface="+mn-cs"/>
                <a:sym typeface="Calibri"/>
              </a:rPr>
              <a:t>2. New and improved </a:t>
            </a:r>
            <a:r>
              <a:rPr lang="en-US" sz="1200" b="0" i="0" u="none" strike="noStrike" baseline="0" dirty="0">
                <a:latin typeface="+mn-lt"/>
                <a:ea typeface="+mn-ea"/>
                <a:cs typeface="+mn-cs"/>
                <a:sym typeface="Calibri"/>
              </a:rPr>
              <a:t>approaches for analyzing important business</a:t>
            </a:r>
          </a:p>
          <a:p>
            <a:endParaRPr lang="en-US" sz="1200" b="0" i="0" u="none" strike="noStrike" baseline="0" dirty="0">
              <a:latin typeface="+mn-lt"/>
              <a:ea typeface="+mn-ea"/>
              <a:cs typeface="+mn-cs"/>
              <a:sym typeface="Calibri"/>
            </a:endParaRPr>
          </a:p>
          <a:p>
            <a:pPr marL="0" marR="0" lvl="0" indent="0" defTabSz="457200" eaLnBrk="1" fontAlgn="auto" latinLnBrk="0" hangingPunct="1">
              <a:lnSpc>
                <a:spcPct val="100000"/>
              </a:lnSpc>
              <a:spcBef>
                <a:spcPts val="0"/>
              </a:spcBef>
              <a:spcAft>
                <a:spcPts val="0"/>
              </a:spcAft>
              <a:buClrTx/>
              <a:buSzTx/>
              <a:buFontTx/>
              <a:buNone/>
              <a:tabLst/>
              <a:defRPr/>
            </a:pPr>
            <a:r>
              <a:rPr lang="en-US" sz="1200" b="0" i="0" u="none" strike="noStrike" baseline="0" dirty="0">
                <a:latin typeface="+mn-lt"/>
                <a:ea typeface="+mn-ea"/>
                <a:cs typeface="+mn-cs"/>
                <a:sym typeface="Calibri"/>
              </a:rPr>
              <a:t>You can see, </a:t>
            </a:r>
            <a:r>
              <a:rPr lang="en-IN" sz="1200" b="0" i="0" u="none" strike="noStrike" baseline="0" dirty="0">
                <a:latin typeface="+mn-lt"/>
                <a:ea typeface="+mn-ea"/>
                <a:cs typeface="+mn-cs"/>
                <a:sym typeface="Calibri"/>
              </a:rPr>
              <a:t>95% </a:t>
            </a:r>
            <a:r>
              <a:rPr lang="en-US" sz="1200" b="0" i="0" u="none" strike="noStrike" baseline="0" dirty="0">
                <a:latin typeface="+mn-lt"/>
                <a:ea typeface="+mn-ea"/>
                <a:cs typeface="+mn-cs"/>
                <a:sym typeface="Calibri"/>
              </a:rPr>
              <a:t>of MBA students at Indiana University took </a:t>
            </a:r>
            <a:r>
              <a:rPr lang="en-US" sz="1200" dirty="0">
                <a:effectLst/>
                <a:latin typeface="+mn-lt"/>
                <a:ea typeface="+mn-ea"/>
                <a:cs typeface="+mn-cs"/>
                <a:sym typeface="Calibri"/>
              </a:rPr>
              <a:t>Authors</a:t>
            </a:r>
            <a:r>
              <a:rPr lang="en-US" sz="1200" b="0" i="0" u="none" strike="noStrike" baseline="0" dirty="0">
                <a:latin typeface="+mn-lt"/>
                <a:ea typeface="+mn-ea"/>
                <a:cs typeface="+mn-cs"/>
                <a:sym typeface="Calibri"/>
              </a:rPr>
              <a:t> spreadsheet modeling class even though it was an elective.</a:t>
            </a:r>
          </a:p>
          <a:p>
            <a:pPr marL="0" marR="0" lvl="0" indent="0" defTabSz="457200" eaLnBrk="1" fontAlgn="auto" latinLnBrk="0" hangingPunct="1">
              <a:lnSpc>
                <a:spcPct val="100000"/>
              </a:lnSpc>
              <a:spcBef>
                <a:spcPts val="0"/>
              </a:spcBef>
              <a:spcAft>
                <a:spcPts val="0"/>
              </a:spcAft>
              <a:buClrTx/>
              <a:buSzTx/>
              <a:buFontTx/>
              <a:buNone/>
              <a:tabLst/>
              <a:defRPr/>
            </a:pPr>
            <a:endParaRPr lang="en-US" sz="1200" b="0" i="0" u="none" strike="noStrike" baseline="0" dirty="0">
              <a:latin typeface="+mn-lt"/>
              <a:ea typeface="+mn-ea"/>
              <a:cs typeface="+mn-cs"/>
              <a:sym typeface="Calibri"/>
            </a:endParaRPr>
          </a:p>
          <a:p>
            <a:pPr marL="0" marR="0" lvl="0" indent="0" defTabSz="457200" eaLnBrk="1" fontAlgn="auto" latinLnBrk="0" hangingPunct="1">
              <a:lnSpc>
                <a:spcPct val="100000"/>
              </a:lnSpc>
              <a:spcBef>
                <a:spcPts val="0"/>
              </a:spcBef>
              <a:spcAft>
                <a:spcPts val="0"/>
              </a:spcAft>
              <a:buClrTx/>
              <a:buSzTx/>
              <a:buFontTx/>
              <a:buNone/>
              <a:tabLst/>
              <a:defRPr/>
            </a:pPr>
            <a:endParaRPr lang="en-US" sz="1200" b="0" i="0" u="none" strike="noStrike" baseline="0" dirty="0">
              <a:latin typeface="+mn-lt"/>
              <a:ea typeface="+mn-ea"/>
              <a:cs typeface="+mn-cs"/>
              <a:sym typeface="Calibri"/>
            </a:endParaRPr>
          </a:p>
          <a:p>
            <a:endParaRPr lang="en-US" sz="1200" b="0" i="0" u="none" strike="noStrike" baseline="0" dirty="0">
              <a:latin typeface="+mn-lt"/>
              <a:ea typeface="+mn-ea"/>
              <a:cs typeface="+mn-cs"/>
              <a:sym typeface="Calibri"/>
            </a:endParaRPr>
          </a:p>
          <a:p>
            <a:endParaRPr lang="en-US" sz="1200" b="0" i="0" u="none" strike="noStrike" baseline="0" dirty="0">
              <a:latin typeface="+mn-lt"/>
              <a:ea typeface="+mn-ea"/>
              <a:cs typeface="+mn-cs"/>
              <a:sym typeface="Calibri"/>
            </a:endParaRPr>
          </a:p>
          <a:p>
            <a:endParaRPr lang="en-IN" dirty="0"/>
          </a:p>
        </p:txBody>
      </p:sp>
    </p:spTree>
    <p:extLst>
      <p:ext uri="{BB962C8B-B14F-4D97-AF65-F5344CB8AC3E}">
        <p14:creationId xmlns:p14="http://schemas.microsoft.com/office/powerpoint/2010/main" val="3973329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baseline="0" dirty="0">
                <a:latin typeface="+mn-lt"/>
                <a:ea typeface="+mn-ea"/>
                <a:cs typeface="+mn-cs"/>
                <a:sym typeface="Calibri"/>
              </a:rPr>
              <a:t>What do you mean by </a:t>
            </a:r>
            <a:r>
              <a:rPr lang="en-US" sz="1200" i="1" dirty="0"/>
              <a:t>more efficiently and productively </a:t>
            </a:r>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1. Saving Time </a:t>
            </a:r>
            <a:endParaRPr lang="en-IN" sz="1200" b="0" i="0" u="none" strike="noStrike" baseline="0" dirty="0">
              <a:latin typeface="+mn-lt"/>
              <a:ea typeface="+mn-ea"/>
              <a:cs typeface="+mn-cs"/>
              <a:sym typeface="Calibri"/>
            </a:endParaRPr>
          </a:p>
          <a:p>
            <a:r>
              <a:rPr lang="en-IN" sz="1200" b="0" i="0" u="none" strike="noStrike" baseline="0" dirty="0">
                <a:latin typeface="+mn-lt"/>
                <a:ea typeface="+mn-ea"/>
                <a:cs typeface="+mn-cs"/>
                <a:sym typeface="Calibri"/>
              </a:rPr>
              <a:t>2. New and improved </a:t>
            </a:r>
            <a:r>
              <a:rPr lang="en-US" sz="1200" b="0" i="0" u="none" strike="noStrike" baseline="0" dirty="0">
                <a:latin typeface="+mn-lt"/>
                <a:ea typeface="+mn-ea"/>
                <a:cs typeface="+mn-cs"/>
                <a:sym typeface="Calibri"/>
              </a:rPr>
              <a:t>approaches for analyzing important business</a:t>
            </a:r>
          </a:p>
          <a:p>
            <a:endParaRPr lang="en-US" sz="1200" b="0" i="0" u="none" strike="noStrike" baseline="0" dirty="0">
              <a:latin typeface="+mn-lt"/>
              <a:ea typeface="+mn-ea"/>
              <a:cs typeface="+mn-cs"/>
              <a:sym typeface="Calibri"/>
            </a:endParaRPr>
          </a:p>
          <a:p>
            <a:pPr marL="0" marR="0" lvl="0" indent="0" defTabSz="457200" eaLnBrk="1" fontAlgn="auto" latinLnBrk="0" hangingPunct="1">
              <a:lnSpc>
                <a:spcPct val="100000"/>
              </a:lnSpc>
              <a:spcBef>
                <a:spcPts val="0"/>
              </a:spcBef>
              <a:spcAft>
                <a:spcPts val="0"/>
              </a:spcAft>
              <a:buClrTx/>
              <a:buSzTx/>
              <a:buFontTx/>
              <a:buNone/>
              <a:tabLst/>
              <a:defRPr/>
            </a:pPr>
            <a:r>
              <a:rPr lang="en-US" sz="1200" b="0" i="0" u="none" strike="noStrike" baseline="0" dirty="0">
                <a:latin typeface="+mn-lt"/>
                <a:ea typeface="+mn-ea"/>
                <a:cs typeface="+mn-cs"/>
                <a:sym typeface="Calibri"/>
              </a:rPr>
              <a:t>You can see, </a:t>
            </a:r>
            <a:r>
              <a:rPr lang="en-IN" sz="1200" b="0" i="0" u="none" strike="noStrike" baseline="0" dirty="0">
                <a:latin typeface="+mn-lt"/>
                <a:ea typeface="+mn-ea"/>
                <a:cs typeface="+mn-cs"/>
                <a:sym typeface="Calibri"/>
              </a:rPr>
              <a:t>95% </a:t>
            </a:r>
            <a:r>
              <a:rPr lang="en-US" sz="1200" b="0" i="0" u="none" strike="noStrike" baseline="0" dirty="0">
                <a:latin typeface="+mn-lt"/>
                <a:ea typeface="+mn-ea"/>
                <a:cs typeface="+mn-cs"/>
                <a:sym typeface="Calibri"/>
              </a:rPr>
              <a:t>of MBA students at Indiana University took </a:t>
            </a:r>
            <a:r>
              <a:rPr lang="en-US" sz="1200" dirty="0">
                <a:effectLst/>
                <a:latin typeface="+mn-lt"/>
                <a:ea typeface="+mn-ea"/>
                <a:cs typeface="+mn-cs"/>
                <a:sym typeface="Calibri"/>
              </a:rPr>
              <a:t>Authors</a:t>
            </a:r>
            <a:r>
              <a:rPr lang="en-US" sz="1200" b="0" i="0" u="none" strike="noStrike" baseline="0" dirty="0">
                <a:latin typeface="+mn-lt"/>
                <a:ea typeface="+mn-ea"/>
                <a:cs typeface="+mn-cs"/>
                <a:sym typeface="Calibri"/>
              </a:rPr>
              <a:t> spreadsheet modeling class even though it was an elective.</a:t>
            </a:r>
          </a:p>
          <a:p>
            <a:pPr marL="0" marR="0" lvl="0" indent="0" defTabSz="457200" eaLnBrk="1" fontAlgn="auto" latinLnBrk="0" hangingPunct="1">
              <a:lnSpc>
                <a:spcPct val="100000"/>
              </a:lnSpc>
              <a:spcBef>
                <a:spcPts val="0"/>
              </a:spcBef>
              <a:spcAft>
                <a:spcPts val="0"/>
              </a:spcAft>
              <a:buClrTx/>
              <a:buSzTx/>
              <a:buFontTx/>
              <a:buNone/>
              <a:tabLst/>
              <a:defRPr/>
            </a:pPr>
            <a:endParaRPr lang="en-US" sz="1200" b="0" i="0" u="none" strike="noStrike" baseline="0" dirty="0">
              <a:latin typeface="+mn-lt"/>
              <a:ea typeface="+mn-ea"/>
              <a:cs typeface="+mn-cs"/>
              <a:sym typeface="Calibri"/>
            </a:endParaRPr>
          </a:p>
          <a:p>
            <a:pPr marL="0" marR="0" lvl="0" indent="0" defTabSz="457200" eaLnBrk="1" fontAlgn="auto" latinLnBrk="0" hangingPunct="1">
              <a:lnSpc>
                <a:spcPct val="100000"/>
              </a:lnSpc>
              <a:spcBef>
                <a:spcPts val="0"/>
              </a:spcBef>
              <a:spcAft>
                <a:spcPts val="0"/>
              </a:spcAft>
              <a:buClrTx/>
              <a:buSzTx/>
              <a:buFontTx/>
              <a:buNone/>
              <a:tabLst/>
              <a:defRPr/>
            </a:pPr>
            <a:endParaRPr lang="en-US" sz="1200" b="0" i="0" u="none" strike="noStrike" baseline="0" dirty="0">
              <a:latin typeface="+mn-lt"/>
              <a:ea typeface="+mn-ea"/>
              <a:cs typeface="+mn-cs"/>
              <a:sym typeface="Calibri"/>
            </a:endParaRPr>
          </a:p>
          <a:p>
            <a:endParaRPr lang="en-US" sz="1200" b="0" i="0" u="none" strike="noStrike" baseline="0" dirty="0">
              <a:latin typeface="+mn-lt"/>
              <a:ea typeface="+mn-ea"/>
              <a:cs typeface="+mn-cs"/>
              <a:sym typeface="Calibri"/>
            </a:endParaRPr>
          </a:p>
          <a:p>
            <a:endParaRPr lang="en-US" sz="1200" b="0" i="0" u="none" strike="noStrike" baseline="0" dirty="0">
              <a:latin typeface="+mn-lt"/>
              <a:ea typeface="+mn-ea"/>
              <a:cs typeface="+mn-cs"/>
              <a:sym typeface="Calibri"/>
            </a:endParaRPr>
          </a:p>
          <a:p>
            <a:endParaRPr lang="en-IN" dirty="0"/>
          </a:p>
        </p:txBody>
      </p:sp>
    </p:spTree>
    <p:extLst>
      <p:ext uri="{BB962C8B-B14F-4D97-AF65-F5344CB8AC3E}">
        <p14:creationId xmlns:p14="http://schemas.microsoft.com/office/powerpoint/2010/main" val="28979591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baseline="0" dirty="0">
                <a:latin typeface="+mn-lt"/>
                <a:ea typeface="+mn-ea"/>
                <a:cs typeface="+mn-cs"/>
                <a:sym typeface="Calibri"/>
              </a:rPr>
              <a:t>In this session, we will</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1. Understand how increasingly standardized data, access to </a:t>
            </a:r>
            <a:r>
              <a:rPr lang="en-US" sz="1200" b="1" i="0" u="none" strike="noStrike" baseline="0" dirty="0">
                <a:latin typeface="+mn-lt"/>
                <a:ea typeface="+mn-ea"/>
                <a:cs typeface="+mn-cs"/>
                <a:sym typeface="Calibri"/>
              </a:rPr>
              <a:t>third-party data sets</a:t>
            </a:r>
            <a:r>
              <a:rPr lang="en-US" sz="1200" b="0" i="0" u="none" strike="noStrike" baseline="0" dirty="0">
                <a:latin typeface="+mn-lt"/>
                <a:ea typeface="+mn-ea"/>
                <a:cs typeface="+mn-cs"/>
                <a:sym typeface="Calibri"/>
              </a:rPr>
              <a:t>, cheap, fast computing and easier-to-use software are collectively enabling a </a:t>
            </a:r>
            <a:r>
              <a:rPr lang="en-US" sz="1200" b="1" i="0" u="none" strike="noStrike" baseline="0" dirty="0">
                <a:latin typeface="+mn-lt"/>
                <a:ea typeface="+mn-ea"/>
                <a:cs typeface="+mn-cs"/>
                <a:sym typeface="Calibri"/>
              </a:rPr>
              <a:t>new age of decision making</a:t>
            </a:r>
            <a:r>
              <a:rPr lang="en-US" sz="1200" b="0" i="0" u="none" strike="noStrike" baseline="0" dirty="0">
                <a:latin typeface="+mn-lt"/>
                <a:ea typeface="+mn-ea"/>
                <a:cs typeface="+mn-cs"/>
                <a:sym typeface="Calibri"/>
              </a:rPr>
              <a:t>.</a:t>
            </a:r>
          </a:p>
          <a:p>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2. Be familiar with some of the enterprises that have benefited from </a:t>
            </a:r>
            <a:r>
              <a:rPr lang="en-US" sz="1200" b="1" i="0" u="none" strike="noStrike" baseline="0" dirty="0">
                <a:latin typeface="+mn-lt"/>
                <a:ea typeface="+mn-ea"/>
                <a:cs typeface="+mn-cs"/>
                <a:sym typeface="Calibri"/>
              </a:rPr>
              <a:t>data-driven, fact-based decision </a:t>
            </a:r>
            <a:r>
              <a:rPr lang="en-IN" sz="1200" b="1" i="0" u="none" strike="noStrike" baseline="0" dirty="0">
                <a:latin typeface="+mn-lt"/>
                <a:ea typeface="+mn-ea"/>
                <a:cs typeface="+mn-cs"/>
                <a:sym typeface="Calibri"/>
              </a:rPr>
              <a:t>making</a:t>
            </a:r>
            <a:r>
              <a:rPr lang="en-IN" sz="1200" b="0" i="0" u="none" strike="noStrike" baseline="0" dirty="0">
                <a:latin typeface="+mn-lt"/>
                <a:ea typeface="+mn-ea"/>
                <a:cs typeface="+mn-cs"/>
                <a:sym typeface="Calibri"/>
              </a:rPr>
              <a:t>.</a:t>
            </a:r>
          </a:p>
          <a:p>
            <a:endParaRPr lang="en-IN" dirty="0"/>
          </a:p>
        </p:txBody>
      </p:sp>
    </p:spTree>
    <p:extLst>
      <p:ext uri="{BB962C8B-B14F-4D97-AF65-F5344CB8AC3E}">
        <p14:creationId xmlns:p14="http://schemas.microsoft.com/office/powerpoint/2010/main" val="29561665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baseline="0" dirty="0">
                <a:latin typeface="+mn-lt"/>
                <a:ea typeface="+mn-ea"/>
                <a:cs typeface="+mn-cs"/>
                <a:sym typeface="Calibri"/>
              </a:rPr>
              <a:t>What do you mean by </a:t>
            </a:r>
            <a:r>
              <a:rPr lang="en-US" sz="1200" i="1" dirty="0"/>
              <a:t>more efficiently and productively </a:t>
            </a:r>
            <a:endParaRPr lang="en-US" sz="1200" b="0" i="0" u="none" strike="noStrike" baseline="0" dirty="0">
              <a:latin typeface="+mn-lt"/>
              <a:ea typeface="+mn-ea"/>
              <a:cs typeface="+mn-cs"/>
              <a:sym typeface="Calibri"/>
            </a:endParaRPr>
          </a:p>
          <a:p>
            <a:r>
              <a:rPr lang="en-US" sz="1200" b="0" i="0" u="none" strike="noStrike" baseline="0" dirty="0">
                <a:latin typeface="+mn-lt"/>
                <a:ea typeface="+mn-ea"/>
                <a:cs typeface="+mn-cs"/>
                <a:sym typeface="Calibri"/>
              </a:rPr>
              <a:t>1. Saving Time </a:t>
            </a:r>
            <a:endParaRPr lang="en-IN" sz="1200" b="0" i="0" u="none" strike="noStrike" baseline="0" dirty="0">
              <a:latin typeface="+mn-lt"/>
              <a:ea typeface="+mn-ea"/>
              <a:cs typeface="+mn-cs"/>
              <a:sym typeface="Calibri"/>
            </a:endParaRPr>
          </a:p>
          <a:p>
            <a:r>
              <a:rPr lang="en-IN" sz="1200" b="0" i="0" u="none" strike="noStrike" baseline="0" dirty="0">
                <a:latin typeface="+mn-lt"/>
                <a:ea typeface="+mn-ea"/>
                <a:cs typeface="+mn-cs"/>
                <a:sym typeface="Calibri"/>
              </a:rPr>
              <a:t>2. New and improved </a:t>
            </a:r>
            <a:r>
              <a:rPr lang="en-US" sz="1200" b="0" i="0" u="none" strike="noStrike" baseline="0" dirty="0">
                <a:latin typeface="+mn-lt"/>
                <a:ea typeface="+mn-ea"/>
                <a:cs typeface="+mn-cs"/>
                <a:sym typeface="Calibri"/>
              </a:rPr>
              <a:t>approaches for analyzing important business</a:t>
            </a:r>
          </a:p>
          <a:p>
            <a:endParaRPr lang="en-US" sz="1200" b="0" i="0" u="none" strike="noStrike" baseline="0" dirty="0">
              <a:latin typeface="+mn-lt"/>
              <a:ea typeface="+mn-ea"/>
              <a:cs typeface="+mn-cs"/>
              <a:sym typeface="Calibri"/>
            </a:endParaRPr>
          </a:p>
          <a:p>
            <a:pPr marL="0" marR="0" lvl="0" indent="0" defTabSz="457200" eaLnBrk="1" fontAlgn="auto" latinLnBrk="0" hangingPunct="1">
              <a:lnSpc>
                <a:spcPct val="100000"/>
              </a:lnSpc>
              <a:spcBef>
                <a:spcPts val="0"/>
              </a:spcBef>
              <a:spcAft>
                <a:spcPts val="0"/>
              </a:spcAft>
              <a:buClrTx/>
              <a:buSzTx/>
              <a:buFontTx/>
              <a:buNone/>
              <a:tabLst/>
              <a:defRPr/>
            </a:pPr>
            <a:r>
              <a:rPr lang="en-US" sz="1200" b="0" i="0" u="none" strike="noStrike" baseline="0" dirty="0">
                <a:latin typeface="+mn-lt"/>
                <a:ea typeface="+mn-ea"/>
                <a:cs typeface="+mn-cs"/>
                <a:sym typeface="Calibri"/>
              </a:rPr>
              <a:t>You can see, </a:t>
            </a:r>
            <a:r>
              <a:rPr lang="en-IN" sz="1200" b="0" i="0" u="none" strike="noStrike" baseline="0" dirty="0">
                <a:latin typeface="+mn-lt"/>
                <a:ea typeface="+mn-ea"/>
                <a:cs typeface="+mn-cs"/>
                <a:sym typeface="Calibri"/>
              </a:rPr>
              <a:t>95% </a:t>
            </a:r>
            <a:r>
              <a:rPr lang="en-US" sz="1200" b="0" i="0" u="none" strike="noStrike" baseline="0" dirty="0">
                <a:latin typeface="+mn-lt"/>
                <a:ea typeface="+mn-ea"/>
                <a:cs typeface="+mn-cs"/>
                <a:sym typeface="Calibri"/>
              </a:rPr>
              <a:t>of MBA students at Indiana University took </a:t>
            </a:r>
            <a:r>
              <a:rPr lang="en-US" sz="1200" dirty="0">
                <a:effectLst/>
                <a:latin typeface="+mn-lt"/>
                <a:ea typeface="+mn-ea"/>
                <a:cs typeface="+mn-cs"/>
                <a:sym typeface="Calibri"/>
              </a:rPr>
              <a:t>Authors</a:t>
            </a:r>
            <a:r>
              <a:rPr lang="en-US" sz="1200" b="0" i="0" u="none" strike="noStrike" baseline="0" dirty="0">
                <a:latin typeface="+mn-lt"/>
                <a:ea typeface="+mn-ea"/>
                <a:cs typeface="+mn-cs"/>
                <a:sym typeface="Calibri"/>
              </a:rPr>
              <a:t> spreadsheet modeling class even though it was an elective.</a:t>
            </a:r>
          </a:p>
          <a:p>
            <a:pPr marL="0" marR="0" lvl="0" indent="0" defTabSz="457200" eaLnBrk="1" fontAlgn="auto" latinLnBrk="0" hangingPunct="1">
              <a:lnSpc>
                <a:spcPct val="100000"/>
              </a:lnSpc>
              <a:spcBef>
                <a:spcPts val="0"/>
              </a:spcBef>
              <a:spcAft>
                <a:spcPts val="0"/>
              </a:spcAft>
              <a:buClrTx/>
              <a:buSzTx/>
              <a:buFontTx/>
              <a:buNone/>
              <a:tabLst/>
              <a:defRPr/>
            </a:pPr>
            <a:endParaRPr lang="en-US" sz="1200" b="0" i="0" u="none" strike="noStrike" baseline="0" dirty="0">
              <a:latin typeface="+mn-lt"/>
              <a:ea typeface="+mn-ea"/>
              <a:cs typeface="+mn-cs"/>
              <a:sym typeface="Calibri"/>
            </a:endParaRPr>
          </a:p>
          <a:p>
            <a:pPr marL="0" marR="0" lvl="0" indent="0" defTabSz="457200" eaLnBrk="1" fontAlgn="auto" latinLnBrk="0" hangingPunct="1">
              <a:lnSpc>
                <a:spcPct val="100000"/>
              </a:lnSpc>
              <a:spcBef>
                <a:spcPts val="0"/>
              </a:spcBef>
              <a:spcAft>
                <a:spcPts val="0"/>
              </a:spcAft>
              <a:buClrTx/>
              <a:buSzTx/>
              <a:buFontTx/>
              <a:buNone/>
              <a:tabLst/>
              <a:defRPr/>
            </a:pPr>
            <a:endParaRPr lang="en-US" sz="1200" b="0" i="0" u="none" strike="noStrike" baseline="0" dirty="0">
              <a:latin typeface="+mn-lt"/>
              <a:ea typeface="+mn-ea"/>
              <a:cs typeface="+mn-cs"/>
              <a:sym typeface="Calibri"/>
            </a:endParaRPr>
          </a:p>
          <a:p>
            <a:endParaRPr lang="en-US" sz="1200" b="0" i="0" u="none" strike="noStrike" baseline="0" dirty="0">
              <a:latin typeface="+mn-lt"/>
              <a:ea typeface="+mn-ea"/>
              <a:cs typeface="+mn-cs"/>
              <a:sym typeface="Calibri"/>
            </a:endParaRPr>
          </a:p>
          <a:p>
            <a:endParaRPr lang="en-US" sz="1200" b="0" i="0" u="none" strike="noStrike" baseline="0" dirty="0">
              <a:latin typeface="+mn-lt"/>
              <a:ea typeface="+mn-ea"/>
              <a:cs typeface="+mn-cs"/>
              <a:sym typeface="Calibri"/>
            </a:endParaRPr>
          </a:p>
          <a:p>
            <a:endParaRPr lang="en-IN" dirty="0"/>
          </a:p>
        </p:txBody>
      </p:sp>
    </p:spTree>
    <p:extLst>
      <p:ext uri="{BB962C8B-B14F-4D97-AF65-F5344CB8AC3E}">
        <p14:creationId xmlns:p14="http://schemas.microsoft.com/office/powerpoint/2010/main" val="2849434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02618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173355" y="182881"/>
            <a:ext cx="8793480" cy="4783454"/>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32485" y="661782"/>
            <a:ext cx="7475220" cy="2194560"/>
          </a:xfrm>
        </p:spPr>
        <p:txBody>
          <a:bodyPr anchor="b">
            <a:normAutofit/>
          </a:bodyPr>
          <a:lstStyle>
            <a:lvl1pPr algn="ctr">
              <a:lnSpc>
                <a:spcPct val="85000"/>
              </a:lnSpc>
              <a:defRPr sz="54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282148" y="2902226"/>
            <a:ext cx="6575895" cy="1041124"/>
          </a:xfrm>
        </p:spPr>
        <p:txBody>
          <a:bodyPr>
            <a:normAutofit/>
          </a:bodyPr>
          <a:lstStyle>
            <a:lvl1pPr marL="0" indent="0" algn="ctr">
              <a:buNone/>
              <a:defRPr sz="1650">
                <a:solidFill>
                  <a:srgbClr val="FFFFFF"/>
                </a:solidFill>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70C271A2-F3AE-4BBC-90BE-B21FCC4ED494}" type="datetime1">
              <a:rPr lang="en-US" smtClean="0"/>
              <a:t>7/6/2022</a:t>
            </a:fld>
            <a:endParaRPr lang="en-US" dirty="0"/>
          </a:p>
        </p:txBody>
      </p:sp>
      <p:sp>
        <p:nvSpPr>
          <p:cNvPr id="5" name="Footer Placeholder 4"/>
          <p:cNvSpPr>
            <a:spLocks noGrp="1"/>
          </p:cNvSpPr>
          <p:nvPr>
            <p:ph type="ftr" sz="quarter" idx="11"/>
          </p:nvPr>
        </p:nvSpPr>
        <p:spPr/>
        <p:txBody>
          <a:bodyPr/>
          <a:lstStyle>
            <a:lvl1pPr>
              <a:defRPr>
                <a:solidFill>
                  <a:srgbClr val="FFFFFF"/>
                </a:solidFill>
              </a:defRPr>
            </a:lvl1pPr>
          </a:lstStyle>
          <a:p>
            <a:r>
              <a:rPr lang="en-US"/>
              <a:t>Restricted Access - This presentation is only for IIM Lucknow Students</a:t>
            </a:r>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FAB73BC-B049-4115-A692-8D63A059BFB8}" type="slidenum">
              <a:rPr lang="en-US" smtClean="0"/>
              <a:t>‹#›</a:t>
            </a:fld>
            <a:endParaRPr lang="en-US" dirty="0"/>
          </a:p>
        </p:txBody>
      </p:sp>
      <p:cxnSp>
        <p:nvCxnSpPr>
          <p:cNvPr id="8" name="Straight Connector 7"/>
          <p:cNvCxnSpPr/>
          <p:nvPr/>
        </p:nvCxnSpPr>
        <p:spPr>
          <a:xfrm>
            <a:off x="1483995" y="2800350"/>
            <a:ext cx="61722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0496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88EC2A-1D86-447A-A43C-D2AA41F14639}" type="datetime1">
              <a:rPr lang="en-US" smtClean="0"/>
              <a:t>7/6/2022</a:t>
            </a:fld>
            <a:endParaRPr lang="en-US" dirty="0"/>
          </a:p>
        </p:txBody>
      </p:sp>
      <p:sp>
        <p:nvSpPr>
          <p:cNvPr id="5" name="Footer Placeholder 4"/>
          <p:cNvSpPr>
            <a:spLocks noGrp="1"/>
          </p:cNvSpPr>
          <p:nvPr>
            <p:ph type="ftr" sz="quarter" idx="11"/>
          </p:nvPr>
        </p:nvSpPr>
        <p:spPr/>
        <p:txBody>
          <a:bodyPr/>
          <a:lstStyle/>
          <a:p>
            <a:r>
              <a:rPr lang="en-US"/>
              <a:t>Restricted Access - This presentation is only for IIM Lucknow Students</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t>‹#›</a:t>
            </a:fld>
            <a:endParaRPr lang="en-US" dirty="0"/>
          </a:p>
        </p:txBody>
      </p:sp>
    </p:spTree>
    <p:extLst>
      <p:ext uri="{BB962C8B-B14F-4D97-AF65-F5344CB8AC3E}">
        <p14:creationId xmlns:p14="http://schemas.microsoft.com/office/powerpoint/2010/main" val="4294137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9818" y="880181"/>
            <a:ext cx="7475220" cy="2194560"/>
          </a:xfrm>
        </p:spPr>
        <p:txBody>
          <a:bodyPr anchor="b">
            <a:noAutofit/>
          </a:bodyPr>
          <a:lstStyle>
            <a:lvl1pPr algn="ctr">
              <a:lnSpc>
                <a:spcPct val="85000"/>
              </a:lnSpc>
              <a:defRPr sz="54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282446" y="3115890"/>
            <a:ext cx="6576822" cy="1022855"/>
          </a:xfrm>
        </p:spPr>
        <p:txBody>
          <a:bodyPr anchor="t">
            <a:normAutofit/>
          </a:bodyPr>
          <a:lstStyle>
            <a:lvl1pPr marL="0" indent="0" algn="ctr">
              <a:buNone/>
              <a:defRPr sz="165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ED1E19D-CBFE-426A-BBC6-B6D096F32EDA}" type="datetime1">
              <a:rPr lang="en-US" smtClean="0"/>
              <a:t>7/6/2022</a:t>
            </a:fld>
            <a:endParaRPr lang="en-US" dirty="0"/>
          </a:p>
        </p:txBody>
      </p:sp>
      <p:sp>
        <p:nvSpPr>
          <p:cNvPr id="5" name="Footer Placeholder 4"/>
          <p:cNvSpPr>
            <a:spLocks noGrp="1"/>
          </p:cNvSpPr>
          <p:nvPr>
            <p:ph type="ftr" sz="quarter" idx="11"/>
          </p:nvPr>
        </p:nvSpPr>
        <p:spPr/>
        <p:txBody>
          <a:bodyPr/>
          <a:lstStyle/>
          <a:p>
            <a:r>
              <a:rPr lang="en-US"/>
              <a:t>Restricted Access - This presentation is only for IIM Lucknow Students</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7" name="Straight Connector 6"/>
          <p:cNvCxnSpPr/>
          <p:nvPr/>
        </p:nvCxnSpPr>
        <p:spPr>
          <a:xfrm>
            <a:off x="1485900" y="3015306"/>
            <a:ext cx="61722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6862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7250" y="1543049"/>
            <a:ext cx="3566160" cy="30175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00709" y="1543050"/>
            <a:ext cx="3566160" cy="30175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2C6182-41BE-4BC0-9BF7-D2E636E88942}" type="datetime1">
              <a:rPr lang="en-US" smtClean="0"/>
              <a:t>7/6/2022</a:t>
            </a:fld>
            <a:endParaRPr lang="en-US" dirty="0"/>
          </a:p>
        </p:txBody>
      </p:sp>
      <p:sp>
        <p:nvSpPr>
          <p:cNvPr id="6" name="Footer Placeholder 5"/>
          <p:cNvSpPr>
            <a:spLocks noGrp="1"/>
          </p:cNvSpPr>
          <p:nvPr>
            <p:ph type="ftr" sz="quarter" idx="11"/>
          </p:nvPr>
        </p:nvSpPr>
        <p:spPr/>
        <p:txBody>
          <a:bodyPr/>
          <a:lstStyle/>
          <a:p>
            <a:r>
              <a:rPr lang="en-US"/>
              <a:t>Restricted Access - This presentation is only for IIM Lucknow Students</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2032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57250" y="1501133"/>
            <a:ext cx="3566160" cy="58293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57250" y="2041112"/>
            <a:ext cx="3566160" cy="25374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01880" y="1499274"/>
            <a:ext cx="3566160" cy="58293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701880" y="2039492"/>
            <a:ext cx="3566160" cy="25374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ECBAAB-B519-49D3-A168-3042B91CDAE2}" type="datetime1">
              <a:rPr lang="en-US" smtClean="0"/>
              <a:t>7/6/2022</a:t>
            </a:fld>
            <a:endParaRPr lang="en-US" dirty="0"/>
          </a:p>
        </p:txBody>
      </p:sp>
      <p:sp>
        <p:nvSpPr>
          <p:cNvPr id="8" name="Footer Placeholder 7"/>
          <p:cNvSpPr>
            <a:spLocks noGrp="1"/>
          </p:cNvSpPr>
          <p:nvPr>
            <p:ph type="ftr" sz="quarter" idx="11"/>
          </p:nvPr>
        </p:nvSpPr>
        <p:spPr/>
        <p:txBody>
          <a:bodyPr/>
          <a:lstStyle/>
          <a:p>
            <a:r>
              <a:rPr lang="en-US"/>
              <a:t>Restricted Access - This presentation is only for IIM Lucknow Students</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05629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098E7D2-DE33-4AA1-BD14-3637B62CAFBB}" type="datetime1">
              <a:rPr lang="en-US" smtClean="0"/>
              <a:t>7/6/2022</a:t>
            </a:fld>
            <a:endParaRPr lang="en-US" dirty="0"/>
          </a:p>
        </p:txBody>
      </p:sp>
      <p:sp>
        <p:nvSpPr>
          <p:cNvPr id="4" name="Footer Placeholder 3"/>
          <p:cNvSpPr>
            <a:spLocks noGrp="1"/>
          </p:cNvSpPr>
          <p:nvPr>
            <p:ph type="ftr" sz="quarter" idx="11"/>
          </p:nvPr>
        </p:nvSpPr>
        <p:spPr/>
        <p:txBody>
          <a:bodyPr/>
          <a:lstStyle/>
          <a:p>
            <a:r>
              <a:rPr lang="en-US"/>
              <a:t>Restricted Access - This presentation is only for IIM Lucknow Students</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150931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46F64E-411D-4B04-AA23-AB186F53359F}" type="datetime1">
              <a:rPr lang="en-US" smtClean="0"/>
              <a:t>7/6/2022</a:t>
            </a:fld>
            <a:endParaRPr lang="en-US" dirty="0"/>
          </a:p>
        </p:txBody>
      </p:sp>
      <p:sp>
        <p:nvSpPr>
          <p:cNvPr id="3" name="Footer Placeholder 2"/>
          <p:cNvSpPr>
            <a:spLocks noGrp="1"/>
          </p:cNvSpPr>
          <p:nvPr>
            <p:ph type="ftr" sz="quarter" idx="11"/>
          </p:nvPr>
        </p:nvSpPr>
        <p:spPr/>
        <p:txBody>
          <a:bodyPr/>
          <a:lstStyle/>
          <a:p>
            <a:r>
              <a:rPr lang="en-US"/>
              <a:t>Restricted Access - This presentation is only for IIM Lucknow Students</a:t>
            </a: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19881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822960"/>
            <a:ext cx="2948940" cy="1303020"/>
          </a:xfrm>
        </p:spPr>
        <p:txBody>
          <a:bodyPr anchor="b">
            <a:noAutofit/>
          </a:bodyPr>
          <a:lstStyle>
            <a:lvl1pPr>
              <a:lnSpc>
                <a:spcPct val="90000"/>
              </a:lnSpc>
              <a:defRPr sz="3000" b="0"/>
            </a:lvl1pPr>
          </a:lstStyle>
          <a:p>
            <a:r>
              <a:rPr lang="en-US"/>
              <a:t>Click to edit Master title style</a:t>
            </a:r>
            <a:endParaRPr lang="en-US" dirty="0"/>
          </a:p>
        </p:txBody>
      </p:sp>
      <p:sp>
        <p:nvSpPr>
          <p:cNvPr id="3" name="Content Placeholder 2"/>
          <p:cNvSpPr>
            <a:spLocks noGrp="1"/>
          </p:cNvSpPr>
          <p:nvPr>
            <p:ph idx="1"/>
          </p:nvPr>
        </p:nvSpPr>
        <p:spPr>
          <a:xfrm>
            <a:off x="4389119" y="822960"/>
            <a:ext cx="3909060" cy="349758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7250" y="2125980"/>
            <a:ext cx="2948940" cy="2263140"/>
          </a:xfrm>
        </p:spPr>
        <p:txBody>
          <a:bodyPr>
            <a:normAutofit/>
          </a:bodyPr>
          <a:lstStyle>
            <a:lvl1pPr marL="0" indent="0">
              <a:lnSpc>
                <a:spcPct val="100000"/>
              </a:lnSpc>
              <a:spcBef>
                <a:spcPts val="75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184C3DA2-E372-4CE0-B87C-482B7196705B}" type="datetime1">
              <a:rPr lang="en-US" smtClean="0"/>
              <a:t>7/6/2022</a:t>
            </a:fld>
            <a:endParaRPr lang="en-US" dirty="0"/>
          </a:p>
        </p:txBody>
      </p:sp>
      <p:sp>
        <p:nvSpPr>
          <p:cNvPr id="6" name="Footer Placeholder 5"/>
          <p:cNvSpPr>
            <a:spLocks noGrp="1"/>
          </p:cNvSpPr>
          <p:nvPr>
            <p:ph type="ftr" sz="quarter" idx="11"/>
          </p:nvPr>
        </p:nvSpPr>
        <p:spPr/>
        <p:txBody>
          <a:bodyPr/>
          <a:lstStyle/>
          <a:p>
            <a:r>
              <a:rPr lang="en-US"/>
              <a:t>Restricted Access - This presentation is only for IIM Lucknow Students</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48839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822960"/>
            <a:ext cx="2948940" cy="1303020"/>
          </a:xfrm>
        </p:spPr>
        <p:txBody>
          <a:bodyPr anchor="b">
            <a:noAutofit/>
          </a:bodyPr>
          <a:lstStyle>
            <a:lvl1pPr>
              <a:lnSpc>
                <a:spcPct val="90000"/>
              </a:lnSpc>
              <a:defRPr sz="3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59936" y="802385"/>
            <a:ext cx="4574286" cy="3600450"/>
          </a:xfrm>
        </p:spPr>
        <p:txBody>
          <a:bodyPr lIns="274320" tIns="182880" anchor="t">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57250" y="2125980"/>
            <a:ext cx="2948940" cy="2160270"/>
          </a:xfrm>
        </p:spPr>
        <p:txBody>
          <a:bodyPr>
            <a:normAutofit/>
          </a:bodyPr>
          <a:lstStyle>
            <a:lvl1pPr marL="0" indent="0">
              <a:lnSpc>
                <a:spcPct val="100000"/>
              </a:lnSpc>
              <a:spcBef>
                <a:spcPts val="75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837FEDD7-234B-4BD5-B312-8A6DE514BFB8}" type="datetime1">
              <a:rPr lang="en-US" smtClean="0"/>
              <a:t>7/6/2022</a:t>
            </a:fld>
            <a:endParaRPr lang="en-US" dirty="0"/>
          </a:p>
        </p:txBody>
      </p:sp>
      <p:sp>
        <p:nvSpPr>
          <p:cNvPr id="6" name="Footer Placeholder 5"/>
          <p:cNvSpPr>
            <a:spLocks noGrp="1"/>
          </p:cNvSpPr>
          <p:nvPr>
            <p:ph type="ftr" sz="quarter" idx="11"/>
          </p:nvPr>
        </p:nvSpPr>
        <p:spPr/>
        <p:txBody>
          <a:bodyPr/>
          <a:lstStyle/>
          <a:p>
            <a:r>
              <a:rPr lang="en-US"/>
              <a:t>Restricted Access - This presentation is only for IIM Lucknow Students</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125977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5585AC-0983-4B0B-AF89-A1E0A9594A4E}" type="datetime1">
              <a:rPr lang="en-US" smtClean="0"/>
              <a:t>7/6/2022</a:t>
            </a:fld>
            <a:endParaRPr lang="en-US" dirty="0"/>
          </a:p>
        </p:txBody>
      </p:sp>
      <p:sp>
        <p:nvSpPr>
          <p:cNvPr id="5" name="Footer Placeholder 4"/>
          <p:cNvSpPr>
            <a:spLocks noGrp="1"/>
          </p:cNvSpPr>
          <p:nvPr>
            <p:ph type="ftr" sz="quarter" idx="11"/>
          </p:nvPr>
        </p:nvSpPr>
        <p:spPr/>
        <p:txBody>
          <a:bodyPr/>
          <a:lstStyle/>
          <a:p>
            <a:r>
              <a:rPr lang="en-US"/>
              <a:t>Restricted Access - This presentation is only for IIM Lucknow Students</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031684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71500"/>
            <a:ext cx="1743075" cy="40576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7250" y="571500"/>
            <a:ext cx="5572125" cy="40576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060D55-2B64-4BFB-9C11-B2A0464B027A}" type="datetime1">
              <a:rPr lang="en-US" smtClean="0"/>
              <a:t>7/6/2022</a:t>
            </a:fld>
            <a:endParaRPr lang="en-US" dirty="0"/>
          </a:p>
        </p:txBody>
      </p:sp>
      <p:sp>
        <p:nvSpPr>
          <p:cNvPr id="5" name="Footer Placeholder 4"/>
          <p:cNvSpPr>
            <a:spLocks noGrp="1"/>
          </p:cNvSpPr>
          <p:nvPr>
            <p:ph type="ftr" sz="quarter" idx="11"/>
          </p:nvPr>
        </p:nvSpPr>
        <p:spPr/>
        <p:txBody>
          <a:bodyPr/>
          <a:lstStyle/>
          <a:p>
            <a:r>
              <a:rPr lang="en-US"/>
              <a:t>Restricted Access - This presentation is only for IIM Lucknow Students</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106623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0"/>
            <a:ext cx="9144000" cy="5143500"/>
          </a:xfrm>
          <a:prstGeom prst="rect">
            <a:avLst/>
          </a:prstGeom>
        </p:spPr>
        <p:txBody>
          <a:bodyPr/>
          <a:lstStyle>
            <a:lvl1pPr algn="ctr">
              <a:defRPr sz="2400"/>
            </a:lvl1pPr>
          </a:lstStyle>
          <a:p>
            <a:endParaRPr lang="en-US" dirty="0"/>
          </a:p>
        </p:txBody>
      </p:sp>
      <p:sp>
        <p:nvSpPr>
          <p:cNvPr id="40" name="Shape 40"/>
          <p:cNvSpPr>
            <a:spLocks noGrp="1"/>
          </p:cNvSpPr>
          <p:nvPr>
            <p:ph type="title" hasCustomPrompt="1"/>
          </p:nvPr>
        </p:nvSpPr>
        <p:spPr>
          <a:xfrm>
            <a:off x="343165" y="302890"/>
            <a:ext cx="3441435" cy="865509"/>
          </a:xfrm>
          <a:prstGeom prst="rect">
            <a:avLst/>
          </a:prstGeom>
        </p:spPr>
        <p:txBody>
          <a:bodyPr anchor="t">
            <a:noAutofit/>
          </a:bodyPr>
          <a:lstStyle>
            <a:lvl1pPr>
              <a:defRPr sz="2400">
                <a:solidFill>
                  <a:srgbClr val="007CC3"/>
                </a:solidFill>
              </a:defRPr>
            </a:lvl1pPr>
          </a:lstStyle>
          <a:p>
            <a:r>
              <a:rPr lang="en-US" dirty="0"/>
              <a:t>TITLE TEXT</a:t>
            </a:r>
          </a:p>
        </p:txBody>
      </p:sp>
      <p:pic>
        <p:nvPicPr>
          <p:cNvPr id="4" name="Picture 3"/>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2426382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994789" y="2071688"/>
            <a:ext cx="7134329" cy="1009650"/>
          </a:xfrm>
          <a:prstGeom prst="rect">
            <a:avLst/>
          </a:prstGeom>
        </p:spPr>
        <p:txBody>
          <a:bodyPr anchor="ctr">
            <a:noAutofit/>
          </a:bodyPr>
          <a:lstStyle>
            <a:lvl1pPr algn="ctr">
              <a:defRPr sz="2400" b="0">
                <a:solidFill>
                  <a:srgbClr val="007CC3"/>
                </a:solidFill>
              </a:defRPr>
            </a:lvl1pPr>
          </a:lstStyle>
          <a:p>
            <a:r>
              <a:rPr lang="en-US" dirty="0"/>
              <a:t>TITLE TEXT</a:t>
            </a:r>
          </a:p>
        </p:txBody>
      </p:sp>
      <p:sp>
        <p:nvSpPr>
          <p:cNvPr id="13"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15"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16"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19"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pic>
        <p:nvPicPr>
          <p:cNvPr id="9" name="Picture 8"/>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198843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807244" y="1659428"/>
            <a:ext cx="7527837" cy="732080"/>
          </a:xfrm>
          <a:prstGeom prst="rect">
            <a:avLst/>
          </a:prstGeom>
        </p:spPr>
        <p:txBody>
          <a:bodyPr anchor="ctr">
            <a:noAutofit/>
          </a:bodyPr>
          <a:lstStyle>
            <a:lvl1pPr algn="ctr">
              <a:defRPr sz="2400">
                <a:solidFill>
                  <a:srgbClr val="007CC3"/>
                </a:solidFill>
              </a:defRPr>
            </a:lvl1pPr>
          </a:lstStyle>
          <a:p>
            <a:r>
              <a:rPr lang="en-US" dirty="0"/>
              <a:t>TITLE TEXT</a:t>
            </a:r>
          </a:p>
        </p:txBody>
      </p:sp>
      <p:sp>
        <p:nvSpPr>
          <p:cNvPr id="14" name="Text Placeholder 2"/>
          <p:cNvSpPr>
            <a:spLocks noGrp="1"/>
          </p:cNvSpPr>
          <p:nvPr>
            <p:ph type="body" idx="1" hasCustomPrompt="1"/>
          </p:nvPr>
        </p:nvSpPr>
        <p:spPr>
          <a:xfrm>
            <a:off x="1161819" y="2576513"/>
            <a:ext cx="6865555" cy="315250"/>
          </a:xfrm>
          <a:prstGeom prst="rect">
            <a:avLst/>
          </a:prstGeom>
        </p:spPr>
        <p:txBody>
          <a:bodyPr anchor="t">
            <a:noAutofit/>
          </a:bodyPr>
          <a:lstStyle>
            <a:lvl1pPr marL="342900" indent="-342900" algn="ctr">
              <a:buNone/>
              <a:defRPr kumimoji="0" lang="en-US" sz="1600" normalizeH="0" dirty="0" smtClean="0">
                <a:solidFill>
                  <a:schemeClr val="tx1">
                    <a:lumMod val="95000"/>
                    <a:lumOff val="5000"/>
                  </a:schemeClr>
                </a:solidFill>
                <a:effectLst/>
                <a:latin typeface="Arial"/>
                <a:ea typeface="Arial"/>
                <a:cs typeface="Arial"/>
              </a:defRPr>
            </a:lvl1pPr>
          </a:lstStyle>
          <a:p>
            <a:pPr marL="0" lvl="0" indent="0" fontAlgn="auto" hangingPunct="1">
              <a:spcBef>
                <a:spcPts val="0"/>
              </a:spcBef>
              <a:buSzTx/>
            </a:pPr>
            <a:r>
              <a:rPr lang="en-US" dirty="0"/>
              <a:t>CLICK TO EDIT MASTER TEXT STYLES</a:t>
            </a:r>
          </a:p>
        </p:txBody>
      </p:sp>
      <p:sp>
        <p:nvSpPr>
          <p:cNvPr id="15" name="Text Placeholder 2"/>
          <p:cNvSpPr>
            <a:spLocks noGrp="1"/>
          </p:cNvSpPr>
          <p:nvPr>
            <p:ph type="body" idx="10" hasCustomPrompt="1"/>
          </p:nvPr>
        </p:nvSpPr>
        <p:spPr>
          <a:xfrm>
            <a:off x="1987453" y="3212586"/>
            <a:ext cx="5323411" cy="781802"/>
          </a:xfrm>
          <a:prstGeom prst="rect">
            <a:avLst/>
          </a:prstGeom>
        </p:spPr>
        <p:txBody>
          <a:bodyPr anchor="t">
            <a:noAutofit/>
          </a:bodyPr>
          <a:lstStyle>
            <a:lvl1pPr marL="0" indent="0" algn="ctr">
              <a:buNone/>
              <a:defRPr kumimoji="0" lang="en-US" sz="1200" normalizeH="0" dirty="0" smtClean="0">
                <a:solidFill>
                  <a:schemeClr val="tx1">
                    <a:lumMod val="95000"/>
                    <a:lumOff val="5000"/>
                  </a:schemeClr>
                </a:solidFill>
                <a:effectLst/>
                <a:latin typeface="Arial"/>
                <a:ea typeface="Arial"/>
                <a:cs typeface="Arial"/>
              </a:defRPr>
            </a:lvl1pPr>
          </a:lstStyle>
          <a:p>
            <a:pPr marL="0" lvl="0" indent="0" fontAlgn="auto" hangingPunct="1">
              <a:spcBef>
                <a:spcPts val="0"/>
              </a:spcBef>
              <a:buSzTx/>
            </a:pPr>
            <a:r>
              <a:rPr lang="en-US" dirty="0"/>
              <a:t>CLICK TO EDIT MASTER TEXT STYLES</a:t>
            </a:r>
          </a:p>
        </p:txBody>
      </p:sp>
      <p:sp>
        <p:nvSpPr>
          <p:cNvPr id="16"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18"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19"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20"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pic>
        <p:nvPicPr>
          <p:cNvPr id="11" name="Picture 10"/>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877724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447688" y="1150334"/>
            <a:ext cx="7027365"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6"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41"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42"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43"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pic>
        <p:nvPicPr>
          <p:cNvPr id="37" name="Picture 36"/>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309329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957402" y="1150334"/>
            <a:ext cx="7027365"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pic>
        <p:nvPicPr>
          <p:cNvPr id="42" name="Picture 41"/>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7223762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1447578" y="1150334"/>
            <a:ext cx="6574927" cy="475265"/>
          </a:xfrm>
          <a:prstGeom prst="rect">
            <a:avLst/>
          </a:prstGeom>
        </p:spPr>
        <p:txBody>
          <a:bodyPr anchor="t">
            <a:noAutofit/>
          </a:bodyPr>
          <a:lstStyle>
            <a:lvl1pPr>
              <a:tabLst/>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pic>
        <p:nvPicPr>
          <p:cNvPr id="42" name="Picture 41"/>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20735662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2034367" y="1150334"/>
            <a:ext cx="6224292"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pic>
        <p:nvPicPr>
          <p:cNvPr id="42" name="Picture 41"/>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9558772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2488601" y="1150334"/>
            <a:ext cx="5585301"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pic>
        <p:nvPicPr>
          <p:cNvPr id="42" name="Picture 41"/>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6263139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24" name="Shape 40"/>
          <p:cNvSpPr>
            <a:spLocks noGrp="1"/>
          </p:cNvSpPr>
          <p:nvPr>
            <p:ph type="title" hasCustomPrompt="1"/>
          </p:nvPr>
        </p:nvSpPr>
        <p:spPr>
          <a:xfrm>
            <a:off x="1054292" y="1287358"/>
            <a:ext cx="3175397" cy="681142"/>
          </a:xfrm>
          <a:prstGeom prst="rect">
            <a:avLst/>
          </a:prstGeom>
        </p:spPr>
        <p:txBody>
          <a:bodyPr anchor="ctr">
            <a:noAutofit/>
          </a:bodyPr>
          <a:lstStyle>
            <a:lvl1pPr algn="l">
              <a:defRPr sz="2000">
                <a:solidFill>
                  <a:srgbClr val="007CC3"/>
                </a:solidFill>
              </a:defRPr>
            </a:lvl1pPr>
          </a:lstStyle>
          <a:p>
            <a:r>
              <a:rPr lang="en-US" dirty="0"/>
              <a:t>TITLE TEXT</a:t>
            </a:r>
          </a:p>
        </p:txBody>
      </p:sp>
      <p:sp>
        <p:nvSpPr>
          <p:cNvPr id="25" name="Text Placeholder 2"/>
          <p:cNvSpPr txBox="1">
            <a:spLocks/>
          </p:cNvSpPr>
          <p:nvPr userDrawn="1"/>
        </p:nvSpPr>
        <p:spPr>
          <a:xfrm>
            <a:off x="389699" y="4610386"/>
            <a:ext cx="6024775" cy="380748"/>
          </a:xfrm>
          <a:prstGeom prst="rect">
            <a:avLst/>
          </a:prstGeom>
        </p:spPr>
        <p:txBody>
          <a:bodyPr anchor="t">
            <a:no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500" dirty="0">
                <a:solidFill>
                  <a:schemeClr val="tx2">
                    <a:lumMod val="50000"/>
                  </a:schemeClr>
                </a:solidFill>
              </a:rPr>
              <a:t>© 2018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pic>
        <p:nvPicPr>
          <p:cNvPr id="26" name="Picture 25"/>
          <p:cNvPicPr>
            <a:picLocks noChangeAspect="1"/>
          </p:cNvPicPr>
          <p:nvPr userDrawn="1"/>
        </p:nvPicPr>
        <p:blipFill>
          <a:blip r:embed="rId2"/>
          <a:stretch>
            <a:fillRect/>
          </a:stretch>
        </p:blipFill>
        <p:spPr>
          <a:xfrm>
            <a:off x="8034834" y="4511610"/>
            <a:ext cx="909665" cy="465265"/>
          </a:xfrm>
          <a:prstGeom prst="rect">
            <a:avLst/>
          </a:prstGeom>
        </p:spPr>
      </p:pic>
      <p:grpSp>
        <p:nvGrpSpPr>
          <p:cNvPr id="37" name="Group 36"/>
          <p:cNvGrpSpPr/>
          <p:nvPr userDrawn="1"/>
        </p:nvGrpSpPr>
        <p:grpSpPr>
          <a:xfrm>
            <a:off x="-8920" y="2124012"/>
            <a:ext cx="9161828" cy="865432"/>
            <a:chOff x="-8920" y="2124012"/>
            <a:chExt cx="9161828" cy="865432"/>
          </a:xfrm>
        </p:grpSpPr>
        <p:sp>
          <p:nvSpPr>
            <p:cNvPr id="38"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a:p>
          </p:txBody>
        </p:sp>
        <p:sp>
          <p:nvSpPr>
            <p:cNvPr id="39"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a:p>
          </p:txBody>
        </p:sp>
        <p:sp>
          <p:nvSpPr>
            <p:cNvPr id="4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a:p>
          </p:txBody>
        </p:sp>
        <p:sp>
          <p:nvSpPr>
            <p:cNvPr id="42"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a:p>
          </p:txBody>
        </p:sp>
        <p:sp>
          <p:nvSpPr>
            <p:cNvPr id="43"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a:p>
          </p:txBody>
        </p:sp>
        <p:sp>
          <p:nvSpPr>
            <p:cNvPr id="44"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a:p>
          </p:txBody>
        </p:sp>
        <p:sp>
          <p:nvSpPr>
            <p:cNvPr id="45"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a:p>
          </p:txBody>
        </p:sp>
        <p:sp>
          <p:nvSpPr>
            <p:cNvPr id="46"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a:p>
          </p:txBody>
        </p:sp>
        <p:sp>
          <p:nvSpPr>
            <p:cNvPr id="47"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a:p>
          </p:txBody>
        </p:sp>
        <p:sp>
          <p:nvSpPr>
            <p:cNvPr id="48"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a:p>
          </p:txBody>
        </p:sp>
        <p:sp>
          <p:nvSpPr>
            <p:cNvPr id="49"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a:p>
          </p:txBody>
        </p:sp>
        <p:sp>
          <p:nvSpPr>
            <p:cNvPr id="50"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a:p>
          </p:txBody>
        </p:sp>
        <p:sp>
          <p:nvSpPr>
            <p:cNvPr id="51"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a:p>
          </p:txBody>
        </p:sp>
        <p:sp>
          <p:nvSpPr>
            <p:cNvPr id="52"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a:p>
          </p:txBody>
        </p:sp>
        <p:sp>
          <p:nvSpPr>
            <p:cNvPr id="53"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a:p>
          </p:txBody>
        </p:sp>
        <p:sp>
          <p:nvSpPr>
            <p:cNvPr id="54"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a:p>
          </p:txBody>
        </p:sp>
        <p:sp>
          <p:nvSpPr>
            <p:cNvPr id="55"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a:p>
          </p:txBody>
        </p:sp>
        <p:sp>
          <p:nvSpPr>
            <p:cNvPr id="56"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a:p>
          </p:txBody>
        </p:sp>
      </p:grpSp>
    </p:spTree>
    <p:extLst>
      <p:ext uri="{BB962C8B-B14F-4D97-AF65-F5344CB8AC3E}">
        <p14:creationId xmlns:p14="http://schemas.microsoft.com/office/powerpoint/2010/main" val="23405757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7943"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3" name="Text Placeholder 2"/>
          <p:cNvSpPr>
            <a:spLocks noGrp="1"/>
          </p:cNvSpPr>
          <p:nvPr>
            <p:ph type="body" sz="quarter" idx="10"/>
          </p:nvPr>
        </p:nvSpPr>
        <p:spPr>
          <a:xfrm>
            <a:off x="197943" y="734464"/>
            <a:ext cx="8421947"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6"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20"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pic>
        <p:nvPicPr>
          <p:cNvPr id="10" name="Picture 9"/>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6928297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4768"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3" name="Text Placeholder 2"/>
          <p:cNvSpPr>
            <a:spLocks noGrp="1"/>
          </p:cNvSpPr>
          <p:nvPr>
            <p:ph type="body" sz="quarter" idx="10"/>
          </p:nvPr>
        </p:nvSpPr>
        <p:spPr>
          <a:xfrm>
            <a:off x="194768" y="1164692"/>
            <a:ext cx="8509720" cy="3144173"/>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quarter" idx="11"/>
          </p:nvPr>
        </p:nvSpPr>
        <p:spPr>
          <a:xfrm>
            <a:off x="194768" y="611512"/>
            <a:ext cx="8723049" cy="386333"/>
          </a:xfrm>
          <a:prstGeom prst="rect">
            <a:avLst/>
          </a:prstGeom>
        </p:spPr>
        <p:txBody>
          <a:bodyPr/>
          <a:lstStyle>
            <a:lvl1pPr marL="0" indent="0">
              <a:buNone/>
              <a:defRPr sz="1600">
                <a:solidFill>
                  <a:schemeClr val="tx2">
                    <a:lumMod val="50000"/>
                  </a:schemeClr>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5"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16"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pic>
        <p:nvPicPr>
          <p:cNvPr id="11" name="Picture 10"/>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6420389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20" name="Picture Placeholder 8"/>
          <p:cNvSpPr>
            <a:spLocks noGrp="1"/>
          </p:cNvSpPr>
          <p:nvPr>
            <p:ph type="pic" sz="quarter" idx="10"/>
          </p:nvPr>
        </p:nvSpPr>
        <p:spPr>
          <a:xfrm>
            <a:off x="0" y="0"/>
            <a:ext cx="9144000" cy="5143500"/>
          </a:xfrm>
          <a:prstGeom prst="rect">
            <a:avLst/>
          </a:prstGeom>
        </p:spPr>
        <p:txBody>
          <a:bodyPr/>
          <a:lstStyle>
            <a:lvl1pPr algn="ctr">
              <a:defRPr sz="2400"/>
            </a:lvl1pPr>
          </a:lstStyle>
          <a:p>
            <a:endParaRPr lang="en-US" dirty="0"/>
          </a:p>
        </p:txBody>
      </p:sp>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bg1"/>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pic>
        <p:nvPicPr>
          <p:cNvPr id="19" name="Picture 18"/>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0762377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9337"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17" name="Text Placeholder 2"/>
          <p:cNvSpPr>
            <a:spLocks noGrp="1"/>
          </p:cNvSpPr>
          <p:nvPr>
            <p:ph type="body" idx="1"/>
          </p:nvPr>
        </p:nvSpPr>
        <p:spPr>
          <a:xfrm>
            <a:off x="199337" y="617948"/>
            <a:ext cx="8723050" cy="568873"/>
          </a:xfrm>
          <a:prstGeom prst="rect">
            <a:avLst/>
          </a:prstGeom>
        </p:spPr>
        <p:txBody>
          <a:bodyPr anchor="t">
            <a:noAutofit/>
          </a:bodyPr>
          <a:lstStyle>
            <a:lvl1pPr marL="342900" indent="-342900">
              <a:buNone/>
              <a:defRPr kumimoji="0" lang="en-US" sz="1600" normalizeH="0" dirty="0" smtClean="0">
                <a:solidFill>
                  <a:schemeClr val="tx2">
                    <a:lumMod val="50000"/>
                  </a:schemeClr>
                </a:solidFill>
                <a:effectLst/>
                <a:latin typeface="Arial"/>
                <a:ea typeface="Arial"/>
                <a:cs typeface="Arial"/>
              </a:defRPr>
            </a:lvl1pPr>
          </a:lstStyle>
          <a:p>
            <a:pPr marL="0" lvl="0" indent="0" fontAlgn="auto" hangingPunct="1">
              <a:spcBef>
                <a:spcPts val="0"/>
              </a:spcBef>
              <a:buSzTx/>
            </a:pPr>
            <a:r>
              <a:rPr lang="en-US" dirty="0"/>
              <a:t>Click to edit Master text styles</a:t>
            </a:r>
          </a:p>
        </p:txBody>
      </p:sp>
      <p:sp>
        <p:nvSpPr>
          <p:cNvPr id="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0"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21"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pic>
        <p:nvPicPr>
          <p:cNvPr id="10" name="Picture 9"/>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22474707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6010"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8"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9"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20"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pic>
        <p:nvPicPr>
          <p:cNvPr id="9" name="Picture 8"/>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8449996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9185"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8"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0" name="Text Placeholder 2"/>
          <p:cNvSpPr>
            <a:spLocks noGrp="1"/>
          </p:cNvSpPr>
          <p:nvPr>
            <p:ph type="body" sz="quarter" idx="10"/>
          </p:nvPr>
        </p:nvSpPr>
        <p:spPr>
          <a:xfrm>
            <a:off x="4484914" y="734464"/>
            <a:ext cx="4104505"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21"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pic>
        <p:nvPicPr>
          <p:cNvPr id="11" name="Picture 10"/>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2372272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7943"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3" name="Text Placeholder 2"/>
          <p:cNvSpPr>
            <a:spLocks noGrp="1"/>
          </p:cNvSpPr>
          <p:nvPr>
            <p:ph type="body" sz="quarter" idx="10"/>
          </p:nvPr>
        </p:nvSpPr>
        <p:spPr>
          <a:xfrm>
            <a:off x="197943" y="734464"/>
            <a:ext cx="4104505"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2"/>
          <p:cNvSpPr>
            <a:spLocks noGrp="1"/>
          </p:cNvSpPr>
          <p:nvPr>
            <p:ph type="body" sz="quarter" idx="11"/>
          </p:nvPr>
        </p:nvSpPr>
        <p:spPr>
          <a:xfrm>
            <a:off x="4683632" y="734464"/>
            <a:ext cx="4104505"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pic>
        <p:nvPicPr>
          <p:cNvPr id="12" name="Picture 11"/>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6931436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4"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5"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16"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pic>
        <p:nvPicPr>
          <p:cNvPr id="7" name="Picture 6"/>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3218878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9_Custom Layout">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3" name="Shape 40"/>
          <p:cNvSpPr>
            <a:spLocks noGrp="1"/>
          </p:cNvSpPr>
          <p:nvPr>
            <p:ph type="title"/>
          </p:nvPr>
        </p:nvSpPr>
        <p:spPr>
          <a:xfrm>
            <a:off x="230935" y="150264"/>
            <a:ext cx="8723050" cy="452986"/>
          </a:xfrm>
          <a:prstGeom prst="rect">
            <a:avLst/>
          </a:prstGeom>
        </p:spPr>
        <p:txBody>
          <a:bodyPr anchor="t">
            <a:noAutofit/>
          </a:bodyPr>
          <a:lstStyle>
            <a:lvl1pPr>
              <a:defRPr sz="2000">
                <a:solidFill>
                  <a:srgbClr val="0070C0"/>
                </a:solidFill>
              </a:defRPr>
            </a:lvl1pPr>
          </a:lstStyle>
          <a:p>
            <a:r>
              <a:rPr dirty="0"/>
              <a:t>Title Text</a:t>
            </a:r>
          </a:p>
        </p:txBody>
      </p:sp>
      <p:pic>
        <p:nvPicPr>
          <p:cNvPr id="14" name="image2.png" descr="Untitled-7.png"/>
          <p:cNvPicPr>
            <a:picLocks noChangeAspect="1"/>
          </p:cNvPicPr>
          <p:nvPr userDrawn="1"/>
        </p:nvPicPr>
        <p:blipFill>
          <a:blip r:embed="rId3"/>
          <a:stretch>
            <a:fillRect/>
          </a:stretch>
        </p:blipFill>
        <p:spPr>
          <a:xfrm>
            <a:off x="300114" y="4615422"/>
            <a:ext cx="684507" cy="326830"/>
          </a:xfrm>
          <a:prstGeom prst="rect">
            <a:avLst/>
          </a:prstGeom>
          <a:ln w="12700">
            <a:miter lim="400000"/>
          </a:ln>
        </p:spPr>
      </p:pic>
      <p:grpSp>
        <p:nvGrpSpPr>
          <p:cNvPr id="7" name="Group 6"/>
          <p:cNvGrpSpPr/>
          <p:nvPr userDrawn="1"/>
        </p:nvGrpSpPr>
        <p:grpSpPr>
          <a:xfrm>
            <a:off x="307257" y="547315"/>
            <a:ext cx="390183" cy="73152"/>
            <a:chOff x="2522085" y="4216400"/>
            <a:chExt cx="390183" cy="73152"/>
          </a:xfrm>
        </p:grpSpPr>
        <p:sp>
          <p:nvSpPr>
            <p:cNvPr id="8" name="Oval 7"/>
            <p:cNvSpPr/>
            <p:nvPr/>
          </p:nvSpPr>
          <p:spPr>
            <a:xfrm>
              <a:off x="2522085" y="4216400"/>
              <a:ext cx="73152" cy="73152"/>
            </a:xfrm>
            <a:prstGeom prst="ellipse">
              <a:avLst/>
            </a:prstGeom>
            <a:solidFill>
              <a:srgbClr val="F1592D"/>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sp>
          <p:nvSpPr>
            <p:cNvPr id="9" name="Oval 8"/>
            <p:cNvSpPr/>
            <p:nvPr/>
          </p:nvSpPr>
          <p:spPr>
            <a:xfrm>
              <a:off x="2680601" y="4216400"/>
              <a:ext cx="73152" cy="73152"/>
            </a:xfrm>
            <a:prstGeom prst="ellipse">
              <a:avLst/>
            </a:prstGeom>
            <a:solidFill>
              <a:srgbClr val="F1592D"/>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sp>
          <p:nvSpPr>
            <p:cNvPr id="10" name="Oval 9"/>
            <p:cNvSpPr/>
            <p:nvPr/>
          </p:nvSpPr>
          <p:spPr>
            <a:xfrm>
              <a:off x="2839116" y="4216400"/>
              <a:ext cx="73152" cy="73152"/>
            </a:xfrm>
            <a:prstGeom prst="ellipse">
              <a:avLst/>
            </a:prstGeom>
            <a:solidFill>
              <a:srgbClr val="F1592D"/>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grpSp>
      <p:sp>
        <p:nvSpPr>
          <p:cNvPr id="12" name="Shape 42"/>
          <p:cNvSpPr>
            <a:spLocks noGrp="1"/>
          </p:cNvSpPr>
          <p:nvPr>
            <p:ph type="sldNum" sz="quarter" idx="2"/>
          </p:nvPr>
        </p:nvSpPr>
        <p:spPr>
          <a:xfrm>
            <a:off x="8440892" y="4755132"/>
            <a:ext cx="468287" cy="279401"/>
          </a:xfrm>
          <a:prstGeom prst="rect">
            <a:avLst/>
          </a:prstGeom>
        </p:spPr>
        <p:txBody>
          <a:bodyPr/>
          <a:lstStyle>
            <a:lvl1pPr algn="r">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570984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199DD"/>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173355" y="182881"/>
            <a:ext cx="8793480" cy="478345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57250" y="457200"/>
            <a:ext cx="7406640" cy="101727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57251" y="1543050"/>
            <a:ext cx="7404653" cy="302895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7247" y="4667871"/>
            <a:ext cx="1746806" cy="273844"/>
          </a:xfrm>
          <a:prstGeom prst="rect">
            <a:avLst/>
          </a:prstGeom>
        </p:spPr>
        <p:txBody>
          <a:bodyPr vert="horz" lIns="91440" tIns="45720" rIns="91440" bIns="45720" rtlCol="0" anchor="ctr"/>
          <a:lstStyle>
            <a:lvl1pPr algn="l">
              <a:defRPr sz="900">
                <a:solidFill>
                  <a:schemeClr val="accent1"/>
                </a:solidFill>
              </a:defRPr>
            </a:lvl1pPr>
          </a:lstStyle>
          <a:p>
            <a:fld id="{0C4C3873-5FD8-435C-815C-04A3C2781552}" type="datetime1">
              <a:rPr lang="en-US" smtClean="0"/>
              <a:t>7/6/2022</a:t>
            </a:fld>
            <a:endParaRPr lang="en-US" dirty="0"/>
          </a:p>
        </p:txBody>
      </p:sp>
      <p:sp>
        <p:nvSpPr>
          <p:cNvPr id="5" name="Footer Placeholder 4"/>
          <p:cNvSpPr>
            <a:spLocks noGrp="1"/>
          </p:cNvSpPr>
          <p:nvPr>
            <p:ph type="ftr" sz="quarter" idx="3"/>
          </p:nvPr>
        </p:nvSpPr>
        <p:spPr>
          <a:xfrm>
            <a:off x="2961861" y="4667871"/>
            <a:ext cx="3538331" cy="273844"/>
          </a:xfrm>
          <a:prstGeom prst="rect">
            <a:avLst/>
          </a:prstGeom>
        </p:spPr>
        <p:txBody>
          <a:bodyPr vert="horz" lIns="91440" tIns="45720" rIns="91440" bIns="45720" rtlCol="0" anchor="ctr"/>
          <a:lstStyle>
            <a:lvl1pPr algn="ctr">
              <a:defRPr sz="900">
                <a:solidFill>
                  <a:schemeClr val="accent1"/>
                </a:solidFill>
              </a:defRPr>
            </a:lvl1pPr>
          </a:lstStyle>
          <a:p>
            <a:r>
              <a:rPr lang="en-US"/>
              <a:t>Restricted Access - This presentation is only for IIM Lucknow Students</a:t>
            </a:r>
            <a:endParaRPr lang="en-US" dirty="0"/>
          </a:p>
        </p:txBody>
      </p:sp>
      <p:sp>
        <p:nvSpPr>
          <p:cNvPr id="6" name="Slide Number Placeholder 5"/>
          <p:cNvSpPr>
            <a:spLocks noGrp="1"/>
          </p:cNvSpPr>
          <p:nvPr>
            <p:ph type="sldNum" sz="quarter" idx="4"/>
          </p:nvPr>
        </p:nvSpPr>
        <p:spPr>
          <a:xfrm>
            <a:off x="6997148" y="4667871"/>
            <a:ext cx="1279663" cy="273844"/>
          </a:xfrm>
          <a:prstGeom prst="rect">
            <a:avLst/>
          </a:prstGeom>
        </p:spPr>
        <p:txBody>
          <a:bodyPr vert="horz" lIns="91440" tIns="45720" rIns="91440" bIns="45720" rtlCol="0" anchor="ctr"/>
          <a:lstStyle>
            <a:lvl1pPr algn="r">
              <a:defRPr sz="900">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25491516"/>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681" r:id="rId12"/>
    <p:sldLayoutId id="2147483691" r:id="rId13"/>
    <p:sldLayoutId id="2147483684" r:id="rId14"/>
    <p:sldLayoutId id="2147483682" r:id="rId15"/>
    <p:sldLayoutId id="2147483699" r:id="rId16"/>
    <p:sldLayoutId id="2147483700" r:id="rId17"/>
    <p:sldLayoutId id="2147483701" r:id="rId18"/>
    <p:sldLayoutId id="2147483702" r:id="rId19"/>
    <p:sldLayoutId id="2147483680" r:id="rId20"/>
    <p:sldLayoutId id="2147483696" r:id="rId21"/>
    <p:sldLayoutId id="2147483685" r:id="rId22"/>
    <p:sldLayoutId id="2147483704" r:id="rId23"/>
    <p:sldLayoutId id="2147483686" r:id="rId24"/>
    <p:sldLayoutId id="2147483698" r:id="rId25"/>
    <p:sldLayoutId id="2147483695" r:id="rId26"/>
    <p:sldLayoutId id="2147483697" r:id="rId27"/>
    <p:sldLayoutId id="2147483694" r:id="rId28"/>
    <p:sldLayoutId id="2147483705" r:id="rId29"/>
  </p:sldLayoutIdLst>
  <p:hf sldNum="0" hdr="0" dt="0"/>
  <p:txStyles>
    <p:titleStyle>
      <a:lvl1pPr algn="l" defTabSz="685800" rtl="0" eaLnBrk="1" latinLnBrk="0" hangingPunct="1">
        <a:lnSpc>
          <a:spcPct val="90000"/>
        </a:lnSpc>
        <a:spcBef>
          <a:spcPct val="0"/>
        </a:spcBef>
        <a:buNone/>
        <a:defRPr sz="3300" kern="1200">
          <a:solidFill>
            <a:schemeClr val="accent1"/>
          </a:solidFill>
          <a:latin typeface="+mj-lt"/>
          <a:ea typeface="+mj-ea"/>
          <a:cs typeface="+mj-cs"/>
        </a:defRPr>
      </a:lvl1pPr>
    </p:titleStyle>
    <p:body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hyperlink" Target="https://www.linkedin.com/in/dr-v-s-prakash-attili-a8090615"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www.forbes.com/sites/ciocentral/2018/09/26/every-company-is-a-data-company/#f81b61f5cfc5"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hyperlink" Target="https://bit.ly/3NJiMYi"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hyperlink" Target="https://ptgmedia.pearsoncmg.com/imprint_downloads/microsoftpress/bookreg/9781509305889/9781509305889_OnlineFiles3.zip" TargetMode="External"/><Relationship Id="rId5" Type="http://schemas.openxmlformats.org/officeDocument/2006/relationships/hyperlink" Target="https://www.microsoftpressstore.com/store/microsoft-excel-2019-data-analysis-and-business-modeling-9781509305889#downloads" TargetMode="Externa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hyperlink" Target="https://hbsp.harvard.edu/tu/3ff6daa2" TargetMode="External"/><Relationship Id="rId3" Type="http://schemas.openxmlformats.org/officeDocument/2006/relationships/hyperlink" Target="https://hbsp.harvard.edu/tu/026a813b" TargetMode="External"/><Relationship Id="rId7" Type="http://schemas.openxmlformats.org/officeDocument/2006/relationships/hyperlink" Target="https://hbsp.harvard.edu/tu/6e12863f" TargetMode="External"/><Relationship Id="rId12" Type="http://schemas.openxmlformats.org/officeDocument/2006/relationships/hyperlink" Target="https://hbsp.harvard.edu/tu/3890dc72"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hyperlink" Target="https://hbsp.harvard.edu/tu/f6f981b7" TargetMode="External"/><Relationship Id="rId11" Type="http://schemas.openxmlformats.org/officeDocument/2006/relationships/hyperlink" Target="https://hbsp.harvard.edu/tu/9db1a0b3" TargetMode="External"/><Relationship Id="rId5" Type="http://schemas.openxmlformats.org/officeDocument/2006/relationships/hyperlink" Target="https://hbsp.harvard.edu/tu/fe922d11" TargetMode="External"/><Relationship Id="rId10" Type="http://schemas.openxmlformats.org/officeDocument/2006/relationships/hyperlink" Target="https://hbsp.harvard.edu/tu/1340b815" TargetMode="External"/><Relationship Id="rId4" Type="http://schemas.openxmlformats.org/officeDocument/2006/relationships/hyperlink" Target="https://hbsp.harvard.edu/tu/f7bd9e42" TargetMode="External"/><Relationship Id="rId9" Type="http://schemas.openxmlformats.org/officeDocument/2006/relationships/hyperlink" Target="https://hbsp.harvard.edu/tu/9086793f" TargetMode="Externa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customXml" Target="../ink/ink1.xml"/><Relationship Id="rId7" Type="http://schemas.openxmlformats.org/officeDocument/2006/relationships/image" Target="../media/image180.png"/><Relationship Id="rId2" Type="http://schemas.openxmlformats.org/officeDocument/2006/relationships/notesSlide" Target="../notesSlides/notesSlide21.xml"/><Relationship Id="rId1" Type="http://schemas.openxmlformats.org/officeDocument/2006/relationships/slideLayout" Target="../slideLayouts/slideLayout7.xml"/><Relationship Id="rId10" Type="http://schemas.openxmlformats.org/officeDocument/2006/relationships/image" Target="../media/image27.png"/><Relationship Id="rId9"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hyperlink" Target="https://drive.google.com/drive/folders/1HkQ1d2twNcmOpxP-p5ipO_aPD0iFgOTK?usp=sharing" TargetMode="Externa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180.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customXml" Target="../ink/ink3.xml"/><Relationship Id="rId5" Type="http://schemas.openxmlformats.org/officeDocument/2006/relationships/image" Target="../media/image170.png"/><Relationship Id="rId4" Type="http://schemas.openxmlformats.org/officeDocument/2006/relationships/customXml" Target="../ink/ink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customXml" Target="../ink/ink5.xml"/><Relationship Id="rId13" Type="http://schemas.openxmlformats.org/officeDocument/2006/relationships/image" Target="../media/image120.png"/><Relationship Id="rId3" Type="http://schemas.openxmlformats.org/officeDocument/2006/relationships/image" Target="../media/image33.png"/><Relationship Id="rId7" Type="http://schemas.openxmlformats.org/officeDocument/2006/relationships/image" Target="../media/image90.png"/><Relationship Id="rId12" Type="http://schemas.openxmlformats.org/officeDocument/2006/relationships/customXml" Target="../ink/ink7.xml"/><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customXml" Target="../ink/ink4.xml"/><Relationship Id="rId11" Type="http://schemas.openxmlformats.org/officeDocument/2006/relationships/image" Target="../media/image110.png"/><Relationship Id="rId5" Type="http://schemas.openxmlformats.org/officeDocument/2006/relationships/image" Target="../media/image35.png"/><Relationship Id="rId10" Type="http://schemas.openxmlformats.org/officeDocument/2006/relationships/customXml" Target="../ink/ink6.xml"/><Relationship Id="rId4" Type="http://schemas.openxmlformats.org/officeDocument/2006/relationships/image" Target="../media/image34.png"/><Relationship Id="rId9" Type="http://schemas.openxmlformats.org/officeDocument/2006/relationships/image" Target="../media/image100.pn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ndian Institute of Management Lucknow - Wikipedi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41463" y="4427090"/>
            <a:ext cx="592999" cy="53419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52401" y="379855"/>
            <a:ext cx="8782061" cy="3170099"/>
          </a:xfrm>
          <a:prstGeom prst="rect">
            <a:avLst/>
          </a:prstGeom>
        </p:spPr>
        <p:txBody>
          <a:bodyPr wrap="square">
            <a:spAutoFit/>
          </a:bodyPr>
          <a:lstStyle/>
          <a:p>
            <a:pPr algn="r"/>
            <a:endParaRPr lang="en-US" sz="2400" i="1" dirty="0"/>
          </a:p>
          <a:p>
            <a:pPr algn="ctr"/>
            <a:endParaRPr lang="en-US" sz="2400" dirty="0">
              <a:solidFill>
                <a:srgbClr val="0070C0"/>
              </a:solidFill>
            </a:endParaRPr>
          </a:p>
          <a:p>
            <a:pPr algn="ctr"/>
            <a:r>
              <a:rPr lang="en-US" sz="2400" dirty="0">
                <a:solidFill>
                  <a:srgbClr val="0070C0"/>
                </a:solidFill>
              </a:rPr>
              <a:t>Information Technology Concepts (ITC)</a:t>
            </a:r>
            <a:endParaRPr lang="en-IN" sz="2400" dirty="0">
              <a:solidFill>
                <a:srgbClr val="0070C0"/>
              </a:solidFill>
            </a:endParaRPr>
          </a:p>
          <a:p>
            <a:pPr algn="ctr"/>
            <a:r>
              <a:rPr lang="en-US" sz="2400" b="1" dirty="0">
                <a:solidFill>
                  <a:srgbClr val="0070C0"/>
                </a:solidFill>
              </a:rPr>
              <a:t>Analytics Revolution and Spreadsheet Modeling</a:t>
            </a:r>
            <a:endParaRPr lang="en-US" sz="2400" dirty="0">
              <a:solidFill>
                <a:srgbClr val="0070C0"/>
              </a:solidFill>
            </a:endParaRPr>
          </a:p>
          <a:p>
            <a:pPr algn="ctr"/>
            <a:endParaRPr lang="en-US" sz="2000" i="1" dirty="0"/>
          </a:p>
          <a:p>
            <a:pPr algn="ctr"/>
            <a:r>
              <a:rPr lang="en-US" sz="1400" i="1" dirty="0"/>
              <a:t>Prof. V S Prakash Attili</a:t>
            </a:r>
          </a:p>
          <a:p>
            <a:pPr algn="ctr"/>
            <a:endParaRPr lang="en-US" sz="1600" i="1" dirty="0"/>
          </a:p>
          <a:p>
            <a:pPr algn="ctr"/>
            <a:r>
              <a:rPr lang="en-US" sz="1600" i="1" dirty="0"/>
              <a:t>Information Technology and Systems</a:t>
            </a:r>
          </a:p>
          <a:p>
            <a:pPr algn="ctr"/>
            <a:r>
              <a:rPr lang="en-US" sz="1600" i="1" dirty="0"/>
              <a:t>Indian Institute of Management, Lucknow</a:t>
            </a:r>
          </a:p>
          <a:p>
            <a:pPr algn="ctr"/>
            <a:endParaRPr lang="en-US" sz="2200" i="1" dirty="0"/>
          </a:p>
        </p:txBody>
      </p:sp>
      <p:sp>
        <p:nvSpPr>
          <p:cNvPr id="3" name="Footer Placeholder 2">
            <a:extLst>
              <a:ext uri="{FF2B5EF4-FFF2-40B4-BE49-F238E27FC236}">
                <a16:creationId xmlns:a16="http://schemas.microsoft.com/office/drawing/2014/main" id="{900F141A-3DAD-4F9E-A5CB-CF5948949D1F}"/>
              </a:ext>
            </a:extLst>
          </p:cNvPr>
          <p:cNvSpPr>
            <a:spLocks noGrp="1"/>
          </p:cNvSpPr>
          <p:nvPr>
            <p:ph type="ftr" sz="quarter" idx="11"/>
          </p:nvPr>
        </p:nvSpPr>
        <p:spPr/>
        <p:txBody>
          <a:bodyPr/>
          <a:lstStyle/>
          <a:p>
            <a:r>
              <a:rPr lang="en-US" dirty="0"/>
              <a:t>Restricted Access - This presentation is only for IIM Lucknow Students</a:t>
            </a:r>
          </a:p>
        </p:txBody>
      </p:sp>
      <p:pic>
        <p:nvPicPr>
          <p:cNvPr id="6" name="Picture 5">
            <a:hlinkClick r:id="rId4"/>
            <a:extLst>
              <a:ext uri="{FF2B5EF4-FFF2-40B4-BE49-F238E27FC236}">
                <a16:creationId xmlns:a16="http://schemas.microsoft.com/office/drawing/2014/main" id="{2546373C-C7FA-4FE7-8A7B-C7CC2D2FBC3A}"/>
              </a:ext>
            </a:extLst>
          </p:cNvPr>
          <p:cNvPicPr>
            <a:picLocks noChangeAspect="1"/>
          </p:cNvPicPr>
          <p:nvPr/>
        </p:nvPicPr>
        <p:blipFill>
          <a:blip r:embed="rId5"/>
          <a:stretch>
            <a:fillRect/>
          </a:stretch>
        </p:blipFill>
        <p:spPr>
          <a:xfrm>
            <a:off x="3675869" y="3309359"/>
            <a:ext cx="1937058" cy="1219856"/>
          </a:xfrm>
          <a:prstGeom prst="rect">
            <a:avLst/>
          </a:prstGeom>
        </p:spPr>
      </p:pic>
    </p:spTree>
    <p:extLst>
      <p:ext uri="{BB962C8B-B14F-4D97-AF65-F5344CB8AC3E}">
        <p14:creationId xmlns:p14="http://schemas.microsoft.com/office/powerpoint/2010/main" val="3611126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p:cNvSpPr txBox="1">
            <a:spLocks/>
          </p:cNvSpPr>
          <p:nvPr/>
        </p:nvSpPr>
        <p:spPr>
          <a:xfrm>
            <a:off x="209551" y="270246"/>
            <a:ext cx="8658224" cy="4603008"/>
          </a:xfrm>
          <a:prstGeom prst="rect">
            <a:avLst/>
          </a:prstGeom>
        </p:spPr>
        <p:txBody>
          <a:bodyPr>
            <a:normAutofit fontScale="85000" lnSpcReduction="20000"/>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US" sz="2600" b="1" dirty="0">
                <a:solidFill>
                  <a:srgbClr val="0070C0"/>
                </a:solidFill>
              </a:rPr>
              <a:t>Educator Background …</a:t>
            </a:r>
            <a:r>
              <a:rPr lang="en-US" sz="2200" b="1" dirty="0">
                <a:solidFill>
                  <a:srgbClr val="0070C0"/>
                </a:solidFill>
              </a:rPr>
              <a:t>Prof. Prakash Attili</a:t>
            </a:r>
            <a:endParaRPr lang="en-US" sz="1500" i="1" u="sng" dirty="0">
              <a:solidFill>
                <a:srgbClr val="0070C0"/>
              </a:solidFill>
            </a:endParaRPr>
          </a:p>
          <a:p>
            <a:pPr marL="450000" lvl="8" indent="0">
              <a:lnSpc>
                <a:spcPct val="100000"/>
              </a:lnSpc>
              <a:buNone/>
            </a:pPr>
            <a:endParaRPr lang="en-US" sz="1400" i="1" u="sng" dirty="0">
              <a:solidFill>
                <a:srgbClr val="0070C0"/>
              </a:solidFill>
            </a:endParaRPr>
          </a:p>
          <a:p>
            <a:pPr marL="450000" lvl="8" indent="0">
              <a:lnSpc>
                <a:spcPct val="100000"/>
              </a:lnSpc>
              <a:buNone/>
            </a:pPr>
            <a:r>
              <a:rPr lang="en-US" sz="1400" i="1" u="sng" dirty="0">
                <a:solidFill>
                  <a:srgbClr val="0070C0"/>
                </a:solidFill>
              </a:rPr>
              <a:t>Global IT Delivery (USA for 6 years)</a:t>
            </a:r>
            <a:r>
              <a:rPr lang="en-US" sz="1400" dirty="0">
                <a:solidFill>
                  <a:srgbClr val="0070C0"/>
                </a:solidFill>
              </a:rPr>
              <a:t>					(11 years)</a:t>
            </a:r>
            <a:endParaRPr lang="en-US" sz="1400" i="1" u="sng" dirty="0">
              <a:solidFill>
                <a:srgbClr val="0070C0"/>
              </a:solidFill>
            </a:endParaRPr>
          </a:p>
          <a:p>
            <a:pPr lvl="3">
              <a:lnSpc>
                <a:spcPct val="150000"/>
              </a:lnSpc>
              <a:spcBef>
                <a:spcPts val="0"/>
              </a:spcBef>
              <a:spcAft>
                <a:spcPts val="0"/>
              </a:spcAft>
              <a:buClr>
                <a:srgbClr val="0070C0"/>
              </a:buClr>
              <a:buFont typeface="Wingdings" panose="05000000000000000000" pitchFamily="2" charset="2"/>
              <a:buChar char="ü"/>
            </a:pPr>
            <a:r>
              <a:rPr lang="en-US" sz="1300" dirty="0">
                <a:solidFill>
                  <a:srgbClr val="0070C0"/>
                </a:solidFill>
              </a:rPr>
              <a:t>Developer, Technology Lead, Manager, Senior Manager </a:t>
            </a:r>
            <a:r>
              <a:rPr lang="en-US" sz="1250" dirty="0">
                <a:solidFill>
                  <a:srgbClr val="0070C0"/>
                </a:solidFill>
              </a:rPr>
              <a:t>			</a:t>
            </a:r>
          </a:p>
          <a:p>
            <a:pPr marL="450000" lvl="8" indent="0">
              <a:buNone/>
            </a:pPr>
            <a:r>
              <a:rPr lang="en-US" sz="1400" i="1" u="sng" dirty="0">
                <a:solidFill>
                  <a:srgbClr val="0070C0"/>
                </a:solidFill>
              </a:rPr>
              <a:t>Leadership Roles</a:t>
            </a:r>
            <a:r>
              <a:rPr lang="en-US" sz="1400" dirty="0">
                <a:solidFill>
                  <a:srgbClr val="0070C0"/>
                </a:solidFill>
              </a:rPr>
              <a:t>						(5 years)</a:t>
            </a:r>
            <a:endParaRPr lang="en-US" sz="1400" i="1" u="sng" dirty="0">
              <a:solidFill>
                <a:srgbClr val="0070C0"/>
              </a:solidFill>
            </a:endParaRPr>
          </a:p>
          <a:p>
            <a:pPr lvl="3">
              <a:lnSpc>
                <a:spcPct val="150000"/>
              </a:lnSpc>
              <a:spcBef>
                <a:spcPts val="0"/>
              </a:spcBef>
              <a:spcAft>
                <a:spcPts val="0"/>
              </a:spcAft>
              <a:buClr>
                <a:srgbClr val="0070C0"/>
              </a:buClr>
              <a:buFont typeface="Wingdings" panose="05000000000000000000" pitchFamily="2" charset="2"/>
              <a:buChar char="ü"/>
            </a:pPr>
            <a:r>
              <a:rPr lang="en-US" sz="1250" dirty="0">
                <a:solidFill>
                  <a:srgbClr val="0070C0"/>
                </a:solidFill>
              </a:rPr>
              <a:t>Agile Coach and Strategist			</a:t>
            </a:r>
          </a:p>
          <a:p>
            <a:pPr lvl="3">
              <a:lnSpc>
                <a:spcPct val="150000"/>
              </a:lnSpc>
              <a:spcBef>
                <a:spcPts val="0"/>
              </a:spcBef>
              <a:spcAft>
                <a:spcPts val="0"/>
              </a:spcAft>
              <a:buClr>
                <a:srgbClr val="0070C0"/>
              </a:buClr>
              <a:buFont typeface="Wingdings" panose="05000000000000000000" pitchFamily="2" charset="2"/>
              <a:buChar char="ü"/>
            </a:pPr>
            <a:r>
              <a:rPr lang="en-US" sz="1250" dirty="0">
                <a:solidFill>
                  <a:srgbClr val="0070C0"/>
                </a:solidFill>
              </a:rPr>
              <a:t>Head, Learning Partner for Cyber Security practice @Infosys</a:t>
            </a:r>
          </a:p>
          <a:p>
            <a:pPr lvl="3">
              <a:lnSpc>
                <a:spcPct val="150000"/>
              </a:lnSpc>
              <a:spcBef>
                <a:spcPts val="0"/>
              </a:spcBef>
              <a:spcAft>
                <a:spcPts val="0"/>
              </a:spcAft>
              <a:buClr>
                <a:srgbClr val="0070C0"/>
              </a:buClr>
              <a:buFont typeface="Wingdings" panose="05000000000000000000" pitchFamily="2" charset="2"/>
              <a:buChar char="ü"/>
            </a:pPr>
            <a:r>
              <a:rPr lang="en-US" sz="1250" dirty="0">
                <a:solidFill>
                  <a:srgbClr val="0070C0"/>
                </a:solidFill>
              </a:rPr>
              <a:t>Head, Learning Partner for Chennai Development Center @Infosys			</a:t>
            </a:r>
          </a:p>
          <a:p>
            <a:pPr marL="450000" lvl="8" indent="0">
              <a:buNone/>
            </a:pPr>
            <a:r>
              <a:rPr lang="en-US" sz="1400" i="1" u="sng" dirty="0">
                <a:solidFill>
                  <a:srgbClr val="0070C0"/>
                </a:solidFill>
              </a:rPr>
              <a:t>Industry – Academic Interactions </a:t>
            </a:r>
            <a:r>
              <a:rPr lang="en-US" sz="1400" i="1" dirty="0">
                <a:solidFill>
                  <a:srgbClr val="0070C0"/>
                </a:solidFill>
              </a:rPr>
              <a:t>						</a:t>
            </a:r>
          </a:p>
          <a:p>
            <a:pPr lvl="3">
              <a:lnSpc>
                <a:spcPct val="140000"/>
              </a:lnSpc>
              <a:spcBef>
                <a:spcPts val="0"/>
              </a:spcBef>
              <a:spcAft>
                <a:spcPts val="0"/>
              </a:spcAft>
              <a:buClr>
                <a:srgbClr val="0070C0"/>
              </a:buClr>
              <a:buFont typeface="Wingdings" panose="05000000000000000000" pitchFamily="2" charset="2"/>
              <a:buChar char="ü"/>
            </a:pPr>
            <a:r>
              <a:rPr lang="en-US" sz="1250" dirty="0">
                <a:solidFill>
                  <a:srgbClr val="0070C0"/>
                </a:solidFill>
              </a:rPr>
              <a:t>Researcher &amp; Adjunct Faculty, </a:t>
            </a:r>
            <a:r>
              <a:rPr lang="en-US" sz="1250" dirty="0" err="1">
                <a:solidFill>
                  <a:srgbClr val="0070C0"/>
                </a:solidFill>
              </a:rPr>
              <a:t>DoMS</a:t>
            </a:r>
            <a:r>
              <a:rPr lang="en-US" sz="1250" dirty="0">
                <a:solidFill>
                  <a:srgbClr val="0070C0"/>
                </a:solidFill>
              </a:rPr>
              <a:t>, IIT Madras</a:t>
            </a:r>
          </a:p>
          <a:p>
            <a:pPr lvl="3">
              <a:lnSpc>
                <a:spcPct val="140000"/>
              </a:lnSpc>
              <a:spcBef>
                <a:spcPts val="0"/>
              </a:spcBef>
              <a:spcAft>
                <a:spcPts val="0"/>
              </a:spcAft>
              <a:buClr>
                <a:srgbClr val="0070C0"/>
              </a:buClr>
              <a:buFont typeface="Wingdings" panose="05000000000000000000" pitchFamily="2" charset="2"/>
              <a:buChar char="ü"/>
            </a:pPr>
            <a:r>
              <a:rPr lang="en-US" sz="1250" dirty="0">
                <a:solidFill>
                  <a:srgbClr val="0070C0"/>
                </a:solidFill>
              </a:rPr>
              <a:t>Board of Studies - VIT, SRM etc., </a:t>
            </a:r>
          </a:p>
          <a:p>
            <a:pPr lvl="3">
              <a:lnSpc>
                <a:spcPct val="140000"/>
              </a:lnSpc>
              <a:spcBef>
                <a:spcPts val="0"/>
              </a:spcBef>
              <a:spcAft>
                <a:spcPts val="0"/>
              </a:spcAft>
              <a:buClr>
                <a:srgbClr val="0070C0"/>
              </a:buClr>
              <a:buFont typeface="Wingdings" panose="05000000000000000000" pitchFamily="2" charset="2"/>
              <a:buChar char="ü"/>
            </a:pPr>
            <a:r>
              <a:rPr lang="en-US" sz="1250" dirty="0">
                <a:solidFill>
                  <a:srgbClr val="0070C0"/>
                </a:solidFill>
              </a:rPr>
              <a:t>Key note talks - CII, ISACA, DSCI, EFY, and SPIN</a:t>
            </a:r>
          </a:p>
          <a:p>
            <a:pPr marL="450000" lvl="8" indent="0">
              <a:buNone/>
            </a:pPr>
            <a:r>
              <a:rPr lang="en-US" sz="1400" i="1" u="sng" dirty="0">
                <a:solidFill>
                  <a:srgbClr val="0070C0"/>
                </a:solidFill>
              </a:rPr>
              <a:t>Global Consulting </a:t>
            </a:r>
            <a:r>
              <a:rPr lang="en-US" sz="1400" i="1" dirty="0">
                <a:solidFill>
                  <a:srgbClr val="0070C0"/>
                </a:solidFill>
              </a:rPr>
              <a:t>						</a:t>
            </a:r>
            <a:r>
              <a:rPr lang="en-US" sz="1400" dirty="0">
                <a:solidFill>
                  <a:srgbClr val="0070C0"/>
                </a:solidFill>
              </a:rPr>
              <a:t>(2 years)</a:t>
            </a:r>
            <a:endParaRPr lang="en-US" sz="1400" i="1" u="sng" dirty="0">
              <a:solidFill>
                <a:srgbClr val="0070C0"/>
              </a:solidFill>
            </a:endParaRPr>
          </a:p>
          <a:p>
            <a:pPr lvl="3">
              <a:lnSpc>
                <a:spcPct val="130000"/>
              </a:lnSpc>
              <a:spcBef>
                <a:spcPts val="0"/>
              </a:spcBef>
              <a:spcAft>
                <a:spcPts val="0"/>
              </a:spcAft>
              <a:buClr>
                <a:srgbClr val="0070C0"/>
              </a:buClr>
              <a:buFont typeface="Wingdings" panose="05000000000000000000" pitchFamily="2" charset="2"/>
              <a:buChar char="ü"/>
            </a:pPr>
            <a:r>
              <a:rPr lang="en-US" sz="1250" dirty="0">
                <a:solidFill>
                  <a:srgbClr val="0070C0"/>
                </a:solidFill>
              </a:rPr>
              <a:t>Principal Consultant - Large Strategic Deal</a:t>
            </a:r>
          </a:p>
          <a:p>
            <a:pPr marL="450000" lvl="8" indent="0">
              <a:buNone/>
            </a:pPr>
            <a:r>
              <a:rPr lang="en-US" sz="1400" i="1" u="sng" dirty="0">
                <a:solidFill>
                  <a:srgbClr val="0070C0"/>
                </a:solidFill>
              </a:rPr>
              <a:t>Academic – Industry Interactions</a:t>
            </a:r>
            <a:r>
              <a:rPr lang="en-US" sz="1400" i="1" dirty="0">
                <a:solidFill>
                  <a:srgbClr val="0070C0"/>
                </a:solidFill>
              </a:rPr>
              <a:t>					(2+ years)</a:t>
            </a:r>
          </a:p>
          <a:p>
            <a:pPr lvl="3">
              <a:lnSpc>
                <a:spcPct val="140000"/>
              </a:lnSpc>
              <a:spcBef>
                <a:spcPts val="0"/>
              </a:spcBef>
              <a:spcAft>
                <a:spcPts val="0"/>
              </a:spcAft>
              <a:buClr>
                <a:srgbClr val="0070C0"/>
              </a:buClr>
              <a:buFont typeface="Wingdings" panose="05000000000000000000" pitchFamily="2" charset="2"/>
              <a:buChar char="ü"/>
            </a:pPr>
            <a:r>
              <a:rPr lang="en-US" sz="1250" dirty="0">
                <a:solidFill>
                  <a:srgbClr val="0070C0"/>
                </a:solidFill>
              </a:rPr>
              <a:t>External Expert – SIDBI IT Estimations </a:t>
            </a:r>
          </a:p>
          <a:p>
            <a:pPr lvl="3">
              <a:lnSpc>
                <a:spcPct val="140000"/>
              </a:lnSpc>
              <a:spcBef>
                <a:spcPts val="0"/>
              </a:spcBef>
              <a:spcAft>
                <a:spcPts val="0"/>
              </a:spcAft>
              <a:buClr>
                <a:srgbClr val="0070C0"/>
              </a:buClr>
              <a:buFont typeface="Wingdings" panose="05000000000000000000" pitchFamily="2" charset="2"/>
              <a:buChar char="ü"/>
            </a:pPr>
            <a:r>
              <a:rPr lang="en-US" sz="1250" dirty="0">
                <a:solidFill>
                  <a:srgbClr val="0070C0"/>
                </a:solidFill>
              </a:rPr>
              <a:t>Program Director – DDPM C-3 / ALPDW C-1 / EPPM C-1 / GMPIT C-1</a:t>
            </a:r>
          </a:p>
          <a:p>
            <a:pPr lvl="3">
              <a:lnSpc>
                <a:spcPct val="140000"/>
              </a:lnSpc>
              <a:spcBef>
                <a:spcPts val="0"/>
              </a:spcBef>
              <a:spcAft>
                <a:spcPts val="0"/>
              </a:spcAft>
              <a:buClr>
                <a:srgbClr val="0070C0"/>
              </a:buClr>
              <a:buFont typeface="Wingdings" panose="05000000000000000000" pitchFamily="2" charset="2"/>
              <a:buChar char="ü"/>
            </a:pPr>
            <a:r>
              <a:rPr lang="en-US" sz="1250" dirty="0">
                <a:solidFill>
                  <a:srgbClr val="0070C0"/>
                </a:solidFill>
              </a:rPr>
              <a:t>Chair – Computer Advisory Committee </a:t>
            </a:r>
          </a:p>
          <a:p>
            <a:pPr marL="411480" lvl="2" indent="0">
              <a:lnSpc>
                <a:spcPct val="120000"/>
              </a:lnSpc>
              <a:spcBef>
                <a:spcPts val="0"/>
              </a:spcBef>
              <a:spcAft>
                <a:spcPts val="0"/>
              </a:spcAft>
              <a:buClr>
                <a:srgbClr val="0070C0"/>
              </a:buClr>
              <a:buNone/>
            </a:pPr>
            <a:r>
              <a:rPr lang="en-US" sz="1400" i="1" u="sng" dirty="0">
                <a:solidFill>
                  <a:srgbClr val="0070C0"/>
                </a:solidFill>
              </a:rPr>
              <a:t>Education Background</a:t>
            </a:r>
          </a:p>
          <a:p>
            <a:pPr lvl="3">
              <a:lnSpc>
                <a:spcPct val="130000"/>
              </a:lnSpc>
              <a:spcBef>
                <a:spcPts val="0"/>
              </a:spcBef>
              <a:spcAft>
                <a:spcPts val="0"/>
              </a:spcAft>
              <a:buClr>
                <a:srgbClr val="0070C0"/>
              </a:buClr>
              <a:buFont typeface="Wingdings" panose="05000000000000000000" pitchFamily="2" charset="2"/>
              <a:buChar char="ü"/>
            </a:pPr>
            <a:r>
              <a:rPr lang="en-US" sz="1250" dirty="0">
                <a:solidFill>
                  <a:srgbClr val="0070C0"/>
                </a:solidFill>
              </a:rPr>
              <a:t>Bachelor from Andhra University 		(Mechanical Engineering – Gold Medalist, 1996-2000)</a:t>
            </a:r>
          </a:p>
          <a:p>
            <a:pPr lvl="3">
              <a:lnSpc>
                <a:spcPct val="130000"/>
              </a:lnSpc>
              <a:spcBef>
                <a:spcPts val="0"/>
              </a:spcBef>
              <a:spcAft>
                <a:spcPts val="0"/>
              </a:spcAft>
              <a:buClr>
                <a:srgbClr val="0070C0"/>
              </a:buClr>
              <a:buFont typeface="Wingdings" panose="05000000000000000000" pitchFamily="2" charset="2"/>
              <a:buChar char="ü"/>
            </a:pPr>
            <a:r>
              <a:rPr lang="en-US" sz="1250" dirty="0">
                <a:solidFill>
                  <a:srgbClr val="0070C0"/>
                </a:solidFill>
              </a:rPr>
              <a:t>Masters from IIT Bombay 		(Industrial Engineering &amp; Operations Research, 2000-2002) </a:t>
            </a:r>
          </a:p>
          <a:p>
            <a:pPr lvl="3">
              <a:lnSpc>
                <a:spcPct val="130000"/>
              </a:lnSpc>
              <a:spcBef>
                <a:spcPts val="0"/>
              </a:spcBef>
              <a:spcAft>
                <a:spcPts val="0"/>
              </a:spcAft>
              <a:buClr>
                <a:srgbClr val="0070C0"/>
              </a:buClr>
              <a:buFont typeface="Wingdings" panose="05000000000000000000" pitchFamily="2" charset="2"/>
              <a:buChar char="ü"/>
            </a:pPr>
            <a:r>
              <a:rPr lang="en-US" sz="1250" dirty="0">
                <a:solidFill>
                  <a:srgbClr val="0070C0"/>
                </a:solidFill>
              </a:rPr>
              <a:t>Ph.D. from IIT Madras			(Information Systems – Best Doctoral Student Award from AIS, USA, 2012-2017)</a:t>
            </a:r>
          </a:p>
        </p:txBody>
      </p:sp>
      <p:sp>
        <p:nvSpPr>
          <p:cNvPr id="6" name="Footer Placeholder 5">
            <a:extLst>
              <a:ext uri="{FF2B5EF4-FFF2-40B4-BE49-F238E27FC236}">
                <a16:creationId xmlns:a16="http://schemas.microsoft.com/office/drawing/2014/main" id="{923B748B-B143-4B86-A520-425718EA2E33}"/>
              </a:ext>
            </a:extLst>
          </p:cNvPr>
          <p:cNvSpPr>
            <a:spLocks noGrp="1"/>
          </p:cNvSpPr>
          <p:nvPr>
            <p:ph type="ftr" sz="quarter" idx="11"/>
          </p:nvPr>
        </p:nvSpPr>
        <p:spPr/>
        <p:txBody>
          <a:bodyPr/>
          <a:lstStyle/>
          <a:p>
            <a:r>
              <a:rPr lang="en-US"/>
              <a:t>Restricted Access - This presentation is only for IIM Lucknow Students</a:t>
            </a:r>
            <a:endParaRPr lang="en-US" dirty="0"/>
          </a:p>
        </p:txBody>
      </p:sp>
    </p:spTree>
    <p:extLst>
      <p:ext uri="{BB962C8B-B14F-4D97-AF65-F5344CB8AC3E}">
        <p14:creationId xmlns:p14="http://schemas.microsoft.com/office/powerpoint/2010/main" val="3232110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p:cNvSpPr txBox="1">
            <a:spLocks/>
          </p:cNvSpPr>
          <p:nvPr/>
        </p:nvSpPr>
        <p:spPr>
          <a:xfrm>
            <a:off x="209551" y="285750"/>
            <a:ext cx="8658224" cy="4457699"/>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US" sz="2400" b="1" dirty="0">
                <a:solidFill>
                  <a:srgbClr val="0070C0"/>
                </a:solidFill>
              </a:rPr>
              <a:t>Agenda</a:t>
            </a:r>
          </a:p>
          <a:p>
            <a:pPr marL="510750" lvl="7" indent="-285750">
              <a:buClr>
                <a:srgbClr val="0070C0"/>
              </a:buClr>
              <a:buFont typeface="Wingdings" panose="05000000000000000000" pitchFamily="2" charset="2"/>
              <a:buChar char="Ø"/>
            </a:pPr>
            <a:endParaRPr lang="en-US" sz="1800" dirty="0">
              <a:solidFill>
                <a:srgbClr val="0070C0"/>
              </a:solidFill>
            </a:endParaRPr>
          </a:p>
          <a:p>
            <a:pPr marL="510750" lvl="7" indent="-285750">
              <a:buClr>
                <a:srgbClr val="0070C0"/>
              </a:buClr>
              <a:buFont typeface="Wingdings" panose="05000000000000000000" pitchFamily="2" charset="2"/>
              <a:buChar char="Ø"/>
            </a:pPr>
            <a:r>
              <a:rPr lang="en-US" sz="1800" dirty="0">
                <a:solidFill>
                  <a:srgbClr val="0070C0"/>
                </a:solidFill>
              </a:rPr>
              <a:t>Motivation: Data driven economy – Fundamental Forces </a:t>
            </a:r>
          </a:p>
          <a:p>
            <a:pPr marL="510750" lvl="7" indent="-285750">
              <a:buClr>
                <a:srgbClr val="0070C0"/>
              </a:buClr>
              <a:buFont typeface="Wingdings" panose="05000000000000000000" pitchFamily="2" charset="2"/>
              <a:buChar char="Ø"/>
            </a:pPr>
            <a:r>
              <a:rPr lang="en-US" sz="1800" dirty="0">
                <a:solidFill>
                  <a:srgbClr val="0070C0"/>
                </a:solidFill>
              </a:rPr>
              <a:t>ITS journey @IIML :  Information Technology Concepts – MIS </a:t>
            </a:r>
          </a:p>
          <a:p>
            <a:pPr marL="510750" lvl="7" indent="-285750">
              <a:buClr>
                <a:srgbClr val="0070C0"/>
              </a:buClr>
              <a:buFont typeface="Wingdings" panose="05000000000000000000" pitchFamily="2" charset="2"/>
              <a:buChar char="Ø"/>
            </a:pPr>
            <a:r>
              <a:rPr lang="en-US" sz="1800" dirty="0">
                <a:solidFill>
                  <a:srgbClr val="0070C0"/>
                </a:solidFill>
              </a:rPr>
              <a:t>Course outline :  </a:t>
            </a:r>
            <a:r>
              <a:rPr lang="en-IN" sz="1800" dirty="0">
                <a:solidFill>
                  <a:srgbClr val="0070C0"/>
                </a:solidFill>
              </a:rPr>
              <a:t>Pedagogy</a:t>
            </a:r>
            <a:endParaRPr lang="en-US" sz="1800" dirty="0">
              <a:solidFill>
                <a:srgbClr val="0070C0"/>
              </a:solidFill>
            </a:endParaRPr>
          </a:p>
          <a:p>
            <a:pPr marL="510750" lvl="7" indent="-285750">
              <a:buClr>
                <a:srgbClr val="0070C0"/>
              </a:buClr>
              <a:buFont typeface="Wingdings" panose="05000000000000000000" pitchFamily="2" charset="2"/>
              <a:buChar char="Ø"/>
            </a:pPr>
            <a:r>
              <a:rPr lang="en-IN" sz="1800" dirty="0">
                <a:solidFill>
                  <a:srgbClr val="0070C0"/>
                </a:solidFill>
              </a:rPr>
              <a:t>The Analytics Revolution : Data pyramid – Challenges – Types of data - Big data </a:t>
            </a:r>
            <a:endParaRPr lang="en-US" sz="1800" dirty="0">
              <a:solidFill>
                <a:srgbClr val="0070C0"/>
              </a:solidFill>
            </a:endParaRPr>
          </a:p>
          <a:p>
            <a:pPr marL="510750" lvl="7" indent="-285750">
              <a:buClr>
                <a:srgbClr val="0070C0"/>
              </a:buClr>
              <a:buFont typeface="Wingdings" panose="05000000000000000000" pitchFamily="2" charset="2"/>
              <a:buChar char="Ø"/>
            </a:pPr>
            <a:r>
              <a:rPr lang="en-US" sz="1800" dirty="0">
                <a:solidFill>
                  <a:srgbClr val="0070C0"/>
                </a:solidFill>
              </a:rPr>
              <a:t>Case Study : Good Modelling Practices in Microsoft Excel </a:t>
            </a:r>
          </a:p>
          <a:p>
            <a:pPr marL="510750" lvl="7" indent="-285750">
              <a:buClr>
                <a:srgbClr val="0070C0"/>
              </a:buClr>
              <a:buFont typeface="Wingdings" panose="05000000000000000000" pitchFamily="2" charset="2"/>
              <a:buChar char="Ø"/>
            </a:pPr>
            <a:r>
              <a:rPr lang="en-US" sz="1800" dirty="0">
                <a:solidFill>
                  <a:srgbClr val="0070C0"/>
                </a:solidFill>
              </a:rPr>
              <a:t>Excel 2019 important features </a:t>
            </a:r>
          </a:p>
          <a:p>
            <a:pPr marL="735750" lvl="8" indent="-285750">
              <a:buClr>
                <a:srgbClr val="0070C0"/>
              </a:buClr>
              <a:buFont typeface="Courier New" panose="02070309020205020404" pitchFamily="49" charset="0"/>
              <a:buChar char="o"/>
            </a:pPr>
            <a:r>
              <a:rPr lang="en-US" sz="1800" dirty="0">
                <a:solidFill>
                  <a:srgbClr val="0070C0"/>
                </a:solidFill>
              </a:rPr>
              <a:t>Create ranged names</a:t>
            </a:r>
          </a:p>
          <a:p>
            <a:pPr marL="735750" lvl="8" indent="-285750">
              <a:buClr>
                <a:srgbClr val="0070C0"/>
              </a:buClr>
              <a:buFont typeface="Courier New" panose="02070309020205020404" pitchFamily="49" charset="0"/>
              <a:buChar char="o"/>
            </a:pPr>
            <a:r>
              <a:rPr lang="en-US" sz="1800" dirty="0">
                <a:solidFill>
                  <a:srgbClr val="0070C0"/>
                </a:solidFill>
              </a:rPr>
              <a:t>Paste special</a:t>
            </a:r>
          </a:p>
          <a:p>
            <a:pPr marL="735750" lvl="8" indent="-285750">
              <a:buClr>
                <a:srgbClr val="0070C0"/>
              </a:buClr>
              <a:buFont typeface="Courier New" panose="02070309020205020404" pitchFamily="49" charset="0"/>
              <a:buChar char="o"/>
            </a:pPr>
            <a:r>
              <a:rPr lang="en-US" sz="1800" dirty="0">
                <a:solidFill>
                  <a:srgbClr val="0070C0"/>
                </a:solidFill>
              </a:rPr>
              <a:t>Sorting</a:t>
            </a:r>
          </a:p>
          <a:p>
            <a:pPr marL="735750" lvl="8" indent="-285750">
              <a:buClr>
                <a:srgbClr val="0070C0"/>
              </a:buClr>
              <a:buFont typeface="Courier New" panose="02070309020205020404" pitchFamily="49" charset="0"/>
              <a:buChar char="o"/>
            </a:pPr>
            <a:r>
              <a:rPr lang="en-US" sz="1800" dirty="0">
                <a:solidFill>
                  <a:srgbClr val="0070C0"/>
                </a:solidFill>
              </a:rPr>
              <a:t>Importing data </a:t>
            </a:r>
          </a:p>
          <a:p>
            <a:pPr marL="735750" lvl="8" indent="-285750">
              <a:buClr>
                <a:srgbClr val="0070C0"/>
              </a:buClr>
              <a:buFont typeface="Courier New" panose="02070309020205020404" pitchFamily="49" charset="0"/>
              <a:buChar char="o"/>
            </a:pPr>
            <a:r>
              <a:rPr lang="en-US" sz="1800" dirty="0">
                <a:solidFill>
                  <a:srgbClr val="0070C0"/>
                </a:solidFill>
              </a:rPr>
              <a:t>Validating data</a:t>
            </a:r>
          </a:p>
        </p:txBody>
      </p:sp>
      <p:sp>
        <p:nvSpPr>
          <p:cNvPr id="2" name="Footer Placeholder 1">
            <a:extLst>
              <a:ext uri="{FF2B5EF4-FFF2-40B4-BE49-F238E27FC236}">
                <a16:creationId xmlns:a16="http://schemas.microsoft.com/office/drawing/2014/main" id="{4CC8B8CA-B80C-4F52-8D96-13046AC68060}"/>
              </a:ext>
            </a:extLst>
          </p:cNvPr>
          <p:cNvSpPr>
            <a:spLocks noGrp="1"/>
          </p:cNvSpPr>
          <p:nvPr>
            <p:ph type="ftr" sz="quarter" idx="11"/>
          </p:nvPr>
        </p:nvSpPr>
        <p:spPr/>
        <p:txBody>
          <a:bodyPr/>
          <a:lstStyle/>
          <a:p>
            <a:r>
              <a:rPr lang="en-US"/>
              <a:t>Restricted Access - This presentation is only for IIM Lucknow Students</a:t>
            </a:r>
            <a:endParaRPr lang="en-US" dirty="0"/>
          </a:p>
        </p:txBody>
      </p:sp>
    </p:spTree>
    <p:extLst>
      <p:ext uri="{BB962C8B-B14F-4D97-AF65-F5344CB8AC3E}">
        <p14:creationId xmlns:p14="http://schemas.microsoft.com/office/powerpoint/2010/main" val="739477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p:cNvSpPr txBox="1">
            <a:spLocks/>
          </p:cNvSpPr>
          <p:nvPr/>
        </p:nvSpPr>
        <p:spPr>
          <a:xfrm>
            <a:off x="209551" y="285750"/>
            <a:ext cx="8658224" cy="4382121"/>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510750" lvl="7" indent="-285750">
              <a:buClr>
                <a:srgbClr val="0070C0"/>
              </a:buClr>
              <a:buFont typeface="Wingdings" panose="05000000000000000000" pitchFamily="2" charset="2"/>
              <a:buChar char="Ø"/>
            </a:pPr>
            <a:endParaRPr lang="en-US" sz="1800" dirty="0">
              <a:solidFill>
                <a:srgbClr val="0070C0"/>
              </a:solidFill>
            </a:endParaRPr>
          </a:p>
          <a:p>
            <a:pPr marL="225000" lvl="7" indent="0">
              <a:buClr>
                <a:srgbClr val="0070C0"/>
              </a:buClr>
              <a:buNone/>
            </a:pPr>
            <a:endParaRPr lang="en-US" sz="1800" dirty="0">
              <a:solidFill>
                <a:srgbClr val="0070C0"/>
              </a:solidFill>
            </a:endParaRPr>
          </a:p>
          <a:p>
            <a:pPr marL="510750" lvl="7" indent="-285750">
              <a:buClr>
                <a:srgbClr val="0070C0"/>
              </a:buClr>
              <a:buFont typeface="Wingdings" panose="05000000000000000000" pitchFamily="2" charset="2"/>
              <a:buChar char="Ø"/>
            </a:pPr>
            <a:endParaRPr lang="en-US" sz="1800" dirty="0">
              <a:solidFill>
                <a:srgbClr val="0070C0"/>
              </a:solidFill>
            </a:endParaRPr>
          </a:p>
          <a:p>
            <a:pPr marL="510750" lvl="7" indent="-285750">
              <a:buClr>
                <a:srgbClr val="0070C0"/>
              </a:buClr>
              <a:buFont typeface="Wingdings" panose="05000000000000000000" pitchFamily="2" charset="2"/>
              <a:buChar char="Ø"/>
            </a:pPr>
            <a:endParaRPr lang="en-US" sz="1800" dirty="0">
              <a:solidFill>
                <a:srgbClr val="0070C0"/>
              </a:solidFill>
            </a:endParaRPr>
          </a:p>
          <a:p>
            <a:pPr marL="510750" lvl="7" indent="-285750">
              <a:buClr>
                <a:srgbClr val="0070C0"/>
              </a:buClr>
              <a:buFont typeface="Wingdings" panose="05000000000000000000" pitchFamily="2" charset="2"/>
              <a:buChar char="Ø"/>
            </a:pPr>
            <a:endParaRPr lang="en-US" sz="1800" dirty="0">
              <a:solidFill>
                <a:srgbClr val="0070C0"/>
              </a:solidFill>
            </a:endParaRPr>
          </a:p>
          <a:p>
            <a:pPr marL="510750" lvl="7" indent="-285750">
              <a:buClr>
                <a:srgbClr val="0070C0"/>
              </a:buClr>
              <a:buFont typeface="Wingdings" panose="05000000000000000000" pitchFamily="2" charset="2"/>
              <a:buChar char="Ø"/>
            </a:pPr>
            <a:endParaRPr lang="en-US" sz="1800" dirty="0">
              <a:solidFill>
                <a:srgbClr val="0070C0"/>
              </a:solidFill>
            </a:endParaRPr>
          </a:p>
          <a:p>
            <a:pPr marL="510750" lvl="7" indent="-285750">
              <a:buClr>
                <a:srgbClr val="0070C0"/>
              </a:buClr>
              <a:buFont typeface="Wingdings" panose="05000000000000000000" pitchFamily="2" charset="2"/>
              <a:buChar char="Ø"/>
            </a:pPr>
            <a:endParaRPr lang="en-US" sz="1800" dirty="0">
              <a:solidFill>
                <a:srgbClr val="0070C0"/>
              </a:solidFill>
            </a:endParaRPr>
          </a:p>
          <a:p>
            <a:pPr marL="510750" lvl="7" indent="-285750">
              <a:buClr>
                <a:srgbClr val="0070C0"/>
              </a:buClr>
              <a:buFont typeface="Wingdings" panose="05000000000000000000" pitchFamily="2" charset="2"/>
              <a:buChar char="Ø"/>
            </a:pPr>
            <a:endParaRPr lang="en-US" sz="1800" dirty="0">
              <a:solidFill>
                <a:srgbClr val="0070C0"/>
              </a:solidFill>
            </a:endParaRPr>
          </a:p>
          <a:p>
            <a:pPr marL="510750" lvl="7" indent="-285750">
              <a:buClr>
                <a:srgbClr val="0070C0"/>
              </a:buClr>
              <a:buFont typeface="Wingdings" panose="05000000000000000000" pitchFamily="2" charset="2"/>
              <a:buChar char="Ø"/>
            </a:pPr>
            <a:endParaRPr lang="en-US" sz="1800" dirty="0">
              <a:solidFill>
                <a:srgbClr val="0070C0"/>
              </a:solidFill>
            </a:endParaRPr>
          </a:p>
          <a:p>
            <a:pPr marL="411480" lvl="2" indent="0">
              <a:lnSpc>
                <a:spcPct val="110000"/>
              </a:lnSpc>
              <a:buNone/>
            </a:pPr>
            <a:endParaRPr lang="en-US" sz="900" dirty="0">
              <a:solidFill>
                <a:schemeClr val="tx1"/>
              </a:solidFill>
            </a:endParaRPr>
          </a:p>
          <a:p>
            <a:pPr marL="225000" lvl="7" indent="0">
              <a:buNone/>
            </a:pPr>
            <a:endParaRPr lang="en-US" sz="1100" dirty="0">
              <a:solidFill>
                <a:schemeClr val="tx1"/>
              </a:solidFill>
            </a:endParaRPr>
          </a:p>
        </p:txBody>
      </p:sp>
      <p:pic>
        <p:nvPicPr>
          <p:cNvPr id="7" name="Picture 6">
            <a:extLst>
              <a:ext uri="{FF2B5EF4-FFF2-40B4-BE49-F238E27FC236}">
                <a16:creationId xmlns:a16="http://schemas.microsoft.com/office/drawing/2014/main" id="{3CE28803-EB58-4768-9EC1-3CCB3208E422}"/>
              </a:ext>
            </a:extLst>
          </p:cNvPr>
          <p:cNvPicPr>
            <a:picLocks noChangeAspect="1"/>
          </p:cNvPicPr>
          <p:nvPr/>
        </p:nvPicPr>
        <p:blipFill>
          <a:blip r:embed="rId3"/>
          <a:stretch>
            <a:fillRect/>
          </a:stretch>
        </p:blipFill>
        <p:spPr>
          <a:xfrm>
            <a:off x="3810001" y="645049"/>
            <a:ext cx="4562212" cy="3556211"/>
          </a:xfrm>
          <a:prstGeom prst="rect">
            <a:avLst/>
          </a:prstGeom>
        </p:spPr>
      </p:pic>
      <p:sp>
        <p:nvSpPr>
          <p:cNvPr id="9" name="TextBox 8">
            <a:extLst>
              <a:ext uri="{FF2B5EF4-FFF2-40B4-BE49-F238E27FC236}">
                <a16:creationId xmlns:a16="http://schemas.microsoft.com/office/drawing/2014/main" id="{4A786AE5-57AC-4679-8F34-740D0C4D1A87}"/>
              </a:ext>
            </a:extLst>
          </p:cNvPr>
          <p:cNvSpPr txBox="1"/>
          <p:nvPr/>
        </p:nvSpPr>
        <p:spPr>
          <a:xfrm>
            <a:off x="1010180" y="203545"/>
            <a:ext cx="7266631" cy="461665"/>
          </a:xfrm>
          <a:prstGeom prst="rect">
            <a:avLst/>
          </a:prstGeom>
          <a:noFill/>
        </p:spPr>
        <p:txBody>
          <a:bodyPr wrap="square">
            <a:spAutoFit/>
          </a:bodyPr>
          <a:lstStyle/>
          <a:p>
            <a:pPr marL="450000" lvl="8" indent="0" algn="ctr">
              <a:buNone/>
            </a:pPr>
            <a:r>
              <a:rPr lang="en-US" sz="2400" b="1" dirty="0">
                <a:solidFill>
                  <a:srgbClr val="0070C0"/>
                </a:solidFill>
              </a:rPr>
              <a:t>Motivation – Data – Digital</a:t>
            </a:r>
          </a:p>
        </p:txBody>
      </p:sp>
      <p:sp>
        <p:nvSpPr>
          <p:cNvPr id="11" name="TextBox 10">
            <a:extLst>
              <a:ext uri="{FF2B5EF4-FFF2-40B4-BE49-F238E27FC236}">
                <a16:creationId xmlns:a16="http://schemas.microsoft.com/office/drawing/2014/main" id="{A855948C-BB10-44EF-B69B-05B65B37DFA8}"/>
              </a:ext>
            </a:extLst>
          </p:cNvPr>
          <p:cNvSpPr txBox="1"/>
          <p:nvPr/>
        </p:nvSpPr>
        <p:spPr>
          <a:xfrm>
            <a:off x="276225" y="775405"/>
            <a:ext cx="3702049" cy="3387722"/>
          </a:xfrm>
          <a:prstGeom prst="rect">
            <a:avLst/>
          </a:prstGeom>
          <a:noFill/>
        </p:spPr>
        <p:txBody>
          <a:bodyPr wrap="square">
            <a:spAutoFit/>
          </a:bodyPr>
          <a:lstStyle/>
          <a:p>
            <a:pPr lvl="2" indent="0">
              <a:lnSpc>
                <a:spcPct val="150000"/>
              </a:lnSpc>
              <a:buClr>
                <a:schemeClr val="tx1"/>
              </a:buClr>
            </a:pPr>
            <a:r>
              <a:rPr lang="en-US" sz="1200" b="1" dirty="0"/>
              <a:t>The Facebook Effect	</a:t>
            </a:r>
          </a:p>
          <a:p>
            <a:pPr lvl="2" indent="0">
              <a:lnSpc>
                <a:spcPct val="150000"/>
              </a:lnSpc>
              <a:buClr>
                <a:schemeClr val="tx1"/>
              </a:buClr>
            </a:pPr>
            <a:r>
              <a:rPr lang="en-US" sz="1200" b="1" dirty="0"/>
              <a:t>	</a:t>
            </a:r>
            <a:r>
              <a:rPr lang="en-US" sz="1200" dirty="0"/>
              <a:t>The virtualization of human </a:t>
            </a:r>
            <a:r>
              <a:rPr lang="en-IN" sz="1200" dirty="0"/>
              <a:t>relationships</a:t>
            </a:r>
          </a:p>
          <a:p>
            <a:pPr lvl="2" indent="0">
              <a:lnSpc>
                <a:spcPct val="150000"/>
              </a:lnSpc>
              <a:buClr>
                <a:schemeClr val="tx1"/>
              </a:buClr>
            </a:pPr>
            <a:r>
              <a:rPr lang="en-US" sz="1200" b="1" dirty="0"/>
              <a:t>The Amazon Effect	</a:t>
            </a:r>
          </a:p>
          <a:p>
            <a:pPr lvl="2" indent="0">
              <a:lnSpc>
                <a:spcPct val="150000"/>
              </a:lnSpc>
              <a:buClr>
                <a:schemeClr val="tx1"/>
              </a:buClr>
            </a:pPr>
            <a:r>
              <a:rPr lang="en-US" sz="1200" b="1" dirty="0"/>
              <a:t>	</a:t>
            </a:r>
            <a:r>
              <a:rPr lang="en-US" sz="1200" dirty="0"/>
              <a:t>The virtualization of customer </a:t>
            </a:r>
            <a:r>
              <a:rPr lang="en-IN" sz="1200" dirty="0"/>
              <a:t>experience</a:t>
            </a:r>
          </a:p>
          <a:p>
            <a:pPr lvl="2" indent="0">
              <a:lnSpc>
                <a:spcPct val="150000"/>
              </a:lnSpc>
              <a:buClr>
                <a:schemeClr val="tx1"/>
              </a:buClr>
            </a:pPr>
            <a:r>
              <a:rPr lang="en-US" sz="1200" b="1" dirty="0"/>
              <a:t>The Netflix Effect	</a:t>
            </a:r>
          </a:p>
          <a:p>
            <a:pPr lvl="2" indent="0">
              <a:lnSpc>
                <a:spcPct val="150000"/>
              </a:lnSpc>
              <a:buClr>
                <a:schemeClr val="tx1"/>
              </a:buClr>
            </a:pPr>
            <a:r>
              <a:rPr lang="en-US" sz="1200" b="1" dirty="0"/>
              <a:t>	</a:t>
            </a:r>
            <a:r>
              <a:rPr lang="en-US" sz="1200" dirty="0"/>
              <a:t>Entertainment , Virtual </a:t>
            </a:r>
            <a:r>
              <a:rPr lang="en-IN" sz="1200" dirty="0"/>
              <a:t>Engagement </a:t>
            </a:r>
          </a:p>
          <a:p>
            <a:pPr lvl="2" indent="0">
              <a:lnSpc>
                <a:spcPct val="150000"/>
              </a:lnSpc>
              <a:buClr>
                <a:schemeClr val="tx1"/>
              </a:buClr>
            </a:pPr>
            <a:r>
              <a:rPr lang="en-US" sz="1200" b="1" dirty="0"/>
              <a:t>The Google Effect	</a:t>
            </a:r>
          </a:p>
          <a:p>
            <a:pPr lvl="2" indent="0">
              <a:lnSpc>
                <a:spcPct val="150000"/>
              </a:lnSpc>
              <a:buClr>
                <a:schemeClr val="tx1"/>
              </a:buClr>
            </a:pPr>
            <a:r>
              <a:rPr lang="en-US" sz="1200" b="1" dirty="0"/>
              <a:t>	</a:t>
            </a:r>
            <a:r>
              <a:rPr lang="en-US" sz="1200" dirty="0"/>
              <a:t>The separation of humans and information</a:t>
            </a:r>
            <a:endParaRPr lang="en-US" sz="1200" b="1" dirty="0"/>
          </a:p>
          <a:p>
            <a:pPr lvl="2" indent="0">
              <a:lnSpc>
                <a:spcPct val="150000"/>
              </a:lnSpc>
              <a:buClr>
                <a:schemeClr val="tx1"/>
              </a:buClr>
            </a:pPr>
            <a:r>
              <a:rPr lang="en-US" sz="1200" b="1" dirty="0"/>
              <a:t>The Skype Effect	</a:t>
            </a:r>
          </a:p>
          <a:p>
            <a:pPr lvl="2" indent="0">
              <a:lnSpc>
                <a:spcPct val="150000"/>
              </a:lnSpc>
              <a:buClr>
                <a:schemeClr val="tx1"/>
              </a:buClr>
            </a:pPr>
            <a:r>
              <a:rPr lang="en-US" sz="1200" b="1" dirty="0"/>
              <a:t>	</a:t>
            </a:r>
            <a:r>
              <a:rPr lang="en-US" sz="1200" dirty="0"/>
              <a:t>Free communications, death of </a:t>
            </a:r>
            <a:r>
              <a:rPr lang="en-IN" sz="1200" dirty="0"/>
              <a:t>distance</a:t>
            </a:r>
            <a:endParaRPr lang="en-US" sz="1200" b="1" dirty="0"/>
          </a:p>
          <a:p>
            <a:pPr lvl="2" indent="0">
              <a:lnSpc>
                <a:spcPct val="150000"/>
              </a:lnSpc>
              <a:buClr>
                <a:schemeClr val="tx1"/>
              </a:buClr>
            </a:pPr>
            <a:r>
              <a:rPr lang="en-US" sz="1200" b="1" dirty="0"/>
              <a:t>The LinkedIn Effect	</a:t>
            </a:r>
          </a:p>
          <a:p>
            <a:pPr lvl="2" indent="0">
              <a:lnSpc>
                <a:spcPct val="150000"/>
              </a:lnSpc>
              <a:buClr>
                <a:schemeClr val="tx1"/>
              </a:buClr>
            </a:pPr>
            <a:r>
              <a:rPr lang="en-US" sz="1200" b="1" dirty="0"/>
              <a:t>	</a:t>
            </a:r>
            <a:r>
              <a:rPr lang="en-US" sz="1200" dirty="0"/>
              <a:t>The virtualization of specialized </a:t>
            </a:r>
            <a:r>
              <a:rPr lang="en-IN" sz="1200" dirty="0"/>
              <a:t>knowledge</a:t>
            </a:r>
          </a:p>
        </p:txBody>
      </p:sp>
      <p:sp>
        <p:nvSpPr>
          <p:cNvPr id="10" name="TextBox 9">
            <a:extLst>
              <a:ext uri="{FF2B5EF4-FFF2-40B4-BE49-F238E27FC236}">
                <a16:creationId xmlns:a16="http://schemas.microsoft.com/office/drawing/2014/main" id="{43DBE2FC-00D2-4EC9-8CFF-CE67E56D7516}"/>
              </a:ext>
            </a:extLst>
          </p:cNvPr>
          <p:cNvSpPr txBox="1"/>
          <p:nvPr/>
        </p:nvSpPr>
        <p:spPr>
          <a:xfrm>
            <a:off x="568934" y="4213452"/>
            <a:ext cx="8393186" cy="584775"/>
          </a:xfrm>
          <a:prstGeom prst="rect">
            <a:avLst/>
          </a:prstGeom>
          <a:noFill/>
        </p:spPr>
        <p:txBody>
          <a:bodyPr wrap="square">
            <a:spAutoFit/>
          </a:bodyPr>
          <a:lstStyle/>
          <a:p>
            <a:pPr algn="ctr"/>
            <a:r>
              <a:rPr lang="en-US" dirty="0">
                <a:solidFill>
                  <a:srgbClr val="FF0000"/>
                </a:solidFill>
              </a:rPr>
              <a:t>Every Company Is a Data Company</a:t>
            </a:r>
            <a:br>
              <a:rPr lang="en-US" dirty="0"/>
            </a:br>
            <a:r>
              <a:rPr lang="en-US" sz="1400" dirty="0">
                <a:hlinkClick r:id="rId4"/>
              </a:rPr>
              <a:t>https://www.forbes.com/sites/ciocentral/2018/09/26/every-company-is-a-data-company/#f81b61f5cfc5</a:t>
            </a:r>
            <a:endParaRPr lang="en-IN" sz="1400" dirty="0"/>
          </a:p>
        </p:txBody>
      </p:sp>
      <p:sp>
        <p:nvSpPr>
          <p:cNvPr id="8" name="Footer Placeholder 7">
            <a:extLst>
              <a:ext uri="{FF2B5EF4-FFF2-40B4-BE49-F238E27FC236}">
                <a16:creationId xmlns:a16="http://schemas.microsoft.com/office/drawing/2014/main" id="{63B89D39-5BA7-4F1F-B599-272BA6D09FC8}"/>
              </a:ext>
            </a:extLst>
          </p:cNvPr>
          <p:cNvSpPr>
            <a:spLocks noGrp="1"/>
          </p:cNvSpPr>
          <p:nvPr>
            <p:ph type="ftr" sz="quarter" idx="11"/>
          </p:nvPr>
        </p:nvSpPr>
        <p:spPr/>
        <p:txBody>
          <a:bodyPr/>
          <a:lstStyle/>
          <a:p>
            <a:r>
              <a:rPr lang="en-US"/>
              <a:t>Restricted Access - This presentation is only for IIM Lucknow Students</a:t>
            </a:r>
            <a:endParaRPr lang="en-US" dirty="0"/>
          </a:p>
        </p:txBody>
      </p:sp>
    </p:spTree>
    <p:extLst>
      <p:ext uri="{BB962C8B-B14F-4D97-AF65-F5344CB8AC3E}">
        <p14:creationId xmlns:p14="http://schemas.microsoft.com/office/powerpoint/2010/main" val="681788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6701" y="379855"/>
            <a:ext cx="8669654" cy="3231654"/>
          </a:xfrm>
          <a:prstGeom prst="rect">
            <a:avLst/>
          </a:prstGeom>
        </p:spPr>
        <p:txBody>
          <a:bodyPr wrap="square">
            <a:spAutoFit/>
          </a:bodyPr>
          <a:lstStyle/>
          <a:p>
            <a:pPr marL="34290" algn="ctr" defTabSz="685800" hangingPunct="1">
              <a:lnSpc>
                <a:spcPct val="90000"/>
              </a:lnSpc>
              <a:spcBef>
                <a:spcPts val="1050"/>
              </a:spcBef>
              <a:buClr>
                <a:schemeClr val="accent1"/>
              </a:buClr>
              <a:buSzPct val="80000"/>
            </a:pPr>
            <a:r>
              <a:rPr lang="en-US" sz="2400" b="1" kern="1200" dirty="0">
                <a:solidFill>
                  <a:srgbClr val="0070C0"/>
                </a:solidFill>
              </a:rPr>
              <a:t>Fundamental Forces </a:t>
            </a:r>
          </a:p>
          <a:p>
            <a:endParaRPr lang="en-US" dirty="0"/>
          </a:p>
          <a:p>
            <a:endParaRPr lang="en-US" dirty="0"/>
          </a:p>
          <a:p>
            <a:endParaRPr lang="en-US" dirty="0"/>
          </a:p>
          <a:p>
            <a:endParaRPr lang="en-US" dirty="0"/>
          </a:p>
          <a:p>
            <a:endParaRPr lang="en-US" sz="2400" dirty="0">
              <a:solidFill>
                <a:srgbClr val="0070C0"/>
              </a:solidFill>
            </a:endParaRPr>
          </a:p>
          <a:p>
            <a:endParaRPr lang="en-US" sz="2400" dirty="0">
              <a:solidFill>
                <a:srgbClr val="0070C0"/>
              </a:solidFill>
            </a:endParaRPr>
          </a:p>
          <a:p>
            <a:pPr algn="ctr"/>
            <a:endParaRPr lang="en-US" sz="2000" i="1" dirty="0"/>
          </a:p>
          <a:p>
            <a:pPr algn="ctr"/>
            <a:endParaRPr lang="en-US" sz="2000" i="1" dirty="0"/>
          </a:p>
          <a:p>
            <a:pPr algn="ctr"/>
            <a:endParaRPr lang="en-US" sz="2000" i="1" dirty="0"/>
          </a:p>
        </p:txBody>
      </p:sp>
      <p:graphicFrame>
        <p:nvGraphicFramePr>
          <p:cNvPr id="5" name="Table 4"/>
          <p:cNvGraphicFramePr>
            <a:graphicFrameLocks noGrp="1"/>
          </p:cNvGraphicFramePr>
          <p:nvPr/>
        </p:nvGraphicFramePr>
        <p:xfrm>
          <a:off x="383855" y="1080089"/>
          <a:ext cx="8474396" cy="3155366"/>
        </p:xfrm>
        <a:graphic>
          <a:graphicData uri="http://schemas.openxmlformats.org/drawingml/2006/table">
            <a:tbl>
              <a:tblPr firstRow="1" bandRow="1">
                <a:tableStyleId>{16D9F66E-5EB9-4882-86FB-DCBF35E3C3E4}</a:tableStyleId>
              </a:tblPr>
              <a:tblGrid>
                <a:gridCol w="1387795">
                  <a:extLst>
                    <a:ext uri="{9D8B030D-6E8A-4147-A177-3AD203B41FA5}">
                      <a16:colId xmlns:a16="http://schemas.microsoft.com/office/drawing/2014/main" val="3803761407"/>
                    </a:ext>
                  </a:extLst>
                </a:gridCol>
                <a:gridCol w="3514725">
                  <a:extLst>
                    <a:ext uri="{9D8B030D-6E8A-4147-A177-3AD203B41FA5}">
                      <a16:colId xmlns:a16="http://schemas.microsoft.com/office/drawing/2014/main" val="313521251"/>
                    </a:ext>
                  </a:extLst>
                </a:gridCol>
                <a:gridCol w="3571876">
                  <a:extLst>
                    <a:ext uri="{9D8B030D-6E8A-4147-A177-3AD203B41FA5}">
                      <a16:colId xmlns:a16="http://schemas.microsoft.com/office/drawing/2014/main" val="798579555"/>
                    </a:ext>
                  </a:extLst>
                </a:gridCol>
              </a:tblGrid>
              <a:tr h="320726">
                <a:tc>
                  <a:txBody>
                    <a:bodyPr/>
                    <a:lstStyle/>
                    <a:p>
                      <a:pPr algn="ctr"/>
                      <a:r>
                        <a:rPr lang="en-US" dirty="0"/>
                        <a:t>Law</a:t>
                      </a:r>
                      <a:endParaRPr lang="en-IN" dirty="0"/>
                    </a:p>
                  </a:txBody>
                  <a:tcPr/>
                </a:tc>
                <a:tc>
                  <a:txBody>
                    <a:bodyPr/>
                    <a:lstStyle/>
                    <a:p>
                      <a:pPr algn="ctr"/>
                      <a:r>
                        <a:rPr lang="en-US" dirty="0"/>
                        <a:t>Meaning</a:t>
                      </a:r>
                      <a:endParaRPr lang="en-IN" dirty="0"/>
                    </a:p>
                  </a:txBody>
                  <a:tcPr/>
                </a:tc>
                <a:tc>
                  <a:txBody>
                    <a:bodyPr/>
                    <a:lstStyle/>
                    <a:p>
                      <a:pPr algn="ctr"/>
                      <a:r>
                        <a:rPr lang="en-US" dirty="0"/>
                        <a:t>Implications</a:t>
                      </a:r>
                      <a:endParaRPr lang="en-IN" dirty="0"/>
                    </a:p>
                  </a:txBody>
                  <a:tcPr/>
                </a:tc>
                <a:extLst>
                  <a:ext uri="{0D108BD9-81ED-4DB2-BD59-A6C34878D82A}">
                    <a16:rowId xmlns:a16="http://schemas.microsoft.com/office/drawing/2014/main" val="4142555205"/>
                  </a:ext>
                </a:extLst>
              </a:tr>
              <a:tr h="679816">
                <a:tc>
                  <a:txBody>
                    <a:bodyPr/>
                    <a:lstStyle/>
                    <a:p>
                      <a:endParaRPr lang="en-IN" dirty="0"/>
                    </a:p>
                    <a:p>
                      <a:r>
                        <a:rPr lang="en-IN" dirty="0"/>
                        <a:t>Moore’s Law	</a:t>
                      </a:r>
                    </a:p>
                  </a:txBody>
                  <a:tcPr/>
                </a:tc>
                <a:tc>
                  <a:txBody>
                    <a:bodyPr/>
                    <a:lstStyle/>
                    <a:p>
                      <a:r>
                        <a:rPr lang="en-US" sz="1350" u="none" strike="noStrike" kern="1200" baseline="0" dirty="0"/>
                        <a:t>The number of transistors per square inch on an integrated chip doubles every 18 months.</a:t>
                      </a:r>
                      <a:endParaRPr lang="en-US" sz="1350" b="0" i="0" u="none" strike="noStrike" kern="1200" baseline="0" dirty="0">
                        <a:solidFill>
                          <a:schemeClr val="dk1"/>
                        </a:solidFill>
                        <a:latin typeface="+mn-lt"/>
                        <a:ea typeface="+mn-ea"/>
                        <a:cs typeface="+mn-cs"/>
                      </a:endParaRPr>
                    </a:p>
                  </a:txBody>
                  <a:tcPr/>
                </a:tc>
                <a:tc>
                  <a:txBody>
                    <a:bodyPr/>
                    <a:lstStyle/>
                    <a:p>
                      <a:r>
                        <a:rPr lang="en-US" sz="1350" u="none" strike="noStrike" kern="1200" baseline="0" dirty="0"/>
                        <a:t>Computers are getting exponentially faster. </a:t>
                      </a:r>
                    </a:p>
                    <a:p>
                      <a:r>
                        <a:rPr lang="en-US" sz="1350" u="none" strike="noStrike" kern="1200" baseline="0" dirty="0"/>
                        <a:t>The cost of data processing is approaching zero.	</a:t>
                      </a:r>
                      <a:endParaRPr lang="en-US" sz="1350" b="0" i="0" u="none" strike="noStrike" kern="1200" baseline="0" dirty="0">
                        <a:solidFill>
                          <a:schemeClr val="dk1"/>
                        </a:solidFill>
                        <a:latin typeface="+mn-lt"/>
                        <a:ea typeface="+mn-ea"/>
                        <a:cs typeface="+mn-cs"/>
                      </a:endParaRPr>
                    </a:p>
                  </a:txBody>
                  <a:tcPr/>
                </a:tc>
                <a:extLst>
                  <a:ext uri="{0D108BD9-81ED-4DB2-BD59-A6C34878D82A}">
                    <a16:rowId xmlns:a16="http://schemas.microsoft.com/office/drawing/2014/main" val="2069714130"/>
                  </a:ext>
                </a:extLst>
              </a:tr>
              <a:tr h="679816">
                <a:tc>
                  <a:txBody>
                    <a:bodyPr/>
                    <a:lstStyle/>
                    <a:p>
                      <a:endParaRPr lang="en-IN" sz="1350" u="none" strike="noStrike" kern="1200" baseline="0" dirty="0"/>
                    </a:p>
                    <a:p>
                      <a:r>
                        <a:rPr lang="en-IN" sz="1350" u="none" strike="noStrike" kern="1200" baseline="0" dirty="0"/>
                        <a:t>Metcalfe’s Law</a:t>
                      </a:r>
                      <a:endParaRPr lang="en-IN" sz="1350" b="0" i="0" u="none" strike="noStrike" kern="1200" baseline="0" dirty="0">
                        <a:solidFill>
                          <a:schemeClr val="dk1"/>
                        </a:solidFill>
                        <a:latin typeface="+mn-lt"/>
                        <a:ea typeface="+mn-ea"/>
                        <a:cs typeface="+mn-cs"/>
                      </a:endParaRPr>
                    </a:p>
                  </a:txBody>
                  <a:tcPr/>
                </a:tc>
                <a:tc>
                  <a:txBody>
                    <a:bodyPr/>
                    <a:lstStyle/>
                    <a:p>
                      <a:r>
                        <a:rPr lang="en-US" sz="1350" u="none" strike="noStrike" kern="1200" baseline="0" dirty="0"/>
                        <a:t>The value of a network is equal to the square of the number of users connected to it.	</a:t>
                      </a:r>
                      <a:endParaRPr lang="en-US" sz="1350" b="0" i="0" u="none" strike="noStrike" kern="1200" baseline="0" dirty="0">
                        <a:solidFill>
                          <a:schemeClr val="dk1"/>
                        </a:solidFill>
                        <a:latin typeface="+mn-lt"/>
                        <a:ea typeface="+mn-ea"/>
                        <a:cs typeface="+mn-cs"/>
                      </a:endParaRPr>
                    </a:p>
                  </a:txBody>
                  <a:tcPr/>
                </a:tc>
                <a:tc>
                  <a:txBody>
                    <a:bodyPr/>
                    <a:lstStyle/>
                    <a:p>
                      <a:r>
                        <a:rPr lang="en-US" sz="1350" u="none" strike="noStrike" kern="1200" baseline="0" dirty="0"/>
                        <a:t>More digital devices are being connected together. The value of digital and social networks is increasing exponentially.	</a:t>
                      </a:r>
                      <a:endParaRPr lang="en-US" sz="1350" b="0" i="0" u="none" strike="noStrike" kern="1200" baseline="0" dirty="0">
                        <a:solidFill>
                          <a:schemeClr val="dk1"/>
                        </a:solidFill>
                        <a:latin typeface="+mn-lt"/>
                        <a:ea typeface="+mn-ea"/>
                        <a:cs typeface="+mn-cs"/>
                      </a:endParaRPr>
                    </a:p>
                  </a:txBody>
                  <a:tcPr/>
                </a:tc>
                <a:extLst>
                  <a:ext uri="{0D108BD9-81ED-4DB2-BD59-A6C34878D82A}">
                    <a16:rowId xmlns:a16="http://schemas.microsoft.com/office/drawing/2014/main" val="2856111691"/>
                  </a:ext>
                </a:extLst>
              </a:tr>
              <a:tr h="679816">
                <a:tc>
                  <a:txBody>
                    <a:bodyPr/>
                    <a:lstStyle/>
                    <a:p>
                      <a:endParaRPr lang="en-IN" sz="1350" u="none" strike="noStrike" kern="1200" baseline="0" dirty="0"/>
                    </a:p>
                    <a:p>
                      <a:r>
                        <a:rPr lang="en-IN" sz="1350" u="none" strike="noStrike" kern="1200" baseline="0" dirty="0"/>
                        <a:t>Nielsen’s Law	</a:t>
                      </a:r>
                      <a:endParaRPr lang="en-IN" sz="1350" b="0" i="0" u="none" strike="noStrike" kern="1200" baseline="0" dirty="0">
                        <a:solidFill>
                          <a:schemeClr val="dk1"/>
                        </a:solidFill>
                        <a:latin typeface="+mn-lt"/>
                        <a:ea typeface="+mn-ea"/>
                        <a:cs typeface="+mn-cs"/>
                      </a:endParaRPr>
                    </a:p>
                  </a:txBody>
                  <a:tcPr/>
                </a:tc>
                <a:tc>
                  <a:txBody>
                    <a:bodyPr/>
                    <a:lstStyle/>
                    <a:p>
                      <a:r>
                        <a:rPr lang="en-US" sz="1350" u="none" strike="noStrike" kern="1200" baseline="0" dirty="0"/>
                        <a:t>Network connection speeds for high-end users will increase by 50 percent per year.	</a:t>
                      </a:r>
                      <a:endParaRPr lang="en-US" sz="1350" b="0" i="0" u="none" strike="noStrike" kern="1200" baseline="0" dirty="0">
                        <a:solidFill>
                          <a:schemeClr val="dk1"/>
                        </a:solidFill>
                        <a:latin typeface="+mn-lt"/>
                        <a:ea typeface="+mn-ea"/>
                        <a:cs typeface="+mn-cs"/>
                      </a:endParaRPr>
                    </a:p>
                  </a:txBody>
                  <a:tcPr/>
                </a:tc>
                <a:tc>
                  <a:txBody>
                    <a:bodyPr/>
                    <a:lstStyle/>
                    <a:p>
                      <a:r>
                        <a:rPr lang="en-US" sz="1350" u="none" strike="noStrike" kern="1200" baseline="0" dirty="0"/>
                        <a:t>Network speed is increasing. Higher speeds enable new products, platforms, and companies.	</a:t>
                      </a:r>
                      <a:endParaRPr lang="en-US" sz="1350" b="0" i="0" u="none" strike="noStrike" kern="1200" baseline="0" dirty="0">
                        <a:solidFill>
                          <a:schemeClr val="dk1"/>
                        </a:solidFill>
                        <a:latin typeface="+mn-lt"/>
                        <a:ea typeface="+mn-ea"/>
                        <a:cs typeface="+mn-cs"/>
                      </a:endParaRPr>
                    </a:p>
                  </a:txBody>
                  <a:tcPr/>
                </a:tc>
                <a:extLst>
                  <a:ext uri="{0D108BD9-81ED-4DB2-BD59-A6C34878D82A}">
                    <a16:rowId xmlns:a16="http://schemas.microsoft.com/office/drawing/2014/main" val="221701523"/>
                  </a:ext>
                </a:extLst>
              </a:tr>
              <a:tr h="612895">
                <a:tc>
                  <a:txBody>
                    <a:bodyPr/>
                    <a:lstStyle/>
                    <a:p>
                      <a:endParaRPr lang="en-IN" sz="1350" u="none" strike="noStrike" kern="1200" baseline="0" dirty="0"/>
                    </a:p>
                    <a:p>
                      <a:r>
                        <a:rPr lang="en-IN" sz="1350" u="none" strike="noStrike" kern="1200" baseline="0" dirty="0" err="1"/>
                        <a:t>Kryder’s</a:t>
                      </a:r>
                      <a:r>
                        <a:rPr lang="en-IN" sz="1350" u="none" strike="noStrike" kern="1200" baseline="0" dirty="0"/>
                        <a:t> Law	</a:t>
                      </a:r>
                      <a:endParaRPr lang="en-IN" sz="1350" b="0" i="0" u="none" strike="noStrike" kern="1200" baseline="0" dirty="0">
                        <a:solidFill>
                          <a:schemeClr val="dk1"/>
                        </a:solidFill>
                        <a:latin typeface="+mn-lt"/>
                        <a:ea typeface="+mn-ea"/>
                        <a:cs typeface="+mn-cs"/>
                      </a:endParaRPr>
                    </a:p>
                  </a:txBody>
                  <a:tcPr/>
                </a:tc>
                <a:tc>
                  <a:txBody>
                    <a:bodyPr/>
                    <a:lstStyle/>
                    <a:p>
                      <a:r>
                        <a:rPr lang="en-US" sz="1350" u="none" strike="noStrike" kern="1200" baseline="0" dirty="0"/>
                        <a:t>The storage density on magnetic disks is increasing at an exponential rate.	</a:t>
                      </a:r>
                      <a:endParaRPr lang="en-US" sz="1350" b="0" i="0" u="none" strike="noStrike" kern="1200" baseline="0" dirty="0">
                        <a:solidFill>
                          <a:schemeClr val="dk1"/>
                        </a:solidFill>
                        <a:latin typeface="+mn-lt"/>
                        <a:ea typeface="+mn-ea"/>
                        <a:cs typeface="+mn-cs"/>
                      </a:endParaRPr>
                    </a:p>
                  </a:txBody>
                  <a:tcPr/>
                </a:tc>
                <a:tc>
                  <a:txBody>
                    <a:bodyPr/>
                    <a:lstStyle/>
                    <a:p>
                      <a:r>
                        <a:rPr lang="en-US" sz="1350" u="none" strike="noStrike" kern="1200" baseline="0" dirty="0"/>
                        <a:t>Storage capacity is increasing exponentially.</a:t>
                      </a:r>
                    </a:p>
                    <a:p>
                      <a:r>
                        <a:rPr lang="en-US" sz="1350" u="none" strike="noStrike" kern="1200" baseline="0" dirty="0"/>
                        <a:t>The cost of storing data is approaching zero.</a:t>
                      </a:r>
                      <a:endParaRPr lang="en-US" sz="1350" b="0" i="0" u="none" strike="noStrike" kern="1200" baseline="0" dirty="0">
                        <a:solidFill>
                          <a:schemeClr val="dk1"/>
                        </a:solidFill>
                        <a:latin typeface="+mn-lt"/>
                        <a:ea typeface="+mn-ea"/>
                        <a:cs typeface="+mn-cs"/>
                      </a:endParaRPr>
                    </a:p>
                  </a:txBody>
                  <a:tcPr/>
                </a:tc>
                <a:extLst>
                  <a:ext uri="{0D108BD9-81ED-4DB2-BD59-A6C34878D82A}">
                    <a16:rowId xmlns:a16="http://schemas.microsoft.com/office/drawing/2014/main" val="51896200"/>
                  </a:ext>
                </a:extLst>
              </a:tr>
            </a:tbl>
          </a:graphicData>
        </a:graphic>
      </p:graphicFrame>
      <p:sp>
        <p:nvSpPr>
          <p:cNvPr id="2" name="Footer Placeholder 1">
            <a:extLst>
              <a:ext uri="{FF2B5EF4-FFF2-40B4-BE49-F238E27FC236}">
                <a16:creationId xmlns:a16="http://schemas.microsoft.com/office/drawing/2014/main" id="{CB4A95CF-EA81-4385-87B8-B6847B2C7C3F}"/>
              </a:ext>
            </a:extLst>
          </p:cNvPr>
          <p:cNvSpPr>
            <a:spLocks noGrp="1"/>
          </p:cNvSpPr>
          <p:nvPr>
            <p:ph type="ftr" sz="quarter" idx="11"/>
          </p:nvPr>
        </p:nvSpPr>
        <p:spPr/>
        <p:txBody>
          <a:bodyPr/>
          <a:lstStyle/>
          <a:p>
            <a:r>
              <a:rPr lang="en-US" dirty="0"/>
              <a:t>Restricted Access - This presentation is only for IIM Lucknow Students</a:t>
            </a:r>
          </a:p>
        </p:txBody>
      </p:sp>
    </p:spTree>
    <p:extLst>
      <p:ext uri="{BB962C8B-B14F-4D97-AF65-F5344CB8AC3E}">
        <p14:creationId xmlns:p14="http://schemas.microsoft.com/office/powerpoint/2010/main" val="4195540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p:cNvSpPr txBox="1">
            <a:spLocks/>
          </p:cNvSpPr>
          <p:nvPr/>
        </p:nvSpPr>
        <p:spPr>
          <a:xfrm>
            <a:off x="209551" y="285750"/>
            <a:ext cx="8658224" cy="4457699"/>
          </a:xfrm>
          <a:prstGeom prst="rect">
            <a:avLst/>
          </a:prstGeom>
        </p:spPr>
        <p:txBody>
          <a:bodyPr>
            <a:normAutofit lnSpcReduction="10000"/>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US" sz="2400" b="1" dirty="0">
                <a:solidFill>
                  <a:srgbClr val="0070C0"/>
                </a:solidFill>
              </a:rPr>
              <a:t>ITS journey @IIML</a:t>
            </a:r>
          </a:p>
          <a:p>
            <a:pPr marL="450000" lvl="8" indent="0" algn="ctr">
              <a:buNone/>
            </a:pPr>
            <a:endParaRPr lang="en-US" sz="2000" b="1" dirty="0">
              <a:solidFill>
                <a:srgbClr val="0070C0"/>
              </a:solidFill>
            </a:endParaRPr>
          </a:p>
          <a:p>
            <a:pPr marL="510750" lvl="7" indent="-285750">
              <a:buClr>
                <a:srgbClr val="0070C0"/>
              </a:buClr>
              <a:buFont typeface="Wingdings" panose="05000000000000000000" pitchFamily="2" charset="2"/>
              <a:buChar char="Ø"/>
            </a:pPr>
            <a:r>
              <a:rPr lang="en-US" sz="1800" dirty="0">
                <a:solidFill>
                  <a:srgbClr val="0070C0"/>
                </a:solidFill>
              </a:rPr>
              <a:t>Core</a:t>
            </a:r>
          </a:p>
          <a:p>
            <a:pPr lvl="2">
              <a:lnSpc>
                <a:spcPct val="110000"/>
              </a:lnSpc>
              <a:buClr>
                <a:srgbClr val="002060"/>
              </a:buClr>
              <a:buFont typeface="Wingdings" panose="05000000000000000000" pitchFamily="2" charset="2"/>
              <a:buChar char="ü"/>
            </a:pPr>
            <a:r>
              <a:rPr lang="en-US" sz="1400" dirty="0">
                <a:solidFill>
                  <a:srgbClr val="002060"/>
                </a:solidFill>
              </a:rPr>
              <a:t>Information Technology Concepts (0.5 Credits)</a:t>
            </a:r>
          </a:p>
          <a:p>
            <a:pPr lvl="2">
              <a:lnSpc>
                <a:spcPct val="110000"/>
              </a:lnSpc>
              <a:buClr>
                <a:srgbClr val="002060"/>
              </a:buClr>
              <a:buFont typeface="Wingdings" panose="05000000000000000000" pitchFamily="2" charset="2"/>
              <a:buChar char="ü"/>
            </a:pPr>
            <a:r>
              <a:rPr lang="en-US" sz="1400" dirty="0">
                <a:solidFill>
                  <a:srgbClr val="002060"/>
                </a:solidFill>
              </a:rPr>
              <a:t>Management Information Systems </a:t>
            </a:r>
          </a:p>
          <a:p>
            <a:pPr marL="411480" lvl="2" indent="0">
              <a:lnSpc>
                <a:spcPct val="100000"/>
              </a:lnSpc>
              <a:buNone/>
            </a:pPr>
            <a:endParaRPr lang="en-US" sz="1400" b="1" dirty="0">
              <a:solidFill>
                <a:schemeClr val="tx1"/>
              </a:solidFill>
            </a:endParaRPr>
          </a:p>
          <a:p>
            <a:pPr marL="510750" lvl="7" indent="-285750">
              <a:buClr>
                <a:srgbClr val="0070C0"/>
              </a:buClr>
              <a:buFont typeface="Wingdings" panose="05000000000000000000" pitchFamily="2" charset="2"/>
              <a:buChar char="Ø"/>
            </a:pPr>
            <a:r>
              <a:rPr lang="en-US" sz="1800" dirty="0">
                <a:solidFill>
                  <a:srgbClr val="0070C0"/>
                </a:solidFill>
              </a:rPr>
              <a:t>E</a:t>
            </a:r>
            <a:r>
              <a:rPr lang="en-IN" sz="1800" dirty="0">
                <a:solidFill>
                  <a:srgbClr val="0070C0"/>
                </a:solidFill>
              </a:rPr>
              <a:t>electives</a:t>
            </a:r>
          </a:p>
          <a:p>
            <a:pPr lvl="2">
              <a:lnSpc>
                <a:spcPct val="100000"/>
              </a:lnSpc>
              <a:buClr>
                <a:srgbClr val="002060"/>
              </a:buClr>
              <a:buFont typeface="Wingdings" panose="05000000000000000000" pitchFamily="2" charset="2"/>
              <a:buChar char="ü"/>
            </a:pPr>
            <a:r>
              <a:rPr lang="en-IN" sz="1400" dirty="0">
                <a:solidFill>
                  <a:schemeClr val="tx1"/>
                </a:solidFill>
              </a:rPr>
              <a:t>Business Data Communication </a:t>
            </a:r>
            <a:endParaRPr lang="en-US" sz="1400" dirty="0">
              <a:solidFill>
                <a:schemeClr val="tx1"/>
              </a:solidFill>
            </a:endParaRPr>
          </a:p>
          <a:p>
            <a:pPr lvl="2">
              <a:lnSpc>
                <a:spcPct val="100000"/>
              </a:lnSpc>
              <a:buClr>
                <a:srgbClr val="002060"/>
              </a:buClr>
              <a:buFont typeface="Wingdings" panose="05000000000000000000" pitchFamily="2" charset="2"/>
              <a:buChar char="ü"/>
            </a:pPr>
            <a:r>
              <a:rPr lang="en-IN" sz="1400" dirty="0">
                <a:solidFill>
                  <a:schemeClr val="tx1"/>
                </a:solidFill>
              </a:rPr>
              <a:t>Digital Transformation </a:t>
            </a:r>
          </a:p>
          <a:p>
            <a:pPr lvl="2">
              <a:lnSpc>
                <a:spcPct val="100000"/>
              </a:lnSpc>
              <a:buClr>
                <a:srgbClr val="002060"/>
              </a:buClr>
              <a:buFont typeface="Wingdings" panose="05000000000000000000" pitchFamily="2" charset="2"/>
              <a:buChar char="ü"/>
            </a:pPr>
            <a:r>
              <a:rPr lang="en-IN" sz="1400" dirty="0">
                <a:solidFill>
                  <a:schemeClr val="tx1"/>
                </a:solidFill>
              </a:rPr>
              <a:t>Big Data Analytics 		</a:t>
            </a:r>
          </a:p>
          <a:p>
            <a:pPr lvl="2">
              <a:lnSpc>
                <a:spcPct val="100000"/>
              </a:lnSpc>
              <a:buClr>
                <a:srgbClr val="002060"/>
              </a:buClr>
              <a:buFont typeface="Wingdings" panose="05000000000000000000" pitchFamily="2" charset="2"/>
              <a:buChar char="ü"/>
            </a:pPr>
            <a:r>
              <a:rPr lang="en-US" sz="1400" dirty="0">
                <a:solidFill>
                  <a:schemeClr val="tx1"/>
                </a:solidFill>
              </a:rPr>
              <a:t>Competing in the Age of AI</a:t>
            </a:r>
          </a:p>
          <a:p>
            <a:pPr lvl="2">
              <a:lnSpc>
                <a:spcPct val="100000"/>
              </a:lnSpc>
              <a:buClr>
                <a:srgbClr val="002060"/>
              </a:buClr>
              <a:buFont typeface="Wingdings" panose="05000000000000000000" pitchFamily="2" charset="2"/>
              <a:buChar char="ü"/>
            </a:pPr>
            <a:r>
              <a:rPr lang="en-US" sz="1400" dirty="0">
                <a:solidFill>
                  <a:srgbClr val="002060"/>
                </a:solidFill>
              </a:rPr>
              <a:t>Agile Product and Project Management </a:t>
            </a:r>
          </a:p>
          <a:p>
            <a:pPr lvl="2">
              <a:lnSpc>
                <a:spcPct val="100000"/>
              </a:lnSpc>
              <a:buClr>
                <a:srgbClr val="002060"/>
              </a:buClr>
              <a:buFont typeface="Wingdings" panose="05000000000000000000" pitchFamily="2" charset="2"/>
              <a:buChar char="ü"/>
            </a:pPr>
            <a:r>
              <a:rPr lang="en-US" sz="1400" dirty="0">
                <a:solidFill>
                  <a:schemeClr val="tx1"/>
                </a:solidFill>
              </a:rPr>
              <a:t>Spreadsheet Modeling </a:t>
            </a:r>
          </a:p>
          <a:p>
            <a:pPr lvl="2">
              <a:lnSpc>
                <a:spcPct val="100000"/>
              </a:lnSpc>
              <a:buClr>
                <a:srgbClr val="002060"/>
              </a:buClr>
              <a:buFont typeface="Wingdings" panose="05000000000000000000" pitchFamily="2" charset="2"/>
              <a:buChar char="ü"/>
            </a:pPr>
            <a:r>
              <a:rPr lang="en-IN" sz="1400" dirty="0">
                <a:solidFill>
                  <a:schemeClr val="tx1"/>
                </a:solidFill>
              </a:rPr>
              <a:t>Enterprise IT Risk Management</a:t>
            </a:r>
          </a:p>
          <a:p>
            <a:pPr lvl="2">
              <a:lnSpc>
                <a:spcPct val="100000"/>
              </a:lnSpc>
              <a:buClr>
                <a:srgbClr val="002060"/>
              </a:buClr>
              <a:buFont typeface="Wingdings" panose="05000000000000000000" pitchFamily="2" charset="2"/>
              <a:buChar char="ü"/>
            </a:pPr>
            <a:r>
              <a:rPr lang="en-IN" sz="1400" dirty="0">
                <a:solidFill>
                  <a:schemeClr val="tx1"/>
                </a:solidFill>
              </a:rPr>
              <a:t>E-commerce </a:t>
            </a:r>
          </a:p>
        </p:txBody>
      </p:sp>
      <p:sp>
        <p:nvSpPr>
          <p:cNvPr id="2" name="Footer Placeholder 1">
            <a:extLst>
              <a:ext uri="{FF2B5EF4-FFF2-40B4-BE49-F238E27FC236}">
                <a16:creationId xmlns:a16="http://schemas.microsoft.com/office/drawing/2014/main" id="{AD62BC74-C8EC-480E-A5E5-50F1405461BB}"/>
              </a:ext>
            </a:extLst>
          </p:cNvPr>
          <p:cNvSpPr>
            <a:spLocks noGrp="1"/>
          </p:cNvSpPr>
          <p:nvPr>
            <p:ph type="ftr" sz="quarter" idx="11"/>
          </p:nvPr>
        </p:nvSpPr>
        <p:spPr/>
        <p:txBody>
          <a:bodyPr/>
          <a:lstStyle/>
          <a:p>
            <a:r>
              <a:rPr lang="en-US"/>
              <a:t>Restricted Access - This presentation is only for IIM Lucknow Students</a:t>
            </a:r>
            <a:endParaRPr lang="en-US" dirty="0"/>
          </a:p>
        </p:txBody>
      </p:sp>
    </p:spTree>
    <p:extLst>
      <p:ext uri="{BB962C8B-B14F-4D97-AF65-F5344CB8AC3E}">
        <p14:creationId xmlns:p14="http://schemas.microsoft.com/office/powerpoint/2010/main" val="325242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p:cNvSpPr txBox="1">
            <a:spLocks/>
          </p:cNvSpPr>
          <p:nvPr/>
        </p:nvSpPr>
        <p:spPr>
          <a:xfrm>
            <a:off x="209551" y="285750"/>
            <a:ext cx="8658224" cy="4382121"/>
          </a:xfrm>
          <a:prstGeom prst="rect">
            <a:avLst/>
          </a:prstGeom>
        </p:spPr>
        <p:txBody>
          <a:bodyPr>
            <a:normAutofit lnSpcReduction="10000"/>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US" sz="2400" b="1" dirty="0">
                <a:solidFill>
                  <a:srgbClr val="0070C0"/>
                </a:solidFill>
              </a:rPr>
              <a:t>IT – IS – MIS </a:t>
            </a:r>
          </a:p>
          <a:p>
            <a:pPr marL="450000" lvl="8" indent="0" algn="ctr">
              <a:buNone/>
            </a:pPr>
            <a:endParaRPr lang="en-US" sz="2000" b="1" dirty="0">
              <a:solidFill>
                <a:srgbClr val="0070C0"/>
              </a:solidFill>
            </a:endParaRPr>
          </a:p>
          <a:p>
            <a:pPr marL="510750" lvl="7" indent="-285750">
              <a:buClr>
                <a:srgbClr val="0070C0"/>
              </a:buClr>
              <a:buFont typeface="Wingdings" panose="05000000000000000000" pitchFamily="2" charset="2"/>
              <a:buChar char="Ø"/>
            </a:pPr>
            <a:r>
              <a:rPr lang="en-US" sz="1800" dirty="0">
                <a:solidFill>
                  <a:srgbClr val="0070C0"/>
                </a:solidFill>
              </a:rPr>
              <a:t>Information Technology - What comes to mind? 	</a:t>
            </a:r>
          </a:p>
          <a:p>
            <a:pPr lvl="2">
              <a:lnSpc>
                <a:spcPct val="110000"/>
              </a:lnSpc>
              <a:buClr>
                <a:schemeClr val="tx1"/>
              </a:buClr>
              <a:buFont typeface="Wingdings" panose="05000000000000000000" pitchFamily="2" charset="2"/>
              <a:buChar char="ü"/>
            </a:pPr>
            <a:r>
              <a:rPr lang="en-US" sz="1300" dirty="0">
                <a:solidFill>
                  <a:schemeClr val="tx1"/>
                </a:solidFill>
              </a:rPr>
              <a:t>INFRA – </a:t>
            </a:r>
            <a:r>
              <a:rPr lang="en-US" sz="1300" b="1" dirty="0">
                <a:solidFill>
                  <a:schemeClr val="tx1"/>
                </a:solidFill>
              </a:rPr>
              <a:t>Hardware</a:t>
            </a:r>
            <a:r>
              <a:rPr lang="en-US" sz="1300" dirty="0">
                <a:solidFill>
                  <a:schemeClr val="tx1"/>
                </a:solidFill>
              </a:rPr>
              <a:t> (storage/processing power)</a:t>
            </a:r>
          </a:p>
          <a:p>
            <a:pPr lvl="2">
              <a:lnSpc>
                <a:spcPct val="110000"/>
              </a:lnSpc>
              <a:buClr>
                <a:schemeClr val="tx1"/>
              </a:buClr>
              <a:buFont typeface="Wingdings" panose="05000000000000000000" pitchFamily="2" charset="2"/>
              <a:buChar char="ü"/>
            </a:pPr>
            <a:r>
              <a:rPr lang="en-US" sz="1300" b="1" dirty="0">
                <a:solidFill>
                  <a:schemeClr val="tx1"/>
                </a:solidFill>
              </a:rPr>
              <a:t>Software</a:t>
            </a:r>
            <a:r>
              <a:rPr lang="en-US" sz="1300" dirty="0">
                <a:solidFill>
                  <a:schemeClr val="tx1"/>
                </a:solidFill>
              </a:rPr>
              <a:t> (logical/programming power)</a:t>
            </a:r>
          </a:p>
          <a:p>
            <a:pPr lvl="2">
              <a:lnSpc>
                <a:spcPct val="110000"/>
              </a:lnSpc>
              <a:buClr>
                <a:schemeClr val="tx1"/>
              </a:buClr>
              <a:buFont typeface="Wingdings" panose="05000000000000000000" pitchFamily="2" charset="2"/>
              <a:buChar char="ü"/>
            </a:pPr>
            <a:r>
              <a:rPr lang="en-IN" sz="1300" dirty="0">
                <a:solidFill>
                  <a:schemeClr val="tx1"/>
                </a:solidFill>
              </a:rPr>
              <a:t>Peripheral equipment’s that inputs/outputs </a:t>
            </a:r>
            <a:r>
              <a:rPr lang="en-IN" sz="1300" b="1" dirty="0">
                <a:solidFill>
                  <a:schemeClr val="tx1"/>
                </a:solidFill>
              </a:rPr>
              <a:t>Data</a:t>
            </a:r>
            <a:r>
              <a:rPr lang="en-IN" sz="1300" dirty="0">
                <a:solidFill>
                  <a:schemeClr val="tx1"/>
                </a:solidFill>
              </a:rPr>
              <a:t> (Can communicate i.e. including IoT devices)</a:t>
            </a:r>
          </a:p>
          <a:p>
            <a:pPr marL="411480" lvl="2" indent="0">
              <a:lnSpc>
                <a:spcPct val="110000"/>
              </a:lnSpc>
              <a:buNone/>
            </a:pPr>
            <a:endParaRPr lang="en-IN" sz="850" dirty="0">
              <a:solidFill>
                <a:schemeClr val="tx1"/>
              </a:solidFill>
            </a:endParaRPr>
          </a:p>
          <a:p>
            <a:pPr marL="510750" lvl="7" indent="-285750">
              <a:buClr>
                <a:srgbClr val="0070C0"/>
              </a:buClr>
              <a:buFont typeface="Wingdings" panose="05000000000000000000" pitchFamily="2" charset="2"/>
              <a:buChar char="Ø"/>
            </a:pPr>
            <a:r>
              <a:rPr lang="en-US" sz="1800" dirty="0">
                <a:solidFill>
                  <a:srgbClr val="0070C0"/>
                </a:solidFill>
              </a:rPr>
              <a:t>Information Systems</a:t>
            </a:r>
          </a:p>
          <a:p>
            <a:pPr marL="510750" lvl="7" indent="-285750">
              <a:buClr>
                <a:srgbClr val="0070C0"/>
              </a:buClr>
              <a:buFont typeface="Wingdings" panose="05000000000000000000" pitchFamily="2" charset="2"/>
              <a:buChar char="Ø"/>
            </a:pPr>
            <a:endParaRPr lang="en-US" sz="1800" dirty="0">
              <a:solidFill>
                <a:srgbClr val="0070C0"/>
              </a:solidFill>
            </a:endParaRPr>
          </a:p>
          <a:p>
            <a:pPr marL="510750" lvl="7" indent="-285750">
              <a:buClr>
                <a:srgbClr val="0070C0"/>
              </a:buClr>
              <a:buFont typeface="Wingdings" panose="05000000000000000000" pitchFamily="2" charset="2"/>
              <a:buChar char="Ø"/>
            </a:pPr>
            <a:endParaRPr lang="en-US" sz="1800" dirty="0">
              <a:solidFill>
                <a:srgbClr val="0070C0"/>
              </a:solidFill>
            </a:endParaRPr>
          </a:p>
          <a:p>
            <a:pPr marL="510750" lvl="7" indent="-285750">
              <a:buClr>
                <a:srgbClr val="0070C0"/>
              </a:buClr>
              <a:buFont typeface="Wingdings" panose="05000000000000000000" pitchFamily="2" charset="2"/>
              <a:buChar char="Ø"/>
            </a:pPr>
            <a:endParaRPr lang="en-US" sz="1800" dirty="0">
              <a:solidFill>
                <a:srgbClr val="0070C0"/>
              </a:solidFill>
            </a:endParaRPr>
          </a:p>
          <a:p>
            <a:pPr marL="510750" lvl="7" indent="-285750">
              <a:buClr>
                <a:srgbClr val="0070C0"/>
              </a:buClr>
              <a:buFont typeface="Wingdings" panose="05000000000000000000" pitchFamily="2" charset="2"/>
              <a:buChar char="Ø"/>
            </a:pPr>
            <a:r>
              <a:rPr lang="en-US" sz="1800" dirty="0">
                <a:solidFill>
                  <a:srgbClr val="0070C0"/>
                </a:solidFill>
              </a:rPr>
              <a:t>Management Information systems – Key elements</a:t>
            </a:r>
          </a:p>
          <a:p>
            <a:pPr lvl="2">
              <a:lnSpc>
                <a:spcPct val="110000"/>
              </a:lnSpc>
              <a:buClr>
                <a:schemeClr val="tx1"/>
              </a:buClr>
              <a:buFont typeface="Wingdings" panose="05000000000000000000" pitchFamily="2" charset="2"/>
              <a:buChar char="ü"/>
            </a:pPr>
            <a:r>
              <a:rPr lang="en-US" sz="1300" dirty="0">
                <a:solidFill>
                  <a:schemeClr val="tx1"/>
                </a:solidFill>
              </a:rPr>
              <a:t>Management and Use</a:t>
            </a:r>
          </a:p>
          <a:p>
            <a:pPr lvl="2">
              <a:lnSpc>
                <a:spcPct val="110000"/>
              </a:lnSpc>
              <a:buClr>
                <a:schemeClr val="tx1"/>
              </a:buClr>
              <a:buFont typeface="Wingdings" panose="05000000000000000000" pitchFamily="2" charset="2"/>
              <a:buChar char="ü"/>
            </a:pPr>
            <a:r>
              <a:rPr lang="en-IN" sz="1300" dirty="0">
                <a:solidFill>
                  <a:schemeClr val="tx1"/>
                </a:solidFill>
              </a:rPr>
              <a:t>Information Systems</a:t>
            </a:r>
          </a:p>
          <a:p>
            <a:pPr lvl="2">
              <a:lnSpc>
                <a:spcPct val="110000"/>
              </a:lnSpc>
              <a:buClr>
                <a:schemeClr val="tx1"/>
              </a:buClr>
              <a:buFont typeface="Wingdings" panose="05000000000000000000" pitchFamily="2" charset="2"/>
              <a:buChar char="ü"/>
            </a:pPr>
            <a:r>
              <a:rPr lang="en-IN" sz="1300" dirty="0">
                <a:solidFill>
                  <a:schemeClr val="tx1"/>
                </a:solidFill>
              </a:rPr>
              <a:t>Strategies</a:t>
            </a:r>
            <a:endParaRPr lang="en-US" sz="1300" dirty="0">
              <a:solidFill>
                <a:schemeClr val="tx1"/>
              </a:solidFill>
            </a:endParaRPr>
          </a:p>
        </p:txBody>
      </p:sp>
      <p:pic>
        <p:nvPicPr>
          <p:cNvPr id="2" name="Picture 1">
            <a:extLst>
              <a:ext uri="{FF2B5EF4-FFF2-40B4-BE49-F238E27FC236}">
                <a16:creationId xmlns:a16="http://schemas.microsoft.com/office/drawing/2014/main" id="{CE464AC7-14B9-4A87-AFA8-32795D5B8783}"/>
              </a:ext>
            </a:extLst>
          </p:cNvPr>
          <p:cNvPicPr>
            <a:picLocks noChangeAspect="1"/>
          </p:cNvPicPr>
          <p:nvPr/>
        </p:nvPicPr>
        <p:blipFill>
          <a:blip r:embed="rId3"/>
          <a:stretch>
            <a:fillRect/>
          </a:stretch>
        </p:blipFill>
        <p:spPr>
          <a:xfrm>
            <a:off x="2517244" y="2476810"/>
            <a:ext cx="3235739" cy="785759"/>
          </a:xfrm>
          <a:prstGeom prst="rect">
            <a:avLst/>
          </a:prstGeom>
        </p:spPr>
      </p:pic>
      <p:sp>
        <p:nvSpPr>
          <p:cNvPr id="4" name="Footer Placeholder 3">
            <a:extLst>
              <a:ext uri="{FF2B5EF4-FFF2-40B4-BE49-F238E27FC236}">
                <a16:creationId xmlns:a16="http://schemas.microsoft.com/office/drawing/2014/main" id="{394A38B9-E8FE-4D4F-AEE6-476841E7DB5E}"/>
              </a:ext>
            </a:extLst>
          </p:cNvPr>
          <p:cNvSpPr>
            <a:spLocks noGrp="1"/>
          </p:cNvSpPr>
          <p:nvPr>
            <p:ph type="ftr" sz="quarter" idx="11"/>
          </p:nvPr>
        </p:nvSpPr>
        <p:spPr/>
        <p:txBody>
          <a:bodyPr/>
          <a:lstStyle/>
          <a:p>
            <a:r>
              <a:rPr lang="en-US"/>
              <a:t>Restricted Access - This presentation is only for IIM Lucknow Students</a:t>
            </a:r>
            <a:endParaRPr lang="en-US" dirty="0"/>
          </a:p>
        </p:txBody>
      </p:sp>
    </p:spTree>
    <p:extLst>
      <p:ext uri="{BB962C8B-B14F-4D97-AF65-F5344CB8AC3E}">
        <p14:creationId xmlns:p14="http://schemas.microsoft.com/office/powerpoint/2010/main" val="2978532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p:cNvSpPr txBox="1">
            <a:spLocks/>
          </p:cNvSpPr>
          <p:nvPr/>
        </p:nvSpPr>
        <p:spPr>
          <a:xfrm>
            <a:off x="209551" y="285750"/>
            <a:ext cx="8658224" cy="4457699"/>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US" sz="2400" b="1" dirty="0">
                <a:solidFill>
                  <a:srgbClr val="0070C0"/>
                </a:solidFill>
              </a:rPr>
              <a:t>Course Outline</a:t>
            </a:r>
          </a:p>
          <a:p>
            <a:pPr marL="225000" lvl="7" indent="0" algn="ctr">
              <a:buNone/>
            </a:pPr>
            <a:r>
              <a:rPr lang="en-US" i="1" dirty="0">
                <a:solidFill>
                  <a:srgbClr val="FF0000"/>
                </a:solidFill>
              </a:rPr>
              <a:t>“The worksheet is the canvas for the business analyst” that enables us to model most of the situations virtually</a:t>
            </a:r>
          </a:p>
          <a:p>
            <a:pPr marL="450000" lvl="8" indent="0">
              <a:buNone/>
            </a:pPr>
            <a:endParaRPr lang="en-US" dirty="0"/>
          </a:p>
          <a:p>
            <a:pPr marL="510750" lvl="7" indent="-285750">
              <a:buClr>
                <a:srgbClr val="0070C0"/>
              </a:buClr>
              <a:buFont typeface="Wingdings" panose="05000000000000000000" pitchFamily="2" charset="2"/>
              <a:buChar char="Ø"/>
            </a:pPr>
            <a:r>
              <a:rPr lang="en-US" sz="1800" dirty="0">
                <a:solidFill>
                  <a:srgbClr val="0070C0"/>
                </a:solidFill>
              </a:rPr>
              <a:t>Classes 1 – 5 </a:t>
            </a:r>
          </a:p>
          <a:p>
            <a:pPr lvl="2" algn="just">
              <a:lnSpc>
                <a:spcPct val="110000"/>
              </a:lnSpc>
              <a:buClr>
                <a:schemeClr val="tx1"/>
              </a:buClr>
              <a:buFont typeface="Wingdings" panose="05000000000000000000" pitchFamily="2" charset="2"/>
              <a:buChar char="ü"/>
            </a:pPr>
            <a:r>
              <a:rPr lang="en-US" sz="1400" b="1" dirty="0">
                <a:solidFill>
                  <a:schemeClr val="tx1"/>
                </a:solidFill>
              </a:rPr>
              <a:t>Analytics Revolution </a:t>
            </a:r>
            <a:r>
              <a:rPr lang="en-US" sz="1400" dirty="0">
                <a:solidFill>
                  <a:schemeClr val="tx1"/>
                </a:solidFill>
              </a:rPr>
              <a:t>(Ch. 28) </a:t>
            </a:r>
          </a:p>
          <a:p>
            <a:pPr lvl="2" algn="just">
              <a:lnSpc>
                <a:spcPct val="110000"/>
              </a:lnSpc>
              <a:buClr>
                <a:schemeClr val="tx1"/>
              </a:buClr>
              <a:buFont typeface="Wingdings" panose="05000000000000000000" pitchFamily="2" charset="2"/>
              <a:buChar char="ü"/>
            </a:pPr>
            <a:r>
              <a:rPr lang="en-US" sz="1400" b="1" dirty="0">
                <a:solidFill>
                  <a:schemeClr val="tx1"/>
                </a:solidFill>
              </a:rPr>
              <a:t>Spreadsheet Modeling</a:t>
            </a:r>
            <a:r>
              <a:rPr lang="en-US" sz="1400" dirty="0">
                <a:solidFill>
                  <a:schemeClr val="tx1"/>
                </a:solidFill>
              </a:rPr>
              <a:t> - Create Range Names - Paste Special - Sorting in Excel - Importing data - Validating data (Ch. 1, 2, 14, 25, 39, 42)</a:t>
            </a:r>
          </a:p>
          <a:p>
            <a:pPr lvl="2" algn="just">
              <a:lnSpc>
                <a:spcPct val="110000"/>
              </a:lnSpc>
              <a:buClr>
                <a:schemeClr val="tx1"/>
              </a:buClr>
              <a:buFont typeface="Wingdings" panose="05000000000000000000" pitchFamily="2" charset="2"/>
              <a:buChar char="ü"/>
            </a:pPr>
            <a:r>
              <a:rPr lang="en-IN" sz="1400" b="1" dirty="0">
                <a:solidFill>
                  <a:schemeClr val="tx1"/>
                </a:solidFill>
              </a:rPr>
              <a:t>Data Types of Spreadsheets</a:t>
            </a:r>
            <a:r>
              <a:rPr lang="en-US" sz="1400" dirty="0">
                <a:solidFill>
                  <a:schemeClr val="tx1"/>
                </a:solidFill>
              </a:rPr>
              <a:t> - </a:t>
            </a:r>
            <a:r>
              <a:rPr lang="en-IN" sz="1400" dirty="0">
                <a:solidFill>
                  <a:schemeClr val="tx1"/>
                </a:solidFill>
              </a:rPr>
              <a:t>Number, Text, Date/Time - Basic Mathematical functions (Ch. 6, 7, 13, 50, 51). </a:t>
            </a:r>
          </a:p>
          <a:p>
            <a:pPr lvl="2" algn="just">
              <a:lnSpc>
                <a:spcPct val="110000"/>
              </a:lnSpc>
              <a:buClr>
                <a:schemeClr val="tx1"/>
              </a:buClr>
              <a:buFont typeface="Wingdings" panose="05000000000000000000" pitchFamily="2" charset="2"/>
              <a:buChar char="ü"/>
            </a:pPr>
            <a:r>
              <a:rPr lang="en-IN" sz="1400" b="1" dirty="0">
                <a:solidFill>
                  <a:schemeClr val="tx1"/>
                </a:solidFill>
              </a:rPr>
              <a:t>Data Referencing </a:t>
            </a:r>
            <a:r>
              <a:rPr lang="en-IN" sz="1400" dirty="0">
                <a:solidFill>
                  <a:schemeClr val="tx1"/>
                </a:solidFill>
              </a:rPr>
              <a:t>- </a:t>
            </a:r>
            <a:r>
              <a:rPr lang="en-US" sz="1400" dirty="0">
                <a:solidFill>
                  <a:schemeClr val="tx1"/>
                </a:solidFill>
              </a:rPr>
              <a:t>Absolute, Relative, </a:t>
            </a:r>
            <a:r>
              <a:rPr lang="en-US" sz="1400" dirty="0" err="1">
                <a:solidFill>
                  <a:schemeClr val="tx1"/>
                </a:solidFill>
              </a:rPr>
              <a:t>vlookup</a:t>
            </a:r>
            <a:r>
              <a:rPr lang="en-US" sz="1400" dirty="0">
                <a:solidFill>
                  <a:schemeClr val="tx1"/>
                </a:solidFill>
              </a:rPr>
              <a:t>, Index, Match, Offset, Indirect (Ch. 3, 4, 5, 11, 22, 23)</a:t>
            </a:r>
          </a:p>
          <a:p>
            <a:pPr marL="510750" lvl="7" indent="-285750">
              <a:buClr>
                <a:srgbClr val="0070C0"/>
              </a:buClr>
              <a:buFont typeface="Wingdings" panose="05000000000000000000" pitchFamily="2" charset="2"/>
              <a:buChar char="Ø"/>
            </a:pPr>
            <a:endParaRPr lang="en-US" sz="1800" dirty="0">
              <a:solidFill>
                <a:srgbClr val="0070C0"/>
              </a:solidFill>
            </a:endParaRPr>
          </a:p>
          <a:p>
            <a:pPr marL="510750" lvl="7" indent="-285750">
              <a:buClr>
                <a:srgbClr val="0070C0"/>
              </a:buClr>
              <a:buFont typeface="Wingdings" panose="05000000000000000000" pitchFamily="2" charset="2"/>
              <a:buChar char="Ø"/>
            </a:pPr>
            <a:r>
              <a:rPr lang="en-US" sz="1800" dirty="0">
                <a:solidFill>
                  <a:srgbClr val="0070C0"/>
                </a:solidFill>
              </a:rPr>
              <a:t>Classes 6 – 10 </a:t>
            </a:r>
          </a:p>
          <a:p>
            <a:pPr lvl="2" algn="just">
              <a:lnSpc>
                <a:spcPct val="110000"/>
              </a:lnSpc>
              <a:buClr>
                <a:schemeClr val="tx1"/>
              </a:buClr>
              <a:buFont typeface="Wingdings" panose="05000000000000000000" pitchFamily="2" charset="2"/>
              <a:buChar char="ü"/>
            </a:pPr>
            <a:r>
              <a:rPr lang="en-US" sz="1400" b="1" dirty="0">
                <a:solidFill>
                  <a:schemeClr val="tx1"/>
                </a:solidFill>
              </a:rPr>
              <a:t>Data Analysis - </a:t>
            </a:r>
            <a:r>
              <a:rPr lang="en-US" sz="1400" dirty="0">
                <a:solidFill>
                  <a:schemeClr val="tx1"/>
                </a:solidFill>
              </a:rPr>
              <a:t>If, And, Or, Not, </a:t>
            </a:r>
            <a:r>
              <a:rPr lang="en-US" sz="1400" dirty="0" err="1">
                <a:solidFill>
                  <a:schemeClr val="tx1"/>
                </a:solidFill>
              </a:rPr>
              <a:t>Countif</a:t>
            </a:r>
            <a:r>
              <a:rPr lang="en-US" sz="1400" dirty="0">
                <a:solidFill>
                  <a:schemeClr val="tx1"/>
                </a:solidFill>
              </a:rPr>
              <a:t>, </a:t>
            </a:r>
            <a:r>
              <a:rPr lang="en-US" sz="1400" dirty="0" err="1">
                <a:solidFill>
                  <a:schemeClr val="tx1"/>
                </a:solidFill>
              </a:rPr>
              <a:t>Countifs</a:t>
            </a:r>
            <a:r>
              <a:rPr lang="en-US" sz="1400" dirty="0">
                <a:solidFill>
                  <a:schemeClr val="tx1"/>
                </a:solidFill>
              </a:rPr>
              <a:t>, </a:t>
            </a:r>
            <a:r>
              <a:rPr lang="en-US" sz="1400" dirty="0" err="1">
                <a:solidFill>
                  <a:schemeClr val="tx1"/>
                </a:solidFill>
              </a:rPr>
              <a:t>Sumif</a:t>
            </a:r>
            <a:r>
              <a:rPr lang="en-US" sz="1400" dirty="0">
                <a:solidFill>
                  <a:schemeClr val="tx1"/>
                </a:solidFill>
              </a:rPr>
              <a:t>, </a:t>
            </a:r>
            <a:r>
              <a:rPr lang="en-US" sz="1400" dirty="0" err="1">
                <a:solidFill>
                  <a:schemeClr val="tx1"/>
                </a:solidFill>
              </a:rPr>
              <a:t>Sumifs</a:t>
            </a:r>
            <a:r>
              <a:rPr lang="en-US" sz="1400" dirty="0">
                <a:solidFill>
                  <a:schemeClr val="tx1"/>
                </a:solidFill>
              </a:rPr>
              <a:t>, </a:t>
            </a:r>
            <a:r>
              <a:rPr lang="en-US" sz="1400" dirty="0" err="1">
                <a:solidFill>
                  <a:schemeClr val="tx1"/>
                </a:solidFill>
              </a:rPr>
              <a:t>Averageif</a:t>
            </a:r>
            <a:r>
              <a:rPr lang="en-US" sz="1400" dirty="0">
                <a:solidFill>
                  <a:schemeClr val="tx1"/>
                </a:solidFill>
              </a:rPr>
              <a:t>, </a:t>
            </a:r>
            <a:r>
              <a:rPr lang="en-US" sz="1400" dirty="0" err="1">
                <a:solidFill>
                  <a:schemeClr val="tx1"/>
                </a:solidFill>
              </a:rPr>
              <a:t>Averageifs</a:t>
            </a:r>
            <a:r>
              <a:rPr lang="en-US" sz="1400" dirty="0">
                <a:solidFill>
                  <a:schemeClr val="tx1"/>
                </a:solidFill>
              </a:rPr>
              <a:t> (Ch. 12, 20, 21) </a:t>
            </a:r>
          </a:p>
          <a:p>
            <a:pPr lvl="2" algn="just">
              <a:lnSpc>
                <a:spcPct val="120000"/>
              </a:lnSpc>
              <a:buClr>
                <a:schemeClr val="tx1"/>
              </a:buClr>
              <a:buFont typeface="Wingdings" panose="05000000000000000000" pitchFamily="2" charset="2"/>
              <a:buChar char="ü"/>
            </a:pPr>
            <a:r>
              <a:rPr lang="en-IN" sz="1400" b="1" dirty="0">
                <a:solidFill>
                  <a:schemeClr val="tx1"/>
                </a:solidFill>
              </a:rPr>
              <a:t>What if Analysis - </a:t>
            </a:r>
            <a:r>
              <a:rPr lang="en-IN" sz="1400" dirty="0">
                <a:solidFill>
                  <a:schemeClr val="tx1"/>
                </a:solidFill>
              </a:rPr>
              <a:t>Goal Seek, Data Table, Scenario Manage (Ch. 17, 18, 19)</a:t>
            </a:r>
          </a:p>
          <a:p>
            <a:pPr lvl="2" algn="just">
              <a:lnSpc>
                <a:spcPct val="130000"/>
              </a:lnSpc>
              <a:buClr>
                <a:schemeClr val="tx1"/>
              </a:buClr>
              <a:buFont typeface="Wingdings" panose="05000000000000000000" pitchFamily="2" charset="2"/>
              <a:buChar char="ü"/>
            </a:pPr>
            <a:r>
              <a:rPr lang="en-IN" sz="1400" b="1" dirty="0">
                <a:solidFill>
                  <a:schemeClr val="tx1"/>
                </a:solidFill>
              </a:rPr>
              <a:t>Reporting and Data Visualization </a:t>
            </a:r>
            <a:r>
              <a:rPr lang="en-IN" sz="1400" dirty="0">
                <a:solidFill>
                  <a:schemeClr val="tx1"/>
                </a:solidFill>
              </a:rPr>
              <a:t>- </a:t>
            </a:r>
            <a:r>
              <a:rPr lang="en-US" sz="1400" dirty="0">
                <a:solidFill>
                  <a:schemeClr val="tx1"/>
                </a:solidFill>
              </a:rPr>
              <a:t>Pivot Table, Pivot Charts, Table, Charts (Ch. 24, 26, 45, 54)</a:t>
            </a:r>
            <a:endParaRPr lang="en-US" sz="1400" dirty="0"/>
          </a:p>
        </p:txBody>
      </p:sp>
      <p:sp>
        <p:nvSpPr>
          <p:cNvPr id="6" name="Footer Placeholder 5">
            <a:extLst>
              <a:ext uri="{FF2B5EF4-FFF2-40B4-BE49-F238E27FC236}">
                <a16:creationId xmlns:a16="http://schemas.microsoft.com/office/drawing/2014/main" id="{A45EC8E0-BBC4-4596-8620-A4637721B84E}"/>
              </a:ext>
            </a:extLst>
          </p:cNvPr>
          <p:cNvSpPr>
            <a:spLocks noGrp="1"/>
          </p:cNvSpPr>
          <p:nvPr>
            <p:ph type="ftr" sz="quarter" idx="11"/>
          </p:nvPr>
        </p:nvSpPr>
        <p:spPr/>
        <p:txBody>
          <a:bodyPr/>
          <a:lstStyle/>
          <a:p>
            <a:r>
              <a:rPr lang="en-US"/>
              <a:t>Restricted Access - This presentation is only for IIM Lucknow Students</a:t>
            </a:r>
            <a:endParaRPr lang="en-US" dirty="0"/>
          </a:p>
        </p:txBody>
      </p:sp>
    </p:spTree>
    <p:extLst>
      <p:ext uri="{BB962C8B-B14F-4D97-AF65-F5344CB8AC3E}">
        <p14:creationId xmlns:p14="http://schemas.microsoft.com/office/powerpoint/2010/main" val="3686802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p:cNvSpPr txBox="1">
            <a:spLocks/>
          </p:cNvSpPr>
          <p:nvPr/>
        </p:nvSpPr>
        <p:spPr>
          <a:xfrm>
            <a:off x="209551" y="285750"/>
            <a:ext cx="8658224" cy="4457699"/>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US" sz="2400" b="1" dirty="0">
                <a:solidFill>
                  <a:srgbClr val="0070C0"/>
                </a:solidFill>
              </a:rPr>
              <a:t>Books and Links</a:t>
            </a:r>
          </a:p>
          <a:p>
            <a:pPr marL="450000" lvl="8" indent="0">
              <a:buNone/>
            </a:pPr>
            <a:endParaRPr lang="en-US" dirty="0"/>
          </a:p>
        </p:txBody>
      </p:sp>
      <p:sp>
        <p:nvSpPr>
          <p:cNvPr id="6" name="Footer Placeholder 5">
            <a:extLst>
              <a:ext uri="{FF2B5EF4-FFF2-40B4-BE49-F238E27FC236}">
                <a16:creationId xmlns:a16="http://schemas.microsoft.com/office/drawing/2014/main" id="{A45EC8E0-BBC4-4596-8620-A4637721B84E}"/>
              </a:ext>
            </a:extLst>
          </p:cNvPr>
          <p:cNvSpPr>
            <a:spLocks noGrp="1"/>
          </p:cNvSpPr>
          <p:nvPr>
            <p:ph type="ftr" sz="quarter" idx="11"/>
          </p:nvPr>
        </p:nvSpPr>
        <p:spPr/>
        <p:txBody>
          <a:bodyPr/>
          <a:lstStyle/>
          <a:p>
            <a:r>
              <a:rPr lang="en-US"/>
              <a:t>Restricted Access - This presentation is only for IIM Lucknow Students</a:t>
            </a:r>
            <a:endParaRPr lang="en-US" dirty="0"/>
          </a:p>
        </p:txBody>
      </p:sp>
      <p:pic>
        <p:nvPicPr>
          <p:cNvPr id="4" name="Picture 2" descr="Buy Microsoft Excel 2019 Data Analysis and Business Modeling (Business  Skills) Book Online at Low Prices in India | Microsoft Excel 2019 Data  Analysis and Business Modeling (Business Skills) Reviews &amp; Ratings -  Amazon.in">
            <a:extLst>
              <a:ext uri="{FF2B5EF4-FFF2-40B4-BE49-F238E27FC236}">
                <a16:creationId xmlns:a16="http://schemas.microsoft.com/office/drawing/2014/main" id="{E05FF884-3C26-4C6A-8353-1213EF4818E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461" y="801171"/>
            <a:ext cx="2278841" cy="279358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AB7BCDB-FBA7-44F2-859B-671F5FB622DB}"/>
              </a:ext>
            </a:extLst>
          </p:cNvPr>
          <p:cNvPicPr>
            <a:picLocks noChangeAspect="1"/>
          </p:cNvPicPr>
          <p:nvPr/>
        </p:nvPicPr>
        <p:blipFill rotWithShape="1">
          <a:blip r:embed="rId4"/>
          <a:srcRect t="11547" b="5653"/>
          <a:stretch/>
        </p:blipFill>
        <p:spPr>
          <a:xfrm>
            <a:off x="5626230" y="734297"/>
            <a:ext cx="2567057" cy="2796749"/>
          </a:xfrm>
          <a:prstGeom prst="rect">
            <a:avLst/>
          </a:prstGeom>
        </p:spPr>
      </p:pic>
      <p:sp>
        <p:nvSpPr>
          <p:cNvPr id="2" name="Rectangle 1">
            <a:extLst>
              <a:ext uri="{FF2B5EF4-FFF2-40B4-BE49-F238E27FC236}">
                <a16:creationId xmlns:a16="http://schemas.microsoft.com/office/drawing/2014/main" id="{9FC87759-27A6-4A09-A8EB-FDC0B85598B6}"/>
              </a:ext>
            </a:extLst>
          </p:cNvPr>
          <p:cNvSpPr/>
          <p:nvPr/>
        </p:nvSpPr>
        <p:spPr>
          <a:xfrm>
            <a:off x="276225" y="3586822"/>
            <a:ext cx="2971801" cy="430887"/>
          </a:xfrm>
          <a:prstGeom prst="rect">
            <a:avLst/>
          </a:prstGeom>
        </p:spPr>
        <p:txBody>
          <a:bodyPr wrap="square">
            <a:spAutoFit/>
          </a:bodyPr>
          <a:lstStyle/>
          <a:p>
            <a:pPr algn="ctr"/>
            <a:r>
              <a:rPr lang="en-US" sz="1100" dirty="0"/>
              <a:t>Wayne L Winston Microsoft Excel 2019 Data Analysis and business Modeling, Microsoft Press</a:t>
            </a:r>
          </a:p>
        </p:txBody>
      </p:sp>
      <p:sp>
        <p:nvSpPr>
          <p:cNvPr id="3" name="Rectangle 2">
            <a:extLst>
              <a:ext uri="{FF2B5EF4-FFF2-40B4-BE49-F238E27FC236}">
                <a16:creationId xmlns:a16="http://schemas.microsoft.com/office/drawing/2014/main" id="{BE696260-21A9-48DF-A895-BF4FDF650F83}"/>
              </a:ext>
            </a:extLst>
          </p:cNvPr>
          <p:cNvSpPr/>
          <p:nvPr/>
        </p:nvSpPr>
        <p:spPr>
          <a:xfrm>
            <a:off x="3738520" y="3647681"/>
            <a:ext cx="5297668" cy="646331"/>
          </a:xfrm>
          <a:prstGeom prst="rect">
            <a:avLst/>
          </a:prstGeom>
        </p:spPr>
        <p:txBody>
          <a:bodyPr wrap="square">
            <a:spAutoFit/>
          </a:bodyPr>
          <a:lstStyle/>
          <a:p>
            <a:pPr algn="ctr"/>
            <a:r>
              <a:rPr lang="en-US" sz="1200" dirty="0">
                <a:solidFill>
                  <a:srgbClr val="002060"/>
                </a:solidFill>
              </a:rPr>
              <a:t>New Perspectives Microsoft® Office 365® &amp; Excel® 2019 Comprehensive,  Patrick Carey, Katherine T. </a:t>
            </a:r>
            <a:r>
              <a:rPr lang="en-US" sz="1200" dirty="0" err="1">
                <a:solidFill>
                  <a:srgbClr val="002060"/>
                </a:solidFill>
              </a:rPr>
              <a:t>Pinard</a:t>
            </a:r>
            <a:r>
              <a:rPr lang="en-US" sz="1200" dirty="0">
                <a:solidFill>
                  <a:srgbClr val="002060"/>
                </a:solidFill>
              </a:rPr>
              <a:t>, Ann Shaffer, Mark </a:t>
            </a:r>
            <a:r>
              <a:rPr lang="en-US" sz="1200" dirty="0" err="1">
                <a:solidFill>
                  <a:srgbClr val="002060"/>
                </a:solidFill>
              </a:rPr>
              <a:t>Shellman</a:t>
            </a:r>
            <a:r>
              <a:rPr lang="en-US" sz="1200" dirty="0">
                <a:solidFill>
                  <a:srgbClr val="002060"/>
                </a:solidFill>
              </a:rPr>
              <a:t>, Sasha </a:t>
            </a:r>
            <a:r>
              <a:rPr lang="en-US" sz="1200" dirty="0" err="1">
                <a:solidFill>
                  <a:srgbClr val="002060"/>
                </a:solidFill>
              </a:rPr>
              <a:t>Vodnik</a:t>
            </a:r>
            <a:r>
              <a:rPr lang="en-US" sz="1200" dirty="0">
                <a:solidFill>
                  <a:srgbClr val="002060"/>
                </a:solidFill>
              </a:rPr>
              <a:t>,  1ed, Cengage Publisher</a:t>
            </a:r>
          </a:p>
        </p:txBody>
      </p:sp>
      <p:sp>
        <p:nvSpPr>
          <p:cNvPr id="8" name="Rectangle 7">
            <a:extLst>
              <a:ext uri="{FF2B5EF4-FFF2-40B4-BE49-F238E27FC236}">
                <a16:creationId xmlns:a16="http://schemas.microsoft.com/office/drawing/2014/main" id="{6D3A909F-E258-4105-86BB-277C3182B6D8}"/>
              </a:ext>
            </a:extLst>
          </p:cNvPr>
          <p:cNvSpPr/>
          <p:nvPr/>
        </p:nvSpPr>
        <p:spPr>
          <a:xfrm>
            <a:off x="2890302" y="849488"/>
            <a:ext cx="2459396" cy="830997"/>
          </a:xfrm>
          <a:prstGeom prst="rect">
            <a:avLst/>
          </a:prstGeom>
        </p:spPr>
        <p:txBody>
          <a:bodyPr wrap="square">
            <a:spAutoFit/>
          </a:bodyPr>
          <a:lstStyle/>
          <a:p>
            <a:r>
              <a:rPr lang="en-IN" sz="1200" dirty="0">
                <a:hlinkClick r:id="rId5"/>
              </a:rPr>
              <a:t>https://www.microsoftpressstore.com/store/microsoft-excel-2019-data-analysis-and-business-modeling-9781509305889#downloads</a:t>
            </a:r>
            <a:r>
              <a:rPr lang="en-IN" sz="1200" dirty="0"/>
              <a:t> </a:t>
            </a:r>
          </a:p>
        </p:txBody>
      </p:sp>
      <p:sp>
        <p:nvSpPr>
          <p:cNvPr id="9" name="Rectangle 8">
            <a:extLst>
              <a:ext uri="{FF2B5EF4-FFF2-40B4-BE49-F238E27FC236}">
                <a16:creationId xmlns:a16="http://schemas.microsoft.com/office/drawing/2014/main" id="{345502C1-A10D-4090-8DBA-DBA2A293EE22}"/>
              </a:ext>
            </a:extLst>
          </p:cNvPr>
          <p:cNvSpPr/>
          <p:nvPr/>
        </p:nvSpPr>
        <p:spPr>
          <a:xfrm>
            <a:off x="2875501" y="1772948"/>
            <a:ext cx="2606297" cy="830997"/>
          </a:xfrm>
          <a:prstGeom prst="rect">
            <a:avLst/>
          </a:prstGeom>
        </p:spPr>
        <p:txBody>
          <a:bodyPr wrap="square">
            <a:spAutoFit/>
          </a:bodyPr>
          <a:lstStyle/>
          <a:p>
            <a:r>
              <a:rPr lang="en-US" sz="1200" dirty="0">
                <a:hlinkClick r:id="rId6"/>
              </a:rPr>
              <a:t>https://ptgmedia.pearsoncmg.com/imprint_downloads/microsoftpress/bookreg/9781509305889/9781509305889_OnlineFiles3.zip</a:t>
            </a:r>
            <a:r>
              <a:rPr lang="en-US" sz="1200" dirty="0"/>
              <a:t> </a:t>
            </a:r>
          </a:p>
        </p:txBody>
      </p:sp>
      <p:sp>
        <p:nvSpPr>
          <p:cNvPr id="10" name="Rectangle 9">
            <a:extLst>
              <a:ext uri="{FF2B5EF4-FFF2-40B4-BE49-F238E27FC236}">
                <a16:creationId xmlns:a16="http://schemas.microsoft.com/office/drawing/2014/main" id="{459CDC74-E84E-4774-9378-83CB9CF8A631}"/>
              </a:ext>
            </a:extLst>
          </p:cNvPr>
          <p:cNvSpPr/>
          <p:nvPr/>
        </p:nvSpPr>
        <p:spPr>
          <a:xfrm>
            <a:off x="4178649" y="4237881"/>
            <a:ext cx="4500367" cy="461665"/>
          </a:xfrm>
          <a:prstGeom prst="rect">
            <a:avLst/>
          </a:prstGeom>
        </p:spPr>
        <p:txBody>
          <a:bodyPr wrap="square">
            <a:spAutoFit/>
          </a:bodyPr>
          <a:lstStyle/>
          <a:p>
            <a:pPr algn="ctr"/>
            <a:r>
              <a:rPr lang="en-US" sz="1200" dirty="0">
                <a:solidFill>
                  <a:srgbClr val="002060"/>
                </a:solidFill>
              </a:rPr>
              <a:t>The </a:t>
            </a:r>
            <a:r>
              <a:rPr lang="en-US" sz="1200" dirty="0" err="1">
                <a:solidFill>
                  <a:srgbClr val="002060"/>
                </a:solidFill>
              </a:rPr>
              <a:t>StudentDataFiles</a:t>
            </a:r>
            <a:r>
              <a:rPr lang="en-US" sz="1200" dirty="0">
                <a:solidFill>
                  <a:srgbClr val="002060"/>
                </a:solidFill>
              </a:rPr>
              <a:t> for 'Parsons' Excel 2016.rar can be downloaded from this link: </a:t>
            </a:r>
            <a:r>
              <a:rPr lang="en-US" sz="1200" b="1" dirty="0">
                <a:solidFill>
                  <a:srgbClr val="002060"/>
                </a:solidFill>
                <a:hlinkClick r:id="rId7">
                  <a:extLst>
                    <a:ext uri="{A12FA001-AC4F-418D-AE19-62706E023703}">
                      <ahyp:hlinkClr xmlns:ahyp="http://schemas.microsoft.com/office/drawing/2018/hyperlinkcolor" val="tx"/>
                    </a:ext>
                  </a:extLst>
                </a:hlinkClick>
              </a:rPr>
              <a:t>https://bit.ly/3NJiMYi</a:t>
            </a:r>
            <a:endParaRPr lang="en-IN" sz="1200" dirty="0">
              <a:solidFill>
                <a:srgbClr val="002060"/>
              </a:solidFill>
            </a:endParaRPr>
          </a:p>
        </p:txBody>
      </p:sp>
    </p:spTree>
    <p:extLst>
      <p:ext uri="{BB962C8B-B14F-4D97-AF65-F5344CB8AC3E}">
        <p14:creationId xmlns:p14="http://schemas.microsoft.com/office/powerpoint/2010/main" val="2910560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p:cNvSpPr txBox="1">
            <a:spLocks/>
          </p:cNvSpPr>
          <p:nvPr/>
        </p:nvSpPr>
        <p:spPr>
          <a:xfrm>
            <a:off x="209551" y="285750"/>
            <a:ext cx="8658224" cy="4457699"/>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US" sz="2400" b="1" dirty="0">
                <a:solidFill>
                  <a:srgbClr val="0070C0"/>
                </a:solidFill>
              </a:rPr>
              <a:t>Case Links – Single Click </a:t>
            </a:r>
          </a:p>
          <a:p>
            <a:pPr marL="450000" lvl="8" indent="0">
              <a:buNone/>
            </a:pPr>
            <a:endParaRPr lang="en-US" dirty="0"/>
          </a:p>
        </p:txBody>
      </p:sp>
      <p:sp>
        <p:nvSpPr>
          <p:cNvPr id="6" name="Footer Placeholder 5">
            <a:extLst>
              <a:ext uri="{FF2B5EF4-FFF2-40B4-BE49-F238E27FC236}">
                <a16:creationId xmlns:a16="http://schemas.microsoft.com/office/drawing/2014/main" id="{A45EC8E0-BBC4-4596-8620-A4637721B84E}"/>
              </a:ext>
            </a:extLst>
          </p:cNvPr>
          <p:cNvSpPr>
            <a:spLocks noGrp="1"/>
          </p:cNvSpPr>
          <p:nvPr>
            <p:ph type="ftr" sz="quarter" idx="11"/>
          </p:nvPr>
        </p:nvSpPr>
        <p:spPr/>
        <p:txBody>
          <a:bodyPr/>
          <a:lstStyle/>
          <a:p>
            <a:r>
              <a:rPr lang="en-US"/>
              <a:t>Restricted Access - This presentation is only for IIM Lucknow Students</a:t>
            </a:r>
            <a:endParaRPr lang="en-US" dirty="0"/>
          </a:p>
        </p:txBody>
      </p:sp>
      <p:sp>
        <p:nvSpPr>
          <p:cNvPr id="10" name="Rectangle 9">
            <a:extLst>
              <a:ext uri="{FF2B5EF4-FFF2-40B4-BE49-F238E27FC236}">
                <a16:creationId xmlns:a16="http://schemas.microsoft.com/office/drawing/2014/main" id="{65864A2F-5F62-4688-891F-7610FF27EECA}"/>
              </a:ext>
            </a:extLst>
          </p:cNvPr>
          <p:cNvSpPr/>
          <p:nvPr/>
        </p:nvSpPr>
        <p:spPr>
          <a:xfrm>
            <a:off x="492074" y="955923"/>
            <a:ext cx="8159852" cy="3231654"/>
          </a:xfrm>
          <a:prstGeom prst="rect">
            <a:avLst/>
          </a:prstGeom>
        </p:spPr>
        <p:txBody>
          <a:bodyPr wrap="square">
            <a:spAutoFit/>
          </a:bodyPr>
          <a:lstStyle/>
          <a:p>
            <a:r>
              <a:rPr lang="en-IN" sz="1200" dirty="0"/>
              <a:t>1. Good Modelling Practices in Microsoft Excel W16408-PDF-ENG </a:t>
            </a:r>
            <a:r>
              <a:rPr lang="en-IN" sz="1200" dirty="0">
                <a:hlinkClick r:id="rId3"/>
              </a:rPr>
              <a:t>https://hbsp.harvard.edu/tu/026a813b</a:t>
            </a:r>
            <a:br>
              <a:rPr lang="en-IN" sz="1200" dirty="0"/>
            </a:br>
            <a:br>
              <a:rPr lang="en-IN" sz="1200" dirty="0"/>
            </a:br>
            <a:r>
              <a:rPr lang="en-IN" sz="1200" dirty="0"/>
              <a:t>2. Absolute and Relative References In Microsoft Excel W16406-PDF-ENG </a:t>
            </a:r>
            <a:r>
              <a:rPr lang="en-IN" sz="1200" dirty="0">
                <a:hlinkClick r:id="rId4"/>
              </a:rPr>
              <a:t>https://hbsp.harvard.edu/tu/f7bd9e42</a:t>
            </a:r>
            <a:r>
              <a:rPr lang="en-IN" sz="1200" dirty="0"/>
              <a:t> </a:t>
            </a:r>
            <a:br>
              <a:rPr lang="en-IN" sz="1200" dirty="0"/>
            </a:br>
            <a:r>
              <a:rPr lang="en-IN" sz="1200" dirty="0"/>
              <a:t>Absolute and Relative References In Microsoft Excel, Student Spreadsheet W16407-XLS ENG </a:t>
            </a:r>
            <a:r>
              <a:rPr lang="en-IN" sz="1200" dirty="0">
                <a:hlinkClick r:id="rId5"/>
              </a:rPr>
              <a:t>https://hbsp.harvard.edu/tu/fe922d11</a:t>
            </a:r>
            <a:br>
              <a:rPr lang="en-IN" sz="1200" dirty="0"/>
            </a:br>
            <a:br>
              <a:rPr lang="en-IN" sz="1200" dirty="0"/>
            </a:br>
            <a:r>
              <a:rPr lang="en-IN" sz="1200" dirty="0"/>
              <a:t>3. Advanced Logic Functions in Microsoft Excel W16415-PDF-ENG </a:t>
            </a:r>
            <a:r>
              <a:rPr lang="en-IN" sz="1200" dirty="0">
                <a:hlinkClick r:id="rId6"/>
              </a:rPr>
              <a:t>https://hbsp.harvard.edu/tu/f6f981b7</a:t>
            </a:r>
            <a:br>
              <a:rPr lang="en-IN" sz="1200" dirty="0"/>
            </a:br>
            <a:r>
              <a:rPr lang="en-IN" sz="1200" dirty="0"/>
              <a:t>Advanced Logic Functions in Microsoft Excel, Student Spreadsheet W16416-XLS-ENG </a:t>
            </a:r>
            <a:r>
              <a:rPr lang="en-IN" sz="1200" dirty="0">
                <a:hlinkClick r:id="rId7"/>
              </a:rPr>
              <a:t>https://hbsp.harvard.edu/tu/6e12863f</a:t>
            </a:r>
            <a:br>
              <a:rPr lang="en-IN" sz="1200" dirty="0"/>
            </a:br>
            <a:br>
              <a:rPr lang="en-IN" sz="1200" dirty="0"/>
            </a:br>
            <a:r>
              <a:rPr lang="en-IN" sz="1200" dirty="0"/>
              <a:t>4. Goal Seek in Microsoft Excel W16419-PDF-ENG </a:t>
            </a:r>
            <a:r>
              <a:rPr lang="en-IN" sz="1200" dirty="0">
                <a:hlinkClick r:id="rId8"/>
              </a:rPr>
              <a:t>https://hbsp.harvard.edu/tu/3ff6daa2</a:t>
            </a:r>
            <a:br>
              <a:rPr lang="en-IN" sz="1200" dirty="0"/>
            </a:br>
            <a:r>
              <a:rPr lang="en-IN" sz="1200" dirty="0"/>
              <a:t>Goal Seek in Microsoft Excel, Student Spreadsheet W16420-XLS-ENG </a:t>
            </a:r>
            <a:r>
              <a:rPr lang="en-IN" sz="1200" dirty="0">
                <a:hlinkClick r:id="rId9"/>
              </a:rPr>
              <a:t>https://hbsp.harvard.edu/tu/9086793f</a:t>
            </a:r>
            <a:br>
              <a:rPr lang="en-IN" sz="1200" dirty="0"/>
            </a:br>
            <a:br>
              <a:rPr lang="en-IN" sz="1200" dirty="0"/>
            </a:br>
            <a:r>
              <a:rPr lang="en-IN" sz="1200" dirty="0"/>
              <a:t>5. Data Tables in Microsoft Excel W16417-PDF-ENG </a:t>
            </a:r>
            <a:r>
              <a:rPr lang="en-IN" sz="1200" dirty="0">
                <a:hlinkClick r:id="rId10"/>
              </a:rPr>
              <a:t>https://hbsp.harvard.edu/tu/1340b815</a:t>
            </a:r>
            <a:br>
              <a:rPr lang="en-IN" sz="1200" dirty="0"/>
            </a:br>
            <a:r>
              <a:rPr lang="en-IN" sz="1200" dirty="0"/>
              <a:t>Data Tables in Microsoft Excel, Student Spreadsheet W16418-XLS-ENG </a:t>
            </a:r>
            <a:r>
              <a:rPr lang="en-IN" sz="1200" dirty="0">
                <a:hlinkClick r:id="rId11"/>
              </a:rPr>
              <a:t>https://hbsp.harvard.edu/tu/9db1a0b3</a:t>
            </a:r>
            <a:br>
              <a:rPr lang="en-IN" sz="1200" dirty="0"/>
            </a:br>
            <a:br>
              <a:rPr lang="en-IN" sz="1200" dirty="0"/>
            </a:br>
            <a:r>
              <a:rPr lang="en-IN" sz="1200" dirty="0"/>
              <a:t>6. A Few Excel Tips: Data Validation Tool, Offset and </a:t>
            </a:r>
            <a:r>
              <a:rPr lang="en-IN" sz="1200" dirty="0" err="1"/>
              <a:t>Vlookup</a:t>
            </a:r>
            <a:r>
              <a:rPr lang="en-IN" sz="1200" dirty="0"/>
              <a:t>, Dynamic Charts, Form Controls, Pivot Tables, VBA W11300-PDF-ENG </a:t>
            </a:r>
            <a:r>
              <a:rPr lang="en-IN" sz="1200" dirty="0">
                <a:hlinkClick r:id="rId12"/>
              </a:rPr>
              <a:t>https://hbsp.harvard.edu/tu/3890dc72</a:t>
            </a:r>
            <a:endParaRPr lang="en-IN" sz="1200" dirty="0"/>
          </a:p>
        </p:txBody>
      </p:sp>
    </p:spTree>
    <p:extLst>
      <p:ext uri="{BB962C8B-B14F-4D97-AF65-F5344CB8AC3E}">
        <p14:creationId xmlns:p14="http://schemas.microsoft.com/office/powerpoint/2010/main" val="4130136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p:cNvSpPr txBox="1">
            <a:spLocks/>
          </p:cNvSpPr>
          <p:nvPr/>
        </p:nvSpPr>
        <p:spPr>
          <a:xfrm>
            <a:off x="209551" y="285750"/>
            <a:ext cx="8658224" cy="4457699"/>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IN" sz="2400" b="1" dirty="0">
                <a:solidFill>
                  <a:srgbClr val="0070C0"/>
                </a:solidFill>
              </a:rPr>
              <a:t>Pedagogy</a:t>
            </a:r>
            <a:r>
              <a:rPr lang="en-US" sz="2400" b="1" dirty="0">
                <a:solidFill>
                  <a:srgbClr val="0070C0"/>
                </a:solidFill>
              </a:rPr>
              <a:t> </a:t>
            </a:r>
          </a:p>
          <a:p>
            <a:pPr marL="735750" lvl="8" indent="-285750">
              <a:buFontTx/>
              <a:buChar char="-"/>
            </a:pPr>
            <a:endParaRPr lang="en-US" sz="1800" dirty="0">
              <a:solidFill>
                <a:srgbClr val="0070C0"/>
              </a:solidFill>
            </a:endParaRPr>
          </a:p>
          <a:p>
            <a:pPr marL="450000" lvl="8" indent="0">
              <a:buClr>
                <a:srgbClr val="0070C0"/>
              </a:buClr>
              <a:buNone/>
            </a:pPr>
            <a:endParaRPr lang="en-US" sz="1800" dirty="0">
              <a:solidFill>
                <a:srgbClr val="0070C0"/>
              </a:solidFill>
            </a:endParaRPr>
          </a:p>
        </p:txBody>
      </p:sp>
      <p:sp>
        <p:nvSpPr>
          <p:cNvPr id="2" name="Footer Placeholder 1">
            <a:extLst>
              <a:ext uri="{FF2B5EF4-FFF2-40B4-BE49-F238E27FC236}">
                <a16:creationId xmlns:a16="http://schemas.microsoft.com/office/drawing/2014/main" id="{C1678B2B-2F7B-41CC-AED2-6E9CEC5778AA}"/>
              </a:ext>
            </a:extLst>
          </p:cNvPr>
          <p:cNvSpPr>
            <a:spLocks noGrp="1"/>
          </p:cNvSpPr>
          <p:nvPr>
            <p:ph type="ftr" sz="quarter" idx="11"/>
          </p:nvPr>
        </p:nvSpPr>
        <p:spPr/>
        <p:txBody>
          <a:bodyPr/>
          <a:lstStyle/>
          <a:p>
            <a:r>
              <a:rPr lang="en-US"/>
              <a:t>Restricted Access - This presentation is only for IIM Lucknow Students</a:t>
            </a:r>
            <a:endParaRPr lang="en-US" dirty="0"/>
          </a:p>
        </p:txBody>
      </p:sp>
      <p:graphicFrame>
        <p:nvGraphicFramePr>
          <p:cNvPr id="7" name="Diagram 6">
            <a:extLst>
              <a:ext uri="{FF2B5EF4-FFF2-40B4-BE49-F238E27FC236}">
                <a16:creationId xmlns:a16="http://schemas.microsoft.com/office/drawing/2014/main" id="{CD44CAA4-1283-4396-9AAD-BA78EF8B13CE}"/>
              </a:ext>
            </a:extLst>
          </p:cNvPr>
          <p:cNvGraphicFramePr/>
          <p:nvPr>
            <p:extLst>
              <p:ext uri="{D42A27DB-BD31-4B8C-83A1-F6EECF244321}">
                <p14:modId xmlns:p14="http://schemas.microsoft.com/office/powerpoint/2010/main" val="3951574294"/>
              </p:ext>
            </p:extLst>
          </p:nvPr>
        </p:nvGraphicFramePr>
        <p:xfrm>
          <a:off x="731247" y="400051"/>
          <a:ext cx="3720459" cy="26126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extBox 10">
            <a:extLst>
              <a:ext uri="{FF2B5EF4-FFF2-40B4-BE49-F238E27FC236}">
                <a16:creationId xmlns:a16="http://schemas.microsoft.com/office/drawing/2014/main" id="{982BC14A-427F-4FF6-8294-AAFC8913F0E2}"/>
              </a:ext>
            </a:extLst>
          </p:cNvPr>
          <p:cNvSpPr txBox="1"/>
          <p:nvPr/>
        </p:nvSpPr>
        <p:spPr>
          <a:xfrm>
            <a:off x="1462650" y="2872360"/>
            <a:ext cx="2147910" cy="375552"/>
          </a:xfrm>
          <a:prstGeom prst="rect">
            <a:avLst/>
          </a:prstGeom>
          <a:noFill/>
        </p:spPr>
        <p:txBody>
          <a:bodyPr wrap="square">
            <a:spAutoFit/>
          </a:bodyPr>
          <a:lstStyle/>
          <a:p>
            <a:pPr algn="ctr">
              <a:lnSpc>
                <a:spcPct val="107000"/>
              </a:lnSpc>
              <a:spcAft>
                <a:spcPts val="800"/>
              </a:spcAft>
            </a:pPr>
            <a:r>
              <a:rPr lang="en-IN" b="1" dirty="0">
                <a:solidFill>
                  <a:srgbClr val="0070C0"/>
                </a:solidFill>
                <a:latin typeface="Calibri" panose="020F0502020204030204" pitchFamily="34" charset="0"/>
                <a:cs typeface="Times New Roman" panose="02020603050405020304" pitchFamily="18" charset="0"/>
              </a:rPr>
              <a:t>Knowledge Levels </a:t>
            </a:r>
          </a:p>
        </p:txBody>
      </p:sp>
      <p:graphicFrame>
        <p:nvGraphicFramePr>
          <p:cNvPr id="19" name="Diagram 18">
            <a:extLst>
              <a:ext uri="{FF2B5EF4-FFF2-40B4-BE49-F238E27FC236}">
                <a16:creationId xmlns:a16="http://schemas.microsoft.com/office/drawing/2014/main" id="{16F1137A-C049-4D08-BB3D-3CA2F23D7EC0}"/>
              </a:ext>
            </a:extLst>
          </p:cNvPr>
          <p:cNvGraphicFramePr/>
          <p:nvPr>
            <p:extLst>
              <p:ext uri="{D42A27DB-BD31-4B8C-83A1-F6EECF244321}">
                <p14:modId xmlns:p14="http://schemas.microsoft.com/office/powerpoint/2010/main" val="3936489884"/>
              </p:ext>
            </p:extLst>
          </p:nvPr>
        </p:nvGraphicFramePr>
        <p:xfrm>
          <a:off x="4973401" y="423947"/>
          <a:ext cx="3192492" cy="256483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0" name="TextBox 19">
            <a:extLst>
              <a:ext uri="{FF2B5EF4-FFF2-40B4-BE49-F238E27FC236}">
                <a16:creationId xmlns:a16="http://schemas.microsoft.com/office/drawing/2014/main" id="{17B07801-ACF4-4660-831C-7702BBC0BDF6}"/>
              </a:ext>
            </a:extLst>
          </p:cNvPr>
          <p:cNvSpPr txBox="1"/>
          <p:nvPr/>
        </p:nvSpPr>
        <p:spPr>
          <a:xfrm>
            <a:off x="5421417" y="2872360"/>
            <a:ext cx="2531533" cy="375552"/>
          </a:xfrm>
          <a:prstGeom prst="rect">
            <a:avLst/>
          </a:prstGeom>
          <a:noFill/>
        </p:spPr>
        <p:txBody>
          <a:bodyPr wrap="square">
            <a:spAutoFit/>
          </a:bodyPr>
          <a:lstStyle/>
          <a:p>
            <a:pPr algn="ctr">
              <a:lnSpc>
                <a:spcPct val="107000"/>
              </a:lnSpc>
              <a:spcAft>
                <a:spcPts val="800"/>
              </a:spcAft>
            </a:pPr>
            <a:r>
              <a:rPr lang="en-IN" sz="1800" b="1"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Coverage in ITC</a:t>
            </a:r>
          </a:p>
        </p:txBody>
      </p:sp>
      <p:sp>
        <p:nvSpPr>
          <p:cNvPr id="23" name="TextBox 22">
            <a:extLst>
              <a:ext uri="{FF2B5EF4-FFF2-40B4-BE49-F238E27FC236}">
                <a16:creationId xmlns:a16="http://schemas.microsoft.com/office/drawing/2014/main" id="{0029A278-03CB-4BE7-BF35-BA875F138AE3}"/>
              </a:ext>
            </a:extLst>
          </p:cNvPr>
          <p:cNvSpPr txBox="1"/>
          <p:nvPr/>
        </p:nvSpPr>
        <p:spPr>
          <a:xfrm>
            <a:off x="846866" y="3296142"/>
            <a:ext cx="3380762" cy="1173463"/>
          </a:xfrm>
          <a:prstGeom prst="rect">
            <a:avLst/>
          </a:prstGeom>
          <a:noFill/>
        </p:spPr>
        <p:txBody>
          <a:bodyPr wrap="square">
            <a:spAutoFit/>
          </a:bodyPr>
          <a:lstStyle/>
          <a:p>
            <a:pPr>
              <a:lnSpc>
                <a:spcPct val="107000"/>
              </a:lnSpc>
              <a:spcAft>
                <a:spcPts val="800"/>
              </a:spcAft>
            </a:pPr>
            <a:r>
              <a:rPr lang="en-IN" sz="1800" b="1" dirty="0">
                <a:effectLst/>
                <a:latin typeface="Calibri" panose="020F0502020204030204" pitchFamily="34" charset="0"/>
                <a:ea typeface="Calibri" panose="020F0502020204030204" pitchFamily="34" charset="0"/>
                <a:cs typeface="Times New Roman" panose="02020603050405020304" pitchFamily="18" charset="0"/>
              </a:rPr>
              <a:t>Assessment (Individual)</a:t>
            </a:r>
          </a:p>
          <a:p>
            <a:pPr marL="285750" indent="-285750">
              <a:lnSpc>
                <a:spcPct val="107000"/>
              </a:lnSpc>
              <a:spcAft>
                <a:spcPts val="800"/>
              </a:spcAft>
              <a:buFont typeface="Wingdings" panose="05000000000000000000" pitchFamily="2" charset="2"/>
              <a:buChar char="Ø"/>
            </a:pPr>
            <a:r>
              <a:rPr lang="en-IN" dirty="0">
                <a:latin typeface="Calibri" panose="020F0502020204030204" pitchFamily="34" charset="0"/>
                <a:ea typeface="Calibri" panose="020F0502020204030204" pitchFamily="34" charset="0"/>
                <a:cs typeface="Times New Roman" panose="02020603050405020304" pitchFamily="18" charset="0"/>
              </a:rPr>
              <a:t>End exam 		– 50%</a:t>
            </a:r>
          </a:p>
          <a:p>
            <a:pPr marL="285750" indent="-285750">
              <a:lnSpc>
                <a:spcPct val="107000"/>
              </a:lnSpc>
              <a:spcAft>
                <a:spcPts val="800"/>
              </a:spcAft>
              <a:buFont typeface="Wingdings" panose="05000000000000000000" pitchFamily="2" charset="2"/>
              <a:buChar char="Ø"/>
            </a:pPr>
            <a:r>
              <a:rPr lang="en-IN" dirty="0">
                <a:latin typeface="Calibri" panose="020F0502020204030204" pitchFamily="34" charset="0"/>
                <a:ea typeface="Calibri" panose="020F0502020204030204" pitchFamily="34" charset="0"/>
                <a:cs typeface="Times New Roman" panose="02020603050405020304" pitchFamily="18" charset="0"/>
              </a:rPr>
              <a:t>Quizzes 		– 20%</a:t>
            </a:r>
          </a:p>
        </p:txBody>
      </p:sp>
      <p:sp>
        <p:nvSpPr>
          <p:cNvPr id="16" name="TextBox 15">
            <a:extLst>
              <a:ext uri="{FF2B5EF4-FFF2-40B4-BE49-F238E27FC236}">
                <a16:creationId xmlns:a16="http://schemas.microsoft.com/office/drawing/2014/main" id="{2E004E3F-9575-4F41-A7BF-5A1C7D567816}"/>
              </a:ext>
            </a:extLst>
          </p:cNvPr>
          <p:cNvSpPr txBox="1"/>
          <p:nvPr/>
        </p:nvSpPr>
        <p:spPr>
          <a:xfrm>
            <a:off x="4731026" y="3296142"/>
            <a:ext cx="3380762" cy="1173463"/>
          </a:xfrm>
          <a:prstGeom prst="rect">
            <a:avLst/>
          </a:prstGeom>
          <a:noFill/>
        </p:spPr>
        <p:txBody>
          <a:bodyPr wrap="square">
            <a:spAutoFit/>
          </a:bodyPr>
          <a:lstStyle/>
          <a:p>
            <a:pPr>
              <a:lnSpc>
                <a:spcPct val="107000"/>
              </a:lnSpc>
              <a:spcAft>
                <a:spcPts val="800"/>
              </a:spcAft>
            </a:pPr>
            <a:r>
              <a:rPr lang="en-IN" sz="1800" b="1" dirty="0">
                <a:effectLst/>
                <a:latin typeface="Calibri" panose="020F0502020204030204" pitchFamily="34" charset="0"/>
                <a:ea typeface="Calibri" panose="020F0502020204030204" pitchFamily="34" charset="0"/>
                <a:cs typeface="Times New Roman" panose="02020603050405020304" pitchFamily="18" charset="0"/>
              </a:rPr>
              <a:t>Assessment (Group contribution)</a:t>
            </a:r>
          </a:p>
          <a:p>
            <a:pPr marL="285750" indent="-285750">
              <a:lnSpc>
                <a:spcPct val="107000"/>
              </a:lnSpc>
              <a:spcAft>
                <a:spcPts val="800"/>
              </a:spcAft>
              <a:buFont typeface="Wingdings" panose="05000000000000000000" pitchFamily="2" charset="2"/>
              <a:buChar char="Ø"/>
            </a:pPr>
            <a:r>
              <a:rPr lang="en-IN" dirty="0">
                <a:latin typeface="Calibri" panose="020F0502020204030204" pitchFamily="34" charset="0"/>
                <a:ea typeface="Calibri" panose="020F0502020204030204" pitchFamily="34" charset="0"/>
                <a:cs typeface="Times New Roman" panose="02020603050405020304" pitchFamily="18" charset="0"/>
              </a:rPr>
              <a:t>Project 			– 20%</a:t>
            </a:r>
          </a:p>
          <a:p>
            <a:pPr marL="285750" indent="-285750">
              <a:lnSpc>
                <a:spcPct val="107000"/>
              </a:lnSpc>
              <a:spcAft>
                <a:spcPts val="800"/>
              </a:spcAft>
              <a:buFont typeface="Wingdings" panose="05000000000000000000" pitchFamily="2" charset="2"/>
              <a:buChar char="Ø"/>
            </a:pPr>
            <a:r>
              <a:rPr lang="en-IN" dirty="0">
                <a:latin typeface="Calibri" panose="020F0502020204030204" pitchFamily="34" charset="0"/>
                <a:ea typeface="Calibri" panose="020F0502020204030204" pitchFamily="34" charset="0"/>
                <a:cs typeface="Times New Roman" panose="02020603050405020304" pitchFamily="18" charset="0"/>
              </a:rPr>
              <a:t>Class participation	– 10%</a:t>
            </a:r>
          </a:p>
        </p:txBody>
      </p:sp>
    </p:spTree>
    <p:extLst>
      <p:ext uri="{BB962C8B-B14F-4D97-AF65-F5344CB8AC3E}">
        <p14:creationId xmlns:p14="http://schemas.microsoft.com/office/powerpoint/2010/main" val="2431100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p:cNvSpPr txBox="1">
            <a:spLocks/>
          </p:cNvSpPr>
          <p:nvPr/>
        </p:nvSpPr>
        <p:spPr>
          <a:xfrm>
            <a:off x="242888" y="298283"/>
            <a:ext cx="8658224" cy="4274675"/>
          </a:xfrm>
          <a:prstGeom prst="rect">
            <a:avLst/>
          </a:prstGeom>
        </p:spPr>
        <p:txBody>
          <a:bodyPr>
            <a:normAutofit lnSpcReduction="10000"/>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IN" sz="2400" b="1" dirty="0">
                <a:solidFill>
                  <a:srgbClr val="0070C0"/>
                </a:solidFill>
              </a:rPr>
              <a:t>The Analytics Revolution – Data Pyramid</a:t>
            </a:r>
            <a:endParaRPr lang="en-US" sz="2400" b="1" dirty="0">
              <a:solidFill>
                <a:srgbClr val="0070C0"/>
              </a:solidFill>
            </a:endParaRPr>
          </a:p>
          <a:p>
            <a:pPr marL="450000" lvl="8" indent="0" algn="ctr">
              <a:buNone/>
            </a:pPr>
            <a:endParaRPr lang="en-US" sz="1800" dirty="0">
              <a:solidFill>
                <a:srgbClr val="0070C0"/>
              </a:solidFill>
            </a:endParaRPr>
          </a:p>
          <a:p>
            <a:pPr marL="396450" lvl="7">
              <a:buClr>
                <a:srgbClr val="0070C0"/>
              </a:buClr>
              <a:buFont typeface="Wingdings" panose="05000000000000000000" pitchFamily="2" charset="2"/>
              <a:buChar char="Ø"/>
            </a:pPr>
            <a:r>
              <a:rPr lang="en-US" i="1" dirty="0">
                <a:solidFill>
                  <a:schemeClr val="tx1"/>
                </a:solidFill>
              </a:rPr>
              <a:t>Analytics </a:t>
            </a:r>
            <a:r>
              <a:rPr lang="en-US" dirty="0">
                <a:solidFill>
                  <a:schemeClr val="tx1"/>
                </a:solidFill>
              </a:rPr>
              <a:t>is the practice of using data to help make decisions that better meet an organization’s objectives.</a:t>
            </a:r>
          </a:p>
          <a:p>
            <a:pPr marL="396450" lvl="7">
              <a:buClr>
                <a:srgbClr val="0070C0"/>
              </a:buClr>
              <a:buFont typeface="Wingdings" panose="05000000000000000000" pitchFamily="2" charset="2"/>
              <a:buChar char="Ø"/>
            </a:pPr>
            <a:r>
              <a:rPr lang="en-US" i="1" dirty="0">
                <a:solidFill>
                  <a:schemeClr val="tx1"/>
                </a:solidFill>
              </a:rPr>
              <a:t>Competing on Analytics (Harvard Business Review Press) - Thomas Davenport’s in 2007.</a:t>
            </a:r>
          </a:p>
          <a:p>
            <a:pPr marL="225000" lvl="7" indent="0">
              <a:buNone/>
            </a:pPr>
            <a:endParaRPr lang="en-US" i="1" dirty="0">
              <a:solidFill>
                <a:schemeClr val="tx1"/>
              </a:solidFill>
            </a:endParaRPr>
          </a:p>
          <a:p>
            <a:pPr marL="510750" lvl="7" indent="-285750">
              <a:buClr>
                <a:srgbClr val="0070C0"/>
              </a:buClr>
              <a:buFont typeface="Wingdings" panose="05000000000000000000" pitchFamily="2" charset="2"/>
              <a:buChar char="Ø"/>
            </a:pPr>
            <a:r>
              <a:rPr lang="en-US" sz="1600" dirty="0">
                <a:solidFill>
                  <a:srgbClr val="0070C0"/>
                </a:solidFill>
              </a:rPr>
              <a:t>Frequently hear</a:t>
            </a:r>
          </a:p>
          <a:p>
            <a:pPr marL="678600" lvl="8" indent="-228600">
              <a:buClr>
                <a:srgbClr val="002060"/>
              </a:buClr>
              <a:buFont typeface="Wingdings" panose="05000000000000000000" pitchFamily="2" charset="2"/>
              <a:buChar char="ü"/>
            </a:pPr>
            <a:r>
              <a:rPr lang="en-US" i="1" dirty="0">
                <a:solidFill>
                  <a:schemeClr val="tx1"/>
                </a:solidFill>
              </a:rPr>
              <a:t>Data is new oil of business economy </a:t>
            </a:r>
          </a:p>
          <a:p>
            <a:pPr marL="678600" lvl="8" indent="-228600">
              <a:buClr>
                <a:srgbClr val="002060"/>
              </a:buClr>
              <a:buFont typeface="Wingdings" panose="05000000000000000000" pitchFamily="2" charset="2"/>
              <a:buChar char="ü"/>
            </a:pPr>
            <a:r>
              <a:rPr lang="en-US" i="1" dirty="0">
                <a:solidFill>
                  <a:schemeClr val="tx1"/>
                </a:solidFill>
              </a:rPr>
              <a:t>Data Scientist is sexiest job of the 21st century</a:t>
            </a:r>
          </a:p>
          <a:p>
            <a:pPr marL="678600" lvl="8" indent="-228600">
              <a:buClr>
                <a:srgbClr val="002060"/>
              </a:buClr>
              <a:buFont typeface="Courier New" panose="02070309020205020404" pitchFamily="49" charset="0"/>
              <a:buChar char="o"/>
            </a:pPr>
            <a:r>
              <a:rPr lang="en-US" i="1" dirty="0">
                <a:solidFill>
                  <a:schemeClr val="tx1"/>
                </a:solidFill>
              </a:rPr>
              <a:t>Data Rich, Information Poor	</a:t>
            </a:r>
          </a:p>
          <a:p>
            <a:pPr marL="678600" lvl="8" indent="-228600">
              <a:buClr>
                <a:srgbClr val="002060"/>
              </a:buClr>
              <a:buFont typeface="Courier New" panose="02070309020205020404" pitchFamily="49" charset="0"/>
              <a:buChar char="o"/>
            </a:pPr>
            <a:r>
              <a:rPr lang="en-US" i="1" dirty="0">
                <a:solidFill>
                  <a:schemeClr val="tx1"/>
                </a:solidFill>
              </a:rPr>
              <a:t>Garbage In and Garbage Out</a:t>
            </a:r>
          </a:p>
          <a:p>
            <a:pPr marL="225000" lvl="7" indent="0">
              <a:buNone/>
            </a:pPr>
            <a:endParaRPr lang="en-US" dirty="0">
              <a:solidFill>
                <a:schemeClr val="tx1"/>
              </a:solidFill>
            </a:endParaRPr>
          </a:p>
          <a:p>
            <a:pPr marL="510750" lvl="7" indent="-285750">
              <a:buClr>
                <a:srgbClr val="0070C0"/>
              </a:buClr>
              <a:buFont typeface="Wingdings" panose="05000000000000000000" pitchFamily="2" charset="2"/>
              <a:buChar char="Ø"/>
            </a:pPr>
            <a:r>
              <a:rPr lang="en-US" sz="1600" dirty="0">
                <a:solidFill>
                  <a:srgbClr val="0070C0"/>
                </a:solidFill>
              </a:rPr>
              <a:t>Data comes from </a:t>
            </a:r>
          </a:p>
          <a:p>
            <a:pPr marL="678600" lvl="8" indent="-228600">
              <a:buClr>
                <a:srgbClr val="002060"/>
              </a:buClr>
              <a:buFont typeface="Wingdings" panose="05000000000000000000" pitchFamily="2" charset="2"/>
              <a:buChar char="ü"/>
            </a:pPr>
            <a:r>
              <a:rPr lang="en-US" i="1" dirty="0">
                <a:solidFill>
                  <a:schemeClr val="tx1"/>
                </a:solidFill>
              </a:rPr>
              <a:t>Transaction Processing Systems </a:t>
            </a:r>
          </a:p>
          <a:p>
            <a:pPr marL="678600" lvl="8" indent="-228600">
              <a:buClr>
                <a:srgbClr val="002060"/>
              </a:buClr>
              <a:buFont typeface="Wingdings" panose="05000000000000000000" pitchFamily="2" charset="2"/>
              <a:buChar char="ü"/>
            </a:pPr>
            <a:r>
              <a:rPr lang="en-US" i="1" dirty="0">
                <a:solidFill>
                  <a:schemeClr val="tx1"/>
                </a:solidFill>
              </a:rPr>
              <a:t>Enterprise Software (CRM, SCM, and ERP)</a:t>
            </a:r>
          </a:p>
          <a:p>
            <a:pPr marL="678600" lvl="8" indent="-228600">
              <a:buClr>
                <a:srgbClr val="002060"/>
              </a:buClr>
              <a:buFont typeface="Wingdings" panose="05000000000000000000" pitchFamily="2" charset="2"/>
              <a:buChar char="ü"/>
            </a:pPr>
            <a:r>
              <a:rPr lang="en-US" i="1" dirty="0">
                <a:solidFill>
                  <a:schemeClr val="tx1"/>
                </a:solidFill>
              </a:rPr>
              <a:t>Survey</a:t>
            </a:r>
          </a:p>
          <a:p>
            <a:pPr marL="678600" lvl="8" indent="-228600">
              <a:buClr>
                <a:srgbClr val="002060"/>
              </a:buClr>
              <a:buFont typeface="Wingdings" panose="05000000000000000000" pitchFamily="2" charset="2"/>
              <a:buChar char="ü"/>
            </a:pPr>
            <a:r>
              <a:rPr lang="en-US" i="1" dirty="0">
                <a:solidFill>
                  <a:schemeClr val="tx1"/>
                </a:solidFill>
              </a:rPr>
              <a:t>External Sources</a:t>
            </a:r>
          </a:p>
          <a:p>
            <a:pPr marL="678600" lvl="8" indent="-228600">
              <a:buClr>
                <a:srgbClr val="002060"/>
              </a:buClr>
              <a:buFont typeface="Wingdings" panose="05000000000000000000" pitchFamily="2" charset="2"/>
              <a:buChar char="ü"/>
            </a:pPr>
            <a:r>
              <a:rPr lang="en-US" i="1" dirty="0">
                <a:solidFill>
                  <a:schemeClr val="tx1"/>
                </a:solidFill>
              </a:rPr>
              <a:t>Data Aggregator</a:t>
            </a:r>
            <a:endParaRPr lang="en-US" dirty="0"/>
          </a:p>
          <a:p>
            <a:pPr marL="225000" lvl="7" indent="0">
              <a:buNone/>
            </a:pPr>
            <a:endParaRPr lang="en-US" dirty="0"/>
          </a:p>
          <a:p>
            <a:pPr marL="510750" lvl="7" indent="-285750">
              <a:buFont typeface="Wingdings" panose="05000000000000000000" pitchFamily="2" charset="2"/>
              <a:buChar char="Ø"/>
            </a:pPr>
            <a:endParaRPr lang="en-US" sz="1800" dirty="0">
              <a:solidFill>
                <a:srgbClr val="0070C0"/>
              </a:solidFill>
            </a:endParaRPr>
          </a:p>
        </p:txBody>
      </p:sp>
      <p:pic>
        <p:nvPicPr>
          <p:cNvPr id="7" name="Picture 6">
            <a:extLst>
              <a:ext uri="{FF2B5EF4-FFF2-40B4-BE49-F238E27FC236}">
                <a16:creationId xmlns:a16="http://schemas.microsoft.com/office/drawing/2014/main" id="{20FE8D76-AFAB-4F68-BAD0-D103C35AEE06}"/>
              </a:ext>
            </a:extLst>
          </p:cNvPr>
          <p:cNvPicPr>
            <a:picLocks noChangeAspect="1"/>
          </p:cNvPicPr>
          <p:nvPr/>
        </p:nvPicPr>
        <p:blipFill>
          <a:blip r:embed="rId3"/>
          <a:stretch>
            <a:fillRect/>
          </a:stretch>
        </p:blipFill>
        <p:spPr>
          <a:xfrm>
            <a:off x="5327650" y="1645225"/>
            <a:ext cx="3165061" cy="2462430"/>
          </a:xfrm>
          <a:prstGeom prst="rect">
            <a:avLst/>
          </a:prstGeom>
        </p:spPr>
      </p:pic>
      <p:sp>
        <p:nvSpPr>
          <p:cNvPr id="2" name="Footer Placeholder 1">
            <a:extLst>
              <a:ext uri="{FF2B5EF4-FFF2-40B4-BE49-F238E27FC236}">
                <a16:creationId xmlns:a16="http://schemas.microsoft.com/office/drawing/2014/main" id="{9A35FF74-8B64-4313-A9B1-488C080EC361}"/>
              </a:ext>
            </a:extLst>
          </p:cNvPr>
          <p:cNvSpPr>
            <a:spLocks noGrp="1"/>
          </p:cNvSpPr>
          <p:nvPr>
            <p:ph type="ftr" sz="quarter" idx="11"/>
          </p:nvPr>
        </p:nvSpPr>
        <p:spPr/>
        <p:txBody>
          <a:bodyPr/>
          <a:lstStyle/>
          <a:p>
            <a:r>
              <a:rPr lang="en-US"/>
              <a:t>Restricted Access - This presentation is only for IIM Lucknow Students</a:t>
            </a:r>
            <a:endParaRPr lang="en-US" dirty="0"/>
          </a:p>
        </p:txBody>
      </p:sp>
    </p:spTree>
    <p:extLst>
      <p:ext uri="{BB962C8B-B14F-4D97-AF65-F5344CB8AC3E}">
        <p14:creationId xmlns:p14="http://schemas.microsoft.com/office/powerpoint/2010/main" val="2411706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p:cNvSpPr txBox="1">
            <a:spLocks/>
          </p:cNvSpPr>
          <p:nvPr/>
        </p:nvSpPr>
        <p:spPr>
          <a:xfrm>
            <a:off x="209551" y="285750"/>
            <a:ext cx="8658224" cy="4457699"/>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IN" sz="2400" b="1" dirty="0">
                <a:solidFill>
                  <a:srgbClr val="0070C0"/>
                </a:solidFill>
              </a:rPr>
              <a:t>The Analytics Revolution – Challenges</a:t>
            </a:r>
            <a:endParaRPr lang="en-US" sz="2400" b="1" dirty="0">
              <a:solidFill>
                <a:srgbClr val="0070C0"/>
              </a:solidFill>
            </a:endParaRPr>
          </a:p>
          <a:p>
            <a:pPr marL="225000" lvl="7" indent="0">
              <a:buNone/>
            </a:pPr>
            <a:endParaRPr lang="en-US" b="1" dirty="0"/>
          </a:p>
          <a:p>
            <a:pPr marL="510750" lvl="7" indent="-285750">
              <a:buClr>
                <a:srgbClr val="0070C0"/>
              </a:buClr>
              <a:buFont typeface="Wingdings" panose="05000000000000000000" pitchFamily="2" charset="2"/>
              <a:buChar char="Ø"/>
            </a:pPr>
            <a:r>
              <a:rPr lang="en-US" sz="1600" dirty="0">
                <a:solidFill>
                  <a:srgbClr val="0070C0"/>
                </a:solidFill>
              </a:rPr>
              <a:t>With Challenges</a:t>
            </a:r>
          </a:p>
          <a:p>
            <a:pPr marL="678600" lvl="8" indent="-228600">
              <a:buClr>
                <a:srgbClr val="002060"/>
              </a:buClr>
              <a:buFont typeface="Wingdings" panose="05000000000000000000" pitchFamily="2" charset="2"/>
              <a:buChar char="ü"/>
            </a:pPr>
            <a:r>
              <a:rPr lang="en-IN" i="1" dirty="0">
                <a:solidFill>
                  <a:schemeClr val="tx1"/>
                </a:solidFill>
              </a:rPr>
              <a:t>Sourcing </a:t>
            </a:r>
          </a:p>
          <a:p>
            <a:pPr marL="678600" lvl="8" indent="-228600">
              <a:buClr>
                <a:srgbClr val="002060"/>
              </a:buClr>
              <a:buFont typeface="Wingdings" panose="05000000000000000000" pitchFamily="2" charset="2"/>
              <a:buChar char="ü"/>
            </a:pPr>
            <a:r>
              <a:rPr lang="en-IN" i="1" dirty="0">
                <a:solidFill>
                  <a:schemeClr val="tx1"/>
                </a:solidFill>
              </a:rPr>
              <a:t>Relevance </a:t>
            </a:r>
          </a:p>
          <a:p>
            <a:pPr marL="678600" lvl="8" indent="-228600">
              <a:buClr>
                <a:srgbClr val="002060"/>
              </a:buClr>
              <a:buFont typeface="Wingdings" panose="05000000000000000000" pitchFamily="2" charset="2"/>
              <a:buChar char="ü"/>
            </a:pPr>
            <a:r>
              <a:rPr lang="en-IN" i="1" dirty="0">
                <a:solidFill>
                  <a:schemeClr val="tx1"/>
                </a:solidFill>
              </a:rPr>
              <a:t>Quantity </a:t>
            </a:r>
          </a:p>
          <a:p>
            <a:pPr marL="678600" lvl="8" indent="-228600">
              <a:buClr>
                <a:srgbClr val="002060"/>
              </a:buClr>
              <a:buFont typeface="Wingdings" panose="05000000000000000000" pitchFamily="2" charset="2"/>
              <a:buChar char="ü"/>
            </a:pPr>
            <a:r>
              <a:rPr lang="en-IN" i="1" dirty="0">
                <a:solidFill>
                  <a:schemeClr val="tx1"/>
                </a:solidFill>
              </a:rPr>
              <a:t>Quality </a:t>
            </a:r>
          </a:p>
          <a:p>
            <a:pPr marL="678600" lvl="8" indent="-228600">
              <a:buClr>
                <a:srgbClr val="002060"/>
              </a:buClr>
              <a:buFont typeface="Wingdings" panose="05000000000000000000" pitchFamily="2" charset="2"/>
              <a:buChar char="ü"/>
            </a:pPr>
            <a:r>
              <a:rPr lang="en-IN" i="1" dirty="0">
                <a:solidFill>
                  <a:schemeClr val="tx1"/>
                </a:solidFill>
              </a:rPr>
              <a:t>Hosting </a:t>
            </a:r>
          </a:p>
          <a:p>
            <a:pPr marL="678600" lvl="8" indent="-228600">
              <a:buClr>
                <a:srgbClr val="002060"/>
              </a:buClr>
              <a:buFont typeface="Wingdings" panose="05000000000000000000" pitchFamily="2" charset="2"/>
              <a:buChar char="ü"/>
            </a:pPr>
            <a:r>
              <a:rPr lang="en-IN" i="1" dirty="0">
                <a:solidFill>
                  <a:schemeClr val="tx1"/>
                </a:solidFill>
              </a:rPr>
              <a:t>Governance</a:t>
            </a:r>
          </a:p>
          <a:p>
            <a:pPr marL="225000" lvl="7" indent="0">
              <a:buNone/>
            </a:pPr>
            <a:endParaRPr lang="en-US" dirty="0"/>
          </a:p>
          <a:p>
            <a:pPr marL="510750" lvl="7" indent="-285750">
              <a:buClr>
                <a:srgbClr val="0070C0"/>
              </a:buClr>
              <a:buFont typeface="Wingdings" panose="05000000000000000000" pitchFamily="2" charset="2"/>
              <a:buChar char="Ø"/>
            </a:pPr>
            <a:r>
              <a:rPr lang="en-US" sz="1600" dirty="0">
                <a:solidFill>
                  <a:srgbClr val="0070C0"/>
                </a:solidFill>
              </a:rPr>
              <a:t>Skills Required</a:t>
            </a:r>
          </a:p>
          <a:p>
            <a:pPr marL="678600" lvl="8" indent="-228600">
              <a:buClr>
                <a:srgbClr val="002060"/>
              </a:buClr>
              <a:buFont typeface="Wingdings" panose="05000000000000000000" pitchFamily="2" charset="2"/>
              <a:buChar char="ü"/>
            </a:pPr>
            <a:r>
              <a:rPr lang="en-US" i="1" dirty="0">
                <a:solidFill>
                  <a:schemeClr val="tx1"/>
                </a:solidFill>
              </a:rPr>
              <a:t>Understand and manipulate data in any form (including text)</a:t>
            </a:r>
          </a:p>
          <a:p>
            <a:pPr marL="678600" lvl="8" indent="-228600">
              <a:buClr>
                <a:srgbClr val="002060"/>
              </a:buClr>
              <a:buFont typeface="Wingdings" panose="05000000000000000000" pitchFamily="2" charset="2"/>
              <a:buChar char="ü"/>
            </a:pPr>
            <a:r>
              <a:rPr lang="en-US" i="1" dirty="0">
                <a:solidFill>
                  <a:schemeClr val="tx1"/>
                </a:solidFill>
              </a:rPr>
              <a:t>Bring disparate data sets together</a:t>
            </a:r>
          </a:p>
          <a:p>
            <a:pPr marL="678600" lvl="8" indent="-228600">
              <a:buClr>
                <a:srgbClr val="002060"/>
              </a:buClr>
              <a:buFont typeface="Wingdings" panose="05000000000000000000" pitchFamily="2" charset="2"/>
              <a:buChar char="ü"/>
            </a:pPr>
            <a:r>
              <a:rPr lang="en-IN" i="1" dirty="0">
                <a:solidFill>
                  <a:schemeClr val="tx1"/>
                </a:solidFill>
              </a:rPr>
              <a:t>Statistics, Algorithms and Simulation</a:t>
            </a:r>
          </a:p>
          <a:p>
            <a:pPr marL="678600" lvl="8" indent="-228600">
              <a:buClr>
                <a:srgbClr val="002060"/>
              </a:buClr>
              <a:buFont typeface="Wingdings" panose="05000000000000000000" pitchFamily="2" charset="2"/>
              <a:buChar char="ü"/>
            </a:pPr>
            <a:r>
              <a:rPr lang="en-US" i="1" dirty="0">
                <a:solidFill>
                  <a:schemeClr val="tx1"/>
                </a:solidFill>
              </a:rPr>
              <a:t>Program in a language such as Java or Python</a:t>
            </a:r>
          </a:p>
          <a:p>
            <a:pPr marL="678600" lvl="8" indent="-228600">
              <a:buClr>
                <a:srgbClr val="002060"/>
              </a:buClr>
              <a:buFont typeface="Wingdings" panose="05000000000000000000" pitchFamily="2" charset="2"/>
              <a:buChar char="ü"/>
            </a:pPr>
            <a:r>
              <a:rPr lang="en-IN" i="1" dirty="0">
                <a:solidFill>
                  <a:schemeClr val="tx1"/>
                </a:solidFill>
              </a:rPr>
              <a:t>Analyse big data sets using statistical packages like ‘R’</a:t>
            </a:r>
            <a:endParaRPr lang="en-US" dirty="0"/>
          </a:p>
          <a:p>
            <a:pPr marL="510750" lvl="7" indent="-285750">
              <a:buFont typeface="Wingdings" panose="05000000000000000000" pitchFamily="2" charset="2"/>
              <a:buChar char="Ø"/>
            </a:pPr>
            <a:endParaRPr lang="en-US" sz="1800" dirty="0">
              <a:solidFill>
                <a:srgbClr val="0070C0"/>
              </a:solidFill>
            </a:endParaRPr>
          </a:p>
        </p:txBody>
      </p:sp>
      <p:pic>
        <p:nvPicPr>
          <p:cNvPr id="2" name="Picture 1">
            <a:extLst>
              <a:ext uri="{FF2B5EF4-FFF2-40B4-BE49-F238E27FC236}">
                <a16:creationId xmlns:a16="http://schemas.microsoft.com/office/drawing/2014/main" id="{ED435C30-2124-44BB-B640-CE0DAED0D700}"/>
              </a:ext>
            </a:extLst>
          </p:cNvPr>
          <p:cNvPicPr>
            <a:picLocks noChangeAspect="1"/>
          </p:cNvPicPr>
          <p:nvPr/>
        </p:nvPicPr>
        <p:blipFill>
          <a:blip r:embed="rId3"/>
          <a:stretch>
            <a:fillRect/>
          </a:stretch>
        </p:blipFill>
        <p:spPr>
          <a:xfrm>
            <a:off x="4279857" y="861572"/>
            <a:ext cx="4440669" cy="1429322"/>
          </a:xfrm>
          <a:prstGeom prst="rect">
            <a:avLst/>
          </a:prstGeom>
        </p:spPr>
      </p:pic>
      <p:pic>
        <p:nvPicPr>
          <p:cNvPr id="8" name="Picture 7">
            <a:extLst>
              <a:ext uri="{FF2B5EF4-FFF2-40B4-BE49-F238E27FC236}">
                <a16:creationId xmlns:a16="http://schemas.microsoft.com/office/drawing/2014/main" id="{5285B6C6-360D-491B-8461-D2A5F4C1A2C5}"/>
              </a:ext>
            </a:extLst>
          </p:cNvPr>
          <p:cNvPicPr>
            <a:picLocks noChangeAspect="1"/>
          </p:cNvPicPr>
          <p:nvPr/>
        </p:nvPicPr>
        <p:blipFill>
          <a:blip r:embed="rId4"/>
          <a:stretch>
            <a:fillRect/>
          </a:stretch>
        </p:blipFill>
        <p:spPr>
          <a:xfrm>
            <a:off x="5570291" y="2649155"/>
            <a:ext cx="2403664" cy="1808943"/>
          </a:xfrm>
          <a:prstGeom prst="rect">
            <a:avLst/>
          </a:prstGeom>
        </p:spPr>
      </p:pic>
      <p:sp>
        <p:nvSpPr>
          <p:cNvPr id="4" name="Footer Placeholder 3">
            <a:extLst>
              <a:ext uri="{FF2B5EF4-FFF2-40B4-BE49-F238E27FC236}">
                <a16:creationId xmlns:a16="http://schemas.microsoft.com/office/drawing/2014/main" id="{A91DC8C0-8A43-4928-82DC-03AD0FB2D404}"/>
              </a:ext>
            </a:extLst>
          </p:cNvPr>
          <p:cNvSpPr>
            <a:spLocks noGrp="1"/>
          </p:cNvSpPr>
          <p:nvPr>
            <p:ph type="ftr" sz="quarter" idx="11"/>
          </p:nvPr>
        </p:nvSpPr>
        <p:spPr/>
        <p:txBody>
          <a:bodyPr/>
          <a:lstStyle/>
          <a:p>
            <a:r>
              <a:rPr lang="en-US"/>
              <a:t>Restricted Access - This presentation is only for IIM Lucknow Students</a:t>
            </a:r>
            <a:endParaRPr lang="en-US" dirty="0"/>
          </a:p>
        </p:txBody>
      </p:sp>
    </p:spTree>
    <p:extLst>
      <p:ext uri="{BB962C8B-B14F-4D97-AF65-F5344CB8AC3E}">
        <p14:creationId xmlns:p14="http://schemas.microsoft.com/office/powerpoint/2010/main" val="2109780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p:cNvSpPr txBox="1">
            <a:spLocks/>
          </p:cNvSpPr>
          <p:nvPr/>
        </p:nvSpPr>
        <p:spPr>
          <a:xfrm>
            <a:off x="209551" y="285750"/>
            <a:ext cx="8658224" cy="4457699"/>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US" sz="2400" b="1" dirty="0">
                <a:solidFill>
                  <a:srgbClr val="0070C0"/>
                </a:solidFill>
              </a:rPr>
              <a:t>Types of Data</a:t>
            </a:r>
          </a:p>
          <a:p>
            <a:pPr marL="225000" lvl="7" indent="0">
              <a:buNone/>
            </a:pPr>
            <a:endParaRPr lang="en-US" b="1" dirty="0"/>
          </a:p>
          <a:p>
            <a:pPr marL="225000" lvl="7" indent="0">
              <a:buNone/>
            </a:pPr>
            <a:endParaRPr lang="en-US" sz="1800" dirty="0">
              <a:solidFill>
                <a:srgbClr val="0070C0"/>
              </a:solidFill>
            </a:endParaRPr>
          </a:p>
        </p:txBody>
      </p:sp>
      <p:sp>
        <p:nvSpPr>
          <p:cNvPr id="4" name="Footer Placeholder 3">
            <a:extLst>
              <a:ext uri="{FF2B5EF4-FFF2-40B4-BE49-F238E27FC236}">
                <a16:creationId xmlns:a16="http://schemas.microsoft.com/office/drawing/2014/main" id="{A91DC8C0-8A43-4928-82DC-03AD0FB2D404}"/>
              </a:ext>
            </a:extLst>
          </p:cNvPr>
          <p:cNvSpPr>
            <a:spLocks noGrp="1"/>
          </p:cNvSpPr>
          <p:nvPr>
            <p:ph type="ftr" sz="quarter" idx="11"/>
          </p:nvPr>
        </p:nvSpPr>
        <p:spPr/>
        <p:txBody>
          <a:bodyPr/>
          <a:lstStyle/>
          <a:p>
            <a:r>
              <a:rPr lang="en-US"/>
              <a:t>Restricted Access - This presentation is only for IIM Lucknow Students</a:t>
            </a:r>
            <a:endParaRPr lang="en-US" dirty="0"/>
          </a:p>
        </p:txBody>
      </p:sp>
      <p:pic>
        <p:nvPicPr>
          <p:cNvPr id="11" name="Picture 2" descr="Tabulation of Data | Definition, Examples, Diagrams">
            <a:extLst>
              <a:ext uri="{FF2B5EF4-FFF2-40B4-BE49-F238E27FC236}">
                <a16:creationId xmlns:a16="http://schemas.microsoft.com/office/drawing/2014/main" id="{08B92ECE-6761-461C-B02C-355D4E1D25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449" y="1249206"/>
            <a:ext cx="2609850" cy="199072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6F00F19-60B7-4C82-9CA7-592EEB413BA6}"/>
              </a:ext>
            </a:extLst>
          </p:cNvPr>
          <p:cNvPicPr>
            <a:picLocks noChangeAspect="1"/>
          </p:cNvPicPr>
          <p:nvPr/>
        </p:nvPicPr>
        <p:blipFill rotWithShape="1">
          <a:blip r:embed="rId4"/>
          <a:srcRect l="40266" r="15932"/>
          <a:stretch/>
        </p:blipFill>
        <p:spPr>
          <a:xfrm>
            <a:off x="3388536" y="1093674"/>
            <a:ext cx="1944216" cy="2933700"/>
          </a:xfrm>
          <a:prstGeom prst="rect">
            <a:avLst/>
          </a:prstGeom>
        </p:spPr>
      </p:pic>
      <p:pic>
        <p:nvPicPr>
          <p:cNvPr id="14" name="Picture 13">
            <a:extLst>
              <a:ext uri="{FF2B5EF4-FFF2-40B4-BE49-F238E27FC236}">
                <a16:creationId xmlns:a16="http://schemas.microsoft.com/office/drawing/2014/main" id="{F4178C15-18A6-47F8-B3F9-69081AB20087}"/>
              </a:ext>
            </a:extLst>
          </p:cNvPr>
          <p:cNvPicPr>
            <a:picLocks noChangeAspect="1"/>
          </p:cNvPicPr>
          <p:nvPr/>
        </p:nvPicPr>
        <p:blipFill>
          <a:blip r:embed="rId5"/>
          <a:stretch>
            <a:fillRect/>
          </a:stretch>
        </p:blipFill>
        <p:spPr>
          <a:xfrm>
            <a:off x="5503353" y="1334484"/>
            <a:ext cx="3235852" cy="1820167"/>
          </a:xfrm>
          <a:prstGeom prst="rect">
            <a:avLst/>
          </a:prstGeom>
        </p:spPr>
      </p:pic>
      <p:sp>
        <p:nvSpPr>
          <p:cNvPr id="16" name="TextBox 15">
            <a:extLst>
              <a:ext uri="{FF2B5EF4-FFF2-40B4-BE49-F238E27FC236}">
                <a16:creationId xmlns:a16="http://schemas.microsoft.com/office/drawing/2014/main" id="{83AF766C-D24F-4E85-A2BC-9508AA76E67E}"/>
              </a:ext>
            </a:extLst>
          </p:cNvPr>
          <p:cNvSpPr txBox="1"/>
          <p:nvPr/>
        </p:nvSpPr>
        <p:spPr>
          <a:xfrm>
            <a:off x="706353" y="3321245"/>
            <a:ext cx="2009299" cy="369332"/>
          </a:xfrm>
          <a:prstGeom prst="rect">
            <a:avLst/>
          </a:prstGeom>
          <a:noFill/>
        </p:spPr>
        <p:txBody>
          <a:bodyPr wrap="square">
            <a:spAutoFit/>
          </a:bodyPr>
          <a:lstStyle/>
          <a:p>
            <a:pPr marL="225000" lvl="7" indent="0">
              <a:buClr>
                <a:srgbClr val="0070C0"/>
              </a:buClr>
            </a:pPr>
            <a:r>
              <a:rPr lang="en-US" sz="1800" dirty="0">
                <a:solidFill>
                  <a:srgbClr val="0070C0"/>
                </a:solidFill>
              </a:rPr>
              <a:t>Structured Data</a:t>
            </a:r>
          </a:p>
        </p:txBody>
      </p:sp>
      <p:sp>
        <p:nvSpPr>
          <p:cNvPr id="17" name="TextBox 16">
            <a:extLst>
              <a:ext uri="{FF2B5EF4-FFF2-40B4-BE49-F238E27FC236}">
                <a16:creationId xmlns:a16="http://schemas.microsoft.com/office/drawing/2014/main" id="{F596F421-D325-4DAE-B9E5-04765C1DC8FA}"/>
              </a:ext>
            </a:extLst>
          </p:cNvPr>
          <p:cNvSpPr txBox="1"/>
          <p:nvPr/>
        </p:nvSpPr>
        <p:spPr>
          <a:xfrm>
            <a:off x="3206309" y="4117762"/>
            <a:ext cx="2380759" cy="369332"/>
          </a:xfrm>
          <a:prstGeom prst="rect">
            <a:avLst/>
          </a:prstGeom>
          <a:noFill/>
        </p:spPr>
        <p:txBody>
          <a:bodyPr wrap="square">
            <a:spAutoFit/>
          </a:bodyPr>
          <a:lstStyle/>
          <a:p>
            <a:pPr marL="225000" lvl="7" indent="0">
              <a:buClr>
                <a:srgbClr val="0070C0"/>
              </a:buClr>
            </a:pPr>
            <a:r>
              <a:rPr lang="en-US" sz="1800" dirty="0">
                <a:solidFill>
                  <a:srgbClr val="0070C0"/>
                </a:solidFill>
              </a:rPr>
              <a:t>Unstructured Data</a:t>
            </a:r>
          </a:p>
        </p:txBody>
      </p:sp>
      <p:sp>
        <p:nvSpPr>
          <p:cNvPr id="18" name="TextBox 17">
            <a:extLst>
              <a:ext uri="{FF2B5EF4-FFF2-40B4-BE49-F238E27FC236}">
                <a16:creationId xmlns:a16="http://schemas.microsoft.com/office/drawing/2014/main" id="{0DEC547C-8196-49A2-BF1F-03E508F4B23B}"/>
              </a:ext>
            </a:extLst>
          </p:cNvPr>
          <p:cNvSpPr txBox="1"/>
          <p:nvPr/>
        </p:nvSpPr>
        <p:spPr>
          <a:xfrm>
            <a:off x="6005636" y="3321245"/>
            <a:ext cx="2622576" cy="369332"/>
          </a:xfrm>
          <a:prstGeom prst="rect">
            <a:avLst/>
          </a:prstGeom>
          <a:noFill/>
        </p:spPr>
        <p:txBody>
          <a:bodyPr wrap="square">
            <a:spAutoFit/>
          </a:bodyPr>
          <a:lstStyle/>
          <a:p>
            <a:pPr marL="225000" lvl="7" indent="0">
              <a:buClr>
                <a:srgbClr val="0070C0"/>
              </a:buClr>
            </a:pPr>
            <a:r>
              <a:rPr lang="en-US" sz="1800" dirty="0">
                <a:solidFill>
                  <a:srgbClr val="0070C0"/>
                </a:solidFill>
              </a:rPr>
              <a:t>Semi-structured Data</a:t>
            </a:r>
          </a:p>
        </p:txBody>
      </p:sp>
    </p:spTree>
    <p:extLst>
      <p:ext uri="{BB962C8B-B14F-4D97-AF65-F5344CB8AC3E}">
        <p14:creationId xmlns:p14="http://schemas.microsoft.com/office/powerpoint/2010/main" val="1974931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p:cNvSpPr txBox="1">
            <a:spLocks/>
          </p:cNvSpPr>
          <p:nvPr/>
        </p:nvSpPr>
        <p:spPr>
          <a:xfrm>
            <a:off x="209551" y="285750"/>
            <a:ext cx="8658224" cy="4457699"/>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US" sz="2400" b="1" dirty="0">
                <a:solidFill>
                  <a:srgbClr val="0070C0"/>
                </a:solidFill>
              </a:rPr>
              <a:t>Types of Data</a:t>
            </a:r>
          </a:p>
          <a:p>
            <a:pPr marL="225000" lvl="7" indent="0">
              <a:buNone/>
            </a:pPr>
            <a:endParaRPr lang="en-US" b="1" dirty="0"/>
          </a:p>
          <a:p>
            <a:pPr marL="510750" lvl="7" indent="-285750">
              <a:buClr>
                <a:srgbClr val="0070C0"/>
              </a:buClr>
              <a:buFont typeface="Wingdings" panose="05000000000000000000" pitchFamily="2" charset="2"/>
              <a:buChar char="Ø"/>
            </a:pPr>
            <a:r>
              <a:rPr lang="en-IN" sz="1800" dirty="0">
                <a:solidFill>
                  <a:srgbClr val="0070C0"/>
                </a:solidFill>
              </a:rPr>
              <a:t>Structured Data</a:t>
            </a:r>
          </a:p>
          <a:p>
            <a:pPr marL="678600" lvl="8" indent="-228600">
              <a:buClr>
                <a:srgbClr val="002060"/>
              </a:buClr>
              <a:buFont typeface="Wingdings" panose="05000000000000000000" pitchFamily="2" charset="2"/>
              <a:buChar char="ü"/>
            </a:pPr>
            <a:r>
              <a:rPr lang="en-US" sz="1400" b="1" i="1" dirty="0">
                <a:solidFill>
                  <a:schemeClr val="tx1"/>
                </a:solidFill>
              </a:rPr>
              <a:t>Computer or Machine Generated Structured Data :</a:t>
            </a:r>
            <a:r>
              <a:rPr lang="en-US" sz="1400" i="1" dirty="0">
                <a:solidFill>
                  <a:schemeClr val="tx1"/>
                </a:solidFill>
              </a:rPr>
              <a:t> </a:t>
            </a:r>
            <a:r>
              <a:rPr lang="en-IN" sz="1400" dirty="0">
                <a:solidFill>
                  <a:schemeClr val="tx1"/>
                </a:solidFill>
              </a:rPr>
              <a:t>Sensor data – Web log data – Point of sale data – Financial data</a:t>
            </a:r>
            <a:endParaRPr lang="en-IN" sz="2000" dirty="0"/>
          </a:p>
          <a:p>
            <a:pPr marL="678600" lvl="8" indent="-228600">
              <a:buClr>
                <a:srgbClr val="002060"/>
              </a:buClr>
              <a:buFont typeface="Wingdings" panose="05000000000000000000" pitchFamily="2" charset="2"/>
              <a:buChar char="ü"/>
            </a:pPr>
            <a:r>
              <a:rPr lang="en-IN" sz="1400" b="1" i="1" dirty="0">
                <a:solidFill>
                  <a:schemeClr val="tx1"/>
                </a:solidFill>
              </a:rPr>
              <a:t>Human Generated Data:</a:t>
            </a:r>
            <a:r>
              <a:rPr lang="en-IN" sz="1400" i="1" dirty="0">
                <a:solidFill>
                  <a:schemeClr val="tx1"/>
                </a:solidFill>
              </a:rPr>
              <a:t> </a:t>
            </a:r>
            <a:r>
              <a:rPr lang="en-US" sz="1400" i="1" dirty="0">
                <a:solidFill>
                  <a:schemeClr val="tx1"/>
                </a:solidFill>
              </a:rPr>
              <a:t> </a:t>
            </a:r>
            <a:r>
              <a:rPr lang="en-IN" sz="1400" dirty="0">
                <a:solidFill>
                  <a:schemeClr val="tx1"/>
                </a:solidFill>
              </a:rPr>
              <a:t>Input data – Click stream data –  Gaming related data</a:t>
            </a:r>
          </a:p>
          <a:p>
            <a:pPr marL="450000" lvl="8" indent="0">
              <a:buClr>
                <a:srgbClr val="002060"/>
              </a:buClr>
              <a:buNone/>
            </a:pPr>
            <a:endParaRPr lang="en-IN" sz="1400" dirty="0">
              <a:solidFill>
                <a:schemeClr val="tx1"/>
              </a:solidFill>
            </a:endParaRPr>
          </a:p>
          <a:p>
            <a:pPr marL="510750" lvl="7" indent="-285750">
              <a:buClr>
                <a:srgbClr val="0070C0"/>
              </a:buClr>
              <a:buFont typeface="Wingdings" panose="05000000000000000000" pitchFamily="2" charset="2"/>
              <a:buChar char="Ø"/>
            </a:pPr>
            <a:r>
              <a:rPr lang="en-IN" sz="1800" dirty="0">
                <a:solidFill>
                  <a:srgbClr val="0070C0"/>
                </a:solidFill>
              </a:rPr>
              <a:t>Semi-Structured Data</a:t>
            </a:r>
          </a:p>
          <a:p>
            <a:pPr marL="678600" lvl="8" indent="-228600">
              <a:buClr>
                <a:srgbClr val="002060"/>
              </a:buClr>
              <a:buFont typeface="Wingdings" panose="05000000000000000000" pitchFamily="2" charset="2"/>
              <a:buChar char="ü"/>
            </a:pPr>
            <a:r>
              <a:rPr lang="en-US" sz="1400" b="1" i="1" dirty="0">
                <a:solidFill>
                  <a:schemeClr val="tx1"/>
                </a:solidFill>
              </a:rPr>
              <a:t>Social media data</a:t>
            </a:r>
            <a:r>
              <a:rPr lang="en-US" sz="1400" b="1" dirty="0">
                <a:solidFill>
                  <a:schemeClr val="tx1"/>
                </a:solidFill>
              </a:rPr>
              <a:t>:</a:t>
            </a:r>
            <a:r>
              <a:rPr lang="en-US" sz="1400" b="1" i="1" dirty="0">
                <a:solidFill>
                  <a:schemeClr val="tx1"/>
                </a:solidFill>
              </a:rPr>
              <a:t> </a:t>
            </a:r>
            <a:r>
              <a:rPr lang="en-US" sz="1400" dirty="0">
                <a:solidFill>
                  <a:schemeClr val="tx1"/>
                </a:solidFill>
              </a:rPr>
              <a:t>Generated from the social media platforms such as YouTube, Facebook, Twitter, LinkedIn, and Flickr. </a:t>
            </a:r>
          </a:p>
          <a:p>
            <a:pPr marL="510750" lvl="7" indent="-285750">
              <a:buClr>
                <a:srgbClr val="0070C0"/>
              </a:buClr>
              <a:buFont typeface="Wingdings" panose="05000000000000000000" pitchFamily="2" charset="2"/>
              <a:buChar char="Ø"/>
            </a:pPr>
            <a:endParaRPr lang="en-IN" sz="1800" dirty="0">
              <a:solidFill>
                <a:srgbClr val="0070C0"/>
              </a:solidFill>
            </a:endParaRPr>
          </a:p>
          <a:p>
            <a:pPr marL="510750" lvl="7" indent="-285750">
              <a:buClr>
                <a:srgbClr val="0070C0"/>
              </a:buClr>
              <a:buFont typeface="Wingdings" panose="05000000000000000000" pitchFamily="2" charset="2"/>
              <a:buChar char="Ø"/>
            </a:pPr>
            <a:r>
              <a:rPr lang="en-IN" sz="1800" dirty="0">
                <a:solidFill>
                  <a:srgbClr val="0070C0"/>
                </a:solidFill>
              </a:rPr>
              <a:t>Unstructured Data</a:t>
            </a:r>
            <a:endParaRPr lang="en-US" sz="1800" dirty="0">
              <a:solidFill>
                <a:srgbClr val="0070C0"/>
              </a:solidFill>
            </a:endParaRPr>
          </a:p>
          <a:p>
            <a:pPr marL="678600" lvl="8" indent="-228600">
              <a:buClr>
                <a:srgbClr val="002060"/>
              </a:buClr>
              <a:buFont typeface="Wingdings" panose="05000000000000000000" pitchFamily="2" charset="2"/>
              <a:buChar char="ü"/>
            </a:pPr>
            <a:r>
              <a:rPr lang="en-US" sz="1400" b="1" i="1" dirty="0">
                <a:solidFill>
                  <a:schemeClr val="tx1"/>
                </a:solidFill>
              </a:rPr>
              <a:t>Computer or Machine Generated Structured Data </a:t>
            </a:r>
            <a:r>
              <a:rPr lang="en-US" sz="1400" b="1" dirty="0">
                <a:solidFill>
                  <a:schemeClr val="tx1"/>
                </a:solidFill>
              </a:rPr>
              <a:t>:</a:t>
            </a:r>
            <a:r>
              <a:rPr lang="en-US" sz="1400" b="1" i="1" dirty="0">
                <a:solidFill>
                  <a:schemeClr val="tx1"/>
                </a:solidFill>
              </a:rPr>
              <a:t> </a:t>
            </a:r>
            <a:r>
              <a:rPr lang="en-IN" sz="1400" dirty="0">
                <a:solidFill>
                  <a:schemeClr val="tx1"/>
                </a:solidFill>
              </a:rPr>
              <a:t>Satellite images - Scientific data - Photographs and video (surveillance, and traffic video) - Radar or sonar data</a:t>
            </a:r>
          </a:p>
          <a:p>
            <a:pPr marL="678600" lvl="8" indent="-228600">
              <a:buClr>
                <a:srgbClr val="002060"/>
              </a:buClr>
              <a:buFont typeface="Wingdings" panose="05000000000000000000" pitchFamily="2" charset="2"/>
              <a:buChar char="ü"/>
            </a:pPr>
            <a:r>
              <a:rPr lang="en-IN" sz="1400" b="1" i="1" dirty="0">
                <a:solidFill>
                  <a:schemeClr val="tx1"/>
                </a:solidFill>
              </a:rPr>
              <a:t>Human-generated Unstructured Data Examples </a:t>
            </a:r>
            <a:r>
              <a:rPr lang="en-IN" sz="1400" b="1" dirty="0">
                <a:solidFill>
                  <a:schemeClr val="tx1"/>
                </a:solidFill>
              </a:rPr>
              <a:t>:</a:t>
            </a:r>
            <a:r>
              <a:rPr lang="en-IN" sz="1400" dirty="0">
                <a:solidFill>
                  <a:schemeClr val="tx1"/>
                </a:solidFill>
              </a:rPr>
              <a:t> Mobile and Voice data - Web behaviour and content - Image and Video Data – customer behaviour  </a:t>
            </a:r>
            <a:endParaRPr lang="en-US" sz="1400" dirty="0">
              <a:solidFill>
                <a:schemeClr val="tx1"/>
              </a:solidFill>
            </a:endParaRPr>
          </a:p>
        </p:txBody>
      </p:sp>
      <p:sp>
        <p:nvSpPr>
          <p:cNvPr id="4" name="Footer Placeholder 3">
            <a:extLst>
              <a:ext uri="{FF2B5EF4-FFF2-40B4-BE49-F238E27FC236}">
                <a16:creationId xmlns:a16="http://schemas.microsoft.com/office/drawing/2014/main" id="{A91DC8C0-8A43-4928-82DC-03AD0FB2D404}"/>
              </a:ext>
            </a:extLst>
          </p:cNvPr>
          <p:cNvSpPr>
            <a:spLocks noGrp="1"/>
          </p:cNvSpPr>
          <p:nvPr>
            <p:ph type="ftr" sz="quarter" idx="11"/>
          </p:nvPr>
        </p:nvSpPr>
        <p:spPr/>
        <p:txBody>
          <a:bodyPr/>
          <a:lstStyle/>
          <a:p>
            <a:r>
              <a:rPr lang="en-US"/>
              <a:t>Restricted Access - This presentation is only for IIM Lucknow Students</a:t>
            </a:r>
            <a:endParaRPr lang="en-US" dirty="0"/>
          </a:p>
        </p:txBody>
      </p:sp>
    </p:spTree>
    <p:extLst>
      <p:ext uri="{BB962C8B-B14F-4D97-AF65-F5344CB8AC3E}">
        <p14:creationId xmlns:p14="http://schemas.microsoft.com/office/powerpoint/2010/main" val="1831534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FAB73BC-B049-4115-A692-8D63A059BFB8}" type="slidenum">
              <a:rPr lang="en-US" smtClean="0"/>
              <a:pPr/>
              <a:t>16</a:t>
            </a:fld>
            <a:endParaRPr lang="en-US" dirty="0"/>
          </a:p>
        </p:txBody>
      </p:sp>
      <p:sp>
        <p:nvSpPr>
          <p:cNvPr id="5" name="Content Placeholder 5"/>
          <p:cNvSpPr txBox="1">
            <a:spLocks/>
          </p:cNvSpPr>
          <p:nvPr/>
        </p:nvSpPr>
        <p:spPr>
          <a:xfrm>
            <a:off x="209551" y="285750"/>
            <a:ext cx="8658224" cy="4457699"/>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US" sz="2400" b="1" dirty="0">
                <a:solidFill>
                  <a:srgbClr val="0070C0"/>
                </a:solidFill>
              </a:rPr>
              <a:t>Big Data – Definition </a:t>
            </a:r>
            <a:endParaRPr lang="en-US" sz="1800" dirty="0">
              <a:solidFill>
                <a:srgbClr val="0070C0"/>
              </a:solidFill>
            </a:endParaRPr>
          </a:p>
          <a:p>
            <a:pPr marL="735750" lvl="8" indent="-285750">
              <a:buFontTx/>
              <a:buChar char="-"/>
            </a:pPr>
            <a:endParaRPr lang="en-US" sz="1800" dirty="0">
              <a:solidFill>
                <a:srgbClr val="0070C0"/>
              </a:solidFill>
            </a:endParaRPr>
          </a:p>
          <a:p>
            <a:pPr marL="735750" lvl="8" indent="-285750" algn="just">
              <a:buClr>
                <a:srgbClr val="0070C0"/>
              </a:buClr>
              <a:buFont typeface="Wingdings" panose="05000000000000000000" pitchFamily="2" charset="2"/>
              <a:buChar char="Ø"/>
            </a:pPr>
            <a:r>
              <a:rPr lang="en-US" sz="1600" b="1" dirty="0" err="1">
                <a:solidFill>
                  <a:srgbClr val="0070C0"/>
                </a:solidFill>
              </a:rPr>
              <a:t>Webopedia</a:t>
            </a:r>
            <a:r>
              <a:rPr lang="en-US" sz="1600" dirty="0">
                <a:solidFill>
                  <a:srgbClr val="0070C0"/>
                </a:solidFill>
              </a:rPr>
              <a:t>: Big data is used to describe a massive volume of both </a:t>
            </a:r>
            <a:r>
              <a:rPr lang="en-US" sz="1600" u="sng" dirty="0">
                <a:solidFill>
                  <a:srgbClr val="0070C0"/>
                </a:solidFill>
              </a:rPr>
              <a:t>structured</a:t>
            </a:r>
            <a:r>
              <a:rPr lang="en-US" sz="1600" dirty="0">
                <a:solidFill>
                  <a:srgbClr val="0070C0"/>
                </a:solidFill>
              </a:rPr>
              <a:t> and </a:t>
            </a:r>
            <a:r>
              <a:rPr lang="en-US" sz="1600" u="sng" dirty="0">
                <a:solidFill>
                  <a:srgbClr val="0070C0"/>
                </a:solidFill>
              </a:rPr>
              <a:t>unstructured</a:t>
            </a:r>
            <a:r>
              <a:rPr lang="en-US" sz="1600" dirty="0">
                <a:solidFill>
                  <a:srgbClr val="0070C0"/>
                </a:solidFill>
              </a:rPr>
              <a:t> data that is so large that it's difficult to process using traditional database and software techniques. </a:t>
            </a:r>
          </a:p>
          <a:p>
            <a:pPr marL="450000" lvl="8" indent="0" algn="just">
              <a:buClr>
                <a:srgbClr val="0070C0"/>
              </a:buClr>
              <a:buNone/>
            </a:pPr>
            <a:endParaRPr lang="en-US" sz="1600" dirty="0">
              <a:solidFill>
                <a:srgbClr val="0070C0"/>
              </a:solidFill>
            </a:endParaRPr>
          </a:p>
          <a:p>
            <a:pPr marL="735750" lvl="8" indent="-285750">
              <a:buClr>
                <a:srgbClr val="0070C0"/>
              </a:buClr>
              <a:buFont typeface="Wingdings" panose="05000000000000000000" pitchFamily="2" charset="2"/>
              <a:buChar char="Ø"/>
            </a:pPr>
            <a:r>
              <a:rPr lang="en-US" sz="1600" b="1" dirty="0">
                <a:solidFill>
                  <a:srgbClr val="0070C0"/>
                </a:solidFill>
              </a:rPr>
              <a:t>Gartner</a:t>
            </a:r>
            <a:r>
              <a:rPr lang="en-US" sz="1600" dirty="0">
                <a:solidFill>
                  <a:srgbClr val="0070C0"/>
                </a:solidFill>
              </a:rPr>
              <a:t>: Big data is high </a:t>
            </a:r>
            <a:r>
              <a:rPr lang="en-US" sz="1600" i="1" u="sng" dirty="0">
                <a:solidFill>
                  <a:srgbClr val="0070C0"/>
                </a:solidFill>
              </a:rPr>
              <a:t>volume</a:t>
            </a:r>
            <a:r>
              <a:rPr lang="en-US" sz="1600" dirty="0">
                <a:solidFill>
                  <a:srgbClr val="0070C0"/>
                </a:solidFill>
              </a:rPr>
              <a:t>, high </a:t>
            </a:r>
            <a:r>
              <a:rPr lang="en-US" sz="1600" i="1" u="sng" dirty="0">
                <a:solidFill>
                  <a:srgbClr val="0070C0"/>
                </a:solidFill>
              </a:rPr>
              <a:t>velocity</a:t>
            </a:r>
            <a:r>
              <a:rPr lang="en-US" sz="1600" dirty="0">
                <a:solidFill>
                  <a:srgbClr val="0070C0"/>
                </a:solidFill>
              </a:rPr>
              <a:t>, and/or </a:t>
            </a:r>
            <a:r>
              <a:rPr lang="en-US" sz="1600" i="1" u="sng" dirty="0">
                <a:solidFill>
                  <a:srgbClr val="0070C0"/>
                </a:solidFill>
              </a:rPr>
              <a:t>high variety </a:t>
            </a:r>
            <a:r>
              <a:rPr lang="en-US" sz="1600" dirty="0">
                <a:solidFill>
                  <a:srgbClr val="0070C0"/>
                </a:solidFill>
              </a:rPr>
              <a:t>information assets that require new forms of processing to enable enhanced decision making, insight discovery and process optimization</a:t>
            </a:r>
            <a:r>
              <a:rPr lang="en-US" sz="1800" dirty="0">
                <a:solidFill>
                  <a:srgbClr val="0070C0"/>
                </a:solidFill>
              </a:rPr>
              <a:t>.</a:t>
            </a:r>
          </a:p>
          <a:p>
            <a:pPr marL="735750" lvl="8" indent="-285750">
              <a:buClr>
                <a:srgbClr val="0070C0"/>
              </a:buClr>
              <a:buFont typeface="Wingdings" panose="05000000000000000000" pitchFamily="2" charset="2"/>
              <a:buChar char="Ø"/>
            </a:pPr>
            <a:endParaRPr lang="en-US" sz="1800" dirty="0">
              <a:solidFill>
                <a:srgbClr val="0070C0"/>
              </a:solidFill>
            </a:endParaRPr>
          </a:p>
          <a:p>
            <a:pPr marL="735750" lvl="8" indent="-285750" algn="just">
              <a:buClr>
                <a:srgbClr val="0070C0"/>
              </a:buClr>
              <a:buFont typeface="Wingdings" panose="05000000000000000000" pitchFamily="2" charset="2"/>
              <a:buChar char="Ø"/>
            </a:pPr>
            <a:r>
              <a:rPr lang="en-US" sz="1600" b="1" dirty="0">
                <a:solidFill>
                  <a:srgbClr val="0070C0"/>
                </a:solidFill>
              </a:rPr>
              <a:t>National Institute of Standards and Technology </a:t>
            </a:r>
            <a:r>
              <a:rPr lang="en-US" sz="1600" dirty="0">
                <a:solidFill>
                  <a:srgbClr val="0070C0"/>
                </a:solidFill>
              </a:rPr>
              <a:t>(USA):  Big Data consists of extensive datasets, primarily in the characteristics of </a:t>
            </a:r>
            <a:r>
              <a:rPr lang="en-US" sz="1600" i="1" u="sng" dirty="0">
                <a:solidFill>
                  <a:srgbClr val="0070C0"/>
                </a:solidFill>
              </a:rPr>
              <a:t>volume, velocity, and/or variety </a:t>
            </a:r>
            <a:r>
              <a:rPr lang="en-US" sz="1600" dirty="0">
                <a:solidFill>
                  <a:srgbClr val="0070C0"/>
                </a:solidFill>
              </a:rPr>
              <a:t>that require a scalable </a:t>
            </a:r>
            <a:r>
              <a:rPr lang="en-US" sz="1600" i="1" u="sng" dirty="0">
                <a:solidFill>
                  <a:srgbClr val="0070C0"/>
                </a:solidFill>
              </a:rPr>
              <a:t>architecture</a:t>
            </a:r>
            <a:r>
              <a:rPr lang="en-US" sz="1600" dirty="0">
                <a:solidFill>
                  <a:srgbClr val="0070C0"/>
                </a:solidFill>
              </a:rPr>
              <a:t> for efficient </a:t>
            </a:r>
            <a:r>
              <a:rPr lang="en-US" sz="1600" i="1" u="sng" dirty="0">
                <a:solidFill>
                  <a:srgbClr val="0070C0"/>
                </a:solidFill>
              </a:rPr>
              <a:t>storage</a:t>
            </a:r>
            <a:r>
              <a:rPr lang="en-US" sz="1600" dirty="0">
                <a:solidFill>
                  <a:srgbClr val="0070C0"/>
                </a:solidFill>
              </a:rPr>
              <a:t>, </a:t>
            </a:r>
            <a:r>
              <a:rPr lang="en-US" sz="1600" i="1" u="sng" dirty="0">
                <a:solidFill>
                  <a:srgbClr val="0070C0"/>
                </a:solidFill>
              </a:rPr>
              <a:t>manipulation</a:t>
            </a:r>
            <a:r>
              <a:rPr lang="en-US" sz="1600" dirty="0">
                <a:solidFill>
                  <a:srgbClr val="0070C0"/>
                </a:solidFill>
              </a:rPr>
              <a:t>, and </a:t>
            </a:r>
            <a:r>
              <a:rPr lang="en-US" sz="1600" i="1" u="sng" dirty="0">
                <a:solidFill>
                  <a:srgbClr val="0070C0"/>
                </a:solidFill>
              </a:rPr>
              <a:t>analysis</a:t>
            </a:r>
            <a:r>
              <a:rPr lang="en-US" sz="1600" dirty="0">
                <a:solidFill>
                  <a:srgbClr val="0070C0"/>
                </a:solidFill>
              </a:rPr>
              <a:t>.</a:t>
            </a:r>
          </a:p>
        </p:txBody>
      </p:sp>
    </p:spTree>
    <p:extLst>
      <p:ext uri="{BB962C8B-B14F-4D97-AF65-F5344CB8AC3E}">
        <p14:creationId xmlns:p14="http://schemas.microsoft.com/office/powerpoint/2010/main" val="3406256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FAB73BC-B049-4115-A692-8D63A059BFB8}" type="slidenum">
              <a:rPr lang="en-US" smtClean="0"/>
              <a:pPr/>
              <a:t>17</a:t>
            </a:fld>
            <a:endParaRPr lang="en-US" dirty="0"/>
          </a:p>
        </p:txBody>
      </p:sp>
      <p:sp>
        <p:nvSpPr>
          <p:cNvPr id="5" name="Content Placeholder 5"/>
          <p:cNvSpPr txBox="1">
            <a:spLocks/>
          </p:cNvSpPr>
          <p:nvPr/>
        </p:nvSpPr>
        <p:spPr>
          <a:xfrm>
            <a:off x="209551" y="285750"/>
            <a:ext cx="8658224" cy="4457699"/>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US" sz="2400" b="1" dirty="0">
                <a:solidFill>
                  <a:srgbClr val="0070C0"/>
                </a:solidFill>
              </a:rPr>
              <a:t>Big Data – Visualization  </a:t>
            </a:r>
            <a:endParaRPr lang="en-US" sz="1800" dirty="0">
              <a:solidFill>
                <a:srgbClr val="0070C0"/>
              </a:solidFill>
            </a:endParaRPr>
          </a:p>
          <a:p>
            <a:pPr marL="450000" lvl="8" indent="0">
              <a:buNone/>
            </a:pPr>
            <a:endParaRPr lang="en-US" sz="1800" dirty="0">
              <a:solidFill>
                <a:srgbClr val="0070C0"/>
              </a:solidFill>
            </a:endParaRPr>
          </a:p>
        </p:txBody>
      </p:sp>
      <p:pic>
        <p:nvPicPr>
          <p:cNvPr id="2" name="Picture 1">
            <a:extLst>
              <a:ext uri="{FF2B5EF4-FFF2-40B4-BE49-F238E27FC236}">
                <a16:creationId xmlns:a16="http://schemas.microsoft.com/office/drawing/2014/main" id="{B1AB5607-384D-45EA-81DE-0E640B8DE945}"/>
              </a:ext>
            </a:extLst>
          </p:cNvPr>
          <p:cNvPicPr>
            <a:picLocks noChangeAspect="1"/>
          </p:cNvPicPr>
          <p:nvPr/>
        </p:nvPicPr>
        <p:blipFill>
          <a:blip r:embed="rId3"/>
          <a:stretch>
            <a:fillRect/>
          </a:stretch>
        </p:blipFill>
        <p:spPr>
          <a:xfrm>
            <a:off x="498563" y="681338"/>
            <a:ext cx="4383037" cy="2008892"/>
          </a:xfrm>
          <a:prstGeom prst="rect">
            <a:avLst/>
          </a:prstGeom>
        </p:spPr>
      </p:pic>
      <p:pic>
        <p:nvPicPr>
          <p:cNvPr id="4" name="Picture 3">
            <a:extLst>
              <a:ext uri="{FF2B5EF4-FFF2-40B4-BE49-F238E27FC236}">
                <a16:creationId xmlns:a16="http://schemas.microsoft.com/office/drawing/2014/main" id="{8118E382-7ED4-4896-AA82-23EFA74D0FA4}"/>
              </a:ext>
            </a:extLst>
          </p:cNvPr>
          <p:cNvPicPr>
            <a:picLocks noChangeAspect="1"/>
          </p:cNvPicPr>
          <p:nvPr/>
        </p:nvPicPr>
        <p:blipFill>
          <a:blip r:embed="rId4"/>
          <a:stretch>
            <a:fillRect/>
          </a:stretch>
        </p:blipFill>
        <p:spPr>
          <a:xfrm>
            <a:off x="4572000" y="2696852"/>
            <a:ext cx="3996000" cy="2160898"/>
          </a:xfrm>
          <a:prstGeom prst="rect">
            <a:avLst/>
          </a:prstGeom>
        </p:spPr>
      </p:pic>
      <p:pic>
        <p:nvPicPr>
          <p:cNvPr id="6" name="Picture 5">
            <a:extLst>
              <a:ext uri="{FF2B5EF4-FFF2-40B4-BE49-F238E27FC236}">
                <a16:creationId xmlns:a16="http://schemas.microsoft.com/office/drawing/2014/main" id="{1A59BAC9-5873-4259-ACDC-F75FD4032C9D}"/>
              </a:ext>
            </a:extLst>
          </p:cNvPr>
          <p:cNvPicPr>
            <a:picLocks noChangeAspect="1"/>
          </p:cNvPicPr>
          <p:nvPr/>
        </p:nvPicPr>
        <p:blipFill>
          <a:blip r:embed="rId5"/>
          <a:stretch>
            <a:fillRect/>
          </a:stretch>
        </p:blipFill>
        <p:spPr>
          <a:xfrm>
            <a:off x="5596505" y="912890"/>
            <a:ext cx="2556364" cy="1302299"/>
          </a:xfrm>
          <a:prstGeom prst="rect">
            <a:avLst/>
          </a:prstGeom>
        </p:spPr>
      </p:pic>
      <p:pic>
        <p:nvPicPr>
          <p:cNvPr id="7" name="Picture 6">
            <a:extLst>
              <a:ext uri="{FF2B5EF4-FFF2-40B4-BE49-F238E27FC236}">
                <a16:creationId xmlns:a16="http://schemas.microsoft.com/office/drawing/2014/main" id="{6D2C5FE0-D270-4A79-A53E-1053E939F652}"/>
              </a:ext>
            </a:extLst>
          </p:cNvPr>
          <p:cNvPicPr>
            <a:picLocks noChangeAspect="1"/>
          </p:cNvPicPr>
          <p:nvPr/>
        </p:nvPicPr>
        <p:blipFill>
          <a:blip r:embed="rId6"/>
          <a:stretch>
            <a:fillRect/>
          </a:stretch>
        </p:blipFill>
        <p:spPr>
          <a:xfrm>
            <a:off x="498563" y="3220088"/>
            <a:ext cx="3724275" cy="1114425"/>
          </a:xfrm>
          <a:prstGeom prst="rect">
            <a:avLst/>
          </a:prstGeom>
        </p:spPr>
      </p:pic>
    </p:spTree>
    <p:extLst>
      <p:ext uri="{BB962C8B-B14F-4D97-AF65-F5344CB8AC3E}">
        <p14:creationId xmlns:p14="http://schemas.microsoft.com/office/powerpoint/2010/main" val="2046602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FAB73BC-B049-4115-A692-8D63A059BFB8}" type="slidenum">
              <a:rPr lang="en-US" smtClean="0"/>
              <a:pPr/>
              <a:t>18</a:t>
            </a:fld>
            <a:endParaRPr lang="en-US" dirty="0"/>
          </a:p>
        </p:txBody>
      </p:sp>
      <p:sp>
        <p:nvSpPr>
          <p:cNvPr id="5" name="Content Placeholder 5"/>
          <p:cNvSpPr txBox="1">
            <a:spLocks/>
          </p:cNvSpPr>
          <p:nvPr/>
        </p:nvSpPr>
        <p:spPr>
          <a:xfrm>
            <a:off x="209551" y="285750"/>
            <a:ext cx="8658224" cy="4457699"/>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US" sz="2400" b="1" dirty="0">
                <a:solidFill>
                  <a:srgbClr val="0070C0"/>
                </a:solidFill>
              </a:rPr>
              <a:t>Big Data – Visualization  </a:t>
            </a:r>
            <a:endParaRPr lang="en-US" sz="1800" dirty="0">
              <a:solidFill>
                <a:srgbClr val="0070C0"/>
              </a:solidFill>
            </a:endParaRPr>
          </a:p>
          <a:p>
            <a:pPr marL="450000" lvl="8" indent="0">
              <a:buNone/>
            </a:pPr>
            <a:endParaRPr lang="en-US" sz="1800" dirty="0">
              <a:solidFill>
                <a:srgbClr val="0070C0"/>
              </a:solidFill>
            </a:endParaRPr>
          </a:p>
        </p:txBody>
      </p:sp>
      <p:pic>
        <p:nvPicPr>
          <p:cNvPr id="4" name="Picture 3">
            <a:extLst>
              <a:ext uri="{FF2B5EF4-FFF2-40B4-BE49-F238E27FC236}">
                <a16:creationId xmlns:a16="http://schemas.microsoft.com/office/drawing/2014/main" id="{3AFFADA9-0186-4D1B-A11D-23300EDF9BCB}"/>
              </a:ext>
            </a:extLst>
          </p:cNvPr>
          <p:cNvPicPr>
            <a:picLocks noChangeAspect="1"/>
          </p:cNvPicPr>
          <p:nvPr/>
        </p:nvPicPr>
        <p:blipFill>
          <a:blip r:embed="rId3"/>
          <a:stretch>
            <a:fillRect/>
          </a:stretch>
        </p:blipFill>
        <p:spPr>
          <a:xfrm>
            <a:off x="351762" y="730320"/>
            <a:ext cx="6021061" cy="2395077"/>
          </a:xfrm>
          <a:prstGeom prst="rect">
            <a:avLst/>
          </a:prstGeom>
        </p:spPr>
      </p:pic>
      <p:pic>
        <p:nvPicPr>
          <p:cNvPr id="6" name="Picture 5">
            <a:extLst>
              <a:ext uri="{FF2B5EF4-FFF2-40B4-BE49-F238E27FC236}">
                <a16:creationId xmlns:a16="http://schemas.microsoft.com/office/drawing/2014/main" id="{AA328CCE-6E17-428A-BF68-D657503311A2}"/>
              </a:ext>
            </a:extLst>
          </p:cNvPr>
          <p:cNvPicPr>
            <a:picLocks noChangeAspect="1"/>
          </p:cNvPicPr>
          <p:nvPr/>
        </p:nvPicPr>
        <p:blipFill>
          <a:blip r:embed="rId4"/>
          <a:stretch>
            <a:fillRect/>
          </a:stretch>
        </p:blipFill>
        <p:spPr>
          <a:xfrm>
            <a:off x="6932802" y="1181147"/>
            <a:ext cx="1790332" cy="1383299"/>
          </a:xfrm>
          <a:prstGeom prst="rect">
            <a:avLst/>
          </a:prstGeom>
        </p:spPr>
      </p:pic>
      <p:sp>
        <p:nvSpPr>
          <p:cNvPr id="7" name="Arrow: Right 6">
            <a:extLst>
              <a:ext uri="{FF2B5EF4-FFF2-40B4-BE49-F238E27FC236}">
                <a16:creationId xmlns:a16="http://schemas.microsoft.com/office/drawing/2014/main" id="{2A2A174A-32EB-45E8-A954-FD338C5DFAA5}"/>
              </a:ext>
            </a:extLst>
          </p:cNvPr>
          <p:cNvSpPr/>
          <p:nvPr/>
        </p:nvSpPr>
        <p:spPr>
          <a:xfrm>
            <a:off x="6372823" y="2294426"/>
            <a:ext cx="562710" cy="216000"/>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a:extLst>
              <a:ext uri="{FF2B5EF4-FFF2-40B4-BE49-F238E27FC236}">
                <a16:creationId xmlns:a16="http://schemas.microsoft.com/office/drawing/2014/main" id="{13406523-E8D0-4105-B9A6-D1DD48DAFFE9}"/>
              </a:ext>
            </a:extLst>
          </p:cNvPr>
          <p:cNvPicPr>
            <a:picLocks noChangeAspect="1"/>
          </p:cNvPicPr>
          <p:nvPr/>
        </p:nvPicPr>
        <p:blipFill>
          <a:blip r:embed="rId5"/>
          <a:stretch>
            <a:fillRect/>
          </a:stretch>
        </p:blipFill>
        <p:spPr>
          <a:xfrm>
            <a:off x="2148840" y="3181980"/>
            <a:ext cx="5135880" cy="1759735"/>
          </a:xfrm>
          <a:prstGeom prst="rect">
            <a:avLst/>
          </a:prstGeom>
        </p:spPr>
      </p:pic>
    </p:spTree>
    <p:extLst>
      <p:ext uri="{BB962C8B-B14F-4D97-AF65-F5344CB8AC3E}">
        <p14:creationId xmlns:p14="http://schemas.microsoft.com/office/powerpoint/2010/main" val="2338051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09551" y="285750"/>
            <a:ext cx="8658224" cy="4457699"/>
          </a:xfrm>
        </p:spPr>
        <p:txBody>
          <a:bodyPr>
            <a:normAutofit/>
          </a:bodyPr>
          <a:lstStyle/>
          <a:p>
            <a:pPr marL="450000" lvl="8" indent="0" algn="ctr">
              <a:lnSpc>
                <a:spcPct val="70000"/>
              </a:lnSpc>
              <a:buNone/>
            </a:pPr>
            <a:r>
              <a:rPr lang="en-US" sz="2400" b="1" dirty="0">
                <a:solidFill>
                  <a:srgbClr val="0070C0"/>
                </a:solidFill>
                <a:sym typeface="Calibri"/>
              </a:rPr>
              <a:t>Evolution of Analytics </a:t>
            </a:r>
          </a:p>
          <a:p>
            <a:pPr marL="225000" lvl="7" indent="0" defTabSz="457200" hangingPunct="0">
              <a:lnSpc>
                <a:spcPct val="150000"/>
              </a:lnSpc>
              <a:spcBef>
                <a:spcPts val="0"/>
              </a:spcBef>
              <a:spcAft>
                <a:spcPts val="0"/>
              </a:spcAft>
              <a:buClrTx/>
              <a:buSzTx/>
              <a:buNone/>
            </a:pPr>
            <a:endParaRPr lang="en-IN" dirty="0"/>
          </a:p>
        </p:txBody>
      </p:sp>
      <p:pic>
        <p:nvPicPr>
          <p:cNvPr id="5" name="Picture 4"/>
          <p:cNvPicPr>
            <a:picLocks noChangeAspect="1"/>
          </p:cNvPicPr>
          <p:nvPr/>
        </p:nvPicPr>
        <p:blipFill>
          <a:blip r:embed="rId3"/>
          <a:stretch>
            <a:fillRect/>
          </a:stretch>
        </p:blipFill>
        <p:spPr>
          <a:xfrm>
            <a:off x="771784" y="839442"/>
            <a:ext cx="7533757" cy="3828429"/>
          </a:xfrm>
          <a:prstGeom prst="rect">
            <a:avLst/>
          </a:prstGeom>
        </p:spPr>
      </p:pic>
      <p:sp>
        <p:nvSpPr>
          <p:cNvPr id="2" name="Footer Placeholder 1">
            <a:extLst>
              <a:ext uri="{FF2B5EF4-FFF2-40B4-BE49-F238E27FC236}">
                <a16:creationId xmlns:a16="http://schemas.microsoft.com/office/drawing/2014/main" id="{5C7C2467-3288-45A1-86BF-3C3D37843142}"/>
              </a:ext>
            </a:extLst>
          </p:cNvPr>
          <p:cNvSpPr>
            <a:spLocks noGrp="1"/>
          </p:cNvSpPr>
          <p:nvPr>
            <p:ph type="ftr" sz="quarter" idx="11"/>
          </p:nvPr>
        </p:nvSpPr>
        <p:spPr/>
        <p:txBody>
          <a:bodyPr/>
          <a:lstStyle/>
          <a:p>
            <a:r>
              <a:rPr lang="en-US"/>
              <a:t>Restricted Access - This presentation is only for IIM Lucknow Students</a:t>
            </a:r>
            <a:endParaRPr lang="en-US" dirty="0"/>
          </a:p>
        </p:txBody>
      </p:sp>
    </p:spTree>
    <p:extLst>
      <p:ext uri="{BB962C8B-B14F-4D97-AF65-F5344CB8AC3E}">
        <p14:creationId xmlns:p14="http://schemas.microsoft.com/office/powerpoint/2010/main" val="337124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09551" y="285750"/>
            <a:ext cx="8658224" cy="4457699"/>
          </a:xfrm>
        </p:spPr>
        <p:txBody>
          <a:bodyPr>
            <a:normAutofit/>
          </a:bodyPr>
          <a:lstStyle/>
          <a:p>
            <a:pPr marL="450000" lvl="8" indent="0" algn="ctr">
              <a:lnSpc>
                <a:spcPct val="70000"/>
              </a:lnSpc>
              <a:buNone/>
            </a:pPr>
            <a:r>
              <a:rPr lang="en-US" sz="2400" b="1" dirty="0">
                <a:solidFill>
                  <a:srgbClr val="0070C0"/>
                </a:solidFill>
                <a:sym typeface="Calibri"/>
              </a:rPr>
              <a:t>Evolution of Analytics </a:t>
            </a:r>
          </a:p>
          <a:p>
            <a:pPr marL="225000" lvl="7" indent="0" defTabSz="457200" hangingPunct="0">
              <a:lnSpc>
                <a:spcPct val="150000"/>
              </a:lnSpc>
              <a:spcBef>
                <a:spcPts val="0"/>
              </a:spcBef>
              <a:spcAft>
                <a:spcPts val="0"/>
              </a:spcAft>
              <a:buClrTx/>
              <a:buSzTx/>
              <a:buNone/>
            </a:pPr>
            <a:endParaRPr lang="en-IN" dirty="0"/>
          </a:p>
        </p:txBody>
      </p:sp>
      <p:sp>
        <p:nvSpPr>
          <p:cNvPr id="2" name="Footer Placeholder 1">
            <a:extLst>
              <a:ext uri="{FF2B5EF4-FFF2-40B4-BE49-F238E27FC236}">
                <a16:creationId xmlns:a16="http://schemas.microsoft.com/office/drawing/2014/main" id="{5C7C2467-3288-45A1-86BF-3C3D37843142}"/>
              </a:ext>
            </a:extLst>
          </p:cNvPr>
          <p:cNvSpPr>
            <a:spLocks noGrp="1"/>
          </p:cNvSpPr>
          <p:nvPr>
            <p:ph type="ftr" sz="quarter" idx="11"/>
          </p:nvPr>
        </p:nvSpPr>
        <p:spPr/>
        <p:txBody>
          <a:bodyPr/>
          <a:lstStyle/>
          <a:p>
            <a:r>
              <a:rPr lang="en-US"/>
              <a:t>Restricted Access - This presentation is only for IIM Lucknow Students</a:t>
            </a:r>
            <a:endParaRPr lang="en-US" dirty="0"/>
          </a:p>
        </p:txBody>
      </p:sp>
      <p:pic>
        <p:nvPicPr>
          <p:cNvPr id="4098" name="Picture 2" descr="Types of analytics">
            <a:extLst>
              <a:ext uri="{FF2B5EF4-FFF2-40B4-BE49-F238E27FC236}">
                <a16:creationId xmlns:a16="http://schemas.microsoft.com/office/drawing/2014/main" id="{9E42039A-6C35-48EE-B04F-16EAB2E24E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25" y="1017224"/>
            <a:ext cx="7703163" cy="299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0170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p:cNvSpPr txBox="1">
            <a:spLocks/>
          </p:cNvSpPr>
          <p:nvPr/>
        </p:nvSpPr>
        <p:spPr>
          <a:xfrm>
            <a:off x="209551" y="285750"/>
            <a:ext cx="8658224" cy="4457699"/>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IN" sz="2400" b="1" dirty="0">
                <a:solidFill>
                  <a:srgbClr val="0070C0"/>
                </a:solidFill>
              </a:rPr>
              <a:t>Let us differentiate </a:t>
            </a:r>
          </a:p>
          <a:p>
            <a:pPr marL="510750" lvl="7" indent="-285750">
              <a:buFont typeface="Wingdings" panose="05000000000000000000" pitchFamily="2" charset="2"/>
              <a:buChar char="Ø"/>
            </a:pPr>
            <a:endParaRPr lang="en-US" dirty="0"/>
          </a:p>
          <a:p>
            <a:pPr marL="735750" lvl="8" indent="-285750">
              <a:buFont typeface="Wingdings" panose="05000000000000000000" pitchFamily="2" charset="2"/>
              <a:buChar char="ü"/>
            </a:pPr>
            <a:endParaRPr lang="en-US" dirty="0"/>
          </a:p>
          <a:p>
            <a:pPr marL="735750" lvl="8" indent="-285750">
              <a:buFont typeface="Wingdings" panose="05000000000000000000" pitchFamily="2" charset="2"/>
              <a:buChar char="ü"/>
            </a:pPr>
            <a:endParaRPr lang="en-US" dirty="0"/>
          </a:p>
          <a:p>
            <a:pPr marL="735750" lvl="8" indent="-285750">
              <a:buFont typeface="Wingdings" panose="05000000000000000000" pitchFamily="2" charset="2"/>
              <a:buChar char="ü"/>
            </a:pPr>
            <a:endParaRPr lang="en-US" dirty="0"/>
          </a:p>
          <a:p>
            <a:pPr marL="735750" lvl="8" indent="-285750">
              <a:buFont typeface="Wingdings" panose="05000000000000000000" pitchFamily="2" charset="2"/>
              <a:buChar char="ü"/>
            </a:pPr>
            <a:endParaRPr lang="en-US" dirty="0"/>
          </a:p>
          <a:p>
            <a:pPr marL="735750" lvl="8" indent="-285750">
              <a:buFont typeface="Wingdings" panose="05000000000000000000" pitchFamily="2" charset="2"/>
              <a:buChar char="ü"/>
            </a:pPr>
            <a:endParaRPr lang="en-US" dirty="0"/>
          </a:p>
          <a:p>
            <a:pPr marL="735750" lvl="8" indent="-285750">
              <a:buFont typeface="Wingdings" panose="05000000000000000000" pitchFamily="2" charset="2"/>
              <a:buChar char="ü"/>
            </a:pPr>
            <a:endParaRPr lang="en-US" dirty="0"/>
          </a:p>
          <a:p>
            <a:pPr marL="735750" lvl="8" indent="-285750">
              <a:buFont typeface="Wingdings" panose="05000000000000000000" pitchFamily="2" charset="2"/>
              <a:buChar char="ü"/>
            </a:pPr>
            <a:endParaRPr lang="en-US" dirty="0"/>
          </a:p>
          <a:p>
            <a:pPr marL="735750" lvl="8" indent="-285750">
              <a:buFont typeface="Wingdings" panose="05000000000000000000" pitchFamily="2" charset="2"/>
              <a:buChar char="ü"/>
            </a:pPr>
            <a:endParaRPr lang="en-US" dirty="0"/>
          </a:p>
          <a:p>
            <a:pPr marL="450000" lvl="8" indent="0">
              <a:buNone/>
            </a:pPr>
            <a:endParaRPr lang="en-US" dirty="0"/>
          </a:p>
        </p:txBody>
      </p:sp>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7A12697B-FCD4-4539-8D01-067FBA113D4D}"/>
                  </a:ext>
                </a:extLst>
              </p14:cNvPr>
              <p14:cNvContentPartPr/>
              <p14:nvPr/>
            </p14:nvContentPartPr>
            <p14:xfrm>
              <a:off x="1663440" y="1028270"/>
              <a:ext cx="360" cy="360"/>
            </p14:xfrm>
          </p:contentPart>
        </mc:Choice>
        <mc:Fallback xmlns="">
          <p:pic>
            <p:nvPicPr>
              <p:cNvPr id="9" name="Ink 8">
                <a:extLst>
                  <a:ext uri="{FF2B5EF4-FFF2-40B4-BE49-F238E27FC236}">
                    <a16:creationId xmlns:a16="http://schemas.microsoft.com/office/drawing/2014/main" id="{7A12697B-FCD4-4539-8D01-067FBA113D4D}"/>
                  </a:ext>
                </a:extLst>
              </p:cNvPr>
              <p:cNvPicPr/>
              <p:nvPr/>
            </p:nvPicPr>
            <p:blipFill>
              <a:blip r:embed="rId7"/>
              <a:stretch>
                <a:fillRect/>
              </a:stretch>
            </p:blipFill>
            <p:spPr>
              <a:xfrm>
                <a:off x="1654440" y="1019630"/>
                <a:ext cx="18000" cy="18000"/>
              </a:xfrm>
              <a:prstGeom prst="rect">
                <a:avLst/>
              </a:prstGeom>
            </p:spPr>
          </p:pic>
        </mc:Fallback>
      </mc:AlternateContent>
      <p:pic>
        <p:nvPicPr>
          <p:cNvPr id="10" name="Picture 9">
            <a:extLst>
              <a:ext uri="{FF2B5EF4-FFF2-40B4-BE49-F238E27FC236}">
                <a16:creationId xmlns:a16="http://schemas.microsoft.com/office/drawing/2014/main" id="{77CE748A-A5FE-4E78-9371-669C881A99B7}"/>
              </a:ext>
            </a:extLst>
          </p:cNvPr>
          <p:cNvPicPr>
            <a:picLocks noChangeAspect="1"/>
          </p:cNvPicPr>
          <p:nvPr/>
        </p:nvPicPr>
        <p:blipFill>
          <a:blip r:embed="rId8"/>
          <a:stretch>
            <a:fillRect/>
          </a:stretch>
        </p:blipFill>
        <p:spPr>
          <a:xfrm>
            <a:off x="4929164" y="685081"/>
            <a:ext cx="3600450" cy="1266825"/>
          </a:xfrm>
          <a:prstGeom prst="rect">
            <a:avLst/>
          </a:prstGeom>
        </p:spPr>
      </p:pic>
      <p:pic>
        <p:nvPicPr>
          <p:cNvPr id="12" name="Picture 11">
            <a:extLst>
              <a:ext uri="{FF2B5EF4-FFF2-40B4-BE49-F238E27FC236}">
                <a16:creationId xmlns:a16="http://schemas.microsoft.com/office/drawing/2014/main" id="{091B504D-1DA9-44C1-BC0A-618BA6905924}"/>
              </a:ext>
            </a:extLst>
          </p:cNvPr>
          <p:cNvPicPr>
            <a:picLocks noChangeAspect="1"/>
          </p:cNvPicPr>
          <p:nvPr/>
        </p:nvPicPr>
        <p:blipFill>
          <a:blip r:embed="rId9"/>
          <a:stretch>
            <a:fillRect/>
          </a:stretch>
        </p:blipFill>
        <p:spPr>
          <a:xfrm>
            <a:off x="939254" y="1449364"/>
            <a:ext cx="2466541" cy="1817019"/>
          </a:xfrm>
          <a:prstGeom prst="rect">
            <a:avLst/>
          </a:prstGeom>
        </p:spPr>
      </p:pic>
      <p:pic>
        <p:nvPicPr>
          <p:cNvPr id="13" name="Picture 12">
            <a:extLst>
              <a:ext uri="{FF2B5EF4-FFF2-40B4-BE49-F238E27FC236}">
                <a16:creationId xmlns:a16="http://schemas.microsoft.com/office/drawing/2014/main" id="{4C280265-111F-4AAC-AE62-33EEEBEFFE1B}"/>
              </a:ext>
            </a:extLst>
          </p:cNvPr>
          <p:cNvPicPr>
            <a:picLocks noChangeAspect="1"/>
          </p:cNvPicPr>
          <p:nvPr/>
        </p:nvPicPr>
        <p:blipFill rotWithShape="1">
          <a:blip r:embed="rId10"/>
          <a:srcRect t="30584" b="19721"/>
          <a:stretch/>
        </p:blipFill>
        <p:spPr>
          <a:xfrm>
            <a:off x="4717451" y="2655350"/>
            <a:ext cx="4023877" cy="1499720"/>
          </a:xfrm>
          <a:prstGeom prst="rect">
            <a:avLst/>
          </a:prstGeom>
        </p:spPr>
      </p:pic>
      <p:sp>
        <p:nvSpPr>
          <p:cNvPr id="14" name="TextBox 13">
            <a:extLst>
              <a:ext uri="{FF2B5EF4-FFF2-40B4-BE49-F238E27FC236}">
                <a16:creationId xmlns:a16="http://schemas.microsoft.com/office/drawing/2014/main" id="{1C3B5D68-8245-4898-AE0B-DE2C489BCAFC}"/>
              </a:ext>
            </a:extLst>
          </p:cNvPr>
          <p:cNvSpPr txBox="1"/>
          <p:nvPr/>
        </p:nvSpPr>
        <p:spPr>
          <a:xfrm>
            <a:off x="2784794" y="3598361"/>
            <a:ext cx="2009299" cy="369332"/>
          </a:xfrm>
          <a:prstGeom prst="rect">
            <a:avLst/>
          </a:prstGeom>
          <a:noFill/>
        </p:spPr>
        <p:txBody>
          <a:bodyPr wrap="square">
            <a:spAutoFit/>
          </a:bodyPr>
          <a:lstStyle/>
          <a:p>
            <a:pPr marL="225000" lvl="7" indent="0">
              <a:buClr>
                <a:srgbClr val="0070C0"/>
              </a:buClr>
            </a:pPr>
            <a:r>
              <a:rPr lang="en-US" sz="1800" b="1" dirty="0">
                <a:solidFill>
                  <a:srgbClr val="0070C0"/>
                </a:solidFill>
              </a:rPr>
              <a:t>Spreadsheet</a:t>
            </a:r>
            <a:r>
              <a:rPr lang="en-US" sz="1800" dirty="0">
                <a:solidFill>
                  <a:srgbClr val="0070C0"/>
                </a:solidFill>
              </a:rPr>
              <a:t> </a:t>
            </a:r>
            <a:r>
              <a:rPr lang="en-US" sz="1800" dirty="0">
                <a:solidFill>
                  <a:srgbClr val="0070C0"/>
                </a:solidFill>
                <a:sym typeface="Wingdings" panose="05000000000000000000" pitchFamily="2" charset="2"/>
              </a:rPr>
              <a:t></a:t>
            </a:r>
            <a:endParaRPr lang="en-US" sz="1800" dirty="0">
              <a:solidFill>
                <a:srgbClr val="0070C0"/>
              </a:solidFill>
            </a:endParaRPr>
          </a:p>
        </p:txBody>
      </p:sp>
      <p:sp>
        <p:nvSpPr>
          <p:cNvPr id="15" name="TextBox 14">
            <a:extLst>
              <a:ext uri="{FF2B5EF4-FFF2-40B4-BE49-F238E27FC236}">
                <a16:creationId xmlns:a16="http://schemas.microsoft.com/office/drawing/2014/main" id="{F1FCAF93-4ED1-4452-AEDB-65D3C48E1885}"/>
              </a:ext>
            </a:extLst>
          </p:cNvPr>
          <p:cNvSpPr txBox="1"/>
          <p:nvPr/>
        </p:nvSpPr>
        <p:spPr>
          <a:xfrm>
            <a:off x="3143666" y="2166571"/>
            <a:ext cx="1891501" cy="369332"/>
          </a:xfrm>
          <a:prstGeom prst="rect">
            <a:avLst/>
          </a:prstGeom>
          <a:noFill/>
        </p:spPr>
        <p:txBody>
          <a:bodyPr wrap="square">
            <a:spAutoFit/>
          </a:bodyPr>
          <a:lstStyle/>
          <a:p>
            <a:pPr marL="225000" lvl="7" indent="0">
              <a:buClr>
                <a:srgbClr val="0070C0"/>
              </a:buClr>
            </a:pPr>
            <a:r>
              <a:rPr lang="en-US" sz="1800" dirty="0">
                <a:solidFill>
                  <a:srgbClr val="0070C0"/>
                </a:solidFill>
                <a:sym typeface="Wingdings" panose="05000000000000000000" pitchFamily="2" charset="2"/>
              </a:rPr>
              <a:t> </a:t>
            </a:r>
            <a:r>
              <a:rPr lang="en-US" sz="1800" b="1" dirty="0">
                <a:solidFill>
                  <a:srgbClr val="0070C0"/>
                </a:solidFill>
              </a:rPr>
              <a:t>Data Base </a:t>
            </a:r>
          </a:p>
        </p:txBody>
      </p:sp>
      <p:sp>
        <p:nvSpPr>
          <p:cNvPr id="16" name="TextBox 15">
            <a:extLst>
              <a:ext uri="{FF2B5EF4-FFF2-40B4-BE49-F238E27FC236}">
                <a16:creationId xmlns:a16="http://schemas.microsoft.com/office/drawing/2014/main" id="{B0F4E6D7-D11E-431F-82E2-3FA92F1390F6}"/>
              </a:ext>
            </a:extLst>
          </p:cNvPr>
          <p:cNvSpPr txBox="1"/>
          <p:nvPr/>
        </p:nvSpPr>
        <p:spPr>
          <a:xfrm>
            <a:off x="3605436" y="1009612"/>
            <a:ext cx="1492217" cy="369332"/>
          </a:xfrm>
          <a:prstGeom prst="rect">
            <a:avLst/>
          </a:prstGeom>
          <a:noFill/>
        </p:spPr>
        <p:txBody>
          <a:bodyPr wrap="square">
            <a:spAutoFit/>
          </a:bodyPr>
          <a:lstStyle/>
          <a:p>
            <a:pPr marL="225000" lvl="7" indent="0">
              <a:buClr>
                <a:srgbClr val="0070C0"/>
              </a:buClr>
            </a:pPr>
            <a:r>
              <a:rPr lang="en-US" sz="1800" b="1" dirty="0">
                <a:solidFill>
                  <a:srgbClr val="0070C0"/>
                </a:solidFill>
              </a:rPr>
              <a:t>Table</a:t>
            </a:r>
            <a:r>
              <a:rPr lang="en-US" sz="1800" dirty="0">
                <a:solidFill>
                  <a:srgbClr val="0070C0"/>
                </a:solidFill>
              </a:rPr>
              <a:t> </a:t>
            </a:r>
            <a:r>
              <a:rPr lang="en-US" sz="1800" dirty="0">
                <a:solidFill>
                  <a:srgbClr val="0070C0"/>
                </a:solidFill>
                <a:sym typeface="Wingdings" panose="05000000000000000000" pitchFamily="2" charset="2"/>
              </a:rPr>
              <a:t> </a:t>
            </a:r>
            <a:endParaRPr lang="en-US" sz="1800" dirty="0">
              <a:solidFill>
                <a:srgbClr val="0070C0"/>
              </a:solidFill>
            </a:endParaRPr>
          </a:p>
        </p:txBody>
      </p:sp>
      <p:sp>
        <p:nvSpPr>
          <p:cNvPr id="17" name="TextBox 16">
            <a:extLst>
              <a:ext uri="{FF2B5EF4-FFF2-40B4-BE49-F238E27FC236}">
                <a16:creationId xmlns:a16="http://schemas.microsoft.com/office/drawing/2014/main" id="{7D3B08B6-8ABF-4FAF-A40E-138A5746CAD8}"/>
              </a:ext>
            </a:extLst>
          </p:cNvPr>
          <p:cNvSpPr txBox="1"/>
          <p:nvPr/>
        </p:nvSpPr>
        <p:spPr>
          <a:xfrm>
            <a:off x="276225" y="3351555"/>
            <a:ext cx="4572000" cy="1600438"/>
          </a:xfrm>
          <a:prstGeom prst="rect">
            <a:avLst/>
          </a:prstGeom>
          <a:noFill/>
        </p:spPr>
        <p:txBody>
          <a:bodyPr wrap="square">
            <a:spAutoFit/>
          </a:bodyPr>
          <a:lstStyle/>
          <a:p>
            <a:pPr marL="285750" indent="-285750">
              <a:buFont typeface="Wingdings" panose="05000000000000000000" pitchFamily="2" charset="2"/>
              <a:buChar char="ü"/>
            </a:pPr>
            <a:r>
              <a:rPr lang="en-US" sz="1400" dirty="0">
                <a:solidFill>
                  <a:srgbClr val="0070C0"/>
                </a:solidFill>
              </a:rPr>
              <a:t>Microsoft Excel </a:t>
            </a:r>
          </a:p>
          <a:p>
            <a:pPr marL="285750" indent="-285750">
              <a:buFont typeface="Wingdings" panose="05000000000000000000" pitchFamily="2" charset="2"/>
              <a:buChar char="ü"/>
            </a:pPr>
            <a:r>
              <a:rPr lang="en-US" sz="1400" dirty="0">
                <a:solidFill>
                  <a:srgbClr val="0070C0"/>
                </a:solidFill>
              </a:rPr>
              <a:t>Google Sheets</a:t>
            </a:r>
          </a:p>
          <a:p>
            <a:pPr marL="285750" indent="-285750">
              <a:buFont typeface="Wingdings" panose="05000000000000000000" pitchFamily="2" charset="2"/>
              <a:buChar char="ü"/>
            </a:pPr>
            <a:r>
              <a:rPr lang="en-US" sz="1400" dirty="0">
                <a:solidFill>
                  <a:srgbClr val="0070C0"/>
                </a:solidFill>
              </a:rPr>
              <a:t>iWork Numbers - Apple Suite.</a:t>
            </a:r>
          </a:p>
          <a:p>
            <a:pPr marL="285750" indent="-285750">
              <a:buFont typeface="Wingdings" panose="05000000000000000000" pitchFamily="2" charset="2"/>
              <a:buChar char="ü"/>
            </a:pPr>
            <a:r>
              <a:rPr lang="en-US" sz="1400" dirty="0">
                <a:solidFill>
                  <a:srgbClr val="0070C0"/>
                </a:solidFill>
              </a:rPr>
              <a:t>LibreOffice -&gt; Calc (free).</a:t>
            </a:r>
          </a:p>
          <a:p>
            <a:pPr marL="285750" indent="-285750">
              <a:buFont typeface="Wingdings" panose="05000000000000000000" pitchFamily="2" charset="2"/>
              <a:buChar char="ü"/>
            </a:pPr>
            <a:r>
              <a:rPr lang="en-US" sz="1400" dirty="0">
                <a:solidFill>
                  <a:srgbClr val="0070C0"/>
                </a:solidFill>
              </a:rPr>
              <a:t>Lotus 1-2-3 (discontinued).</a:t>
            </a:r>
          </a:p>
          <a:p>
            <a:pPr marL="285750" indent="-285750">
              <a:buFont typeface="Wingdings" panose="05000000000000000000" pitchFamily="2" charset="2"/>
              <a:buChar char="ü"/>
            </a:pPr>
            <a:r>
              <a:rPr lang="en-US" sz="1400" dirty="0">
                <a:solidFill>
                  <a:srgbClr val="0070C0"/>
                </a:solidFill>
              </a:rPr>
              <a:t>Lotus Symphony - </a:t>
            </a:r>
            <a:r>
              <a:rPr lang="en-US" sz="1400" b="1" dirty="0">
                <a:solidFill>
                  <a:srgbClr val="0070C0"/>
                </a:solidFill>
              </a:rPr>
              <a:t>Spreadsheets</a:t>
            </a:r>
            <a:r>
              <a:rPr lang="en-US" sz="1400" dirty="0">
                <a:solidFill>
                  <a:srgbClr val="0070C0"/>
                </a:solidFill>
              </a:rPr>
              <a:t>.</a:t>
            </a:r>
          </a:p>
          <a:p>
            <a:pPr marL="285750" indent="-285750">
              <a:buFont typeface="Wingdings" panose="05000000000000000000" pitchFamily="2" charset="2"/>
              <a:buChar char="ü"/>
            </a:pPr>
            <a:r>
              <a:rPr lang="en-US" sz="1400" dirty="0">
                <a:solidFill>
                  <a:srgbClr val="0070C0"/>
                </a:solidFill>
              </a:rPr>
              <a:t>OpenOffice -&gt; Calc (free).</a:t>
            </a:r>
          </a:p>
        </p:txBody>
      </p:sp>
      <p:sp>
        <p:nvSpPr>
          <p:cNvPr id="7" name="Footer Placeholder 6">
            <a:extLst>
              <a:ext uri="{FF2B5EF4-FFF2-40B4-BE49-F238E27FC236}">
                <a16:creationId xmlns:a16="http://schemas.microsoft.com/office/drawing/2014/main" id="{2F5F9351-F663-43EA-B736-88652FC3E917}"/>
              </a:ext>
            </a:extLst>
          </p:cNvPr>
          <p:cNvSpPr>
            <a:spLocks noGrp="1"/>
          </p:cNvSpPr>
          <p:nvPr>
            <p:ph type="ftr" sz="quarter" idx="11"/>
          </p:nvPr>
        </p:nvSpPr>
        <p:spPr/>
        <p:txBody>
          <a:bodyPr/>
          <a:lstStyle/>
          <a:p>
            <a:r>
              <a:rPr lang="en-US"/>
              <a:t>Restricted Access - This presentation is only for IIM Lucknow Students</a:t>
            </a:r>
            <a:endParaRPr lang="en-US" dirty="0"/>
          </a:p>
        </p:txBody>
      </p:sp>
    </p:spTree>
    <p:extLst>
      <p:ext uri="{BB962C8B-B14F-4D97-AF65-F5344CB8AC3E}">
        <p14:creationId xmlns:p14="http://schemas.microsoft.com/office/powerpoint/2010/main" val="37417311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079484-54C3-4D29-8F3C-52B8F0C2D1DD}"/>
              </a:ext>
            </a:extLst>
          </p:cNvPr>
          <p:cNvSpPr/>
          <p:nvPr/>
        </p:nvSpPr>
        <p:spPr>
          <a:xfrm>
            <a:off x="2694556" y="313014"/>
            <a:ext cx="3341942" cy="461665"/>
          </a:xfrm>
          <a:prstGeom prst="rect">
            <a:avLst/>
          </a:prstGeom>
        </p:spPr>
        <p:txBody>
          <a:bodyPr wrap="none">
            <a:spAutoFit/>
          </a:bodyPr>
          <a:lstStyle/>
          <a:p>
            <a:pPr marL="450000" lvl="8" indent="0" algn="ctr"/>
            <a:r>
              <a:rPr lang="en-IN" sz="2400" b="1" dirty="0">
                <a:solidFill>
                  <a:srgbClr val="0070C0"/>
                </a:solidFill>
              </a:rPr>
              <a:t>Installing Excel 2019</a:t>
            </a:r>
          </a:p>
        </p:txBody>
      </p:sp>
      <p:sp>
        <p:nvSpPr>
          <p:cNvPr id="4" name="Rectangle 3">
            <a:extLst>
              <a:ext uri="{FF2B5EF4-FFF2-40B4-BE49-F238E27FC236}">
                <a16:creationId xmlns:a16="http://schemas.microsoft.com/office/drawing/2014/main" id="{73810E69-B769-4D9B-BB04-C6EBB4652E60}"/>
              </a:ext>
            </a:extLst>
          </p:cNvPr>
          <p:cNvSpPr/>
          <p:nvPr/>
        </p:nvSpPr>
        <p:spPr>
          <a:xfrm>
            <a:off x="862779" y="897956"/>
            <a:ext cx="7263581" cy="3568813"/>
          </a:xfrm>
          <a:prstGeom prst="rect">
            <a:avLst/>
          </a:prstGeom>
        </p:spPr>
        <p:txBody>
          <a:bodyPr wrap="square">
            <a:spAutoFit/>
          </a:bodyPr>
          <a:lstStyle/>
          <a:p>
            <a:r>
              <a:rPr lang="en-US" sz="1200" dirty="0">
                <a:latin typeface="Calibri" panose="020F0502020204030204" pitchFamily="34" charset="0"/>
                <a:cs typeface="Calibri" panose="020F0502020204030204" pitchFamily="34" charset="0"/>
              </a:rPr>
              <a:t>Instructions from Computer Center to Install Excel 2019.</a:t>
            </a:r>
            <a:br>
              <a:rPr lang="en-US" sz="1200" dirty="0">
                <a:latin typeface="Calibri" panose="020F0502020204030204" pitchFamily="34" charset="0"/>
                <a:cs typeface="Calibri" panose="020F0502020204030204" pitchFamily="34" charset="0"/>
              </a:rPr>
            </a:b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You can call the contact below (0522-6696951,52) for additional support if any.</a:t>
            </a:r>
            <a:br>
              <a:rPr lang="en-US" sz="1200" dirty="0">
                <a:latin typeface="Calibri" panose="020F0502020204030204" pitchFamily="34" charset="0"/>
                <a:cs typeface="Calibri" panose="020F0502020204030204" pitchFamily="34" charset="0"/>
              </a:rPr>
            </a:b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Please find MS Office 2019 google drive link below. Students have to copy the entire folder to C drive root directory after downloading and uninstall any other office version from their laptop/desktop.</a:t>
            </a:r>
            <a:br>
              <a:rPr lang="en-US" sz="1200" dirty="0">
                <a:latin typeface="Calibri" panose="020F0502020204030204" pitchFamily="34" charset="0"/>
                <a:cs typeface="Calibri" panose="020F0502020204030204" pitchFamily="34" charset="0"/>
              </a:rPr>
            </a:b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For installation open a folder and run installation named batch file. After installation please provide a remote session for activation through </a:t>
            </a:r>
            <a:r>
              <a:rPr lang="en-US" sz="1200" dirty="0" err="1">
                <a:latin typeface="Calibri" panose="020F0502020204030204" pitchFamily="34" charset="0"/>
                <a:cs typeface="Calibri" panose="020F0502020204030204" pitchFamily="34" charset="0"/>
              </a:rPr>
              <a:t>anydesk</a:t>
            </a:r>
            <a:r>
              <a:rPr lang="en-US" sz="1200" dirty="0">
                <a:latin typeface="Calibri" panose="020F0502020204030204" pitchFamily="34" charset="0"/>
                <a:cs typeface="Calibri" panose="020F0502020204030204" pitchFamily="34" charset="0"/>
              </a:rPr>
              <a:t>/</a:t>
            </a:r>
            <a:r>
              <a:rPr lang="en-US" sz="1200" dirty="0" err="1">
                <a:latin typeface="Calibri" panose="020F0502020204030204" pitchFamily="34" charset="0"/>
                <a:cs typeface="Calibri" panose="020F0502020204030204" pitchFamily="34" charset="0"/>
              </a:rPr>
              <a:t>teamviewer</a:t>
            </a:r>
            <a:r>
              <a:rPr lang="en-US" sz="1200" dirty="0">
                <a:latin typeface="Calibri" panose="020F0502020204030204" pitchFamily="34" charset="0"/>
                <a:cs typeface="Calibri" panose="020F0502020204030204" pitchFamily="34" charset="0"/>
              </a:rPr>
              <a:t>.</a:t>
            </a:r>
            <a:br>
              <a:rPr lang="en-US" sz="1200" dirty="0">
                <a:latin typeface="Calibri" panose="020F0502020204030204" pitchFamily="34" charset="0"/>
                <a:cs typeface="Calibri" panose="020F0502020204030204" pitchFamily="34" charset="0"/>
              </a:rPr>
            </a:b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Link is-- </a:t>
            </a:r>
            <a:r>
              <a:rPr lang="en-US" sz="1200" dirty="0">
                <a:latin typeface="Calibri" panose="020F0502020204030204" pitchFamily="34" charset="0"/>
                <a:cs typeface="Calibri" panose="020F0502020204030204" pitchFamily="34" charset="0"/>
                <a:hlinkClick r:id="rId2"/>
              </a:rPr>
              <a:t>https://drive.google.com/drive/folders/1HkQ1d2twNcmOpxP-p5ipO_aPD0iFgOTK?usp=sharing</a:t>
            </a:r>
            <a:br>
              <a:rPr lang="en-US" sz="1200" dirty="0">
                <a:latin typeface="Calibri" panose="020F0502020204030204" pitchFamily="34" charset="0"/>
                <a:cs typeface="Calibri" panose="020F0502020204030204" pitchFamily="34" charset="0"/>
              </a:rPr>
            </a:b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Thanks &amp; Regards :</a:t>
            </a: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Technical Service Desk(TSD)</a:t>
            </a: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IIM - </a:t>
            </a:r>
            <a:r>
              <a:rPr lang="en-US" sz="1200" dirty="0" err="1">
                <a:latin typeface="Calibri" panose="020F0502020204030204" pitchFamily="34" charset="0"/>
                <a:cs typeface="Calibri" panose="020F0502020204030204" pitchFamily="34" charset="0"/>
              </a:rPr>
              <a:t>Prabandh</a:t>
            </a:r>
            <a:r>
              <a:rPr lang="en-US" sz="1200" dirty="0">
                <a:latin typeface="Calibri" panose="020F0502020204030204" pitchFamily="34" charset="0"/>
                <a:cs typeface="Calibri" panose="020F0502020204030204" pitchFamily="34" charset="0"/>
              </a:rPr>
              <a:t> Nagar, Off Sitapur Road,</a:t>
            </a: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Lucknow - 226013</a:t>
            </a: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Contact : 0522-6696951,52</a:t>
            </a:r>
          </a:p>
          <a:p>
            <a:br>
              <a:rPr lang="en-US" sz="1200" dirty="0">
                <a:latin typeface="Calibri" panose="020F0502020204030204" pitchFamily="34" charset="0"/>
                <a:cs typeface="Calibri" panose="020F0502020204030204" pitchFamily="34" charset="0"/>
              </a:rPr>
            </a:br>
            <a:endParaRPr lang="en-IN"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5140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8307B5-468C-4A1D-80B8-03CF40A7C3F9}"/>
              </a:ext>
            </a:extLst>
          </p:cNvPr>
          <p:cNvPicPr>
            <a:picLocks noChangeAspect="1"/>
          </p:cNvPicPr>
          <p:nvPr/>
        </p:nvPicPr>
        <p:blipFill rotWithShape="1">
          <a:blip r:embed="rId2"/>
          <a:srcRect b="5201"/>
          <a:stretch/>
        </p:blipFill>
        <p:spPr>
          <a:xfrm>
            <a:off x="1241022" y="329680"/>
            <a:ext cx="6858000" cy="4500563"/>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7" name="Rectangle 6">
            <a:extLst>
              <a:ext uri="{FF2B5EF4-FFF2-40B4-BE49-F238E27FC236}">
                <a16:creationId xmlns:a16="http://schemas.microsoft.com/office/drawing/2014/main" id="{B334672B-CD2E-48C3-AF8D-5004C9467331}"/>
              </a:ext>
            </a:extLst>
          </p:cNvPr>
          <p:cNvSpPr/>
          <p:nvPr/>
        </p:nvSpPr>
        <p:spPr>
          <a:xfrm>
            <a:off x="4939573" y="808888"/>
            <a:ext cx="1674186" cy="378042"/>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50" dirty="0"/>
              <a:t>Ribbon</a:t>
            </a:r>
          </a:p>
        </p:txBody>
      </p:sp>
      <p:sp>
        <p:nvSpPr>
          <p:cNvPr id="18" name="Speech Bubble: Rectangle with Corners Rounded 17">
            <a:extLst>
              <a:ext uri="{FF2B5EF4-FFF2-40B4-BE49-F238E27FC236}">
                <a16:creationId xmlns:a16="http://schemas.microsoft.com/office/drawing/2014/main" id="{572E5A8A-CCA9-4FB2-A468-6159513A9BDA}"/>
              </a:ext>
            </a:extLst>
          </p:cNvPr>
          <p:cNvSpPr/>
          <p:nvPr/>
        </p:nvSpPr>
        <p:spPr>
          <a:xfrm>
            <a:off x="1655676" y="3624046"/>
            <a:ext cx="1674186" cy="465516"/>
          </a:xfrm>
          <a:prstGeom prst="wedgeRoundRectCallout">
            <a:avLst>
              <a:gd name="adj1" fmla="val -37971"/>
              <a:gd name="adj2" fmla="val 157206"/>
              <a:gd name="adj3" fmla="val 16667"/>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50" dirty="0"/>
              <a:t>Worksheet Name </a:t>
            </a:r>
          </a:p>
        </p:txBody>
      </p:sp>
      <p:sp>
        <p:nvSpPr>
          <p:cNvPr id="19" name="Speech Bubble: Rectangle with Corners Rounded 18">
            <a:extLst>
              <a:ext uri="{FF2B5EF4-FFF2-40B4-BE49-F238E27FC236}">
                <a16:creationId xmlns:a16="http://schemas.microsoft.com/office/drawing/2014/main" id="{DE7E32DC-B0D7-4DE2-98CB-0C1DBFC7BB4A}"/>
              </a:ext>
            </a:extLst>
          </p:cNvPr>
          <p:cNvSpPr/>
          <p:nvPr/>
        </p:nvSpPr>
        <p:spPr>
          <a:xfrm>
            <a:off x="3192133" y="2091673"/>
            <a:ext cx="887397" cy="465516"/>
          </a:xfrm>
          <a:prstGeom prst="wedgeRoundRectCallout">
            <a:avLst>
              <a:gd name="adj1" fmla="val -180645"/>
              <a:gd name="adj2" fmla="val -199069"/>
              <a:gd name="adj3" fmla="val 16667"/>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50" dirty="0"/>
              <a:t>Name Bar</a:t>
            </a:r>
          </a:p>
        </p:txBody>
      </p:sp>
      <p:sp>
        <p:nvSpPr>
          <p:cNvPr id="20" name="Speech Bubble: Rectangle with Corners Rounded 19">
            <a:extLst>
              <a:ext uri="{FF2B5EF4-FFF2-40B4-BE49-F238E27FC236}">
                <a16:creationId xmlns:a16="http://schemas.microsoft.com/office/drawing/2014/main" id="{C6B02868-5362-4761-B681-87618506A05B}"/>
              </a:ext>
            </a:extLst>
          </p:cNvPr>
          <p:cNvSpPr/>
          <p:nvPr/>
        </p:nvSpPr>
        <p:spPr>
          <a:xfrm>
            <a:off x="4572000" y="1929735"/>
            <a:ext cx="1056818" cy="465516"/>
          </a:xfrm>
          <a:prstGeom prst="wedgeRoundRectCallout">
            <a:avLst>
              <a:gd name="adj1" fmla="val -64722"/>
              <a:gd name="adj2" fmla="val -158481"/>
              <a:gd name="adj3" fmla="val 16667"/>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50" dirty="0"/>
              <a:t>Formula Bar</a:t>
            </a:r>
          </a:p>
        </p:txBody>
      </p:sp>
      <p:sp>
        <p:nvSpPr>
          <p:cNvPr id="21" name="Speech Bubble: Rectangle with Corners Rounded 20">
            <a:extLst>
              <a:ext uri="{FF2B5EF4-FFF2-40B4-BE49-F238E27FC236}">
                <a16:creationId xmlns:a16="http://schemas.microsoft.com/office/drawing/2014/main" id="{02C518CA-C8C5-4AD3-AD7E-4F992F66A513}"/>
              </a:ext>
            </a:extLst>
          </p:cNvPr>
          <p:cNvSpPr/>
          <p:nvPr/>
        </p:nvSpPr>
        <p:spPr>
          <a:xfrm>
            <a:off x="2463054" y="1058761"/>
            <a:ext cx="1733617" cy="465516"/>
          </a:xfrm>
          <a:prstGeom prst="wedgeRoundRectCallout">
            <a:avLst>
              <a:gd name="adj1" fmla="val -55827"/>
              <a:gd name="adj2" fmla="val -187043"/>
              <a:gd name="adj3" fmla="val 16667"/>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50" dirty="0"/>
              <a:t>Quick Access Toolbar </a:t>
            </a:r>
          </a:p>
        </p:txBody>
      </p:sp>
      <p:sp>
        <p:nvSpPr>
          <p:cNvPr id="22" name="Speech Bubble: Rectangle with Corners Rounded 21">
            <a:extLst>
              <a:ext uri="{FF2B5EF4-FFF2-40B4-BE49-F238E27FC236}">
                <a16:creationId xmlns:a16="http://schemas.microsoft.com/office/drawing/2014/main" id="{5B51A306-8132-4561-9B24-51EB915708FA}"/>
              </a:ext>
            </a:extLst>
          </p:cNvPr>
          <p:cNvSpPr/>
          <p:nvPr/>
        </p:nvSpPr>
        <p:spPr>
          <a:xfrm>
            <a:off x="1576873" y="2971692"/>
            <a:ext cx="887397" cy="465516"/>
          </a:xfrm>
          <a:prstGeom prst="wedgeRoundRectCallout">
            <a:avLst>
              <a:gd name="adj1" fmla="val -64722"/>
              <a:gd name="adj2" fmla="val -158481"/>
              <a:gd name="adj3" fmla="val 16667"/>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50" dirty="0"/>
              <a:t>Row Number </a:t>
            </a:r>
          </a:p>
        </p:txBody>
      </p:sp>
      <p:sp>
        <p:nvSpPr>
          <p:cNvPr id="23" name="Speech Bubble: Rectangle with Corners Rounded 22">
            <a:extLst>
              <a:ext uri="{FF2B5EF4-FFF2-40B4-BE49-F238E27FC236}">
                <a16:creationId xmlns:a16="http://schemas.microsoft.com/office/drawing/2014/main" id="{5DD4829E-7739-4D47-A065-DF3F7CAC34E3}"/>
              </a:ext>
            </a:extLst>
          </p:cNvPr>
          <p:cNvSpPr/>
          <p:nvPr/>
        </p:nvSpPr>
        <p:spPr>
          <a:xfrm>
            <a:off x="6613759" y="2279829"/>
            <a:ext cx="887397" cy="465516"/>
          </a:xfrm>
          <a:prstGeom prst="wedgeRoundRectCallout">
            <a:avLst>
              <a:gd name="adj1" fmla="val -64722"/>
              <a:gd name="adj2" fmla="val -158481"/>
              <a:gd name="adj3" fmla="val 16667"/>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50" dirty="0"/>
              <a:t>Column Name </a:t>
            </a:r>
          </a:p>
        </p:txBody>
      </p:sp>
      <p:sp>
        <p:nvSpPr>
          <p:cNvPr id="24" name="Speech Bubble: Rectangle with Corners Rounded 23">
            <a:extLst>
              <a:ext uri="{FF2B5EF4-FFF2-40B4-BE49-F238E27FC236}">
                <a16:creationId xmlns:a16="http://schemas.microsoft.com/office/drawing/2014/main" id="{7852C582-39E2-4D8B-B765-7CEAD0A38442}"/>
              </a:ext>
            </a:extLst>
          </p:cNvPr>
          <p:cNvSpPr/>
          <p:nvPr/>
        </p:nvSpPr>
        <p:spPr>
          <a:xfrm>
            <a:off x="3005826" y="2883366"/>
            <a:ext cx="887397" cy="465516"/>
          </a:xfrm>
          <a:prstGeom prst="wedgeRoundRectCallout">
            <a:avLst>
              <a:gd name="adj1" fmla="val -238213"/>
              <a:gd name="adj2" fmla="val -286259"/>
              <a:gd name="adj3" fmla="val 16667"/>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50" dirty="0"/>
              <a:t>Select all Button</a:t>
            </a:r>
          </a:p>
        </p:txBody>
      </p:sp>
      <p:sp>
        <p:nvSpPr>
          <p:cNvPr id="25" name="Speech Bubble: Rectangle with Corners Rounded 24">
            <a:extLst>
              <a:ext uri="{FF2B5EF4-FFF2-40B4-BE49-F238E27FC236}">
                <a16:creationId xmlns:a16="http://schemas.microsoft.com/office/drawing/2014/main" id="{19C0E15F-1023-4A83-8B4C-044AC28E4190}"/>
              </a:ext>
            </a:extLst>
          </p:cNvPr>
          <p:cNvSpPr/>
          <p:nvPr/>
        </p:nvSpPr>
        <p:spPr>
          <a:xfrm>
            <a:off x="6138174" y="3678052"/>
            <a:ext cx="1674186" cy="465516"/>
          </a:xfrm>
          <a:prstGeom prst="wedgeRoundRectCallout">
            <a:avLst>
              <a:gd name="adj1" fmla="val -37971"/>
              <a:gd name="adj2" fmla="val 157206"/>
              <a:gd name="adj3" fmla="val 16667"/>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50" dirty="0"/>
              <a:t>Horizontal Scroll Bar </a:t>
            </a:r>
          </a:p>
        </p:txBody>
      </p:sp>
      <p:sp>
        <p:nvSpPr>
          <p:cNvPr id="26" name="Speech Bubble: Rectangle with Corners Rounded 25">
            <a:extLst>
              <a:ext uri="{FF2B5EF4-FFF2-40B4-BE49-F238E27FC236}">
                <a16:creationId xmlns:a16="http://schemas.microsoft.com/office/drawing/2014/main" id="{96E75EDE-3161-4BFA-BFFD-0F9C98C0F6E0}"/>
              </a:ext>
            </a:extLst>
          </p:cNvPr>
          <p:cNvSpPr/>
          <p:nvPr/>
        </p:nvSpPr>
        <p:spPr>
          <a:xfrm>
            <a:off x="5854262" y="2970801"/>
            <a:ext cx="1674186" cy="465516"/>
          </a:xfrm>
          <a:prstGeom prst="wedgeRoundRectCallout">
            <a:avLst>
              <a:gd name="adj1" fmla="val 81993"/>
              <a:gd name="adj2" fmla="val 241389"/>
              <a:gd name="adj3" fmla="val 16667"/>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50" dirty="0"/>
              <a:t>Vertical Scroll Bar </a:t>
            </a:r>
          </a:p>
        </p:txBody>
      </p:sp>
      <p:sp>
        <p:nvSpPr>
          <p:cNvPr id="29" name="Speech Bubble: Rectangle with Corners Rounded 28">
            <a:extLst>
              <a:ext uri="{FF2B5EF4-FFF2-40B4-BE49-F238E27FC236}">
                <a16:creationId xmlns:a16="http://schemas.microsoft.com/office/drawing/2014/main" id="{36A2B0B6-62DB-452F-98E9-76C238902F6D}"/>
              </a:ext>
            </a:extLst>
          </p:cNvPr>
          <p:cNvSpPr/>
          <p:nvPr/>
        </p:nvSpPr>
        <p:spPr>
          <a:xfrm>
            <a:off x="4263316" y="3716845"/>
            <a:ext cx="1674186" cy="465516"/>
          </a:xfrm>
          <a:prstGeom prst="wedgeRoundRectCallout">
            <a:avLst>
              <a:gd name="adj1" fmla="val 165173"/>
              <a:gd name="adj2" fmla="val 175245"/>
              <a:gd name="adj3" fmla="val 16667"/>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50" dirty="0"/>
              <a:t>Zoom Select</a:t>
            </a:r>
          </a:p>
        </p:txBody>
      </p:sp>
      <p:sp>
        <p:nvSpPr>
          <p:cNvPr id="30" name="Speech Bubble: Rectangle with Corners Rounded 29">
            <a:extLst>
              <a:ext uri="{FF2B5EF4-FFF2-40B4-BE49-F238E27FC236}">
                <a16:creationId xmlns:a16="http://schemas.microsoft.com/office/drawing/2014/main" id="{8912C75F-DC26-4B27-B789-D314CD69DFB7}"/>
              </a:ext>
            </a:extLst>
          </p:cNvPr>
          <p:cNvSpPr/>
          <p:nvPr/>
        </p:nvSpPr>
        <p:spPr>
          <a:xfrm>
            <a:off x="3940512" y="2878308"/>
            <a:ext cx="887397" cy="465516"/>
          </a:xfrm>
          <a:prstGeom prst="wedgeRoundRectCallout">
            <a:avLst>
              <a:gd name="adj1" fmla="val -253984"/>
              <a:gd name="adj2" fmla="val -244167"/>
              <a:gd name="adj3" fmla="val 16667"/>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50" dirty="0"/>
              <a:t>Active Cell</a:t>
            </a:r>
          </a:p>
        </p:txBody>
      </p:sp>
      <p:sp>
        <p:nvSpPr>
          <p:cNvPr id="31" name="Speech Bubble: Rectangle with Corners Rounded 30">
            <a:extLst>
              <a:ext uri="{FF2B5EF4-FFF2-40B4-BE49-F238E27FC236}">
                <a16:creationId xmlns:a16="http://schemas.microsoft.com/office/drawing/2014/main" id="{753C99F5-E493-4EE9-9C18-54BDD8623B2B}"/>
              </a:ext>
            </a:extLst>
          </p:cNvPr>
          <p:cNvSpPr/>
          <p:nvPr/>
        </p:nvSpPr>
        <p:spPr>
          <a:xfrm>
            <a:off x="365163" y="808888"/>
            <a:ext cx="679815" cy="465516"/>
          </a:xfrm>
          <a:prstGeom prst="wedgeRoundRectCallout">
            <a:avLst>
              <a:gd name="adj1" fmla="val 235868"/>
              <a:gd name="adj2" fmla="val -91102"/>
              <a:gd name="adj3" fmla="val 16667"/>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350" dirty="0"/>
              <a:t>Tab</a:t>
            </a:r>
          </a:p>
        </p:txBody>
      </p:sp>
      <p:sp>
        <p:nvSpPr>
          <p:cNvPr id="6" name="Footer Placeholder 5">
            <a:extLst>
              <a:ext uri="{FF2B5EF4-FFF2-40B4-BE49-F238E27FC236}">
                <a16:creationId xmlns:a16="http://schemas.microsoft.com/office/drawing/2014/main" id="{FA56540D-9D02-4969-A829-CF8CF141EF5D}"/>
              </a:ext>
            </a:extLst>
          </p:cNvPr>
          <p:cNvSpPr>
            <a:spLocks noGrp="1"/>
          </p:cNvSpPr>
          <p:nvPr>
            <p:ph type="ftr" sz="quarter" idx="11"/>
          </p:nvPr>
        </p:nvSpPr>
        <p:spPr/>
        <p:txBody>
          <a:bodyPr/>
          <a:lstStyle/>
          <a:p>
            <a:r>
              <a:rPr lang="en-US"/>
              <a:t>Restricted Access - This presentation is only for IIM Lucknow Students</a:t>
            </a:r>
            <a:endParaRPr lang="en-US" dirty="0"/>
          </a:p>
        </p:txBody>
      </p:sp>
    </p:spTree>
    <p:extLst>
      <p:ext uri="{BB962C8B-B14F-4D97-AF65-F5344CB8AC3E}">
        <p14:creationId xmlns:p14="http://schemas.microsoft.com/office/powerpoint/2010/main" val="164142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ppt_x"/>
                                          </p:val>
                                        </p:tav>
                                        <p:tav tm="100000">
                                          <p:val>
                                            <p:strVal val="#ppt_x"/>
                                          </p:val>
                                        </p:tav>
                                      </p:tavLst>
                                    </p:anim>
                                    <p:anim calcmode="lin" valueType="num">
                                      <p:cBhvr additive="base">
                                        <p:cTn id="20"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ppt_x"/>
                                          </p:val>
                                        </p:tav>
                                        <p:tav tm="100000">
                                          <p:val>
                                            <p:strVal val="#ppt_x"/>
                                          </p:val>
                                        </p:tav>
                                      </p:tavLst>
                                    </p:anim>
                                    <p:anim calcmode="lin" valueType="num">
                                      <p:cBhvr additive="base">
                                        <p:cTn id="3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anim calcmode="lin" valueType="num">
                                      <p:cBhvr additive="base">
                                        <p:cTn id="43" dur="500" fill="hold"/>
                                        <p:tgtEl>
                                          <p:spTgt spid="29"/>
                                        </p:tgtEl>
                                        <p:attrNameLst>
                                          <p:attrName>ppt_x</p:attrName>
                                        </p:attrNameLst>
                                      </p:cBhvr>
                                      <p:tavLst>
                                        <p:tav tm="0">
                                          <p:val>
                                            <p:strVal val="#ppt_x"/>
                                          </p:val>
                                        </p:tav>
                                        <p:tav tm="100000">
                                          <p:val>
                                            <p:strVal val="#ppt_x"/>
                                          </p:val>
                                        </p:tav>
                                      </p:tavLst>
                                    </p:anim>
                                    <p:anim calcmode="lin" valueType="num">
                                      <p:cBhvr additive="base">
                                        <p:cTn id="4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anim calcmode="lin" valueType="num">
                                      <p:cBhvr additive="base">
                                        <p:cTn id="49" dur="500" fill="hold"/>
                                        <p:tgtEl>
                                          <p:spTgt spid="25"/>
                                        </p:tgtEl>
                                        <p:attrNameLst>
                                          <p:attrName>ppt_x</p:attrName>
                                        </p:attrNameLst>
                                      </p:cBhvr>
                                      <p:tavLst>
                                        <p:tav tm="0">
                                          <p:val>
                                            <p:strVal val="#ppt_x"/>
                                          </p:val>
                                        </p:tav>
                                        <p:tav tm="100000">
                                          <p:val>
                                            <p:strVal val="#ppt_x"/>
                                          </p:val>
                                        </p:tav>
                                      </p:tavLst>
                                    </p:anim>
                                    <p:anim calcmode="lin" valueType="num">
                                      <p:cBhvr additive="base">
                                        <p:cTn id="5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500" fill="hold"/>
                                        <p:tgtEl>
                                          <p:spTgt spid="26"/>
                                        </p:tgtEl>
                                        <p:attrNameLst>
                                          <p:attrName>ppt_x</p:attrName>
                                        </p:attrNameLst>
                                      </p:cBhvr>
                                      <p:tavLst>
                                        <p:tav tm="0">
                                          <p:val>
                                            <p:strVal val="#ppt_x"/>
                                          </p:val>
                                        </p:tav>
                                        <p:tav tm="100000">
                                          <p:val>
                                            <p:strVal val="#ppt_x"/>
                                          </p:val>
                                        </p:tav>
                                      </p:tavLst>
                                    </p:anim>
                                    <p:anim calcmode="lin" valueType="num">
                                      <p:cBhvr additive="base">
                                        <p:cTn id="5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anim calcmode="lin" valueType="num">
                                      <p:cBhvr additive="base">
                                        <p:cTn id="61" dur="500" fill="hold"/>
                                        <p:tgtEl>
                                          <p:spTgt spid="19"/>
                                        </p:tgtEl>
                                        <p:attrNameLst>
                                          <p:attrName>ppt_x</p:attrName>
                                        </p:attrNameLst>
                                      </p:cBhvr>
                                      <p:tavLst>
                                        <p:tav tm="0">
                                          <p:val>
                                            <p:strVal val="#ppt_x"/>
                                          </p:val>
                                        </p:tav>
                                        <p:tav tm="100000">
                                          <p:val>
                                            <p:strVal val="#ppt_x"/>
                                          </p:val>
                                        </p:tav>
                                      </p:tavLst>
                                    </p:anim>
                                    <p:anim calcmode="lin" valueType="num">
                                      <p:cBhvr additive="base">
                                        <p:cTn id="6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0"/>
                                        </p:tgtEl>
                                        <p:attrNameLst>
                                          <p:attrName>style.visibility</p:attrName>
                                        </p:attrNameLst>
                                      </p:cBhvr>
                                      <p:to>
                                        <p:strVal val="visible"/>
                                      </p:to>
                                    </p:set>
                                    <p:anim calcmode="lin" valueType="num">
                                      <p:cBhvr additive="base">
                                        <p:cTn id="79" dur="500" fill="hold"/>
                                        <p:tgtEl>
                                          <p:spTgt spid="30"/>
                                        </p:tgtEl>
                                        <p:attrNameLst>
                                          <p:attrName>ppt_x</p:attrName>
                                        </p:attrNameLst>
                                      </p:cBhvr>
                                      <p:tavLst>
                                        <p:tav tm="0">
                                          <p:val>
                                            <p:strVal val="#ppt_x"/>
                                          </p:val>
                                        </p:tav>
                                        <p:tav tm="100000">
                                          <p:val>
                                            <p:strVal val="#ppt_x"/>
                                          </p:val>
                                        </p:tav>
                                      </p:tavLst>
                                    </p:anim>
                                    <p:anim calcmode="lin" valueType="num">
                                      <p:cBhvr additive="base">
                                        <p:cTn id="8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9" grpId="0" animBg="1"/>
      <p:bldP spid="30" grpId="0" animBg="1"/>
      <p:bldP spid="3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p:cNvSpPr txBox="1">
            <a:spLocks/>
          </p:cNvSpPr>
          <p:nvPr/>
        </p:nvSpPr>
        <p:spPr>
          <a:xfrm>
            <a:off x="209551" y="285750"/>
            <a:ext cx="8658224" cy="4457699"/>
          </a:xfrm>
          <a:prstGeom prst="rect">
            <a:avLst/>
          </a:prstGeom>
        </p:spPr>
        <p:txBody>
          <a:bodyPr>
            <a:normAutofit lnSpcReduction="10000"/>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endParaRPr lang="en-US" sz="2400" b="1" dirty="0">
              <a:solidFill>
                <a:srgbClr val="0070C0"/>
              </a:solidFill>
            </a:endParaRPr>
          </a:p>
          <a:p>
            <a:pPr marL="450000" lvl="8" indent="0" algn="ctr">
              <a:buNone/>
            </a:pPr>
            <a:r>
              <a:rPr lang="en-US" sz="2400" b="1" dirty="0">
                <a:solidFill>
                  <a:srgbClr val="0070C0"/>
                </a:solidFill>
              </a:rPr>
              <a:t>Good Modelling Practices in Microsoft Excel (Case 1) </a:t>
            </a:r>
          </a:p>
          <a:p>
            <a:pPr marL="450000" lvl="8" indent="0">
              <a:buClr>
                <a:srgbClr val="002060"/>
              </a:buClr>
              <a:buNone/>
            </a:pPr>
            <a:endParaRPr lang="en-US" i="1" dirty="0">
              <a:solidFill>
                <a:schemeClr val="tx1"/>
              </a:solidFill>
            </a:endParaRPr>
          </a:p>
          <a:p>
            <a:pPr marL="225000" lvl="7" indent="0">
              <a:buNone/>
            </a:pPr>
            <a:endParaRPr lang="en-US" dirty="0"/>
          </a:p>
          <a:p>
            <a:pPr marL="450000" lvl="8" indent="0">
              <a:buNone/>
            </a:pPr>
            <a:endParaRPr lang="en-US" dirty="0"/>
          </a:p>
          <a:p>
            <a:pPr marL="453600" lvl="7" indent="-228600">
              <a:buAutoNum type="arabicPeriod"/>
            </a:pPr>
            <a:endParaRPr lang="en-US" dirty="0"/>
          </a:p>
          <a:p>
            <a:pPr marL="225000" lvl="7" indent="0">
              <a:buNone/>
            </a:pPr>
            <a:endParaRPr lang="en-US" dirty="0"/>
          </a:p>
          <a:p>
            <a:pPr marL="225000" lvl="7" indent="0">
              <a:buNone/>
            </a:pPr>
            <a:endParaRPr lang="en-US" dirty="0"/>
          </a:p>
          <a:p>
            <a:pPr marL="225000" lvl="7" indent="0">
              <a:buNone/>
            </a:pPr>
            <a:endParaRPr lang="en-US" dirty="0"/>
          </a:p>
          <a:p>
            <a:pPr marL="450000" lvl="8" indent="0" algn="ctr">
              <a:buNone/>
            </a:pPr>
            <a:endParaRPr lang="en-US" sz="2400" b="1" dirty="0">
              <a:solidFill>
                <a:srgbClr val="0070C0"/>
              </a:solidFill>
            </a:endParaRPr>
          </a:p>
          <a:p>
            <a:pPr marL="510750" lvl="7" indent="-285750">
              <a:buClr>
                <a:srgbClr val="0070C0"/>
              </a:buClr>
              <a:buFont typeface="Wingdings" panose="05000000000000000000" pitchFamily="2" charset="2"/>
              <a:buChar char="Ø"/>
            </a:pPr>
            <a:r>
              <a:rPr lang="en-US" sz="1800" dirty="0">
                <a:solidFill>
                  <a:srgbClr val="0070C0"/>
                </a:solidFill>
              </a:rPr>
              <a:t>Real Life Example</a:t>
            </a:r>
          </a:p>
          <a:p>
            <a:pPr marL="678600" lvl="8" indent="-228600">
              <a:buClr>
                <a:srgbClr val="002060"/>
              </a:buClr>
              <a:buFont typeface="Wingdings" panose="05000000000000000000" pitchFamily="2" charset="2"/>
              <a:buChar char="ü"/>
            </a:pPr>
            <a:r>
              <a:rPr lang="en-US" sz="1400" i="1" dirty="0">
                <a:solidFill>
                  <a:schemeClr val="tx1"/>
                </a:solidFill>
              </a:rPr>
              <a:t>IT offshoring cost, ROI projections for 1/3rd of work offshoring  (Large Deal-ROI.XLS)</a:t>
            </a:r>
          </a:p>
          <a:p>
            <a:pPr marL="450000" lvl="8" indent="0" algn="ctr">
              <a:buNone/>
            </a:pPr>
            <a:endParaRPr lang="en-US" sz="2400" b="1" dirty="0">
              <a:solidFill>
                <a:srgbClr val="0070C0"/>
              </a:solidFill>
            </a:endParaRPr>
          </a:p>
          <a:p>
            <a:pPr marL="510750" lvl="7" indent="-285750">
              <a:buClr>
                <a:srgbClr val="0070C0"/>
              </a:buClr>
              <a:buFont typeface="Wingdings" panose="05000000000000000000" pitchFamily="2" charset="2"/>
              <a:buChar char="Ø"/>
            </a:pPr>
            <a:r>
              <a:rPr lang="en-US" sz="1900" dirty="0">
                <a:solidFill>
                  <a:srgbClr val="0070C0"/>
                </a:solidFill>
              </a:rPr>
              <a:t>Interesting Problems</a:t>
            </a:r>
          </a:p>
          <a:p>
            <a:pPr marL="678600" lvl="8" indent="-228600">
              <a:buClr>
                <a:srgbClr val="002060"/>
              </a:buClr>
              <a:buFont typeface="Wingdings" panose="05000000000000000000" pitchFamily="2" charset="2"/>
              <a:buChar char="ü"/>
            </a:pPr>
            <a:r>
              <a:rPr lang="en-US" sz="1400" i="1" dirty="0">
                <a:solidFill>
                  <a:schemeClr val="tx1"/>
                </a:solidFill>
              </a:rPr>
              <a:t>A lake is currently stocked with 12,230 fish. the number of births per fish is 1.2 and deaths is 0.7. How may fishes to harvest so that the number of fishes remains constant. (Tab - Fish Harvesting )</a:t>
            </a:r>
            <a:endParaRPr lang="en-US" dirty="0"/>
          </a:p>
          <a:p>
            <a:pPr marL="225000" lvl="7" indent="0">
              <a:buNone/>
            </a:pPr>
            <a:endParaRPr lang="en-US" dirty="0"/>
          </a:p>
          <a:p>
            <a:pPr marL="510750" lvl="7" indent="-285750">
              <a:buFont typeface="Wingdings" panose="05000000000000000000" pitchFamily="2" charset="2"/>
              <a:buChar char="Ø"/>
            </a:pPr>
            <a:endParaRPr lang="en-US" sz="1800" dirty="0">
              <a:solidFill>
                <a:srgbClr val="0070C0"/>
              </a:solidFill>
            </a:endParaRPr>
          </a:p>
        </p:txBody>
      </p:sp>
      <p:pic>
        <p:nvPicPr>
          <p:cNvPr id="2" name="Picture 1">
            <a:extLst>
              <a:ext uri="{FF2B5EF4-FFF2-40B4-BE49-F238E27FC236}">
                <a16:creationId xmlns:a16="http://schemas.microsoft.com/office/drawing/2014/main" id="{DCCDA1CF-D22D-45AD-9B86-3052071FE9F0}"/>
              </a:ext>
            </a:extLst>
          </p:cNvPr>
          <p:cNvPicPr>
            <a:picLocks noChangeAspect="1"/>
          </p:cNvPicPr>
          <p:nvPr/>
        </p:nvPicPr>
        <p:blipFill>
          <a:blip r:embed="rId3"/>
          <a:stretch>
            <a:fillRect/>
          </a:stretch>
        </p:blipFill>
        <p:spPr>
          <a:xfrm>
            <a:off x="3099657" y="1235278"/>
            <a:ext cx="3262737" cy="1432421"/>
          </a:xfrm>
          <a:prstGeom prst="rect">
            <a:avLst/>
          </a:prstGeom>
        </p:spPr>
      </p:pic>
      <p:sp>
        <p:nvSpPr>
          <p:cNvPr id="4" name="Footer Placeholder 3">
            <a:extLst>
              <a:ext uri="{FF2B5EF4-FFF2-40B4-BE49-F238E27FC236}">
                <a16:creationId xmlns:a16="http://schemas.microsoft.com/office/drawing/2014/main" id="{966CC8A4-9EF9-4ECC-A51B-32AFF669C517}"/>
              </a:ext>
            </a:extLst>
          </p:cNvPr>
          <p:cNvSpPr>
            <a:spLocks noGrp="1"/>
          </p:cNvSpPr>
          <p:nvPr>
            <p:ph type="ftr" sz="quarter" idx="11"/>
          </p:nvPr>
        </p:nvSpPr>
        <p:spPr/>
        <p:txBody>
          <a:bodyPr/>
          <a:lstStyle/>
          <a:p>
            <a:r>
              <a:rPr lang="en-US" dirty="0"/>
              <a:t>Restricted Access - This presentation is only for IIM Lucknow Students</a:t>
            </a:r>
          </a:p>
        </p:txBody>
      </p:sp>
    </p:spTree>
    <p:extLst>
      <p:ext uri="{BB962C8B-B14F-4D97-AF65-F5344CB8AC3E}">
        <p14:creationId xmlns:p14="http://schemas.microsoft.com/office/powerpoint/2010/main" val="34855108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p:cNvSpPr>
            <a:spLocks noGrp="1"/>
          </p:cNvSpPr>
          <p:nvPr>
            <p:ph type="ftr" sz="quarter" idx="11"/>
          </p:nvPr>
        </p:nvSpPr>
        <p:spPr/>
        <p:txBody>
          <a:bodyPr/>
          <a:lstStyle/>
          <a:p>
            <a:r>
              <a:rPr lang="en-US" dirty="0"/>
              <a:t>Restricted Access - This presentation is only for IIM Lucknow Students</a:t>
            </a:r>
          </a:p>
        </p:txBody>
      </p:sp>
      <p:sp>
        <p:nvSpPr>
          <p:cNvPr id="5" name="Content Placeholder 5"/>
          <p:cNvSpPr txBox="1">
            <a:spLocks/>
          </p:cNvSpPr>
          <p:nvPr/>
        </p:nvSpPr>
        <p:spPr>
          <a:xfrm>
            <a:off x="209551" y="285750"/>
            <a:ext cx="8658224" cy="4457699"/>
          </a:xfrm>
          <a:prstGeom prst="rect">
            <a:avLst/>
          </a:prstGeom>
        </p:spPr>
        <p:txBody>
          <a:bodyPr>
            <a:normAutofit fontScale="85000" lnSpcReduction="20000"/>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IN" sz="2800" b="1" dirty="0">
                <a:solidFill>
                  <a:srgbClr val="0070C0"/>
                </a:solidFill>
              </a:rPr>
              <a:t>Create Ranged Names</a:t>
            </a:r>
          </a:p>
          <a:p>
            <a:pPr marL="510750" lvl="7" indent="-285750">
              <a:buFont typeface="Wingdings" panose="05000000000000000000" pitchFamily="2" charset="2"/>
              <a:buChar char="Ø"/>
            </a:pPr>
            <a:endParaRPr lang="en-US" dirty="0"/>
          </a:p>
          <a:p>
            <a:pPr lvl="2">
              <a:lnSpc>
                <a:spcPct val="110000"/>
              </a:lnSpc>
              <a:buClr>
                <a:schemeClr val="tx1"/>
              </a:buClr>
              <a:buFont typeface="Wingdings" panose="05000000000000000000" pitchFamily="2" charset="2"/>
              <a:buChar char="ü"/>
            </a:pPr>
            <a:r>
              <a:rPr lang="en-US" sz="1400" dirty="0">
                <a:solidFill>
                  <a:schemeClr val="tx1"/>
                </a:solidFill>
              </a:rPr>
              <a:t>By entering a range name in the Name box</a:t>
            </a:r>
          </a:p>
          <a:p>
            <a:pPr lvl="2">
              <a:lnSpc>
                <a:spcPct val="110000"/>
              </a:lnSpc>
              <a:buClr>
                <a:schemeClr val="tx1"/>
              </a:buClr>
              <a:buFont typeface="Wingdings" panose="05000000000000000000" pitchFamily="2" charset="2"/>
              <a:buChar char="ü"/>
            </a:pPr>
            <a:r>
              <a:rPr lang="en-US" sz="1400" dirty="0">
                <a:solidFill>
                  <a:schemeClr val="tx1"/>
                </a:solidFill>
              </a:rPr>
              <a:t>From the Name Manager</a:t>
            </a:r>
          </a:p>
          <a:p>
            <a:pPr lvl="2">
              <a:lnSpc>
                <a:spcPct val="110000"/>
              </a:lnSpc>
              <a:buClr>
                <a:schemeClr val="tx1"/>
              </a:buClr>
              <a:buFont typeface="Wingdings" panose="05000000000000000000" pitchFamily="2" charset="2"/>
              <a:buChar char="ü"/>
            </a:pPr>
            <a:r>
              <a:rPr lang="en-US" sz="1400" dirty="0">
                <a:solidFill>
                  <a:schemeClr val="tx1"/>
                </a:solidFill>
              </a:rPr>
              <a:t>Create from selection</a:t>
            </a:r>
          </a:p>
          <a:p>
            <a:pPr marL="735750" lvl="8" indent="-285750">
              <a:buFont typeface="Wingdings" panose="05000000000000000000" pitchFamily="2" charset="2"/>
              <a:buChar char="ü"/>
            </a:pPr>
            <a:endParaRPr lang="en-US" dirty="0"/>
          </a:p>
          <a:p>
            <a:pPr marL="735750" lvl="8" indent="-285750">
              <a:buFont typeface="Wingdings" panose="05000000000000000000" pitchFamily="2" charset="2"/>
              <a:buChar char="ü"/>
            </a:pPr>
            <a:endParaRPr lang="en-US" dirty="0"/>
          </a:p>
          <a:p>
            <a:pPr marL="735750" lvl="8" indent="-285750">
              <a:buFont typeface="Wingdings" panose="05000000000000000000" pitchFamily="2" charset="2"/>
              <a:buChar char="ü"/>
            </a:pPr>
            <a:endParaRPr lang="en-US" dirty="0"/>
          </a:p>
          <a:p>
            <a:pPr marL="735750" lvl="8" indent="-285750">
              <a:buFont typeface="Wingdings" panose="05000000000000000000" pitchFamily="2" charset="2"/>
              <a:buChar char="ü"/>
            </a:pPr>
            <a:endParaRPr lang="en-US" dirty="0"/>
          </a:p>
          <a:p>
            <a:pPr marL="735750" lvl="8" indent="-285750">
              <a:buFont typeface="Wingdings" panose="05000000000000000000" pitchFamily="2" charset="2"/>
              <a:buChar char="ü"/>
            </a:pPr>
            <a:endParaRPr lang="en-US" dirty="0"/>
          </a:p>
          <a:p>
            <a:pPr marL="735750" lvl="8" indent="-285750">
              <a:buFont typeface="Wingdings" panose="05000000000000000000" pitchFamily="2" charset="2"/>
              <a:buChar char="ü"/>
            </a:pPr>
            <a:endParaRPr lang="en-US" dirty="0"/>
          </a:p>
          <a:p>
            <a:pPr marL="735750" lvl="8" indent="-285750">
              <a:buFont typeface="Wingdings" panose="05000000000000000000" pitchFamily="2" charset="2"/>
              <a:buChar char="ü"/>
            </a:pPr>
            <a:endParaRPr lang="en-US" dirty="0"/>
          </a:p>
          <a:p>
            <a:pPr marL="735750" lvl="8" indent="-285750">
              <a:buFont typeface="Wingdings" panose="05000000000000000000" pitchFamily="2" charset="2"/>
              <a:buChar char="ü"/>
            </a:pPr>
            <a:endParaRPr lang="en-US" dirty="0"/>
          </a:p>
          <a:p>
            <a:pPr marL="450000" lvl="8" indent="0">
              <a:buNone/>
            </a:pPr>
            <a:endParaRPr lang="en-US" dirty="0"/>
          </a:p>
          <a:p>
            <a:pPr marL="225000" lvl="7" indent="0">
              <a:lnSpc>
                <a:spcPct val="110000"/>
              </a:lnSpc>
              <a:buNone/>
            </a:pPr>
            <a:r>
              <a:rPr lang="en-US" sz="1400" b="1" i="1" u="sng" dirty="0">
                <a:solidFill>
                  <a:schemeClr val="tx1"/>
                </a:solidFill>
              </a:rPr>
              <a:t>Note</a:t>
            </a:r>
          </a:p>
          <a:p>
            <a:pPr lvl="2">
              <a:lnSpc>
                <a:spcPct val="110000"/>
              </a:lnSpc>
              <a:buClr>
                <a:schemeClr val="tx1"/>
              </a:buClr>
              <a:buFont typeface="Wingdings" panose="05000000000000000000" pitchFamily="2" charset="2"/>
              <a:buChar char="ü"/>
            </a:pPr>
            <a:r>
              <a:rPr lang="en-US" sz="1400" dirty="0">
                <a:solidFill>
                  <a:schemeClr val="tx1"/>
                </a:solidFill>
              </a:rPr>
              <a:t>If you use Create From Selection to create a range name and your name contains spaces, Excel inserts an underscore (_) to fill in the spaces.</a:t>
            </a:r>
          </a:p>
          <a:p>
            <a:pPr lvl="2">
              <a:lnSpc>
                <a:spcPct val="110000"/>
              </a:lnSpc>
              <a:buClr>
                <a:schemeClr val="tx1"/>
              </a:buClr>
              <a:buFont typeface="Wingdings" panose="05000000000000000000" pitchFamily="2" charset="2"/>
              <a:buChar char="ü"/>
            </a:pPr>
            <a:r>
              <a:rPr lang="en-US" sz="1400" dirty="0">
                <a:solidFill>
                  <a:schemeClr val="tx1"/>
                </a:solidFill>
              </a:rPr>
              <a:t>The only symbols allowed in range names are periods (.) and underscores (_).</a:t>
            </a:r>
          </a:p>
          <a:p>
            <a:pPr lvl="2">
              <a:lnSpc>
                <a:spcPct val="110000"/>
              </a:lnSpc>
              <a:buClr>
                <a:schemeClr val="tx1"/>
              </a:buClr>
              <a:buFont typeface="Wingdings" panose="05000000000000000000" pitchFamily="2" charset="2"/>
              <a:buChar char="ü"/>
            </a:pPr>
            <a:r>
              <a:rPr lang="en-US" sz="1400" dirty="0">
                <a:solidFill>
                  <a:schemeClr val="tx1"/>
                </a:solidFill>
              </a:rPr>
              <a:t>Range names </a:t>
            </a:r>
            <a:r>
              <a:rPr lang="en-US" sz="1400" b="1" u="sng" dirty="0">
                <a:solidFill>
                  <a:schemeClr val="tx1"/>
                </a:solidFill>
              </a:rPr>
              <a:t>cannot</a:t>
            </a:r>
            <a:r>
              <a:rPr lang="en-US" sz="1400" dirty="0">
                <a:solidFill>
                  <a:schemeClr val="tx1"/>
                </a:solidFill>
              </a:rPr>
              <a:t> begin with numbers or look like a cell reference.</a:t>
            </a:r>
            <a:r>
              <a:rPr lang="en-IN" sz="1400" dirty="0">
                <a:solidFill>
                  <a:schemeClr val="tx1"/>
                </a:solidFill>
              </a:rPr>
              <a:t> </a:t>
            </a:r>
          </a:p>
          <a:p>
            <a:pPr lvl="3">
              <a:lnSpc>
                <a:spcPct val="110000"/>
              </a:lnSpc>
              <a:buClr>
                <a:schemeClr val="tx1"/>
              </a:buClr>
              <a:buFont typeface="Courier New" panose="02070309020205020404" pitchFamily="49" charset="0"/>
              <a:buChar char="o"/>
            </a:pPr>
            <a:r>
              <a:rPr lang="en-IN" sz="1400" dirty="0">
                <a:solidFill>
                  <a:schemeClr val="tx1"/>
                </a:solidFill>
              </a:rPr>
              <a:t>3Q and A4</a:t>
            </a:r>
          </a:p>
          <a:p>
            <a:pPr lvl="3">
              <a:lnSpc>
                <a:spcPct val="110000"/>
              </a:lnSpc>
              <a:buClr>
                <a:schemeClr val="tx1"/>
              </a:buClr>
              <a:buFont typeface="Courier New" panose="02070309020205020404" pitchFamily="49" charset="0"/>
              <a:buChar char="o"/>
            </a:pPr>
            <a:r>
              <a:rPr lang="en-US" sz="1400" dirty="0">
                <a:solidFill>
                  <a:schemeClr val="tx1"/>
                </a:solidFill>
              </a:rPr>
              <a:t>C</a:t>
            </a:r>
            <a:r>
              <a:rPr lang="en-IN" sz="1400" dirty="0">
                <a:solidFill>
                  <a:schemeClr val="tx1"/>
                </a:solidFill>
              </a:rPr>
              <a:t>AT1</a:t>
            </a:r>
            <a:endParaRPr lang="en-IN" sz="1400" dirty="0"/>
          </a:p>
          <a:p>
            <a:pPr marL="510750" lvl="7" indent="-285750">
              <a:buFont typeface="Wingdings" panose="05000000000000000000" pitchFamily="2" charset="2"/>
              <a:buChar char="ü"/>
            </a:pPr>
            <a:endParaRPr lang="en-US" sz="1800" dirty="0">
              <a:solidFill>
                <a:srgbClr val="0070C0"/>
              </a:solidFill>
            </a:endParaRPr>
          </a:p>
        </p:txBody>
      </p:sp>
      <p:grpSp>
        <p:nvGrpSpPr>
          <p:cNvPr id="11" name="Group 10">
            <a:extLst>
              <a:ext uri="{FF2B5EF4-FFF2-40B4-BE49-F238E27FC236}">
                <a16:creationId xmlns:a16="http://schemas.microsoft.com/office/drawing/2014/main" id="{27E124BA-33CB-48B5-992A-979C8E4A3D94}"/>
              </a:ext>
            </a:extLst>
          </p:cNvPr>
          <p:cNvGrpSpPr/>
          <p:nvPr/>
        </p:nvGrpSpPr>
        <p:grpSpPr>
          <a:xfrm>
            <a:off x="1014012" y="1523500"/>
            <a:ext cx="4518687" cy="1213921"/>
            <a:chOff x="1090623" y="1450369"/>
            <a:chExt cx="4518687" cy="1213921"/>
          </a:xfrm>
        </p:grpSpPr>
        <p:pic>
          <p:nvPicPr>
            <p:cNvPr id="4" name="Picture 3">
              <a:extLst>
                <a:ext uri="{FF2B5EF4-FFF2-40B4-BE49-F238E27FC236}">
                  <a16:creationId xmlns:a16="http://schemas.microsoft.com/office/drawing/2014/main" id="{C96A8106-8FBD-42C0-B7B1-081016E4CC03}"/>
                </a:ext>
              </a:extLst>
            </p:cNvPr>
            <p:cNvPicPr>
              <a:picLocks noChangeAspect="1"/>
            </p:cNvPicPr>
            <p:nvPr/>
          </p:nvPicPr>
          <p:blipFill>
            <a:blip r:embed="rId3"/>
            <a:stretch>
              <a:fillRect/>
            </a:stretch>
          </p:blipFill>
          <p:spPr>
            <a:xfrm>
              <a:off x="1090623" y="1450369"/>
              <a:ext cx="4467476" cy="1213921"/>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C798540-9B94-4CB4-AAB9-8EE2C64D6D54}"/>
                    </a:ext>
                  </a:extLst>
                </p14:cNvPr>
                <p14:cNvContentPartPr/>
                <p14:nvPr/>
              </p14:nvContentPartPr>
              <p14:xfrm>
                <a:off x="4248150" y="1738359"/>
                <a:ext cx="1361160" cy="776240"/>
              </p14:xfrm>
            </p:contentPart>
          </mc:Choice>
          <mc:Fallback xmlns="">
            <p:pic>
              <p:nvPicPr>
                <p:cNvPr id="8" name="Ink 7">
                  <a:extLst>
                    <a:ext uri="{FF2B5EF4-FFF2-40B4-BE49-F238E27FC236}">
                      <a16:creationId xmlns:a16="http://schemas.microsoft.com/office/drawing/2014/main" id="{8C798540-9B94-4CB4-AAB9-8EE2C64D6D54}"/>
                    </a:ext>
                  </a:extLst>
                </p:cNvPr>
                <p:cNvPicPr/>
                <p:nvPr/>
              </p:nvPicPr>
              <p:blipFill>
                <a:blip r:embed="rId5"/>
                <a:stretch>
                  <a:fillRect/>
                </a:stretch>
              </p:blipFill>
              <p:spPr>
                <a:xfrm>
                  <a:off x="4239150" y="1729722"/>
                  <a:ext cx="1378800" cy="793874"/>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7A12697B-FCD4-4539-8D01-067FBA113D4D}"/>
                  </a:ext>
                </a:extLst>
              </p14:cNvPr>
              <p14:cNvContentPartPr/>
              <p14:nvPr/>
            </p14:nvContentPartPr>
            <p14:xfrm>
              <a:off x="1663440" y="1028270"/>
              <a:ext cx="360" cy="360"/>
            </p14:xfrm>
          </p:contentPart>
        </mc:Choice>
        <mc:Fallback xmlns="">
          <p:pic>
            <p:nvPicPr>
              <p:cNvPr id="9" name="Ink 8">
                <a:extLst>
                  <a:ext uri="{FF2B5EF4-FFF2-40B4-BE49-F238E27FC236}">
                    <a16:creationId xmlns:a16="http://schemas.microsoft.com/office/drawing/2014/main" id="{7A12697B-FCD4-4539-8D01-067FBA113D4D}"/>
                  </a:ext>
                </a:extLst>
              </p:cNvPr>
              <p:cNvPicPr/>
              <p:nvPr/>
            </p:nvPicPr>
            <p:blipFill>
              <a:blip r:embed="rId7"/>
              <a:stretch>
                <a:fillRect/>
              </a:stretch>
            </p:blipFill>
            <p:spPr>
              <a:xfrm>
                <a:off x="1654440" y="1019630"/>
                <a:ext cx="18000" cy="18000"/>
              </a:xfrm>
              <a:prstGeom prst="rect">
                <a:avLst/>
              </a:prstGeom>
            </p:spPr>
          </p:pic>
        </mc:Fallback>
      </mc:AlternateContent>
    </p:spTree>
    <p:extLst>
      <p:ext uri="{BB962C8B-B14F-4D97-AF65-F5344CB8AC3E}">
        <p14:creationId xmlns:p14="http://schemas.microsoft.com/office/powerpoint/2010/main" val="2855723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p:cNvSpPr>
            <a:spLocks noGrp="1"/>
          </p:cNvSpPr>
          <p:nvPr>
            <p:ph type="ftr" sz="quarter" idx="11"/>
          </p:nvPr>
        </p:nvSpPr>
        <p:spPr/>
        <p:txBody>
          <a:bodyPr/>
          <a:lstStyle/>
          <a:p>
            <a:r>
              <a:rPr lang="en-US" dirty="0"/>
              <a:t>Restricted Access - This presentation is only for IIM Lucknow Students</a:t>
            </a:r>
          </a:p>
        </p:txBody>
      </p:sp>
      <p:sp>
        <p:nvSpPr>
          <p:cNvPr id="5" name="Content Placeholder 5"/>
          <p:cNvSpPr txBox="1">
            <a:spLocks/>
          </p:cNvSpPr>
          <p:nvPr/>
        </p:nvSpPr>
        <p:spPr>
          <a:xfrm>
            <a:off x="209551" y="285750"/>
            <a:ext cx="8658224" cy="4457699"/>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US" sz="2400" b="1" dirty="0">
                <a:solidFill>
                  <a:srgbClr val="0070C0"/>
                </a:solidFill>
              </a:rPr>
              <a:t>Paste Special</a:t>
            </a:r>
            <a:endParaRPr lang="en-IN" sz="2400" b="1" dirty="0">
              <a:solidFill>
                <a:srgbClr val="0070C0"/>
              </a:solidFill>
            </a:endParaRPr>
          </a:p>
          <a:p>
            <a:pPr marL="510750" lvl="7" indent="-285750">
              <a:buFont typeface="Wingdings" panose="05000000000000000000" pitchFamily="2" charset="2"/>
              <a:buChar char="Ø"/>
            </a:pPr>
            <a:endParaRPr lang="en-US" dirty="0"/>
          </a:p>
          <a:p>
            <a:pPr lvl="2">
              <a:buClr>
                <a:schemeClr val="tx1"/>
              </a:buClr>
              <a:buFont typeface="Wingdings" panose="05000000000000000000" pitchFamily="2" charset="2"/>
              <a:buChar char="ü"/>
            </a:pPr>
            <a:r>
              <a:rPr lang="en-US" sz="1200" dirty="0">
                <a:solidFill>
                  <a:schemeClr val="tx1"/>
                </a:solidFill>
              </a:rPr>
              <a:t>Paste only the values in cells (not the formulas)</a:t>
            </a:r>
          </a:p>
          <a:p>
            <a:pPr lvl="2">
              <a:buClr>
                <a:schemeClr val="tx1"/>
              </a:buClr>
              <a:buFont typeface="Wingdings" panose="05000000000000000000" pitchFamily="2" charset="2"/>
              <a:buChar char="ü"/>
            </a:pPr>
            <a:r>
              <a:rPr lang="en-US" sz="1200" dirty="0">
                <a:solidFill>
                  <a:schemeClr val="tx1"/>
                </a:solidFill>
              </a:rPr>
              <a:t>Transpose data in columns to rows and vice versa</a:t>
            </a:r>
          </a:p>
          <a:p>
            <a:pPr lvl="2">
              <a:buClr>
                <a:schemeClr val="tx1"/>
              </a:buClr>
              <a:buFont typeface="Wingdings" panose="05000000000000000000" pitchFamily="2" charset="2"/>
              <a:buChar char="ü"/>
            </a:pPr>
            <a:r>
              <a:rPr lang="en-US" sz="1200" dirty="0">
                <a:solidFill>
                  <a:schemeClr val="tx1"/>
                </a:solidFill>
              </a:rPr>
              <a:t>Transform a range of numbers (+, -, %, *) by a given constant</a:t>
            </a:r>
          </a:p>
        </p:txBody>
      </p:sp>
      <p:pic>
        <p:nvPicPr>
          <p:cNvPr id="2" name="Picture 1">
            <a:extLst>
              <a:ext uri="{FF2B5EF4-FFF2-40B4-BE49-F238E27FC236}">
                <a16:creationId xmlns:a16="http://schemas.microsoft.com/office/drawing/2014/main" id="{FF8E5CA3-7BCF-4FEF-A9A6-04E48291E8B0}"/>
              </a:ext>
            </a:extLst>
          </p:cNvPr>
          <p:cNvPicPr>
            <a:picLocks noChangeAspect="1"/>
          </p:cNvPicPr>
          <p:nvPr/>
        </p:nvPicPr>
        <p:blipFill>
          <a:blip r:embed="rId3"/>
          <a:stretch>
            <a:fillRect/>
          </a:stretch>
        </p:blipFill>
        <p:spPr>
          <a:xfrm>
            <a:off x="3026811" y="1822451"/>
            <a:ext cx="3296054" cy="2717799"/>
          </a:xfrm>
          <a:prstGeom prst="rect">
            <a:avLst/>
          </a:prstGeom>
        </p:spPr>
      </p:pic>
    </p:spTree>
    <p:extLst>
      <p:ext uri="{BB962C8B-B14F-4D97-AF65-F5344CB8AC3E}">
        <p14:creationId xmlns:p14="http://schemas.microsoft.com/office/powerpoint/2010/main" val="884093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p:cNvSpPr>
            <a:spLocks noGrp="1"/>
          </p:cNvSpPr>
          <p:nvPr>
            <p:ph type="ftr" sz="quarter" idx="11"/>
          </p:nvPr>
        </p:nvSpPr>
        <p:spPr/>
        <p:txBody>
          <a:bodyPr/>
          <a:lstStyle/>
          <a:p>
            <a:r>
              <a:rPr lang="en-US" dirty="0"/>
              <a:t>Restricted Access - This presentation is only for IIM Lucknow Students</a:t>
            </a:r>
          </a:p>
        </p:txBody>
      </p:sp>
      <p:sp>
        <p:nvSpPr>
          <p:cNvPr id="5" name="Content Placeholder 5"/>
          <p:cNvSpPr txBox="1">
            <a:spLocks/>
          </p:cNvSpPr>
          <p:nvPr/>
        </p:nvSpPr>
        <p:spPr>
          <a:xfrm>
            <a:off x="209551" y="285750"/>
            <a:ext cx="8658224" cy="4276625"/>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US" sz="2400" b="1" dirty="0">
                <a:solidFill>
                  <a:srgbClr val="0070C0"/>
                </a:solidFill>
              </a:rPr>
              <a:t>Sorting in EXCEL</a:t>
            </a:r>
            <a:endParaRPr lang="en-IN" sz="2400" b="1" dirty="0">
              <a:solidFill>
                <a:srgbClr val="0070C0"/>
              </a:solidFill>
            </a:endParaRPr>
          </a:p>
          <a:p>
            <a:pPr lvl="2">
              <a:buClr>
                <a:schemeClr val="tx1"/>
              </a:buClr>
              <a:buFont typeface="Wingdings" panose="05000000000000000000" pitchFamily="2" charset="2"/>
              <a:buChar char="ü"/>
            </a:pPr>
            <a:r>
              <a:rPr lang="en-US" sz="1400" dirty="0">
                <a:solidFill>
                  <a:schemeClr val="tx1"/>
                </a:solidFill>
              </a:rPr>
              <a:t>Data </a:t>
            </a:r>
            <a:r>
              <a:rPr lang="en-US" sz="1400" dirty="0">
                <a:solidFill>
                  <a:schemeClr val="tx1"/>
                </a:solidFill>
                <a:sym typeface="Wingdings" panose="05000000000000000000" pitchFamily="2" charset="2"/>
              </a:rPr>
              <a:t> Sort &amp; Filter Group</a:t>
            </a:r>
          </a:p>
          <a:p>
            <a:pPr lvl="3">
              <a:buClr>
                <a:schemeClr val="tx1"/>
              </a:buClr>
              <a:buFont typeface="Arial" panose="020B0604020202020204" pitchFamily="34" charset="0"/>
              <a:buChar char="•"/>
            </a:pPr>
            <a:r>
              <a:rPr lang="en-US" dirty="0">
                <a:solidFill>
                  <a:schemeClr val="tx1"/>
                </a:solidFill>
              </a:rPr>
              <a:t>Sorting in Excel - Add Level, Case sensitive, by Color</a:t>
            </a:r>
          </a:p>
          <a:p>
            <a:pPr lvl="2">
              <a:buClr>
                <a:schemeClr val="tx1"/>
              </a:buClr>
              <a:buFont typeface="Wingdings" panose="05000000000000000000" pitchFamily="2" charset="2"/>
              <a:buChar char="ü"/>
            </a:pPr>
            <a:r>
              <a:rPr lang="en-US" sz="1400" dirty="0">
                <a:solidFill>
                  <a:schemeClr val="tx1"/>
                </a:solidFill>
              </a:rPr>
              <a:t>Custom list (For sorting by months OR predefined values)</a:t>
            </a:r>
          </a:p>
          <a:p>
            <a:pPr lvl="3">
              <a:buClr>
                <a:schemeClr val="tx1"/>
              </a:buClr>
              <a:buFont typeface="Arial" panose="020B0604020202020204" pitchFamily="34" charset="0"/>
              <a:buChar char="•"/>
            </a:pPr>
            <a:r>
              <a:rPr lang="en-US" dirty="0">
                <a:solidFill>
                  <a:schemeClr val="tx1"/>
                </a:solidFill>
              </a:rPr>
              <a:t>File </a:t>
            </a:r>
            <a:r>
              <a:rPr lang="en-US" dirty="0">
                <a:solidFill>
                  <a:schemeClr val="tx1"/>
                </a:solidFill>
                <a:sym typeface="Wingdings" panose="05000000000000000000" pitchFamily="2" charset="2"/>
              </a:rPr>
              <a:t> </a:t>
            </a:r>
            <a:r>
              <a:rPr lang="en-US" dirty="0">
                <a:solidFill>
                  <a:schemeClr val="tx1"/>
                </a:solidFill>
              </a:rPr>
              <a:t>Options </a:t>
            </a:r>
            <a:r>
              <a:rPr lang="en-US" dirty="0">
                <a:solidFill>
                  <a:schemeClr val="tx1"/>
                </a:solidFill>
                <a:sym typeface="Wingdings" panose="05000000000000000000" pitchFamily="2" charset="2"/>
              </a:rPr>
              <a:t> </a:t>
            </a:r>
            <a:r>
              <a:rPr lang="en-US" dirty="0">
                <a:solidFill>
                  <a:schemeClr val="tx1"/>
                </a:solidFill>
              </a:rPr>
              <a:t>Advanced …Scroll down </a:t>
            </a:r>
            <a:r>
              <a:rPr lang="en-US" dirty="0">
                <a:solidFill>
                  <a:schemeClr val="tx1"/>
                </a:solidFill>
                <a:sym typeface="Wingdings" panose="05000000000000000000" pitchFamily="2" charset="2"/>
              </a:rPr>
              <a:t> General  Edit Custom Lists</a:t>
            </a:r>
            <a:endParaRPr lang="en-US" dirty="0">
              <a:solidFill>
                <a:schemeClr val="tx1"/>
              </a:solidFill>
            </a:endParaRPr>
          </a:p>
          <a:p>
            <a:pPr marL="617220" lvl="3" indent="0">
              <a:buClr>
                <a:schemeClr val="tx1"/>
              </a:buClr>
              <a:buNone/>
            </a:pPr>
            <a:endParaRPr lang="en-US" dirty="0">
              <a:solidFill>
                <a:schemeClr val="tx1"/>
              </a:solidFill>
            </a:endParaRPr>
          </a:p>
          <a:p>
            <a:pPr lvl="3">
              <a:buClr>
                <a:schemeClr val="tx1"/>
              </a:buClr>
              <a:buFont typeface="Arial" panose="020B0604020202020204" pitchFamily="34" charset="0"/>
              <a:buChar char="•"/>
            </a:pPr>
            <a:endParaRPr lang="en-US" dirty="0">
              <a:solidFill>
                <a:schemeClr val="tx1"/>
              </a:solidFill>
            </a:endParaRPr>
          </a:p>
          <a:p>
            <a:pPr lvl="3">
              <a:buClr>
                <a:schemeClr val="tx1"/>
              </a:buClr>
              <a:buFont typeface="Arial" panose="020B0604020202020204" pitchFamily="34" charset="0"/>
              <a:buChar char="•"/>
            </a:pPr>
            <a:endParaRPr lang="en-US" dirty="0">
              <a:solidFill>
                <a:schemeClr val="tx1"/>
              </a:solidFill>
            </a:endParaRPr>
          </a:p>
          <a:p>
            <a:pPr lvl="3">
              <a:buClr>
                <a:schemeClr val="tx1"/>
              </a:buClr>
              <a:buFont typeface="Arial" panose="020B0604020202020204" pitchFamily="34" charset="0"/>
              <a:buChar char="•"/>
            </a:pPr>
            <a:endParaRPr lang="en-US" dirty="0">
              <a:solidFill>
                <a:schemeClr val="tx1"/>
              </a:solidFill>
            </a:endParaRPr>
          </a:p>
          <a:p>
            <a:pPr lvl="3">
              <a:buClr>
                <a:schemeClr val="tx1"/>
              </a:buClr>
              <a:buFont typeface="Arial" panose="020B0604020202020204" pitchFamily="34" charset="0"/>
              <a:buChar char="•"/>
            </a:pPr>
            <a:endParaRPr lang="en-US" dirty="0">
              <a:solidFill>
                <a:schemeClr val="tx1"/>
              </a:solidFill>
            </a:endParaRPr>
          </a:p>
          <a:p>
            <a:pPr lvl="3">
              <a:buClr>
                <a:schemeClr val="tx1"/>
              </a:buClr>
              <a:buFont typeface="Arial" panose="020B0604020202020204" pitchFamily="34" charset="0"/>
              <a:buChar char="•"/>
            </a:pPr>
            <a:endParaRPr lang="en-US" dirty="0">
              <a:solidFill>
                <a:schemeClr val="tx1"/>
              </a:solidFill>
            </a:endParaRPr>
          </a:p>
          <a:p>
            <a:pPr lvl="3">
              <a:buClr>
                <a:schemeClr val="tx1"/>
              </a:buClr>
              <a:buFont typeface="Arial" panose="020B0604020202020204" pitchFamily="34" charset="0"/>
              <a:buChar char="•"/>
            </a:pPr>
            <a:endParaRPr lang="en-US" dirty="0">
              <a:solidFill>
                <a:schemeClr val="tx1"/>
              </a:solidFill>
            </a:endParaRPr>
          </a:p>
          <a:p>
            <a:pPr lvl="3">
              <a:buClr>
                <a:schemeClr val="tx1"/>
              </a:buClr>
              <a:buFont typeface="Arial" panose="020B0604020202020204" pitchFamily="34" charset="0"/>
              <a:buChar char="•"/>
            </a:pPr>
            <a:endParaRPr lang="en-US" dirty="0">
              <a:solidFill>
                <a:schemeClr val="tx1"/>
              </a:solidFill>
            </a:endParaRPr>
          </a:p>
          <a:p>
            <a:pPr lvl="3">
              <a:buClr>
                <a:schemeClr val="tx1"/>
              </a:buClr>
              <a:buFont typeface="Arial" panose="020B0604020202020204" pitchFamily="34" charset="0"/>
              <a:buChar char="•"/>
            </a:pPr>
            <a:endParaRPr lang="en-US" dirty="0">
              <a:solidFill>
                <a:schemeClr val="tx1"/>
              </a:solidFill>
            </a:endParaRPr>
          </a:p>
          <a:p>
            <a:pPr lvl="3">
              <a:buClr>
                <a:schemeClr val="tx1"/>
              </a:buClr>
              <a:buFont typeface="Arial" panose="020B0604020202020204" pitchFamily="34" charset="0"/>
              <a:buChar char="•"/>
            </a:pPr>
            <a:endParaRPr lang="en-US" dirty="0">
              <a:solidFill>
                <a:schemeClr val="tx1"/>
              </a:solidFill>
            </a:endParaRPr>
          </a:p>
          <a:p>
            <a:pPr marL="411480" lvl="2" indent="0">
              <a:buClr>
                <a:schemeClr val="tx1"/>
              </a:buClr>
              <a:buNone/>
            </a:pPr>
            <a:r>
              <a:rPr lang="en-IN" sz="1400" u="sng" dirty="0">
                <a:solidFill>
                  <a:schemeClr val="tx1"/>
                </a:solidFill>
              </a:rPr>
              <a:t>Note</a:t>
            </a:r>
            <a:r>
              <a:rPr lang="en-IN" sz="1400" dirty="0">
                <a:solidFill>
                  <a:schemeClr val="tx1"/>
                </a:solidFill>
              </a:rPr>
              <a:t>:</a:t>
            </a:r>
          </a:p>
          <a:p>
            <a:pPr lvl="3">
              <a:buClr>
                <a:schemeClr val="tx1"/>
              </a:buClr>
              <a:buFont typeface="Arial" panose="020B0604020202020204" pitchFamily="34" charset="0"/>
              <a:buChar char="•"/>
            </a:pPr>
            <a:r>
              <a:rPr lang="en-IN" dirty="0">
                <a:solidFill>
                  <a:schemeClr val="tx1"/>
                </a:solidFill>
              </a:rPr>
              <a:t>64 criteria can be applied in one sort</a:t>
            </a:r>
            <a:endParaRPr lang="en-US" sz="1200" dirty="0">
              <a:solidFill>
                <a:schemeClr val="tx1"/>
              </a:solidFill>
              <a:sym typeface="Wingdings" panose="05000000000000000000" pitchFamily="2" charset="2"/>
            </a:endParaRPr>
          </a:p>
          <a:p>
            <a:pPr marL="411480" lvl="2" indent="0">
              <a:buClr>
                <a:schemeClr val="tx1"/>
              </a:buClr>
              <a:buNone/>
            </a:pPr>
            <a:endParaRPr lang="en-US" sz="1200" dirty="0">
              <a:solidFill>
                <a:schemeClr val="tx1"/>
              </a:solidFill>
            </a:endParaRPr>
          </a:p>
        </p:txBody>
      </p:sp>
      <p:pic>
        <p:nvPicPr>
          <p:cNvPr id="4" name="Picture 3">
            <a:extLst>
              <a:ext uri="{FF2B5EF4-FFF2-40B4-BE49-F238E27FC236}">
                <a16:creationId xmlns:a16="http://schemas.microsoft.com/office/drawing/2014/main" id="{FDEF74D0-5BCD-4242-9EF9-7E5B0B9E834B}"/>
              </a:ext>
            </a:extLst>
          </p:cNvPr>
          <p:cNvPicPr>
            <a:picLocks noChangeAspect="1"/>
          </p:cNvPicPr>
          <p:nvPr/>
        </p:nvPicPr>
        <p:blipFill>
          <a:blip r:embed="rId3"/>
          <a:stretch>
            <a:fillRect/>
          </a:stretch>
        </p:blipFill>
        <p:spPr>
          <a:xfrm>
            <a:off x="1555750" y="1864577"/>
            <a:ext cx="5244905" cy="2078773"/>
          </a:xfrm>
          <a:prstGeom prst="rect">
            <a:avLst/>
          </a:prstGeom>
        </p:spPr>
      </p:pic>
    </p:spTree>
    <p:extLst>
      <p:ext uri="{BB962C8B-B14F-4D97-AF65-F5344CB8AC3E}">
        <p14:creationId xmlns:p14="http://schemas.microsoft.com/office/powerpoint/2010/main" val="26814163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p:cNvSpPr>
            <a:spLocks noGrp="1"/>
          </p:cNvSpPr>
          <p:nvPr>
            <p:ph type="ftr" sz="quarter" idx="11"/>
          </p:nvPr>
        </p:nvSpPr>
        <p:spPr>
          <a:xfrm>
            <a:off x="1893456" y="4637199"/>
            <a:ext cx="3538331" cy="273844"/>
          </a:xfrm>
        </p:spPr>
        <p:txBody>
          <a:bodyPr/>
          <a:lstStyle/>
          <a:p>
            <a:r>
              <a:rPr lang="en-US" dirty="0"/>
              <a:t>Restricted Access - This presentation is only for IIM Lucknow Students</a:t>
            </a:r>
          </a:p>
        </p:txBody>
      </p:sp>
      <p:sp>
        <p:nvSpPr>
          <p:cNvPr id="5" name="Content Placeholder 5"/>
          <p:cNvSpPr txBox="1">
            <a:spLocks/>
          </p:cNvSpPr>
          <p:nvPr/>
        </p:nvSpPr>
        <p:spPr>
          <a:xfrm>
            <a:off x="209551" y="285750"/>
            <a:ext cx="8658224" cy="4457699"/>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US" sz="2400" b="1" dirty="0">
                <a:solidFill>
                  <a:srgbClr val="0070C0"/>
                </a:solidFill>
              </a:rPr>
              <a:t>Importing data from a word / text file</a:t>
            </a:r>
          </a:p>
          <a:p>
            <a:pPr marL="225000" lvl="7" indent="0">
              <a:buNone/>
            </a:pPr>
            <a:endParaRPr lang="en-US" dirty="0"/>
          </a:p>
          <a:p>
            <a:pPr marL="411480" lvl="2" indent="0">
              <a:buClr>
                <a:schemeClr val="tx1"/>
              </a:buClr>
              <a:buNone/>
            </a:pPr>
            <a:r>
              <a:rPr lang="en-IN" sz="1200" dirty="0">
                <a:solidFill>
                  <a:schemeClr val="tx1"/>
                </a:solidFill>
              </a:rPr>
              <a:t>File </a:t>
            </a:r>
            <a:r>
              <a:rPr lang="en-IN" sz="1200" dirty="0">
                <a:solidFill>
                  <a:schemeClr val="tx1"/>
                </a:solidFill>
                <a:sym typeface="Wingdings" panose="05000000000000000000" pitchFamily="2" charset="2"/>
              </a:rPr>
              <a:t> Save As  </a:t>
            </a:r>
            <a:r>
              <a:rPr lang="en-IN" sz="1200" dirty="0">
                <a:solidFill>
                  <a:schemeClr val="tx1"/>
                </a:solidFill>
              </a:rPr>
              <a:t>Plain Text (.txt) 		; File </a:t>
            </a:r>
            <a:r>
              <a:rPr lang="en-IN" sz="1200" dirty="0">
                <a:solidFill>
                  <a:schemeClr val="tx1"/>
                </a:solidFill>
                <a:sym typeface="Wingdings" panose="05000000000000000000" pitchFamily="2" charset="2"/>
              </a:rPr>
              <a:t> Open  </a:t>
            </a:r>
            <a:r>
              <a:rPr lang="en-IN" sz="1200" dirty="0">
                <a:solidFill>
                  <a:schemeClr val="tx1"/>
                </a:solidFill>
              </a:rPr>
              <a:t>All Files (*.*)	</a:t>
            </a:r>
            <a:endParaRPr lang="en-US" sz="1200" dirty="0">
              <a:solidFill>
                <a:schemeClr val="tx1"/>
              </a:solidFill>
            </a:endParaRPr>
          </a:p>
          <a:p>
            <a:pPr marL="450000" lvl="8" indent="0">
              <a:buNone/>
            </a:pPr>
            <a:endParaRPr lang="en-US" dirty="0"/>
          </a:p>
          <a:p>
            <a:pPr marL="450000" lvl="8" indent="0">
              <a:buNone/>
            </a:pPr>
            <a:endParaRPr lang="en-US" dirty="0"/>
          </a:p>
          <a:p>
            <a:pPr marL="450000" lvl="8" indent="0">
              <a:buNone/>
            </a:pPr>
            <a:endParaRPr lang="en-US" dirty="0"/>
          </a:p>
          <a:p>
            <a:pPr marL="450000" lvl="8" indent="0">
              <a:buNone/>
            </a:pPr>
            <a:endParaRPr lang="en-US" dirty="0"/>
          </a:p>
          <a:p>
            <a:pPr marL="450000" lvl="8" indent="0">
              <a:buNone/>
            </a:pPr>
            <a:endParaRPr lang="en-US" dirty="0"/>
          </a:p>
          <a:p>
            <a:pPr marL="450000" lvl="8" indent="0">
              <a:buNone/>
            </a:pPr>
            <a:endParaRPr lang="en-US" dirty="0"/>
          </a:p>
          <a:p>
            <a:pPr marL="450000" lvl="8" indent="0">
              <a:buNone/>
            </a:pPr>
            <a:endParaRPr lang="en-US" dirty="0"/>
          </a:p>
          <a:p>
            <a:pPr marL="450000" lvl="8" indent="0">
              <a:buNone/>
            </a:pPr>
            <a:endParaRPr lang="en-US" dirty="0"/>
          </a:p>
          <a:p>
            <a:pPr marL="450000" lvl="8" indent="0">
              <a:buNone/>
            </a:pPr>
            <a:endParaRPr lang="en-US" dirty="0"/>
          </a:p>
          <a:p>
            <a:pPr marL="450000" lvl="8" indent="0">
              <a:buNone/>
            </a:pPr>
            <a:endParaRPr lang="en-US" dirty="0"/>
          </a:p>
          <a:p>
            <a:pPr marL="450000" lvl="8" indent="0">
              <a:buNone/>
            </a:pPr>
            <a:endParaRPr lang="en-US" dirty="0"/>
          </a:p>
          <a:p>
            <a:pPr marL="450000" lvl="8" indent="0">
              <a:buNone/>
            </a:pPr>
            <a:endParaRPr lang="en-US" dirty="0"/>
          </a:p>
          <a:p>
            <a:pPr marL="450000" lvl="8" indent="0">
              <a:buNone/>
            </a:pPr>
            <a:endParaRPr lang="en-US" dirty="0"/>
          </a:p>
          <a:p>
            <a:pPr marL="450000" lvl="8" indent="0">
              <a:buNone/>
            </a:pPr>
            <a:endParaRPr lang="en-US" dirty="0"/>
          </a:p>
          <a:p>
            <a:pPr marL="411480" lvl="2" indent="0">
              <a:buClr>
                <a:schemeClr val="tx1"/>
              </a:buClr>
              <a:buNone/>
            </a:pPr>
            <a:r>
              <a:rPr lang="en-US" sz="1200" dirty="0">
                <a:solidFill>
                  <a:schemeClr val="tx1"/>
                </a:solidFill>
              </a:rPr>
              <a:t>General </a:t>
            </a:r>
            <a:r>
              <a:rPr lang="en-US" sz="1200" dirty="0">
                <a:solidFill>
                  <a:schemeClr val="tx1"/>
                </a:solidFill>
                <a:sym typeface="Wingdings" panose="05000000000000000000" pitchFamily="2" charset="2"/>
              </a:rPr>
              <a:t> Treat numerical data as numbers, others as text. </a:t>
            </a:r>
            <a:endParaRPr lang="en-US" dirty="0"/>
          </a:p>
        </p:txBody>
      </p:sp>
      <p:pic>
        <p:nvPicPr>
          <p:cNvPr id="2" name="Picture 1">
            <a:extLst>
              <a:ext uri="{FF2B5EF4-FFF2-40B4-BE49-F238E27FC236}">
                <a16:creationId xmlns:a16="http://schemas.microsoft.com/office/drawing/2014/main" id="{8E886FAF-A958-43A5-AE9A-7026412C226B}"/>
              </a:ext>
            </a:extLst>
          </p:cNvPr>
          <p:cNvPicPr>
            <a:picLocks noChangeAspect="1"/>
          </p:cNvPicPr>
          <p:nvPr/>
        </p:nvPicPr>
        <p:blipFill>
          <a:blip r:embed="rId3"/>
          <a:stretch>
            <a:fillRect/>
          </a:stretch>
        </p:blipFill>
        <p:spPr>
          <a:xfrm>
            <a:off x="276225" y="1140057"/>
            <a:ext cx="2820148" cy="2146825"/>
          </a:xfrm>
          <a:prstGeom prst="rect">
            <a:avLst/>
          </a:prstGeom>
        </p:spPr>
      </p:pic>
      <p:pic>
        <p:nvPicPr>
          <p:cNvPr id="4" name="Picture 3">
            <a:extLst>
              <a:ext uri="{FF2B5EF4-FFF2-40B4-BE49-F238E27FC236}">
                <a16:creationId xmlns:a16="http://schemas.microsoft.com/office/drawing/2014/main" id="{BAD2BD4E-A56F-451E-82F6-0B5F4241FFEF}"/>
              </a:ext>
            </a:extLst>
          </p:cNvPr>
          <p:cNvPicPr>
            <a:picLocks noChangeAspect="1"/>
          </p:cNvPicPr>
          <p:nvPr/>
        </p:nvPicPr>
        <p:blipFill>
          <a:blip r:embed="rId4"/>
          <a:stretch>
            <a:fillRect/>
          </a:stretch>
        </p:blipFill>
        <p:spPr>
          <a:xfrm>
            <a:off x="3096373" y="1905891"/>
            <a:ext cx="2828124" cy="2146826"/>
          </a:xfrm>
          <a:prstGeom prst="rect">
            <a:avLst/>
          </a:prstGeom>
        </p:spPr>
      </p:pic>
      <p:pic>
        <p:nvPicPr>
          <p:cNvPr id="7" name="Picture 6">
            <a:extLst>
              <a:ext uri="{FF2B5EF4-FFF2-40B4-BE49-F238E27FC236}">
                <a16:creationId xmlns:a16="http://schemas.microsoft.com/office/drawing/2014/main" id="{0E793F27-3102-4B66-9F83-AC162F55C6AF}"/>
              </a:ext>
            </a:extLst>
          </p:cNvPr>
          <p:cNvPicPr>
            <a:picLocks noChangeAspect="1"/>
          </p:cNvPicPr>
          <p:nvPr/>
        </p:nvPicPr>
        <p:blipFill>
          <a:blip r:embed="rId5"/>
          <a:stretch>
            <a:fillRect/>
          </a:stretch>
        </p:blipFill>
        <p:spPr>
          <a:xfrm>
            <a:off x="5940888" y="2553718"/>
            <a:ext cx="2975736" cy="2251075"/>
          </a:xfrm>
          <a:prstGeom prst="rect">
            <a:avLst/>
          </a:prstGeom>
        </p:spPr>
      </p:pic>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EFC25AC9-E439-4633-9273-75F1FF35D2BF}"/>
                  </a:ext>
                </a:extLst>
              </p14:cNvPr>
              <p14:cNvContentPartPr/>
              <p14:nvPr/>
            </p14:nvContentPartPr>
            <p14:xfrm>
              <a:off x="526930" y="1949150"/>
              <a:ext cx="1145160" cy="360"/>
            </p14:xfrm>
          </p:contentPart>
        </mc:Choice>
        <mc:Fallback xmlns="">
          <p:pic>
            <p:nvPicPr>
              <p:cNvPr id="8" name="Ink 7">
                <a:extLst>
                  <a:ext uri="{FF2B5EF4-FFF2-40B4-BE49-F238E27FC236}">
                    <a16:creationId xmlns:a16="http://schemas.microsoft.com/office/drawing/2014/main" id="{EFC25AC9-E439-4633-9273-75F1FF35D2BF}"/>
                  </a:ext>
                </a:extLst>
              </p:cNvPr>
              <p:cNvPicPr/>
              <p:nvPr/>
            </p:nvPicPr>
            <p:blipFill>
              <a:blip r:embed="rId7"/>
              <a:stretch>
                <a:fillRect/>
              </a:stretch>
            </p:blipFill>
            <p:spPr>
              <a:xfrm>
                <a:off x="517930" y="1940510"/>
                <a:ext cx="11628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3711C460-1F67-40E6-BBA0-5D07F279D3CC}"/>
                  </a:ext>
                </a:extLst>
              </p14:cNvPr>
              <p14:cNvContentPartPr/>
              <p14:nvPr/>
            </p14:nvContentPartPr>
            <p14:xfrm>
              <a:off x="3126850" y="2242910"/>
              <a:ext cx="126720" cy="277560"/>
            </p14:xfrm>
          </p:contentPart>
        </mc:Choice>
        <mc:Fallback xmlns="">
          <p:pic>
            <p:nvPicPr>
              <p:cNvPr id="15" name="Ink 14">
                <a:extLst>
                  <a:ext uri="{FF2B5EF4-FFF2-40B4-BE49-F238E27FC236}">
                    <a16:creationId xmlns:a16="http://schemas.microsoft.com/office/drawing/2014/main" id="{3711C460-1F67-40E6-BBA0-5D07F279D3CC}"/>
                  </a:ext>
                </a:extLst>
              </p:cNvPr>
              <p:cNvPicPr/>
              <p:nvPr/>
            </p:nvPicPr>
            <p:blipFill>
              <a:blip r:embed="rId9"/>
              <a:stretch>
                <a:fillRect/>
              </a:stretch>
            </p:blipFill>
            <p:spPr>
              <a:xfrm>
                <a:off x="3117850" y="2233910"/>
                <a:ext cx="14436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E7172B68-5D87-4290-A053-31D6F7DD6C90}"/>
                  </a:ext>
                </a:extLst>
              </p14:cNvPr>
              <p14:cNvContentPartPr/>
              <p14:nvPr/>
            </p14:nvContentPartPr>
            <p14:xfrm>
              <a:off x="6760690" y="2921510"/>
              <a:ext cx="131760" cy="486720"/>
            </p14:xfrm>
          </p:contentPart>
        </mc:Choice>
        <mc:Fallback xmlns="">
          <p:pic>
            <p:nvPicPr>
              <p:cNvPr id="20" name="Ink 19">
                <a:extLst>
                  <a:ext uri="{FF2B5EF4-FFF2-40B4-BE49-F238E27FC236}">
                    <a16:creationId xmlns:a16="http://schemas.microsoft.com/office/drawing/2014/main" id="{E7172B68-5D87-4290-A053-31D6F7DD6C90}"/>
                  </a:ext>
                </a:extLst>
              </p:cNvPr>
              <p:cNvPicPr/>
              <p:nvPr/>
            </p:nvPicPr>
            <p:blipFill>
              <a:blip r:embed="rId11"/>
              <a:stretch>
                <a:fillRect/>
              </a:stretch>
            </p:blipFill>
            <p:spPr>
              <a:xfrm>
                <a:off x="6751690" y="2912510"/>
                <a:ext cx="149400" cy="504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C204E8B3-9635-4EA0-84B4-5D655EC30750}"/>
                  </a:ext>
                </a:extLst>
              </p14:cNvPr>
              <p14:cNvContentPartPr/>
              <p14:nvPr/>
            </p14:nvContentPartPr>
            <p14:xfrm>
              <a:off x="7645210" y="3104750"/>
              <a:ext cx="567000" cy="240120"/>
            </p14:xfrm>
          </p:contentPart>
        </mc:Choice>
        <mc:Fallback xmlns="">
          <p:pic>
            <p:nvPicPr>
              <p:cNvPr id="22" name="Ink 21">
                <a:extLst>
                  <a:ext uri="{FF2B5EF4-FFF2-40B4-BE49-F238E27FC236}">
                    <a16:creationId xmlns:a16="http://schemas.microsoft.com/office/drawing/2014/main" id="{C204E8B3-9635-4EA0-84B4-5D655EC30750}"/>
                  </a:ext>
                </a:extLst>
              </p:cNvPr>
              <p:cNvPicPr/>
              <p:nvPr/>
            </p:nvPicPr>
            <p:blipFill>
              <a:blip r:embed="rId13"/>
              <a:stretch>
                <a:fillRect/>
              </a:stretch>
            </p:blipFill>
            <p:spPr>
              <a:xfrm>
                <a:off x="7636570" y="3095750"/>
                <a:ext cx="584640" cy="257760"/>
              </a:xfrm>
              <a:prstGeom prst="rect">
                <a:avLst/>
              </a:prstGeom>
            </p:spPr>
          </p:pic>
        </mc:Fallback>
      </mc:AlternateContent>
    </p:spTree>
    <p:extLst>
      <p:ext uri="{BB962C8B-B14F-4D97-AF65-F5344CB8AC3E}">
        <p14:creationId xmlns:p14="http://schemas.microsoft.com/office/powerpoint/2010/main" val="3851039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p:cNvSpPr>
            <a:spLocks noGrp="1"/>
          </p:cNvSpPr>
          <p:nvPr>
            <p:ph type="ftr" sz="quarter" idx="11"/>
          </p:nvPr>
        </p:nvSpPr>
        <p:spPr/>
        <p:txBody>
          <a:bodyPr/>
          <a:lstStyle/>
          <a:p>
            <a:r>
              <a:rPr lang="en-US" dirty="0"/>
              <a:t>Restricted Access - This presentation is only for IIM Lucknow Students</a:t>
            </a:r>
          </a:p>
        </p:txBody>
      </p:sp>
      <p:sp>
        <p:nvSpPr>
          <p:cNvPr id="5" name="Content Placeholder 5"/>
          <p:cNvSpPr txBox="1">
            <a:spLocks/>
          </p:cNvSpPr>
          <p:nvPr/>
        </p:nvSpPr>
        <p:spPr>
          <a:xfrm>
            <a:off x="209551" y="285750"/>
            <a:ext cx="8658224" cy="4457699"/>
          </a:xfrm>
          <a:prstGeom prst="rect">
            <a:avLst/>
          </a:prstGeom>
        </p:spPr>
        <p:txBody>
          <a:bodyPr>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450000" lvl="8" indent="0" algn="ctr">
              <a:buNone/>
            </a:pPr>
            <a:r>
              <a:rPr lang="en-US" sz="2400" b="1" dirty="0">
                <a:solidFill>
                  <a:srgbClr val="0070C0"/>
                </a:solidFill>
              </a:rPr>
              <a:t>Validating Data</a:t>
            </a:r>
            <a:endParaRPr lang="en-IN" sz="2400" b="1" dirty="0">
              <a:solidFill>
                <a:srgbClr val="0070C0"/>
              </a:solidFill>
            </a:endParaRPr>
          </a:p>
          <a:p>
            <a:pPr marL="510750" lvl="7" indent="-285750">
              <a:buFont typeface="Wingdings" panose="05000000000000000000" pitchFamily="2" charset="2"/>
              <a:buChar char="Ø"/>
            </a:pPr>
            <a:endParaRPr lang="en-US" dirty="0"/>
          </a:p>
          <a:p>
            <a:pPr lvl="2">
              <a:buClr>
                <a:schemeClr val="tx1"/>
              </a:buClr>
              <a:buFont typeface="Wingdings" panose="05000000000000000000" pitchFamily="2" charset="2"/>
              <a:buChar char="ü"/>
            </a:pPr>
            <a:r>
              <a:rPr lang="en-US" sz="1400" dirty="0">
                <a:solidFill>
                  <a:schemeClr val="tx1"/>
                </a:solidFill>
              </a:rPr>
              <a:t>Data </a:t>
            </a:r>
            <a:r>
              <a:rPr lang="en-US" sz="1400" dirty="0">
                <a:solidFill>
                  <a:schemeClr val="tx1"/>
                </a:solidFill>
                <a:sym typeface="Wingdings" panose="05000000000000000000" pitchFamily="2" charset="2"/>
              </a:rPr>
              <a:t> Data validation Tab</a:t>
            </a:r>
          </a:p>
          <a:p>
            <a:pPr lvl="3">
              <a:buClr>
                <a:srgbClr val="002060"/>
              </a:buClr>
              <a:buFont typeface="Arial" panose="020B0604020202020204" pitchFamily="34" charset="0"/>
              <a:buChar char="•"/>
            </a:pPr>
            <a:r>
              <a:rPr lang="en-US" sz="1000" dirty="0">
                <a:solidFill>
                  <a:schemeClr val="tx1"/>
                </a:solidFill>
                <a:sym typeface="Wingdings" panose="05000000000000000000" pitchFamily="2" charset="2"/>
              </a:rPr>
              <a:t>Custom Error alerts</a:t>
            </a:r>
          </a:p>
          <a:p>
            <a:pPr lvl="2">
              <a:buClr>
                <a:schemeClr val="tx1"/>
              </a:buClr>
              <a:buFont typeface="Wingdings" panose="05000000000000000000" pitchFamily="2" charset="2"/>
              <a:buChar char="ü"/>
            </a:pPr>
            <a:endParaRPr lang="en-US" sz="1200" dirty="0">
              <a:solidFill>
                <a:schemeClr val="tx1"/>
              </a:solidFill>
              <a:sym typeface="Wingdings" panose="05000000000000000000" pitchFamily="2" charset="2"/>
            </a:endParaRPr>
          </a:p>
          <a:p>
            <a:pPr lvl="2">
              <a:buClr>
                <a:schemeClr val="tx1"/>
              </a:buClr>
              <a:buFont typeface="Wingdings" panose="05000000000000000000" pitchFamily="2" charset="2"/>
              <a:buChar char="ü"/>
            </a:pPr>
            <a:r>
              <a:rPr lang="en-US" sz="1200" dirty="0">
                <a:solidFill>
                  <a:schemeClr val="tx1"/>
                </a:solidFill>
                <a:sym typeface="Wingdings" panose="05000000000000000000" pitchFamily="2" charset="2"/>
              </a:rPr>
              <a:t>Custom settings along with formulas</a:t>
            </a:r>
          </a:p>
          <a:p>
            <a:pPr lvl="3">
              <a:buClr>
                <a:srgbClr val="002060"/>
              </a:buClr>
              <a:buFont typeface="Arial" panose="020B0604020202020204" pitchFamily="34" charset="0"/>
              <a:buChar char="•"/>
            </a:pPr>
            <a:r>
              <a:rPr lang="en-US" sz="1000" dirty="0">
                <a:solidFill>
                  <a:schemeClr val="tx1"/>
                </a:solidFill>
              </a:rPr>
              <a:t>To see only numbers to be entered, use ISNUMBER(A1) function</a:t>
            </a:r>
          </a:p>
          <a:p>
            <a:pPr lvl="3">
              <a:buClr>
                <a:srgbClr val="002060"/>
              </a:buClr>
              <a:buFont typeface="Arial" panose="020B0604020202020204" pitchFamily="34" charset="0"/>
              <a:buChar char="•"/>
            </a:pPr>
            <a:r>
              <a:rPr lang="en-US" sz="1000" dirty="0">
                <a:solidFill>
                  <a:schemeClr val="tx1"/>
                </a:solidFill>
              </a:rPr>
              <a:t>Here the validation function copies for each cell</a:t>
            </a:r>
          </a:p>
          <a:p>
            <a:pPr lvl="3">
              <a:buClr>
                <a:srgbClr val="002060"/>
              </a:buClr>
              <a:buFont typeface="Arial" panose="020B0604020202020204" pitchFamily="34" charset="0"/>
              <a:buChar char="•"/>
            </a:pPr>
            <a:endParaRPr lang="en-US" sz="1000" dirty="0">
              <a:solidFill>
                <a:schemeClr val="tx1"/>
              </a:solidFill>
            </a:endParaRPr>
          </a:p>
          <a:p>
            <a:pPr lvl="2">
              <a:buClr>
                <a:schemeClr val="tx1"/>
              </a:buClr>
              <a:buFont typeface="Wingdings" panose="05000000000000000000" pitchFamily="2" charset="2"/>
              <a:buChar char="ü"/>
            </a:pPr>
            <a:r>
              <a:rPr lang="en-IN" sz="1200" dirty="0">
                <a:solidFill>
                  <a:schemeClr val="tx1"/>
                </a:solidFill>
              </a:rPr>
              <a:t>Usage in combination with “named the range”</a:t>
            </a:r>
          </a:p>
          <a:p>
            <a:pPr lvl="3">
              <a:buClr>
                <a:srgbClr val="002060"/>
              </a:buClr>
              <a:buFont typeface="Arial" panose="020B0604020202020204" pitchFamily="34" charset="0"/>
              <a:buChar char="•"/>
            </a:pPr>
            <a:r>
              <a:rPr lang="en-US" sz="1000" dirty="0">
                <a:solidFill>
                  <a:schemeClr val="tx1"/>
                </a:solidFill>
              </a:rPr>
              <a:t>Useful when abbreviations to be used from selected list. </a:t>
            </a:r>
          </a:p>
          <a:p>
            <a:pPr marL="617220" lvl="3" indent="0">
              <a:buClr>
                <a:srgbClr val="002060"/>
              </a:buClr>
              <a:buNone/>
            </a:pPr>
            <a:endParaRPr lang="en-US" sz="1000" dirty="0">
              <a:solidFill>
                <a:schemeClr val="tx1"/>
              </a:solidFill>
            </a:endParaRPr>
          </a:p>
          <a:p>
            <a:pPr lvl="2">
              <a:buClr>
                <a:schemeClr val="tx1"/>
              </a:buClr>
              <a:buFont typeface="Wingdings" panose="05000000000000000000" pitchFamily="2" charset="2"/>
              <a:buChar char="ü"/>
            </a:pPr>
            <a:r>
              <a:rPr lang="en-US" sz="1200" dirty="0">
                <a:solidFill>
                  <a:schemeClr val="tx1"/>
                </a:solidFill>
                <a:sym typeface="Wingdings" panose="05000000000000000000" pitchFamily="2" charset="2"/>
              </a:rPr>
              <a:t>View the error cells after applying validation</a:t>
            </a:r>
          </a:p>
          <a:p>
            <a:pPr lvl="3">
              <a:buClr>
                <a:srgbClr val="002060"/>
              </a:buClr>
              <a:buFont typeface="Arial" panose="020B0604020202020204" pitchFamily="34" charset="0"/>
              <a:buChar char="•"/>
            </a:pPr>
            <a:r>
              <a:rPr lang="en-US" sz="1000" dirty="0">
                <a:solidFill>
                  <a:schemeClr val="tx1"/>
                </a:solidFill>
                <a:sym typeface="Wingdings" panose="05000000000000000000" pitchFamily="2" charset="2"/>
              </a:rPr>
              <a:t>Circle invalidate Data	</a:t>
            </a:r>
          </a:p>
          <a:p>
            <a:pPr lvl="3">
              <a:buClr>
                <a:srgbClr val="002060"/>
              </a:buClr>
              <a:buFont typeface="Arial" panose="020B0604020202020204" pitchFamily="34" charset="0"/>
              <a:buChar char="•"/>
            </a:pPr>
            <a:r>
              <a:rPr lang="en-US" sz="1000" dirty="0">
                <a:solidFill>
                  <a:schemeClr val="tx1"/>
                </a:solidFill>
                <a:sym typeface="Wingdings" panose="05000000000000000000" pitchFamily="2" charset="2"/>
              </a:rPr>
              <a:t>Clear the circles </a:t>
            </a:r>
            <a:endParaRPr lang="en-US" sz="1150" dirty="0">
              <a:solidFill>
                <a:schemeClr val="tx1"/>
              </a:solidFill>
              <a:sym typeface="Wingdings" panose="05000000000000000000" pitchFamily="2" charset="2"/>
            </a:endParaRPr>
          </a:p>
          <a:p>
            <a:pPr marL="205740" lvl="1" indent="0">
              <a:buClr>
                <a:schemeClr val="tx1"/>
              </a:buClr>
              <a:buNone/>
            </a:pPr>
            <a:endParaRPr lang="en-US" sz="1350" dirty="0">
              <a:solidFill>
                <a:schemeClr val="tx1"/>
              </a:solidFill>
              <a:sym typeface="Wingdings" panose="05000000000000000000" pitchFamily="2" charset="2"/>
            </a:endParaRPr>
          </a:p>
          <a:p>
            <a:pPr lvl="2">
              <a:buClr>
                <a:schemeClr val="tx1"/>
              </a:buClr>
              <a:buFont typeface="Wingdings" panose="05000000000000000000" pitchFamily="2" charset="2"/>
              <a:buChar char="ü"/>
            </a:pPr>
            <a:r>
              <a:rPr lang="en-US" sz="1200" dirty="0">
                <a:solidFill>
                  <a:schemeClr val="tx1"/>
                </a:solidFill>
              </a:rPr>
              <a:t>ISNUMBER	: Check if the value is number and then returns True of False</a:t>
            </a:r>
          </a:p>
          <a:p>
            <a:pPr marL="205740" lvl="1" indent="0">
              <a:buClr>
                <a:schemeClr val="tx1"/>
              </a:buClr>
              <a:buNone/>
            </a:pPr>
            <a:endParaRPr lang="en-US" sz="1350" dirty="0">
              <a:solidFill>
                <a:schemeClr val="tx1"/>
              </a:solidFill>
              <a:sym typeface="Wingdings" panose="05000000000000000000" pitchFamily="2" charset="2"/>
            </a:endParaRPr>
          </a:p>
        </p:txBody>
      </p:sp>
      <p:pic>
        <p:nvPicPr>
          <p:cNvPr id="4" name="Picture 3">
            <a:extLst>
              <a:ext uri="{FF2B5EF4-FFF2-40B4-BE49-F238E27FC236}">
                <a16:creationId xmlns:a16="http://schemas.microsoft.com/office/drawing/2014/main" id="{6B23A20F-9A67-4492-998B-B73B16AAA518}"/>
              </a:ext>
            </a:extLst>
          </p:cNvPr>
          <p:cNvPicPr>
            <a:picLocks noChangeAspect="1"/>
          </p:cNvPicPr>
          <p:nvPr/>
        </p:nvPicPr>
        <p:blipFill>
          <a:blip r:embed="rId3"/>
          <a:stretch>
            <a:fillRect/>
          </a:stretch>
        </p:blipFill>
        <p:spPr>
          <a:xfrm>
            <a:off x="4571999" y="878852"/>
            <a:ext cx="2343190" cy="1917700"/>
          </a:xfrm>
          <a:prstGeom prst="rect">
            <a:avLst/>
          </a:prstGeom>
        </p:spPr>
      </p:pic>
      <p:pic>
        <p:nvPicPr>
          <p:cNvPr id="7" name="Picture 6">
            <a:extLst>
              <a:ext uri="{FF2B5EF4-FFF2-40B4-BE49-F238E27FC236}">
                <a16:creationId xmlns:a16="http://schemas.microsoft.com/office/drawing/2014/main" id="{A4F8FEC0-6D3F-4D32-89E7-71220CD84E97}"/>
              </a:ext>
            </a:extLst>
          </p:cNvPr>
          <p:cNvPicPr>
            <a:picLocks noChangeAspect="1"/>
          </p:cNvPicPr>
          <p:nvPr/>
        </p:nvPicPr>
        <p:blipFill>
          <a:blip r:embed="rId4"/>
          <a:stretch>
            <a:fillRect/>
          </a:stretch>
        </p:blipFill>
        <p:spPr>
          <a:xfrm>
            <a:off x="6112522" y="2883295"/>
            <a:ext cx="525755" cy="1692275"/>
          </a:xfrm>
          <a:prstGeom prst="rect">
            <a:avLst/>
          </a:prstGeom>
        </p:spPr>
      </p:pic>
    </p:spTree>
    <p:extLst>
      <p:ext uri="{BB962C8B-B14F-4D97-AF65-F5344CB8AC3E}">
        <p14:creationId xmlns:p14="http://schemas.microsoft.com/office/powerpoint/2010/main" val="1253509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0051" y="333375"/>
            <a:ext cx="8372474" cy="4238625"/>
          </a:xfrm>
        </p:spPr>
        <p:txBody>
          <a:bodyPr>
            <a:normAutofit/>
          </a:bodyPr>
          <a:lstStyle/>
          <a:p>
            <a:pPr marL="450000" lvl="8" indent="0" algn="ctr">
              <a:buNone/>
            </a:pPr>
            <a:r>
              <a:rPr lang="en-US" sz="2400" b="1" dirty="0">
                <a:solidFill>
                  <a:srgbClr val="0070C0"/>
                </a:solidFill>
                <a:sym typeface="Calibri"/>
              </a:rPr>
              <a:t>Readings / References </a:t>
            </a:r>
          </a:p>
          <a:p>
            <a:pPr lvl="1">
              <a:lnSpc>
                <a:spcPct val="150000"/>
              </a:lnSpc>
              <a:spcBef>
                <a:spcPts val="600"/>
              </a:spcBef>
              <a:spcAft>
                <a:spcPts val="600"/>
              </a:spcAft>
              <a:buClr>
                <a:srgbClr val="002060"/>
              </a:buClr>
              <a:buFont typeface="Wingdings" panose="05000000000000000000" pitchFamily="2" charset="2"/>
              <a:buChar char="v"/>
            </a:pPr>
            <a:r>
              <a:rPr lang="en-US" sz="1400" dirty="0">
                <a:solidFill>
                  <a:schemeClr val="tx1"/>
                </a:solidFill>
                <a:sym typeface="Calibri"/>
              </a:rPr>
              <a:t>MS Excel 2019 Data Analysis and Business Modeling, by Wayne L Winston, Microsoft Press </a:t>
            </a:r>
          </a:p>
          <a:p>
            <a:pPr lvl="2" algn="just">
              <a:lnSpc>
                <a:spcPct val="110000"/>
              </a:lnSpc>
              <a:buClr>
                <a:schemeClr val="tx1"/>
              </a:buClr>
              <a:buFont typeface="Wingdings" panose="05000000000000000000" pitchFamily="2" charset="2"/>
              <a:buChar char="ü"/>
            </a:pPr>
            <a:r>
              <a:rPr lang="en-US" sz="1250" dirty="0">
                <a:solidFill>
                  <a:schemeClr val="tx1"/>
                </a:solidFill>
                <a:sym typeface="Calibri"/>
              </a:rPr>
              <a:t>Chapter – </a:t>
            </a:r>
            <a:r>
              <a:rPr lang="en-US" sz="1200" dirty="0">
                <a:solidFill>
                  <a:schemeClr val="tx1"/>
                </a:solidFill>
              </a:rPr>
              <a:t> 1, 2, 14, 25, 28, 39 and 42</a:t>
            </a:r>
          </a:p>
          <a:p>
            <a:pPr lvl="1">
              <a:lnSpc>
                <a:spcPct val="150000"/>
              </a:lnSpc>
              <a:spcBef>
                <a:spcPts val="600"/>
              </a:spcBef>
              <a:spcAft>
                <a:spcPts val="600"/>
              </a:spcAft>
              <a:buClr>
                <a:srgbClr val="002060"/>
              </a:buClr>
              <a:buFont typeface="Wingdings" panose="05000000000000000000" pitchFamily="2" charset="2"/>
              <a:buChar char="v"/>
            </a:pPr>
            <a:r>
              <a:rPr lang="en-US" sz="1400" dirty="0">
                <a:solidFill>
                  <a:schemeClr val="tx1"/>
                </a:solidFill>
              </a:rPr>
              <a:t>Good Modelling Practices in Microsoft Excel (</a:t>
            </a:r>
            <a:r>
              <a:rPr lang="en-IN" sz="1400" dirty="0">
                <a:solidFill>
                  <a:schemeClr val="tx1"/>
                </a:solidFill>
              </a:rPr>
              <a:t>W16408-PDF-ENG)</a:t>
            </a:r>
            <a:endParaRPr lang="en-IN" sz="1400" dirty="0">
              <a:solidFill>
                <a:schemeClr val="tx1"/>
              </a:solidFill>
              <a:sym typeface="Calibri"/>
            </a:endParaRPr>
          </a:p>
        </p:txBody>
      </p:sp>
      <p:sp>
        <p:nvSpPr>
          <p:cNvPr id="2" name="Footer Placeholder 1">
            <a:extLst>
              <a:ext uri="{FF2B5EF4-FFF2-40B4-BE49-F238E27FC236}">
                <a16:creationId xmlns:a16="http://schemas.microsoft.com/office/drawing/2014/main" id="{C9C2A672-80C1-4C4A-9EA1-42CAE64315D9}"/>
              </a:ext>
            </a:extLst>
          </p:cNvPr>
          <p:cNvSpPr>
            <a:spLocks noGrp="1"/>
          </p:cNvSpPr>
          <p:nvPr>
            <p:ph type="ftr" sz="quarter" idx="11"/>
          </p:nvPr>
        </p:nvSpPr>
        <p:spPr/>
        <p:txBody>
          <a:bodyPr/>
          <a:lstStyle/>
          <a:p>
            <a:r>
              <a:rPr lang="en-US"/>
              <a:t>Restricted Access - This presentation is only for IIM Lucknow Students</a:t>
            </a:r>
            <a:endParaRPr lang="en-US" dirty="0"/>
          </a:p>
        </p:txBody>
      </p:sp>
      <p:sp>
        <p:nvSpPr>
          <p:cNvPr id="6" name="Content Placeholder 2">
            <a:extLst>
              <a:ext uri="{FF2B5EF4-FFF2-40B4-BE49-F238E27FC236}">
                <a16:creationId xmlns:a16="http://schemas.microsoft.com/office/drawing/2014/main" id="{F7CFF52C-9E1A-4B15-B532-4A4063CC896C}"/>
              </a:ext>
            </a:extLst>
          </p:cNvPr>
          <p:cNvSpPr txBox="1">
            <a:spLocks/>
          </p:cNvSpPr>
          <p:nvPr/>
        </p:nvSpPr>
        <p:spPr>
          <a:xfrm>
            <a:off x="786438" y="2844916"/>
            <a:ext cx="7241197" cy="550985"/>
          </a:xfrm>
          <a:prstGeom prst="rect">
            <a:avLst/>
          </a:prstGeom>
        </p:spPr>
        <p:txBody>
          <a:bodyPr vert="horz" lIns="91440" tIns="45720" rIns="91440" bIns="45720" rtlCol="0">
            <a:normAutofit/>
          </a:bodyPr>
          <a:lstStyle>
            <a:lvl1pPr marL="171450" indent="-137160" algn="l" defTabSz="685800" rtl="0" eaLnBrk="1" latinLnBrk="0" hangingPunct="1">
              <a:lnSpc>
                <a:spcPct val="90000"/>
              </a:lnSpc>
              <a:spcBef>
                <a:spcPts val="1050"/>
              </a:spcBef>
              <a:buClr>
                <a:schemeClr val="accent1"/>
              </a:buClr>
              <a:buSzPct val="80000"/>
              <a:buFont typeface="Corbel"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a:lstStyle>
          <a:p>
            <a:pPr marL="0" indent="0" algn="ctr">
              <a:buFont typeface="Corbel" pitchFamily="34" charset="0"/>
              <a:buNone/>
            </a:pPr>
            <a:r>
              <a:rPr lang="en-US" sz="2400" b="1" dirty="0">
                <a:solidFill>
                  <a:srgbClr val="0070C0"/>
                </a:solidFill>
              </a:rPr>
              <a:t>THANK YOU </a:t>
            </a:r>
          </a:p>
          <a:p>
            <a:pPr marL="0" indent="0" algn="ctr">
              <a:buFont typeface="Corbel" pitchFamily="34" charset="0"/>
              <a:buNone/>
            </a:pPr>
            <a:endParaRPr lang="en-US" sz="2400" b="1" dirty="0">
              <a:solidFill>
                <a:srgbClr val="0070C0"/>
              </a:solidFill>
            </a:endParaRPr>
          </a:p>
          <a:p>
            <a:pPr marL="0" indent="0" algn="ctr">
              <a:buFont typeface="Corbel" pitchFamily="34" charset="0"/>
              <a:buNone/>
            </a:pPr>
            <a:endParaRPr lang="en-US" sz="2400" b="1" dirty="0">
              <a:solidFill>
                <a:srgbClr val="0070C0"/>
              </a:solidFill>
            </a:endParaRPr>
          </a:p>
        </p:txBody>
      </p:sp>
    </p:spTree>
    <p:extLst>
      <p:ext uri="{BB962C8B-B14F-4D97-AF65-F5344CB8AC3E}">
        <p14:creationId xmlns:p14="http://schemas.microsoft.com/office/powerpoint/2010/main" val="1492955340"/>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Infosys Template 1">
  <a:themeElements>
    <a:clrScheme name="Infosys Template 1">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Infosys Template 1">
      <a:majorFont>
        <a:latin typeface="Helvetica"/>
        <a:ea typeface="Helvetica"/>
        <a:cs typeface="Helvetica"/>
      </a:majorFont>
      <a:minorFont>
        <a:latin typeface="Calibri"/>
        <a:ea typeface="Calibri"/>
        <a:cs typeface="Calibri"/>
      </a:minorFont>
    </a:fontScheme>
    <a:fmtScheme name="Infosys Templat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TM03457444[[fn=Basis]]</Template>
  <TotalTime>690605</TotalTime>
  <Words>3477</Words>
  <Application>Microsoft Office PowerPoint</Application>
  <PresentationFormat>On-screen Show (16:9)</PresentationFormat>
  <Paragraphs>476</Paragraphs>
  <Slides>30</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Corbel</vt:lpstr>
      <vt:lpstr>Courier New</vt:lpstr>
      <vt:lpstr>Times New Roman</vt:lpstr>
      <vt:lpstr>Wingdings</vt:lpstr>
      <vt:lpstr>Basis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S.</dc:creator>
  <cp:lastModifiedBy>V S Prakash Attili</cp:lastModifiedBy>
  <cp:revision>3304</cp:revision>
  <cp:lastPrinted>2020-05-18T18:13:24Z</cp:lastPrinted>
  <dcterms:modified xsi:type="dcterms:W3CDTF">2022-07-06T08:28:17Z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1813203</vt:lpwstr>
  </property>
  <property fmtid="{D5CDD505-2E9C-101B-9397-08002B2CF9AE}" pid="3" name="NXPowerLiteSettings">
    <vt:lpwstr>E7000400038000</vt:lpwstr>
  </property>
  <property fmtid="{D5CDD505-2E9C-101B-9397-08002B2CF9AE}" pid="4" name="NXPowerLiteVersion">
    <vt:lpwstr>D6.1.0</vt:lpwstr>
  </property>
  <property fmtid="{D5CDD505-2E9C-101B-9397-08002B2CF9AE}" pid="5" name="MSIP_Label_be4b3411-284d-4d31-bd4f-bc13ef7f1fd6_Enabled">
    <vt:lpwstr>True</vt:lpwstr>
  </property>
  <property fmtid="{D5CDD505-2E9C-101B-9397-08002B2CF9AE}" pid="6" name="MSIP_Label_be4b3411-284d-4d31-bd4f-bc13ef7f1fd6_SiteId">
    <vt:lpwstr>63ce7d59-2f3e-42cd-a8cc-be764cff5eb6</vt:lpwstr>
  </property>
  <property fmtid="{D5CDD505-2E9C-101B-9397-08002B2CF9AE}" pid="7" name="MSIP_Label_be4b3411-284d-4d31-bd4f-bc13ef7f1fd6_Owner">
    <vt:lpwstr>PrakashV_S@ad.infosys.com</vt:lpwstr>
  </property>
  <property fmtid="{D5CDD505-2E9C-101B-9397-08002B2CF9AE}" pid="8" name="MSIP_Label_be4b3411-284d-4d31-bd4f-bc13ef7f1fd6_SetDate">
    <vt:lpwstr>2018-10-16T12:54:19.2443491Z</vt:lpwstr>
  </property>
  <property fmtid="{D5CDD505-2E9C-101B-9397-08002B2CF9AE}" pid="9" name="MSIP_Label_be4b3411-284d-4d31-bd4f-bc13ef7f1fd6_Name">
    <vt:lpwstr>Internal</vt:lpwstr>
  </property>
  <property fmtid="{D5CDD505-2E9C-101B-9397-08002B2CF9AE}" pid="10" name="MSIP_Label_be4b3411-284d-4d31-bd4f-bc13ef7f1fd6_Application">
    <vt:lpwstr>Microsoft Azure Information Protection</vt:lpwstr>
  </property>
  <property fmtid="{D5CDD505-2E9C-101B-9397-08002B2CF9AE}" pid="11" name="MSIP_Label_be4b3411-284d-4d31-bd4f-bc13ef7f1fd6_Extended_MSFT_Method">
    <vt:lpwstr>Automatic</vt:lpwstr>
  </property>
  <property fmtid="{D5CDD505-2E9C-101B-9397-08002B2CF9AE}" pid="12" name="MSIP_Label_a0819fa7-4367-4500-ba88-dd630d977609_Enabled">
    <vt:lpwstr>True</vt:lpwstr>
  </property>
  <property fmtid="{D5CDD505-2E9C-101B-9397-08002B2CF9AE}" pid="13" name="MSIP_Label_a0819fa7-4367-4500-ba88-dd630d977609_SiteId">
    <vt:lpwstr>63ce7d59-2f3e-42cd-a8cc-be764cff5eb6</vt:lpwstr>
  </property>
  <property fmtid="{D5CDD505-2E9C-101B-9397-08002B2CF9AE}" pid="14" name="MSIP_Label_a0819fa7-4367-4500-ba88-dd630d977609_Owner">
    <vt:lpwstr>PrakashV_S@ad.infosys.com</vt:lpwstr>
  </property>
  <property fmtid="{D5CDD505-2E9C-101B-9397-08002B2CF9AE}" pid="15" name="MSIP_Label_a0819fa7-4367-4500-ba88-dd630d977609_SetDate">
    <vt:lpwstr>2018-10-16T12:54:19.2443491Z</vt:lpwstr>
  </property>
  <property fmtid="{D5CDD505-2E9C-101B-9397-08002B2CF9AE}" pid="16" name="MSIP_Label_a0819fa7-4367-4500-ba88-dd630d977609_Name">
    <vt:lpwstr>Companywide usage</vt:lpwstr>
  </property>
  <property fmtid="{D5CDD505-2E9C-101B-9397-08002B2CF9AE}" pid="17" name="MSIP_Label_a0819fa7-4367-4500-ba88-dd630d977609_Application">
    <vt:lpwstr>Microsoft Azure Information Protection</vt:lpwstr>
  </property>
  <property fmtid="{D5CDD505-2E9C-101B-9397-08002B2CF9AE}" pid="18" name="MSIP_Label_a0819fa7-4367-4500-ba88-dd630d977609_Parent">
    <vt:lpwstr>be4b3411-284d-4d31-bd4f-bc13ef7f1fd6</vt:lpwstr>
  </property>
  <property fmtid="{D5CDD505-2E9C-101B-9397-08002B2CF9AE}" pid="19" name="MSIP_Label_a0819fa7-4367-4500-ba88-dd630d977609_Extended_MSFT_Method">
    <vt:lpwstr>Automatic</vt:lpwstr>
  </property>
  <property fmtid="{D5CDD505-2E9C-101B-9397-08002B2CF9AE}" pid="20" name="Sensitivity">
    <vt:lpwstr>Internal Companywide usage</vt:lpwstr>
  </property>
</Properties>
</file>