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97" r:id="rId2"/>
    <p:sldId id="292" r:id="rId3"/>
    <p:sldId id="300" r:id="rId4"/>
    <p:sldId id="302" r:id="rId5"/>
    <p:sldId id="298" r:id="rId6"/>
    <p:sldId id="286" r:id="rId7"/>
    <p:sldId id="287" r:id="rId8"/>
    <p:sldId id="267" r:id="rId9"/>
    <p:sldId id="288" r:id="rId10"/>
    <p:sldId id="291" r:id="rId11"/>
    <p:sldId id="303" r:id="rId12"/>
    <p:sldId id="304" r:id="rId13"/>
    <p:sldId id="269" r:id="rId14"/>
    <p:sldId id="305" r:id="rId15"/>
    <p:sldId id="306" r:id="rId16"/>
    <p:sldId id="307" r:id="rId17"/>
  </p:sldIdLst>
  <p:sldSz cx="12192000" cy="6858000"/>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704">
          <p15:clr>
            <a:srgbClr val="A4A3A4"/>
          </p15:clr>
        </p15:guide>
        <p15:guide id="2" pos="3827">
          <p15:clr>
            <a:srgbClr val="A4A3A4"/>
          </p15:clr>
        </p15:guide>
        <p15:guide id="3" pos="5776">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jjjMvL5ikP6EJd4vlOGcVFzwJio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DDC4A-70B5-D4D4-7063-E8E506B94B17}" name="Jay Kumar" initials="JK" userId="ec23717ac40d2d2b" providerId="Windows Live"/>
  <p188:author id="{95D1ABEA-4AE9-4C3C-E59F-36BC46E21A78}" name="Shivam Pathak" initials="SP" userId="90e0bea51cafba4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CF2F2"/>
    <a:srgbClr val="FAECEC"/>
    <a:srgbClr val="F6DEDE"/>
    <a:srgbClr val="9C797F"/>
    <a:srgbClr val="F9F1F3"/>
    <a:srgbClr val="F7EDEF"/>
    <a:srgbClr val="7D3C4A"/>
    <a:srgbClr val="F7EEF0"/>
    <a:srgbClr val="2DA2BF"/>
    <a:srgbClr val="FA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23E2B1-AD8A-40FB-AF64-D9033477BA71}" v="3155" dt="2023-08-14T20:08:29.949"/>
    <p1510:client id="{262B5A96-F746-43A2-9111-5830B11AEA37}" v="71" dt="2023-08-15T10:14:57.564"/>
    <p1510:client id="{26310A64-B80D-4148-BD78-3275A1774B59}" v="13086" dt="2023-08-15T18:19:05.240"/>
    <p1510:client id="{2CE2722B-688B-4CC0-8679-239A5E617DC5}" v="100" dt="2023-08-14T22:23:40.168"/>
    <p1510:client id="{35530136-8438-42A4-9456-C520493FAEC9}" v="3110" dt="2023-08-15T10:06:52.048"/>
    <p1510:client id="{362397F7-59AB-4DCA-923E-6E559E6311F0}" v="1026" dt="2023-08-15T11:58:11.988"/>
    <p1510:client id="{4166294A-DB1A-4302-8C1B-DE3894CCBEE1}" v="1057" dt="2023-08-15T12:58:13.704"/>
    <p1510:client id="{5012382B-2B08-4C17-BB8B-8BF89A03D922}" v="3695" dt="2023-08-15T18:17:04.331"/>
    <p1510:client id="{AF5FF791-6941-4DF8-A5AA-A6A0CF24306F}" v="1446" dt="2023-08-14T22:19:18.641"/>
    <p1510:client id="{BDF34F84-4A7B-4291-ADEF-9BC54B2C2168}" v="2" dt="2023-08-15T12:43:46.240"/>
    <p1510:client id="{EA665512-20DE-421E-880A-6401D253354B}" v="454" dt="2023-08-14T22:38:48.953"/>
    <p1510:client id="{FBA2F062-8940-49E0-BA6A-4B24E02089DC}" v="23354" dt="2023-08-15T18:17:05.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21" y="42"/>
      </p:cViewPr>
      <p:guideLst>
        <p:guide orient="horz" pos="2704"/>
        <p:guide pos="3827"/>
        <p:guide pos="577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36" Type="http://schemas.microsoft.com/office/2015/10/relationships/revisionInfo" Target="revisionInfo.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diagrams/_rels/data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 Id="rId5" Type="http://schemas.openxmlformats.org/officeDocument/2006/relationships/image" Target="../media/image35.jpeg"/><Relationship Id="rId4" Type="http://schemas.openxmlformats.org/officeDocument/2006/relationships/image" Target="../media/image3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diagrams/_rels/drawing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 Id="rId5" Type="http://schemas.openxmlformats.org/officeDocument/2006/relationships/image" Target="../media/image35.jpeg"/><Relationship Id="rId4" Type="http://schemas.openxmlformats.org/officeDocument/2006/relationships/image" Target="../media/image34.jpe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2E2DF7-9BBF-44BC-A727-97FFFB344900}" type="doc">
      <dgm:prSet loTypeId="urn:microsoft.com/office/officeart/2005/8/layout/bList2" loCatId="list" qsTypeId="urn:microsoft.com/office/officeart/2005/8/quickstyle/simple1" qsCatId="simple" csTypeId="urn:microsoft.com/office/officeart/2005/8/colors/accent6_2" csCatId="accent6" phldr="1"/>
      <dgm:spPr/>
      <dgm:t>
        <a:bodyPr/>
        <a:lstStyle/>
        <a:p>
          <a:endParaRPr lang="en-IN"/>
        </a:p>
      </dgm:t>
    </dgm:pt>
    <dgm:pt modelId="{ED741AB6-97D9-49CD-93C6-1BF4219599DD}">
      <dgm:prSet>
        <dgm:style>
          <a:lnRef idx="3">
            <a:schemeClr val="lt1"/>
          </a:lnRef>
          <a:fillRef idx="1">
            <a:schemeClr val="accent6"/>
          </a:fillRef>
          <a:effectRef idx="1">
            <a:schemeClr val="accent6"/>
          </a:effectRef>
          <a:fontRef idx="minor">
            <a:schemeClr val="lt1"/>
          </a:fontRef>
        </dgm:style>
      </dgm:prSet>
      <dgm:spPr/>
      <dgm:t>
        <a:bodyPr/>
        <a:lstStyle/>
        <a:p>
          <a:r>
            <a:rPr lang="en-IN"/>
            <a:t>POLITICAL</a:t>
          </a:r>
        </a:p>
      </dgm:t>
    </dgm:pt>
    <dgm:pt modelId="{0380EABC-2BA1-45CB-B815-24BD7FF9B388}" type="parTrans" cxnId="{93FC31D5-5A83-47A4-B3F0-07DFE7A30379}">
      <dgm:prSet/>
      <dgm:spPr/>
      <dgm:t>
        <a:bodyPr/>
        <a:lstStyle/>
        <a:p>
          <a:endParaRPr lang="en-IN"/>
        </a:p>
      </dgm:t>
    </dgm:pt>
    <dgm:pt modelId="{5524D9D4-CB18-47E7-ACF4-B4F2273342CC}" type="sibTrans" cxnId="{93FC31D5-5A83-47A4-B3F0-07DFE7A30379}">
      <dgm:prSet/>
      <dgm:spPr/>
      <dgm:t>
        <a:bodyPr/>
        <a:lstStyle/>
        <a:p>
          <a:endParaRPr lang="en-IN"/>
        </a:p>
      </dgm:t>
    </dgm:pt>
    <dgm:pt modelId="{5B911A6F-6979-4FC4-93F1-591A46485233}">
      <dgm:prSet>
        <dgm:style>
          <a:lnRef idx="3">
            <a:schemeClr val="lt1"/>
          </a:lnRef>
          <a:fillRef idx="1">
            <a:schemeClr val="accent6"/>
          </a:fillRef>
          <a:effectRef idx="1">
            <a:schemeClr val="accent6"/>
          </a:effectRef>
          <a:fontRef idx="minor">
            <a:schemeClr val="lt1"/>
          </a:fontRef>
        </dgm:style>
      </dgm:prSet>
      <dgm:spPr/>
      <dgm:t>
        <a:bodyPr/>
        <a:lstStyle/>
        <a:p>
          <a:r>
            <a:rPr lang="en-IN"/>
            <a:t>ECONOMIC</a:t>
          </a:r>
        </a:p>
      </dgm:t>
    </dgm:pt>
    <dgm:pt modelId="{6361A75C-EB94-4BDD-B835-DE3A4CE04193}" type="parTrans" cxnId="{C989878C-BDB7-44AE-946F-D8DDA626D6C3}">
      <dgm:prSet/>
      <dgm:spPr/>
      <dgm:t>
        <a:bodyPr/>
        <a:lstStyle/>
        <a:p>
          <a:endParaRPr lang="en-IN"/>
        </a:p>
      </dgm:t>
    </dgm:pt>
    <dgm:pt modelId="{1539CAF7-DE77-4213-BEE3-69F64D8580C4}" type="sibTrans" cxnId="{C989878C-BDB7-44AE-946F-D8DDA626D6C3}">
      <dgm:prSet/>
      <dgm:spPr/>
      <dgm:t>
        <a:bodyPr/>
        <a:lstStyle/>
        <a:p>
          <a:endParaRPr lang="en-IN"/>
        </a:p>
      </dgm:t>
    </dgm:pt>
    <dgm:pt modelId="{5752979B-2E46-4ED3-915E-834A2D24D066}">
      <dgm:prSet>
        <dgm:style>
          <a:lnRef idx="3">
            <a:schemeClr val="lt1"/>
          </a:lnRef>
          <a:fillRef idx="1">
            <a:schemeClr val="accent6"/>
          </a:fillRef>
          <a:effectRef idx="1">
            <a:schemeClr val="accent6"/>
          </a:effectRef>
          <a:fontRef idx="minor">
            <a:schemeClr val="lt1"/>
          </a:fontRef>
        </dgm:style>
      </dgm:prSet>
      <dgm:spPr/>
      <dgm:t>
        <a:bodyPr/>
        <a:lstStyle/>
        <a:p>
          <a:r>
            <a:rPr lang="en-IN"/>
            <a:t>SOCIAL</a:t>
          </a:r>
        </a:p>
      </dgm:t>
    </dgm:pt>
    <dgm:pt modelId="{81E497C0-CC15-4F51-83F9-4CC851AC055F}" type="parTrans" cxnId="{EF140052-2C63-4ABC-9683-F6CC21FD392E}">
      <dgm:prSet/>
      <dgm:spPr/>
      <dgm:t>
        <a:bodyPr/>
        <a:lstStyle/>
        <a:p>
          <a:endParaRPr lang="en-IN"/>
        </a:p>
      </dgm:t>
    </dgm:pt>
    <dgm:pt modelId="{0D3DC61E-D74E-4DF9-B3BD-EB3B51D4298B}" type="sibTrans" cxnId="{EF140052-2C63-4ABC-9683-F6CC21FD392E}">
      <dgm:prSet/>
      <dgm:spPr/>
      <dgm:t>
        <a:bodyPr/>
        <a:lstStyle/>
        <a:p>
          <a:endParaRPr lang="en-IN"/>
        </a:p>
      </dgm:t>
    </dgm:pt>
    <dgm:pt modelId="{B9AF14AF-534C-4277-AD5C-B6EE789DCEDE}">
      <dgm:prSet>
        <dgm:style>
          <a:lnRef idx="3">
            <a:schemeClr val="lt1"/>
          </a:lnRef>
          <a:fillRef idx="1">
            <a:schemeClr val="accent6"/>
          </a:fillRef>
          <a:effectRef idx="1">
            <a:schemeClr val="accent6"/>
          </a:effectRef>
          <a:fontRef idx="minor">
            <a:schemeClr val="lt1"/>
          </a:fontRef>
        </dgm:style>
      </dgm:prSet>
      <dgm:spPr/>
      <dgm:t>
        <a:bodyPr/>
        <a:lstStyle/>
        <a:p>
          <a:r>
            <a:rPr lang="en-IN"/>
            <a:t>TECHNOLOGY</a:t>
          </a:r>
        </a:p>
      </dgm:t>
    </dgm:pt>
    <dgm:pt modelId="{5959DED5-31B4-4AD5-9D52-8F6647512414}" type="parTrans" cxnId="{70E61D0E-5092-4BF2-B403-7E182CFA4846}">
      <dgm:prSet/>
      <dgm:spPr/>
      <dgm:t>
        <a:bodyPr/>
        <a:lstStyle/>
        <a:p>
          <a:endParaRPr lang="en-IN"/>
        </a:p>
      </dgm:t>
    </dgm:pt>
    <dgm:pt modelId="{395621F3-0F57-40D2-A25D-7A0018BDE19F}" type="sibTrans" cxnId="{70E61D0E-5092-4BF2-B403-7E182CFA4846}">
      <dgm:prSet/>
      <dgm:spPr/>
      <dgm:t>
        <a:bodyPr/>
        <a:lstStyle/>
        <a:p>
          <a:endParaRPr lang="en-IN"/>
        </a:p>
      </dgm:t>
    </dgm:pt>
    <dgm:pt modelId="{9DB6C777-3361-4AB6-B86C-B2A2663CCCDB}">
      <dgm:prSet>
        <dgm:style>
          <a:lnRef idx="3">
            <a:schemeClr val="lt1"/>
          </a:lnRef>
          <a:fillRef idx="1">
            <a:schemeClr val="accent6"/>
          </a:fillRef>
          <a:effectRef idx="1">
            <a:schemeClr val="accent6"/>
          </a:effectRef>
          <a:fontRef idx="minor">
            <a:schemeClr val="lt1"/>
          </a:fontRef>
        </dgm:style>
      </dgm:prSet>
      <dgm:spPr/>
      <dgm:t>
        <a:bodyPr/>
        <a:lstStyle/>
        <a:p>
          <a:r>
            <a:rPr lang="en-IN"/>
            <a:t>LEGAL</a:t>
          </a:r>
        </a:p>
      </dgm:t>
    </dgm:pt>
    <dgm:pt modelId="{958AC387-6FB9-41A7-AEC3-FD2E41BACCF9}" type="parTrans" cxnId="{A102168D-87BA-4F45-A37A-E2A132FD0448}">
      <dgm:prSet/>
      <dgm:spPr/>
      <dgm:t>
        <a:bodyPr/>
        <a:lstStyle/>
        <a:p>
          <a:endParaRPr lang="en-IN"/>
        </a:p>
      </dgm:t>
    </dgm:pt>
    <dgm:pt modelId="{3E1C4FC1-3098-4A9C-8B8C-9E53F3A9884A}" type="sibTrans" cxnId="{A102168D-87BA-4F45-A37A-E2A132FD0448}">
      <dgm:prSet/>
      <dgm:spPr/>
      <dgm:t>
        <a:bodyPr/>
        <a:lstStyle/>
        <a:p>
          <a:endParaRPr lang="en-IN"/>
        </a:p>
      </dgm:t>
    </dgm:pt>
    <dgm:pt modelId="{285FF5C9-288C-4C70-87B1-1C6DBE716CE1}">
      <dgm:prSet>
        <dgm:style>
          <a:lnRef idx="3">
            <a:schemeClr val="lt1"/>
          </a:lnRef>
          <a:fillRef idx="1">
            <a:schemeClr val="accent6"/>
          </a:fillRef>
          <a:effectRef idx="1">
            <a:schemeClr val="accent6"/>
          </a:effectRef>
          <a:fontRef idx="minor">
            <a:schemeClr val="lt1"/>
          </a:fontRef>
        </dgm:style>
      </dgm:prSet>
      <dgm:spPr/>
      <dgm:t>
        <a:bodyPr/>
        <a:lstStyle/>
        <a:p>
          <a:r>
            <a:rPr lang="en-IN"/>
            <a:t>ENVIRONMENT</a:t>
          </a:r>
        </a:p>
      </dgm:t>
    </dgm:pt>
    <dgm:pt modelId="{2318F584-FF09-4814-94B7-DC3B6C7BC88B}" type="parTrans" cxnId="{5A434CDC-3134-4E20-A370-D2C181B93B18}">
      <dgm:prSet/>
      <dgm:spPr/>
      <dgm:t>
        <a:bodyPr/>
        <a:lstStyle/>
        <a:p>
          <a:endParaRPr lang="en-IN"/>
        </a:p>
      </dgm:t>
    </dgm:pt>
    <dgm:pt modelId="{30CDC3A6-B1CF-4E38-AD1D-AA9A3C5A22BD}" type="sibTrans" cxnId="{5A434CDC-3134-4E20-A370-D2C181B93B18}">
      <dgm:prSet/>
      <dgm:spPr/>
      <dgm:t>
        <a:bodyPr/>
        <a:lstStyle/>
        <a:p>
          <a:endParaRPr lang="en-IN"/>
        </a:p>
      </dgm:t>
    </dgm:pt>
    <dgm:pt modelId="{A3AD5A2E-5BD8-4278-9CE3-A63F5FFE0ED2}">
      <dgm:prSet custT="1"/>
      <dgm:spPr/>
      <dgm:t>
        <a:bodyPr/>
        <a:lstStyle/>
        <a:p>
          <a:r>
            <a:rPr lang="en-US" sz="1100"/>
            <a:t>Punjab Preservation of Subsoil Act (2009) – reduced time duration to 15-20 days</a:t>
          </a:r>
          <a:endParaRPr lang="en-IN" sz="1100"/>
        </a:p>
      </dgm:t>
    </dgm:pt>
    <dgm:pt modelId="{5D408C4A-D242-47F0-825D-9B7D43B9CFBD}" type="parTrans" cxnId="{104C09DE-A17D-4286-81C8-283F15E958A6}">
      <dgm:prSet/>
      <dgm:spPr/>
      <dgm:t>
        <a:bodyPr/>
        <a:lstStyle/>
        <a:p>
          <a:endParaRPr lang="en-IN"/>
        </a:p>
      </dgm:t>
    </dgm:pt>
    <dgm:pt modelId="{AF1FBDDA-5C9C-4559-85DD-BF45C1CF0F42}" type="sibTrans" cxnId="{104C09DE-A17D-4286-81C8-283F15E958A6}">
      <dgm:prSet/>
      <dgm:spPr/>
      <dgm:t>
        <a:bodyPr/>
        <a:lstStyle/>
        <a:p>
          <a:endParaRPr lang="en-IN"/>
        </a:p>
      </dgm:t>
    </dgm:pt>
    <dgm:pt modelId="{B889C402-9804-4F72-A3B5-C06231B89415}">
      <dgm:prSet custT="1"/>
      <dgm:spPr/>
      <dgm:t>
        <a:bodyPr/>
        <a:lstStyle/>
        <a:p>
          <a:r>
            <a:rPr lang="en-IN" sz="1100" dirty="0"/>
            <a:t>Penalty of Rs 2500/acre for stubble burning in Punjab and Haryana</a:t>
          </a:r>
        </a:p>
      </dgm:t>
    </dgm:pt>
    <dgm:pt modelId="{E0B94290-DEAF-418D-997B-16EB02E344BD}" type="parTrans" cxnId="{97B607F6-27C0-4D61-B919-209C14E3DAE4}">
      <dgm:prSet/>
      <dgm:spPr/>
      <dgm:t>
        <a:bodyPr/>
        <a:lstStyle/>
        <a:p>
          <a:endParaRPr lang="en-IN"/>
        </a:p>
      </dgm:t>
    </dgm:pt>
    <dgm:pt modelId="{079D9760-70B3-4AB0-8615-A9015DB66DF4}" type="sibTrans" cxnId="{97B607F6-27C0-4D61-B919-209C14E3DAE4}">
      <dgm:prSet/>
      <dgm:spPr/>
      <dgm:t>
        <a:bodyPr/>
        <a:lstStyle/>
        <a:p>
          <a:endParaRPr lang="en-IN"/>
        </a:p>
      </dgm:t>
    </dgm:pt>
    <dgm:pt modelId="{BEB116AC-1E83-4600-A8BA-9BF0C1BE477A}">
      <dgm:prSet custT="1"/>
      <dgm:spPr/>
      <dgm:t>
        <a:bodyPr/>
        <a:lstStyle/>
        <a:p>
          <a:r>
            <a:rPr lang="en-IN" sz="1100"/>
            <a:t>States </a:t>
          </a:r>
          <a:r>
            <a:rPr lang="en-US" sz="1100"/>
            <a:t>working on a plan to procure paddy straw at MSP</a:t>
          </a:r>
          <a:endParaRPr lang="en-IN" sz="1100"/>
        </a:p>
      </dgm:t>
    </dgm:pt>
    <dgm:pt modelId="{F9761A4C-0272-4F2F-A713-C4F06C1B8F2E}" type="sibTrans" cxnId="{F8FA51CA-1FA9-4CDE-9D6E-F1D584F41420}">
      <dgm:prSet/>
      <dgm:spPr/>
      <dgm:t>
        <a:bodyPr/>
        <a:lstStyle/>
        <a:p>
          <a:endParaRPr lang="en-IN"/>
        </a:p>
      </dgm:t>
    </dgm:pt>
    <dgm:pt modelId="{1A83702B-0646-473C-B6EB-0E011C1F5C12}" type="parTrans" cxnId="{F8FA51CA-1FA9-4CDE-9D6E-F1D584F41420}">
      <dgm:prSet/>
      <dgm:spPr/>
      <dgm:t>
        <a:bodyPr/>
        <a:lstStyle/>
        <a:p>
          <a:endParaRPr lang="en-IN"/>
        </a:p>
      </dgm:t>
    </dgm:pt>
    <dgm:pt modelId="{E780609F-F824-42AA-BCA4-43599CD046FF}">
      <dgm:prSet custT="1"/>
      <dgm:spPr/>
      <dgm:t>
        <a:bodyPr/>
        <a:lstStyle/>
        <a:p>
          <a:r>
            <a:rPr lang="en-IN" sz="1100" dirty="0"/>
            <a:t>Growing energy and agriculture markets both will help RNG industry to grow with it.</a:t>
          </a:r>
        </a:p>
      </dgm:t>
    </dgm:pt>
    <dgm:pt modelId="{BEDB9C14-9491-4C59-97FD-3343193965D4}" type="parTrans" cxnId="{17BE83E3-D4DA-4B35-B103-12C21DBBFF65}">
      <dgm:prSet/>
      <dgm:spPr/>
      <dgm:t>
        <a:bodyPr/>
        <a:lstStyle/>
        <a:p>
          <a:endParaRPr lang="en-IN"/>
        </a:p>
      </dgm:t>
    </dgm:pt>
    <dgm:pt modelId="{EA3EC4B9-260B-41C7-94F9-F673C07B94D6}" type="sibTrans" cxnId="{17BE83E3-D4DA-4B35-B103-12C21DBBFF65}">
      <dgm:prSet/>
      <dgm:spPr/>
      <dgm:t>
        <a:bodyPr/>
        <a:lstStyle/>
        <a:p>
          <a:endParaRPr lang="en-IN"/>
        </a:p>
      </dgm:t>
    </dgm:pt>
    <dgm:pt modelId="{D2FFAD99-F7EC-4F82-BEA1-E2F92E415831}">
      <dgm:prSet custT="1"/>
      <dgm:spPr/>
      <dgm:t>
        <a:bodyPr/>
        <a:lstStyle/>
        <a:p>
          <a:r>
            <a:rPr lang="en-IN" sz="1100" dirty="0"/>
            <a:t>Stubble burning leads to destruction of organic matters &amp; creatures in fertile soil.</a:t>
          </a:r>
        </a:p>
      </dgm:t>
    </dgm:pt>
    <dgm:pt modelId="{CF5F78DB-55C2-4068-91FE-6B87A8FB64F9}" type="parTrans" cxnId="{60D6E57C-CFAC-4423-AC1D-87A5D150EA39}">
      <dgm:prSet/>
      <dgm:spPr/>
      <dgm:t>
        <a:bodyPr/>
        <a:lstStyle/>
        <a:p>
          <a:endParaRPr lang="en-IN"/>
        </a:p>
      </dgm:t>
    </dgm:pt>
    <dgm:pt modelId="{2201100C-D464-4FA5-BE26-A3700B221787}" type="sibTrans" cxnId="{60D6E57C-CFAC-4423-AC1D-87A5D150EA39}">
      <dgm:prSet/>
      <dgm:spPr/>
      <dgm:t>
        <a:bodyPr/>
        <a:lstStyle/>
        <a:p>
          <a:endParaRPr lang="en-IN"/>
        </a:p>
      </dgm:t>
    </dgm:pt>
    <dgm:pt modelId="{A58E8AA1-F7EF-4C13-96CA-6D2CD670A160}">
      <dgm:prSet custT="1"/>
      <dgm:spPr/>
      <dgm:t>
        <a:bodyPr/>
        <a:lstStyle/>
        <a:p>
          <a:r>
            <a:rPr lang="en-IN" sz="1100" dirty="0"/>
            <a:t>Paddy Crop failure via pest attack, fire, rain, or other natural causes</a:t>
          </a:r>
        </a:p>
      </dgm:t>
    </dgm:pt>
    <dgm:pt modelId="{16D2BA9A-DE84-43A1-84F7-9DB9912439A4}" type="parTrans" cxnId="{C1347118-9BB1-4285-83BF-DB847AFFB938}">
      <dgm:prSet/>
      <dgm:spPr/>
      <dgm:t>
        <a:bodyPr/>
        <a:lstStyle/>
        <a:p>
          <a:endParaRPr lang="en-IN"/>
        </a:p>
      </dgm:t>
    </dgm:pt>
    <dgm:pt modelId="{9A04F32E-20E0-420D-9CE1-0DA324E98507}" type="sibTrans" cxnId="{C1347118-9BB1-4285-83BF-DB847AFFB938}">
      <dgm:prSet/>
      <dgm:spPr/>
      <dgm:t>
        <a:bodyPr/>
        <a:lstStyle/>
        <a:p>
          <a:endParaRPr lang="en-IN"/>
        </a:p>
      </dgm:t>
    </dgm:pt>
    <dgm:pt modelId="{8C5923B0-44E4-4ADE-A859-82A329FB2298}">
      <dgm:prSet custT="1"/>
      <dgm:spPr/>
      <dgm:t>
        <a:bodyPr/>
        <a:lstStyle/>
        <a:p>
          <a:r>
            <a:rPr lang="en-IN" sz="1100" dirty="0"/>
            <a:t> Organised bio-mass industry is leading to higher economic growth.</a:t>
          </a:r>
        </a:p>
      </dgm:t>
    </dgm:pt>
    <dgm:pt modelId="{0F4F1978-274B-41F8-B0FB-F6A60D5D9432}" type="parTrans" cxnId="{706A3052-3280-4572-8B97-439F5239813B}">
      <dgm:prSet/>
      <dgm:spPr/>
      <dgm:t>
        <a:bodyPr/>
        <a:lstStyle/>
        <a:p>
          <a:endParaRPr lang="en-IN"/>
        </a:p>
      </dgm:t>
    </dgm:pt>
    <dgm:pt modelId="{699D9AF2-38B0-42EA-9F01-0524B674CC4C}" type="sibTrans" cxnId="{706A3052-3280-4572-8B97-439F5239813B}">
      <dgm:prSet/>
      <dgm:spPr/>
      <dgm:t>
        <a:bodyPr/>
        <a:lstStyle/>
        <a:p>
          <a:endParaRPr lang="en-IN"/>
        </a:p>
      </dgm:t>
    </dgm:pt>
    <dgm:pt modelId="{54573B81-010D-44A2-8401-C9AF2920B93F}">
      <dgm:prSet custT="1"/>
      <dgm:spPr/>
      <dgm:t>
        <a:bodyPr/>
        <a:lstStyle/>
        <a:p>
          <a:r>
            <a:rPr lang="en-US" sz="1100" dirty="0"/>
            <a:t>Burning of paddy being seen as a negative is growing in the masses</a:t>
          </a:r>
          <a:endParaRPr lang="en-IN" sz="1100" dirty="0"/>
        </a:p>
      </dgm:t>
    </dgm:pt>
    <dgm:pt modelId="{43B21683-33F2-41DC-A0CC-58B57ECF4856}" type="parTrans" cxnId="{2F987A68-237A-46BB-BFBE-D12EF6330032}">
      <dgm:prSet/>
      <dgm:spPr/>
      <dgm:t>
        <a:bodyPr/>
        <a:lstStyle/>
        <a:p>
          <a:endParaRPr lang="en-IN"/>
        </a:p>
      </dgm:t>
    </dgm:pt>
    <dgm:pt modelId="{D4D77247-913E-4DEA-AD56-04ACF760C453}" type="sibTrans" cxnId="{2F987A68-237A-46BB-BFBE-D12EF6330032}">
      <dgm:prSet/>
      <dgm:spPr/>
      <dgm:t>
        <a:bodyPr/>
        <a:lstStyle/>
        <a:p>
          <a:endParaRPr lang="en-IN"/>
        </a:p>
      </dgm:t>
    </dgm:pt>
    <dgm:pt modelId="{C099DFFB-CBE4-45DD-8C2D-03A3747298F4}">
      <dgm:prSet custT="1"/>
      <dgm:spPr/>
      <dgm:t>
        <a:bodyPr/>
        <a:lstStyle/>
        <a:p>
          <a:r>
            <a:rPr lang="en-US" sz="1200" dirty="0"/>
            <a:t>The growth in technology is quite slow with respect to other renewable energy technologies  even though it is in nascent phase</a:t>
          </a:r>
          <a:endParaRPr lang="en-IN" sz="1200" dirty="0"/>
        </a:p>
      </dgm:t>
    </dgm:pt>
    <dgm:pt modelId="{5F02FC12-D70C-4C25-B338-1E83BBA9957D}" type="parTrans" cxnId="{21524693-65A1-4CE4-BC14-16897A0B1ED8}">
      <dgm:prSet/>
      <dgm:spPr/>
      <dgm:t>
        <a:bodyPr/>
        <a:lstStyle/>
        <a:p>
          <a:endParaRPr lang="en-IN"/>
        </a:p>
      </dgm:t>
    </dgm:pt>
    <dgm:pt modelId="{D56A1000-97F2-4397-96E3-B8ABB4964E4B}" type="sibTrans" cxnId="{21524693-65A1-4CE4-BC14-16897A0B1ED8}">
      <dgm:prSet/>
      <dgm:spPr/>
      <dgm:t>
        <a:bodyPr/>
        <a:lstStyle/>
        <a:p>
          <a:endParaRPr lang="en-IN"/>
        </a:p>
      </dgm:t>
    </dgm:pt>
    <dgm:pt modelId="{C38BCE9C-76D1-48E3-B940-F2F3EA49709D}">
      <dgm:prSet custT="1"/>
      <dgm:spPr/>
      <dgm:t>
        <a:bodyPr/>
        <a:lstStyle/>
        <a:p>
          <a:r>
            <a:rPr lang="en-IN" sz="1100" dirty="0"/>
            <a:t>Government schemes &amp; subsidies of </a:t>
          </a:r>
          <a:r>
            <a:rPr lang="en-US" sz="1100" dirty="0"/>
            <a:t>Rs. 40 Lakhs/MW (MAX 5 Crores per project)</a:t>
          </a:r>
          <a:endParaRPr lang="en-IN" sz="1100" dirty="0"/>
        </a:p>
      </dgm:t>
    </dgm:pt>
    <dgm:pt modelId="{9998239D-2F51-4716-B65C-2E7EBF1A73BF}" type="parTrans" cxnId="{92C9B67E-383C-4369-9C67-BD8737475E40}">
      <dgm:prSet/>
      <dgm:spPr/>
      <dgm:t>
        <a:bodyPr/>
        <a:lstStyle/>
        <a:p>
          <a:endParaRPr lang="en-IN"/>
        </a:p>
      </dgm:t>
    </dgm:pt>
    <dgm:pt modelId="{922C9619-9B57-4F04-9D9F-76D2825BE379}" type="sibTrans" cxnId="{92C9B67E-383C-4369-9C67-BD8737475E40}">
      <dgm:prSet/>
      <dgm:spPr/>
      <dgm:t>
        <a:bodyPr/>
        <a:lstStyle/>
        <a:p>
          <a:endParaRPr lang="en-IN"/>
        </a:p>
      </dgm:t>
    </dgm:pt>
    <dgm:pt modelId="{61ACA392-A7E3-402E-90F5-9F1492BA20D3}">
      <dgm:prSet custT="1"/>
      <dgm:spPr/>
      <dgm:t>
        <a:bodyPr/>
        <a:lstStyle/>
        <a:p>
          <a:r>
            <a:rPr lang="en-US" sz="1100" dirty="0"/>
            <a:t> Improved awareness among farmers regarding benefits of paddy straw.</a:t>
          </a:r>
          <a:endParaRPr lang="en-IN" sz="1100" dirty="0"/>
        </a:p>
      </dgm:t>
    </dgm:pt>
    <dgm:pt modelId="{4DA6C00B-1FA7-4DD3-8DCC-97E1FF64065D}" type="parTrans" cxnId="{B50BBD3C-0A8A-42EF-8879-41BB16B6D31C}">
      <dgm:prSet/>
      <dgm:spPr/>
      <dgm:t>
        <a:bodyPr/>
        <a:lstStyle/>
        <a:p>
          <a:endParaRPr lang="en-IN"/>
        </a:p>
      </dgm:t>
    </dgm:pt>
    <dgm:pt modelId="{56DA3760-BD4B-4DED-BB13-5F6E12DA5BCC}" type="sibTrans" cxnId="{B50BBD3C-0A8A-42EF-8879-41BB16B6D31C}">
      <dgm:prSet/>
      <dgm:spPr/>
      <dgm:t>
        <a:bodyPr/>
        <a:lstStyle/>
        <a:p>
          <a:endParaRPr lang="en-IN"/>
        </a:p>
      </dgm:t>
    </dgm:pt>
    <dgm:pt modelId="{44E8FCEF-0CA9-43C5-BFD6-DB4FF27C25FB}" type="pres">
      <dgm:prSet presAssocID="{D32E2DF7-9BBF-44BC-A727-97FFFB344900}" presName="diagram" presStyleCnt="0">
        <dgm:presLayoutVars>
          <dgm:dir/>
          <dgm:animLvl val="lvl"/>
          <dgm:resizeHandles val="exact"/>
        </dgm:presLayoutVars>
      </dgm:prSet>
      <dgm:spPr/>
    </dgm:pt>
    <dgm:pt modelId="{EFD43B77-E2F5-4BAD-A477-2B39F7BDA6F0}" type="pres">
      <dgm:prSet presAssocID="{ED741AB6-97D9-49CD-93C6-1BF4219599DD}" presName="compNode" presStyleCnt="0"/>
      <dgm:spPr/>
    </dgm:pt>
    <dgm:pt modelId="{23A92D1A-6B4C-453D-8D46-1E47615FA55D}" type="pres">
      <dgm:prSet presAssocID="{ED741AB6-97D9-49CD-93C6-1BF4219599DD}" presName="childRect" presStyleLbl="bgAcc1" presStyleIdx="0" presStyleCnt="6">
        <dgm:presLayoutVars>
          <dgm:bulletEnabled val="1"/>
        </dgm:presLayoutVars>
      </dgm:prSet>
      <dgm:spPr/>
    </dgm:pt>
    <dgm:pt modelId="{7811963C-2622-4233-AE3A-9FCF9949B08D}" type="pres">
      <dgm:prSet presAssocID="{ED741AB6-97D9-49CD-93C6-1BF4219599DD}" presName="parentText" presStyleLbl="node1" presStyleIdx="0" presStyleCnt="0">
        <dgm:presLayoutVars>
          <dgm:chMax val="0"/>
          <dgm:bulletEnabled val="1"/>
        </dgm:presLayoutVars>
      </dgm:prSet>
      <dgm:spPr/>
    </dgm:pt>
    <dgm:pt modelId="{C3B1FF32-774F-4B78-84C7-F6DAF9D1F5B3}" type="pres">
      <dgm:prSet presAssocID="{ED741AB6-97D9-49CD-93C6-1BF4219599DD}" presName="parentRect" presStyleLbl="alignNode1" presStyleIdx="0" presStyleCnt="6"/>
      <dgm:spPr/>
    </dgm:pt>
    <dgm:pt modelId="{148B519D-BA34-4AE6-B7DB-39978A7DDDD9}" type="pres">
      <dgm:prSet presAssocID="{ED741AB6-97D9-49CD-93C6-1BF4219599DD}" presName="adorn" presStyleLbl="fgAccFollowNode1" presStyleIdx="0" presStyleCnt="6"/>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dgm:spPr>
    </dgm:pt>
    <dgm:pt modelId="{0B59C100-A20C-42A4-BD58-7EE91E502710}" type="pres">
      <dgm:prSet presAssocID="{5524D9D4-CB18-47E7-ACF4-B4F2273342CC}" presName="sibTrans" presStyleLbl="sibTrans2D1" presStyleIdx="0" presStyleCnt="0"/>
      <dgm:spPr/>
    </dgm:pt>
    <dgm:pt modelId="{659F1DD5-64E9-4CD3-AF68-4CEE655C4DC4}" type="pres">
      <dgm:prSet presAssocID="{5B911A6F-6979-4FC4-93F1-591A46485233}" presName="compNode" presStyleCnt="0"/>
      <dgm:spPr/>
    </dgm:pt>
    <dgm:pt modelId="{1E5B9805-B87D-47F2-9FCB-36F78B91AE10}" type="pres">
      <dgm:prSet presAssocID="{5B911A6F-6979-4FC4-93F1-591A46485233}" presName="childRect" presStyleLbl="bgAcc1" presStyleIdx="1" presStyleCnt="6">
        <dgm:presLayoutVars>
          <dgm:bulletEnabled val="1"/>
        </dgm:presLayoutVars>
      </dgm:prSet>
      <dgm:spPr/>
    </dgm:pt>
    <dgm:pt modelId="{22DFC8FF-5BE1-40A6-8A48-602782FF2F5C}" type="pres">
      <dgm:prSet presAssocID="{5B911A6F-6979-4FC4-93F1-591A46485233}" presName="parentText" presStyleLbl="node1" presStyleIdx="0" presStyleCnt="0">
        <dgm:presLayoutVars>
          <dgm:chMax val="0"/>
          <dgm:bulletEnabled val="1"/>
        </dgm:presLayoutVars>
      </dgm:prSet>
      <dgm:spPr/>
    </dgm:pt>
    <dgm:pt modelId="{7D0669F7-883D-48CF-AAAC-41283A949275}" type="pres">
      <dgm:prSet presAssocID="{5B911A6F-6979-4FC4-93F1-591A46485233}" presName="parentRect" presStyleLbl="alignNode1" presStyleIdx="1" presStyleCnt="6"/>
      <dgm:spPr/>
    </dgm:pt>
    <dgm:pt modelId="{BD1F537E-4826-4610-84E4-6670644ABDF0}" type="pres">
      <dgm:prSet presAssocID="{5B911A6F-6979-4FC4-93F1-591A46485233}" presName="adorn" presStyleLbl="fgAccFollowNode1" presStyleIdx="1" presStyleCnt="6"/>
      <dgm:spPr>
        <a:blipFill>
          <a:blip xmlns:r="http://schemas.openxmlformats.org/officeDocument/2006/relationships" r:embed="rId2">
            <a:extLst>
              <a:ext uri="{28A0092B-C50C-407E-A947-70E740481C1C}">
                <a14:useLocalDpi xmlns:a14="http://schemas.microsoft.com/office/drawing/2010/main" val="0"/>
              </a:ext>
            </a:extLst>
          </a:blip>
          <a:srcRect/>
          <a:stretch>
            <a:fillRect l="-21000" r="-21000"/>
          </a:stretch>
        </a:blipFill>
      </dgm:spPr>
    </dgm:pt>
    <dgm:pt modelId="{68759ABD-DAA8-4981-8B25-BF1746A70E2F}" type="pres">
      <dgm:prSet presAssocID="{1539CAF7-DE77-4213-BEE3-69F64D8580C4}" presName="sibTrans" presStyleLbl="sibTrans2D1" presStyleIdx="0" presStyleCnt="0"/>
      <dgm:spPr/>
    </dgm:pt>
    <dgm:pt modelId="{DEF2FAF9-7925-402B-AF4E-76EA2D4E15BF}" type="pres">
      <dgm:prSet presAssocID="{5752979B-2E46-4ED3-915E-834A2D24D066}" presName="compNode" presStyleCnt="0"/>
      <dgm:spPr/>
    </dgm:pt>
    <dgm:pt modelId="{82A76306-4A74-460D-BAAB-D37FD442CF35}" type="pres">
      <dgm:prSet presAssocID="{5752979B-2E46-4ED3-915E-834A2D24D066}" presName="childRect" presStyleLbl="bgAcc1" presStyleIdx="2" presStyleCnt="6">
        <dgm:presLayoutVars>
          <dgm:bulletEnabled val="1"/>
        </dgm:presLayoutVars>
      </dgm:prSet>
      <dgm:spPr/>
    </dgm:pt>
    <dgm:pt modelId="{15D2CC81-5347-4034-9318-C5D9521E38E9}" type="pres">
      <dgm:prSet presAssocID="{5752979B-2E46-4ED3-915E-834A2D24D066}" presName="parentText" presStyleLbl="node1" presStyleIdx="0" presStyleCnt="0">
        <dgm:presLayoutVars>
          <dgm:chMax val="0"/>
          <dgm:bulletEnabled val="1"/>
        </dgm:presLayoutVars>
      </dgm:prSet>
      <dgm:spPr/>
    </dgm:pt>
    <dgm:pt modelId="{0D8E29C5-794A-4F15-B821-C7C6E07D65C6}" type="pres">
      <dgm:prSet presAssocID="{5752979B-2E46-4ED3-915E-834A2D24D066}" presName="parentRect" presStyleLbl="alignNode1" presStyleIdx="2" presStyleCnt="6"/>
      <dgm:spPr/>
    </dgm:pt>
    <dgm:pt modelId="{997CAE0C-0684-4AB4-9EEC-B5B9191951C3}" type="pres">
      <dgm:prSet presAssocID="{5752979B-2E46-4ED3-915E-834A2D24D066}" presName="adorn" presStyleLbl="fgAccFollowNode1" presStyleIdx="2" presStyleCnt="6"/>
      <dgm:spPr>
        <a:blipFill>
          <a:blip xmlns:r="http://schemas.openxmlformats.org/officeDocument/2006/relationships" r:embed="rId3">
            <a:extLst>
              <a:ext uri="{28A0092B-C50C-407E-A947-70E740481C1C}">
                <a14:useLocalDpi xmlns:a14="http://schemas.microsoft.com/office/drawing/2010/main" val="0"/>
              </a:ext>
            </a:extLst>
          </a:blip>
          <a:srcRect/>
          <a:stretch>
            <a:fillRect l="-17000" r="-17000"/>
          </a:stretch>
        </a:blipFill>
      </dgm:spPr>
    </dgm:pt>
    <dgm:pt modelId="{76A6E321-6404-43F9-808B-A2FA0BDA31BE}" type="pres">
      <dgm:prSet presAssocID="{0D3DC61E-D74E-4DF9-B3BD-EB3B51D4298B}" presName="sibTrans" presStyleLbl="sibTrans2D1" presStyleIdx="0" presStyleCnt="0"/>
      <dgm:spPr/>
    </dgm:pt>
    <dgm:pt modelId="{2E13D8CB-2D29-4896-A628-EF0525569AB4}" type="pres">
      <dgm:prSet presAssocID="{B9AF14AF-534C-4277-AD5C-B6EE789DCEDE}" presName="compNode" presStyleCnt="0"/>
      <dgm:spPr/>
    </dgm:pt>
    <dgm:pt modelId="{61C1A6E4-16FE-463D-A1A0-6480EDED9DFB}" type="pres">
      <dgm:prSet presAssocID="{B9AF14AF-534C-4277-AD5C-B6EE789DCEDE}" presName="childRect" presStyleLbl="bgAcc1" presStyleIdx="3" presStyleCnt="6">
        <dgm:presLayoutVars>
          <dgm:bulletEnabled val="1"/>
        </dgm:presLayoutVars>
      </dgm:prSet>
      <dgm:spPr/>
    </dgm:pt>
    <dgm:pt modelId="{58C31848-285A-4A7E-94A3-2FF9E7AA81CE}" type="pres">
      <dgm:prSet presAssocID="{B9AF14AF-534C-4277-AD5C-B6EE789DCEDE}" presName="parentText" presStyleLbl="node1" presStyleIdx="0" presStyleCnt="0">
        <dgm:presLayoutVars>
          <dgm:chMax val="0"/>
          <dgm:bulletEnabled val="1"/>
        </dgm:presLayoutVars>
      </dgm:prSet>
      <dgm:spPr/>
    </dgm:pt>
    <dgm:pt modelId="{3894E165-32BD-4B42-8899-19CEAAF9B634}" type="pres">
      <dgm:prSet presAssocID="{B9AF14AF-534C-4277-AD5C-B6EE789DCEDE}" presName="parentRect" presStyleLbl="alignNode1" presStyleIdx="3" presStyleCnt="6"/>
      <dgm:spPr/>
    </dgm:pt>
    <dgm:pt modelId="{C093E06D-5834-4428-AFE5-E6093CAC79ED}" type="pres">
      <dgm:prSet presAssocID="{B9AF14AF-534C-4277-AD5C-B6EE789DCEDE}" presName="adorn" presStyleLbl="fgAccFollowNod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l="-70000" r="-70000"/>
          </a:stretch>
        </a:blipFill>
      </dgm:spPr>
    </dgm:pt>
    <dgm:pt modelId="{EC47110C-9818-4342-B996-AA69010B3FFF}" type="pres">
      <dgm:prSet presAssocID="{395621F3-0F57-40D2-A25D-7A0018BDE19F}" presName="sibTrans" presStyleLbl="sibTrans2D1" presStyleIdx="0" presStyleCnt="0"/>
      <dgm:spPr/>
    </dgm:pt>
    <dgm:pt modelId="{CB81147D-7DF5-4D0A-8DDF-744B2C3EBD26}" type="pres">
      <dgm:prSet presAssocID="{9DB6C777-3361-4AB6-B86C-B2A2663CCCDB}" presName="compNode" presStyleCnt="0"/>
      <dgm:spPr/>
    </dgm:pt>
    <dgm:pt modelId="{BB305B4D-2CA5-41B9-8E13-CB039E60A2BC}" type="pres">
      <dgm:prSet presAssocID="{9DB6C777-3361-4AB6-B86C-B2A2663CCCDB}" presName="childRect" presStyleLbl="bgAcc1" presStyleIdx="4" presStyleCnt="6">
        <dgm:presLayoutVars>
          <dgm:bulletEnabled val="1"/>
        </dgm:presLayoutVars>
      </dgm:prSet>
      <dgm:spPr/>
    </dgm:pt>
    <dgm:pt modelId="{809D639D-4C70-4BAE-B4FE-1E4237403BE2}" type="pres">
      <dgm:prSet presAssocID="{9DB6C777-3361-4AB6-B86C-B2A2663CCCDB}" presName="parentText" presStyleLbl="node1" presStyleIdx="0" presStyleCnt="0">
        <dgm:presLayoutVars>
          <dgm:chMax val="0"/>
          <dgm:bulletEnabled val="1"/>
        </dgm:presLayoutVars>
      </dgm:prSet>
      <dgm:spPr/>
    </dgm:pt>
    <dgm:pt modelId="{17506CE3-CDA8-41A6-892E-74BCCF2EBE61}" type="pres">
      <dgm:prSet presAssocID="{9DB6C777-3361-4AB6-B86C-B2A2663CCCDB}" presName="parentRect" presStyleLbl="alignNode1" presStyleIdx="4" presStyleCnt="6"/>
      <dgm:spPr/>
    </dgm:pt>
    <dgm:pt modelId="{76AEF225-B319-4C41-A33A-D1EFDC710D28}" type="pres">
      <dgm:prSet presAssocID="{9DB6C777-3361-4AB6-B86C-B2A2663CCCDB}" presName="adorn" presStyleLbl="fgAccFollowNode1" presStyleIdx="4" presStyleCnt="6"/>
      <dgm:spPr>
        <a:blipFill>
          <a:blip xmlns:r="http://schemas.openxmlformats.org/officeDocument/2006/relationships" r:embed="rId5">
            <a:extLst>
              <a:ext uri="{28A0092B-C50C-407E-A947-70E740481C1C}">
                <a14:useLocalDpi xmlns:a14="http://schemas.microsoft.com/office/drawing/2010/main" val="0"/>
              </a:ext>
            </a:extLst>
          </a:blip>
          <a:srcRect/>
          <a:stretch>
            <a:fillRect l="-25000" r="-25000"/>
          </a:stretch>
        </a:blipFill>
      </dgm:spPr>
    </dgm:pt>
    <dgm:pt modelId="{82E9FF8B-33F0-4074-9979-E208DE9B0012}" type="pres">
      <dgm:prSet presAssocID="{3E1C4FC1-3098-4A9C-8B8C-9E53F3A9884A}" presName="sibTrans" presStyleLbl="sibTrans2D1" presStyleIdx="0" presStyleCnt="0"/>
      <dgm:spPr/>
    </dgm:pt>
    <dgm:pt modelId="{55BE844A-391A-4EC0-93DE-A219B829315E}" type="pres">
      <dgm:prSet presAssocID="{285FF5C9-288C-4C70-87B1-1C6DBE716CE1}" presName="compNode" presStyleCnt="0"/>
      <dgm:spPr/>
    </dgm:pt>
    <dgm:pt modelId="{522DB43D-FC95-417B-961D-D39FA176640B}" type="pres">
      <dgm:prSet presAssocID="{285FF5C9-288C-4C70-87B1-1C6DBE716CE1}" presName="childRect" presStyleLbl="bgAcc1" presStyleIdx="5" presStyleCnt="6">
        <dgm:presLayoutVars>
          <dgm:bulletEnabled val="1"/>
        </dgm:presLayoutVars>
      </dgm:prSet>
      <dgm:spPr/>
    </dgm:pt>
    <dgm:pt modelId="{208E34D2-5687-46E0-AA13-CFE241B127CB}" type="pres">
      <dgm:prSet presAssocID="{285FF5C9-288C-4C70-87B1-1C6DBE716CE1}" presName="parentText" presStyleLbl="node1" presStyleIdx="0" presStyleCnt="0">
        <dgm:presLayoutVars>
          <dgm:chMax val="0"/>
          <dgm:bulletEnabled val="1"/>
        </dgm:presLayoutVars>
      </dgm:prSet>
      <dgm:spPr/>
    </dgm:pt>
    <dgm:pt modelId="{8B743D72-E344-4C82-A6DC-97D31A4836C9}" type="pres">
      <dgm:prSet presAssocID="{285FF5C9-288C-4C70-87B1-1C6DBE716CE1}" presName="parentRect" presStyleLbl="alignNode1" presStyleIdx="5" presStyleCnt="6"/>
      <dgm:spPr/>
    </dgm:pt>
    <dgm:pt modelId="{F64DC3EF-A30C-48C2-A009-B8003F6157A2}" type="pres">
      <dgm:prSet presAssocID="{285FF5C9-288C-4C70-87B1-1C6DBE716CE1}" presName="adorn" presStyleLbl="fgAccFollowNod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l="-25000" r="-25000"/>
          </a:stretch>
        </a:blipFill>
      </dgm:spPr>
    </dgm:pt>
  </dgm:ptLst>
  <dgm:cxnLst>
    <dgm:cxn modelId="{A57AAA03-8570-46DB-8A7F-8DA81FAF9E44}" type="presOf" srcId="{C38BCE9C-76D1-48E3-B940-F2F3EA49709D}" destId="{23A92D1A-6B4C-453D-8D46-1E47615FA55D}" srcOrd="0" destOrd="1" presId="urn:microsoft.com/office/officeart/2005/8/layout/bList2"/>
    <dgm:cxn modelId="{AA11D906-D2F3-44B4-8575-BDB4ACBA5F8E}" type="presOf" srcId="{54573B81-010D-44A2-8401-C9AF2920B93F}" destId="{82A76306-4A74-460D-BAAB-D37FD442CF35}" srcOrd="0" destOrd="0" presId="urn:microsoft.com/office/officeart/2005/8/layout/bList2"/>
    <dgm:cxn modelId="{59024B0B-D11E-45BA-8563-D2978D3FE3F0}" type="presOf" srcId="{BEB116AC-1E83-4600-A8BA-9BF0C1BE477A}" destId="{23A92D1A-6B4C-453D-8D46-1E47615FA55D}" srcOrd="0" destOrd="0" presId="urn:microsoft.com/office/officeart/2005/8/layout/bList2"/>
    <dgm:cxn modelId="{70E61D0E-5092-4BF2-B403-7E182CFA4846}" srcId="{D32E2DF7-9BBF-44BC-A727-97FFFB344900}" destId="{B9AF14AF-534C-4277-AD5C-B6EE789DCEDE}" srcOrd="3" destOrd="0" parTransId="{5959DED5-31B4-4AD5-9D52-8F6647512414}" sibTransId="{395621F3-0F57-40D2-A25D-7A0018BDE19F}"/>
    <dgm:cxn modelId="{BD5CE815-8AAD-46EE-B1B1-5B59EAB33076}" type="presOf" srcId="{E780609F-F824-42AA-BCA4-43599CD046FF}" destId="{1E5B9805-B87D-47F2-9FCB-36F78B91AE10}" srcOrd="0" destOrd="0" presId="urn:microsoft.com/office/officeart/2005/8/layout/bList2"/>
    <dgm:cxn modelId="{C1347118-9BB1-4285-83BF-DB847AFFB938}" srcId="{285FF5C9-288C-4C70-87B1-1C6DBE716CE1}" destId="{A58E8AA1-F7EF-4C13-96CA-6D2CD670A160}" srcOrd="1" destOrd="0" parTransId="{16D2BA9A-DE84-43A1-84F7-9DB9912439A4}" sibTransId="{9A04F32E-20E0-420D-9CE1-0DA324E98507}"/>
    <dgm:cxn modelId="{2C65B018-0329-48D8-B287-74248AED10A7}" type="presOf" srcId="{1539CAF7-DE77-4213-BEE3-69F64D8580C4}" destId="{68759ABD-DAA8-4981-8B25-BF1746A70E2F}" srcOrd="0" destOrd="0" presId="urn:microsoft.com/office/officeart/2005/8/layout/bList2"/>
    <dgm:cxn modelId="{31303E19-2B53-4E84-97CC-6FC0618B59AF}" type="presOf" srcId="{5752979B-2E46-4ED3-915E-834A2D24D066}" destId="{0D8E29C5-794A-4F15-B821-C7C6E07D65C6}" srcOrd="1" destOrd="0" presId="urn:microsoft.com/office/officeart/2005/8/layout/bList2"/>
    <dgm:cxn modelId="{A286311E-BB79-465E-AF7F-D90D19853B08}" type="presOf" srcId="{A58E8AA1-F7EF-4C13-96CA-6D2CD670A160}" destId="{522DB43D-FC95-417B-961D-D39FA176640B}" srcOrd="0" destOrd="1" presId="urn:microsoft.com/office/officeart/2005/8/layout/bList2"/>
    <dgm:cxn modelId="{CA41431F-C135-4838-B50A-79DFFAAD7033}" type="presOf" srcId="{9DB6C777-3361-4AB6-B86C-B2A2663CCCDB}" destId="{809D639D-4C70-4BAE-B4FE-1E4237403BE2}" srcOrd="0" destOrd="0" presId="urn:microsoft.com/office/officeart/2005/8/layout/bList2"/>
    <dgm:cxn modelId="{433CF033-3BC6-4280-8ECF-B3398352C58B}" type="presOf" srcId="{285FF5C9-288C-4C70-87B1-1C6DBE716CE1}" destId="{208E34D2-5687-46E0-AA13-CFE241B127CB}" srcOrd="0" destOrd="0" presId="urn:microsoft.com/office/officeart/2005/8/layout/bList2"/>
    <dgm:cxn modelId="{B50BBD3C-0A8A-42EF-8879-41BB16B6D31C}" srcId="{5752979B-2E46-4ED3-915E-834A2D24D066}" destId="{61ACA392-A7E3-402E-90F5-9F1492BA20D3}" srcOrd="1" destOrd="0" parTransId="{4DA6C00B-1FA7-4DD3-8DCC-97E1FF64065D}" sibTransId="{56DA3760-BD4B-4DED-BB13-5F6E12DA5BCC}"/>
    <dgm:cxn modelId="{54E92C46-F1BA-46F7-B4D2-46E9ABAD122A}" type="presOf" srcId="{5752979B-2E46-4ED3-915E-834A2D24D066}" destId="{15D2CC81-5347-4034-9318-C5D9521E38E9}" srcOrd="0" destOrd="0" presId="urn:microsoft.com/office/officeart/2005/8/layout/bList2"/>
    <dgm:cxn modelId="{2F987A68-237A-46BB-BFBE-D12EF6330032}" srcId="{5752979B-2E46-4ED3-915E-834A2D24D066}" destId="{54573B81-010D-44A2-8401-C9AF2920B93F}" srcOrd="0" destOrd="0" parTransId="{43B21683-33F2-41DC-A0CC-58B57ECF4856}" sibTransId="{D4D77247-913E-4DEA-AD56-04ACF760C453}"/>
    <dgm:cxn modelId="{42FC046D-7B77-4CE3-B581-2216E91867F2}" type="presOf" srcId="{9DB6C777-3361-4AB6-B86C-B2A2663CCCDB}" destId="{17506CE3-CDA8-41A6-892E-74BCCF2EBE61}" srcOrd="1" destOrd="0" presId="urn:microsoft.com/office/officeart/2005/8/layout/bList2"/>
    <dgm:cxn modelId="{A1181C4E-1829-41B7-83DD-C1DEC84EA353}" type="presOf" srcId="{ED741AB6-97D9-49CD-93C6-1BF4219599DD}" destId="{7811963C-2622-4233-AE3A-9FCF9949B08D}" srcOrd="0" destOrd="0" presId="urn:microsoft.com/office/officeart/2005/8/layout/bList2"/>
    <dgm:cxn modelId="{8D3C056F-55CC-4FFB-B2F8-C72AC8ED0626}" type="presOf" srcId="{5B911A6F-6979-4FC4-93F1-591A46485233}" destId="{7D0669F7-883D-48CF-AAAC-41283A949275}" srcOrd="1" destOrd="0" presId="urn:microsoft.com/office/officeart/2005/8/layout/bList2"/>
    <dgm:cxn modelId="{EF140052-2C63-4ABC-9683-F6CC21FD392E}" srcId="{D32E2DF7-9BBF-44BC-A727-97FFFB344900}" destId="{5752979B-2E46-4ED3-915E-834A2D24D066}" srcOrd="2" destOrd="0" parTransId="{81E497C0-CC15-4F51-83F9-4CC851AC055F}" sibTransId="{0D3DC61E-D74E-4DF9-B3BD-EB3B51D4298B}"/>
    <dgm:cxn modelId="{706A3052-3280-4572-8B97-439F5239813B}" srcId="{5B911A6F-6979-4FC4-93F1-591A46485233}" destId="{8C5923B0-44E4-4ADE-A859-82A329FB2298}" srcOrd="1" destOrd="0" parTransId="{0F4F1978-274B-41F8-B0FB-F6A60D5D9432}" sibTransId="{699D9AF2-38B0-42EA-9F01-0524B674CC4C}"/>
    <dgm:cxn modelId="{836FAE72-8163-4DD8-9CBE-059FCFF9B1BB}" type="presOf" srcId="{B9AF14AF-534C-4277-AD5C-B6EE789DCEDE}" destId="{3894E165-32BD-4B42-8899-19CEAAF9B634}" srcOrd="1" destOrd="0" presId="urn:microsoft.com/office/officeart/2005/8/layout/bList2"/>
    <dgm:cxn modelId="{60D6E57C-CFAC-4423-AC1D-87A5D150EA39}" srcId="{285FF5C9-288C-4C70-87B1-1C6DBE716CE1}" destId="{D2FFAD99-F7EC-4F82-BEA1-E2F92E415831}" srcOrd="0" destOrd="0" parTransId="{CF5F78DB-55C2-4068-91FE-6B87A8FB64F9}" sibTransId="{2201100C-D464-4FA5-BE26-A3700B221787}"/>
    <dgm:cxn modelId="{92C9B67E-383C-4369-9C67-BD8737475E40}" srcId="{ED741AB6-97D9-49CD-93C6-1BF4219599DD}" destId="{C38BCE9C-76D1-48E3-B940-F2F3EA49709D}" srcOrd="1" destOrd="0" parTransId="{9998239D-2F51-4716-B65C-2E7EBF1A73BF}" sibTransId="{922C9619-9B57-4F04-9D9F-76D2825BE379}"/>
    <dgm:cxn modelId="{09637080-1DDA-4EEE-BFE4-819F07C27440}" type="presOf" srcId="{395621F3-0F57-40D2-A25D-7A0018BDE19F}" destId="{EC47110C-9818-4342-B996-AA69010B3FFF}" srcOrd="0" destOrd="0" presId="urn:microsoft.com/office/officeart/2005/8/layout/bList2"/>
    <dgm:cxn modelId="{0FB74688-8B14-4314-A259-C7394DA32689}" type="presOf" srcId="{5524D9D4-CB18-47E7-ACF4-B4F2273342CC}" destId="{0B59C100-A20C-42A4-BD58-7EE91E502710}" srcOrd="0" destOrd="0" presId="urn:microsoft.com/office/officeart/2005/8/layout/bList2"/>
    <dgm:cxn modelId="{D972F98B-5284-4E1B-9887-B8FCE406E9AD}" type="presOf" srcId="{C099DFFB-CBE4-45DD-8C2D-03A3747298F4}" destId="{61C1A6E4-16FE-463D-A1A0-6480EDED9DFB}" srcOrd="0" destOrd="0" presId="urn:microsoft.com/office/officeart/2005/8/layout/bList2"/>
    <dgm:cxn modelId="{C989878C-BDB7-44AE-946F-D8DDA626D6C3}" srcId="{D32E2DF7-9BBF-44BC-A727-97FFFB344900}" destId="{5B911A6F-6979-4FC4-93F1-591A46485233}" srcOrd="1" destOrd="0" parTransId="{6361A75C-EB94-4BDD-B835-DE3A4CE04193}" sibTransId="{1539CAF7-DE77-4213-BEE3-69F64D8580C4}"/>
    <dgm:cxn modelId="{A102168D-87BA-4F45-A37A-E2A132FD0448}" srcId="{D32E2DF7-9BBF-44BC-A727-97FFFB344900}" destId="{9DB6C777-3361-4AB6-B86C-B2A2663CCCDB}" srcOrd="4" destOrd="0" parTransId="{958AC387-6FB9-41A7-AEC3-FD2E41BACCF9}" sibTransId="{3E1C4FC1-3098-4A9C-8B8C-9E53F3A9884A}"/>
    <dgm:cxn modelId="{21524693-65A1-4CE4-BC14-16897A0B1ED8}" srcId="{B9AF14AF-534C-4277-AD5C-B6EE789DCEDE}" destId="{C099DFFB-CBE4-45DD-8C2D-03A3747298F4}" srcOrd="0" destOrd="0" parTransId="{5F02FC12-D70C-4C25-B338-1E83BBA9957D}" sibTransId="{D56A1000-97F2-4397-96E3-B8ABB4964E4B}"/>
    <dgm:cxn modelId="{7925CD93-0F84-4768-8797-1495EE76620B}" type="presOf" srcId="{61ACA392-A7E3-402E-90F5-9F1492BA20D3}" destId="{82A76306-4A74-460D-BAAB-D37FD442CF35}" srcOrd="0" destOrd="1" presId="urn:microsoft.com/office/officeart/2005/8/layout/bList2"/>
    <dgm:cxn modelId="{1AC2DE99-6609-4F75-B835-F0143202EC17}" type="presOf" srcId="{0D3DC61E-D74E-4DF9-B3BD-EB3B51D4298B}" destId="{76A6E321-6404-43F9-808B-A2FA0BDA31BE}" srcOrd="0" destOrd="0" presId="urn:microsoft.com/office/officeart/2005/8/layout/bList2"/>
    <dgm:cxn modelId="{509ABB9A-01D9-4BF4-9B64-077AC0DA261F}" type="presOf" srcId="{D2FFAD99-F7EC-4F82-BEA1-E2F92E415831}" destId="{522DB43D-FC95-417B-961D-D39FA176640B}" srcOrd="0" destOrd="0" presId="urn:microsoft.com/office/officeart/2005/8/layout/bList2"/>
    <dgm:cxn modelId="{0484C7A2-B586-439D-B99A-131335EBAFA8}" type="presOf" srcId="{285FF5C9-288C-4C70-87B1-1C6DBE716CE1}" destId="{8B743D72-E344-4C82-A6DC-97D31A4836C9}" srcOrd="1" destOrd="0" presId="urn:microsoft.com/office/officeart/2005/8/layout/bList2"/>
    <dgm:cxn modelId="{4C19C4AC-31F2-48D6-B23F-6C5438CB4515}" type="presOf" srcId="{3E1C4FC1-3098-4A9C-8B8C-9E53F3A9884A}" destId="{82E9FF8B-33F0-4074-9979-E208DE9B0012}" srcOrd="0" destOrd="0" presId="urn:microsoft.com/office/officeart/2005/8/layout/bList2"/>
    <dgm:cxn modelId="{E174B8C1-7145-4C6B-B818-A53E01B58BD5}" type="presOf" srcId="{A3AD5A2E-5BD8-4278-9CE3-A63F5FFE0ED2}" destId="{BB305B4D-2CA5-41B9-8E13-CB039E60A2BC}" srcOrd="0" destOrd="0" presId="urn:microsoft.com/office/officeart/2005/8/layout/bList2"/>
    <dgm:cxn modelId="{F8FA51CA-1FA9-4CDE-9D6E-F1D584F41420}" srcId="{ED741AB6-97D9-49CD-93C6-1BF4219599DD}" destId="{BEB116AC-1E83-4600-A8BA-9BF0C1BE477A}" srcOrd="0" destOrd="0" parTransId="{1A83702B-0646-473C-B6EB-0E011C1F5C12}" sibTransId="{F9761A4C-0272-4F2F-A713-C4F06C1B8F2E}"/>
    <dgm:cxn modelId="{93FC31D5-5A83-47A4-B3F0-07DFE7A30379}" srcId="{D32E2DF7-9BBF-44BC-A727-97FFFB344900}" destId="{ED741AB6-97D9-49CD-93C6-1BF4219599DD}" srcOrd="0" destOrd="0" parTransId="{0380EABC-2BA1-45CB-B815-24BD7FF9B388}" sibTransId="{5524D9D4-CB18-47E7-ACF4-B4F2273342CC}"/>
    <dgm:cxn modelId="{FE5AD4D5-C054-4B57-A400-5712E63753F6}" type="presOf" srcId="{D32E2DF7-9BBF-44BC-A727-97FFFB344900}" destId="{44E8FCEF-0CA9-43C5-BFD6-DB4FF27C25FB}" srcOrd="0" destOrd="0" presId="urn:microsoft.com/office/officeart/2005/8/layout/bList2"/>
    <dgm:cxn modelId="{5A434CDC-3134-4E20-A370-D2C181B93B18}" srcId="{D32E2DF7-9BBF-44BC-A727-97FFFB344900}" destId="{285FF5C9-288C-4C70-87B1-1C6DBE716CE1}" srcOrd="5" destOrd="0" parTransId="{2318F584-FF09-4814-94B7-DC3B6C7BC88B}" sibTransId="{30CDC3A6-B1CF-4E38-AD1D-AA9A3C5A22BD}"/>
    <dgm:cxn modelId="{104C09DE-A17D-4286-81C8-283F15E958A6}" srcId="{9DB6C777-3361-4AB6-B86C-B2A2663CCCDB}" destId="{A3AD5A2E-5BD8-4278-9CE3-A63F5FFE0ED2}" srcOrd="0" destOrd="0" parTransId="{5D408C4A-D242-47F0-825D-9B7D43B9CFBD}" sibTransId="{AF1FBDDA-5C9C-4559-85DD-BF45C1CF0F42}"/>
    <dgm:cxn modelId="{17BE83E3-D4DA-4B35-B103-12C21DBBFF65}" srcId="{5B911A6F-6979-4FC4-93F1-591A46485233}" destId="{E780609F-F824-42AA-BCA4-43599CD046FF}" srcOrd="0" destOrd="0" parTransId="{BEDB9C14-9491-4C59-97FD-3343193965D4}" sibTransId="{EA3EC4B9-260B-41C7-94F9-F673C07B94D6}"/>
    <dgm:cxn modelId="{133B61E6-7238-4775-B538-DD0674DCF9FE}" type="presOf" srcId="{5B911A6F-6979-4FC4-93F1-591A46485233}" destId="{22DFC8FF-5BE1-40A6-8A48-602782FF2F5C}" srcOrd="0" destOrd="0" presId="urn:microsoft.com/office/officeart/2005/8/layout/bList2"/>
    <dgm:cxn modelId="{633714F1-DEE7-48A5-8252-B03FB9935D37}" type="presOf" srcId="{B9AF14AF-534C-4277-AD5C-B6EE789DCEDE}" destId="{58C31848-285A-4A7E-94A3-2FF9E7AA81CE}" srcOrd="0" destOrd="0" presId="urn:microsoft.com/office/officeart/2005/8/layout/bList2"/>
    <dgm:cxn modelId="{264D39F2-49E7-4508-8C3D-890995030105}" type="presOf" srcId="{ED741AB6-97D9-49CD-93C6-1BF4219599DD}" destId="{C3B1FF32-774F-4B78-84C7-F6DAF9D1F5B3}" srcOrd="1" destOrd="0" presId="urn:microsoft.com/office/officeart/2005/8/layout/bList2"/>
    <dgm:cxn modelId="{97B607F6-27C0-4D61-B919-209C14E3DAE4}" srcId="{9DB6C777-3361-4AB6-B86C-B2A2663CCCDB}" destId="{B889C402-9804-4F72-A3B5-C06231B89415}" srcOrd="1" destOrd="0" parTransId="{E0B94290-DEAF-418D-997B-16EB02E344BD}" sibTransId="{079D9760-70B3-4AB0-8615-A9015DB66DF4}"/>
    <dgm:cxn modelId="{9BB12AF6-33C3-4407-88D5-28F297D2701C}" type="presOf" srcId="{8C5923B0-44E4-4ADE-A859-82A329FB2298}" destId="{1E5B9805-B87D-47F2-9FCB-36F78B91AE10}" srcOrd="0" destOrd="1" presId="urn:microsoft.com/office/officeart/2005/8/layout/bList2"/>
    <dgm:cxn modelId="{33039FFD-EC69-4195-900A-E7B868FBCD0A}" type="presOf" srcId="{B889C402-9804-4F72-A3B5-C06231B89415}" destId="{BB305B4D-2CA5-41B9-8E13-CB039E60A2BC}" srcOrd="0" destOrd="1" presId="urn:microsoft.com/office/officeart/2005/8/layout/bList2"/>
    <dgm:cxn modelId="{54146EAB-0D34-42B7-B357-F958D038BEE6}" type="presParOf" srcId="{44E8FCEF-0CA9-43C5-BFD6-DB4FF27C25FB}" destId="{EFD43B77-E2F5-4BAD-A477-2B39F7BDA6F0}" srcOrd="0" destOrd="0" presId="urn:microsoft.com/office/officeart/2005/8/layout/bList2"/>
    <dgm:cxn modelId="{DED3A9E8-F9C9-4486-BAEB-B675BDB71715}" type="presParOf" srcId="{EFD43B77-E2F5-4BAD-A477-2B39F7BDA6F0}" destId="{23A92D1A-6B4C-453D-8D46-1E47615FA55D}" srcOrd="0" destOrd="0" presId="urn:microsoft.com/office/officeart/2005/8/layout/bList2"/>
    <dgm:cxn modelId="{D47F73E3-B83B-4ABA-B97E-F89E820BE628}" type="presParOf" srcId="{EFD43B77-E2F5-4BAD-A477-2B39F7BDA6F0}" destId="{7811963C-2622-4233-AE3A-9FCF9949B08D}" srcOrd="1" destOrd="0" presId="urn:microsoft.com/office/officeart/2005/8/layout/bList2"/>
    <dgm:cxn modelId="{656BDC6B-9430-412D-AB13-ECAC075EAAB9}" type="presParOf" srcId="{EFD43B77-E2F5-4BAD-A477-2B39F7BDA6F0}" destId="{C3B1FF32-774F-4B78-84C7-F6DAF9D1F5B3}" srcOrd="2" destOrd="0" presId="urn:microsoft.com/office/officeart/2005/8/layout/bList2"/>
    <dgm:cxn modelId="{7A7B4F90-DE54-4BFB-87C3-9AFCB3F7656A}" type="presParOf" srcId="{EFD43B77-E2F5-4BAD-A477-2B39F7BDA6F0}" destId="{148B519D-BA34-4AE6-B7DB-39978A7DDDD9}" srcOrd="3" destOrd="0" presId="urn:microsoft.com/office/officeart/2005/8/layout/bList2"/>
    <dgm:cxn modelId="{50A9098E-C0A0-49B9-B823-B9ACA3CBA2D1}" type="presParOf" srcId="{44E8FCEF-0CA9-43C5-BFD6-DB4FF27C25FB}" destId="{0B59C100-A20C-42A4-BD58-7EE91E502710}" srcOrd="1" destOrd="0" presId="urn:microsoft.com/office/officeart/2005/8/layout/bList2"/>
    <dgm:cxn modelId="{8BDCFB69-4F44-48BC-842F-F46E78E27F26}" type="presParOf" srcId="{44E8FCEF-0CA9-43C5-BFD6-DB4FF27C25FB}" destId="{659F1DD5-64E9-4CD3-AF68-4CEE655C4DC4}" srcOrd="2" destOrd="0" presId="urn:microsoft.com/office/officeart/2005/8/layout/bList2"/>
    <dgm:cxn modelId="{3C213999-4905-483F-8912-ABE4407E4C30}" type="presParOf" srcId="{659F1DD5-64E9-4CD3-AF68-4CEE655C4DC4}" destId="{1E5B9805-B87D-47F2-9FCB-36F78B91AE10}" srcOrd="0" destOrd="0" presId="urn:microsoft.com/office/officeart/2005/8/layout/bList2"/>
    <dgm:cxn modelId="{EB74D684-1D6A-47E4-BB18-DA8DCA449E48}" type="presParOf" srcId="{659F1DD5-64E9-4CD3-AF68-4CEE655C4DC4}" destId="{22DFC8FF-5BE1-40A6-8A48-602782FF2F5C}" srcOrd="1" destOrd="0" presId="urn:microsoft.com/office/officeart/2005/8/layout/bList2"/>
    <dgm:cxn modelId="{6C0B5854-A8F2-4ECC-AAB0-083671C42C35}" type="presParOf" srcId="{659F1DD5-64E9-4CD3-AF68-4CEE655C4DC4}" destId="{7D0669F7-883D-48CF-AAAC-41283A949275}" srcOrd="2" destOrd="0" presId="urn:microsoft.com/office/officeart/2005/8/layout/bList2"/>
    <dgm:cxn modelId="{5AE57ADA-93F1-48A3-A980-CA48DD36D68C}" type="presParOf" srcId="{659F1DD5-64E9-4CD3-AF68-4CEE655C4DC4}" destId="{BD1F537E-4826-4610-84E4-6670644ABDF0}" srcOrd="3" destOrd="0" presId="urn:microsoft.com/office/officeart/2005/8/layout/bList2"/>
    <dgm:cxn modelId="{BD39CB9D-5F7C-49C1-897A-E913B4EC0634}" type="presParOf" srcId="{44E8FCEF-0CA9-43C5-BFD6-DB4FF27C25FB}" destId="{68759ABD-DAA8-4981-8B25-BF1746A70E2F}" srcOrd="3" destOrd="0" presId="urn:microsoft.com/office/officeart/2005/8/layout/bList2"/>
    <dgm:cxn modelId="{1648DBD6-7302-4318-9FC6-F3C6DF8AC905}" type="presParOf" srcId="{44E8FCEF-0CA9-43C5-BFD6-DB4FF27C25FB}" destId="{DEF2FAF9-7925-402B-AF4E-76EA2D4E15BF}" srcOrd="4" destOrd="0" presId="urn:microsoft.com/office/officeart/2005/8/layout/bList2"/>
    <dgm:cxn modelId="{F7135DB8-8C01-4D42-842E-9B8C2542B807}" type="presParOf" srcId="{DEF2FAF9-7925-402B-AF4E-76EA2D4E15BF}" destId="{82A76306-4A74-460D-BAAB-D37FD442CF35}" srcOrd="0" destOrd="0" presId="urn:microsoft.com/office/officeart/2005/8/layout/bList2"/>
    <dgm:cxn modelId="{E6A7F659-C627-4E82-B034-DC66CB739DD3}" type="presParOf" srcId="{DEF2FAF9-7925-402B-AF4E-76EA2D4E15BF}" destId="{15D2CC81-5347-4034-9318-C5D9521E38E9}" srcOrd="1" destOrd="0" presId="urn:microsoft.com/office/officeart/2005/8/layout/bList2"/>
    <dgm:cxn modelId="{9AE7AC7E-E2C9-47EA-8987-84EBD7E9FD30}" type="presParOf" srcId="{DEF2FAF9-7925-402B-AF4E-76EA2D4E15BF}" destId="{0D8E29C5-794A-4F15-B821-C7C6E07D65C6}" srcOrd="2" destOrd="0" presId="urn:microsoft.com/office/officeart/2005/8/layout/bList2"/>
    <dgm:cxn modelId="{710F43D0-1B08-4925-8026-BECFB5D79B7B}" type="presParOf" srcId="{DEF2FAF9-7925-402B-AF4E-76EA2D4E15BF}" destId="{997CAE0C-0684-4AB4-9EEC-B5B9191951C3}" srcOrd="3" destOrd="0" presId="urn:microsoft.com/office/officeart/2005/8/layout/bList2"/>
    <dgm:cxn modelId="{2BE02F57-D0C8-4E21-8DCC-25C33C9B4CD6}" type="presParOf" srcId="{44E8FCEF-0CA9-43C5-BFD6-DB4FF27C25FB}" destId="{76A6E321-6404-43F9-808B-A2FA0BDA31BE}" srcOrd="5" destOrd="0" presId="urn:microsoft.com/office/officeart/2005/8/layout/bList2"/>
    <dgm:cxn modelId="{3E45D81E-9211-4FF9-8C98-DA87124DDFF3}" type="presParOf" srcId="{44E8FCEF-0CA9-43C5-BFD6-DB4FF27C25FB}" destId="{2E13D8CB-2D29-4896-A628-EF0525569AB4}" srcOrd="6" destOrd="0" presId="urn:microsoft.com/office/officeart/2005/8/layout/bList2"/>
    <dgm:cxn modelId="{17FA1C95-EFD4-4AD4-8524-B3EEE98A5B98}" type="presParOf" srcId="{2E13D8CB-2D29-4896-A628-EF0525569AB4}" destId="{61C1A6E4-16FE-463D-A1A0-6480EDED9DFB}" srcOrd="0" destOrd="0" presId="urn:microsoft.com/office/officeart/2005/8/layout/bList2"/>
    <dgm:cxn modelId="{C11C852A-8E60-4399-B55E-9CF0D0AF1917}" type="presParOf" srcId="{2E13D8CB-2D29-4896-A628-EF0525569AB4}" destId="{58C31848-285A-4A7E-94A3-2FF9E7AA81CE}" srcOrd="1" destOrd="0" presId="urn:microsoft.com/office/officeart/2005/8/layout/bList2"/>
    <dgm:cxn modelId="{7A6AA294-C601-4771-AF13-04DCAAE2DBFA}" type="presParOf" srcId="{2E13D8CB-2D29-4896-A628-EF0525569AB4}" destId="{3894E165-32BD-4B42-8899-19CEAAF9B634}" srcOrd="2" destOrd="0" presId="urn:microsoft.com/office/officeart/2005/8/layout/bList2"/>
    <dgm:cxn modelId="{F07E3E0C-6F97-4048-8E79-9123185083DA}" type="presParOf" srcId="{2E13D8CB-2D29-4896-A628-EF0525569AB4}" destId="{C093E06D-5834-4428-AFE5-E6093CAC79ED}" srcOrd="3" destOrd="0" presId="urn:microsoft.com/office/officeart/2005/8/layout/bList2"/>
    <dgm:cxn modelId="{B3151897-D19A-4979-9723-5F5FE59D89D0}" type="presParOf" srcId="{44E8FCEF-0CA9-43C5-BFD6-DB4FF27C25FB}" destId="{EC47110C-9818-4342-B996-AA69010B3FFF}" srcOrd="7" destOrd="0" presId="urn:microsoft.com/office/officeart/2005/8/layout/bList2"/>
    <dgm:cxn modelId="{0D0F21DD-566E-4D86-8C74-CFE9F0272E7B}" type="presParOf" srcId="{44E8FCEF-0CA9-43C5-BFD6-DB4FF27C25FB}" destId="{CB81147D-7DF5-4D0A-8DDF-744B2C3EBD26}" srcOrd="8" destOrd="0" presId="urn:microsoft.com/office/officeart/2005/8/layout/bList2"/>
    <dgm:cxn modelId="{C1A05009-BB63-4D7F-8DE0-64BE2D71954A}" type="presParOf" srcId="{CB81147D-7DF5-4D0A-8DDF-744B2C3EBD26}" destId="{BB305B4D-2CA5-41B9-8E13-CB039E60A2BC}" srcOrd="0" destOrd="0" presId="urn:microsoft.com/office/officeart/2005/8/layout/bList2"/>
    <dgm:cxn modelId="{118ACBF1-186D-4850-9D4D-B7F867250407}" type="presParOf" srcId="{CB81147D-7DF5-4D0A-8DDF-744B2C3EBD26}" destId="{809D639D-4C70-4BAE-B4FE-1E4237403BE2}" srcOrd="1" destOrd="0" presId="urn:microsoft.com/office/officeart/2005/8/layout/bList2"/>
    <dgm:cxn modelId="{12EB44CD-B0DC-4B0B-B725-23E879E53095}" type="presParOf" srcId="{CB81147D-7DF5-4D0A-8DDF-744B2C3EBD26}" destId="{17506CE3-CDA8-41A6-892E-74BCCF2EBE61}" srcOrd="2" destOrd="0" presId="urn:microsoft.com/office/officeart/2005/8/layout/bList2"/>
    <dgm:cxn modelId="{D584E209-F550-4520-8B67-237140EE59C6}" type="presParOf" srcId="{CB81147D-7DF5-4D0A-8DDF-744B2C3EBD26}" destId="{76AEF225-B319-4C41-A33A-D1EFDC710D28}" srcOrd="3" destOrd="0" presId="urn:microsoft.com/office/officeart/2005/8/layout/bList2"/>
    <dgm:cxn modelId="{CDFABF0D-281C-494D-8357-1775B073EDBB}" type="presParOf" srcId="{44E8FCEF-0CA9-43C5-BFD6-DB4FF27C25FB}" destId="{82E9FF8B-33F0-4074-9979-E208DE9B0012}" srcOrd="9" destOrd="0" presId="urn:microsoft.com/office/officeart/2005/8/layout/bList2"/>
    <dgm:cxn modelId="{4DE779DB-39AE-4F37-BF5D-1CAF2056DCFC}" type="presParOf" srcId="{44E8FCEF-0CA9-43C5-BFD6-DB4FF27C25FB}" destId="{55BE844A-391A-4EC0-93DE-A219B829315E}" srcOrd="10" destOrd="0" presId="urn:microsoft.com/office/officeart/2005/8/layout/bList2"/>
    <dgm:cxn modelId="{5E486266-F679-486C-A396-25412D44B42B}" type="presParOf" srcId="{55BE844A-391A-4EC0-93DE-A219B829315E}" destId="{522DB43D-FC95-417B-961D-D39FA176640B}" srcOrd="0" destOrd="0" presId="urn:microsoft.com/office/officeart/2005/8/layout/bList2"/>
    <dgm:cxn modelId="{C80B3BF8-FD86-4868-8B2B-6EE4FE572CD7}" type="presParOf" srcId="{55BE844A-391A-4EC0-93DE-A219B829315E}" destId="{208E34D2-5687-46E0-AA13-CFE241B127CB}" srcOrd="1" destOrd="0" presId="urn:microsoft.com/office/officeart/2005/8/layout/bList2"/>
    <dgm:cxn modelId="{21A09AA5-ECC6-4E28-B276-2C59FAE1BA44}" type="presParOf" srcId="{55BE844A-391A-4EC0-93DE-A219B829315E}" destId="{8B743D72-E344-4C82-A6DC-97D31A4836C9}" srcOrd="2" destOrd="0" presId="urn:microsoft.com/office/officeart/2005/8/layout/bList2"/>
    <dgm:cxn modelId="{66E97B4B-8404-4C5E-A42D-8EB87215C81D}" type="presParOf" srcId="{55BE844A-391A-4EC0-93DE-A219B829315E}" destId="{F64DC3EF-A30C-48C2-A009-B8003F6157A2}"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BC0B10-6E08-4173-A9F3-0F0FC225B360}" type="doc">
      <dgm:prSet loTypeId="urn:microsoft.com/office/officeart/2005/8/layout/lProcess3" loCatId="process" qsTypeId="urn:microsoft.com/office/officeart/2005/8/quickstyle/simple1" qsCatId="simple" csTypeId="urn:microsoft.com/office/officeart/2005/8/colors/accent2_5" csCatId="accent2" phldr="1"/>
      <dgm:spPr/>
      <dgm:t>
        <a:bodyPr/>
        <a:lstStyle/>
        <a:p>
          <a:endParaRPr lang="en-IN"/>
        </a:p>
      </dgm:t>
    </dgm:pt>
    <dgm:pt modelId="{681E06BD-D869-4A39-A7A8-6A480B178947}" type="pres">
      <dgm:prSet presAssocID="{0ABC0B10-6E08-4173-A9F3-0F0FC225B360}" presName="Name0" presStyleCnt="0">
        <dgm:presLayoutVars>
          <dgm:chPref val="3"/>
          <dgm:dir/>
          <dgm:animLvl val="lvl"/>
          <dgm:resizeHandles/>
        </dgm:presLayoutVars>
      </dgm:prSet>
      <dgm:spPr/>
    </dgm:pt>
  </dgm:ptLst>
  <dgm:cxnLst>
    <dgm:cxn modelId="{2B6CA1F1-0D84-415C-8046-5417F4C203D9}" type="presOf" srcId="{0ABC0B10-6E08-4173-A9F3-0F0FC225B360}" destId="{681E06BD-D869-4A39-A7A8-6A480B178947}" srcOrd="0" destOrd="0" presId="urn:microsoft.com/office/officeart/2005/8/layout/lProcess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9B3502-B08B-4DD3-A6AD-26575FA0EBB9}" type="doc">
      <dgm:prSet loTypeId="urn:microsoft.com/office/officeart/2005/8/layout/process3" loCatId="process" qsTypeId="urn:microsoft.com/office/officeart/2005/8/quickstyle/simple2" qsCatId="simple" csTypeId="urn:microsoft.com/office/officeart/2005/8/colors/accent2_2" csCatId="accent2" phldr="1"/>
      <dgm:spPr/>
      <dgm:t>
        <a:bodyPr/>
        <a:lstStyle/>
        <a:p>
          <a:endParaRPr lang="en-IN"/>
        </a:p>
      </dgm:t>
    </dgm:pt>
    <dgm:pt modelId="{398820A0-A9CB-4121-A12C-F1D5BA7F93A6}">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IN">
              <a:solidFill>
                <a:schemeClr val="bg1"/>
              </a:solidFill>
            </a:rPr>
            <a:t>Biomass supply agreements between firm &amp; source </a:t>
          </a:r>
        </a:p>
      </dgm:t>
    </dgm:pt>
    <dgm:pt modelId="{27B35209-1462-4B48-9813-6DEFBFDD68CB}" type="parTrans" cxnId="{86893466-8015-4310-A8DF-290EB5B472C4}">
      <dgm:prSet/>
      <dgm:spPr/>
      <dgm:t>
        <a:bodyPr/>
        <a:lstStyle/>
        <a:p>
          <a:endParaRPr lang="en-IN"/>
        </a:p>
      </dgm:t>
    </dgm:pt>
    <dgm:pt modelId="{B2A7219E-DF68-4478-90D5-7E0879D55362}" type="sibTrans" cxnId="{86893466-8015-4310-A8DF-290EB5B472C4}">
      <dgm:prSet/>
      <dgm:spPr/>
      <dgm:t>
        <a:bodyPr/>
        <a:lstStyle/>
        <a:p>
          <a:endParaRPr lang="en-IN"/>
        </a:p>
      </dgm:t>
    </dgm:pt>
    <dgm:pt modelId="{D8A87ECF-E2AF-44F6-A98D-8D03D6AAC78E}">
      <dgm:prSet phldrT="[Text]">
        <dgm:style>
          <a:lnRef idx="3">
            <a:schemeClr val="lt1"/>
          </a:lnRef>
          <a:fillRef idx="1">
            <a:schemeClr val="accent5"/>
          </a:fillRef>
          <a:effectRef idx="1">
            <a:schemeClr val="accent5"/>
          </a:effectRef>
          <a:fontRef idx="minor">
            <a:schemeClr val="lt1"/>
          </a:fontRef>
        </dgm:style>
      </dgm:prSet>
      <dgm:spPr/>
      <dgm:t>
        <a:bodyPr/>
        <a:lstStyle/>
        <a:p>
          <a:r>
            <a:rPr lang="en-IN"/>
            <a:t>JULY-AUGUST</a:t>
          </a:r>
        </a:p>
      </dgm:t>
    </dgm:pt>
    <dgm:pt modelId="{CB44A81F-CDA4-40D5-B827-958E45601A4D}" type="parTrans" cxnId="{7CE26DA8-178F-4075-A53B-DADD5F5F3F58}">
      <dgm:prSet/>
      <dgm:spPr/>
      <dgm:t>
        <a:bodyPr/>
        <a:lstStyle/>
        <a:p>
          <a:endParaRPr lang="en-IN"/>
        </a:p>
      </dgm:t>
    </dgm:pt>
    <dgm:pt modelId="{6F84A0B9-4BE0-4FFF-914F-5C2CB0FA9919}" type="sibTrans" cxnId="{7CE26DA8-178F-4075-A53B-DADD5F5F3F58}">
      <dgm:prSet/>
      <dgm:spPr>
        <a:solidFill>
          <a:schemeClr val="accent4">
            <a:lumMod val="60000"/>
            <a:lumOff val="40000"/>
          </a:schemeClr>
        </a:solidFill>
      </dgm:spPr>
      <dgm:t>
        <a:bodyPr/>
        <a:lstStyle/>
        <a:p>
          <a:endParaRPr lang="en-IN"/>
        </a:p>
      </dgm:t>
    </dgm:pt>
    <dgm:pt modelId="{BF191611-E894-4E93-AB4D-E0261C4A9E2E}">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IN">
              <a:solidFill>
                <a:schemeClr val="bg1"/>
              </a:solidFill>
            </a:rPr>
            <a:t>Field visits &amp; quality checks of the residue</a:t>
          </a:r>
        </a:p>
      </dgm:t>
    </dgm:pt>
    <dgm:pt modelId="{2438B558-090D-440D-8BF7-614D022A7A0F}" type="parTrans" cxnId="{4DB2E038-1660-4CE9-AA51-4CDF43D97849}">
      <dgm:prSet/>
      <dgm:spPr/>
      <dgm:t>
        <a:bodyPr/>
        <a:lstStyle/>
        <a:p>
          <a:endParaRPr lang="en-IN"/>
        </a:p>
      </dgm:t>
    </dgm:pt>
    <dgm:pt modelId="{00F32B6E-8C13-48E9-A2C9-325BC49F1A3C}" type="sibTrans" cxnId="{4DB2E038-1660-4CE9-AA51-4CDF43D97849}">
      <dgm:prSet/>
      <dgm:spPr/>
      <dgm:t>
        <a:bodyPr/>
        <a:lstStyle/>
        <a:p>
          <a:endParaRPr lang="en-IN"/>
        </a:p>
      </dgm:t>
    </dgm:pt>
    <dgm:pt modelId="{15BDC9CA-3AB0-4F29-8124-C051031B6D43}">
      <dgm:prSet phldrT="[Text]">
        <dgm:style>
          <a:lnRef idx="3">
            <a:schemeClr val="lt1"/>
          </a:lnRef>
          <a:fillRef idx="1">
            <a:schemeClr val="accent5"/>
          </a:fillRef>
          <a:effectRef idx="1">
            <a:schemeClr val="accent5"/>
          </a:effectRef>
          <a:fontRef idx="minor">
            <a:schemeClr val="lt1"/>
          </a:fontRef>
        </dgm:style>
      </dgm:prSet>
      <dgm:spPr/>
      <dgm:t>
        <a:bodyPr/>
        <a:lstStyle/>
        <a:p>
          <a:r>
            <a:rPr lang="en-IN"/>
            <a:t>SEPTEMBER</a:t>
          </a:r>
        </a:p>
      </dgm:t>
    </dgm:pt>
    <dgm:pt modelId="{D22136EE-3494-4C06-B72F-BB5AF6687957}" type="parTrans" cxnId="{3045191E-9479-46E3-B5F0-A71AC2719C8E}">
      <dgm:prSet/>
      <dgm:spPr/>
      <dgm:t>
        <a:bodyPr/>
        <a:lstStyle/>
        <a:p>
          <a:endParaRPr lang="en-IN"/>
        </a:p>
      </dgm:t>
    </dgm:pt>
    <dgm:pt modelId="{7A9CFBD0-F027-4928-8B09-B9A8498853D5}" type="sibTrans" cxnId="{3045191E-9479-46E3-B5F0-A71AC2719C8E}">
      <dgm:prSet/>
      <dgm:spPr>
        <a:solidFill>
          <a:schemeClr val="accent4">
            <a:lumMod val="60000"/>
            <a:lumOff val="40000"/>
          </a:schemeClr>
        </a:solidFill>
      </dgm:spPr>
      <dgm:t>
        <a:bodyPr/>
        <a:lstStyle/>
        <a:p>
          <a:endParaRPr lang="en-IN"/>
        </a:p>
      </dgm:t>
    </dgm:pt>
    <dgm:pt modelId="{E0CE1F8D-1475-414C-BC6F-36F02245CBA7}">
      <dgm:prSet phldrT="[Text]" custT="1">
        <dgm:style>
          <a:lnRef idx="3">
            <a:schemeClr val="lt1"/>
          </a:lnRef>
          <a:fillRef idx="1">
            <a:schemeClr val="accent5"/>
          </a:fillRef>
          <a:effectRef idx="1">
            <a:schemeClr val="accent5"/>
          </a:effectRef>
          <a:fontRef idx="minor">
            <a:schemeClr val="lt1"/>
          </a:fontRef>
        </dgm:style>
      </dgm:prSet>
      <dgm:spPr/>
      <dgm:t>
        <a:bodyPr/>
        <a:lstStyle/>
        <a:p>
          <a:r>
            <a:rPr lang="en-IN" sz="900"/>
            <a:t>MID-OCTOBER</a:t>
          </a:r>
        </a:p>
      </dgm:t>
    </dgm:pt>
    <dgm:pt modelId="{40FE68D5-8A65-44B6-979A-CF3F2C886B02}" type="parTrans" cxnId="{E29DCAE8-4D46-4DBA-AE03-9892D77177A0}">
      <dgm:prSet/>
      <dgm:spPr/>
      <dgm:t>
        <a:bodyPr/>
        <a:lstStyle/>
        <a:p>
          <a:endParaRPr lang="en-IN"/>
        </a:p>
      </dgm:t>
    </dgm:pt>
    <dgm:pt modelId="{0A30103F-977E-4E58-877B-76B23F05D4DF}" type="sibTrans" cxnId="{E29DCAE8-4D46-4DBA-AE03-9892D77177A0}">
      <dgm:prSet/>
      <dgm:spPr>
        <a:solidFill>
          <a:schemeClr val="accent4">
            <a:lumMod val="60000"/>
            <a:lumOff val="40000"/>
          </a:schemeClr>
        </a:solidFill>
      </dgm:spPr>
      <dgm:t>
        <a:bodyPr/>
        <a:lstStyle/>
        <a:p>
          <a:endParaRPr lang="en-IN"/>
        </a:p>
      </dgm:t>
    </dgm:pt>
    <dgm:pt modelId="{9FCC2989-0FCE-4F81-9133-57E2E7E427FF}">
      <dgm:prSet phldrT="[Text]">
        <dgm:style>
          <a:lnRef idx="3">
            <a:schemeClr val="lt1"/>
          </a:lnRef>
          <a:fillRef idx="1">
            <a:schemeClr val="accent5"/>
          </a:fillRef>
          <a:effectRef idx="1">
            <a:schemeClr val="accent5"/>
          </a:effectRef>
          <a:fontRef idx="minor">
            <a:schemeClr val="lt1"/>
          </a:fontRef>
        </dgm:style>
      </dgm:prSet>
      <dgm:spPr/>
      <dgm:t>
        <a:bodyPr/>
        <a:lstStyle/>
        <a:p>
          <a:r>
            <a:rPr lang="en-IN"/>
            <a:t>JUNE-JULY</a:t>
          </a:r>
        </a:p>
      </dgm:t>
    </dgm:pt>
    <dgm:pt modelId="{44E4821F-1C83-490F-90DA-2F8323382FE6}" type="parTrans" cxnId="{2C3EC240-4D32-4BF0-8C1E-6FBBAF9806F6}">
      <dgm:prSet/>
      <dgm:spPr/>
      <dgm:t>
        <a:bodyPr/>
        <a:lstStyle/>
        <a:p>
          <a:endParaRPr lang="en-IN"/>
        </a:p>
      </dgm:t>
    </dgm:pt>
    <dgm:pt modelId="{AB008A5E-4042-423E-8D4E-67599C44F9E9}" type="sibTrans" cxnId="{2C3EC240-4D32-4BF0-8C1E-6FBBAF9806F6}">
      <dgm:prSet/>
      <dgm:spPr>
        <a:solidFill>
          <a:schemeClr val="accent4">
            <a:lumMod val="60000"/>
            <a:lumOff val="40000"/>
          </a:schemeClr>
        </a:solidFill>
      </dgm:spPr>
      <dgm:t>
        <a:bodyPr/>
        <a:lstStyle/>
        <a:p>
          <a:endParaRPr lang="en-IN"/>
        </a:p>
      </dgm:t>
    </dgm:pt>
    <dgm:pt modelId="{730BD63D-7504-4FFE-AFFA-463FB7FADFF7}">
      <dgm:prSet phldrT="[Text]">
        <dgm:style>
          <a:lnRef idx="3">
            <a:schemeClr val="lt1"/>
          </a:lnRef>
          <a:fillRef idx="1">
            <a:schemeClr val="accent5"/>
          </a:fillRef>
          <a:effectRef idx="1">
            <a:schemeClr val="accent5"/>
          </a:effectRef>
          <a:fontRef idx="minor">
            <a:schemeClr val="lt1"/>
          </a:fontRef>
        </dgm:style>
      </dgm:prSet>
      <dgm:spPr/>
      <dgm:t>
        <a:bodyPr/>
        <a:lstStyle/>
        <a:p>
          <a:r>
            <a:rPr lang="en-IN"/>
            <a:t>MID-NOVEMBER</a:t>
          </a:r>
        </a:p>
      </dgm:t>
    </dgm:pt>
    <dgm:pt modelId="{62A475EE-573D-4E6D-98F3-E9B631374B59}" type="parTrans" cxnId="{38A3A388-17E9-40FC-985D-281EE2590A52}">
      <dgm:prSet/>
      <dgm:spPr/>
      <dgm:t>
        <a:bodyPr/>
        <a:lstStyle/>
        <a:p>
          <a:endParaRPr lang="en-IN"/>
        </a:p>
      </dgm:t>
    </dgm:pt>
    <dgm:pt modelId="{F8FA90A4-866F-4386-8B23-9F7942F97DF5}" type="sibTrans" cxnId="{38A3A388-17E9-40FC-985D-281EE2590A52}">
      <dgm:prSet/>
      <dgm:spPr>
        <a:solidFill>
          <a:schemeClr val="accent4">
            <a:lumMod val="60000"/>
            <a:lumOff val="40000"/>
          </a:schemeClr>
        </a:solidFill>
      </dgm:spPr>
      <dgm:t>
        <a:bodyPr/>
        <a:lstStyle/>
        <a:p>
          <a:endParaRPr lang="en-IN"/>
        </a:p>
      </dgm:t>
    </dgm:pt>
    <dgm:pt modelId="{E41597FF-8EC9-4063-B764-0A686F955FDA}">
      <dgm:prSet phldrT="[Text]">
        <dgm:style>
          <a:lnRef idx="3">
            <a:schemeClr val="lt1"/>
          </a:lnRef>
          <a:fillRef idx="1">
            <a:schemeClr val="accent5"/>
          </a:fillRef>
          <a:effectRef idx="1">
            <a:schemeClr val="accent5"/>
          </a:effectRef>
          <a:fontRef idx="minor">
            <a:schemeClr val="lt1"/>
          </a:fontRef>
        </dgm:style>
      </dgm:prSet>
      <dgm:spPr/>
      <dgm:t>
        <a:bodyPr/>
        <a:lstStyle/>
        <a:p>
          <a:r>
            <a:rPr lang="en-IN"/>
            <a:t>NOVEMBER TO NEXT CYCLE </a:t>
          </a:r>
        </a:p>
      </dgm:t>
    </dgm:pt>
    <dgm:pt modelId="{06EFA620-705B-46CC-A838-8E58AF6B640E}" type="parTrans" cxnId="{B304F9B3-BB2B-48DE-BED8-EEDDBA832700}">
      <dgm:prSet/>
      <dgm:spPr/>
      <dgm:t>
        <a:bodyPr/>
        <a:lstStyle/>
        <a:p>
          <a:endParaRPr lang="en-IN"/>
        </a:p>
      </dgm:t>
    </dgm:pt>
    <dgm:pt modelId="{0E20E75B-677B-4569-A45F-1E213AE9D376}" type="sibTrans" cxnId="{B304F9B3-BB2B-48DE-BED8-EEDDBA832700}">
      <dgm:prSet/>
      <dgm:spPr/>
      <dgm:t>
        <a:bodyPr/>
        <a:lstStyle/>
        <a:p>
          <a:endParaRPr lang="en-IN"/>
        </a:p>
      </dgm:t>
    </dgm:pt>
    <dgm:pt modelId="{EF941F8C-74D5-4F1B-B49F-42EE7BADD1E8}">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IN">
              <a:solidFill>
                <a:schemeClr val="bg1"/>
              </a:solidFill>
            </a:rPr>
            <a:t>Straw collection begins (just after paddy harvesting)</a:t>
          </a:r>
        </a:p>
      </dgm:t>
    </dgm:pt>
    <dgm:pt modelId="{AB73BF9B-3163-463F-8145-B009108E61BE}" type="parTrans" cxnId="{4B324D00-7B27-433F-B804-CD72C4C248C8}">
      <dgm:prSet/>
      <dgm:spPr/>
      <dgm:t>
        <a:bodyPr/>
        <a:lstStyle/>
        <a:p>
          <a:endParaRPr lang="en-IN"/>
        </a:p>
      </dgm:t>
    </dgm:pt>
    <dgm:pt modelId="{F20CF5EC-39BE-41BE-BC62-CDC80EFE3F02}" type="sibTrans" cxnId="{4B324D00-7B27-433F-B804-CD72C4C248C8}">
      <dgm:prSet/>
      <dgm:spPr/>
      <dgm:t>
        <a:bodyPr/>
        <a:lstStyle/>
        <a:p>
          <a:endParaRPr lang="en-IN"/>
        </a:p>
      </dgm:t>
    </dgm:pt>
    <dgm:pt modelId="{BCFFAD3F-C874-49D9-B879-8DED5ADEA98B}">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IN">
              <a:solidFill>
                <a:schemeClr val="bg1"/>
              </a:solidFill>
            </a:rPr>
            <a:t>Awareness campaigns to avoid burning of residue</a:t>
          </a:r>
        </a:p>
      </dgm:t>
    </dgm:pt>
    <dgm:pt modelId="{F19127FB-7026-4D6A-AB79-90641CE36C4E}" type="parTrans" cxnId="{DF66C768-5DC7-4865-8652-529CA1CEC0A5}">
      <dgm:prSet/>
      <dgm:spPr/>
      <dgm:t>
        <a:bodyPr/>
        <a:lstStyle/>
        <a:p>
          <a:endParaRPr lang="en-IN"/>
        </a:p>
      </dgm:t>
    </dgm:pt>
    <dgm:pt modelId="{81931D7C-C5D5-48DC-8B51-34A2EE3FDE59}" type="sibTrans" cxnId="{DF66C768-5DC7-4865-8652-529CA1CEC0A5}">
      <dgm:prSet/>
      <dgm:spPr/>
      <dgm:t>
        <a:bodyPr/>
        <a:lstStyle/>
        <a:p>
          <a:endParaRPr lang="en-IN"/>
        </a:p>
      </dgm:t>
    </dgm:pt>
    <dgm:pt modelId="{32737B8B-0B7C-4233-98DE-CEF96965BA63}">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IN">
              <a:solidFill>
                <a:schemeClr val="bg1"/>
              </a:solidFill>
            </a:rPr>
            <a:t>Straw collection ends (Spanning a period of 15-20 days)</a:t>
          </a:r>
        </a:p>
      </dgm:t>
    </dgm:pt>
    <dgm:pt modelId="{8396167F-09BD-4621-8268-2BD2D0ADFFEE}" type="parTrans" cxnId="{2665820E-9C9E-440E-901D-74B135053160}">
      <dgm:prSet/>
      <dgm:spPr/>
      <dgm:t>
        <a:bodyPr/>
        <a:lstStyle/>
        <a:p>
          <a:endParaRPr lang="en-IN"/>
        </a:p>
      </dgm:t>
    </dgm:pt>
    <dgm:pt modelId="{266D74B0-8AE4-4A81-A287-C68428270E94}" type="sibTrans" cxnId="{2665820E-9C9E-440E-901D-74B135053160}">
      <dgm:prSet/>
      <dgm:spPr/>
      <dgm:t>
        <a:bodyPr/>
        <a:lstStyle/>
        <a:p>
          <a:endParaRPr lang="en-IN"/>
        </a:p>
      </dgm:t>
    </dgm:pt>
    <dgm:pt modelId="{40A3A4BC-A470-4A10-AFC6-67B859F3E080}">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IN">
              <a:solidFill>
                <a:schemeClr val="bg1"/>
              </a:solidFill>
            </a:rPr>
            <a:t> Storing stubble in straw bank &amp; utilizing for energy production</a:t>
          </a:r>
        </a:p>
      </dgm:t>
    </dgm:pt>
    <dgm:pt modelId="{334E3DF2-68EB-46DE-BE7A-7A2E40D49E4F}" type="parTrans" cxnId="{480BB675-7E75-4795-9A89-3AC2A6B8F4BC}">
      <dgm:prSet/>
      <dgm:spPr/>
      <dgm:t>
        <a:bodyPr/>
        <a:lstStyle/>
        <a:p>
          <a:endParaRPr lang="en-IN"/>
        </a:p>
      </dgm:t>
    </dgm:pt>
    <dgm:pt modelId="{81436953-C66C-423F-9F85-53EF5998C3B0}" type="sibTrans" cxnId="{480BB675-7E75-4795-9A89-3AC2A6B8F4BC}">
      <dgm:prSet/>
      <dgm:spPr/>
      <dgm:t>
        <a:bodyPr/>
        <a:lstStyle/>
        <a:p>
          <a:endParaRPr lang="en-IN"/>
        </a:p>
      </dgm:t>
    </dgm:pt>
    <dgm:pt modelId="{2F491F0E-F3CB-463F-83CA-07BD8ABA9815}" type="pres">
      <dgm:prSet presAssocID="{1E9B3502-B08B-4DD3-A6AD-26575FA0EBB9}" presName="linearFlow" presStyleCnt="0">
        <dgm:presLayoutVars>
          <dgm:dir/>
          <dgm:animLvl val="lvl"/>
          <dgm:resizeHandles val="exact"/>
        </dgm:presLayoutVars>
      </dgm:prSet>
      <dgm:spPr/>
    </dgm:pt>
    <dgm:pt modelId="{45E9CFC7-D1F1-4E4A-90D2-CB3D6B4BA533}" type="pres">
      <dgm:prSet presAssocID="{9FCC2989-0FCE-4F81-9133-57E2E7E427FF}" presName="composite" presStyleCnt="0"/>
      <dgm:spPr/>
    </dgm:pt>
    <dgm:pt modelId="{A7B7258B-725B-44FB-83B2-292E5457B536}" type="pres">
      <dgm:prSet presAssocID="{9FCC2989-0FCE-4F81-9133-57E2E7E427FF}" presName="parTx" presStyleLbl="node1" presStyleIdx="0" presStyleCnt="6">
        <dgm:presLayoutVars>
          <dgm:chMax val="0"/>
          <dgm:chPref val="0"/>
          <dgm:bulletEnabled val="1"/>
        </dgm:presLayoutVars>
      </dgm:prSet>
      <dgm:spPr/>
    </dgm:pt>
    <dgm:pt modelId="{F519C7D1-D710-43B5-B23C-107E36572380}" type="pres">
      <dgm:prSet presAssocID="{9FCC2989-0FCE-4F81-9133-57E2E7E427FF}" presName="parSh" presStyleLbl="node1" presStyleIdx="0" presStyleCnt="6"/>
      <dgm:spPr>
        <a:solidFill>
          <a:schemeClr val="accent6"/>
        </a:solidFill>
      </dgm:spPr>
    </dgm:pt>
    <dgm:pt modelId="{E5722852-0AFC-4708-8986-94DA5D7B0DC3}" type="pres">
      <dgm:prSet presAssocID="{9FCC2989-0FCE-4F81-9133-57E2E7E427FF}" presName="desTx" presStyleLbl="fgAcc1" presStyleIdx="0" presStyleCnt="6">
        <dgm:presLayoutVars>
          <dgm:bulletEnabled val="1"/>
        </dgm:presLayoutVars>
      </dgm:prSet>
      <dgm:spPr>
        <a:solidFill>
          <a:schemeClr val="accent6">
            <a:lumMod val="60000"/>
            <a:lumOff val="40000"/>
          </a:schemeClr>
        </a:solidFill>
        <a:ln>
          <a:noFill/>
        </a:ln>
      </dgm:spPr>
    </dgm:pt>
    <dgm:pt modelId="{1F35E853-7723-4B24-A6BD-EDDB44A194E4}" type="pres">
      <dgm:prSet presAssocID="{AB008A5E-4042-423E-8D4E-67599C44F9E9}" presName="sibTrans" presStyleLbl="sibTrans2D1" presStyleIdx="0" presStyleCnt="5"/>
      <dgm:spPr>
        <a:solidFill>
          <a:schemeClr val="tx1">
            <a:lumMod val="50000"/>
            <a:lumOff val="50000"/>
          </a:schemeClr>
        </a:solidFill>
      </dgm:spPr>
    </dgm:pt>
    <dgm:pt modelId="{3EB853CA-D266-4563-8124-15D8BF32A5EB}" type="pres">
      <dgm:prSet presAssocID="{AB008A5E-4042-423E-8D4E-67599C44F9E9}" presName="connTx" presStyleLbl="sibTrans2D1" presStyleIdx="0" presStyleCnt="5"/>
      <dgm:spPr/>
    </dgm:pt>
    <dgm:pt modelId="{33D27192-FE80-4985-83D1-6B7C7BEF71E8}" type="pres">
      <dgm:prSet presAssocID="{D8A87ECF-E2AF-44F6-A98D-8D03D6AAC78E}" presName="composite" presStyleCnt="0"/>
      <dgm:spPr/>
    </dgm:pt>
    <dgm:pt modelId="{E8093AC7-9867-40E6-93D8-B69C52BF22A6}" type="pres">
      <dgm:prSet presAssocID="{D8A87ECF-E2AF-44F6-A98D-8D03D6AAC78E}" presName="parTx" presStyleLbl="node1" presStyleIdx="0" presStyleCnt="6">
        <dgm:presLayoutVars>
          <dgm:chMax val="0"/>
          <dgm:chPref val="0"/>
          <dgm:bulletEnabled val="1"/>
        </dgm:presLayoutVars>
      </dgm:prSet>
      <dgm:spPr/>
    </dgm:pt>
    <dgm:pt modelId="{5C1C68B1-17DA-424C-9281-4B464EBBFDE2}" type="pres">
      <dgm:prSet presAssocID="{D8A87ECF-E2AF-44F6-A98D-8D03D6AAC78E}" presName="parSh" presStyleLbl="node1" presStyleIdx="1" presStyleCnt="6"/>
      <dgm:spPr>
        <a:solidFill>
          <a:schemeClr val="accent6"/>
        </a:solidFill>
      </dgm:spPr>
    </dgm:pt>
    <dgm:pt modelId="{C97FCAC6-F9EB-419D-BE78-D698092B8810}" type="pres">
      <dgm:prSet presAssocID="{D8A87ECF-E2AF-44F6-A98D-8D03D6AAC78E}" presName="desTx" presStyleLbl="fgAcc1" presStyleIdx="1" presStyleCnt="6">
        <dgm:presLayoutVars>
          <dgm:bulletEnabled val="1"/>
        </dgm:presLayoutVars>
      </dgm:prSet>
      <dgm:spPr>
        <a:solidFill>
          <a:schemeClr val="accent6">
            <a:lumMod val="60000"/>
            <a:lumOff val="40000"/>
          </a:schemeClr>
        </a:solidFill>
        <a:ln>
          <a:noFill/>
        </a:ln>
      </dgm:spPr>
    </dgm:pt>
    <dgm:pt modelId="{6C729D8F-66EF-44DB-89A7-1B106DFCF394}" type="pres">
      <dgm:prSet presAssocID="{6F84A0B9-4BE0-4FFF-914F-5C2CB0FA9919}" presName="sibTrans" presStyleLbl="sibTrans2D1" presStyleIdx="1" presStyleCnt="5"/>
      <dgm:spPr>
        <a:solidFill>
          <a:schemeClr val="tx1">
            <a:lumMod val="50000"/>
            <a:lumOff val="50000"/>
          </a:schemeClr>
        </a:solidFill>
      </dgm:spPr>
    </dgm:pt>
    <dgm:pt modelId="{A7B3AB85-8B7C-4C6B-AA86-55CD10A2392D}" type="pres">
      <dgm:prSet presAssocID="{6F84A0B9-4BE0-4FFF-914F-5C2CB0FA9919}" presName="connTx" presStyleLbl="sibTrans2D1" presStyleIdx="1" presStyleCnt="5"/>
      <dgm:spPr/>
    </dgm:pt>
    <dgm:pt modelId="{00195765-5587-4698-8DDA-DB5583960D11}" type="pres">
      <dgm:prSet presAssocID="{15BDC9CA-3AB0-4F29-8124-C051031B6D43}" presName="composite" presStyleCnt="0"/>
      <dgm:spPr/>
    </dgm:pt>
    <dgm:pt modelId="{3913540F-1155-4126-99CA-6A270C5A5420}" type="pres">
      <dgm:prSet presAssocID="{15BDC9CA-3AB0-4F29-8124-C051031B6D43}" presName="parTx" presStyleLbl="node1" presStyleIdx="1" presStyleCnt="6">
        <dgm:presLayoutVars>
          <dgm:chMax val="0"/>
          <dgm:chPref val="0"/>
          <dgm:bulletEnabled val="1"/>
        </dgm:presLayoutVars>
      </dgm:prSet>
      <dgm:spPr/>
    </dgm:pt>
    <dgm:pt modelId="{9EB4AAA1-7DDE-49DD-B5FC-3D41D275AEE5}" type="pres">
      <dgm:prSet presAssocID="{15BDC9CA-3AB0-4F29-8124-C051031B6D43}" presName="parSh" presStyleLbl="node1" presStyleIdx="2" presStyleCnt="6"/>
      <dgm:spPr>
        <a:solidFill>
          <a:schemeClr val="accent6"/>
        </a:solidFill>
      </dgm:spPr>
    </dgm:pt>
    <dgm:pt modelId="{F4D17884-984C-4A7C-9613-E3E07EEE6E7D}" type="pres">
      <dgm:prSet presAssocID="{15BDC9CA-3AB0-4F29-8124-C051031B6D43}" presName="desTx" presStyleLbl="fgAcc1" presStyleIdx="2" presStyleCnt="6">
        <dgm:presLayoutVars>
          <dgm:bulletEnabled val="1"/>
        </dgm:presLayoutVars>
      </dgm:prSet>
      <dgm:spPr>
        <a:solidFill>
          <a:schemeClr val="accent6">
            <a:lumMod val="60000"/>
            <a:lumOff val="40000"/>
          </a:schemeClr>
        </a:solidFill>
        <a:ln>
          <a:noFill/>
        </a:ln>
      </dgm:spPr>
    </dgm:pt>
    <dgm:pt modelId="{755E2BB4-EB73-4B97-BA50-3A13AAF8355F}" type="pres">
      <dgm:prSet presAssocID="{7A9CFBD0-F027-4928-8B09-B9A8498853D5}" presName="sibTrans" presStyleLbl="sibTrans2D1" presStyleIdx="2" presStyleCnt="5"/>
      <dgm:spPr>
        <a:solidFill>
          <a:schemeClr val="tx1">
            <a:lumMod val="50000"/>
            <a:lumOff val="50000"/>
          </a:schemeClr>
        </a:solidFill>
      </dgm:spPr>
    </dgm:pt>
    <dgm:pt modelId="{746260AE-0CCC-4C7A-B930-69FFB1488258}" type="pres">
      <dgm:prSet presAssocID="{7A9CFBD0-F027-4928-8B09-B9A8498853D5}" presName="connTx" presStyleLbl="sibTrans2D1" presStyleIdx="2" presStyleCnt="5"/>
      <dgm:spPr/>
    </dgm:pt>
    <dgm:pt modelId="{13BBD4A8-D5DC-47F3-9791-B82BD8A9A9AA}" type="pres">
      <dgm:prSet presAssocID="{E0CE1F8D-1475-414C-BC6F-36F02245CBA7}" presName="composite" presStyleCnt="0"/>
      <dgm:spPr/>
    </dgm:pt>
    <dgm:pt modelId="{CDB1F586-C925-4302-88BC-5D833669F675}" type="pres">
      <dgm:prSet presAssocID="{E0CE1F8D-1475-414C-BC6F-36F02245CBA7}" presName="parTx" presStyleLbl="node1" presStyleIdx="2" presStyleCnt="6">
        <dgm:presLayoutVars>
          <dgm:chMax val="0"/>
          <dgm:chPref val="0"/>
          <dgm:bulletEnabled val="1"/>
        </dgm:presLayoutVars>
      </dgm:prSet>
      <dgm:spPr/>
    </dgm:pt>
    <dgm:pt modelId="{4E3AA481-C837-4C50-ACA3-59EA27552E8F}" type="pres">
      <dgm:prSet presAssocID="{E0CE1F8D-1475-414C-BC6F-36F02245CBA7}" presName="parSh" presStyleLbl="node1" presStyleIdx="3" presStyleCnt="6"/>
      <dgm:spPr>
        <a:solidFill>
          <a:schemeClr val="accent6"/>
        </a:solidFill>
      </dgm:spPr>
    </dgm:pt>
    <dgm:pt modelId="{6E88BB55-728B-4D54-976C-184071DC12D5}" type="pres">
      <dgm:prSet presAssocID="{E0CE1F8D-1475-414C-BC6F-36F02245CBA7}" presName="desTx" presStyleLbl="fgAcc1" presStyleIdx="3" presStyleCnt="6">
        <dgm:presLayoutVars>
          <dgm:bulletEnabled val="1"/>
        </dgm:presLayoutVars>
      </dgm:prSet>
      <dgm:spPr>
        <a:solidFill>
          <a:schemeClr val="accent6">
            <a:lumMod val="60000"/>
            <a:lumOff val="40000"/>
          </a:schemeClr>
        </a:solidFill>
        <a:ln>
          <a:noFill/>
        </a:ln>
      </dgm:spPr>
    </dgm:pt>
    <dgm:pt modelId="{6B41C731-0624-496B-9C8A-A80B73E6E80B}" type="pres">
      <dgm:prSet presAssocID="{0A30103F-977E-4E58-877B-76B23F05D4DF}" presName="sibTrans" presStyleLbl="sibTrans2D1" presStyleIdx="3" presStyleCnt="5"/>
      <dgm:spPr>
        <a:solidFill>
          <a:schemeClr val="tx1">
            <a:lumMod val="50000"/>
            <a:lumOff val="50000"/>
          </a:schemeClr>
        </a:solidFill>
      </dgm:spPr>
    </dgm:pt>
    <dgm:pt modelId="{A5630DBA-D08F-47FD-8D55-F2B4FE72C2CF}" type="pres">
      <dgm:prSet presAssocID="{0A30103F-977E-4E58-877B-76B23F05D4DF}" presName="connTx" presStyleLbl="sibTrans2D1" presStyleIdx="3" presStyleCnt="5"/>
      <dgm:spPr/>
    </dgm:pt>
    <dgm:pt modelId="{3D73A942-20B4-4021-B60B-5CF2F559BCF3}" type="pres">
      <dgm:prSet presAssocID="{730BD63D-7504-4FFE-AFFA-463FB7FADFF7}" presName="composite" presStyleCnt="0"/>
      <dgm:spPr/>
    </dgm:pt>
    <dgm:pt modelId="{A5AE7BA5-488B-4885-9800-D7B500896B11}" type="pres">
      <dgm:prSet presAssocID="{730BD63D-7504-4FFE-AFFA-463FB7FADFF7}" presName="parTx" presStyleLbl="node1" presStyleIdx="3" presStyleCnt="6">
        <dgm:presLayoutVars>
          <dgm:chMax val="0"/>
          <dgm:chPref val="0"/>
          <dgm:bulletEnabled val="1"/>
        </dgm:presLayoutVars>
      </dgm:prSet>
      <dgm:spPr/>
    </dgm:pt>
    <dgm:pt modelId="{42D00F1C-BEB3-401C-84B8-10DF20647E6D}" type="pres">
      <dgm:prSet presAssocID="{730BD63D-7504-4FFE-AFFA-463FB7FADFF7}" presName="parSh" presStyleLbl="node1" presStyleIdx="4" presStyleCnt="6"/>
      <dgm:spPr>
        <a:solidFill>
          <a:schemeClr val="accent6"/>
        </a:solidFill>
      </dgm:spPr>
    </dgm:pt>
    <dgm:pt modelId="{547B6ECB-2C8C-48B3-96C9-A0A0C7C346B0}" type="pres">
      <dgm:prSet presAssocID="{730BD63D-7504-4FFE-AFFA-463FB7FADFF7}" presName="desTx" presStyleLbl="fgAcc1" presStyleIdx="4" presStyleCnt="6">
        <dgm:presLayoutVars>
          <dgm:bulletEnabled val="1"/>
        </dgm:presLayoutVars>
      </dgm:prSet>
      <dgm:spPr>
        <a:solidFill>
          <a:schemeClr val="accent6">
            <a:lumMod val="60000"/>
            <a:lumOff val="40000"/>
          </a:schemeClr>
        </a:solidFill>
        <a:ln>
          <a:noFill/>
        </a:ln>
      </dgm:spPr>
    </dgm:pt>
    <dgm:pt modelId="{B84CE5CA-18FD-4AFB-BF77-9FFC4D771E21}" type="pres">
      <dgm:prSet presAssocID="{F8FA90A4-866F-4386-8B23-9F7942F97DF5}" presName="sibTrans" presStyleLbl="sibTrans2D1" presStyleIdx="4" presStyleCnt="5"/>
      <dgm:spPr>
        <a:solidFill>
          <a:schemeClr val="tx1">
            <a:lumMod val="50000"/>
            <a:lumOff val="50000"/>
          </a:schemeClr>
        </a:solidFill>
      </dgm:spPr>
    </dgm:pt>
    <dgm:pt modelId="{25BC5EF3-5ECA-469E-AAE1-97F121DDF19E}" type="pres">
      <dgm:prSet presAssocID="{F8FA90A4-866F-4386-8B23-9F7942F97DF5}" presName="connTx" presStyleLbl="sibTrans2D1" presStyleIdx="4" presStyleCnt="5"/>
      <dgm:spPr/>
    </dgm:pt>
    <dgm:pt modelId="{E4CC3EDC-CE2E-4782-8373-8DA4142428FF}" type="pres">
      <dgm:prSet presAssocID="{E41597FF-8EC9-4063-B764-0A686F955FDA}" presName="composite" presStyleCnt="0"/>
      <dgm:spPr/>
    </dgm:pt>
    <dgm:pt modelId="{37FBC77D-EDCF-41E1-B224-3ABD332726DA}" type="pres">
      <dgm:prSet presAssocID="{E41597FF-8EC9-4063-B764-0A686F955FDA}" presName="parTx" presStyleLbl="node1" presStyleIdx="4" presStyleCnt="6">
        <dgm:presLayoutVars>
          <dgm:chMax val="0"/>
          <dgm:chPref val="0"/>
          <dgm:bulletEnabled val="1"/>
        </dgm:presLayoutVars>
      </dgm:prSet>
      <dgm:spPr/>
    </dgm:pt>
    <dgm:pt modelId="{599C7CED-DBFB-484C-9631-BA56F1BD5715}" type="pres">
      <dgm:prSet presAssocID="{E41597FF-8EC9-4063-B764-0A686F955FDA}" presName="parSh" presStyleLbl="node1" presStyleIdx="5" presStyleCnt="6"/>
      <dgm:spPr>
        <a:solidFill>
          <a:schemeClr val="accent6"/>
        </a:solidFill>
      </dgm:spPr>
    </dgm:pt>
    <dgm:pt modelId="{048C7863-1045-404B-A356-23552ABEE612}" type="pres">
      <dgm:prSet presAssocID="{E41597FF-8EC9-4063-B764-0A686F955FDA}" presName="desTx" presStyleLbl="fgAcc1" presStyleIdx="5" presStyleCnt="6">
        <dgm:presLayoutVars>
          <dgm:bulletEnabled val="1"/>
        </dgm:presLayoutVars>
      </dgm:prSet>
      <dgm:spPr>
        <a:solidFill>
          <a:schemeClr val="accent6">
            <a:lumMod val="60000"/>
            <a:lumOff val="40000"/>
          </a:schemeClr>
        </a:solidFill>
        <a:ln>
          <a:noFill/>
        </a:ln>
      </dgm:spPr>
    </dgm:pt>
  </dgm:ptLst>
  <dgm:cxnLst>
    <dgm:cxn modelId="{4B324D00-7B27-433F-B804-CD72C4C248C8}" srcId="{E0CE1F8D-1475-414C-BC6F-36F02245CBA7}" destId="{EF941F8C-74D5-4F1B-B49F-42EE7BADD1E8}" srcOrd="0" destOrd="0" parTransId="{AB73BF9B-3163-463F-8145-B009108E61BE}" sibTransId="{F20CF5EC-39BE-41BE-BC62-CDC80EFE3F02}"/>
    <dgm:cxn modelId="{7A57BF09-9C28-4235-B9E7-F85E1099AD12}" type="presOf" srcId="{F8FA90A4-866F-4386-8B23-9F7942F97DF5}" destId="{25BC5EF3-5ECA-469E-AAE1-97F121DDF19E}" srcOrd="1" destOrd="0" presId="urn:microsoft.com/office/officeart/2005/8/layout/process3"/>
    <dgm:cxn modelId="{2665820E-9C9E-440E-901D-74B135053160}" srcId="{730BD63D-7504-4FFE-AFFA-463FB7FADFF7}" destId="{32737B8B-0B7C-4233-98DE-CEF96965BA63}" srcOrd="0" destOrd="0" parTransId="{8396167F-09BD-4621-8268-2BD2D0ADFFEE}" sibTransId="{266D74B0-8AE4-4A81-A287-C68428270E94}"/>
    <dgm:cxn modelId="{492AA811-D926-4404-9995-EA3ECAD3143A}" type="presOf" srcId="{398820A0-A9CB-4121-A12C-F1D5BA7F93A6}" destId="{E5722852-0AFC-4708-8986-94DA5D7B0DC3}" srcOrd="0" destOrd="0" presId="urn:microsoft.com/office/officeart/2005/8/layout/process3"/>
    <dgm:cxn modelId="{3045191E-9479-46E3-B5F0-A71AC2719C8E}" srcId="{1E9B3502-B08B-4DD3-A6AD-26575FA0EBB9}" destId="{15BDC9CA-3AB0-4F29-8124-C051031B6D43}" srcOrd="2" destOrd="0" parTransId="{D22136EE-3494-4C06-B72F-BB5AF6687957}" sibTransId="{7A9CFBD0-F027-4928-8B09-B9A8498853D5}"/>
    <dgm:cxn modelId="{7466B529-2812-4380-871C-10AC55DE80FF}" type="presOf" srcId="{AB008A5E-4042-423E-8D4E-67599C44F9E9}" destId="{1F35E853-7723-4B24-A6BD-EDDB44A194E4}" srcOrd="0" destOrd="0" presId="urn:microsoft.com/office/officeart/2005/8/layout/process3"/>
    <dgm:cxn modelId="{5A091B30-30F0-4FB7-8D20-1BA06115506A}" type="presOf" srcId="{40A3A4BC-A470-4A10-AFC6-67B859F3E080}" destId="{048C7863-1045-404B-A356-23552ABEE612}" srcOrd="0" destOrd="0" presId="urn:microsoft.com/office/officeart/2005/8/layout/process3"/>
    <dgm:cxn modelId="{4DB2E038-1660-4CE9-AA51-4CDF43D97849}" srcId="{D8A87ECF-E2AF-44F6-A98D-8D03D6AAC78E}" destId="{BF191611-E894-4E93-AB4D-E0261C4A9E2E}" srcOrd="0" destOrd="0" parTransId="{2438B558-090D-440D-8BF7-614D022A7A0F}" sibTransId="{00F32B6E-8C13-48E9-A2C9-325BC49F1A3C}"/>
    <dgm:cxn modelId="{AFA7323D-709D-440A-858D-200DC05DA977}" type="presOf" srcId="{E41597FF-8EC9-4063-B764-0A686F955FDA}" destId="{37FBC77D-EDCF-41E1-B224-3ABD332726DA}" srcOrd="0" destOrd="0" presId="urn:microsoft.com/office/officeart/2005/8/layout/process3"/>
    <dgm:cxn modelId="{94FA7A40-34EE-405B-AF0D-E40DEBC4ED86}" type="presOf" srcId="{0A30103F-977E-4E58-877B-76B23F05D4DF}" destId="{6B41C731-0624-496B-9C8A-A80B73E6E80B}" srcOrd="0" destOrd="0" presId="urn:microsoft.com/office/officeart/2005/8/layout/process3"/>
    <dgm:cxn modelId="{2C3EC240-4D32-4BF0-8C1E-6FBBAF9806F6}" srcId="{1E9B3502-B08B-4DD3-A6AD-26575FA0EBB9}" destId="{9FCC2989-0FCE-4F81-9133-57E2E7E427FF}" srcOrd="0" destOrd="0" parTransId="{44E4821F-1C83-490F-90DA-2F8323382FE6}" sibTransId="{AB008A5E-4042-423E-8D4E-67599C44F9E9}"/>
    <dgm:cxn modelId="{EE78F162-12B1-4DBD-BC6B-72D47C736FBE}" type="presOf" srcId="{E0CE1F8D-1475-414C-BC6F-36F02245CBA7}" destId="{4E3AA481-C837-4C50-ACA3-59EA27552E8F}" srcOrd="1" destOrd="0" presId="urn:microsoft.com/office/officeart/2005/8/layout/process3"/>
    <dgm:cxn modelId="{86893466-8015-4310-A8DF-290EB5B472C4}" srcId="{9FCC2989-0FCE-4F81-9133-57E2E7E427FF}" destId="{398820A0-A9CB-4121-A12C-F1D5BA7F93A6}" srcOrd="0" destOrd="0" parTransId="{27B35209-1462-4B48-9813-6DEFBFDD68CB}" sibTransId="{B2A7219E-DF68-4478-90D5-7E0879D55362}"/>
    <dgm:cxn modelId="{186E7A47-6A4D-48BC-A76E-05F3EB60C88F}" type="presOf" srcId="{15BDC9CA-3AB0-4F29-8124-C051031B6D43}" destId="{9EB4AAA1-7DDE-49DD-B5FC-3D41D275AEE5}" srcOrd="1" destOrd="0" presId="urn:microsoft.com/office/officeart/2005/8/layout/process3"/>
    <dgm:cxn modelId="{DF66C768-5DC7-4865-8652-529CA1CEC0A5}" srcId="{15BDC9CA-3AB0-4F29-8124-C051031B6D43}" destId="{BCFFAD3F-C874-49D9-B879-8DED5ADEA98B}" srcOrd="0" destOrd="0" parTransId="{F19127FB-7026-4D6A-AB79-90641CE36C4E}" sibTransId="{81931D7C-C5D5-48DC-8B51-34A2EE3FDE59}"/>
    <dgm:cxn modelId="{0D657572-C848-41D7-8766-25AA35268A26}" type="presOf" srcId="{7A9CFBD0-F027-4928-8B09-B9A8498853D5}" destId="{755E2BB4-EB73-4B97-BA50-3A13AAF8355F}" srcOrd="0" destOrd="0" presId="urn:microsoft.com/office/officeart/2005/8/layout/process3"/>
    <dgm:cxn modelId="{480BB675-7E75-4795-9A89-3AC2A6B8F4BC}" srcId="{E41597FF-8EC9-4063-B764-0A686F955FDA}" destId="{40A3A4BC-A470-4A10-AFC6-67B859F3E080}" srcOrd="0" destOrd="0" parTransId="{334E3DF2-68EB-46DE-BE7A-7A2E40D49E4F}" sibTransId="{81436953-C66C-423F-9F85-53EF5998C3B0}"/>
    <dgm:cxn modelId="{943AA876-3141-4F64-98ED-C95C6DC65E63}" type="presOf" srcId="{9FCC2989-0FCE-4F81-9133-57E2E7E427FF}" destId="{F519C7D1-D710-43B5-B23C-107E36572380}" srcOrd="1" destOrd="0" presId="urn:microsoft.com/office/officeart/2005/8/layout/process3"/>
    <dgm:cxn modelId="{38BC7F58-3870-4BFB-8E17-D6F63CF117E9}" type="presOf" srcId="{BF191611-E894-4E93-AB4D-E0261C4A9E2E}" destId="{C97FCAC6-F9EB-419D-BE78-D698092B8810}" srcOrd="0" destOrd="0" presId="urn:microsoft.com/office/officeart/2005/8/layout/process3"/>
    <dgm:cxn modelId="{38A3A388-17E9-40FC-985D-281EE2590A52}" srcId="{1E9B3502-B08B-4DD3-A6AD-26575FA0EBB9}" destId="{730BD63D-7504-4FFE-AFFA-463FB7FADFF7}" srcOrd="4" destOrd="0" parTransId="{62A475EE-573D-4E6D-98F3-E9B631374B59}" sibTransId="{F8FA90A4-866F-4386-8B23-9F7942F97DF5}"/>
    <dgm:cxn modelId="{87689D8F-68F3-412D-9048-4BB9B9756C00}" type="presOf" srcId="{AB008A5E-4042-423E-8D4E-67599C44F9E9}" destId="{3EB853CA-D266-4563-8124-15D8BF32A5EB}" srcOrd="1" destOrd="0" presId="urn:microsoft.com/office/officeart/2005/8/layout/process3"/>
    <dgm:cxn modelId="{70286997-0735-483C-8965-D69E4B9792C7}" type="presOf" srcId="{7A9CFBD0-F027-4928-8B09-B9A8498853D5}" destId="{746260AE-0CCC-4C7A-B930-69FFB1488258}" srcOrd="1" destOrd="0" presId="urn:microsoft.com/office/officeart/2005/8/layout/process3"/>
    <dgm:cxn modelId="{8E90C19D-3F4C-46DC-8C02-F6CB46C29870}" type="presOf" srcId="{E41597FF-8EC9-4063-B764-0A686F955FDA}" destId="{599C7CED-DBFB-484C-9631-BA56F1BD5715}" srcOrd="1" destOrd="0" presId="urn:microsoft.com/office/officeart/2005/8/layout/process3"/>
    <dgm:cxn modelId="{7CE26DA8-178F-4075-A53B-DADD5F5F3F58}" srcId="{1E9B3502-B08B-4DD3-A6AD-26575FA0EBB9}" destId="{D8A87ECF-E2AF-44F6-A98D-8D03D6AAC78E}" srcOrd="1" destOrd="0" parTransId="{CB44A81F-CDA4-40D5-B827-958E45601A4D}" sibTransId="{6F84A0B9-4BE0-4FFF-914F-5C2CB0FA9919}"/>
    <dgm:cxn modelId="{B304F9B3-BB2B-48DE-BED8-EEDDBA832700}" srcId="{1E9B3502-B08B-4DD3-A6AD-26575FA0EBB9}" destId="{E41597FF-8EC9-4063-B764-0A686F955FDA}" srcOrd="5" destOrd="0" parTransId="{06EFA620-705B-46CC-A838-8E58AF6B640E}" sibTransId="{0E20E75B-677B-4569-A45F-1E213AE9D376}"/>
    <dgm:cxn modelId="{6B9D0DB7-C633-43AD-BAA5-5A01F559BA86}" type="presOf" srcId="{D8A87ECF-E2AF-44F6-A98D-8D03D6AAC78E}" destId="{E8093AC7-9867-40E6-93D8-B69C52BF22A6}" srcOrd="0" destOrd="0" presId="urn:microsoft.com/office/officeart/2005/8/layout/process3"/>
    <dgm:cxn modelId="{7579FEB9-BAE2-45D2-B3DF-31A475A8A40B}" type="presOf" srcId="{1E9B3502-B08B-4DD3-A6AD-26575FA0EBB9}" destId="{2F491F0E-F3CB-463F-83CA-07BD8ABA9815}" srcOrd="0" destOrd="0" presId="urn:microsoft.com/office/officeart/2005/8/layout/process3"/>
    <dgm:cxn modelId="{01D584C2-C159-4F78-AA8C-9CEC6D01C6CE}" type="presOf" srcId="{730BD63D-7504-4FFE-AFFA-463FB7FADFF7}" destId="{A5AE7BA5-488B-4885-9800-D7B500896B11}" srcOrd="0" destOrd="0" presId="urn:microsoft.com/office/officeart/2005/8/layout/process3"/>
    <dgm:cxn modelId="{97A088D2-1669-4912-9792-C7BC8BAE3FBF}" type="presOf" srcId="{15BDC9CA-3AB0-4F29-8124-C051031B6D43}" destId="{3913540F-1155-4126-99CA-6A270C5A5420}" srcOrd="0" destOrd="0" presId="urn:microsoft.com/office/officeart/2005/8/layout/process3"/>
    <dgm:cxn modelId="{554416D4-D531-4BDE-A6ED-FAB84B8FDA0D}" type="presOf" srcId="{BCFFAD3F-C874-49D9-B879-8DED5ADEA98B}" destId="{F4D17884-984C-4A7C-9613-E3E07EEE6E7D}" srcOrd="0" destOrd="0" presId="urn:microsoft.com/office/officeart/2005/8/layout/process3"/>
    <dgm:cxn modelId="{ABE439D4-BCAD-48E1-9DB0-62CE4A05991D}" type="presOf" srcId="{F8FA90A4-866F-4386-8B23-9F7942F97DF5}" destId="{B84CE5CA-18FD-4AFB-BF77-9FFC4D771E21}" srcOrd="0" destOrd="0" presId="urn:microsoft.com/office/officeart/2005/8/layout/process3"/>
    <dgm:cxn modelId="{E52C85D5-1CAC-4707-A77E-8B5F62DFED5E}" type="presOf" srcId="{E0CE1F8D-1475-414C-BC6F-36F02245CBA7}" destId="{CDB1F586-C925-4302-88BC-5D833669F675}" srcOrd="0" destOrd="0" presId="urn:microsoft.com/office/officeart/2005/8/layout/process3"/>
    <dgm:cxn modelId="{032771D9-235B-4851-A7B9-729BD7B84540}" type="presOf" srcId="{32737B8B-0B7C-4233-98DE-CEF96965BA63}" destId="{547B6ECB-2C8C-48B3-96C9-A0A0C7C346B0}" srcOrd="0" destOrd="0" presId="urn:microsoft.com/office/officeart/2005/8/layout/process3"/>
    <dgm:cxn modelId="{1A41C8DB-0608-44AC-A0B4-9159E5B9CD24}" type="presOf" srcId="{9FCC2989-0FCE-4F81-9133-57E2E7E427FF}" destId="{A7B7258B-725B-44FB-83B2-292E5457B536}" srcOrd="0" destOrd="0" presId="urn:microsoft.com/office/officeart/2005/8/layout/process3"/>
    <dgm:cxn modelId="{482987E2-9616-4B1E-90C9-F63F04FF5EF4}" type="presOf" srcId="{6F84A0B9-4BE0-4FFF-914F-5C2CB0FA9919}" destId="{A7B3AB85-8B7C-4C6B-AA86-55CD10A2392D}" srcOrd="1" destOrd="0" presId="urn:microsoft.com/office/officeart/2005/8/layout/process3"/>
    <dgm:cxn modelId="{E29DCAE8-4D46-4DBA-AE03-9892D77177A0}" srcId="{1E9B3502-B08B-4DD3-A6AD-26575FA0EBB9}" destId="{E0CE1F8D-1475-414C-BC6F-36F02245CBA7}" srcOrd="3" destOrd="0" parTransId="{40FE68D5-8A65-44B6-979A-CF3F2C886B02}" sibTransId="{0A30103F-977E-4E58-877B-76B23F05D4DF}"/>
    <dgm:cxn modelId="{024683F1-8218-48EF-8406-26093F8B43A4}" type="presOf" srcId="{730BD63D-7504-4FFE-AFFA-463FB7FADFF7}" destId="{42D00F1C-BEB3-401C-84B8-10DF20647E6D}" srcOrd="1" destOrd="0" presId="urn:microsoft.com/office/officeart/2005/8/layout/process3"/>
    <dgm:cxn modelId="{0ED601F3-C39D-414B-AEEB-9365259CA30E}" type="presOf" srcId="{0A30103F-977E-4E58-877B-76B23F05D4DF}" destId="{A5630DBA-D08F-47FD-8D55-F2B4FE72C2CF}" srcOrd="1" destOrd="0" presId="urn:microsoft.com/office/officeart/2005/8/layout/process3"/>
    <dgm:cxn modelId="{ED77B5F8-7A0E-49D2-936D-DD2A5047330B}" type="presOf" srcId="{6F84A0B9-4BE0-4FFF-914F-5C2CB0FA9919}" destId="{6C729D8F-66EF-44DB-89A7-1B106DFCF394}" srcOrd="0" destOrd="0" presId="urn:microsoft.com/office/officeart/2005/8/layout/process3"/>
    <dgm:cxn modelId="{0D32F9F8-EF3F-4436-9260-CCB20EC69697}" type="presOf" srcId="{D8A87ECF-E2AF-44F6-A98D-8D03D6AAC78E}" destId="{5C1C68B1-17DA-424C-9281-4B464EBBFDE2}" srcOrd="1" destOrd="0" presId="urn:microsoft.com/office/officeart/2005/8/layout/process3"/>
    <dgm:cxn modelId="{ED7863FF-7DD1-43C1-BE9C-5551D0CB02F0}" type="presOf" srcId="{EF941F8C-74D5-4F1B-B49F-42EE7BADD1E8}" destId="{6E88BB55-728B-4D54-976C-184071DC12D5}" srcOrd="0" destOrd="0" presId="urn:microsoft.com/office/officeart/2005/8/layout/process3"/>
    <dgm:cxn modelId="{89C6A785-A347-4B53-BC56-3798039C09C5}" type="presParOf" srcId="{2F491F0E-F3CB-463F-83CA-07BD8ABA9815}" destId="{45E9CFC7-D1F1-4E4A-90D2-CB3D6B4BA533}" srcOrd="0" destOrd="0" presId="urn:microsoft.com/office/officeart/2005/8/layout/process3"/>
    <dgm:cxn modelId="{B46A05EE-9C2B-4900-84CD-43961E4014BE}" type="presParOf" srcId="{45E9CFC7-D1F1-4E4A-90D2-CB3D6B4BA533}" destId="{A7B7258B-725B-44FB-83B2-292E5457B536}" srcOrd="0" destOrd="0" presId="urn:microsoft.com/office/officeart/2005/8/layout/process3"/>
    <dgm:cxn modelId="{FCAFD3A6-8941-4C2E-8551-6400082DF64F}" type="presParOf" srcId="{45E9CFC7-D1F1-4E4A-90D2-CB3D6B4BA533}" destId="{F519C7D1-D710-43B5-B23C-107E36572380}" srcOrd="1" destOrd="0" presId="urn:microsoft.com/office/officeart/2005/8/layout/process3"/>
    <dgm:cxn modelId="{62D94D2D-7844-428E-8291-CC8DF1D5BA39}" type="presParOf" srcId="{45E9CFC7-D1F1-4E4A-90D2-CB3D6B4BA533}" destId="{E5722852-0AFC-4708-8986-94DA5D7B0DC3}" srcOrd="2" destOrd="0" presId="urn:microsoft.com/office/officeart/2005/8/layout/process3"/>
    <dgm:cxn modelId="{A41C6717-E176-41C8-BCF9-392F178A18CE}" type="presParOf" srcId="{2F491F0E-F3CB-463F-83CA-07BD8ABA9815}" destId="{1F35E853-7723-4B24-A6BD-EDDB44A194E4}" srcOrd="1" destOrd="0" presId="urn:microsoft.com/office/officeart/2005/8/layout/process3"/>
    <dgm:cxn modelId="{24EDA4B5-A41D-4A32-A1FE-21DBDB8AC011}" type="presParOf" srcId="{1F35E853-7723-4B24-A6BD-EDDB44A194E4}" destId="{3EB853CA-D266-4563-8124-15D8BF32A5EB}" srcOrd="0" destOrd="0" presId="urn:microsoft.com/office/officeart/2005/8/layout/process3"/>
    <dgm:cxn modelId="{3D9F71FE-7354-4306-B16B-64D127CD387E}" type="presParOf" srcId="{2F491F0E-F3CB-463F-83CA-07BD8ABA9815}" destId="{33D27192-FE80-4985-83D1-6B7C7BEF71E8}" srcOrd="2" destOrd="0" presId="urn:microsoft.com/office/officeart/2005/8/layout/process3"/>
    <dgm:cxn modelId="{BC56804F-B82C-43FC-836F-95440561CAFE}" type="presParOf" srcId="{33D27192-FE80-4985-83D1-6B7C7BEF71E8}" destId="{E8093AC7-9867-40E6-93D8-B69C52BF22A6}" srcOrd="0" destOrd="0" presId="urn:microsoft.com/office/officeart/2005/8/layout/process3"/>
    <dgm:cxn modelId="{6C554EBB-D133-4F54-8B81-4D7679D9F998}" type="presParOf" srcId="{33D27192-FE80-4985-83D1-6B7C7BEF71E8}" destId="{5C1C68B1-17DA-424C-9281-4B464EBBFDE2}" srcOrd="1" destOrd="0" presId="urn:microsoft.com/office/officeart/2005/8/layout/process3"/>
    <dgm:cxn modelId="{71D02651-3311-4118-94C6-67FB58D796F6}" type="presParOf" srcId="{33D27192-FE80-4985-83D1-6B7C7BEF71E8}" destId="{C97FCAC6-F9EB-419D-BE78-D698092B8810}" srcOrd="2" destOrd="0" presId="urn:microsoft.com/office/officeart/2005/8/layout/process3"/>
    <dgm:cxn modelId="{8BFD1C90-4B0A-4F2A-8C38-9A5DDB965CEE}" type="presParOf" srcId="{2F491F0E-F3CB-463F-83CA-07BD8ABA9815}" destId="{6C729D8F-66EF-44DB-89A7-1B106DFCF394}" srcOrd="3" destOrd="0" presId="urn:microsoft.com/office/officeart/2005/8/layout/process3"/>
    <dgm:cxn modelId="{95082636-7F94-459D-B47F-0ADFAF183727}" type="presParOf" srcId="{6C729D8F-66EF-44DB-89A7-1B106DFCF394}" destId="{A7B3AB85-8B7C-4C6B-AA86-55CD10A2392D}" srcOrd="0" destOrd="0" presId="urn:microsoft.com/office/officeart/2005/8/layout/process3"/>
    <dgm:cxn modelId="{8B958292-1F55-4647-AD20-F3237F1024B0}" type="presParOf" srcId="{2F491F0E-F3CB-463F-83CA-07BD8ABA9815}" destId="{00195765-5587-4698-8DDA-DB5583960D11}" srcOrd="4" destOrd="0" presId="urn:microsoft.com/office/officeart/2005/8/layout/process3"/>
    <dgm:cxn modelId="{6FEB0D41-9CD3-46EB-8658-4917EA20D2C1}" type="presParOf" srcId="{00195765-5587-4698-8DDA-DB5583960D11}" destId="{3913540F-1155-4126-99CA-6A270C5A5420}" srcOrd="0" destOrd="0" presId="urn:microsoft.com/office/officeart/2005/8/layout/process3"/>
    <dgm:cxn modelId="{FB66DFD2-6672-44E8-8305-E16BEC68199E}" type="presParOf" srcId="{00195765-5587-4698-8DDA-DB5583960D11}" destId="{9EB4AAA1-7DDE-49DD-B5FC-3D41D275AEE5}" srcOrd="1" destOrd="0" presId="urn:microsoft.com/office/officeart/2005/8/layout/process3"/>
    <dgm:cxn modelId="{071F1BF6-368E-4CC1-AA7B-D55E0036BDCB}" type="presParOf" srcId="{00195765-5587-4698-8DDA-DB5583960D11}" destId="{F4D17884-984C-4A7C-9613-E3E07EEE6E7D}" srcOrd="2" destOrd="0" presId="urn:microsoft.com/office/officeart/2005/8/layout/process3"/>
    <dgm:cxn modelId="{2A7BF0B3-2145-484B-BAD8-7AF72279C204}" type="presParOf" srcId="{2F491F0E-F3CB-463F-83CA-07BD8ABA9815}" destId="{755E2BB4-EB73-4B97-BA50-3A13AAF8355F}" srcOrd="5" destOrd="0" presId="urn:microsoft.com/office/officeart/2005/8/layout/process3"/>
    <dgm:cxn modelId="{63F0E115-3C7D-49B3-B3C7-360F2950EF8F}" type="presParOf" srcId="{755E2BB4-EB73-4B97-BA50-3A13AAF8355F}" destId="{746260AE-0CCC-4C7A-B930-69FFB1488258}" srcOrd="0" destOrd="0" presId="urn:microsoft.com/office/officeart/2005/8/layout/process3"/>
    <dgm:cxn modelId="{F520C12A-FC86-41E5-AD96-5243C587277A}" type="presParOf" srcId="{2F491F0E-F3CB-463F-83CA-07BD8ABA9815}" destId="{13BBD4A8-D5DC-47F3-9791-B82BD8A9A9AA}" srcOrd="6" destOrd="0" presId="urn:microsoft.com/office/officeart/2005/8/layout/process3"/>
    <dgm:cxn modelId="{3AF177B6-A875-4973-8E32-1F8E7E7D226B}" type="presParOf" srcId="{13BBD4A8-D5DC-47F3-9791-B82BD8A9A9AA}" destId="{CDB1F586-C925-4302-88BC-5D833669F675}" srcOrd="0" destOrd="0" presId="urn:microsoft.com/office/officeart/2005/8/layout/process3"/>
    <dgm:cxn modelId="{73A63418-C872-42DE-8C88-1CFE04DE880D}" type="presParOf" srcId="{13BBD4A8-D5DC-47F3-9791-B82BD8A9A9AA}" destId="{4E3AA481-C837-4C50-ACA3-59EA27552E8F}" srcOrd="1" destOrd="0" presId="urn:microsoft.com/office/officeart/2005/8/layout/process3"/>
    <dgm:cxn modelId="{9A83EF38-F2C6-42CA-8C6D-A9FE9168AE47}" type="presParOf" srcId="{13BBD4A8-D5DC-47F3-9791-B82BD8A9A9AA}" destId="{6E88BB55-728B-4D54-976C-184071DC12D5}" srcOrd="2" destOrd="0" presId="urn:microsoft.com/office/officeart/2005/8/layout/process3"/>
    <dgm:cxn modelId="{27451CF2-8543-435D-80A1-9700C3B2F301}" type="presParOf" srcId="{2F491F0E-F3CB-463F-83CA-07BD8ABA9815}" destId="{6B41C731-0624-496B-9C8A-A80B73E6E80B}" srcOrd="7" destOrd="0" presId="urn:microsoft.com/office/officeart/2005/8/layout/process3"/>
    <dgm:cxn modelId="{8E68DF8F-41E0-46FB-BCB7-8D70808AD127}" type="presParOf" srcId="{6B41C731-0624-496B-9C8A-A80B73E6E80B}" destId="{A5630DBA-D08F-47FD-8D55-F2B4FE72C2CF}" srcOrd="0" destOrd="0" presId="urn:microsoft.com/office/officeart/2005/8/layout/process3"/>
    <dgm:cxn modelId="{4BE80C56-4CBC-4429-A874-0ABD487FBAD2}" type="presParOf" srcId="{2F491F0E-F3CB-463F-83CA-07BD8ABA9815}" destId="{3D73A942-20B4-4021-B60B-5CF2F559BCF3}" srcOrd="8" destOrd="0" presId="urn:microsoft.com/office/officeart/2005/8/layout/process3"/>
    <dgm:cxn modelId="{3838FED2-426A-4D2E-B5E6-4AD03CC52E0C}" type="presParOf" srcId="{3D73A942-20B4-4021-B60B-5CF2F559BCF3}" destId="{A5AE7BA5-488B-4885-9800-D7B500896B11}" srcOrd="0" destOrd="0" presId="urn:microsoft.com/office/officeart/2005/8/layout/process3"/>
    <dgm:cxn modelId="{98AF921C-1ABF-41E7-A52F-5BAB0577389D}" type="presParOf" srcId="{3D73A942-20B4-4021-B60B-5CF2F559BCF3}" destId="{42D00F1C-BEB3-401C-84B8-10DF20647E6D}" srcOrd="1" destOrd="0" presId="urn:microsoft.com/office/officeart/2005/8/layout/process3"/>
    <dgm:cxn modelId="{DAE6394E-6770-4CE5-B537-96F7C3B70AD2}" type="presParOf" srcId="{3D73A942-20B4-4021-B60B-5CF2F559BCF3}" destId="{547B6ECB-2C8C-48B3-96C9-A0A0C7C346B0}" srcOrd="2" destOrd="0" presId="urn:microsoft.com/office/officeart/2005/8/layout/process3"/>
    <dgm:cxn modelId="{629E6FEA-BFA5-4250-AAF1-D3067EDE28F9}" type="presParOf" srcId="{2F491F0E-F3CB-463F-83CA-07BD8ABA9815}" destId="{B84CE5CA-18FD-4AFB-BF77-9FFC4D771E21}" srcOrd="9" destOrd="0" presId="urn:microsoft.com/office/officeart/2005/8/layout/process3"/>
    <dgm:cxn modelId="{8C9E2BC5-9AA4-40CA-B6A9-38721AE6810F}" type="presParOf" srcId="{B84CE5CA-18FD-4AFB-BF77-9FFC4D771E21}" destId="{25BC5EF3-5ECA-469E-AAE1-97F121DDF19E}" srcOrd="0" destOrd="0" presId="urn:microsoft.com/office/officeart/2005/8/layout/process3"/>
    <dgm:cxn modelId="{165D806D-4007-441F-B049-A78D3392CFE6}" type="presParOf" srcId="{2F491F0E-F3CB-463F-83CA-07BD8ABA9815}" destId="{E4CC3EDC-CE2E-4782-8373-8DA4142428FF}" srcOrd="10" destOrd="0" presId="urn:microsoft.com/office/officeart/2005/8/layout/process3"/>
    <dgm:cxn modelId="{D6F8C118-5A52-443E-A086-29E3DE917C2A}" type="presParOf" srcId="{E4CC3EDC-CE2E-4782-8373-8DA4142428FF}" destId="{37FBC77D-EDCF-41E1-B224-3ABD332726DA}" srcOrd="0" destOrd="0" presId="urn:microsoft.com/office/officeart/2005/8/layout/process3"/>
    <dgm:cxn modelId="{168791C9-840C-4364-A4EB-8DB20B8A030E}" type="presParOf" srcId="{E4CC3EDC-CE2E-4782-8373-8DA4142428FF}" destId="{599C7CED-DBFB-484C-9631-BA56F1BD5715}" srcOrd="1" destOrd="0" presId="urn:microsoft.com/office/officeart/2005/8/layout/process3"/>
    <dgm:cxn modelId="{2534428F-1A40-4043-AB2C-F1C66DBCC64F}" type="presParOf" srcId="{E4CC3EDC-CE2E-4782-8373-8DA4142428FF}" destId="{048C7863-1045-404B-A356-23552ABEE612}" srcOrd="2" destOrd="0" presId="urn:microsoft.com/office/officeart/2005/8/layout/process3"/>
  </dgm:cxnLst>
  <dgm:bg>
    <a:noFill/>
  </dgm:bg>
  <dgm:whole/>
  <dgm:extLst>
    <a:ext uri="http://schemas.microsoft.com/office/drawing/2008/diagram">
      <dsp:dataModelExt xmlns:dsp="http://schemas.microsoft.com/office/drawing/2008/diagram" relId="rId2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595D9413-A7DA-4249-A217-0C1D849D32F6}" type="doc">
      <dgm:prSet loTypeId="urn:microsoft.com/office/officeart/2005/8/layout/chevron1" loCatId="process" qsTypeId="urn:microsoft.com/office/officeart/2005/8/quickstyle/simple1" qsCatId="simple" csTypeId="urn:microsoft.com/office/officeart/2005/8/colors/accent5_2" csCatId="accent5" phldr="1"/>
      <dgm:spPr/>
    </dgm:pt>
    <dgm:pt modelId="{69EE6712-C28A-4F42-AC27-365276BC1063}">
      <dgm:prSet phldrT="[Text]" custT="1"/>
      <dgm:spPr>
        <a:solidFill>
          <a:srgbClr val="7D3C4A"/>
        </a:solidFill>
      </dgm:spPr>
      <dgm:t>
        <a:bodyPr/>
        <a:lstStyle/>
        <a:p>
          <a:r>
            <a:rPr lang="en-IN" sz="1100"/>
            <a:t>First-mile transportation</a:t>
          </a:r>
        </a:p>
      </dgm:t>
    </dgm:pt>
    <dgm:pt modelId="{09DD9F70-0CAF-4078-A766-25689098758E}" type="parTrans" cxnId="{3B4A1B7A-BBA6-4C52-8ACF-9ECFD769B4B0}">
      <dgm:prSet/>
      <dgm:spPr/>
      <dgm:t>
        <a:bodyPr/>
        <a:lstStyle/>
        <a:p>
          <a:endParaRPr lang="en-IN"/>
        </a:p>
      </dgm:t>
    </dgm:pt>
    <dgm:pt modelId="{39AA6D55-CE82-4B0A-91C6-34ED025F35FE}" type="sibTrans" cxnId="{3B4A1B7A-BBA6-4C52-8ACF-9ECFD769B4B0}">
      <dgm:prSet/>
      <dgm:spPr/>
      <dgm:t>
        <a:bodyPr/>
        <a:lstStyle/>
        <a:p>
          <a:endParaRPr lang="en-IN"/>
        </a:p>
      </dgm:t>
    </dgm:pt>
    <dgm:pt modelId="{8FAEEC7F-4E56-4CE5-B454-4EB8692CDA4C}">
      <dgm:prSet phldrT="[Text]" custT="1"/>
      <dgm:spPr>
        <a:solidFill>
          <a:srgbClr val="7D3C4A"/>
        </a:solidFill>
      </dgm:spPr>
      <dgm:t>
        <a:bodyPr/>
        <a:lstStyle/>
        <a:p>
          <a:r>
            <a:rPr lang="en-IN" sz="1100"/>
            <a:t>Pre-Treatment Plant</a:t>
          </a:r>
        </a:p>
      </dgm:t>
    </dgm:pt>
    <dgm:pt modelId="{121747C3-05AF-44BC-A88C-19D3AC31A478}" type="parTrans" cxnId="{44DF4A91-5427-4FB3-A943-6D2656F3CBD3}">
      <dgm:prSet/>
      <dgm:spPr/>
      <dgm:t>
        <a:bodyPr/>
        <a:lstStyle/>
        <a:p>
          <a:endParaRPr lang="en-IN"/>
        </a:p>
      </dgm:t>
    </dgm:pt>
    <dgm:pt modelId="{1A5457DF-A0B4-47B8-B7D2-F178D5711563}" type="sibTrans" cxnId="{44DF4A91-5427-4FB3-A943-6D2656F3CBD3}">
      <dgm:prSet/>
      <dgm:spPr/>
      <dgm:t>
        <a:bodyPr/>
        <a:lstStyle/>
        <a:p>
          <a:endParaRPr lang="en-IN"/>
        </a:p>
      </dgm:t>
    </dgm:pt>
    <dgm:pt modelId="{CCE18121-68B3-40B1-9DAA-B3D6D0AEE746}">
      <dgm:prSet phldrT="[Text]" custT="1"/>
      <dgm:spPr>
        <a:solidFill>
          <a:srgbClr val="7D3C4A"/>
        </a:solidFill>
      </dgm:spPr>
      <dgm:t>
        <a:bodyPr/>
        <a:lstStyle/>
        <a:p>
          <a:r>
            <a:rPr lang="en-IN" sz="1100"/>
            <a:t>Bio-mass to energy conversion</a:t>
          </a:r>
        </a:p>
      </dgm:t>
    </dgm:pt>
    <dgm:pt modelId="{678EF4C4-CECA-4E47-94B1-B8FF2C2F4218}" type="parTrans" cxnId="{5119F2AC-3513-4260-A557-ED21F8B837A6}">
      <dgm:prSet/>
      <dgm:spPr/>
      <dgm:t>
        <a:bodyPr/>
        <a:lstStyle/>
        <a:p>
          <a:endParaRPr lang="en-IN"/>
        </a:p>
      </dgm:t>
    </dgm:pt>
    <dgm:pt modelId="{DF956211-DA18-4271-AB4E-FA7A5101F3FA}" type="sibTrans" cxnId="{5119F2AC-3513-4260-A557-ED21F8B837A6}">
      <dgm:prSet/>
      <dgm:spPr/>
      <dgm:t>
        <a:bodyPr/>
        <a:lstStyle/>
        <a:p>
          <a:endParaRPr lang="en-IN"/>
        </a:p>
      </dgm:t>
    </dgm:pt>
    <dgm:pt modelId="{CF8DE4B1-8823-42EB-87FB-8255C310EA8D}">
      <dgm:prSet phldrT="[Text]" custT="1"/>
      <dgm:spPr>
        <a:solidFill>
          <a:srgbClr val="7D3C4A"/>
        </a:solidFill>
      </dgm:spPr>
      <dgm:t>
        <a:bodyPr/>
        <a:lstStyle/>
        <a:p>
          <a:r>
            <a:rPr lang="en-IN" sz="1100"/>
            <a:t>Residue collection</a:t>
          </a:r>
        </a:p>
      </dgm:t>
    </dgm:pt>
    <dgm:pt modelId="{12D5E14D-BB66-441B-AF92-3D8218E1748C}" type="parTrans" cxnId="{74021CA1-6775-4CE9-AE98-424E6CA50559}">
      <dgm:prSet/>
      <dgm:spPr/>
      <dgm:t>
        <a:bodyPr/>
        <a:lstStyle/>
        <a:p>
          <a:endParaRPr lang="en-IN"/>
        </a:p>
      </dgm:t>
    </dgm:pt>
    <dgm:pt modelId="{D5A1C609-8F06-4986-A22D-3BEE8B9D6B7C}" type="sibTrans" cxnId="{74021CA1-6775-4CE9-AE98-424E6CA50559}">
      <dgm:prSet/>
      <dgm:spPr/>
      <dgm:t>
        <a:bodyPr/>
        <a:lstStyle/>
        <a:p>
          <a:endParaRPr lang="en-IN"/>
        </a:p>
      </dgm:t>
    </dgm:pt>
    <dgm:pt modelId="{8CE9F587-75F7-4C03-98FC-DAE278DBADB2}">
      <dgm:prSet phldrT="[Text]" custT="1"/>
      <dgm:spPr>
        <a:solidFill>
          <a:srgbClr val="7D3C4A"/>
        </a:solidFill>
      </dgm:spPr>
      <dgm:t>
        <a:bodyPr/>
        <a:lstStyle/>
        <a:p>
          <a:r>
            <a:rPr lang="en-IN" sz="1100"/>
            <a:t>Storage unit</a:t>
          </a:r>
        </a:p>
      </dgm:t>
    </dgm:pt>
    <dgm:pt modelId="{6B29DCE9-2025-430E-B048-AD4D70A978AF}" type="parTrans" cxnId="{4C2930F0-4DF5-4A78-BA79-8853AF234A4B}">
      <dgm:prSet/>
      <dgm:spPr/>
      <dgm:t>
        <a:bodyPr/>
        <a:lstStyle/>
        <a:p>
          <a:endParaRPr lang="en-IN"/>
        </a:p>
      </dgm:t>
    </dgm:pt>
    <dgm:pt modelId="{A76C1D60-8873-4289-A599-6D29639AE9A5}" type="sibTrans" cxnId="{4C2930F0-4DF5-4A78-BA79-8853AF234A4B}">
      <dgm:prSet/>
      <dgm:spPr/>
      <dgm:t>
        <a:bodyPr/>
        <a:lstStyle/>
        <a:p>
          <a:endParaRPr lang="en-IN"/>
        </a:p>
      </dgm:t>
    </dgm:pt>
    <dgm:pt modelId="{D9E71786-E052-4BBF-A7E3-9546D3D2EC3A}" type="pres">
      <dgm:prSet presAssocID="{595D9413-A7DA-4249-A217-0C1D849D32F6}" presName="Name0" presStyleCnt="0">
        <dgm:presLayoutVars>
          <dgm:dir/>
          <dgm:animLvl val="lvl"/>
          <dgm:resizeHandles val="exact"/>
        </dgm:presLayoutVars>
      </dgm:prSet>
      <dgm:spPr/>
    </dgm:pt>
    <dgm:pt modelId="{23215D53-7400-4A49-BEA1-E2FD3A0268A8}" type="pres">
      <dgm:prSet presAssocID="{CF8DE4B1-8823-42EB-87FB-8255C310EA8D}" presName="parTxOnly" presStyleLbl="node1" presStyleIdx="0" presStyleCnt="5">
        <dgm:presLayoutVars>
          <dgm:chMax val="0"/>
          <dgm:chPref val="0"/>
          <dgm:bulletEnabled val="1"/>
        </dgm:presLayoutVars>
      </dgm:prSet>
      <dgm:spPr>
        <a:solidFill>
          <a:schemeClr val="accent6">
            <a:lumMod val="75000"/>
          </a:schemeClr>
        </a:solidFill>
      </dgm:spPr>
    </dgm:pt>
    <dgm:pt modelId="{22F01233-0F80-4993-A92F-8970841C386C}" type="pres">
      <dgm:prSet presAssocID="{D5A1C609-8F06-4986-A22D-3BEE8B9D6B7C}" presName="parTxOnlySpace" presStyleCnt="0"/>
      <dgm:spPr/>
    </dgm:pt>
    <dgm:pt modelId="{690C111C-E835-466A-83EB-49E73060CC3D}" type="pres">
      <dgm:prSet presAssocID="{69EE6712-C28A-4F42-AC27-365276BC1063}" presName="parTxOnly" presStyleLbl="node1" presStyleIdx="1" presStyleCnt="5">
        <dgm:presLayoutVars>
          <dgm:chMax val="0"/>
          <dgm:chPref val="0"/>
          <dgm:bulletEnabled val="1"/>
        </dgm:presLayoutVars>
      </dgm:prSet>
      <dgm:spPr>
        <a:solidFill>
          <a:schemeClr val="accent6">
            <a:lumMod val="75000"/>
          </a:schemeClr>
        </a:solidFill>
      </dgm:spPr>
    </dgm:pt>
    <dgm:pt modelId="{5DF266F1-8140-4DBD-A7A8-643E93761845}" type="pres">
      <dgm:prSet presAssocID="{39AA6D55-CE82-4B0A-91C6-34ED025F35FE}" presName="parTxOnlySpace" presStyleCnt="0"/>
      <dgm:spPr/>
    </dgm:pt>
    <dgm:pt modelId="{F43F89D6-CF5D-4306-98F3-FA965E64A9EA}" type="pres">
      <dgm:prSet presAssocID="{8FAEEC7F-4E56-4CE5-B454-4EB8692CDA4C}" presName="parTxOnly" presStyleLbl="node1" presStyleIdx="2" presStyleCnt="5">
        <dgm:presLayoutVars>
          <dgm:chMax val="0"/>
          <dgm:chPref val="0"/>
          <dgm:bulletEnabled val="1"/>
        </dgm:presLayoutVars>
      </dgm:prSet>
      <dgm:spPr>
        <a:solidFill>
          <a:schemeClr val="accent6">
            <a:lumMod val="75000"/>
          </a:schemeClr>
        </a:solidFill>
      </dgm:spPr>
    </dgm:pt>
    <dgm:pt modelId="{12F59EF7-1639-4A69-AC9D-6F0D9D8B6D26}" type="pres">
      <dgm:prSet presAssocID="{1A5457DF-A0B4-47B8-B7D2-F178D5711563}" presName="parTxOnlySpace" presStyleCnt="0"/>
      <dgm:spPr/>
    </dgm:pt>
    <dgm:pt modelId="{D0CBE489-CBE4-4249-9535-C30D8FB48331}" type="pres">
      <dgm:prSet presAssocID="{8CE9F587-75F7-4C03-98FC-DAE278DBADB2}" presName="parTxOnly" presStyleLbl="node1" presStyleIdx="3" presStyleCnt="5">
        <dgm:presLayoutVars>
          <dgm:chMax val="0"/>
          <dgm:chPref val="0"/>
          <dgm:bulletEnabled val="1"/>
        </dgm:presLayoutVars>
      </dgm:prSet>
      <dgm:spPr>
        <a:solidFill>
          <a:schemeClr val="accent6">
            <a:lumMod val="75000"/>
          </a:schemeClr>
        </a:solidFill>
      </dgm:spPr>
    </dgm:pt>
    <dgm:pt modelId="{EB6AA8C2-0E23-439B-B3FF-4C03EEC7AB47}" type="pres">
      <dgm:prSet presAssocID="{A76C1D60-8873-4289-A599-6D29639AE9A5}" presName="parTxOnlySpace" presStyleCnt="0"/>
      <dgm:spPr/>
    </dgm:pt>
    <dgm:pt modelId="{D107D0A6-E081-4090-878D-4E2DA6D18D3C}" type="pres">
      <dgm:prSet presAssocID="{CCE18121-68B3-40B1-9DAA-B3D6D0AEE746}" presName="parTxOnly" presStyleLbl="node1" presStyleIdx="4" presStyleCnt="5">
        <dgm:presLayoutVars>
          <dgm:chMax val="0"/>
          <dgm:chPref val="0"/>
          <dgm:bulletEnabled val="1"/>
        </dgm:presLayoutVars>
      </dgm:prSet>
      <dgm:spPr>
        <a:solidFill>
          <a:schemeClr val="accent6">
            <a:lumMod val="75000"/>
          </a:schemeClr>
        </a:solidFill>
      </dgm:spPr>
    </dgm:pt>
  </dgm:ptLst>
  <dgm:cxnLst>
    <dgm:cxn modelId="{8193D660-D381-42F5-986B-200B01CAE025}" type="presOf" srcId="{595D9413-A7DA-4249-A217-0C1D849D32F6}" destId="{D9E71786-E052-4BBF-A7E3-9546D3D2EC3A}" srcOrd="0" destOrd="0" presId="urn:microsoft.com/office/officeart/2005/8/layout/chevron1"/>
    <dgm:cxn modelId="{3B4A1B7A-BBA6-4C52-8ACF-9ECFD769B4B0}" srcId="{595D9413-A7DA-4249-A217-0C1D849D32F6}" destId="{69EE6712-C28A-4F42-AC27-365276BC1063}" srcOrd="1" destOrd="0" parTransId="{09DD9F70-0CAF-4078-A766-25689098758E}" sibTransId="{39AA6D55-CE82-4B0A-91C6-34ED025F35FE}"/>
    <dgm:cxn modelId="{44DF4A91-5427-4FB3-A943-6D2656F3CBD3}" srcId="{595D9413-A7DA-4249-A217-0C1D849D32F6}" destId="{8FAEEC7F-4E56-4CE5-B454-4EB8692CDA4C}" srcOrd="2" destOrd="0" parTransId="{121747C3-05AF-44BC-A88C-19D3AC31A478}" sibTransId="{1A5457DF-A0B4-47B8-B7D2-F178D5711563}"/>
    <dgm:cxn modelId="{C17149A0-92B1-4168-8B76-1B01D8BB9C60}" type="presOf" srcId="{69EE6712-C28A-4F42-AC27-365276BC1063}" destId="{690C111C-E835-466A-83EB-49E73060CC3D}" srcOrd="0" destOrd="0" presId="urn:microsoft.com/office/officeart/2005/8/layout/chevron1"/>
    <dgm:cxn modelId="{74021CA1-6775-4CE9-AE98-424E6CA50559}" srcId="{595D9413-A7DA-4249-A217-0C1D849D32F6}" destId="{CF8DE4B1-8823-42EB-87FB-8255C310EA8D}" srcOrd="0" destOrd="0" parTransId="{12D5E14D-BB66-441B-AF92-3D8218E1748C}" sibTransId="{D5A1C609-8F06-4986-A22D-3BEE8B9D6B7C}"/>
    <dgm:cxn modelId="{6AF074AA-ADEE-4C9C-8799-4603A5CDB992}" type="presOf" srcId="{8CE9F587-75F7-4C03-98FC-DAE278DBADB2}" destId="{D0CBE489-CBE4-4249-9535-C30D8FB48331}" srcOrd="0" destOrd="0" presId="urn:microsoft.com/office/officeart/2005/8/layout/chevron1"/>
    <dgm:cxn modelId="{5119F2AC-3513-4260-A557-ED21F8B837A6}" srcId="{595D9413-A7DA-4249-A217-0C1D849D32F6}" destId="{CCE18121-68B3-40B1-9DAA-B3D6D0AEE746}" srcOrd="4" destOrd="0" parTransId="{678EF4C4-CECA-4E47-94B1-B8FF2C2F4218}" sibTransId="{DF956211-DA18-4271-AB4E-FA7A5101F3FA}"/>
    <dgm:cxn modelId="{C6A4D0B7-D080-4B19-8F00-B4A3F3106F69}" type="presOf" srcId="{CF8DE4B1-8823-42EB-87FB-8255C310EA8D}" destId="{23215D53-7400-4A49-BEA1-E2FD3A0268A8}" srcOrd="0" destOrd="0" presId="urn:microsoft.com/office/officeart/2005/8/layout/chevron1"/>
    <dgm:cxn modelId="{4C2930F0-4DF5-4A78-BA79-8853AF234A4B}" srcId="{595D9413-A7DA-4249-A217-0C1D849D32F6}" destId="{8CE9F587-75F7-4C03-98FC-DAE278DBADB2}" srcOrd="3" destOrd="0" parTransId="{6B29DCE9-2025-430E-B048-AD4D70A978AF}" sibTransId="{A76C1D60-8873-4289-A599-6D29639AE9A5}"/>
    <dgm:cxn modelId="{0CFA70F9-282C-4813-AE61-E13F50853F46}" type="presOf" srcId="{CCE18121-68B3-40B1-9DAA-B3D6D0AEE746}" destId="{D107D0A6-E081-4090-878D-4E2DA6D18D3C}" srcOrd="0" destOrd="0" presId="urn:microsoft.com/office/officeart/2005/8/layout/chevron1"/>
    <dgm:cxn modelId="{065C1EFC-C4A4-4C54-9B25-AFF966657658}" type="presOf" srcId="{8FAEEC7F-4E56-4CE5-B454-4EB8692CDA4C}" destId="{F43F89D6-CF5D-4306-98F3-FA965E64A9EA}" srcOrd="0" destOrd="0" presId="urn:microsoft.com/office/officeart/2005/8/layout/chevron1"/>
    <dgm:cxn modelId="{3E4EE171-DABF-4B69-9CFF-4DDBCAFCC083}" type="presParOf" srcId="{D9E71786-E052-4BBF-A7E3-9546D3D2EC3A}" destId="{23215D53-7400-4A49-BEA1-E2FD3A0268A8}" srcOrd="0" destOrd="0" presId="urn:microsoft.com/office/officeart/2005/8/layout/chevron1"/>
    <dgm:cxn modelId="{2790E7C7-AF27-40BA-B9E4-6892A6083FD7}" type="presParOf" srcId="{D9E71786-E052-4BBF-A7E3-9546D3D2EC3A}" destId="{22F01233-0F80-4993-A92F-8970841C386C}" srcOrd="1" destOrd="0" presId="urn:microsoft.com/office/officeart/2005/8/layout/chevron1"/>
    <dgm:cxn modelId="{FA13C95D-27E7-469F-8B9A-4F8C5DA57AC3}" type="presParOf" srcId="{D9E71786-E052-4BBF-A7E3-9546D3D2EC3A}" destId="{690C111C-E835-466A-83EB-49E73060CC3D}" srcOrd="2" destOrd="0" presId="urn:microsoft.com/office/officeart/2005/8/layout/chevron1"/>
    <dgm:cxn modelId="{85C9943A-DB1C-4D69-B57D-0E00D568093D}" type="presParOf" srcId="{D9E71786-E052-4BBF-A7E3-9546D3D2EC3A}" destId="{5DF266F1-8140-4DBD-A7A8-643E93761845}" srcOrd="3" destOrd="0" presId="urn:microsoft.com/office/officeart/2005/8/layout/chevron1"/>
    <dgm:cxn modelId="{9DF3EFCC-2CCB-46E9-9508-F0E6BC3C02D1}" type="presParOf" srcId="{D9E71786-E052-4BBF-A7E3-9546D3D2EC3A}" destId="{F43F89D6-CF5D-4306-98F3-FA965E64A9EA}" srcOrd="4" destOrd="0" presId="urn:microsoft.com/office/officeart/2005/8/layout/chevron1"/>
    <dgm:cxn modelId="{5F0BAD91-8814-45CB-A35F-76281DCF9B1D}" type="presParOf" srcId="{D9E71786-E052-4BBF-A7E3-9546D3D2EC3A}" destId="{12F59EF7-1639-4A69-AC9D-6F0D9D8B6D26}" srcOrd="5" destOrd="0" presId="urn:microsoft.com/office/officeart/2005/8/layout/chevron1"/>
    <dgm:cxn modelId="{60842001-CB84-446A-81CA-1531F47D0D4C}" type="presParOf" srcId="{D9E71786-E052-4BBF-A7E3-9546D3D2EC3A}" destId="{D0CBE489-CBE4-4249-9535-C30D8FB48331}" srcOrd="6" destOrd="0" presId="urn:microsoft.com/office/officeart/2005/8/layout/chevron1"/>
    <dgm:cxn modelId="{C7B56C74-F71B-4E42-8807-988A4A6C317C}" type="presParOf" srcId="{D9E71786-E052-4BBF-A7E3-9546D3D2EC3A}" destId="{EB6AA8C2-0E23-439B-B3FF-4C03EEC7AB47}" srcOrd="7" destOrd="0" presId="urn:microsoft.com/office/officeart/2005/8/layout/chevron1"/>
    <dgm:cxn modelId="{63556E26-058C-475E-AEF4-98F02DB31AA0}" type="presParOf" srcId="{D9E71786-E052-4BBF-A7E3-9546D3D2EC3A}" destId="{D107D0A6-E081-4090-878D-4E2DA6D18D3C}" srcOrd="8" destOrd="0" presId="urn:microsoft.com/office/officeart/2005/8/layout/chevron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17C103-ABD6-405C-8832-F88EE84F016A}" type="doc">
      <dgm:prSet loTypeId="urn:microsoft.com/office/officeart/2005/8/layout/chevron1" loCatId="process" qsTypeId="urn:microsoft.com/office/officeart/2005/8/quickstyle/simple1" qsCatId="simple" csTypeId="urn:microsoft.com/office/officeart/2005/8/colors/accent2_4" csCatId="accent2" phldr="1"/>
      <dgm:spPr/>
    </dgm:pt>
    <dgm:pt modelId="{17D6894C-5386-43E9-9528-A32CC7D19C2A}">
      <dgm:prSet phldrT="[Text]" custT="1"/>
      <dgm:spPr>
        <a:solidFill>
          <a:srgbClr val="DA1F28">
            <a:shade val="50000"/>
            <a:hueOff val="102686"/>
            <a:satOff val="-16390"/>
            <a:lumOff val="40226"/>
            <a:alphaOff val="0"/>
          </a:srgbClr>
        </a:solidFill>
        <a:ln w="25400" cap="flat" cmpd="sng" algn="ctr">
          <a:solidFill>
            <a:srgbClr val="FFFFFF">
              <a:hueOff val="0"/>
              <a:satOff val="0"/>
              <a:lumOff val="0"/>
              <a:alphaOff val="0"/>
            </a:srgbClr>
          </a:solidFill>
          <a:prstDash val="solid"/>
        </a:ln>
        <a:effectLst/>
      </dgm:spPr>
      <dgm:t>
        <a:bodyPr spcFirstLastPara="0" vert="horz" wrap="square" lIns="40005" tIns="13335" rIns="13335" bIns="13335" numCol="1" spcCol="1270" anchor="ctr" anchorCtr="0"/>
        <a:lstStyle/>
        <a:p>
          <a:pPr marL="0" lvl="0" indent="0" algn="ctr" defTabSz="444500">
            <a:lnSpc>
              <a:spcPct val="90000"/>
            </a:lnSpc>
            <a:spcBef>
              <a:spcPct val="0"/>
            </a:spcBef>
            <a:spcAft>
              <a:spcPct val="35000"/>
            </a:spcAft>
            <a:buNone/>
          </a:pPr>
          <a:r>
            <a:rPr lang="en-US" sz="1000" kern="1200">
              <a:solidFill>
                <a:srgbClr val="FFFFFF"/>
              </a:solidFill>
              <a:latin typeface="Arial"/>
              <a:ea typeface="+mn-ea"/>
              <a:cs typeface="+mn-cs"/>
            </a:rPr>
            <a:t>Marginal</a:t>
          </a:r>
        </a:p>
        <a:p>
          <a:pPr marL="0" lvl="0" indent="0" algn="ctr" defTabSz="444500">
            <a:lnSpc>
              <a:spcPct val="90000"/>
            </a:lnSpc>
            <a:spcBef>
              <a:spcPct val="0"/>
            </a:spcBef>
            <a:spcAft>
              <a:spcPct val="35000"/>
            </a:spcAft>
            <a:buNone/>
          </a:pPr>
          <a:r>
            <a:rPr lang="en-US" sz="1000" kern="1200">
              <a:solidFill>
                <a:srgbClr val="FFFFFF"/>
              </a:solidFill>
              <a:latin typeface="Arial"/>
              <a:ea typeface="+mn-ea"/>
              <a:cs typeface="+mn-cs"/>
            </a:rPr>
            <a:t>(0.959 Mil ton)</a:t>
          </a:r>
          <a:endParaRPr lang="en-IN" sz="1000" kern="1200">
            <a:solidFill>
              <a:srgbClr val="FFFFFF"/>
            </a:solidFill>
            <a:latin typeface="Arial"/>
            <a:ea typeface="+mn-ea"/>
            <a:cs typeface="+mn-cs"/>
          </a:endParaRPr>
        </a:p>
      </dgm:t>
    </dgm:pt>
    <dgm:pt modelId="{7BF56248-BD54-43D0-A46C-F542BC3B72FB}" type="parTrans" cxnId="{52BCC1A3-A95D-4372-B2EE-A6E7D129EC22}">
      <dgm:prSet/>
      <dgm:spPr/>
      <dgm:t>
        <a:bodyPr/>
        <a:lstStyle/>
        <a:p>
          <a:endParaRPr lang="en-IN"/>
        </a:p>
      </dgm:t>
    </dgm:pt>
    <dgm:pt modelId="{67924387-C568-4A1D-87A4-2452CE51C720}" type="sibTrans" cxnId="{52BCC1A3-A95D-4372-B2EE-A6E7D129EC22}">
      <dgm:prSet/>
      <dgm:spPr/>
      <dgm:t>
        <a:bodyPr/>
        <a:lstStyle/>
        <a:p>
          <a:endParaRPr lang="en-IN"/>
        </a:p>
      </dgm:t>
    </dgm:pt>
    <dgm:pt modelId="{B047617E-ACF9-46A0-9810-8E4FA2787E59}">
      <dgm:prSet phldrT="[Text]"/>
      <dgm:spPr>
        <a:solidFill>
          <a:srgbClr val="DA1F28">
            <a:shade val="50000"/>
            <a:hueOff val="102686"/>
            <a:satOff val="-16390"/>
            <a:lumOff val="40226"/>
            <a:alphaOff val="0"/>
          </a:srgbClr>
        </a:solidFill>
        <a:ln w="25400" cap="flat" cmpd="sng" algn="ctr">
          <a:solidFill>
            <a:srgbClr val="FFFFFF">
              <a:hueOff val="0"/>
              <a:satOff val="0"/>
              <a:lumOff val="0"/>
              <a:alphaOff val="0"/>
            </a:srgbClr>
          </a:solidFill>
          <a:prstDash val="solid"/>
        </a:ln>
        <a:effectLst/>
      </dgm:spPr>
      <dgm:t>
        <a:bodyPr spcFirstLastPara="0" vert="horz" wrap="square" lIns="40005" tIns="13335" rIns="13335" bIns="13335" numCol="1" spcCol="1270" anchor="ctr" anchorCtr="0"/>
        <a:lstStyle/>
        <a:p>
          <a:r>
            <a:rPr lang="en-US"/>
            <a:t>Small</a:t>
          </a:r>
          <a:br>
            <a:rPr lang="en-US"/>
          </a:br>
          <a:r>
            <a:rPr lang="en-US"/>
            <a:t>(1.831 Mil ton)</a:t>
          </a:r>
          <a:endParaRPr lang="en-IN"/>
        </a:p>
      </dgm:t>
    </dgm:pt>
    <dgm:pt modelId="{6C356C5E-9B72-4A2D-B593-3D11816CEC8C}" type="parTrans" cxnId="{005C6995-474E-4D36-8F9B-B10887AB31F0}">
      <dgm:prSet/>
      <dgm:spPr/>
      <dgm:t>
        <a:bodyPr/>
        <a:lstStyle/>
        <a:p>
          <a:endParaRPr lang="en-IN"/>
        </a:p>
      </dgm:t>
    </dgm:pt>
    <dgm:pt modelId="{21FEB3FE-841F-4F63-8EA5-E93AADB540AC}" type="sibTrans" cxnId="{005C6995-474E-4D36-8F9B-B10887AB31F0}">
      <dgm:prSet/>
      <dgm:spPr/>
      <dgm:t>
        <a:bodyPr/>
        <a:lstStyle/>
        <a:p>
          <a:endParaRPr lang="en-IN"/>
        </a:p>
      </dgm:t>
    </dgm:pt>
    <dgm:pt modelId="{32C066E0-18CA-4AD3-A61C-CADC33F07A5B}">
      <dgm:prSet phldrT="[Text]"/>
      <dgm:spPr/>
      <dgm:t>
        <a:bodyPr/>
        <a:lstStyle/>
        <a:p>
          <a:r>
            <a:rPr lang="en-US"/>
            <a:t>Semi-Medium</a:t>
          </a:r>
          <a:br>
            <a:rPr lang="en-US"/>
          </a:br>
          <a:r>
            <a:rPr lang="en-US"/>
            <a:t>(5.064 Mil ton)</a:t>
          </a:r>
          <a:endParaRPr lang="en-IN"/>
        </a:p>
      </dgm:t>
    </dgm:pt>
    <dgm:pt modelId="{A73871D1-C39F-4C6E-AD9E-E68ED80B0D5B}" type="parTrans" cxnId="{AD57EF25-710E-4D77-84C0-913111968434}">
      <dgm:prSet/>
      <dgm:spPr/>
      <dgm:t>
        <a:bodyPr/>
        <a:lstStyle/>
        <a:p>
          <a:endParaRPr lang="en-IN"/>
        </a:p>
      </dgm:t>
    </dgm:pt>
    <dgm:pt modelId="{1475BD39-AC17-4A15-8F0A-C645E78B1774}" type="sibTrans" cxnId="{AD57EF25-710E-4D77-84C0-913111968434}">
      <dgm:prSet/>
      <dgm:spPr/>
      <dgm:t>
        <a:bodyPr/>
        <a:lstStyle/>
        <a:p>
          <a:endParaRPr lang="en-IN"/>
        </a:p>
      </dgm:t>
    </dgm:pt>
    <dgm:pt modelId="{1670D704-7D3F-44FF-BE78-6A815E9A59F4}">
      <dgm:prSet phldrT="[Text]"/>
      <dgm:spPr>
        <a:solidFill>
          <a:srgbClr val="DA1F28">
            <a:shade val="50000"/>
            <a:hueOff val="51343"/>
            <a:satOff val="-8195"/>
            <a:lumOff val="20113"/>
            <a:alphaOff val="0"/>
          </a:srgbClr>
        </a:solidFill>
        <a:ln w="25400" cap="flat" cmpd="sng" algn="ctr">
          <a:solidFill>
            <a:srgbClr val="FFFFFF">
              <a:hueOff val="0"/>
              <a:satOff val="0"/>
              <a:lumOff val="0"/>
              <a:alphaOff val="0"/>
            </a:srgbClr>
          </a:solidFill>
          <a:prstDash val="solid"/>
        </a:ln>
        <a:effectLst/>
      </dgm:spPr>
      <dgm:t>
        <a:bodyPr spcFirstLastPara="0" vert="horz" wrap="square" lIns="40005" tIns="13335" rIns="13335" bIns="13335" numCol="1" spcCol="1270" anchor="ctr" anchorCtr="0"/>
        <a:lstStyle/>
        <a:p>
          <a:r>
            <a:rPr lang="en-US"/>
            <a:t>Medium</a:t>
          </a:r>
          <a:br>
            <a:rPr lang="en-US"/>
          </a:br>
          <a:r>
            <a:rPr lang="en-US"/>
            <a:t>(8.54 Mil ton)</a:t>
          </a:r>
          <a:endParaRPr lang="en-IN"/>
        </a:p>
      </dgm:t>
    </dgm:pt>
    <dgm:pt modelId="{F6EFB961-B3FF-42E0-983E-1D1E2A8009A7}" type="parTrans" cxnId="{4C52C157-CA25-4A2E-8176-A3D75B6D6082}">
      <dgm:prSet/>
      <dgm:spPr/>
      <dgm:t>
        <a:bodyPr/>
        <a:lstStyle/>
        <a:p>
          <a:endParaRPr lang="en-IN"/>
        </a:p>
      </dgm:t>
    </dgm:pt>
    <dgm:pt modelId="{B350BB24-B254-4ED9-ACE0-839D85E1DE11}" type="sibTrans" cxnId="{4C52C157-CA25-4A2E-8176-A3D75B6D6082}">
      <dgm:prSet/>
      <dgm:spPr/>
      <dgm:t>
        <a:bodyPr/>
        <a:lstStyle/>
        <a:p>
          <a:endParaRPr lang="en-IN"/>
        </a:p>
      </dgm:t>
    </dgm:pt>
    <dgm:pt modelId="{3E7EBAFB-C95F-4EF3-8AA0-140A95DBA49E}">
      <dgm:prSet phldrT="[Text]"/>
      <dgm:spPr/>
      <dgm:t>
        <a:bodyPr/>
        <a:lstStyle/>
        <a:p>
          <a:r>
            <a:rPr lang="en-US"/>
            <a:t>Large</a:t>
          </a:r>
          <a:br>
            <a:rPr lang="en-US"/>
          </a:br>
          <a:r>
            <a:rPr lang="en-US"/>
            <a:t>(4.55 Mil ton)</a:t>
          </a:r>
          <a:endParaRPr lang="en-IN"/>
        </a:p>
      </dgm:t>
    </dgm:pt>
    <dgm:pt modelId="{E46BE468-2135-41FF-8F31-65AADE1C499D}" type="parTrans" cxnId="{8E484661-4FCF-4443-9E15-0D57F2209652}">
      <dgm:prSet/>
      <dgm:spPr/>
      <dgm:t>
        <a:bodyPr/>
        <a:lstStyle/>
        <a:p>
          <a:endParaRPr lang="en-IN"/>
        </a:p>
      </dgm:t>
    </dgm:pt>
    <dgm:pt modelId="{AFA5219B-DF8D-4832-9EE6-9AD02DE7E315}" type="sibTrans" cxnId="{8E484661-4FCF-4443-9E15-0D57F2209652}">
      <dgm:prSet/>
      <dgm:spPr/>
      <dgm:t>
        <a:bodyPr/>
        <a:lstStyle/>
        <a:p>
          <a:endParaRPr lang="en-IN"/>
        </a:p>
      </dgm:t>
    </dgm:pt>
    <dgm:pt modelId="{173C28F5-2DC6-47C5-8CBB-9DC9B5D65313}" type="pres">
      <dgm:prSet presAssocID="{7D17C103-ABD6-405C-8832-F88EE84F016A}" presName="Name0" presStyleCnt="0">
        <dgm:presLayoutVars>
          <dgm:dir/>
          <dgm:animLvl val="lvl"/>
          <dgm:resizeHandles val="exact"/>
        </dgm:presLayoutVars>
      </dgm:prSet>
      <dgm:spPr/>
    </dgm:pt>
    <dgm:pt modelId="{4C3D238B-5908-4682-9508-AFCD6C4B4038}" type="pres">
      <dgm:prSet presAssocID="{17D6894C-5386-43E9-9528-A32CC7D19C2A}" presName="parTxOnly" presStyleLbl="node1" presStyleIdx="0" presStyleCnt="5">
        <dgm:presLayoutVars>
          <dgm:chMax val="0"/>
          <dgm:chPref val="0"/>
          <dgm:bulletEnabled val="1"/>
        </dgm:presLayoutVars>
      </dgm:prSet>
      <dgm:spPr>
        <a:xfrm>
          <a:off x="1592" y="478693"/>
          <a:ext cx="1416890" cy="566756"/>
        </a:xfrm>
        <a:prstGeom prst="chevron">
          <a:avLst/>
        </a:prstGeom>
        <a:solidFill>
          <a:schemeClr val="accent6">
            <a:lumMod val="60000"/>
            <a:lumOff val="40000"/>
          </a:schemeClr>
        </a:solidFill>
        <a:ln w="25400" cap="flat" cmpd="sng" algn="ctr">
          <a:solidFill>
            <a:srgbClr val="FFFFFF">
              <a:hueOff val="0"/>
              <a:satOff val="0"/>
              <a:lumOff val="0"/>
              <a:alphaOff val="0"/>
            </a:srgbClr>
          </a:solidFill>
          <a:prstDash val="solid"/>
        </a:ln>
        <a:effectLst/>
      </dgm:spPr>
    </dgm:pt>
    <dgm:pt modelId="{926D3066-E2A0-47EC-B33D-2AA18236697E}" type="pres">
      <dgm:prSet presAssocID="{67924387-C568-4A1D-87A4-2452CE51C720}" presName="parTxOnlySpace" presStyleCnt="0"/>
      <dgm:spPr/>
    </dgm:pt>
    <dgm:pt modelId="{1FF0B946-B156-4F2E-B35D-7B8207EB7E98}" type="pres">
      <dgm:prSet presAssocID="{B047617E-ACF9-46A0-9810-8E4FA2787E59}" presName="parTxOnly" presStyleLbl="node1" presStyleIdx="1" presStyleCnt="5">
        <dgm:presLayoutVars>
          <dgm:chMax val="0"/>
          <dgm:chPref val="0"/>
          <dgm:bulletEnabled val="1"/>
        </dgm:presLayoutVars>
      </dgm:prSet>
      <dgm:spPr>
        <a:xfrm>
          <a:off x="1276793" y="478693"/>
          <a:ext cx="1416890" cy="566756"/>
        </a:xfrm>
        <a:prstGeom prst="chevron">
          <a:avLst/>
        </a:prstGeom>
        <a:solidFill>
          <a:schemeClr val="accent6">
            <a:lumMod val="60000"/>
            <a:lumOff val="40000"/>
          </a:schemeClr>
        </a:solidFill>
        <a:ln w="25400" cap="flat" cmpd="sng" algn="ctr">
          <a:solidFill>
            <a:srgbClr val="FFFFFF">
              <a:hueOff val="0"/>
              <a:satOff val="0"/>
              <a:lumOff val="0"/>
              <a:alphaOff val="0"/>
            </a:srgbClr>
          </a:solidFill>
          <a:prstDash val="solid"/>
        </a:ln>
        <a:effectLst/>
      </dgm:spPr>
    </dgm:pt>
    <dgm:pt modelId="{5FCE9C3A-8144-472C-A587-65933BB63DD5}" type="pres">
      <dgm:prSet presAssocID="{21FEB3FE-841F-4F63-8EA5-E93AADB540AC}" presName="parTxOnlySpace" presStyleCnt="0"/>
      <dgm:spPr/>
    </dgm:pt>
    <dgm:pt modelId="{9A9FA0F8-A08D-4D73-821F-38EFB9C47D22}" type="pres">
      <dgm:prSet presAssocID="{32C066E0-18CA-4AD3-A61C-CADC33F07A5B}" presName="parTxOnly" presStyleLbl="node1" presStyleIdx="2" presStyleCnt="5">
        <dgm:presLayoutVars>
          <dgm:chMax val="0"/>
          <dgm:chPref val="0"/>
          <dgm:bulletEnabled val="1"/>
        </dgm:presLayoutVars>
      </dgm:prSet>
      <dgm:spPr>
        <a:solidFill>
          <a:schemeClr val="accent6">
            <a:lumMod val="60000"/>
            <a:lumOff val="40000"/>
          </a:schemeClr>
        </a:solidFill>
      </dgm:spPr>
    </dgm:pt>
    <dgm:pt modelId="{5D086551-12CA-428C-82DD-43ECCBE0D621}" type="pres">
      <dgm:prSet presAssocID="{1475BD39-AC17-4A15-8F0A-C645E78B1774}" presName="parTxOnlySpace" presStyleCnt="0"/>
      <dgm:spPr/>
    </dgm:pt>
    <dgm:pt modelId="{7C183EF8-FBB9-4826-A6DF-7AD27E71BD01}" type="pres">
      <dgm:prSet presAssocID="{1670D704-7D3F-44FF-BE78-6A815E9A59F4}" presName="parTxOnly" presStyleLbl="node1" presStyleIdx="3" presStyleCnt="5">
        <dgm:presLayoutVars>
          <dgm:chMax val="0"/>
          <dgm:chPref val="0"/>
          <dgm:bulletEnabled val="1"/>
        </dgm:presLayoutVars>
      </dgm:prSet>
      <dgm:spPr>
        <a:xfrm>
          <a:off x="3827196" y="478693"/>
          <a:ext cx="1416890" cy="566756"/>
        </a:xfrm>
        <a:prstGeom prst="chevron">
          <a:avLst/>
        </a:prstGeom>
        <a:solidFill>
          <a:schemeClr val="accent6"/>
        </a:solidFill>
        <a:ln w="25400" cap="flat" cmpd="sng" algn="ctr">
          <a:solidFill>
            <a:srgbClr val="FFFFFF">
              <a:hueOff val="0"/>
              <a:satOff val="0"/>
              <a:lumOff val="0"/>
              <a:alphaOff val="0"/>
            </a:srgbClr>
          </a:solidFill>
          <a:prstDash val="solid"/>
        </a:ln>
        <a:effectLst/>
      </dgm:spPr>
    </dgm:pt>
    <dgm:pt modelId="{CCB40779-FCF8-4E1B-9057-398CCECD8557}" type="pres">
      <dgm:prSet presAssocID="{B350BB24-B254-4ED9-ACE0-839D85E1DE11}" presName="parTxOnlySpace" presStyleCnt="0"/>
      <dgm:spPr/>
    </dgm:pt>
    <dgm:pt modelId="{5FBEDCF6-F1D4-4F97-8355-BC0831E016E7}" type="pres">
      <dgm:prSet presAssocID="{3E7EBAFB-C95F-4EF3-8AA0-140A95DBA49E}" presName="parTxOnly" presStyleLbl="node1" presStyleIdx="4" presStyleCnt="5">
        <dgm:presLayoutVars>
          <dgm:chMax val="0"/>
          <dgm:chPref val="0"/>
          <dgm:bulletEnabled val="1"/>
        </dgm:presLayoutVars>
      </dgm:prSet>
      <dgm:spPr>
        <a:solidFill>
          <a:schemeClr val="accent6"/>
        </a:solidFill>
      </dgm:spPr>
    </dgm:pt>
  </dgm:ptLst>
  <dgm:cxnLst>
    <dgm:cxn modelId="{A7683A1C-CBAC-47C3-BC0F-2EDCC8977215}" type="presOf" srcId="{32C066E0-18CA-4AD3-A61C-CADC33F07A5B}" destId="{9A9FA0F8-A08D-4D73-821F-38EFB9C47D22}" srcOrd="0" destOrd="0" presId="urn:microsoft.com/office/officeart/2005/8/layout/chevron1"/>
    <dgm:cxn modelId="{96DC6B22-D96B-4C55-A6F6-BC9036F73A95}" type="presOf" srcId="{B047617E-ACF9-46A0-9810-8E4FA2787E59}" destId="{1FF0B946-B156-4F2E-B35D-7B8207EB7E98}" srcOrd="0" destOrd="0" presId="urn:microsoft.com/office/officeart/2005/8/layout/chevron1"/>
    <dgm:cxn modelId="{AD57EF25-710E-4D77-84C0-913111968434}" srcId="{7D17C103-ABD6-405C-8832-F88EE84F016A}" destId="{32C066E0-18CA-4AD3-A61C-CADC33F07A5B}" srcOrd="2" destOrd="0" parTransId="{A73871D1-C39F-4C6E-AD9E-E68ED80B0D5B}" sibTransId="{1475BD39-AC17-4A15-8F0A-C645E78B1774}"/>
    <dgm:cxn modelId="{8E484661-4FCF-4443-9E15-0D57F2209652}" srcId="{7D17C103-ABD6-405C-8832-F88EE84F016A}" destId="{3E7EBAFB-C95F-4EF3-8AA0-140A95DBA49E}" srcOrd="4" destOrd="0" parTransId="{E46BE468-2135-41FF-8F31-65AADE1C499D}" sibTransId="{AFA5219B-DF8D-4832-9EE6-9AD02DE7E315}"/>
    <dgm:cxn modelId="{2877EE69-3C70-4B50-BD3D-9C5F17A4EE7E}" type="presOf" srcId="{3E7EBAFB-C95F-4EF3-8AA0-140A95DBA49E}" destId="{5FBEDCF6-F1D4-4F97-8355-BC0831E016E7}" srcOrd="0" destOrd="0" presId="urn:microsoft.com/office/officeart/2005/8/layout/chevron1"/>
    <dgm:cxn modelId="{4C52C157-CA25-4A2E-8176-A3D75B6D6082}" srcId="{7D17C103-ABD6-405C-8832-F88EE84F016A}" destId="{1670D704-7D3F-44FF-BE78-6A815E9A59F4}" srcOrd="3" destOrd="0" parTransId="{F6EFB961-B3FF-42E0-983E-1D1E2A8009A7}" sibTransId="{B350BB24-B254-4ED9-ACE0-839D85E1DE11}"/>
    <dgm:cxn modelId="{8A44327D-A466-454C-A409-412FA0B63FE9}" type="presOf" srcId="{1670D704-7D3F-44FF-BE78-6A815E9A59F4}" destId="{7C183EF8-FBB9-4826-A6DF-7AD27E71BD01}" srcOrd="0" destOrd="0" presId="urn:microsoft.com/office/officeart/2005/8/layout/chevron1"/>
    <dgm:cxn modelId="{005C6995-474E-4D36-8F9B-B10887AB31F0}" srcId="{7D17C103-ABD6-405C-8832-F88EE84F016A}" destId="{B047617E-ACF9-46A0-9810-8E4FA2787E59}" srcOrd="1" destOrd="0" parTransId="{6C356C5E-9B72-4A2D-B593-3D11816CEC8C}" sibTransId="{21FEB3FE-841F-4F63-8EA5-E93AADB540AC}"/>
    <dgm:cxn modelId="{52BCC1A3-A95D-4372-B2EE-A6E7D129EC22}" srcId="{7D17C103-ABD6-405C-8832-F88EE84F016A}" destId="{17D6894C-5386-43E9-9528-A32CC7D19C2A}" srcOrd="0" destOrd="0" parTransId="{7BF56248-BD54-43D0-A46C-F542BC3B72FB}" sibTransId="{67924387-C568-4A1D-87A4-2452CE51C720}"/>
    <dgm:cxn modelId="{512EF6D9-1779-448B-975F-94B5BE390211}" type="presOf" srcId="{17D6894C-5386-43E9-9528-A32CC7D19C2A}" destId="{4C3D238B-5908-4682-9508-AFCD6C4B4038}" srcOrd="0" destOrd="0" presId="urn:microsoft.com/office/officeart/2005/8/layout/chevron1"/>
    <dgm:cxn modelId="{5D8D22DC-3B0F-4798-84DA-CB8CFB17B93C}" type="presOf" srcId="{7D17C103-ABD6-405C-8832-F88EE84F016A}" destId="{173C28F5-2DC6-47C5-8CBB-9DC9B5D65313}" srcOrd="0" destOrd="0" presId="urn:microsoft.com/office/officeart/2005/8/layout/chevron1"/>
    <dgm:cxn modelId="{3762DACE-8367-40C7-979B-C7EE5ADF1CBA}" type="presParOf" srcId="{173C28F5-2DC6-47C5-8CBB-9DC9B5D65313}" destId="{4C3D238B-5908-4682-9508-AFCD6C4B4038}" srcOrd="0" destOrd="0" presId="urn:microsoft.com/office/officeart/2005/8/layout/chevron1"/>
    <dgm:cxn modelId="{A90322B6-AF10-42CF-BD53-A144D006703D}" type="presParOf" srcId="{173C28F5-2DC6-47C5-8CBB-9DC9B5D65313}" destId="{926D3066-E2A0-47EC-B33D-2AA18236697E}" srcOrd="1" destOrd="0" presId="urn:microsoft.com/office/officeart/2005/8/layout/chevron1"/>
    <dgm:cxn modelId="{E704B568-0203-44EC-89AD-C6B32B0E2C99}" type="presParOf" srcId="{173C28F5-2DC6-47C5-8CBB-9DC9B5D65313}" destId="{1FF0B946-B156-4F2E-B35D-7B8207EB7E98}" srcOrd="2" destOrd="0" presId="urn:microsoft.com/office/officeart/2005/8/layout/chevron1"/>
    <dgm:cxn modelId="{68FF055D-06B1-4857-A16F-BD2BE6E46F9C}" type="presParOf" srcId="{173C28F5-2DC6-47C5-8CBB-9DC9B5D65313}" destId="{5FCE9C3A-8144-472C-A587-65933BB63DD5}" srcOrd="3" destOrd="0" presId="urn:microsoft.com/office/officeart/2005/8/layout/chevron1"/>
    <dgm:cxn modelId="{1E7CC9B6-1234-47C3-91D6-A53C14CBC58A}" type="presParOf" srcId="{173C28F5-2DC6-47C5-8CBB-9DC9B5D65313}" destId="{9A9FA0F8-A08D-4D73-821F-38EFB9C47D22}" srcOrd="4" destOrd="0" presId="urn:microsoft.com/office/officeart/2005/8/layout/chevron1"/>
    <dgm:cxn modelId="{26BD5405-EEFA-4E20-9EB4-FC3C1BCE094D}" type="presParOf" srcId="{173C28F5-2DC6-47C5-8CBB-9DC9B5D65313}" destId="{5D086551-12CA-428C-82DD-43ECCBE0D621}" srcOrd="5" destOrd="0" presId="urn:microsoft.com/office/officeart/2005/8/layout/chevron1"/>
    <dgm:cxn modelId="{4D3A5A91-4DF4-4FE0-81A9-3081A85BDEBB}" type="presParOf" srcId="{173C28F5-2DC6-47C5-8CBB-9DC9B5D65313}" destId="{7C183EF8-FBB9-4826-A6DF-7AD27E71BD01}" srcOrd="6" destOrd="0" presId="urn:microsoft.com/office/officeart/2005/8/layout/chevron1"/>
    <dgm:cxn modelId="{8A5F8CC2-91CE-4F87-88F1-02D96047F9F8}" type="presParOf" srcId="{173C28F5-2DC6-47C5-8CBB-9DC9B5D65313}" destId="{CCB40779-FCF8-4E1B-9057-398CCECD8557}" srcOrd="7" destOrd="0" presId="urn:microsoft.com/office/officeart/2005/8/layout/chevron1"/>
    <dgm:cxn modelId="{45476B01-3463-4CAA-B460-6483B7D54D7F}" type="presParOf" srcId="{173C28F5-2DC6-47C5-8CBB-9DC9B5D65313}" destId="{5FBEDCF6-F1D4-4F97-8355-BC0831E016E7}"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F0FBF2-5F3D-496D-92BD-A6CACEE0355E}" type="doc">
      <dgm:prSet loTypeId="urn:microsoft.com/office/officeart/2005/8/layout/vList3" loCatId="list" qsTypeId="urn:microsoft.com/office/officeart/2005/8/quickstyle/simple1" qsCatId="simple" csTypeId="urn:microsoft.com/office/officeart/2005/8/colors/accent6_2" csCatId="accent6" phldr="1"/>
      <dgm:spPr/>
    </dgm:pt>
    <dgm:pt modelId="{89A614B1-CADE-4E06-B48F-61E84F8CC2B0}">
      <dgm:prSet phldrT="[Text]"/>
      <dgm:spPr/>
      <dgm:t>
        <a:bodyPr/>
        <a:lstStyle/>
        <a:p>
          <a:r>
            <a:rPr lang="en-IN"/>
            <a:t>163 total no. of Biomass power plants in India</a:t>
          </a:r>
        </a:p>
      </dgm:t>
    </dgm:pt>
    <dgm:pt modelId="{48A38B45-4399-4002-A332-D77FA15851E0}" type="parTrans" cxnId="{FA62055B-01C2-40D5-B086-87F90D5CBAC5}">
      <dgm:prSet/>
      <dgm:spPr/>
      <dgm:t>
        <a:bodyPr/>
        <a:lstStyle/>
        <a:p>
          <a:endParaRPr lang="en-IN"/>
        </a:p>
      </dgm:t>
    </dgm:pt>
    <dgm:pt modelId="{1F482966-0636-46A4-BA8D-0CD618AE52C0}" type="sibTrans" cxnId="{FA62055B-01C2-40D5-B086-87F90D5CBAC5}">
      <dgm:prSet/>
      <dgm:spPr/>
      <dgm:t>
        <a:bodyPr/>
        <a:lstStyle/>
        <a:p>
          <a:endParaRPr lang="en-IN"/>
        </a:p>
      </dgm:t>
    </dgm:pt>
    <dgm:pt modelId="{BCDC93F6-372F-4C27-847A-50B067C553B5}">
      <dgm:prSet phldrT="[Text]"/>
      <dgm:spPr/>
      <dgm:t>
        <a:bodyPr/>
        <a:lstStyle/>
        <a:p>
          <a:r>
            <a:rPr lang="en-IN"/>
            <a:t>Annual Energy Cost Savings of Rs. 787 lakh</a:t>
          </a:r>
        </a:p>
      </dgm:t>
    </dgm:pt>
    <dgm:pt modelId="{24391E0B-A674-43CD-AB93-5B50D3B15F74}" type="parTrans" cxnId="{8EF03194-EF10-4CFC-ADC1-FD584DF561D3}">
      <dgm:prSet/>
      <dgm:spPr/>
      <dgm:t>
        <a:bodyPr/>
        <a:lstStyle/>
        <a:p>
          <a:endParaRPr lang="en-IN"/>
        </a:p>
      </dgm:t>
    </dgm:pt>
    <dgm:pt modelId="{E58C1233-63EA-46C7-9DE6-FDA6079D80F1}" type="sibTrans" cxnId="{8EF03194-EF10-4CFC-ADC1-FD584DF561D3}">
      <dgm:prSet/>
      <dgm:spPr/>
      <dgm:t>
        <a:bodyPr/>
        <a:lstStyle/>
        <a:p>
          <a:endParaRPr lang="en-IN"/>
        </a:p>
      </dgm:t>
    </dgm:pt>
    <dgm:pt modelId="{B1364898-38A9-4A33-86C3-76268DF71CAA}">
      <dgm:prSet phldrT="[Text]"/>
      <dgm:spPr/>
      <dgm:t>
        <a:bodyPr/>
        <a:lstStyle/>
        <a:p>
          <a:r>
            <a:rPr lang="en-IN"/>
            <a:t>Annual Bio-Manure Production of 32582 tons</a:t>
          </a:r>
        </a:p>
      </dgm:t>
    </dgm:pt>
    <dgm:pt modelId="{02D20BA7-8A84-4D60-BD01-E71CF8CAD65E}" type="parTrans" cxnId="{B603C746-2437-49D8-861E-F56F8D84911D}">
      <dgm:prSet/>
      <dgm:spPr/>
      <dgm:t>
        <a:bodyPr/>
        <a:lstStyle/>
        <a:p>
          <a:endParaRPr lang="en-IN"/>
        </a:p>
      </dgm:t>
    </dgm:pt>
    <dgm:pt modelId="{D2CEC38E-DB9D-4105-9E91-79CDA2837561}" type="sibTrans" cxnId="{B603C746-2437-49D8-861E-F56F8D84911D}">
      <dgm:prSet/>
      <dgm:spPr/>
      <dgm:t>
        <a:bodyPr/>
        <a:lstStyle/>
        <a:p>
          <a:endParaRPr lang="en-IN"/>
        </a:p>
      </dgm:t>
    </dgm:pt>
    <dgm:pt modelId="{A134F55E-6EA7-4D1E-B454-ECFE43D065C4}">
      <dgm:prSet phldrT="[Text]"/>
      <dgm:spPr/>
      <dgm:t>
        <a:bodyPr/>
        <a:lstStyle/>
        <a:p>
          <a:r>
            <a:rPr lang="en-IN"/>
            <a:t>63438 (Direct) &amp; 56894 (In-direct) Man-hour employed</a:t>
          </a:r>
        </a:p>
      </dgm:t>
    </dgm:pt>
    <dgm:pt modelId="{FBFE515E-153A-4DB1-A3AF-F7D70A0FFF13}" type="parTrans" cxnId="{1A30FA0A-F7AE-4512-A46C-FB71577B44F2}">
      <dgm:prSet/>
      <dgm:spPr/>
      <dgm:t>
        <a:bodyPr/>
        <a:lstStyle/>
        <a:p>
          <a:endParaRPr lang="en-IN"/>
        </a:p>
      </dgm:t>
    </dgm:pt>
    <dgm:pt modelId="{3B6BBD5E-B018-4734-B1AE-5944EAA6208B}" type="sibTrans" cxnId="{1A30FA0A-F7AE-4512-A46C-FB71577B44F2}">
      <dgm:prSet/>
      <dgm:spPr/>
      <dgm:t>
        <a:bodyPr/>
        <a:lstStyle/>
        <a:p>
          <a:endParaRPr lang="en-IN"/>
        </a:p>
      </dgm:t>
    </dgm:pt>
    <dgm:pt modelId="{B9F2BFEA-2EE5-4F1D-9C8D-7C99EA7C16FB}">
      <dgm:prSet phldrT="[Text]"/>
      <dgm:spPr/>
      <dgm:t>
        <a:bodyPr/>
        <a:lstStyle/>
        <a:p>
          <a:r>
            <a:rPr lang="en-IN"/>
            <a:t>Annual CO2 saving of 9587 tons</a:t>
          </a:r>
        </a:p>
      </dgm:t>
    </dgm:pt>
    <dgm:pt modelId="{E950EC53-D74C-425A-A3FE-A91DF87DD6E1}" type="parTrans" cxnId="{7A122324-1E62-4E84-AFC4-6C217D1FF4CC}">
      <dgm:prSet/>
      <dgm:spPr/>
      <dgm:t>
        <a:bodyPr/>
        <a:lstStyle/>
        <a:p>
          <a:endParaRPr lang="en-IN"/>
        </a:p>
      </dgm:t>
    </dgm:pt>
    <dgm:pt modelId="{F92CD58F-5BDE-4F75-9377-993403D1CE3C}" type="sibTrans" cxnId="{7A122324-1E62-4E84-AFC4-6C217D1FF4CC}">
      <dgm:prSet/>
      <dgm:spPr/>
      <dgm:t>
        <a:bodyPr/>
        <a:lstStyle/>
        <a:p>
          <a:endParaRPr lang="en-IN"/>
        </a:p>
      </dgm:t>
    </dgm:pt>
    <dgm:pt modelId="{E4AF3E2C-1CA2-4DEC-BEF9-F7C77E12958D}" type="pres">
      <dgm:prSet presAssocID="{3DF0FBF2-5F3D-496D-92BD-A6CACEE0355E}" presName="linearFlow" presStyleCnt="0">
        <dgm:presLayoutVars>
          <dgm:dir/>
          <dgm:resizeHandles val="exact"/>
        </dgm:presLayoutVars>
      </dgm:prSet>
      <dgm:spPr/>
    </dgm:pt>
    <dgm:pt modelId="{42C54E61-51C4-4121-A3D8-FCA7C9C5A982}" type="pres">
      <dgm:prSet presAssocID="{89A614B1-CADE-4E06-B48F-61E84F8CC2B0}" presName="composite" presStyleCnt="0"/>
      <dgm:spPr/>
    </dgm:pt>
    <dgm:pt modelId="{5549802B-7163-4D61-9071-035417AB49B7}" type="pres">
      <dgm:prSet presAssocID="{89A614B1-CADE-4E06-B48F-61E84F8CC2B0}" presName="imgShp" presStyleLbl="fgImgPlace1" presStyleIdx="0" presStyleCnt="5"/>
      <dgm:spPr>
        <a:blipFill>
          <a:blip xmlns:r="http://schemas.openxmlformats.org/officeDocument/2006/relationships" r:embed="rId1">
            <a:extLst>
              <a:ext uri="{28A0092B-C50C-407E-A947-70E740481C1C}">
                <a14:useLocalDpi xmlns:a14="http://schemas.microsoft.com/office/drawing/2010/main" val="0"/>
              </a:ext>
            </a:extLst>
          </a:blip>
          <a:srcRect/>
          <a:stretch>
            <a:fillRect l="-63000" r="-63000"/>
          </a:stretch>
        </a:blipFill>
      </dgm:spPr>
    </dgm:pt>
    <dgm:pt modelId="{3440BDCF-7AA8-498D-AFD3-31A6B0D04062}" type="pres">
      <dgm:prSet presAssocID="{89A614B1-CADE-4E06-B48F-61E84F8CC2B0}" presName="txShp" presStyleLbl="node1" presStyleIdx="0" presStyleCnt="5">
        <dgm:presLayoutVars>
          <dgm:bulletEnabled val="1"/>
        </dgm:presLayoutVars>
      </dgm:prSet>
      <dgm:spPr/>
    </dgm:pt>
    <dgm:pt modelId="{6E038F90-D3B2-4F53-8512-6374931A5F2F}" type="pres">
      <dgm:prSet presAssocID="{1F482966-0636-46A4-BA8D-0CD618AE52C0}" presName="spacing" presStyleCnt="0"/>
      <dgm:spPr/>
    </dgm:pt>
    <dgm:pt modelId="{CED3F556-3801-4976-B220-8864D139F19C}" type="pres">
      <dgm:prSet presAssocID="{BCDC93F6-372F-4C27-847A-50B067C553B5}" presName="composite" presStyleCnt="0"/>
      <dgm:spPr/>
    </dgm:pt>
    <dgm:pt modelId="{28426F03-E59F-40D1-BB2C-CAF0A1E0DA73}" type="pres">
      <dgm:prSet presAssocID="{BCDC93F6-372F-4C27-847A-50B067C553B5}" presName="imgShp" presStyleLbl="fgImgPlace1" presStyleIdx="1" presStyleCnt="5"/>
      <dgm:spPr>
        <a:blipFill>
          <a:blip xmlns:r="http://schemas.openxmlformats.org/officeDocument/2006/relationships" r:embed="rId2">
            <a:extLst>
              <a:ext uri="{28A0092B-C50C-407E-A947-70E740481C1C}">
                <a14:useLocalDpi xmlns:a14="http://schemas.microsoft.com/office/drawing/2010/main" val="0"/>
              </a:ext>
            </a:extLst>
          </a:blip>
          <a:srcRect/>
          <a:stretch>
            <a:fillRect l="-63000" r="-63000"/>
          </a:stretch>
        </a:blipFill>
      </dgm:spPr>
    </dgm:pt>
    <dgm:pt modelId="{1A410AE2-EFD6-4164-84DD-0BB914DBC6BE}" type="pres">
      <dgm:prSet presAssocID="{BCDC93F6-372F-4C27-847A-50B067C553B5}" presName="txShp" presStyleLbl="node1" presStyleIdx="1" presStyleCnt="5">
        <dgm:presLayoutVars>
          <dgm:bulletEnabled val="1"/>
        </dgm:presLayoutVars>
      </dgm:prSet>
      <dgm:spPr/>
    </dgm:pt>
    <dgm:pt modelId="{012645F7-7E1C-4D0C-BE52-96400249C9E7}" type="pres">
      <dgm:prSet presAssocID="{E58C1233-63EA-46C7-9DE6-FDA6079D80F1}" presName="spacing" presStyleCnt="0"/>
      <dgm:spPr/>
    </dgm:pt>
    <dgm:pt modelId="{D94E1D8D-3DA8-45C8-833B-5ABE49E8D5D8}" type="pres">
      <dgm:prSet presAssocID="{B1364898-38A9-4A33-86C3-76268DF71CAA}" presName="composite" presStyleCnt="0"/>
      <dgm:spPr/>
    </dgm:pt>
    <dgm:pt modelId="{97768581-012A-4913-95F1-506D8EFEC254}" type="pres">
      <dgm:prSet presAssocID="{B1364898-38A9-4A33-86C3-76268DF71CAA}" presName="imgShp" presStyleLbl="fgImgPlace1" presStyleIdx="2" presStyleCnt="5"/>
      <dgm:spPr>
        <a:blipFill>
          <a:blip xmlns:r="http://schemas.openxmlformats.org/officeDocument/2006/relationships" r:embed="rId3">
            <a:extLst>
              <a:ext uri="{28A0092B-C50C-407E-A947-70E740481C1C}">
                <a14:useLocalDpi xmlns:a14="http://schemas.microsoft.com/office/drawing/2010/main" val="0"/>
              </a:ext>
            </a:extLst>
          </a:blip>
          <a:srcRect/>
          <a:stretch>
            <a:fillRect l="-81000" r="-81000"/>
          </a:stretch>
        </a:blipFill>
      </dgm:spPr>
    </dgm:pt>
    <dgm:pt modelId="{E82A677E-A9E7-4753-A9D1-EB3FC8B59736}" type="pres">
      <dgm:prSet presAssocID="{B1364898-38A9-4A33-86C3-76268DF71CAA}" presName="txShp" presStyleLbl="node1" presStyleIdx="2" presStyleCnt="5">
        <dgm:presLayoutVars>
          <dgm:bulletEnabled val="1"/>
        </dgm:presLayoutVars>
      </dgm:prSet>
      <dgm:spPr/>
    </dgm:pt>
    <dgm:pt modelId="{0C2C37F0-3D93-4A87-B157-00137E5B35D4}" type="pres">
      <dgm:prSet presAssocID="{D2CEC38E-DB9D-4105-9E91-79CDA2837561}" presName="spacing" presStyleCnt="0"/>
      <dgm:spPr/>
    </dgm:pt>
    <dgm:pt modelId="{D031439D-5B9E-4AB0-9224-74769EC63991}" type="pres">
      <dgm:prSet presAssocID="{B9F2BFEA-2EE5-4F1D-9C8D-7C99EA7C16FB}" presName="composite" presStyleCnt="0"/>
      <dgm:spPr/>
    </dgm:pt>
    <dgm:pt modelId="{485CB957-CD5C-4B5F-8DAE-02CC016F7477}" type="pres">
      <dgm:prSet presAssocID="{B9F2BFEA-2EE5-4F1D-9C8D-7C99EA7C16FB}" presName="imgShp" presStyleLbl="fgImgPlace1" presStyleIdx="3" presStyleCnt="5"/>
      <dgm:spPr>
        <a:blipFill>
          <a:blip xmlns:r="http://schemas.openxmlformats.org/officeDocument/2006/relationships" r:embed="rId4">
            <a:extLst>
              <a:ext uri="{28A0092B-C50C-407E-A947-70E740481C1C}">
                <a14:useLocalDpi xmlns:a14="http://schemas.microsoft.com/office/drawing/2010/main" val="0"/>
              </a:ext>
            </a:extLst>
          </a:blip>
          <a:srcRect/>
          <a:stretch>
            <a:fillRect l="-87000" r="-87000"/>
          </a:stretch>
        </a:blipFill>
      </dgm:spPr>
    </dgm:pt>
    <dgm:pt modelId="{E9DC5347-D88D-4879-B7F2-542A1FEB2A97}" type="pres">
      <dgm:prSet presAssocID="{B9F2BFEA-2EE5-4F1D-9C8D-7C99EA7C16FB}" presName="txShp" presStyleLbl="node1" presStyleIdx="3" presStyleCnt="5">
        <dgm:presLayoutVars>
          <dgm:bulletEnabled val="1"/>
        </dgm:presLayoutVars>
      </dgm:prSet>
      <dgm:spPr/>
    </dgm:pt>
    <dgm:pt modelId="{BE3B383D-3837-4A75-A774-6B88C87C2F5A}" type="pres">
      <dgm:prSet presAssocID="{F92CD58F-5BDE-4F75-9377-993403D1CE3C}" presName="spacing" presStyleCnt="0"/>
      <dgm:spPr/>
    </dgm:pt>
    <dgm:pt modelId="{F9CED9C8-1A21-451E-B441-A79C0FB4D821}" type="pres">
      <dgm:prSet presAssocID="{A134F55E-6EA7-4D1E-B454-ECFE43D065C4}" presName="composite" presStyleCnt="0"/>
      <dgm:spPr/>
    </dgm:pt>
    <dgm:pt modelId="{0A3322AD-A897-4AA7-ACCC-4BAAE2EC7C54}" type="pres">
      <dgm:prSet presAssocID="{A134F55E-6EA7-4D1E-B454-ECFE43D065C4}" presName="imgShp" presStyleLbl="fgImgPlace1" presStyleIdx="4" presStyleCnt="5"/>
      <dgm:spPr>
        <a:blipFill>
          <a:blip xmlns:r="http://schemas.openxmlformats.org/officeDocument/2006/relationships" r:embed="rId5">
            <a:extLst>
              <a:ext uri="{28A0092B-C50C-407E-A947-70E740481C1C}">
                <a14:useLocalDpi xmlns:a14="http://schemas.microsoft.com/office/drawing/2010/main" val="0"/>
              </a:ext>
            </a:extLst>
          </a:blip>
          <a:srcRect/>
          <a:stretch>
            <a:fillRect l="-63000" r="-63000"/>
          </a:stretch>
        </a:blipFill>
      </dgm:spPr>
    </dgm:pt>
    <dgm:pt modelId="{E2B4D66C-C8BB-419E-A5B4-8693BDC454E1}" type="pres">
      <dgm:prSet presAssocID="{A134F55E-6EA7-4D1E-B454-ECFE43D065C4}" presName="txShp" presStyleLbl="node1" presStyleIdx="4" presStyleCnt="5">
        <dgm:presLayoutVars>
          <dgm:bulletEnabled val="1"/>
        </dgm:presLayoutVars>
      </dgm:prSet>
      <dgm:spPr/>
    </dgm:pt>
  </dgm:ptLst>
  <dgm:cxnLst>
    <dgm:cxn modelId="{1A30FA0A-F7AE-4512-A46C-FB71577B44F2}" srcId="{3DF0FBF2-5F3D-496D-92BD-A6CACEE0355E}" destId="{A134F55E-6EA7-4D1E-B454-ECFE43D065C4}" srcOrd="4" destOrd="0" parTransId="{FBFE515E-153A-4DB1-A3AF-F7D70A0FFF13}" sibTransId="{3B6BBD5E-B018-4734-B1AE-5944EAA6208B}"/>
    <dgm:cxn modelId="{7A122324-1E62-4E84-AFC4-6C217D1FF4CC}" srcId="{3DF0FBF2-5F3D-496D-92BD-A6CACEE0355E}" destId="{B9F2BFEA-2EE5-4F1D-9C8D-7C99EA7C16FB}" srcOrd="3" destOrd="0" parTransId="{E950EC53-D74C-425A-A3FE-A91DF87DD6E1}" sibTransId="{F92CD58F-5BDE-4F75-9377-993403D1CE3C}"/>
    <dgm:cxn modelId="{FA62055B-01C2-40D5-B086-87F90D5CBAC5}" srcId="{3DF0FBF2-5F3D-496D-92BD-A6CACEE0355E}" destId="{89A614B1-CADE-4E06-B48F-61E84F8CC2B0}" srcOrd="0" destOrd="0" parTransId="{48A38B45-4399-4002-A332-D77FA15851E0}" sibTransId="{1F482966-0636-46A4-BA8D-0CD618AE52C0}"/>
    <dgm:cxn modelId="{1A549E60-2599-4601-B10A-A23B4F6681AB}" type="presOf" srcId="{3DF0FBF2-5F3D-496D-92BD-A6CACEE0355E}" destId="{E4AF3E2C-1CA2-4DEC-BEF9-F7C77E12958D}" srcOrd="0" destOrd="0" presId="urn:microsoft.com/office/officeart/2005/8/layout/vList3"/>
    <dgm:cxn modelId="{B603C746-2437-49D8-861E-F56F8D84911D}" srcId="{3DF0FBF2-5F3D-496D-92BD-A6CACEE0355E}" destId="{B1364898-38A9-4A33-86C3-76268DF71CAA}" srcOrd="2" destOrd="0" parTransId="{02D20BA7-8A84-4D60-BD01-E71CF8CAD65E}" sibTransId="{D2CEC38E-DB9D-4105-9E91-79CDA2837561}"/>
    <dgm:cxn modelId="{92B0C355-C458-441A-AAF9-CB3FA7603207}" type="presOf" srcId="{89A614B1-CADE-4E06-B48F-61E84F8CC2B0}" destId="{3440BDCF-7AA8-498D-AFD3-31A6B0D04062}" srcOrd="0" destOrd="0" presId="urn:microsoft.com/office/officeart/2005/8/layout/vList3"/>
    <dgm:cxn modelId="{6CC52757-EE87-46EA-96EF-642599CDFBFF}" type="presOf" srcId="{BCDC93F6-372F-4C27-847A-50B067C553B5}" destId="{1A410AE2-EFD6-4164-84DD-0BB914DBC6BE}" srcOrd="0" destOrd="0" presId="urn:microsoft.com/office/officeart/2005/8/layout/vList3"/>
    <dgm:cxn modelId="{31BF3C7E-BC96-4259-A447-C6B938ED36BD}" type="presOf" srcId="{A134F55E-6EA7-4D1E-B454-ECFE43D065C4}" destId="{E2B4D66C-C8BB-419E-A5B4-8693BDC454E1}" srcOrd="0" destOrd="0" presId="urn:microsoft.com/office/officeart/2005/8/layout/vList3"/>
    <dgm:cxn modelId="{98E00F8B-F8E9-4E0D-85E6-25727AFDBA6F}" type="presOf" srcId="{B1364898-38A9-4A33-86C3-76268DF71CAA}" destId="{E82A677E-A9E7-4753-A9D1-EB3FC8B59736}" srcOrd="0" destOrd="0" presId="urn:microsoft.com/office/officeart/2005/8/layout/vList3"/>
    <dgm:cxn modelId="{7992638B-968D-429E-85D7-A36609FC7C60}" type="presOf" srcId="{B9F2BFEA-2EE5-4F1D-9C8D-7C99EA7C16FB}" destId="{E9DC5347-D88D-4879-B7F2-542A1FEB2A97}" srcOrd="0" destOrd="0" presId="urn:microsoft.com/office/officeart/2005/8/layout/vList3"/>
    <dgm:cxn modelId="{8EF03194-EF10-4CFC-ADC1-FD584DF561D3}" srcId="{3DF0FBF2-5F3D-496D-92BD-A6CACEE0355E}" destId="{BCDC93F6-372F-4C27-847A-50B067C553B5}" srcOrd="1" destOrd="0" parTransId="{24391E0B-A674-43CD-AB93-5B50D3B15F74}" sibTransId="{E58C1233-63EA-46C7-9DE6-FDA6079D80F1}"/>
    <dgm:cxn modelId="{F8323AAE-891D-406C-88F8-16400D2686C2}" type="presParOf" srcId="{E4AF3E2C-1CA2-4DEC-BEF9-F7C77E12958D}" destId="{42C54E61-51C4-4121-A3D8-FCA7C9C5A982}" srcOrd="0" destOrd="0" presId="urn:microsoft.com/office/officeart/2005/8/layout/vList3"/>
    <dgm:cxn modelId="{04B915F0-9FA6-41D4-8E55-FDC975C6CA56}" type="presParOf" srcId="{42C54E61-51C4-4121-A3D8-FCA7C9C5A982}" destId="{5549802B-7163-4D61-9071-035417AB49B7}" srcOrd="0" destOrd="0" presId="urn:microsoft.com/office/officeart/2005/8/layout/vList3"/>
    <dgm:cxn modelId="{30AD8008-504E-4159-9F9D-02E0A13381A1}" type="presParOf" srcId="{42C54E61-51C4-4121-A3D8-FCA7C9C5A982}" destId="{3440BDCF-7AA8-498D-AFD3-31A6B0D04062}" srcOrd="1" destOrd="0" presId="urn:microsoft.com/office/officeart/2005/8/layout/vList3"/>
    <dgm:cxn modelId="{7C3B3EE7-25B2-46AD-A9B9-C870199C1694}" type="presParOf" srcId="{E4AF3E2C-1CA2-4DEC-BEF9-F7C77E12958D}" destId="{6E038F90-D3B2-4F53-8512-6374931A5F2F}" srcOrd="1" destOrd="0" presId="urn:microsoft.com/office/officeart/2005/8/layout/vList3"/>
    <dgm:cxn modelId="{7ACCB01A-BD11-4C53-8D6E-C83823C9D997}" type="presParOf" srcId="{E4AF3E2C-1CA2-4DEC-BEF9-F7C77E12958D}" destId="{CED3F556-3801-4976-B220-8864D139F19C}" srcOrd="2" destOrd="0" presId="urn:microsoft.com/office/officeart/2005/8/layout/vList3"/>
    <dgm:cxn modelId="{9196E2A9-60F5-4BBC-98AF-313D6189C162}" type="presParOf" srcId="{CED3F556-3801-4976-B220-8864D139F19C}" destId="{28426F03-E59F-40D1-BB2C-CAF0A1E0DA73}" srcOrd="0" destOrd="0" presId="urn:microsoft.com/office/officeart/2005/8/layout/vList3"/>
    <dgm:cxn modelId="{D5856EBA-2B61-4361-9E96-100D95D8C755}" type="presParOf" srcId="{CED3F556-3801-4976-B220-8864D139F19C}" destId="{1A410AE2-EFD6-4164-84DD-0BB914DBC6BE}" srcOrd="1" destOrd="0" presId="urn:microsoft.com/office/officeart/2005/8/layout/vList3"/>
    <dgm:cxn modelId="{9654EA1C-9044-433A-955E-3D10F5E176C8}" type="presParOf" srcId="{E4AF3E2C-1CA2-4DEC-BEF9-F7C77E12958D}" destId="{012645F7-7E1C-4D0C-BE52-96400249C9E7}" srcOrd="3" destOrd="0" presId="urn:microsoft.com/office/officeart/2005/8/layout/vList3"/>
    <dgm:cxn modelId="{F026144D-F056-4DB8-8561-83A17912E59C}" type="presParOf" srcId="{E4AF3E2C-1CA2-4DEC-BEF9-F7C77E12958D}" destId="{D94E1D8D-3DA8-45C8-833B-5ABE49E8D5D8}" srcOrd="4" destOrd="0" presId="urn:microsoft.com/office/officeart/2005/8/layout/vList3"/>
    <dgm:cxn modelId="{82D72D95-640B-49BE-82A5-E774797E8913}" type="presParOf" srcId="{D94E1D8D-3DA8-45C8-833B-5ABE49E8D5D8}" destId="{97768581-012A-4913-95F1-506D8EFEC254}" srcOrd="0" destOrd="0" presId="urn:microsoft.com/office/officeart/2005/8/layout/vList3"/>
    <dgm:cxn modelId="{FDC5DB6A-504B-47B9-8882-A6B6F800F314}" type="presParOf" srcId="{D94E1D8D-3DA8-45C8-833B-5ABE49E8D5D8}" destId="{E82A677E-A9E7-4753-A9D1-EB3FC8B59736}" srcOrd="1" destOrd="0" presId="urn:microsoft.com/office/officeart/2005/8/layout/vList3"/>
    <dgm:cxn modelId="{091D9E23-324E-43A6-9107-DB33AF27C819}" type="presParOf" srcId="{E4AF3E2C-1CA2-4DEC-BEF9-F7C77E12958D}" destId="{0C2C37F0-3D93-4A87-B157-00137E5B35D4}" srcOrd="5" destOrd="0" presId="urn:microsoft.com/office/officeart/2005/8/layout/vList3"/>
    <dgm:cxn modelId="{6F4B48F9-3317-4E1E-8897-5861FA08334E}" type="presParOf" srcId="{E4AF3E2C-1CA2-4DEC-BEF9-F7C77E12958D}" destId="{D031439D-5B9E-4AB0-9224-74769EC63991}" srcOrd="6" destOrd="0" presId="urn:microsoft.com/office/officeart/2005/8/layout/vList3"/>
    <dgm:cxn modelId="{F1D221BB-2DB7-4FE5-9204-55CF3129A818}" type="presParOf" srcId="{D031439D-5B9E-4AB0-9224-74769EC63991}" destId="{485CB957-CD5C-4B5F-8DAE-02CC016F7477}" srcOrd="0" destOrd="0" presId="urn:microsoft.com/office/officeart/2005/8/layout/vList3"/>
    <dgm:cxn modelId="{B04BA4C4-5305-4F21-BAC6-75485E57A2CF}" type="presParOf" srcId="{D031439D-5B9E-4AB0-9224-74769EC63991}" destId="{E9DC5347-D88D-4879-B7F2-542A1FEB2A97}" srcOrd="1" destOrd="0" presId="urn:microsoft.com/office/officeart/2005/8/layout/vList3"/>
    <dgm:cxn modelId="{7C3A13C4-9B02-4CF7-ABD2-BB5AF8FDBD57}" type="presParOf" srcId="{E4AF3E2C-1CA2-4DEC-BEF9-F7C77E12958D}" destId="{BE3B383D-3837-4A75-A774-6B88C87C2F5A}" srcOrd="7" destOrd="0" presId="urn:microsoft.com/office/officeart/2005/8/layout/vList3"/>
    <dgm:cxn modelId="{6BFCEFA2-9D2B-4563-841B-ED76801AE2AA}" type="presParOf" srcId="{E4AF3E2C-1CA2-4DEC-BEF9-F7C77E12958D}" destId="{F9CED9C8-1A21-451E-B441-A79C0FB4D821}" srcOrd="8" destOrd="0" presId="urn:microsoft.com/office/officeart/2005/8/layout/vList3"/>
    <dgm:cxn modelId="{13B5193B-7016-45EA-ADEF-A46441A0AB32}" type="presParOf" srcId="{F9CED9C8-1A21-451E-B441-A79C0FB4D821}" destId="{0A3322AD-A897-4AA7-ACCC-4BAAE2EC7C54}" srcOrd="0" destOrd="0" presId="urn:microsoft.com/office/officeart/2005/8/layout/vList3"/>
    <dgm:cxn modelId="{8FFE9BF0-9226-4BE2-B0AA-88C9FAC50E77}" type="presParOf" srcId="{F9CED9C8-1A21-451E-B441-A79C0FB4D821}" destId="{E2B4D66C-C8BB-419E-A5B4-8693BDC454E1}"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92D1A-6B4C-453D-8D46-1E47615FA55D}">
      <dsp:nvSpPr>
        <dsp:cNvPr id="0" name=""/>
        <dsp:cNvSpPr/>
      </dsp:nvSpPr>
      <dsp:spPr>
        <a:xfrm>
          <a:off x="3880" y="129928"/>
          <a:ext cx="1675969" cy="1251075"/>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41910" rIns="13970" bIns="13970" numCol="1" spcCol="1270" anchor="t" anchorCtr="0">
          <a:noAutofit/>
        </a:bodyPr>
        <a:lstStyle/>
        <a:p>
          <a:pPr marL="57150" lvl="1" indent="-57150" algn="l" defTabSz="488950">
            <a:lnSpc>
              <a:spcPct val="90000"/>
            </a:lnSpc>
            <a:spcBef>
              <a:spcPct val="0"/>
            </a:spcBef>
            <a:spcAft>
              <a:spcPct val="15000"/>
            </a:spcAft>
            <a:buChar char="•"/>
          </a:pPr>
          <a:r>
            <a:rPr lang="en-IN" sz="1100" kern="1200"/>
            <a:t>States </a:t>
          </a:r>
          <a:r>
            <a:rPr lang="en-US" sz="1100" kern="1200"/>
            <a:t>working on a plan to procure paddy straw at MSP</a:t>
          </a:r>
          <a:endParaRPr lang="en-IN" sz="1100" kern="1200"/>
        </a:p>
        <a:p>
          <a:pPr marL="57150" lvl="1" indent="-57150" algn="l" defTabSz="488950">
            <a:lnSpc>
              <a:spcPct val="90000"/>
            </a:lnSpc>
            <a:spcBef>
              <a:spcPct val="0"/>
            </a:spcBef>
            <a:spcAft>
              <a:spcPct val="15000"/>
            </a:spcAft>
            <a:buChar char="•"/>
          </a:pPr>
          <a:r>
            <a:rPr lang="en-IN" sz="1100" kern="1200" dirty="0"/>
            <a:t>Government schemes &amp; subsidies of </a:t>
          </a:r>
          <a:r>
            <a:rPr lang="en-US" sz="1100" kern="1200" dirty="0"/>
            <a:t>Rs. 40 Lakhs/MW (MAX 5 Crores per project)</a:t>
          </a:r>
          <a:endParaRPr lang="en-IN" sz="1100" kern="1200" dirty="0"/>
        </a:p>
      </dsp:txBody>
      <dsp:txXfrm>
        <a:off x="33194" y="159242"/>
        <a:ext cx="1617341" cy="1221761"/>
      </dsp:txXfrm>
    </dsp:sp>
    <dsp:sp modelId="{C3B1FF32-774F-4B78-84C7-F6DAF9D1F5B3}">
      <dsp:nvSpPr>
        <dsp:cNvPr id="0" name=""/>
        <dsp:cNvSpPr/>
      </dsp:nvSpPr>
      <dsp:spPr>
        <a:xfrm>
          <a:off x="3880" y="1381003"/>
          <a:ext cx="1675969" cy="537962"/>
        </a:xfrm>
        <a:prstGeom prst="rect">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0" rIns="13970" bIns="0" numCol="1" spcCol="1270" anchor="ctr" anchorCtr="0">
          <a:noAutofit/>
        </a:bodyPr>
        <a:lstStyle/>
        <a:p>
          <a:pPr marL="0" lvl="0" indent="0" algn="l" defTabSz="488950">
            <a:lnSpc>
              <a:spcPct val="90000"/>
            </a:lnSpc>
            <a:spcBef>
              <a:spcPct val="0"/>
            </a:spcBef>
            <a:spcAft>
              <a:spcPct val="35000"/>
            </a:spcAft>
            <a:buNone/>
          </a:pPr>
          <a:r>
            <a:rPr lang="en-IN" sz="1100" kern="1200"/>
            <a:t>POLITICAL</a:t>
          </a:r>
        </a:p>
      </dsp:txBody>
      <dsp:txXfrm>
        <a:off x="3880" y="1381003"/>
        <a:ext cx="1180260" cy="537962"/>
      </dsp:txXfrm>
    </dsp:sp>
    <dsp:sp modelId="{148B519D-BA34-4AE6-B7DB-39978A7DDDD9}">
      <dsp:nvSpPr>
        <dsp:cNvPr id="0" name=""/>
        <dsp:cNvSpPr/>
      </dsp:nvSpPr>
      <dsp:spPr>
        <a:xfrm>
          <a:off x="1231550" y="1466454"/>
          <a:ext cx="586589" cy="58658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5B9805-B87D-47F2-9FCB-36F78B91AE10}">
      <dsp:nvSpPr>
        <dsp:cNvPr id="0" name=""/>
        <dsp:cNvSpPr/>
      </dsp:nvSpPr>
      <dsp:spPr>
        <a:xfrm>
          <a:off x="1963464" y="129928"/>
          <a:ext cx="1675969" cy="1251075"/>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41910" rIns="13970" bIns="13970" numCol="1" spcCol="1270" anchor="t" anchorCtr="0">
          <a:noAutofit/>
        </a:bodyPr>
        <a:lstStyle/>
        <a:p>
          <a:pPr marL="57150" lvl="1" indent="-57150" algn="l" defTabSz="488950">
            <a:lnSpc>
              <a:spcPct val="90000"/>
            </a:lnSpc>
            <a:spcBef>
              <a:spcPct val="0"/>
            </a:spcBef>
            <a:spcAft>
              <a:spcPct val="15000"/>
            </a:spcAft>
            <a:buChar char="•"/>
          </a:pPr>
          <a:r>
            <a:rPr lang="en-IN" sz="1100" kern="1200" dirty="0"/>
            <a:t>Growing energy and agriculture markets both will help RNG industry to grow with it.</a:t>
          </a:r>
        </a:p>
        <a:p>
          <a:pPr marL="57150" lvl="1" indent="-57150" algn="l" defTabSz="488950">
            <a:lnSpc>
              <a:spcPct val="90000"/>
            </a:lnSpc>
            <a:spcBef>
              <a:spcPct val="0"/>
            </a:spcBef>
            <a:spcAft>
              <a:spcPct val="15000"/>
            </a:spcAft>
            <a:buChar char="•"/>
          </a:pPr>
          <a:r>
            <a:rPr lang="en-IN" sz="1100" kern="1200" dirty="0"/>
            <a:t> Organised bio-mass industry is leading to higher economic growth.</a:t>
          </a:r>
        </a:p>
      </dsp:txBody>
      <dsp:txXfrm>
        <a:off x="1992778" y="159242"/>
        <a:ext cx="1617341" cy="1221761"/>
      </dsp:txXfrm>
    </dsp:sp>
    <dsp:sp modelId="{7D0669F7-883D-48CF-AAAC-41283A949275}">
      <dsp:nvSpPr>
        <dsp:cNvPr id="0" name=""/>
        <dsp:cNvSpPr/>
      </dsp:nvSpPr>
      <dsp:spPr>
        <a:xfrm>
          <a:off x="1963464" y="1381003"/>
          <a:ext cx="1675969" cy="537962"/>
        </a:xfrm>
        <a:prstGeom prst="rect">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0" rIns="13970" bIns="0" numCol="1" spcCol="1270" anchor="ctr" anchorCtr="0">
          <a:noAutofit/>
        </a:bodyPr>
        <a:lstStyle/>
        <a:p>
          <a:pPr marL="0" lvl="0" indent="0" algn="l" defTabSz="488950">
            <a:lnSpc>
              <a:spcPct val="90000"/>
            </a:lnSpc>
            <a:spcBef>
              <a:spcPct val="0"/>
            </a:spcBef>
            <a:spcAft>
              <a:spcPct val="35000"/>
            </a:spcAft>
            <a:buNone/>
          </a:pPr>
          <a:r>
            <a:rPr lang="en-IN" sz="1100" kern="1200"/>
            <a:t>ECONOMIC</a:t>
          </a:r>
        </a:p>
      </dsp:txBody>
      <dsp:txXfrm>
        <a:off x="1963464" y="1381003"/>
        <a:ext cx="1180260" cy="537962"/>
      </dsp:txXfrm>
    </dsp:sp>
    <dsp:sp modelId="{BD1F537E-4826-4610-84E4-6670644ABDF0}">
      <dsp:nvSpPr>
        <dsp:cNvPr id="0" name=""/>
        <dsp:cNvSpPr/>
      </dsp:nvSpPr>
      <dsp:spPr>
        <a:xfrm>
          <a:off x="3191134" y="1466454"/>
          <a:ext cx="586589" cy="58658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1000" r="-21000"/>
          </a:stretch>
        </a:blip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2A76306-4A74-460D-BAAB-D37FD442CF35}">
      <dsp:nvSpPr>
        <dsp:cNvPr id="0" name=""/>
        <dsp:cNvSpPr/>
      </dsp:nvSpPr>
      <dsp:spPr>
        <a:xfrm>
          <a:off x="3923047" y="129928"/>
          <a:ext cx="1675969" cy="1251075"/>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41910" rIns="13970" bIns="13970" numCol="1" spcCol="1270" anchor="t" anchorCtr="0">
          <a:noAutofit/>
        </a:bodyPr>
        <a:lstStyle/>
        <a:p>
          <a:pPr marL="57150" lvl="1" indent="-57150" algn="l" defTabSz="488950">
            <a:lnSpc>
              <a:spcPct val="90000"/>
            </a:lnSpc>
            <a:spcBef>
              <a:spcPct val="0"/>
            </a:spcBef>
            <a:spcAft>
              <a:spcPct val="15000"/>
            </a:spcAft>
            <a:buChar char="•"/>
          </a:pPr>
          <a:r>
            <a:rPr lang="en-US" sz="1100" kern="1200" dirty="0"/>
            <a:t>Burning of paddy being seen as a negative is growing in the masses</a:t>
          </a:r>
          <a:endParaRPr lang="en-IN" sz="1100" kern="1200" dirty="0"/>
        </a:p>
        <a:p>
          <a:pPr marL="57150" lvl="1" indent="-57150" algn="l" defTabSz="488950">
            <a:lnSpc>
              <a:spcPct val="90000"/>
            </a:lnSpc>
            <a:spcBef>
              <a:spcPct val="0"/>
            </a:spcBef>
            <a:spcAft>
              <a:spcPct val="15000"/>
            </a:spcAft>
            <a:buChar char="•"/>
          </a:pPr>
          <a:r>
            <a:rPr lang="en-US" sz="1100" kern="1200" dirty="0"/>
            <a:t> Improved awareness among farmers regarding benefits of paddy straw.</a:t>
          </a:r>
          <a:endParaRPr lang="en-IN" sz="1100" kern="1200" dirty="0"/>
        </a:p>
      </dsp:txBody>
      <dsp:txXfrm>
        <a:off x="3952361" y="159242"/>
        <a:ext cx="1617341" cy="1221761"/>
      </dsp:txXfrm>
    </dsp:sp>
    <dsp:sp modelId="{0D8E29C5-794A-4F15-B821-C7C6E07D65C6}">
      <dsp:nvSpPr>
        <dsp:cNvPr id="0" name=""/>
        <dsp:cNvSpPr/>
      </dsp:nvSpPr>
      <dsp:spPr>
        <a:xfrm>
          <a:off x="3923047" y="1381003"/>
          <a:ext cx="1675969" cy="537962"/>
        </a:xfrm>
        <a:prstGeom prst="rect">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0" rIns="13970" bIns="0" numCol="1" spcCol="1270" anchor="ctr" anchorCtr="0">
          <a:noAutofit/>
        </a:bodyPr>
        <a:lstStyle/>
        <a:p>
          <a:pPr marL="0" lvl="0" indent="0" algn="l" defTabSz="488950">
            <a:lnSpc>
              <a:spcPct val="90000"/>
            </a:lnSpc>
            <a:spcBef>
              <a:spcPct val="0"/>
            </a:spcBef>
            <a:spcAft>
              <a:spcPct val="35000"/>
            </a:spcAft>
            <a:buNone/>
          </a:pPr>
          <a:r>
            <a:rPr lang="en-IN" sz="1100" kern="1200"/>
            <a:t>SOCIAL</a:t>
          </a:r>
        </a:p>
      </dsp:txBody>
      <dsp:txXfrm>
        <a:off x="3923047" y="1381003"/>
        <a:ext cx="1180260" cy="537962"/>
      </dsp:txXfrm>
    </dsp:sp>
    <dsp:sp modelId="{997CAE0C-0684-4AB4-9EEC-B5B9191951C3}">
      <dsp:nvSpPr>
        <dsp:cNvPr id="0" name=""/>
        <dsp:cNvSpPr/>
      </dsp:nvSpPr>
      <dsp:spPr>
        <a:xfrm>
          <a:off x="5150718" y="1466454"/>
          <a:ext cx="586589" cy="586589"/>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7000" r="-17000"/>
          </a:stretch>
        </a:blip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1C1A6E4-16FE-463D-A1A0-6480EDED9DFB}">
      <dsp:nvSpPr>
        <dsp:cNvPr id="0" name=""/>
        <dsp:cNvSpPr/>
      </dsp:nvSpPr>
      <dsp:spPr>
        <a:xfrm>
          <a:off x="3880" y="2343569"/>
          <a:ext cx="1675969" cy="1251075"/>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a:t>The growth in technology is quite slow with respect to other renewable energy technologies  even though it is in nascent phase</a:t>
          </a:r>
          <a:endParaRPr lang="en-IN" sz="1200" kern="1200" dirty="0"/>
        </a:p>
      </dsp:txBody>
      <dsp:txXfrm>
        <a:off x="33194" y="2372883"/>
        <a:ext cx="1617341" cy="1221761"/>
      </dsp:txXfrm>
    </dsp:sp>
    <dsp:sp modelId="{3894E165-32BD-4B42-8899-19CEAAF9B634}">
      <dsp:nvSpPr>
        <dsp:cNvPr id="0" name=""/>
        <dsp:cNvSpPr/>
      </dsp:nvSpPr>
      <dsp:spPr>
        <a:xfrm>
          <a:off x="3880" y="3594645"/>
          <a:ext cx="1675969" cy="537962"/>
        </a:xfrm>
        <a:prstGeom prst="rect">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0" rIns="13970" bIns="0" numCol="1" spcCol="1270" anchor="ctr" anchorCtr="0">
          <a:noAutofit/>
        </a:bodyPr>
        <a:lstStyle/>
        <a:p>
          <a:pPr marL="0" lvl="0" indent="0" algn="l" defTabSz="488950">
            <a:lnSpc>
              <a:spcPct val="90000"/>
            </a:lnSpc>
            <a:spcBef>
              <a:spcPct val="0"/>
            </a:spcBef>
            <a:spcAft>
              <a:spcPct val="35000"/>
            </a:spcAft>
            <a:buNone/>
          </a:pPr>
          <a:r>
            <a:rPr lang="en-IN" sz="1100" kern="1200"/>
            <a:t>TECHNOLOGY</a:t>
          </a:r>
        </a:p>
      </dsp:txBody>
      <dsp:txXfrm>
        <a:off x="3880" y="3594645"/>
        <a:ext cx="1180260" cy="537962"/>
      </dsp:txXfrm>
    </dsp:sp>
    <dsp:sp modelId="{C093E06D-5834-4428-AFE5-E6093CAC79ED}">
      <dsp:nvSpPr>
        <dsp:cNvPr id="0" name=""/>
        <dsp:cNvSpPr/>
      </dsp:nvSpPr>
      <dsp:spPr>
        <a:xfrm>
          <a:off x="1231550" y="3680095"/>
          <a:ext cx="586589" cy="586589"/>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70000" r="-70000"/>
          </a:stretch>
        </a:blip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305B4D-2CA5-41B9-8E13-CB039E60A2BC}">
      <dsp:nvSpPr>
        <dsp:cNvPr id="0" name=""/>
        <dsp:cNvSpPr/>
      </dsp:nvSpPr>
      <dsp:spPr>
        <a:xfrm>
          <a:off x="1963464" y="2343569"/>
          <a:ext cx="1675969" cy="1251075"/>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41910" rIns="13970" bIns="13970" numCol="1" spcCol="1270" anchor="t" anchorCtr="0">
          <a:noAutofit/>
        </a:bodyPr>
        <a:lstStyle/>
        <a:p>
          <a:pPr marL="57150" lvl="1" indent="-57150" algn="l" defTabSz="488950">
            <a:lnSpc>
              <a:spcPct val="90000"/>
            </a:lnSpc>
            <a:spcBef>
              <a:spcPct val="0"/>
            </a:spcBef>
            <a:spcAft>
              <a:spcPct val="15000"/>
            </a:spcAft>
            <a:buChar char="•"/>
          </a:pPr>
          <a:r>
            <a:rPr lang="en-US" sz="1100" kern="1200"/>
            <a:t>Punjab Preservation of Subsoil Act (2009) – reduced time duration to 15-20 days</a:t>
          </a:r>
          <a:endParaRPr lang="en-IN" sz="1100" kern="1200"/>
        </a:p>
        <a:p>
          <a:pPr marL="57150" lvl="1" indent="-57150" algn="l" defTabSz="488950">
            <a:lnSpc>
              <a:spcPct val="90000"/>
            </a:lnSpc>
            <a:spcBef>
              <a:spcPct val="0"/>
            </a:spcBef>
            <a:spcAft>
              <a:spcPct val="15000"/>
            </a:spcAft>
            <a:buChar char="•"/>
          </a:pPr>
          <a:r>
            <a:rPr lang="en-IN" sz="1100" kern="1200" dirty="0"/>
            <a:t>Penalty of Rs 2500/acre for stubble burning in Punjab and Haryana</a:t>
          </a:r>
        </a:p>
      </dsp:txBody>
      <dsp:txXfrm>
        <a:off x="1992778" y="2372883"/>
        <a:ext cx="1617341" cy="1221761"/>
      </dsp:txXfrm>
    </dsp:sp>
    <dsp:sp modelId="{17506CE3-CDA8-41A6-892E-74BCCF2EBE61}">
      <dsp:nvSpPr>
        <dsp:cNvPr id="0" name=""/>
        <dsp:cNvSpPr/>
      </dsp:nvSpPr>
      <dsp:spPr>
        <a:xfrm>
          <a:off x="1963464" y="3594645"/>
          <a:ext cx="1675969" cy="537962"/>
        </a:xfrm>
        <a:prstGeom prst="rect">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0" rIns="13970" bIns="0" numCol="1" spcCol="1270" anchor="ctr" anchorCtr="0">
          <a:noAutofit/>
        </a:bodyPr>
        <a:lstStyle/>
        <a:p>
          <a:pPr marL="0" lvl="0" indent="0" algn="l" defTabSz="488950">
            <a:lnSpc>
              <a:spcPct val="90000"/>
            </a:lnSpc>
            <a:spcBef>
              <a:spcPct val="0"/>
            </a:spcBef>
            <a:spcAft>
              <a:spcPct val="35000"/>
            </a:spcAft>
            <a:buNone/>
          </a:pPr>
          <a:r>
            <a:rPr lang="en-IN" sz="1100" kern="1200"/>
            <a:t>LEGAL</a:t>
          </a:r>
        </a:p>
      </dsp:txBody>
      <dsp:txXfrm>
        <a:off x="1963464" y="3594645"/>
        <a:ext cx="1180260" cy="537962"/>
      </dsp:txXfrm>
    </dsp:sp>
    <dsp:sp modelId="{76AEF225-B319-4C41-A33A-D1EFDC710D28}">
      <dsp:nvSpPr>
        <dsp:cNvPr id="0" name=""/>
        <dsp:cNvSpPr/>
      </dsp:nvSpPr>
      <dsp:spPr>
        <a:xfrm>
          <a:off x="3191134" y="3680095"/>
          <a:ext cx="586589" cy="586589"/>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25000" r="-25000"/>
          </a:stretch>
        </a:blip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2DB43D-FC95-417B-961D-D39FA176640B}">
      <dsp:nvSpPr>
        <dsp:cNvPr id="0" name=""/>
        <dsp:cNvSpPr/>
      </dsp:nvSpPr>
      <dsp:spPr>
        <a:xfrm>
          <a:off x="3923047" y="2343569"/>
          <a:ext cx="1675969" cy="1251075"/>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41910" rIns="13970" bIns="13970" numCol="1" spcCol="1270" anchor="t" anchorCtr="0">
          <a:noAutofit/>
        </a:bodyPr>
        <a:lstStyle/>
        <a:p>
          <a:pPr marL="57150" lvl="1" indent="-57150" algn="l" defTabSz="488950">
            <a:lnSpc>
              <a:spcPct val="90000"/>
            </a:lnSpc>
            <a:spcBef>
              <a:spcPct val="0"/>
            </a:spcBef>
            <a:spcAft>
              <a:spcPct val="15000"/>
            </a:spcAft>
            <a:buChar char="•"/>
          </a:pPr>
          <a:r>
            <a:rPr lang="en-IN" sz="1100" kern="1200" dirty="0"/>
            <a:t>Stubble burning leads to destruction of organic matters &amp; creatures in fertile soil.</a:t>
          </a:r>
        </a:p>
        <a:p>
          <a:pPr marL="57150" lvl="1" indent="-57150" algn="l" defTabSz="488950">
            <a:lnSpc>
              <a:spcPct val="90000"/>
            </a:lnSpc>
            <a:spcBef>
              <a:spcPct val="0"/>
            </a:spcBef>
            <a:spcAft>
              <a:spcPct val="15000"/>
            </a:spcAft>
            <a:buChar char="•"/>
          </a:pPr>
          <a:r>
            <a:rPr lang="en-IN" sz="1100" kern="1200" dirty="0"/>
            <a:t>Paddy Crop failure via pest attack, fire, rain, or other natural causes</a:t>
          </a:r>
        </a:p>
      </dsp:txBody>
      <dsp:txXfrm>
        <a:off x="3952361" y="2372883"/>
        <a:ext cx="1617341" cy="1221761"/>
      </dsp:txXfrm>
    </dsp:sp>
    <dsp:sp modelId="{8B743D72-E344-4C82-A6DC-97D31A4836C9}">
      <dsp:nvSpPr>
        <dsp:cNvPr id="0" name=""/>
        <dsp:cNvSpPr/>
      </dsp:nvSpPr>
      <dsp:spPr>
        <a:xfrm>
          <a:off x="3923047" y="3594645"/>
          <a:ext cx="1675969" cy="537962"/>
        </a:xfrm>
        <a:prstGeom prst="rect">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41910" tIns="0" rIns="13970" bIns="0" numCol="1" spcCol="1270" anchor="ctr" anchorCtr="0">
          <a:noAutofit/>
        </a:bodyPr>
        <a:lstStyle/>
        <a:p>
          <a:pPr marL="0" lvl="0" indent="0" algn="l" defTabSz="488950">
            <a:lnSpc>
              <a:spcPct val="90000"/>
            </a:lnSpc>
            <a:spcBef>
              <a:spcPct val="0"/>
            </a:spcBef>
            <a:spcAft>
              <a:spcPct val="35000"/>
            </a:spcAft>
            <a:buNone/>
          </a:pPr>
          <a:r>
            <a:rPr lang="en-IN" sz="1100" kern="1200"/>
            <a:t>ENVIRONMENT</a:t>
          </a:r>
        </a:p>
      </dsp:txBody>
      <dsp:txXfrm>
        <a:off x="3923047" y="3594645"/>
        <a:ext cx="1180260" cy="537962"/>
      </dsp:txXfrm>
    </dsp:sp>
    <dsp:sp modelId="{F64DC3EF-A30C-48C2-A009-B8003F6157A2}">
      <dsp:nvSpPr>
        <dsp:cNvPr id="0" name=""/>
        <dsp:cNvSpPr/>
      </dsp:nvSpPr>
      <dsp:spPr>
        <a:xfrm>
          <a:off x="5150718" y="3680095"/>
          <a:ext cx="586589" cy="586589"/>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25000" r="-25000"/>
          </a:stretch>
        </a:blip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19C7D1-D710-43B5-B23C-107E36572380}">
      <dsp:nvSpPr>
        <dsp:cNvPr id="0" name=""/>
        <dsp:cNvSpPr/>
      </dsp:nvSpPr>
      <dsp:spPr>
        <a:xfrm>
          <a:off x="2802" y="97329"/>
          <a:ext cx="1189322" cy="510597"/>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64008" rIns="64008" bIns="34290" numCol="1" spcCol="1270" anchor="t" anchorCtr="0">
          <a:noAutofit/>
        </a:bodyPr>
        <a:lstStyle/>
        <a:p>
          <a:pPr marL="0" lvl="0" indent="0" algn="l" defTabSz="400050">
            <a:lnSpc>
              <a:spcPct val="90000"/>
            </a:lnSpc>
            <a:spcBef>
              <a:spcPct val="0"/>
            </a:spcBef>
            <a:spcAft>
              <a:spcPct val="35000"/>
            </a:spcAft>
            <a:buNone/>
          </a:pPr>
          <a:r>
            <a:rPr lang="en-IN" sz="900" kern="1200"/>
            <a:t>JUNE-JULY</a:t>
          </a:r>
        </a:p>
      </dsp:txBody>
      <dsp:txXfrm>
        <a:off x="2802" y="97329"/>
        <a:ext cx="1189322" cy="340398"/>
      </dsp:txXfrm>
    </dsp:sp>
    <dsp:sp modelId="{E5722852-0AFC-4708-8986-94DA5D7B0DC3}">
      <dsp:nvSpPr>
        <dsp:cNvPr id="0" name=""/>
        <dsp:cNvSpPr/>
      </dsp:nvSpPr>
      <dsp:spPr>
        <a:xfrm>
          <a:off x="246398" y="437728"/>
          <a:ext cx="1189322" cy="648000"/>
        </a:xfrm>
        <a:prstGeom prst="roundRect">
          <a:avLst>
            <a:gd name="adj" fmla="val 10000"/>
          </a:avLst>
        </a:prstGeom>
        <a:solidFill>
          <a:schemeClr val="accent6">
            <a:lumMod val="60000"/>
            <a:lumOff val="4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IN" sz="900" kern="1200">
              <a:solidFill>
                <a:schemeClr val="bg1"/>
              </a:solidFill>
            </a:rPr>
            <a:t>Biomass supply agreements between firm &amp; source </a:t>
          </a:r>
        </a:p>
      </dsp:txBody>
      <dsp:txXfrm>
        <a:off x="265377" y="456707"/>
        <a:ext cx="1151364" cy="610042"/>
      </dsp:txXfrm>
    </dsp:sp>
    <dsp:sp modelId="{1F35E853-7723-4B24-A6BD-EDDB44A194E4}">
      <dsp:nvSpPr>
        <dsp:cNvPr id="0" name=""/>
        <dsp:cNvSpPr/>
      </dsp:nvSpPr>
      <dsp:spPr>
        <a:xfrm>
          <a:off x="1372421" y="119475"/>
          <a:ext cx="382229" cy="296106"/>
        </a:xfrm>
        <a:prstGeom prst="rightArrow">
          <a:avLst>
            <a:gd name="adj1" fmla="val 60000"/>
            <a:gd name="adj2" fmla="val 50000"/>
          </a:avLst>
        </a:prstGeom>
        <a:solidFill>
          <a:schemeClr val="tx1">
            <a:lumMod val="50000"/>
            <a:lumOff val="50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1372421" y="178696"/>
        <a:ext cx="293397" cy="177664"/>
      </dsp:txXfrm>
    </dsp:sp>
    <dsp:sp modelId="{5C1C68B1-17DA-424C-9281-4B464EBBFDE2}">
      <dsp:nvSpPr>
        <dsp:cNvPr id="0" name=""/>
        <dsp:cNvSpPr/>
      </dsp:nvSpPr>
      <dsp:spPr>
        <a:xfrm>
          <a:off x="1913312" y="97329"/>
          <a:ext cx="1189322" cy="510597"/>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64008" rIns="64008" bIns="34290" numCol="1" spcCol="1270" anchor="t" anchorCtr="0">
          <a:noAutofit/>
        </a:bodyPr>
        <a:lstStyle/>
        <a:p>
          <a:pPr marL="0" lvl="0" indent="0" algn="l" defTabSz="400050">
            <a:lnSpc>
              <a:spcPct val="90000"/>
            </a:lnSpc>
            <a:spcBef>
              <a:spcPct val="0"/>
            </a:spcBef>
            <a:spcAft>
              <a:spcPct val="35000"/>
            </a:spcAft>
            <a:buNone/>
          </a:pPr>
          <a:r>
            <a:rPr lang="en-IN" sz="900" kern="1200"/>
            <a:t>JULY-AUGUST</a:t>
          </a:r>
        </a:p>
      </dsp:txBody>
      <dsp:txXfrm>
        <a:off x="1913312" y="97329"/>
        <a:ext cx="1189322" cy="340398"/>
      </dsp:txXfrm>
    </dsp:sp>
    <dsp:sp modelId="{C97FCAC6-F9EB-419D-BE78-D698092B8810}">
      <dsp:nvSpPr>
        <dsp:cNvPr id="0" name=""/>
        <dsp:cNvSpPr/>
      </dsp:nvSpPr>
      <dsp:spPr>
        <a:xfrm>
          <a:off x="2156908" y="437728"/>
          <a:ext cx="1189322" cy="648000"/>
        </a:xfrm>
        <a:prstGeom prst="roundRect">
          <a:avLst>
            <a:gd name="adj" fmla="val 10000"/>
          </a:avLst>
        </a:prstGeom>
        <a:solidFill>
          <a:schemeClr val="accent6">
            <a:lumMod val="60000"/>
            <a:lumOff val="4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IN" sz="900" kern="1200">
              <a:solidFill>
                <a:schemeClr val="bg1"/>
              </a:solidFill>
            </a:rPr>
            <a:t>Field visits &amp; quality checks of the residue</a:t>
          </a:r>
        </a:p>
      </dsp:txBody>
      <dsp:txXfrm>
        <a:off x="2175887" y="456707"/>
        <a:ext cx="1151364" cy="610042"/>
      </dsp:txXfrm>
    </dsp:sp>
    <dsp:sp modelId="{6C729D8F-66EF-44DB-89A7-1B106DFCF394}">
      <dsp:nvSpPr>
        <dsp:cNvPr id="0" name=""/>
        <dsp:cNvSpPr/>
      </dsp:nvSpPr>
      <dsp:spPr>
        <a:xfrm>
          <a:off x="3282931" y="119475"/>
          <a:ext cx="382229" cy="296106"/>
        </a:xfrm>
        <a:prstGeom prst="rightArrow">
          <a:avLst>
            <a:gd name="adj1" fmla="val 60000"/>
            <a:gd name="adj2" fmla="val 50000"/>
          </a:avLst>
        </a:prstGeom>
        <a:solidFill>
          <a:schemeClr val="tx1">
            <a:lumMod val="50000"/>
            <a:lumOff val="50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3282931" y="178696"/>
        <a:ext cx="293397" cy="177664"/>
      </dsp:txXfrm>
    </dsp:sp>
    <dsp:sp modelId="{9EB4AAA1-7DDE-49DD-B5FC-3D41D275AEE5}">
      <dsp:nvSpPr>
        <dsp:cNvPr id="0" name=""/>
        <dsp:cNvSpPr/>
      </dsp:nvSpPr>
      <dsp:spPr>
        <a:xfrm>
          <a:off x="3823822" y="97329"/>
          <a:ext cx="1189322" cy="510597"/>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64008" rIns="64008" bIns="34290" numCol="1" spcCol="1270" anchor="t" anchorCtr="0">
          <a:noAutofit/>
        </a:bodyPr>
        <a:lstStyle/>
        <a:p>
          <a:pPr marL="0" lvl="0" indent="0" algn="l" defTabSz="400050">
            <a:lnSpc>
              <a:spcPct val="90000"/>
            </a:lnSpc>
            <a:spcBef>
              <a:spcPct val="0"/>
            </a:spcBef>
            <a:spcAft>
              <a:spcPct val="35000"/>
            </a:spcAft>
            <a:buNone/>
          </a:pPr>
          <a:r>
            <a:rPr lang="en-IN" sz="900" kern="1200"/>
            <a:t>SEPTEMBER</a:t>
          </a:r>
        </a:p>
      </dsp:txBody>
      <dsp:txXfrm>
        <a:off x="3823822" y="97329"/>
        <a:ext cx="1189322" cy="340398"/>
      </dsp:txXfrm>
    </dsp:sp>
    <dsp:sp modelId="{F4D17884-984C-4A7C-9613-E3E07EEE6E7D}">
      <dsp:nvSpPr>
        <dsp:cNvPr id="0" name=""/>
        <dsp:cNvSpPr/>
      </dsp:nvSpPr>
      <dsp:spPr>
        <a:xfrm>
          <a:off x="4067418" y="437728"/>
          <a:ext cx="1189322" cy="648000"/>
        </a:xfrm>
        <a:prstGeom prst="roundRect">
          <a:avLst>
            <a:gd name="adj" fmla="val 10000"/>
          </a:avLst>
        </a:prstGeom>
        <a:solidFill>
          <a:schemeClr val="accent6">
            <a:lumMod val="60000"/>
            <a:lumOff val="4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IN" sz="900" kern="1200">
              <a:solidFill>
                <a:schemeClr val="bg1"/>
              </a:solidFill>
            </a:rPr>
            <a:t>Awareness campaigns to avoid burning of residue</a:t>
          </a:r>
        </a:p>
      </dsp:txBody>
      <dsp:txXfrm>
        <a:off x="4086397" y="456707"/>
        <a:ext cx="1151364" cy="610042"/>
      </dsp:txXfrm>
    </dsp:sp>
    <dsp:sp modelId="{755E2BB4-EB73-4B97-BA50-3A13AAF8355F}">
      <dsp:nvSpPr>
        <dsp:cNvPr id="0" name=""/>
        <dsp:cNvSpPr/>
      </dsp:nvSpPr>
      <dsp:spPr>
        <a:xfrm>
          <a:off x="5193441" y="119475"/>
          <a:ext cx="382229" cy="296106"/>
        </a:xfrm>
        <a:prstGeom prst="rightArrow">
          <a:avLst>
            <a:gd name="adj1" fmla="val 60000"/>
            <a:gd name="adj2" fmla="val 50000"/>
          </a:avLst>
        </a:prstGeom>
        <a:solidFill>
          <a:schemeClr val="tx1">
            <a:lumMod val="50000"/>
            <a:lumOff val="50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5193441" y="178696"/>
        <a:ext cx="293397" cy="177664"/>
      </dsp:txXfrm>
    </dsp:sp>
    <dsp:sp modelId="{4E3AA481-C837-4C50-ACA3-59EA27552E8F}">
      <dsp:nvSpPr>
        <dsp:cNvPr id="0" name=""/>
        <dsp:cNvSpPr/>
      </dsp:nvSpPr>
      <dsp:spPr>
        <a:xfrm>
          <a:off x="5734331" y="97329"/>
          <a:ext cx="1189322" cy="510597"/>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64008" rIns="64008" bIns="34290" numCol="1" spcCol="1270" anchor="t" anchorCtr="0">
          <a:noAutofit/>
        </a:bodyPr>
        <a:lstStyle/>
        <a:p>
          <a:pPr marL="0" lvl="0" indent="0" algn="l" defTabSz="400050">
            <a:lnSpc>
              <a:spcPct val="90000"/>
            </a:lnSpc>
            <a:spcBef>
              <a:spcPct val="0"/>
            </a:spcBef>
            <a:spcAft>
              <a:spcPct val="35000"/>
            </a:spcAft>
            <a:buNone/>
          </a:pPr>
          <a:r>
            <a:rPr lang="en-IN" sz="900" kern="1200"/>
            <a:t>MID-OCTOBER</a:t>
          </a:r>
        </a:p>
      </dsp:txBody>
      <dsp:txXfrm>
        <a:off x="5734331" y="97329"/>
        <a:ext cx="1189322" cy="340398"/>
      </dsp:txXfrm>
    </dsp:sp>
    <dsp:sp modelId="{6E88BB55-728B-4D54-976C-184071DC12D5}">
      <dsp:nvSpPr>
        <dsp:cNvPr id="0" name=""/>
        <dsp:cNvSpPr/>
      </dsp:nvSpPr>
      <dsp:spPr>
        <a:xfrm>
          <a:off x="5977927" y="437728"/>
          <a:ext cx="1189322" cy="648000"/>
        </a:xfrm>
        <a:prstGeom prst="roundRect">
          <a:avLst>
            <a:gd name="adj" fmla="val 10000"/>
          </a:avLst>
        </a:prstGeom>
        <a:solidFill>
          <a:schemeClr val="accent6">
            <a:lumMod val="60000"/>
            <a:lumOff val="4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IN" sz="900" kern="1200">
              <a:solidFill>
                <a:schemeClr val="bg1"/>
              </a:solidFill>
            </a:rPr>
            <a:t>Straw collection begins (just after paddy harvesting)</a:t>
          </a:r>
        </a:p>
      </dsp:txBody>
      <dsp:txXfrm>
        <a:off x="5996906" y="456707"/>
        <a:ext cx="1151364" cy="610042"/>
      </dsp:txXfrm>
    </dsp:sp>
    <dsp:sp modelId="{6B41C731-0624-496B-9C8A-A80B73E6E80B}">
      <dsp:nvSpPr>
        <dsp:cNvPr id="0" name=""/>
        <dsp:cNvSpPr/>
      </dsp:nvSpPr>
      <dsp:spPr>
        <a:xfrm>
          <a:off x="7103950" y="119475"/>
          <a:ext cx="382229" cy="296106"/>
        </a:xfrm>
        <a:prstGeom prst="rightArrow">
          <a:avLst>
            <a:gd name="adj1" fmla="val 60000"/>
            <a:gd name="adj2" fmla="val 50000"/>
          </a:avLst>
        </a:prstGeom>
        <a:solidFill>
          <a:schemeClr val="tx1">
            <a:lumMod val="50000"/>
            <a:lumOff val="50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7103950" y="178696"/>
        <a:ext cx="293397" cy="177664"/>
      </dsp:txXfrm>
    </dsp:sp>
    <dsp:sp modelId="{42D00F1C-BEB3-401C-84B8-10DF20647E6D}">
      <dsp:nvSpPr>
        <dsp:cNvPr id="0" name=""/>
        <dsp:cNvSpPr/>
      </dsp:nvSpPr>
      <dsp:spPr>
        <a:xfrm>
          <a:off x="7644841" y="97329"/>
          <a:ext cx="1189322" cy="510597"/>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64008" rIns="64008" bIns="34290" numCol="1" spcCol="1270" anchor="t" anchorCtr="0">
          <a:noAutofit/>
        </a:bodyPr>
        <a:lstStyle/>
        <a:p>
          <a:pPr marL="0" lvl="0" indent="0" algn="l" defTabSz="400050">
            <a:lnSpc>
              <a:spcPct val="90000"/>
            </a:lnSpc>
            <a:spcBef>
              <a:spcPct val="0"/>
            </a:spcBef>
            <a:spcAft>
              <a:spcPct val="35000"/>
            </a:spcAft>
            <a:buNone/>
          </a:pPr>
          <a:r>
            <a:rPr lang="en-IN" sz="900" kern="1200"/>
            <a:t>MID-NOVEMBER</a:t>
          </a:r>
        </a:p>
      </dsp:txBody>
      <dsp:txXfrm>
        <a:off x="7644841" y="97329"/>
        <a:ext cx="1189322" cy="340398"/>
      </dsp:txXfrm>
    </dsp:sp>
    <dsp:sp modelId="{547B6ECB-2C8C-48B3-96C9-A0A0C7C346B0}">
      <dsp:nvSpPr>
        <dsp:cNvPr id="0" name=""/>
        <dsp:cNvSpPr/>
      </dsp:nvSpPr>
      <dsp:spPr>
        <a:xfrm>
          <a:off x="7888437" y="437728"/>
          <a:ext cx="1189322" cy="648000"/>
        </a:xfrm>
        <a:prstGeom prst="roundRect">
          <a:avLst>
            <a:gd name="adj" fmla="val 10000"/>
          </a:avLst>
        </a:prstGeom>
        <a:solidFill>
          <a:schemeClr val="accent6">
            <a:lumMod val="60000"/>
            <a:lumOff val="4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IN" sz="900" kern="1200">
              <a:solidFill>
                <a:schemeClr val="bg1"/>
              </a:solidFill>
            </a:rPr>
            <a:t>Straw collection ends (Spanning a period of 15-20 days)</a:t>
          </a:r>
        </a:p>
      </dsp:txBody>
      <dsp:txXfrm>
        <a:off x="7907416" y="456707"/>
        <a:ext cx="1151364" cy="610042"/>
      </dsp:txXfrm>
    </dsp:sp>
    <dsp:sp modelId="{B84CE5CA-18FD-4AFB-BF77-9FFC4D771E21}">
      <dsp:nvSpPr>
        <dsp:cNvPr id="0" name=""/>
        <dsp:cNvSpPr/>
      </dsp:nvSpPr>
      <dsp:spPr>
        <a:xfrm>
          <a:off x="9014460" y="119475"/>
          <a:ext cx="382229" cy="296106"/>
        </a:xfrm>
        <a:prstGeom prst="rightArrow">
          <a:avLst>
            <a:gd name="adj1" fmla="val 60000"/>
            <a:gd name="adj2" fmla="val 50000"/>
          </a:avLst>
        </a:prstGeom>
        <a:solidFill>
          <a:schemeClr val="tx1">
            <a:lumMod val="50000"/>
            <a:lumOff val="50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9014460" y="178696"/>
        <a:ext cx="293397" cy="177664"/>
      </dsp:txXfrm>
    </dsp:sp>
    <dsp:sp modelId="{599C7CED-DBFB-484C-9631-BA56F1BD5715}">
      <dsp:nvSpPr>
        <dsp:cNvPr id="0" name=""/>
        <dsp:cNvSpPr/>
      </dsp:nvSpPr>
      <dsp:spPr>
        <a:xfrm>
          <a:off x="9555351" y="97329"/>
          <a:ext cx="1189322" cy="510597"/>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64008" tIns="64008" rIns="64008" bIns="34290" numCol="1" spcCol="1270" anchor="t" anchorCtr="0">
          <a:noAutofit/>
        </a:bodyPr>
        <a:lstStyle/>
        <a:p>
          <a:pPr marL="0" lvl="0" indent="0" algn="l" defTabSz="400050">
            <a:lnSpc>
              <a:spcPct val="90000"/>
            </a:lnSpc>
            <a:spcBef>
              <a:spcPct val="0"/>
            </a:spcBef>
            <a:spcAft>
              <a:spcPct val="35000"/>
            </a:spcAft>
            <a:buNone/>
          </a:pPr>
          <a:r>
            <a:rPr lang="en-IN" sz="900" kern="1200"/>
            <a:t>NOVEMBER TO NEXT CYCLE </a:t>
          </a:r>
        </a:p>
      </dsp:txBody>
      <dsp:txXfrm>
        <a:off x="9555351" y="97329"/>
        <a:ext cx="1189322" cy="340398"/>
      </dsp:txXfrm>
    </dsp:sp>
    <dsp:sp modelId="{048C7863-1045-404B-A356-23552ABEE612}">
      <dsp:nvSpPr>
        <dsp:cNvPr id="0" name=""/>
        <dsp:cNvSpPr/>
      </dsp:nvSpPr>
      <dsp:spPr>
        <a:xfrm>
          <a:off x="9798947" y="437728"/>
          <a:ext cx="1189322" cy="648000"/>
        </a:xfrm>
        <a:prstGeom prst="roundRect">
          <a:avLst>
            <a:gd name="adj" fmla="val 10000"/>
          </a:avLst>
        </a:prstGeom>
        <a:solidFill>
          <a:schemeClr val="accent6">
            <a:lumMod val="60000"/>
            <a:lumOff val="4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Char char="•"/>
          </a:pPr>
          <a:r>
            <a:rPr lang="en-IN" sz="900" kern="1200">
              <a:solidFill>
                <a:schemeClr val="bg1"/>
              </a:solidFill>
            </a:rPr>
            <a:t> Storing stubble in straw bank &amp; utilizing for energy production</a:t>
          </a:r>
        </a:p>
      </dsp:txBody>
      <dsp:txXfrm>
        <a:off x="9817926" y="456707"/>
        <a:ext cx="1151364" cy="6100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215D53-7400-4A49-BEA1-E2FD3A0268A8}">
      <dsp:nvSpPr>
        <dsp:cNvPr id="0" name=""/>
        <dsp:cNvSpPr/>
      </dsp:nvSpPr>
      <dsp:spPr>
        <a:xfrm>
          <a:off x="2469" y="0"/>
          <a:ext cx="2198032" cy="290291"/>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IN" sz="1100" kern="1200"/>
            <a:t>Residue collection</a:t>
          </a:r>
        </a:p>
      </dsp:txBody>
      <dsp:txXfrm>
        <a:off x="147615" y="0"/>
        <a:ext cx="1907741" cy="290291"/>
      </dsp:txXfrm>
    </dsp:sp>
    <dsp:sp modelId="{690C111C-E835-466A-83EB-49E73060CC3D}">
      <dsp:nvSpPr>
        <dsp:cNvPr id="0" name=""/>
        <dsp:cNvSpPr/>
      </dsp:nvSpPr>
      <dsp:spPr>
        <a:xfrm>
          <a:off x="1980698" y="0"/>
          <a:ext cx="2198032" cy="290291"/>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IN" sz="1100" kern="1200"/>
            <a:t>First-mile transportation</a:t>
          </a:r>
        </a:p>
      </dsp:txBody>
      <dsp:txXfrm>
        <a:off x="2125844" y="0"/>
        <a:ext cx="1907741" cy="290291"/>
      </dsp:txXfrm>
    </dsp:sp>
    <dsp:sp modelId="{F43F89D6-CF5D-4306-98F3-FA965E64A9EA}">
      <dsp:nvSpPr>
        <dsp:cNvPr id="0" name=""/>
        <dsp:cNvSpPr/>
      </dsp:nvSpPr>
      <dsp:spPr>
        <a:xfrm>
          <a:off x="3958928" y="0"/>
          <a:ext cx="2198032" cy="290291"/>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IN" sz="1100" kern="1200"/>
            <a:t>Pre-Treatment Plant</a:t>
          </a:r>
        </a:p>
      </dsp:txBody>
      <dsp:txXfrm>
        <a:off x="4104074" y="0"/>
        <a:ext cx="1907741" cy="290291"/>
      </dsp:txXfrm>
    </dsp:sp>
    <dsp:sp modelId="{D0CBE489-CBE4-4249-9535-C30D8FB48331}">
      <dsp:nvSpPr>
        <dsp:cNvPr id="0" name=""/>
        <dsp:cNvSpPr/>
      </dsp:nvSpPr>
      <dsp:spPr>
        <a:xfrm>
          <a:off x="5937157" y="0"/>
          <a:ext cx="2198032" cy="290291"/>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IN" sz="1100" kern="1200"/>
            <a:t>Storage unit</a:t>
          </a:r>
        </a:p>
      </dsp:txBody>
      <dsp:txXfrm>
        <a:off x="6082303" y="0"/>
        <a:ext cx="1907741" cy="290291"/>
      </dsp:txXfrm>
    </dsp:sp>
    <dsp:sp modelId="{D107D0A6-E081-4090-878D-4E2DA6D18D3C}">
      <dsp:nvSpPr>
        <dsp:cNvPr id="0" name=""/>
        <dsp:cNvSpPr/>
      </dsp:nvSpPr>
      <dsp:spPr>
        <a:xfrm>
          <a:off x="7915386" y="0"/>
          <a:ext cx="2198032" cy="290291"/>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IN" sz="1100" kern="1200"/>
            <a:t>Bio-mass to energy conversion</a:t>
          </a:r>
        </a:p>
      </dsp:txBody>
      <dsp:txXfrm>
        <a:off x="8060532" y="0"/>
        <a:ext cx="1907741" cy="2902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3D238B-5908-4682-9508-AFCD6C4B4038}">
      <dsp:nvSpPr>
        <dsp:cNvPr id="0" name=""/>
        <dsp:cNvSpPr/>
      </dsp:nvSpPr>
      <dsp:spPr>
        <a:xfrm>
          <a:off x="1588" y="497145"/>
          <a:ext cx="1413585" cy="565434"/>
        </a:xfrm>
        <a:prstGeom prst="chevron">
          <a:avLst/>
        </a:prstGeom>
        <a:solidFill>
          <a:schemeClr val="accent6">
            <a:lumMod val="60000"/>
            <a:lumOff val="40000"/>
          </a:scheme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a:solidFill>
                <a:srgbClr val="FFFFFF"/>
              </a:solidFill>
              <a:latin typeface="Arial"/>
              <a:ea typeface="+mn-ea"/>
              <a:cs typeface="+mn-cs"/>
            </a:rPr>
            <a:t>Marginal</a:t>
          </a:r>
        </a:p>
        <a:p>
          <a:pPr marL="0" lvl="0" indent="0" algn="ctr" defTabSz="444500">
            <a:lnSpc>
              <a:spcPct val="90000"/>
            </a:lnSpc>
            <a:spcBef>
              <a:spcPct val="0"/>
            </a:spcBef>
            <a:spcAft>
              <a:spcPct val="35000"/>
            </a:spcAft>
            <a:buNone/>
          </a:pPr>
          <a:r>
            <a:rPr lang="en-US" sz="1000" kern="1200">
              <a:solidFill>
                <a:srgbClr val="FFFFFF"/>
              </a:solidFill>
              <a:latin typeface="Arial"/>
              <a:ea typeface="+mn-ea"/>
              <a:cs typeface="+mn-cs"/>
            </a:rPr>
            <a:t>(0.959 Mil ton)</a:t>
          </a:r>
          <a:endParaRPr lang="en-IN" sz="1000" kern="1200">
            <a:solidFill>
              <a:srgbClr val="FFFFFF"/>
            </a:solidFill>
            <a:latin typeface="Arial"/>
            <a:ea typeface="+mn-ea"/>
            <a:cs typeface="+mn-cs"/>
          </a:endParaRPr>
        </a:p>
      </dsp:txBody>
      <dsp:txXfrm>
        <a:off x="284305" y="497145"/>
        <a:ext cx="848151" cy="565434"/>
      </dsp:txXfrm>
    </dsp:sp>
    <dsp:sp modelId="{1FF0B946-B156-4F2E-B35D-7B8207EB7E98}">
      <dsp:nvSpPr>
        <dsp:cNvPr id="0" name=""/>
        <dsp:cNvSpPr/>
      </dsp:nvSpPr>
      <dsp:spPr>
        <a:xfrm>
          <a:off x="1273815" y="497145"/>
          <a:ext cx="1413585" cy="565434"/>
        </a:xfrm>
        <a:prstGeom prst="chevron">
          <a:avLst/>
        </a:prstGeom>
        <a:solidFill>
          <a:schemeClr val="accent6">
            <a:lumMod val="60000"/>
            <a:lumOff val="40000"/>
          </a:scheme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a:t>Small</a:t>
          </a:r>
          <a:br>
            <a:rPr lang="en-US" sz="1000" kern="1200"/>
          </a:br>
          <a:r>
            <a:rPr lang="en-US" sz="1000" kern="1200"/>
            <a:t>(1.831 Mil ton)</a:t>
          </a:r>
          <a:endParaRPr lang="en-IN" sz="1000" kern="1200"/>
        </a:p>
      </dsp:txBody>
      <dsp:txXfrm>
        <a:off x="1556532" y="497145"/>
        <a:ext cx="848151" cy="565434"/>
      </dsp:txXfrm>
    </dsp:sp>
    <dsp:sp modelId="{9A9FA0F8-A08D-4D73-821F-38EFB9C47D22}">
      <dsp:nvSpPr>
        <dsp:cNvPr id="0" name=""/>
        <dsp:cNvSpPr/>
      </dsp:nvSpPr>
      <dsp:spPr>
        <a:xfrm>
          <a:off x="2546042" y="497145"/>
          <a:ext cx="1413585" cy="565434"/>
        </a:xfrm>
        <a:prstGeom prst="chevron">
          <a:avLst/>
        </a:prstGeom>
        <a:solidFill>
          <a:schemeClr val="accent6">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a:t>Semi-Medium</a:t>
          </a:r>
          <a:br>
            <a:rPr lang="en-US" sz="1000" kern="1200"/>
          </a:br>
          <a:r>
            <a:rPr lang="en-US" sz="1000" kern="1200"/>
            <a:t>(5.064 Mil ton)</a:t>
          </a:r>
          <a:endParaRPr lang="en-IN" sz="1000" kern="1200"/>
        </a:p>
      </dsp:txBody>
      <dsp:txXfrm>
        <a:off x="2828759" y="497145"/>
        <a:ext cx="848151" cy="565434"/>
      </dsp:txXfrm>
    </dsp:sp>
    <dsp:sp modelId="{7C183EF8-FBB9-4826-A6DF-7AD27E71BD01}">
      <dsp:nvSpPr>
        <dsp:cNvPr id="0" name=""/>
        <dsp:cNvSpPr/>
      </dsp:nvSpPr>
      <dsp:spPr>
        <a:xfrm>
          <a:off x="3818269" y="497145"/>
          <a:ext cx="1413585" cy="565434"/>
        </a:xfrm>
        <a:prstGeom prst="chevron">
          <a:avLst/>
        </a:prstGeom>
        <a:solidFill>
          <a:schemeClr val="accent6"/>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a:t>Medium</a:t>
          </a:r>
          <a:br>
            <a:rPr lang="en-US" sz="1000" kern="1200"/>
          </a:br>
          <a:r>
            <a:rPr lang="en-US" sz="1000" kern="1200"/>
            <a:t>(8.54 Mil ton)</a:t>
          </a:r>
          <a:endParaRPr lang="en-IN" sz="1000" kern="1200"/>
        </a:p>
      </dsp:txBody>
      <dsp:txXfrm>
        <a:off x="4100986" y="497145"/>
        <a:ext cx="848151" cy="565434"/>
      </dsp:txXfrm>
    </dsp:sp>
    <dsp:sp modelId="{5FBEDCF6-F1D4-4F97-8355-BC0831E016E7}">
      <dsp:nvSpPr>
        <dsp:cNvPr id="0" name=""/>
        <dsp:cNvSpPr/>
      </dsp:nvSpPr>
      <dsp:spPr>
        <a:xfrm>
          <a:off x="5090496" y="497145"/>
          <a:ext cx="1413585" cy="565434"/>
        </a:xfrm>
        <a:prstGeom prst="chevron">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a:t>Large</a:t>
          </a:r>
          <a:br>
            <a:rPr lang="en-US" sz="1000" kern="1200"/>
          </a:br>
          <a:r>
            <a:rPr lang="en-US" sz="1000" kern="1200"/>
            <a:t>(4.55 Mil ton)</a:t>
          </a:r>
          <a:endParaRPr lang="en-IN" sz="1000" kern="1200"/>
        </a:p>
      </dsp:txBody>
      <dsp:txXfrm>
        <a:off x="5373213" y="497145"/>
        <a:ext cx="848151" cy="5654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0BDCF-7AA8-498D-AFD3-31A6B0D04062}">
      <dsp:nvSpPr>
        <dsp:cNvPr id="0" name=""/>
        <dsp:cNvSpPr/>
      </dsp:nvSpPr>
      <dsp:spPr>
        <a:xfrm rot="10800000">
          <a:off x="1060984" y="1387"/>
          <a:ext cx="3856380" cy="358562"/>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116"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kern="1200"/>
            <a:t>163 total no. of Biomass power plants in India</a:t>
          </a:r>
        </a:p>
      </dsp:txBody>
      <dsp:txXfrm rot="10800000">
        <a:off x="1150624" y="1387"/>
        <a:ext cx="3766740" cy="358562"/>
      </dsp:txXfrm>
    </dsp:sp>
    <dsp:sp modelId="{5549802B-7163-4D61-9071-035417AB49B7}">
      <dsp:nvSpPr>
        <dsp:cNvPr id="0" name=""/>
        <dsp:cNvSpPr/>
      </dsp:nvSpPr>
      <dsp:spPr>
        <a:xfrm>
          <a:off x="881703" y="1387"/>
          <a:ext cx="358562" cy="35856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63000" r="-6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410AE2-EFD6-4164-84DD-0BB914DBC6BE}">
      <dsp:nvSpPr>
        <dsp:cNvPr id="0" name=""/>
        <dsp:cNvSpPr/>
      </dsp:nvSpPr>
      <dsp:spPr>
        <a:xfrm rot="10800000">
          <a:off x="1060984" y="461557"/>
          <a:ext cx="3856380" cy="358562"/>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116"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kern="1200"/>
            <a:t>Annual Energy Cost Savings of Rs. 787 lakh</a:t>
          </a:r>
        </a:p>
      </dsp:txBody>
      <dsp:txXfrm rot="10800000">
        <a:off x="1150624" y="461557"/>
        <a:ext cx="3766740" cy="358562"/>
      </dsp:txXfrm>
    </dsp:sp>
    <dsp:sp modelId="{28426F03-E59F-40D1-BB2C-CAF0A1E0DA73}">
      <dsp:nvSpPr>
        <dsp:cNvPr id="0" name=""/>
        <dsp:cNvSpPr/>
      </dsp:nvSpPr>
      <dsp:spPr>
        <a:xfrm>
          <a:off x="881703" y="461557"/>
          <a:ext cx="358562" cy="358562"/>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63000" r="-6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2A677E-A9E7-4753-A9D1-EB3FC8B59736}">
      <dsp:nvSpPr>
        <dsp:cNvPr id="0" name=""/>
        <dsp:cNvSpPr/>
      </dsp:nvSpPr>
      <dsp:spPr>
        <a:xfrm rot="10800000">
          <a:off x="1060984" y="921726"/>
          <a:ext cx="3856380" cy="358562"/>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116"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kern="1200"/>
            <a:t>Annual Bio-Manure Production of 32582 tons</a:t>
          </a:r>
        </a:p>
      </dsp:txBody>
      <dsp:txXfrm rot="10800000">
        <a:off x="1150624" y="921726"/>
        <a:ext cx="3766740" cy="358562"/>
      </dsp:txXfrm>
    </dsp:sp>
    <dsp:sp modelId="{97768581-012A-4913-95F1-506D8EFEC254}">
      <dsp:nvSpPr>
        <dsp:cNvPr id="0" name=""/>
        <dsp:cNvSpPr/>
      </dsp:nvSpPr>
      <dsp:spPr>
        <a:xfrm>
          <a:off x="881703" y="921726"/>
          <a:ext cx="358562" cy="358562"/>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81000" r="-8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9DC5347-D88D-4879-B7F2-542A1FEB2A97}">
      <dsp:nvSpPr>
        <dsp:cNvPr id="0" name=""/>
        <dsp:cNvSpPr/>
      </dsp:nvSpPr>
      <dsp:spPr>
        <a:xfrm rot="10800000">
          <a:off x="1060984" y="1381895"/>
          <a:ext cx="3856380" cy="358562"/>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116"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kern="1200"/>
            <a:t>Annual CO2 saving of 9587 tons</a:t>
          </a:r>
        </a:p>
      </dsp:txBody>
      <dsp:txXfrm rot="10800000">
        <a:off x="1150624" y="1381895"/>
        <a:ext cx="3766740" cy="358562"/>
      </dsp:txXfrm>
    </dsp:sp>
    <dsp:sp modelId="{485CB957-CD5C-4B5F-8DAE-02CC016F7477}">
      <dsp:nvSpPr>
        <dsp:cNvPr id="0" name=""/>
        <dsp:cNvSpPr/>
      </dsp:nvSpPr>
      <dsp:spPr>
        <a:xfrm>
          <a:off x="881703" y="1381895"/>
          <a:ext cx="358562" cy="358562"/>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87000" r="-8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2B4D66C-C8BB-419E-A5B4-8693BDC454E1}">
      <dsp:nvSpPr>
        <dsp:cNvPr id="0" name=""/>
        <dsp:cNvSpPr/>
      </dsp:nvSpPr>
      <dsp:spPr>
        <a:xfrm rot="10800000">
          <a:off x="1060984" y="1842064"/>
          <a:ext cx="3856380" cy="358562"/>
        </a:xfrm>
        <a:prstGeom prst="homePlat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116"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kern="1200"/>
            <a:t>63438 (Direct) &amp; 56894 (In-direct) Man-hour employed</a:t>
          </a:r>
        </a:p>
      </dsp:txBody>
      <dsp:txXfrm rot="10800000">
        <a:off x="1150624" y="1842064"/>
        <a:ext cx="3766740" cy="358562"/>
      </dsp:txXfrm>
    </dsp:sp>
    <dsp:sp modelId="{0A3322AD-A897-4AA7-ACCC-4BAAE2EC7C54}">
      <dsp:nvSpPr>
        <dsp:cNvPr id="0" name=""/>
        <dsp:cNvSpPr/>
      </dsp:nvSpPr>
      <dsp:spPr>
        <a:xfrm>
          <a:off x="881703" y="1842064"/>
          <a:ext cx="358562" cy="358562"/>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63000" r="-6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76575" cy="511731"/>
          </a:xfrm>
          <a:prstGeom prst="rect">
            <a:avLst/>
          </a:prstGeom>
          <a:noFill/>
          <a:ln>
            <a:noFill/>
          </a:ln>
        </p:spPr>
        <p:txBody>
          <a:bodyPr spcFirstLastPara="1" wrap="square" lIns="98975" tIns="49475" rIns="98975" bIns="4947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021139" y="0"/>
            <a:ext cx="3076575" cy="511731"/>
          </a:xfrm>
          <a:prstGeom prst="rect">
            <a:avLst/>
          </a:prstGeom>
          <a:noFill/>
          <a:ln>
            <a:noFill/>
          </a:ln>
        </p:spPr>
        <p:txBody>
          <a:bodyPr spcFirstLastPara="1" wrap="square" lIns="98975" tIns="49475" rIns="98975" bIns="4947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721294"/>
            <a:ext cx="3076575" cy="511731"/>
          </a:xfrm>
          <a:prstGeom prst="rect">
            <a:avLst/>
          </a:prstGeom>
          <a:noFill/>
          <a:ln>
            <a:noFill/>
          </a:ln>
        </p:spPr>
        <p:txBody>
          <a:bodyPr spcFirstLastPara="1" wrap="square" lIns="98975" tIns="49475" rIns="98975" bIns="4947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marR="0" lvl="0" indent="0" algn="r" rtl="0">
              <a:spcBef>
                <a:spcPts val="0"/>
              </a:spcBef>
              <a:spcAft>
                <a:spcPts val="0"/>
              </a:spcAft>
              <a:buNone/>
            </a:pPr>
            <a:fld id="{00000000-1234-1234-1234-123412341234}" type="slidenum">
              <a:rPr lang="en-IN"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a:t>
            </a:fld>
            <a:endParaRPr/>
          </a:p>
        </p:txBody>
      </p:sp>
    </p:spTree>
    <p:extLst>
      <p:ext uri="{BB962C8B-B14F-4D97-AF65-F5344CB8AC3E}">
        <p14:creationId xmlns:p14="http://schemas.microsoft.com/office/powerpoint/2010/main" val="893306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2</a:t>
            </a:fld>
            <a:endParaRPr/>
          </a:p>
        </p:txBody>
      </p:sp>
    </p:spTree>
    <p:extLst>
      <p:ext uri="{BB962C8B-B14F-4D97-AF65-F5344CB8AC3E}">
        <p14:creationId xmlns:p14="http://schemas.microsoft.com/office/powerpoint/2010/main" val="2981229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a:t>Collection of crop residue is a </a:t>
            </a:r>
            <a:r>
              <a:rPr lang="en-US" sz="1200" err="1"/>
              <a:t>labour-intensive</a:t>
            </a:r>
            <a:r>
              <a:rPr lang="en-US" sz="1200"/>
              <a:t> task and is a major cost in the crop residue supply chain.</a:t>
            </a:r>
            <a:endParaRPr lang="en-IN"/>
          </a:p>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3</a:t>
            </a:fld>
            <a:endParaRPr/>
          </a:p>
        </p:txBody>
      </p:sp>
    </p:spTree>
    <p:extLst>
      <p:ext uri="{BB962C8B-B14F-4D97-AF65-F5344CB8AC3E}">
        <p14:creationId xmlns:p14="http://schemas.microsoft.com/office/powerpoint/2010/main" val="125491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709614" y="4861442"/>
            <a:ext cx="5680075" cy="4605576"/>
          </a:xfrm>
          <a:prstGeom prst="rect">
            <a:avLst/>
          </a:prstGeom>
        </p:spPr>
        <p:txBody>
          <a:bodyPr spcFirstLastPara="1" wrap="square" lIns="98975" tIns="49475" rIns="98975" bIns="49475" anchor="t" anchorCtr="0">
            <a:noAutofit/>
          </a:bodyPr>
          <a:lstStyle/>
          <a:p>
            <a:pPr marL="0" lvl="0" indent="0" algn="l" rtl="0">
              <a:spcBef>
                <a:spcPts val="360"/>
              </a:spcBef>
              <a:spcAft>
                <a:spcPts val="0"/>
              </a:spcAft>
              <a:buNone/>
            </a:pPr>
            <a:endParaRPr/>
          </a:p>
        </p:txBody>
      </p:sp>
      <p:sp>
        <p:nvSpPr>
          <p:cNvPr id="186" name="Google Shape;186;p6: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0125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709614" y="4861442"/>
            <a:ext cx="5680075" cy="4605576"/>
          </a:xfrm>
          <a:prstGeom prst="rect">
            <a:avLst/>
          </a:prstGeom>
        </p:spPr>
        <p:txBody>
          <a:bodyPr spcFirstLastPara="1" wrap="square" lIns="98975" tIns="49475" rIns="98975" bIns="49475" anchor="t" anchorCtr="0">
            <a:noAutofit/>
          </a:bodyPr>
          <a:lstStyle/>
          <a:p>
            <a:pPr marL="0" lvl="0" indent="0" algn="l" rtl="0">
              <a:spcBef>
                <a:spcPts val="360"/>
              </a:spcBef>
              <a:spcAft>
                <a:spcPts val="0"/>
              </a:spcAft>
              <a:buNone/>
            </a:pPr>
            <a:endParaRPr/>
          </a:p>
        </p:txBody>
      </p:sp>
      <p:sp>
        <p:nvSpPr>
          <p:cNvPr id="186" name="Google Shape;186;p6: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6343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709614" y="4861442"/>
            <a:ext cx="5680075" cy="4605576"/>
          </a:xfrm>
          <a:prstGeom prst="rect">
            <a:avLst/>
          </a:prstGeom>
        </p:spPr>
        <p:txBody>
          <a:bodyPr spcFirstLastPara="1" wrap="square" lIns="98975" tIns="49475" rIns="98975" bIns="49475" anchor="t" anchorCtr="0">
            <a:noAutofit/>
          </a:bodyPr>
          <a:lstStyle/>
          <a:p>
            <a:pPr marL="0" lvl="0" indent="0" algn="l" rtl="0">
              <a:spcBef>
                <a:spcPts val="360"/>
              </a:spcBef>
              <a:spcAft>
                <a:spcPts val="0"/>
              </a:spcAft>
              <a:buNone/>
            </a:pPr>
            <a:endParaRPr/>
          </a:p>
        </p:txBody>
      </p:sp>
      <p:sp>
        <p:nvSpPr>
          <p:cNvPr id="186" name="Google Shape;186;p6: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0153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9:notes"/>
          <p:cNvSpPr txBox="1">
            <a:spLocks noGrp="1"/>
          </p:cNvSpPr>
          <p:nvPr>
            <p:ph type="body" idx="1"/>
          </p:nvPr>
        </p:nvSpPr>
        <p:spPr>
          <a:xfrm>
            <a:off x="709614" y="4861442"/>
            <a:ext cx="5680075" cy="4605576"/>
          </a:xfrm>
          <a:prstGeom prst="rect">
            <a:avLst/>
          </a:prstGeom>
        </p:spPr>
        <p:txBody>
          <a:bodyPr spcFirstLastPara="1" wrap="square" lIns="98975" tIns="49475" rIns="98975" bIns="49475" anchor="t" anchorCtr="0">
            <a:noAutofit/>
          </a:bodyPr>
          <a:lstStyle/>
          <a:p>
            <a:pPr algn="l">
              <a:buFont typeface="Arial" panose="020B0604020202020204" pitchFamily="34" charset="0"/>
              <a:buChar char="•"/>
            </a:pPr>
            <a:r>
              <a:rPr lang="en-US" b="0" i="0">
                <a:solidFill>
                  <a:srgbClr val="374151"/>
                </a:solidFill>
                <a:effectLst/>
                <a:latin typeface="Söhne"/>
              </a:rPr>
              <a:t>Determine the plant's storage capacity for both in-season and off-season feedstock.</a:t>
            </a:r>
          </a:p>
          <a:p>
            <a:pPr algn="l">
              <a:buFont typeface="Arial" panose="020B0604020202020204" pitchFamily="34" charset="0"/>
              <a:buChar char="•"/>
            </a:pPr>
            <a:r>
              <a:rPr lang="en-US" b="0" i="0">
                <a:solidFill>
                  <a:srgbClr val="374151"/>
                </a:solidFill>
                <a:effectLst/>
                <a:latin typeface="Söhne"/>
              </a:rPr>
              <a:t>Develop a storage strategy that prevents degradation of feedstock quality and minimizes losses due to weather or pests.</a:t>
            </a:r>
          </a:p>
          <a:p>
            <a:pPr algn="l">
              <a:buFont typeface="Arial" panose="020B0604020202020204" pitchFamily="34" charset="0"/>
              <a:buChar char="•"/>
            </a:pPr>
            <a:r>
              <a:rPr lang="en-US" b="0" i="0">
                <a:solidFill>
                  <a:srgbClr val="374151"/>
                </a:solidFill>
                <a:effectLst/>
                <a:latin typeface="Söhne"/>
              </a:rPr>
              <a:t>Design storage facilities that protect feedstock from moisture, fire, and other environmental factors.</a:t>
            </a:r>
          </a:p>
          <a:p>
            <a:pPr marL="0" lvl="0" indent="0" algn="l" rtl="0">
              <a:spcBef>
                <a:spcPts val="360"/>
              </a:spcBef>
              <a:spcAft>
                <a:spcPts val="0"/>
              </a:spcAft>
              <a:buNone/>
            </a:pPr>
            <a:endParaRPr/>
          </a:p>
        </p:txBody>
      </p:sp>
      <p:sp>
        <p:nvSpPr>
          <p:cNvPr id="246" name="Google Shape;246;p9: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0240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8</a:t>
            </a:fld>
            <a:endParaRPr/>
          </a:p>
        </p:txBody>
      </p:sp>
    </p:spTree>
    <p:extLst>
      <p:ext uri="{BB962C8B-B14F-4D97-AF65-F5344CB8AC3E}">
        <p14:creationId xmlns:p14="http://schemas.microsoft.com/office/powerpoint/2010/main" val="1130497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4: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139" name="Google Shape;139;p4: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9</a:t>
            </a:fld>
            <a:endParaRPr/>
          </a:p>
        </p:txBody>
      </p:sp>
    </p:spTree>
    <p:extLst>
      <p:ext uri="{BB962C8B-B14F-4D97-AF65-F5344CB8AC3E}">
        <p14:creationId xmlns:p14="http://schemas.microsoft.com/office/powerpoint/2010/main" val="359475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4: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139" name="Google Shape;139;p4: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10</a:t>
            </a:fld>
            <a:endParaRPr/>
          </a:p>
        </p:txBody>
      </p:sp>
    </p:spTree>
    <p:extLst>
      <p:ext uri="{BB962C8B-B14F-4D97-AF65-F5344CB8AC3E}">
        <p14:creationId xmlns:p14="http://schemas.microsoft.com/office/powerpoint/2010/main" val="639727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11</a:t>
            </a:fld>
            <a:endParaRPr/>
          </a:p>
        </p:txBody>
      </p:sp>
    </p:spTree>
    <p:extLst>
      <p:ext uri="{BB962C8B-B14F-4D97-AF65-F5344CB8AC3E}">
        <p14:creationId xmlns:p14="http://schemas.microsoft.com/office/powerpoint/2010/main" val="1970541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12</a:t>
            </a:fld>
            <a:endParaRPr/>
          </a:p>
        </p:txBody>
      </p:sp>
    </p:spTree>
    <p:extLst>
      <p:ext uri="{BB962C8B-B14F-4D97-AF65-F5344CB8AC3E}">
        <p14:creationId xmlns:p14="http://schemas.microsoft.com/office/powerpoint/2010/main" val="1679102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13</a:t>
            </a:fld>
            <a:endParaRPr/>
          </a:p>
        </p:txBody>
      </p:sp>
    </p:spTree>
    <p:extLst>
      <p:ext uri="{BB962C8B-B14F-4D97-AF65-F5344CB8AC3E}">
        <p14:creationId xmlns:p14="http://schemas.microsoft.com/office/powerpoint/2010/main" val="1679102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14</a:t>
            </a:fld>
            <a:endParaRPr/>
          </a:p>
        </p:txBody>
      </p:sp>
    </p:spTree>
    <p:extLst>
      <p:ext uri="{BB962C8B-B14F-4D97-AF65-F5344CB8AC3E}">
        <p14:creationId xmlns:p14="http://schemas.microsoft.com/office/powerpoint/2010/main" val="18414784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709614" y="4861442"/>
            <a:ext cx="5680075" cy="4605576"/>
          </a:xfrm>
          <a:prstGeom prst="rect">
            <a:avLst/>
          </a:prstGeom>
        </p:spPr>
        <p:txBody>
          <a:bodyPr spcFirstLastPara="1" wrap="square" lIns="98975" tIns="49475" rIns="98975" bIns="49475" anchor="t" anchorCtr="0">
            <a:noAutofit/>
          </a:bodyPr>
          <a:lstStyle/>
          <a:p>
            <a:pPr marL="0" lvl="0" indent="0" algn="l" rtl="0">
              <a:spcBef>
                <a:spcPts val="360"/>
              </a:spcBef>
              <a:spcAft>
                <a:spcPts val="0"/>
              </a:spcAft>
              <a:buNone/>
            </a:pPr>
            <a:endParaRPr/>
          </a:p>
        </p:txBody>
      </p:sp>
      <p:sp>
        <p:nvSpPr>
          <p:cNvPr id="186" name="Google Shape;186;p6: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1271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139700"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709614" y="4861442"/>
            <a:ext cx="5680075" cy="4605576"/>
          </a:xfrm>
          <a:prstGeom prst="rect">
            <a:avLst/>
          </a:prstGeom>
          <a:noFill/>
          <a:ln>
            <a:noFill/>
          </a:ln>
        </p:spPr>
        <p:txBody>
          <a:bodyPr spcFirstLastPara="1" wrap="square" lIns="98975" tIns="49475" rIns="98975" bIns="49475" anchor="t" anchorCtr="0">
            <a:normAutofit/>
          </a:bodyPr>
          <a:lstStyle/>
          <a:p>
            <a:pPr marL="0" lvl="0" indent="0" algn="l" rtl="0">
              <a:spcBef>
                <a:spcPts val="0"/>
              </a:spcBef>
              <a:spcAft>
                <a:spcPts val="0"/>
              </a:spcAft>
              <a:buNone/>
            </a:pPr>
            <a:endParaRPr/>
          </a:p>
        </p:txBody>
      </p:sp>
      <p:sp>
        <p:nvSpPr>
          <p:cNvPr id="22" name="Google Shape;22;p1:notes"/>
          <p:cNvSpPr txBox="1">
            <a:spLocks noGrp="1"/>
          </p:cNvSpPr>
          <p:nvPr>
            <p:ph type="sldNum" idx="12"/>
          </p:nvPr>
        </p:nvSpPr>
        <p:spPr>
          <a:xfrm>
            <a:off x="4021139" y="9721294"/>
            <a:ext cx="3076575" cy="511731"/>
          </a:xfrm>
          <a:prstGeom prst="rect">
            <a:avLst/>
          </a:prstGeom>
          <a:noFill/>
          <a:ln>
            <a:noFill/>
          </a:ln>
        </p:spPr>
        <p:txBody>
          <a:bodyPr spcFirstLastPara="1" wrap="square" lIns="98975" tIns="49475" rIns="98975" bIns="49475" anchor="b" anchorCtr="0">
            <a:noAutofit/>
          </a:bodyPr>
          <a:lstStyle/>
          <a:p>
            <a:pPr marL="0" lvl="0" indent="0" algn="r" rtl="0">
              <a:spcBef>
                <a:spcPts val="0"/>
              </a:spcBef>
              <a:spcAft>
                <a:spcPts val="0"/>
              </a:spcAft>
              <a:buNone/>
            </a:pPr>
            <a:fld id="{00000000-1234-1234-1234-123412341234}" type="slidenum">
              <a:rPr lang="en-IN"/>
              <a:t>16</a:t>
            </a:fld>
            <a:endParaRPr/>
          </a:p>
        </p:txBody>
      </p:sp>
    </p:spTree>
    <p:extLst>
      <p:ext uri="{BB962C8B-B14F-4D97-AF65-F5344CB8AC3E}">
        <p14:creationId xmlns:p14="http://schemas.microsoft.com/office/powerpoint/2010/main" val="76702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cxnSp>
        <p:nvCxnSpPr>
          <p:cNvPr id="14" name="Google Shape;14;p11"/>
          <p:cNvCxnSpPr/>
          <p:nvPr/>
        </p:nvCxnSpPr>
        <p:spPr>
          <a:xfrm>
            <a:off x="0" y="476250"/>
            <a:ext cx="12192000" cy="0"/>
          </a:xfrm>
          <a:prstGeom prst="straightConnector1">
            <a:avLst/>
          </a:prstGeom>
          <a:noFill/>
          <a:ln w="38100" cap="flat" cmpd="sng">
            <a:solidFill>
              <a:srgbClr val="6D0F14"/>
            </a:solidFill>
            <a:prstDash val="solid"/>
            <a:round/>
            <a:headEnd type="none" w="sm" len="sm"/>
            <a:tailEnd type="none" w="sm" len="sm"/>
          </a:ln>
        </p:spPr>
      </p:cxnSp>
      <p:cxnSp>
        <p:nvCxnSpPr>
          <p:cNvPr id="15" name="Google Shape;15;p11"/>
          <p:cNvCxnSpPr/>
          <p:nvPr/>
        </p:nvCxnSpPr>
        <p:spPr>
          <a:xfrm>
            <a:off x="0" y="6597650"/>
            <a:ext cx="12192000" cy="0"/>
          </a:xfrm>
          <a:prstGeom prst="straightConnector1">
            <a:avLst/>
          </a:prstGeom>
          <a:noFill/>
          <a:ln w="28575" cap="flat" cmpd="sng">
            <a:solidFill>
              <a:srgbClr val="6D1014"/>
            </a:solidFill>
            <a:prstDash val="solid"/>
            <a:round/>
            <a:headEnd type="none" w="sm" len="sm"/>
            <a:tailEnd type="none" w="sm" len="sm"/>
          </a:ln>
        </p:spPr>
      </p:cxnSp>
      <p:sp>
        <p:nvSpPr>
          <p:cNvPr id="16" name="Google Shape;16;p11"/>
          <p:cNvSpPr txBox="1">
            <a:spLocks noGrp="1"/>
          </p:cNvSpPr>
          <p:nvPr>
            <p:ph type="title"/>
          </p:nvPr>
        </p:nvSpPr>
        <p:spPr>
          <a:xfrm>
            <a:off x="595808" y="476672"/>
            <a:ext cx="10972800" cy="864096"/>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sz="2200" b="1">
                <a:solidFill>
                  <a:srgbClr val="6D0F14"/>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1"/>
          <p:cNvSpPr txBox="1">
            <a:spLocks noGrp="1"/>
          </p:cNvSpPr>
          <p:nvPr>
            <p:ph type="body" idx="1"/>
          </p:nvPr>
        </p:nvSpPr>
        <p:spPr>
          <a:xfrm>
            <a:off x="609600" y="1628800"/>
            <a:ext cx="10972800" cy="468052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30200" algn="l">
              <a:spcBef>
                <a:spcPts val="320"/>
              </a:spcBef>
              <a:spcAft>
                <a:spcPts val="0"/>
              </a:spcAft>
              <a:buClr>
                <a:schemeClr val="dk1"/>
              </a:buClr>
              <a:buSzPts val="1600"/>
              <a:buChar char="–"/>
              <a:defRPr sz="1600"/>
            </a:lvl2pPr>
            <a:lvl3pPr marL="1371600" lvl="2" indent="-317500" algn="l">
              <a:spcBef>
                <a:spcPts val="280"/>
              </a:spcBef>
              <a:spcAft>
                <a:spcPts val="0"/>
              </a:spcAft>
              <a:buClr>
                <a:schemeClr val="dk1"/>
              </a:buClr>
              <a:buSzPts val="1400"/>
              <a:buChar char="•"/>
              <a:defRPr sz="140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711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594784" y="981075"/>
            <a:ext cx="10972800" cy="719138"/>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6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chemeClr val="dk1"/>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609600" y="1927228"/>
            <a:ext cx="10972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ftr" idx="11"/>
          </p:nvPr>
        </p:nvSpPr>
        <p:spPr>
          <a:xfrm>
            <a:off x="4165600" y="6524625"/>
            <a:ext cx="3860800" cy="19685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diagramData" Target="../diagrams/data2.xml"/><Relationship Id="rId26" Type="http://schemas.openxmlformats.org/officeDocument/2006/relationships/diagramColors" Target="../diagrams/colors3.xml"/><Relationship Id="rId3" Type="http://schemas.openxmlformats.org/officeDocument/2006/relationships/diagramData" Target="../diagrams/data1.xml"/><Relationship Id="rId21" Type="http://schemas.openxmlformats.org/officeDocument/2006/relationships/diagramColors" Target="../diagrams/colors2.xml"/><Relationship Id="rId7" Type="http://schemas.microsoft.com/office/2007/relationships/diagramDrawing" Target="../diagrams/drawing1.xml"/><Relationship Id="rId12" Type="http://schemas.openxmlformats.org/officeDocument/2006/relationships/image" Target="../media/image13.png"/><Relationship Id="rId17" Type="http://schemas.openxmlformats.org/officeDocument/2006/relationships/image" Target="../media/image18.svg"/><Relationship Id="rId25" Type="http://schemas.openxmlformats.org/officeDocument/2006/relationships/diagramQuickStyle" Target="../diagrams/quickStyle3.xml"/><Relationship Id="rId2" Type="http://schemas.openxmlformats.org/officeDocument/2006/relationships/notesSlide" Target="../notesSlides/notesSlide2.xml"/><Relationship Id="rId16" Type="http://schemas.openxmlformats.org/officeDocument/2006/relationships/image" Target="../media/image17.png"/><Relationship Id="rId20" Type="http://schemas.openxmlformats.org/officeDocument/2006/relationships/diagramQuickStyle" Target="../diagrams/quickStyle2.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image" Target="../media/image12.png"/><Relationship Id="rId24" Type="http://schemas.openxmlformats.org/officeDocument/2006/relationships/diagramLayout" Target="../diagrams/layout3.xml"/><Relationship Id="rId5" Type="http://schemas.openxmlformats.org/officeDocument/2006/relationships/diagramQuickStyle" Target="../diagrams/quickStyle1.xml"/><Relationship Id="rId15" Type="http://schemas.openxmlformats.org/officeDocument/2006/relationships/image" Target="../media/image16.svg"/><Relationship Id="rId23" Type="http://schemas.openxmlformats.org/officeDocument/2006/relationships/diagramData" Target="../diagrams/data3.xml"/><Relationship Id="rId10" Type="http://schemas.openxmlformats.org/officeDocument/2006/relationships/image" Target="../media/image11.jpeg"/><Relationship Id="rId19" Type="http://schemas.openxmlformats.org/officeDocument/2006/relationships/diagramLayout" Target="../diagrams/layout2.xml"/><Relationship Id="rId4" Type="http://schemas.openxmlformats.org/officeDocument/2006/relationships/diagramLayout" Target="../diagrams/layout1.xml"/><Relationship Id="rId9" Type="http://schemas.openxmlformats.org/officeDocument/2006/relationships/image" Target="../media/image10.jpeg"/><Relationship Id="rId14" Type="http://schemas.openxmlformats.org/officeDocument/2006/relationships/image" Target="../media/image15.png"/><Relationship Id="rId22" Type="http://schemas.microsoft.com/office/2007/relationships/diagramDrawing" Target="../diagrams/drawing2.xml"/><Relationship Id="rId27" Type="http://schemas.microsoft.com/office/2007/relationships/diagramDrawing" Target="../diagrams/drawing3.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4.xml"/><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diagramQuickStyle" Target="../diagrams/quickStyle4.xml"/><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diagramLayout" Target="../diagrams/layout4.xml"/><Relationship Id="rId11" Type="http://schemas.openxmlformats.org/officeDocument/2006/relationships/image" Target="../media/image22.png"/><Relationship Id="rId5" Type="http://schemas.openxmlformats.org/officeDocument/2006/relationships/diagramData" Target="../diagrams/data4.xml"/><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slide" Target="slide13.xml"/><Relationship Id="rId4" Type="http://schemas.openxmlformats.org/officeDocument/2006/relationships/image" Target="../media/image20.svg"/><Relationship Id="rId9" Type="http://schemas.microsoft.com/office/2007/relationships/diagramDrawing" Target="../diagrams/drawing4.xml"/><Relationship Id="rId14" Type="http://schemas.openxmlformats.org/officeDocument/2006/relationships/image" Target="../media/image2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0.pn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hyperlink" Target="https://docs.google.com/spreadsheets/d/1iVdgqbLmkihSO4DASptjFdjccATxpdHRRdYzGdWbYys/edit?usp=sharing" TargetMode="External"/><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6.jpeg"/><Relationship Id="rId7" Type="http://schemas.openxmlformats.org/officeDocument/2006/relationships/hyperlink" Target="mailto:ABM19021@IIML.AC.I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mailto:PGP38347@IIML.AC.IN" TargetMode="External"/><Relationship Id="rId5" Type="http://schemas.openxmlformats.org/officeDocument/2006/relationships/hyperlink" Target="mailto:PGP38069@IIML.AC.IN" TargetMode="External"/><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jpe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spreadsheets/d/1iVdgqbLmkihSO4DASptjFdjccATxpdHRRdYzGdWbYys/edit?usp=sharin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hyperlink" Target="https://www.fois.indianrail.gov.in/RailSAHAY/pages/FrgtCalc.jsp" TargetMode="External"/><Relationship Id="rId3" Type="http://schemas.openxmlformats.org/officeDocument/2006/relationships/hyperlink" Target="https://india.mongabay.com/2021/12/from-pollution-to-power-what-stops-paddy-straw-from-becoming-the-fuel-of-choice/" TargetMode="External"/><Relationship Id="rId7" Type="http://schemas.openxmlformats.org/officeDocument/2006/relationships/hyperlink" Target="https://saralpaypack.com/blogs/minimum-wages-in-haryana/"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ww.tractorjunction.com/new-holland-tractor/3630-tx-plus/" TargetMode="External"/><Relationship Id="rId5" Type="http://schemas.openxmlformats.org/officeDocument/2006/relationships/hyperlink" Target="https://www.indiamart.com/proddetail/new-holland-square-baler-bc5060-2850641446330.html" TargetMode="External"/><Relationship Id="rId4" Type="http://schemas.openxmlformats.org/officeDocument/2006/relationships/hyperlink" Target="https://docs.google.com/spreadsheets/d/1iVdgqbLmkihSO4DASptjFdjccATxpdHRRdYzGdWbYys/edit#gid=0" TargetMode="External"/><Relationship Id="rId9" Type="http://schemas.openxmlformats.org/officeDocument/2006/relationships/hyperlink" Target="https://www.financialexpress.com/market/commodities/truck-rentals-up-5-on-rise-in-diesel-price/1301640/"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hyperlink" Target="https://mnre.gov.in/bio-energy/current-status" TargetMode="External"/><Relationship Id="rId7" Type="http://schemas.openxmlformats.org/officeDocument/2006/relationships/hyperlink" Target="https://icar.org.in/sites/default/files/2022-09/ICAR-AR-21-22%E2%80%93E.pdf"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peda.gov.in/biomass-power-projects" TargetMode="External"/><Relationship Id="rId5" Type="http://schemas.openxmlformats.org/officeDocument/2006/relationships/hyperlink" Target="https://www.irri.org/rice-straw-management" TargetMode="External"/><Relationship Id="rId4" Type="http://schemas.openxmlformats.org/officeDocument/2006/relationships/hyperlink" Target="https://www.ceew.in/sites/default/files/CEEW-Ex-situ-Crop-Residue-Management-24Dec20_0.pdf" TargetMode="External"/><Relationship Id="rId9"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138043" y="3561778"/>
            <a:ext cx="11784495" cy="44444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IN" sz="2000"/>
              <a:t>Introduction</a:t>
            </a:r>
          </a:p>
        </p:txBody>
      </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248" name="Group 1247">
            <a:extLst>
              <a:ext uri="{FF2B5EF4-FFF2-40B4-BE49-F238E27FC236}">
                <a16:creationId xmlns:a16="http://schemas.microsoft.com/office/drawing/2014/main" id="{6F3B8C43-DFE1-881A-C532-AC351C34C6D6}"/>
              </a:ext>
            </a:extLst>
          </p:cNvPr>
          <p:cNvGrpSpPr/>
          <p:nvPr/>
        </p:nvGrpSpPr>
        <p:grpSpPr>
          <a:xfrm>
            <a:off x="53197" y="6638003"/>
            <a:ext cx="11948715" cy="195823"/>
            <a:chOff x="53197" y="6638003"/>
            <a:chExt cx="11948715" cy="195823"/>
          </a:xfrm>
        </p:grpSpPr>
        <p:sp>
          <p:nvSpPr>
            <p:cNvPr id="1238" name="Arrow: Pentagon 1237">
              <a:extLst>
                <a:ext uri="{FF2B5EF4-FFF2-40B4-BE49-F238E27FC236}">
                  <a16:creationId xmlns:a16="http://schemas.microsoft.com/office/drawing/2014/main" id="{7B7F7734-5B11-B423-6924-6457B8F79069}"/>
                </a:ext>
              </a:extLst>
            </p:cNvPr>
            <p:cNvSpPr/>
            <p:nvPr/>
          </p:nvSpPr>
          <p:spPr>
            <a:xfrm>
              <a:off x="53197" y="6647133"/>
              <a:ext cx="1335082" cy="186286"/>
            </a:xfrm>
            <a:prstGeom prst="homePlat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Introduction</a:t>
              </a:r>
            </a:p>
          </p:txBody>
        </p:sp>
        <p:sp>
          <p:nvSpPr>
            <p:cNvPr id="1239" name="Arrow: Chevron 1238">
              <a:extLst>
                <a:ext uri="{FF2B5EF4-FFF2-40B4-BE49-F238E27FC236}">
                  <a16:creationId xmlns:a16="http://schemas.microsoft.com/office/drawing/2014/main" id="{B4CB1CA1-19DD-CBE7-F6B0-D0B09F8B2987}"/>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1240" name="Arrow: Chevron 1239">
              <a:extLst>
                <a:ext uri="{FF2B5EF4-FFF2-40B4-BE49-F238E27FC236}">
                  <a16:creationId xmlns:a16="http://schemas.microsoft.com/office/drawing/2014/main" id="{506FA1DA-F1BA-AB2C-8BA8-C206A9212A94}"/>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SC Analysis</a:t>
              </a:r>
              <a:endParaRPr lang="en-US" sz="1050">
                <a:solidFill>
                  <a:srgbClr val="FFFFFF"/>
                </a:solidFill>
                <a:cs typeface="Arial"/>
              </a:endParaRPr>
            </a:p>
          </p:txBody>
        </p:sp>
        <p:sp>
          <p:nvSpPr>
            <p:cNvPr id="1241" name="Arrow: Chevron 1240">
              <a:extLst>
                <a:ext uri="{FF2B5EF4-FFF2-40B4-BE49-F238E27FC236}">
                  <a16:creationId xmlns:a16="http://schemas.microsoft.com/office/drawing/2014/main" id="{6B7A77E4-4576-8877-1660-01EA0BF69361}"/>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Hypothesis</a:t>
              </a:r>
              <a:endParaRPr lang="en-US"/>
            </a:p>
          </p:txBody>
        </p:sp>
        <p:sp>
          <p:nvSpPr>
            <p:cNvPr id="1242" name="Arrow: Chevron 1241">
              <a:extLst>
                <a:ext uri="{FF2B5EF4-FFF2-40B4-BE49-F238E27FC236}">
                  <a16:creationId xmlns:a16="http://schemas.microsoft.com/office/drawing/2014/main" id="{8315AF78-B588-142F-5337-1B6767947538}"/>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1243" name="Arrow: Chevron 1242">
              <a:extLst>
                <a:ext uri="{FF2B5EF4-FFF2-40B4-BE49-F238E27FC236}">
                  <a16:creationId xmlns:a16="http://schemas.microsoft.com/office/drawing/2014/main" id="{21B061C6-BA5B-6CA9-0D50-F4A269A5B35C}"/>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1244" name="Arrow: Chevron 1243">
              <a:extLst>
                <a:ext uri="{FF2B5EF4-FFF2-40B4-BE49-F238E27FC236}">
                  <a16:creationId xmlns:a16="http://schemas.microsoft.com/office/drawing/2014/main" id="{9C1293C0-AA97-4630-015B-499ACC3A3AC1}"/>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1245" name="Arrow: Chevron 1244">
              <a:extLst>
                <a:ext uri="{FF2B5EF4-FFF2-40B4-BE49-F238E27FC236}">
                  <a16:creationId xmlns:a16="http://schemas.microsoft.com/office/drawing/2014/main" id="{7AE28FA1-E858-88F4-A32F-727CF44277AA}"/>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1246" name="Arrow: Chevron 1245">
              <a:extLst>
                <a:ext uri="{FF2B5EF4-FFF2-40B4-BE49-F238E27FC236}">
                  <a16:creationId xmlns:a16="http://schemas.microsoft.com/office/drawing/2014/main" id="{60E0775E-A3E7-5AB6-3B90-7A99BF94652A}"/>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1247" name="Arrow: Chevron 1246">
              <a:extLst>
                <a:ext uri="{FF2B5EF4-FFF2-40B4-BE49-F238E27FC236}">
                  <a16:creationId xmlns:a16="http://schemas.microsoft.com/office/drawing/2014/main" id="{8EFE9265-3E0B-413A-C8CA-7B3F27312B1E}"/>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sp>
        <p:nvSpPr>
          <p:cNvPr id="3" name="Google Shape;117;p3">
            <a:extLst>
              <a:ext uri="{FF2B5EF4-FFF2-40B4-BE49-F238E27FC236}">
                <a16:creationId xmlns:a16="http://schemas.microsoft.com/office/drawing/2014/main" id="{CB7AF87B-3CD5-9232-3A7D-381F24553C2E}"/>
              </a:ext>
            </a:extLst>
          </p:cNvPr>
          <p:cNvSpPr/>
          <p:nvPr/>
        </p:nvSpPr>
        <p:spPr>
          <a:xfrm>
            <a:off x="6585796" y="4299475"/>
            <a:ext cx="5353988" cy="320674"/>
          </a:xfrm>
          <a:prstGeom prst="rect">
            <a:avLst/>
          </a:prstGeom>
          <a:solidFill>
            <a:srgbClr val="E9D3D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chemeClr val="dk1"/>
                </a:solidFill>
              </a:rPr>
              <a:t>Key Deliverables</a:t>
            </a:r>
            <a:endParaRPr sz="1300" b="1">
              <a:solidFill>
                <a:schemeClr val="dk1"/>
              </a:solidFill>
              <a:latin typeface="Arial"/>
              <a:ea typeface="Arial"/>
              <a:cs typeface="Arial"/>
              <a:sym typeface="Arial"/>
            </a:endParaRPr>
          </a:p>
        </p:txBody>
      </p:sp>
      <p:sp>
        <p:nvSpPr>
          <p:cNvPr id="5" name="Google Shape;118;p3">
            <a:extLst>
              <a:ext uri="{FF2B5EF4-FFF2-40B4-BE49-F238E27FC236}">
                <a16:creationId xmlns:a16="http://schemas.microsoft.com/office/drawing/2014/main" id="{0A3BDCEC-5090-5A3C-6D9A-9725D2E270CD}"/>
              </a:ext>
            </a:extLst>
          </p:cNvPr>
          <p:cNvSpPr/>
          <p:nvPr/>
        </p:nvSpPr>
        <p:spPr>
          <a:xfrm>
            <a:off x="1690555" y="4705653"/>
            <a:ext cx="4625117" cy="537720"/>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pPr algn="ctr"/>
            <a:r>
              <a:rPr lang="en-US" sz="1200" err="1">
                <a:solidFill>
                  <a:schemeClr val="tx1"/>
                </a:solidFill>
              </a:rPr>
              <a:t>GreenGrow</a:t>
            </a:r>
            <a:r>
              <a:rPr lang="en-US" sz="1200">
                <a:solidFill>
                  <a:schemeClr val="tx1"/>
                </a:solidFill>
              </a:rPr>
              <a:t> is into waste management and needs to set up RNG plants (6 being set up in Haryana and 11 in pipeline) across India.</a:t>
            </a:r>
          </a:p>
        </p:txBody>
      </p:sp>
      <p:sp>
        <p:nvSpPr>
          <p:cNvPr id="7" name="Google Shape;120;p3">
            <a:extLst>
              <a:ext uri="{FF2B5EF4-FFF2-40B4-BE49-F238E27FC236}">
                <a16:creationId xmlns:a16="http://schemas.microsoft.com/office/drawing/2014/main" id="{A9FF66F0-1326-CEED-8427-30F3E9BC6C2E}"/>
              </a:ext>
            </a:extLst>
          </p:cNvPr>
          <p:cNvSpPr/>
          <p:nvPr/>
        </p:nvSpPr>
        <p:spPr>
          <a:xfrm>
            <a:off x="144467" y="4706167"/>
            <a:ext cx="1455641" cy="532416"/>
          </a:xfrm>
          <a:prstGeom prst="rect">
            <a:avLst/>
          </a:prstGeom>
          <a:solidFill>
            <a:srgbClr val="E9D3D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300" b="1">
                <a:solidFill>
                  <a:schemeClr val="dk1"/>
                </a:solidFill>
              </a:rPr>
              <a:t>Background</a:t>
            </a:r>
            <a:endParaRPr sz="1300" b="1">
              <a:solidFill>
                <a:schemeClr val="dk1"/>
              </a:solidFill>
              <a:latin typeface="Arial"/>
              <a:ea typeface="Arial"/>
              <a:cs typeface="Arial"/>
              <a:sym typeface="Arial"/>
            </a:endParaRPr>
          </a:p>
        </p:txBody>
      </p:sp>
      <p:sp>
        <p:nvSpPr>
          <p:cNvPr id="9" name="Google Shape;122;p3">
            <a:extLst>
              <a:ext uri="{FF2B5EF4-FFF2-40B4-BE49-F238E27FC236}">
                <a16:creationId xmlns:a16="http://schemas.microsoft.com/office/drawing/2014/main" id="{4C92D955-7186-0334-6323-2611E5ADE0E0}"/>
              </a:ext>
            </a:extLst>
          </p:cNvPr>
          <p:cNvSpPr/>
          <p:nvPr/>
        </p:nvSpPr>
        <p:spPr>
          <a:xfrm>
            <a:off x="6581692" y="4703831"/>
            <a:ext cx="5348467" cy="1300066"/>
          </a:xfrm>
          <a:prstGeom prst="rect">
            <a:avLst/>
          </a:prstGeom>
          <a:noFill/>
          <a:ln w="12700" cap="flat" cmpd="sng">
            <a:solidFill>
              <a:schemeClr val="accent6"/>
            </a:solidFill>
            <a:prstDash val="dash"/>
            <a:round/>
            <a:headEnd type="none" w="sm" len="sm"/>
            <a:tailEnd type="none" w="sm" len="sm"/>
          </a:ln>
        </p:spPr>
        <p:txBody>
          <a:bodyPr spcFirstLastPara="1" wrap="square" lIns="180000" tIns="45700" rIns="91425" bIns="45700" anchor="ctr" anchorCtr="0">
            <a:noAutofit/>
          </a:bodyPr>
          <a:lstStyle/>
          <a:p>
            <a:pPr>
              <a:spcAft>
                <a:spcPts val="600"/>
              </a:spcAft>
            </a:pPr>
            <a:r>
              <a:rPr lang="en-US" sz="1200"/>
              <a:t>The client desires the appropriate procurement strategy in order to:</a:t>
            </a:r>
            <a:endParaRPr lang="en-US"/>
          </a:p>
          <a:p>
            <a:pPr marL="228600" indent="-228600">
              <a:spcAft>
                <a:spcPts val="600"/>
              </a:spcAft>
              <a:buAutoNum type="arabicPeriod"/>
            </a:pPr>
            <a:r>
              <a:rPr lang="en-US" sz="1200">
                <a:solidFill>
                  <a:schemeClr val="dk1"/>
                </a:solidFill>
              </a:rPr>
              <a:t>Ensure that </a:t>
            </a:r>
            <a:r>
              <a:rPr lang="en-US" sz="1200"/>
              <a:t>raw material collected fulfils annual volume requirements</a:t>
            </a:r>
          </a:p>
          <a:p>
            <a:pPr marL="228600" indent="-228600">
              <a:spcAft>
                <a:spcPts val="600"/>
              </a:spcAft>
              <a:buAutoNum type="arabicPeriod"/>
            </a:pPr>
            <a:r>
              <a:rPr lang="en-US" sz="1200"/>
              <a:t>Guarantee the quality of paddy straws to obtain maximum energy </a:t>
            </a:r>
            <a:endParaRPr lang="en-US"/>
          </a:p>
          <a:p>
            <a:pPr marL="228600" indent="-228600">
              <a:spcAft>
                <a:spcPts val="600"/>
              </a:spcAft>
              <a:buAutoNum type="arabicPeriod"/>
            </a:pPr>
            <a:r>
              <a:rPr lang="en-US" sz="1200"/>
              <a:t>Minimize expenditures and costs associated with procurement</a:t>
            </a:r>
            <a:endParaRPr lang="en-IN"/>
          </a:p>
        </p:txBody>
      </p:sp>
      <p:sp>
        <p:nvSpPr>
          <p:cNvPr id="11" name="Google Shape;118;p3">
            <a:extLst>
              <a:ext uri="{FF2B5EF4-FFF2-40B4-BE49-F238E27FC236}">
                <a16:creationId xmlns:a16="http://schemas.microsoft.com/office/drawing/2014/main" id="{7028B11D-C2C5-A184-AA61-4F891F20FB5D}"/>
              </a:ext>
            </a:extLst>
          </p:cNvPr>
          <p:cNvSpPr/>
          <p:nvPr/>
        </p:nvSpPr>
        <p:spPr>
          <a:xfrm>
            <a:off x="1690555" y="5335131"/>
            <a:ext cx="4625117" cy="664720"/>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pPr algn="just"/>
            <a:r>
              <a:rPr lang="en-US" sz="1200">
                <a:solidFill>
                  <a:srgbClr val="1F1F1F"/>
                </a:solidFill>
              </a:rPr>
              <a:t>The plants run only on Paddy straws and hence the company wants to have a robust procurement strategy for the collection of Paddy straws.</a:t>
            </a:r>
          </a:p>
        </p:txBody>
      </p:sp>
      <p:sp>
        <p:nvSpPr>
          <p:cNvPr id="13" name="Google Shape;120;p3">
            <a:extLst>
              <a:ext uri="{FF2B5EF4-FFF2-40B4-BE49-F238E27FC236}">
                <a16:creationId xmlns:a16="http://schemas.microsoft.com/office/drawing/2014/main" id="{B22DBD9A-2530-0878-CC07-6FA22946F54B}"/>
              </a:ext>
            </a:extLst>
          </p:cNvPr>
          <p:cNvSpPr/>
          <p:nvPr/>
        </p:nvSpPr>
        <p:spPr>
          <a:xfrm>
            <a:off x="144467" y="5330123"/>
            <a:ext cx="1455641" cy="670460"/>
          </a:xfrm>
          <a:prstGeom prst="rect">
            <a:avLst/>
          </a:prstGeom>
          <a:solidFill>
            <a:srgbClr val="E9D3D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chemeClr val="dk1"/>
                </a:solidFill>
              </a:rPr>
              <a:t>Problem Definition</a:t>
            </a:r>
            <a:endParaRPr lang="en-GB" sz="1300" b="1">
              <a:solidFill>
                <a:schemeClr val="dk1"/>
              </a:solidFill>
              <a:latin typeface="Arial"/>
              <a:ea typeface="Arial"/>
              <a:cs typeface="Arial"/>
              <a:sym typeface="Arial"/>
            </a:endParaRPr>
          </a:p>
        </p:txBody>
      </p:sp>
      <p:sp>
        <p:nvSpPr>
          <p:cNvPr id="4" name="Google Shape;162;p5">
            <a:extLst>
              <a:ext uri="{FF2B5EF4-FFF2-40B4-BE49-F238E27FC236}">
                <a16:creationId xmlns:a16="http://schemas.microsoft.com/office/drawing/2014/main" id="{6A48C468-38BC-B997-23DA-9F4A4BBD78F3}"/>
              </a:ext>
            </a:extLst>
          </p:cNvPr>
          <p:cNvSpPr/>
          <p:nvPr/>
        </p:nvSpPr>
        <p:spPr>
          <a:xfrm>
            <a:off x="148548" y="4295503"/>
            <a:ext cx="6168960" cy="328878"/>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rgbClr val="FFFFFF"/>
                </a:solidFill>
              </a:rPr>
              <a:t>Case 1 | GREENGROW | Round 1</a:t>
            </a:r>
            <a:endParaRPr lang="en-US"/>
          </a:p>
        </p:txBody>
      </p:sp>
      <p:sp>
        <p:nvSpPr>
          <p:cNvPr id="12" name="Isosceles Triangle 11">
            <a:extLst>
              <a:ext uri="{FF2B5EF4-FFF2-40B4-BE49-F238E27FC236}">
                <a16:creationId xmlns:a16="http://schemas.microsoft.com/office/drawing/2014/main" id="{33286C36-2C36-7900-9236-5AED6E942DF5}"/>
              </a:ext>
            </a:extLst>
          </p:cNvPr>
          <p:cNvSpPr/>
          <p:nvPr/>
        </p:nvSpPr>
        <p:spPr>
          <a:xfrm rot="10800000">
            <a:off x="193260" y="3092173"/>
            <a:ext cx="11672956" cy="220869"/>
          </a:xfrm>
          <a:prstGeom prst="triangl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logo of a globe&#10;&#10;Description automatically generated">
            <a:extLst>
              <a:ext uri="{FF2B5EF4-FFF2-40B4-BE49-F238E27FC236}">
                <a16:creationId xmlns:a16="http://schemas.microsoft.com/office/drawing/2014/main" id="{9341BDEB-9424-058C-5386-1EB4EF7D1785}"/>
              </a:ext>
            </a:extLst>
          </p:cNvPr>
          <p:cNvPicPr>
            <a:picLocks noChangeAspect="1"/>
          </p:cNvPicPr>
          <p:nvPr/>
        </p:nvPicPr>
        <p:blipFill>
          <a:blip r:embed="rId3"/>
          <a:stretch>
            <a:fillRect/>
          </a:stretch>
        </p:blipFill>
        <p:spPr>
          <a:xfrm>
            <a:off x="196574" y="531373"/>
            <a:ext cx="932071" cy="820167"/>
          </a:xfrm>
          <a:prstGeom prst="rect">
            <a:avLst/>
          </a:prstGeom>
        </p:spPr>
      </p:pic>
      <p:pic>
        <p:nvPicPr>
          <p:cNvPr id="15" name="Picture 14" descr="A black and red sign with white text&#10;&#10;Description automatically generated">
            <a:extLst>
              <a:ext uri="{FF2B5EF4-FFF2-40B4-BE49-F238E27FC236}">
                <a16:creationId xmlns:a16="http://schemas.microsoft.com/office/drawing/2014/main" id="{453296FC-7A24-0DC1-4218-EF367A227B22}"/>
              </a:ext>
            </a:extLst>
          </p:cNvPr>
          <p:cNvPicPr>
            <a:picLocks noChangeAspect="1"/>
          </p:cNvPicPr>
          <p:nvPr/>
        </p:nvPicPr>
        <p:blipFill>
          <a:blip r:embed="rId4"/>
          <a:stretch>
            <a:fillRect/>
          </a:stretch>
        </p:blipFill>
        <p:spPr>
          <a:xfrm>
            <a:off x="9925877" y="646947"/>
            <a:ext cx="2080592" cy="649761"/>
          </a:xfrm>
          <a:prstGeom prst="rect">
            <a:avLst/>
          </a:prstGeom>
        </p:spPr>
      </p:pic>
      <p:sp>
        <p:nvSpPr>
          <p:cNvPr id="17" name="Google Shape;31;p1">
            <a:extLst>
              <a:ext uri="{FF2B5EF4-FFF2-40B4-BE49-F238E27FC236}">
                <a16:creationId xmlns:a16="http://schemas.microsoft.com/office/drawing/2014/main" id="{FA0F4FA3-3CEF-2412-B7E1-6FB4E26C27AE}"/>
              </a:ext>
            </a:extLst>
          </p:cNvPr>
          <p:cNvSpPr txBox="1">
            <a:spLocks/>
          </p:cNvSpPr>
          <p:nvPr/>
        </p:nvSpPr>
        <p:spPr>
          <a:xfrm>
            <a:off x="1334053" y="677222"/>
            <a:ext cx="9520582" cy="53279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200" b="1" i="0" u="none" strike="noStrike" cap="none">
                <a:solidFill>
                  <a:srgbClr val="6D0F14"/>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pPr algn="ctr"/>
            <a:r>
              <a:rPr lang="en-IN" sz="2400"/>
              <a:t>Sun Tzu | Avalon Consulting</a:t>
            </a:r>
            <a:endParaRPr lang="en-US" sz="2400"/>
          </a:p>
        </p:txBody>
      </p:sp>
      <p:graphicFrame>
        <p:nvGraphicFramePr>
          <p:cNvPr id="21" name="Table 20">
            <a:extLst>
              <a:ext uri="{FF2B5EF4-FFF2-40B4-BE49-F238E27FC236}">
                <a16:creationId xmlns:a16="http://schemas.microsoft.com/office/drawing/2014/main" id="{8F9D951F-48B1-12C5-A6C1-E9537C05CFD5}"/>
              </a:ext>
            </a:extLst>
          </p:cNvPr>
          <p:cNvGraphicFramePr>
            <a:graphicFrameLocks noGrp="1"/>
          </p:cNvGraphicFramePr>
          <p:nvPr>
            <p:extLst>
              <p:ext uri="{D42A27DB-BD31-4B8C-83A1-F6EECF244321}">
                <p14:modId xmlns:p14="http://schemas.microsoft.com/office/powerpoint/2010/main" val="4081629190"/>
              </p:ext>
            </p:extLst>
          </p:nvPr>
        </p:nvGraphicFramePr>
        <p:xfrm>
          <a:off x="1280087" y="2021210"/>
          <a:ext cx="9629911" cy="736600"/>
        </p:xfrm>
        <a:graphic>
          <a:graphicData uri="http://schemas.openxmlformats.org/drawingml/2006/table">
            <a:tbl>
              <a:tblPr firstRow="1" bandRow="1">
                <a:tableStyleId>{912C8C85-51F0-491E-9774-3900AFEF0FD7}</a:tableStyleId>
              </a:tblPr>
              <a:tblGrid>
                <a:gridCol w="4638261">
                  <a:extLst>
                    <a:ext uri="{9D8B030D-6E8A-4147-A177-3AD203B41FA5}">
                      <a16:colId xmlns:a16="http://schemas.microsoft.com/office/drawing/2014/main" val="196730264"/>
                    </a:ext>
                  </a:extLst>
                </a:gridCol>
                <a:gridCol w="2065129">
                  <a:extLst>
                    <a:ext uri="{9D8B030D-6E8A-4147-A177-3AD203B41FA5}">
                      <a16:colId xmlns:a16="http://schemas.microsoft.com/office/drawing/2014/main" val="3700748282"/>
                    </a:ext>
                  </a:extLst>
                </a:gridCol>
                <a:gridCol w="2926521">
                  <a:extLst>
                    <a:ext uri="{9D8B030D-6E8A-4147-A177-3AD203B41FA5}">
                      <a16:colId xmlns:a16="http://schemas.microsoft.com/office/drawing/2014/main" val="2325991397"/>
                    </a:ext>
                  </a:extLst>
                </a:gridCol>
              </a:tblGrid>
              <a:tr h="0">
                <a:tc>
                  <a:txBody>
                    <a:bodyPr/>
                    <a:lstStyle/>
                    <a:p>
                      <a:pPr algn="ctr"/>
                      <a:r>
                        <a:rPr lang="en-GB" sz="1800"/>
                        <a:t>College Name</a:t>
                      </a:r>
                    </a:p>
                  </a:txBody>
                  <a:tcPr anchor="ctr">
                    <a:lnR w="3175">
                      <a:solidFill>
                        <a:schemeClr val="tx1"/>
                      </a:solidFill>
                    </a:lnR>
                    <a:lnT w="12700">
                      <a:solidFill>
                        <a:schemeClr val="tx1"/>
                      </a:solidFill>
                    </a:lnT>
                    <a:lnB w="3175">
                      <a:solidFill>
                        <a:schemeClr val="tx1"/>
                      </a:solidFill>
                    </a:lnB>
                  </a:tcPr>
                </a:tc>
                <a:tc>
                  <a:txBody>
                    <a:bodyPr/>
                    <a:lstStyle/>
                    <a:p>
                      <a:pPr algn="ctr"/>
                      <a:r>
                        <a:rPr lang="en-GB" sz="1800"/>
                        <a:t>Team Name</a:t>
                      </a:r>
                    </a:p>
                  </a:txBody>
                  <a:tcPr anchor="ctr">
                    <a:lnL w="3175">
                      <a:solidFill>
                        <a:schemeClr val="tx1"/>
                      </a:solidFill>
                    </a:lnL>
                    <a:lnR w="3175">
                      <a:solidFill>
                        <a:schemeClr val="tx1"/>
                      </a:solidFill>
                    </a:lnR>
                    <a:lnT w="12700">
                      <a:solidFill>
                        <a:schemeClr val="tx1"/>
                      </a:solidFill>
                    </a:lnT>
                    <a:lnB w="3175">
                      <a:solidFill>
                        <a:schemeClr val="tx1"/>
                      </a:solidFill>
                    </a:lnB>
                  </a:tcPr>
                </a:tc>
                <a:tc>
                  <a:txBody>
                    <a:bodyPr/>
                    <a:lstStyle/>
                    <a:p>
                      <a:pPr lvl="0" algn="ctr">
                        <a:buNone/>
                      </a:pPr>
                      <a:r>
                        <a:rPr lang="en-GB" sz="1800"/>
                        <a:t>Case </a:t>
                      </a:r>
                    </a:p>
                  </a:txBody>
                  <a:tcPr anchor="ctr">
                    <a:lnL w="3175" cap="flat" cmpd="sng" algn="ctr">
                      <a:solidFill>
                        <a:schemeClr val="tx1"/>
                      </a:solidFill>
                      <a:prstDash val="solid"/>
                      <a:round/>
                      <a:headEnd type="none" w="med" len="med"/>
                      <a:tailEnd type="none" w="med" len="med"/>
                    </a:lnL>
                    <a:lnT w="12700">
                      <a:solidFill>
                        <a:schemeClr val="tx1"/>
                      </a:solidFill>
                    </a:lnT>
                    <a:lnB w="3174">
                      <a:solidFill>
                        <a:schemeClr val="tx1"/>
                      </a:solidFill>
                    </a:lnB>
                  </a:tcPr>
                </a:tc>
                <a:extLst>
                  <a:ext uri="{0D108BD9-81ED-4DB2-BD59-A6C34878D82A}">
                    <a16:rowId xmlns:a16="http://schemas.microsoft.com/office/drawing/2014/main" val="2254322025"/>
                  </a:ext>
                </a:extLst>
              </a:tr>
              <a:tr h="370840">
                <a:tc>
                  <a:txBody>
                    <a:bodyPr/>
                    <a:lstStyle/>
                    <a:p>
                      <a:pPr algn="ctr"/>
                      <a:r>
                        <a:rPr lang="en-GB" sz="1800"/>
                        <a:t>Indian Institute of Management, Lucknow</a:t>
                      </a:r>
                    </a:p>
                  </a:txBody>
                  <a:tcPr anchor="ctr">
                    <a:lnR w="3175">
                      <a:solidFill>
                        <a:schemeClr val="tx1"/>
                      </a:solidFill>
                    </a:lnR>
                    <a:lnT w="3175">
                      <a:solidFill>
                        <a:schemeClr val="tx1"/>
                      </a:solidFill>
                    </a:lnT>
                    <a:lnB w="12700">
                      <a:solidFill>
                        <a:schemeClr val="tx1"/>
                      </a:solidFill>
                    </a:lnB>
                  </a:tcPr>
                </a:tc>
                <a:tc>
                  <a:txBody>
                    <a:bodyPr/>
                    <a:lstStyle/>
                    <a:p>
                      <a:pPr algn="ctr"/>
                      <a:r>
                        <a:rPr lang="en-GB" sz="1800"/>
                        <a:t>MV</a:t>
                      </a:r>
                    </a:p>
                  </a:txBody>
                  <a:tcPr anchor="ctr">
                    <a:lnL w="3175">
                      <a:solidFill>
                        <a:schemeClr val="tx1"/>
                      </a:solidFill>
                    </a:lnL>
                    <a:lnR w="3175">
                      <a:solidFill>
                        <a:schemeClr val="tx1"/>
                      </a:solidFill>
                    </a:lnR>
                    <a:lnT w="3175">
                      <a:solidFill>
                        <a:schemeClr val="tx1"/>
                      </a:solidFill>
                    </a:lnT>
                    <a:lnB w="12700">
                      <a:solidFill>
                        <a:schemeClr val="tx1"/>
                      </a:solidFill>
                    </a:lnB>
                  </a:tcPr>
                </a:tc>
                <a:tc>
                  <a:txBody>
                    <a:bodyPr/>
                    <a:lstStyle/>
                    <a:p>
                      <a:pPr lvl="0" algn="ctr">
                        <a:buNone/>
                      </a:pPr>
                      <a:r>
                        <a:rPr lang="en-GB" sz="1800"/>
                        <a:t>Case 1: GreenGrow</a:t>
                      </a:r>
                    </a:p>
                  </a:txBody>
                  <a:tcPr anchor="ctr">
                    <a:lnL w="3175" cap="flat" cmpd="sng" algn="ctr">
                      <a:solidFill>
                        <a:schemeClr val="tx1"/>
                      </a:solidFill>
                      <a:prstDash val="solid"/>
                      <a:round/>
                      <a:headEnd type="none" w="med" len="med"/>
                      <a:tailEnd type="none" w="med" len="med"/>
                    </a:lnL>
                    <a:lnT w="3174">
                      <a:solidFill>
                        <a:schemeClr val="tx1"/>
                      </a:solidFill>
                    </a:lnT>
                    <a:lnB w="12700">
                      <a:solidFill>
                        <a:schemeClr val="tx1"/>
                      </a:solidFill>
                    </a:lnB>
                  </a:tcPr>
                </a:tc>
                <a:extLst>
                  <a:ext uri="{0D108BD9-81ED-4DB2-BD59-A6C34878D82A}">
                    <a16:rowId xmlns:a16="http://schemas.microsoft.com/office/drawing/2014/main" val="3868271102"/>
                  </a:ext>
                </a:extLst>
              </a:tr>
            </a:tbl>
          </a:graphicData>
        </a:graphic>
      </p:graphicFrame>
    </p:spTree>
    <p:extLst>
      <p:ext uri="{BB962C8B-B14F-4D97-AF65-F5344CB8AC3E}">
        <p14:creationId xmlns:p14="http://schemas.microsoft.com/office/powerpoint/2010/main" val="1626875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18" name="Rectangle 17">
            <a:extLst>
              <a:ext uri="{FF2B5EF4-FFF2-40B4-BE49-F238E27FC236}">
                <a16:creationId xmlns:a16="http://schemas.microsoft.com/office/drawing/2014/main" id="{7E568DDD-B09D-CAA9-A5CE-52A14786F264}"/>
              </a:ext>
            </a:extLst>
          </p:cNvPr>
          <p:cNvSpPr/>
          <p:nvPr/>
        </p:nvSpPr>
        <p:spPr>
          <a:xfrm>
            <a:off x="6012848" y="542191"/>
            <a:ext cx="6069257" cy="4568236"/>
          </a:xfrm>
          <a:prstGeom prst="rect">
            <a:avLst/>
          </a:prstGeom>
          <a:solidFill>
            <a:srgbClr val="F9F1F3"/>
          </a:solidFill>
          <a:ln w="19050">
            <a:solidFill>
              <a:srgbClr val="7D3C4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8" name="Rectangle 267">
            <a:extLst>
              <a:ext uri="{FF2B5EF4-FFF2-40B4-BE49-F238E27FC236}">
                <a16:creationId xmlns:a16="http://schemas.microsoft.com/office/drawing/2014/main" id="{54F58163-D6AF-13F1-6FDC-ECE57F933C1E}"/>
              </a:ext>
            </a:extLst>
          </p:cNvPr>
          <p:cNvSpPr/>
          <p:nvPr/>
        </p:nvSpPr>
        <p:spPr>
          <a:xfrm>
            <a:off x="45568" y="5160693"/>
            <a:ext cx="12026377" cy="1363528"/>
          </a:xfrm>
          <a:prstGeom prst="rect">
            <a:avLst/>
          </a:prstGeom>
          <a:solidFill>
            <a:srgbClr val="EAD3D8">
              <a:alpha val="39000"/>
            </a:srgbClr>
          </a:solidFill>
          <a:ln w="1270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Google Shape;31;p1"/>
          <p:cNvSpPr txBox="1">
            <a:spLocks noGrp="1"/>
          </p:cNvSpPr>
          <p:nvPr>
            <p:ph type="title"/>
          </p:nvPr>
        </p:nvSpPr>
        <p:spPr>
          <a:xfrm>
            <a:off x="0" y="35613"/>
            <a:ext cx="12029767" cy="403210"/>
          </a:xfrm>
          <a:prstGeom prst="rect">
            <a:avLst/>
          </a:prstGeom>
          <a:noFill/>
          <a:ln>
            <a:noFill/>
          </a:ln>
        </p:spPr>
        <p:txBody>
          <a:bodyPr spcFirstLastPara="1" wrap="square" lIns="91425" tIns="45700" rIns="91425" bIns="45700" anchor="ctr" anchorCtr="0">
            <a:noAutofit/>
          </a:bodyPr>
          <a:lstStyle/>
          <a:p>
            <a:r>
              <a:rPr lang="en-IN" sz="1800"/>
              <a:t>Industrial analysis reveals the high potential for stubble monetization, but short timelines is a concern.</a:t>
            </a:r>
            <a:endParaRPr lang="en-US" sz="1800"/>
          </a:p>
        </p:txBody>
      </p:sp>
      <p:grpSp>
        <p:nvGrpSpPr>
          <p:cNvPr id="32" name="Google Shape;32;p1" descr="{&quot;Key&quot;:&quot;POWER_USER_SHAPE_ICON&quot;,&quot;Value&quot;:&quot;POWER_USER_SHAPE_ICON_STYLE_1&quot;}"/>
          <p:cNvGrpSpPr/>
          <p:nvPr/>
        </p:nvGrpSpPr>
        <p:grpSpPr>
          <a:xfrm>
            <a:off x="4762687" y="1872743"/>
            <a:ext cx="634238" cy="367355"/>
            <a:chOff x="5095875" y="3181351"/>
            <a:chExt cx="641351" cy="371475"/>
          </a:xfrm>
        </p:grpSpPr>
        <p:sp>
          <p:nvSpPr>
            <p:cNvPr id="33" name="Google Shape;33;p1"/>
            <p:cNvSpPr/>
            <p:nvPr/>
          </p:nvSpPr>
          <p:spPr>
            <a:xfrm>
              <a:off x="5311775" y="3300413"/>
              <a:ext cx="211138" cy="18256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
            <p:cNvSpPr/>
            <p:nvPr/>
          </p:nvSpPr>
          <p:spPr>
            <a:xfrm>
              <a:off x="5392738" y="3357563"/>
              <a:ext cx="49213"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
            <p:cNvSpPr/>
            <p:nvPr/>
          </p:nvSpPr>
          <p:spPr>
            <a:xfrm>
              <a:off x="5659438"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
            <p:cNvSpPr/>
            <p:nvPr/>
          </p:nvSpPr>
          <p:spPr>
            <a:xfrm>
              <a:off x="5681663"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1"/>
            <p:cNvSpPr/>
            <p:nvPr/>
          </p:nvSpPr>
          <p:spPr>
            <a:xfrm>
              <a:off x="5659438"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 name="Google Shape;38;p1"/>
            <p:cNvSpPr/>
            <p:nvPr/>
          </p:nvSpPr>
          <p:spPr>
            <a:xfrm>
              <a:off x="5124450"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 name="Google Shape;39;p1"/>
            <p:cNvSpPr/>
            <p:nvPr/>
          </p:nvSpPr>
          <p:spPr>
            <a:xfrm>
              <a:off x="5102225"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1"/>
            <p:cNvSpPr/>
            <p:nvPr/>
          </p:nvSpPr>
          <p:spPr>
            <a:xfrm>
              <a:off x="5124450"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1"/>
            <p:cNvSpPr/>
            <p:nvPr/>
          </p:nvSpPr>
          <p:spPr>
            <a:xfrm>
              <a:off x="5307013" y="3295651"/>
              <a:ext cx="220663" cy="193675"/>
            </a:xfrm>
            <a:custGeom>
              <a:avLst/>
              <a:gdLst/>
              <a:ahLst/>
              <a:cxnLst/>
              <a:rect l="l" t="t" r="r" b="b"/>
              <a:pathLst>
                <a:path w="328" h="286" extrusionOk="0">
                  <a:moveTo>
                    <a:pt x="16" y="269"/>
                  </a:moveTo>
                  <a:lnTo>
                    <a:pt x="312" y="269"/>
                  </a:lnTo>
                  <a:lnTo>
                    <a:pt x="312" y="16"/>
                  </a:lnTo>
                  <a:lnTo>
                    <a:pt x="16" y="16"/>
                  </a:lnTo>
                  <a:lnTo>
                    <a:pt x="16" y="269"/>
                  </a:lnTo>
                  <a:close/>
                  <a:moveTo>
                    <a:pt x="328" y="286"/>
                  </a:moveTo>
                  <a:lnTo>
                    <a:pt x="0" y="286"/>
                  </a:lnTo>
                  <a:lnTo>
                    <a:pt x="0" y="0"/>
                  </a:lnTo>
                  <a:lnTo>
                    <a:pt x="328" y="0"/>
                  </a:lnTo>
                  <a:lnTo>
                    <a:pt x="328" y="2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 name="Google Shape;42;p1"/>
            <p:cNvSpPr/>
            <p:nvPr/>
          </p:nvSpPr>
          <p:spPr>
            <a:xfrm>
              <a:off x="5334000" y="3181351"/>
              <a:ext cx="166688" cy="125413"/>
            </a:xfrm>
            <a:custGeom>
              <a:avLst/>
              <a:gdLst/>
              <a:ahLst/>
              <a:cxnLst/>
              <a:rect l="l" t="t" r="r" b="b"/>
              <a:pathLst>
                <a:path w="245" h="186" extrusionOk="0">
                  <a:moveTo>
                    <a:pt x="245" y="186"/>
                  </a:moveTo>
                  <a:lnTo>
                    <a:pt x="201" y="186"/>
                  </a:lnTo>
                  <a:lnTo>
                    <a:pt x="201" y="170"/>
                  </a:lnTo>
                  <a:lnTo>
                    <a:pt x="229" y="170"/>
                  </a:lnTo>
                  <a:lnTo>
                    <a:pt x="229" y="122"/>
                  </a:lnTo>
                  <a:cubicBezTo>
                    <a:pt x="229" y="64"/>
                    <a:pt x="181" y="16"/>
                    <a:pt x="123" y="16"/>
                  </a:cubicBezTo>
                  <a:cubicBezTo>
                    <a:pt x="65" y="16"/>
                    <a:pt x="17" y="64"/>
                    <a:pt x="17" y="122"/>
                  </a:cubicBezTo>
                  <a:lnTo>
                    <a:pt x="17" y="170"/>
                  </a:lnTo>
                  <a:lnTo>
                    <a:pt x="45" y="170"/>
                  </a:lnTo>
                  <a:lnTo>
                    <a:pt x="45" y="186"/>
                  </a:lnTo>
                  <a:lnTo>
                    <a:pt x="0" y="186"/>
                  </a:lnTo>
                  <a:lnTo>
                    <a:pt x="0" y="122"/>
                  </a:lnTo>
                  <a:cubicBezTo>
                    <a:pt x="0" y="55"/>
                    <a:pt x="55" y="0"/>
                    <a:pt x="123" y="0"/>
                  </a:cubicBezTo>
                  <a:cubicBezTo>
                    <a:pt x="190" y="0"/>
                    <a:pt x="245" y="55"/>
                    <a:pt x="245" y="122"/>
                  </a:cubicBezTo>
                  <a:lnTo>
                    <a:pt x="245" y="1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 name="Google Shape;43;p1"/>
            <p:cNvSpPr/>
            <p:nvPr/>
          </p:nvSpPr>
          <p:spPr>
            <a:xfrm>
              <a:off x="5386388" y="3351213"/>
              <a:ext cx="61913" cy="61913"/>
            </a:xfrm>
            <a:custGeom>
              <a:avLst/>
              <a:gdLst/>
              <a:ahLst/>
              <a:cxnLst/>
              <a:rect l="l" t="t" r="r" b="b"/>
              <a:pathLst>
                <a:path w="91" h="91" extrusionOk="0">
                  <a:moveTo>
                    <a:pt x="46" y="17"/>
                  </a:moveTo>
                  <a:cubicBezTo>
                    <a:pt x="30" y="17"/>
                    <a:pt x="17" y="30"/>
                    <a:pt x="17" y="46"/>
                  </a:cubicBezTo>
                  <a:cubicBezTo>
                    <a:pt x="17" y="62"/>
                    <a:pt x="30" y="75"/>
                    <a:pt x="46" y="75"/>
                  </a:cubicBezTo>
                  <a:cubicBezTo>
                    <a:pt x="62" y="75"/>
                    <a:pt x="75" y="62"/>
                    <a:pt x="75" y="46"/>
                  </a:cubicBezTo>
                  <a:cubicBezTo>
                    <a:pt x="75" y="30"/>
                    <a:pt x="62" y="17"/>
                    <a:pt x="46" y="17"/>
                  </a:cubicBezTo>
                  <a:close/>
                  <a:moveTo>
                    <a:pt x="46" y="91"/>
                  </a:moveTo>
                  <a:cubicBezTo>
                    <a:pt x="21" y="91"/>
                    <a:pt x="0" y="71"/>
                    <a:pt x="0" y="46"/>
                  </a:cubicBezTo>
                  <a:cubicBezTo>
                    <a:pt x="0" y="21"/>
                    <a:pt x="21" y="0"/>
                    <a:pt x="46" y="0"/>
                  </a:cubicBezTo>
                  <a:cubicBezTo>
                    <a:pt x="71" y="0"/>
                    <a:pt x="91" y="21"/>
                    <a:pt x="91" y="46"/>
                  </a:cubicBezTo>
                  <a:cubicBezTo>
                    <a:pt x="91" y="71"/>
                    <a:pt x="71" y="91"/>
                    <a:pt x="46" y="91"/>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1"/>
            <p:cNvSpPr/>
            <p:nvPr/>
          </p:nvSpPr>
          <p:spPr>
            <a:xfrm>
              <a:off x="5411788" y="3408363"/>
              <a:ext cx="11113" cy="365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1"/>
            <p:cNvSpPr/>
            <p:nvPr/>
          </p:nvSpPr>
          <p:spPr>
            <a:xfrm>
              <a:off x="5556250" y="3276601"/>
              <a:ext cx="115888" cy="71438"/>
            </a:xfrm>
            <a:custGeom>
              <a:avLst/>
              <a:gdLst/>
              <a:ahLst/>
              <a:cxnLst/>
              <a:rect l="l" t="t" r="r" b="b"/>
              <a:pathLst>
                <a:path w="73" h="45" extrusionOk="0">
                  <a:moveTo>
                    <a:pt x="36" y="45"/>
                  </a:moveTo>
                  <a:lnTo>
                    <a:pt x="0" y="45"/>
                  </a:lnTo>
                  <a:lnTo>
                    <a:pt x="0" y="38"/>
                  </a:lnTo>
                  <a:lnTo>
                    <a:pt x="33" y="38"/>
                  </a:lnTo>
                  <a:lnTo>
                    <a:pt x="67" y="0"/>
                  </a:lnTo>
                  <a:lnTo>
                    <a:pt x="73" y="5"/>
                  </a:lnTo>
                  <a:lnTo>
                    <a:pt x="36"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1"/>
            <p:cNvSpPr/>
            <p:nvPr/>
          </p:nvSpPr>
          <p:spPr>
            <a:xfrm>
              <a:off x="56530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1"/>
            <p:cNvSpPr/>
            <p:nvPr/>
          </p:nvSpPr>
          <p:spPr>
            <a:xfrm>
              <a:off x="5675313"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5" y="62"/>
                    <a:pt x="75" y="46"/>
                  </a:cubicBezTo>
                  <a:cubicBezTo>
                    <a:pt x="75" y="30"/>
                    <a:pt x="62" y="17"/>
                    <a:pt x="46" y="17"/>
                  </a:cubicBezTo>
                  <a:close/>
                  <a:moveTo>
                    <a:pt x="46" y="92"/>
                  </a:moveTo>
                  <a:cubicBezTo>
                    <a:pt x="21" y="92"/>
                    <a:pt x="0" y="72"/>
                    <a:pt x="0" y="46"/>
                  </a:cubicBezTo>
                  <a:cubicBezTo>
                    <a:pt x="0" y="21"/>
                    <a:pt x="21" y="0"/>
                    <a:pt x="46" y="0"/>
                  </a:cubicBezTo>
                  <a:cubicBezTo>
                    <a:pt x="71" y="0"/>
                    <a:pt x="92" y="21"/>
                    <a:pt x="92" y="46"/>
                  </a:cubicBezTo>
                  <a:cubicBezTo>
                    <a:pt x="92" y="72"/>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1"/>
            <p:cNvSpPr/>
            <p:nvPr/>
          </p:nvSpPr>
          <p:spPr>
            <a:xfrm>
              <a:off x="5556250" y="3435351"/>
              <a:ext cx="115888" cy="71438"/>
            </a:xfrm>
            <a:custGeom>
              <a:avLst/>
              <a:gdLst/>
              <a:ahLst/>
              <a:cxnLst/>
              <a:rect l="l" t="t" r="r" b="b"/>
              <a:pathLst>
                <a:path w="73" h="45" extrusionOk="0">
                  <a:moveTo>
                    <a:pt x="67" y="45"/>
                  </a:moveTo>
                  <a:lnTo>
                    <a:pt x="33" y="7"/>
                  </a:lnTo>
                  <a:lnTo>
                    <a:pt x="0" y="7"/>
                  </a:lnTo>
                  <a:lnTo>
                    <a:pt x="0" y="0"/>
                  </a:lnTo>
                  <a:lnTo>
                    <a:pt x="36" y="0"/>
                  </a:lnTo>
                  <a:lnTo>
                    <a:pt x="73" y="40"/>
                  </a:lnTo>
                  <a:lnTo>
                    <a:pt x="67"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1"/>
            <p:cNvSpPr/>
            <p:nvPr/>
          </p:nvSpPr>
          <p:spPr>
            <a:xfrm>
              <a:off x="56530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556250"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5162550" y="3435351"/>
              <a:ext cx="115888" cy="71438"/>
            </a:xfrm>
            <a:custGeom>
              <a:avLst/>
              <a:gdLst/>
              <a:ahLst/>
              <a:cxnLst/>
              <a:rect l="l" t="t" r="r" b="b"/>
              <a:pathLst>
                <a:path w="73" h="45" extrusionOk="0">
                  <a:moveTo>
                    <a:pt x="5" y="45"/>
                  </a:moveTo>
                  <a:lnTo>
                    <a:pt x="0" y="40"/>
                  </a:lnTo>
                  <a:lnTo>
                    <a:pt x="37" y="0"/>
                  </a:lnTo>
                  <a:lnTo>
                    <a:pt x="73" y="0"/>
                  </a:lnTo>
                  <a:lnTo>
                    <a:pt x="73" y="7"/>
                  </a:lnTo>
                  <a:lnTo>
                    <a:pt x="40" y="7"/>
                  </a:lnTo>
                  <a:lnTo>
                    <a:pt x="5"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a:off x="51196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a:off x="5095875"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6" y="62"/>
                    <a:pt x="76" y="46"/>
                  </a:cubicBezTo>
                  <a:cubicBezTo>
                    <a:pt x="76" y="30"/>
                    <a:pt x="62" y="17"/>
                    <a:pt x="46" y="17"/>
                  </a:cubicBezTo>
                  <a:close/>
                  <a:moveTo>
                    <a:pt x="46" y="92"/>
                  </a:moveTo>
                  <a:cubicBezTo>
                    <a:pt x="21" y="92"/>
                    <a:pt x="0" y="72"/>
                    <a:pt x="0" y="46"/>
                  </a:cubicBezTo>
                  <a:cubicBezTo>
                    <a:pt x="0" y="21"/>
                    <a:pt x="21" y="0"/>
                    <a:pt x="46" y="0"/>
                  </a:cubicBezTo>
                  <a:cubicBezTo>
                    <a:pt x="72" y="0"/>
                    <a:pt x="92" y="21"/>
                    <a:pt x="92" y="46"/>
                  </a:cubicBezTo>
                  <a:cubicBezTo>
                    <a:pt x="92" y="72"/>
                    <a:pt x="72"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a:off x="5162550" y="3276601"/>
              <a:ext cx="115888" cy="71438"/>
            </a:xfrm>
            <a:custGeom>
              <a:avLst/>
              <a:gdLst/>
              <a:ahLst/>
              <a:cxnLst/>
              <a:rect l="l" t="t" r="r" b="b"/>
              <a:pathLst>
                <a:path w="73" h="45" extrusionOk="0">
                  <a:moveTo>
                    <a:pt x="73" y="45"/>
                  </a:moveTo>
                  <a:lnTo>
                    <a:pt x="37" y="45"/>
                  </a:lnTo>
                  <a:lnTo>
                    <a:pt x="0" y="5"/>
                  </a:lnTo>
                  <a:lnTo>
                    <a:pt x="5" y="0"/>
                  </a:lnTo>
                  <a:lnTo>
                    <a:pt x="40" y="38"/>
                  </a:lnTo>
                  <a:lnTo>
                    <a:pt x="73" y="38"/>
                  </a:lnTo>
                  <a:lnTo>
                    <a:pt x="73"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1"/>
            <p:cNvSpPr/>
            <p:nvPr/>
          </p:nvSpPr>
          <p:spPr>
            <a:xfrm>
              <a:off x="51196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1"/>
            <p:cNvSpPr/>
            <p:nvPr/>
          </p:nvSpPr>
          <p:spPr>
            <a:xfrm>
              <a:off x="5153025"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52" name="Group 151">
            <a:extLst>
              <a:ext uri="{FF2B5EF4-FFF2-40B4-BE49-F238E27FC236}">
                <a16:creationId xmlns:a16="http://schemas.microsoft.com/office/drawing/2014/main" id="{6E655C8E-BFBD-A934-BBBA-01F5E5AFD32E}"/>
              </a:ext>
            </a:extLst>
          </p:cNvPr>
          <p:cNvGrpSpPr/>
          <p:nvPr/>
        </p:nvGrpSpPr>
        <p:grpSpPr>
          <a:xfrm>
            <a:off x="5305660" y="4280685"/>
            <a:ext cx="294938" cy="268254"/>
            <a:chOff x="9312275" y="5386388"/>
            <a:chExt cx="285750" cy="249238"/>
          </a:xfrm>
          <a:solidFill>
            <a:schemeClr val="bg1"/>
          </a:solidFill>
        </p:grpSpPr>
        <p:sp>
          <p:nvSpPr>
            <p:cNvPr id="154" name="Freeform 3445">
              <a:extLst>
                <a:ext uri="{FF2B5EF4-FFF2-40B4-BE49-F238E27FC236}">
                  <a16:creationId xmlns:a16="http://schemas.microsoft.com/office/drawing/2014/main" id="{24DFAD34-525F-235D-F834-E3B258D27BA3}"/>
                </a:ext>
              </a:extLst>
            </p:cNvPr>
            <p:cNvSpPr>
              <a:spLocks/>
            </p:cNvSpPr>
            <p:nvPr/>
          </p:nvSpPr>
          <p:spPr bwMode="auto">
            <a:xfrm>
              <a:off x="9312275" y="5386388"/>
              <a:ext cx="225425" cy="249238"/>
            </a:xfrm>
            <a:custGeom>
              <a:avLst/>
              <a:gdLst>
                <a:gd name="T0" fmla="*/ 384 w 569"/>
                <a:gd name="T1" fmla="*/ 376 h 628"/>
                <a:gd name="T2" fmla="*/ 359 w 569"/>
                <a:gd name="T3" fmla="*/ 309 h 628"/>
                <a:gd name="T4" fmla="*/ 379 w 569"/>
                <a:gd name="T5" fmla="*/ 290 h 628"/>
                <a:gd name="T6" fmla="*/ 397 w 569"/>
                <a:gd name="T7" fmla="*/ 253 h 628"/>
                <a:gd name="T8" fmla="*/ 406 w 569"/>
                <a:gd name="T9" fmla="*/ 213 h 628"/>
                <a:gd name="T10" fmla="*/ 415 w 569"/>
                <a:gd name="T11" fmla="*/ 203 h 628"/>
                <a:gd name="T12" fmla="*/ 420 w 569"/>
                <a:gd name="T13" fmla="*/ 184 h 628"/>
                <a:gd name="T14" fmla="*/ 416 w 569"/>
                <a:gd name="T15" fmla="*/ 154 h 628"/>
                <a:gd name="T16" fmla="*/ 411 w 569"/>
                <a:gd name="T17" fmla="*/ 123 h 628"/>
                <a:gd name="T18" fmla="*/ 420 w 569"/>
                <a:gd name="T19" fmla="*/ 78 h 628"/>
                <a:gd name="T20" fmla="*/ 415 w 569"/>
                <a:gd name="T21" fmla="*/ 46 h 628"/>
                <a:gd name="T22" fmla="*/ 402 w 569"/>
                <a:gd name="T23" fmla="*/ 28 h 628"/>
                <a:gd name="T24" fmla="*/ 382 w 569"/>
                <a:gd name="T25" fmla="*/ 15 h 628"/>
                <a:gd name="T26" fmla="*/ 341 w 569"/>
                <a:gd name="T27" fmla="*/ 3 h 628"/>
                <a:gd name="T28" fmla="*/ 291 w 569"/>
                <a:gd name="T29" fmla="*/ 1 h 628"/>
                <a:gd name="T30" fmla="*/ 245 w 569"/>
                <a:gd name="T31" fmla="*/ 10 h 628"/>
                <a:gd name="T32" fmla="*/ 213 w 569"/>
                <a:gd name="T33" fmla="*/ 27 h 628"/>
                <a:gd name="T34" fmla="*/ 200 w 569"/>
                <a:gd name="T35" fmla="*/ 42 h 628"/>
                <a:gd name="T36" fmla="*/ 181 w 569"/>
                <a:gd name="T37" fmla="*/ 44 h 628"/>
                <a:gd name="T38" fmla="*/ 163 w 569"/>
                <a:gd name="T39" fmla="*/ 56 h 628"/>
                <a:gd name="T40" fmla="*/ 154 w 569"/>
                <a:gd name="T41" fmla="*/ 86 h 628"/>
                <a:gd name="T42" fmla="*/ 164 w 569"/>
                <a:gd name="T43" fmla="*/ 139 h 628"/>
                <a:gd name="T44" fmla="*/ 160 w 569"/>
                <a:gd name="T45" fmla="*/ 141 h 628"/>
                <a:gd name="T46" fmla="*/ 153 w 569"/>
                <a:gd name="T47" fmla="*/ 154 h 628"/>
                <a:gd name="T48" fmla="*/ 149 w 569"/>
                <a:gd name="T49" fmla="*/ 184 h 628"/>
                <a:gd name="T50" fmla="*/ 153 w 569"/>
                <a:gd name="T51" fmla="*/ 202 h 628"/>
                <a:gd name="T52" fmla="*/ 163 w 569"/>
                <a:gd name="T53" fmla="*/ 213 h 628"/>
                <a:gd name="T54" fmla="*/ 169 w 569"/>
                <a:gd name="T55" fmla="*/ 236 h 628"/>
                <a:gd name="T56" fmla="*/ 180 w 569"/>
                <a:gd name="T57" fmla="*/ 268 h 628"/>
                <a:gd name="T58" fmla="*/ 203 w 569"/>
                <a:gd name="T59" fmla="*/ 299 h 628"/>
                <a:gd name="T60" fmla="*/ 215 w 569"/>
                <a:gd name="T61" fmla="*/ 367 h 628"/>
                <a:gd name="T62" fmla="*/ 177 w 569"/>
                <a:gd name="T63" fmla="*/ 381 h 628"/>
                <a:gd name="T64" fmla="*/ 111 w 569"/>
                <a:gd name="T65" fmla="*/ 404 h 628"/>
                <a:gd name="T66" fmla="*/ 47 w 569"/>
                <a:gd name="T67" fmla="*/ 434 h 628"/>
                <a:gd name="T68" fmla="*/ 22 w 569"/>
                <a:gd name="T69" fmla="*/ 456 h 628"/>
                <a:gd name="T70" fmla="*/ 10 w 569"/>
                <a:gd name="T71" fmla="*/ 487 h 628"/>
                <a:gd name="T72" fmla="*/ 1 w 569"/>
                <a:gd name="T73" fmla="*/ 557 h 628"/>
                <a:gd name="T74" fmla="*/ 0 w 569"/>
                <a:gd name="T75" fmla="*/ 620 h 628"/>
                <a:gd name="T76" fmla="*/ 11 w 569"/>
                <a:gd name="T77" fmla="*/ 628 h 628"/>
                <a:gd name="T78" fmla="*/ 565 w 569"/>
                <a:gd name="T79" fmla="*/ 624 h 628"/>
                <a:gd name="T80" fmla="*/ 569 w 569"/>
                <a:gd name="T81" fmla="*/ 597 h 628"/>
                <a:gd name="T82" fmla="*/ 562 w 569"/>
                <a:gd name="T83" fmla="*/ 510 h 628"/>
                <a:gd name="T84" fmla="*/ 551 w 569"/>
                <a:gd name="T85" fmla="*/ 461 h 628"/>
                <a:gd name="T86" fmla="*/ 537 w 569"/>
                <a:gd name="T87" fmla="*/ 444 h 628"/>
                <a:gd name="T88" fmla="*/ 484 w 569"/>
                <a:gd name="T89" fmla="*/ 413 h 628"/>
                <a:gd name="T90" fmla="*/ 408 w 569"/>
                <a:gd name="T91" fmla="*/ 385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9" h="628">
                  <a:moveTo>
                    <a:pt x="408" y="385"/>
                  </a:moveTo>
                  <a:lnTo>
                    <a:pt x="397" y="380"/>
                  </a:lnTo>
                  <a:lnTo>
                    <a:pt x="384" y="376"/>
                  </a:lnTo>
                  <a:lnTo>
                    <a:pt x="372" y="372"/>
                  </a:lnTo>
                  <a:lnTo>
                    <a:pt x="359" y="367"/>
                  </a:lnTo>
                  <a:lnTo>
                    <a:pt x="359" y="309"/>
                  </a:lnTo>
                  <a:lnTo>
                    <a:pt x="366" y="306"/>
                  </a:lnTo>
                  <a:lnTo>
                    <a:pt x="371" y="299"/>
                  </a:lnTo>
                  <a:lnTo>
                    <a:pt x="379" y="290"/>
                  </a:lnTo>
                  <a:lnTo>
                    <a:pt x="385" y="280"/>
                  </a:lnTo>
                  <a:lnTo>
                    <a:pt x="390" y="268"/>
                  </a:lnTo>
                  <a:lnTo>
                    <a:pt x="397" y="253"/>
                  </a:lnTo>
                  <a:lnTo>
                    <a:pt x="400" y="236"/>
                  </a:lnTo>
                  <a:lnTo>
                    <a:pt x="402" y="216"/>
                  </a:lnTo>
                  <a:lnTo>
                    <a:pt x="406" y="213"/>
                  </a:lnTo>
                  <a:lnTo>
                    <a:pt x="409" y="211"/>
                  </a:lnTo>
                  <a:lnTo>
                    <a:pt x="412" y="207"/>
                  </a:lnTo>
                  <a:lnTo>
                    <a:pt x="415" y="203"/>
                  </a:lnTo>
                  <a:lnTo>
                    <a:pt x="417" y="198"/>
                  </a:lnTo>
                  <a:lnTo>
                    <a:pt x="418" y="191"/>
                  </a:lnTo>
                  <a:lnTo>
                    <a:pt x="420" y="184"/>
                  </a:lnTo>
                  <a:lnTo>
                    <a:pt x="420" y="177"/>
                  </a:lnTo>
                  <a:lnTo>
                    <a:pt x="418" y="164"/>
                  </a:lnTo>
                  <a:lnTo>
                    <a:pt x="416" y="154"/>
                  </a:lnTo>
                  <a:lnTo>
                    <a:pt x="411" y="145"/>
                  </a:lnTo>
                  <a:lnTo>
                    <a:pt x="406" y="140"/>
                  </a:lnTo>
                  <a:lnTo>
                    <a:pt x="411" y="123"/>
                  </a:lnTo>
                  <a:lnTo>
                    <a:pt x="417" y="101"/>
                  </a:lnTo>
                  <a:lnTo>
                    <a:pt x="418" y="90"/>
                  </a:lnTo>
                  <a:lnTo>
                    <a:pt x="420" y="78"/>
                  </a:lnTo>
                  <a:lnTo>
                    <a:pt x="420" y="65"/>
                  </a:lnTo>
                  <a:lnTo>
                    <a:pt x="417" y="53"/>
                  </a:lnTo>
                  <a:lnTo>
                    <a:pt x="415" y="46"/>
                  </a:lnTo>
                  <a:lnTo>
                    <a:pt x="412" y="40"/>
                  </a:lnTo>
                  <a:lnTo>
                    <a:pt x="407" y="33"/>
                  </a:lnTo>
                  <a:lnTo>
                    <a:pt x="402" y="28"/>
                  </a:lnTo>
                  <a:lnTo>
                    <a:pt x="397" y="23"/>
                  </a:lnTo>
                  <a:lnTo>
                    <a:pt x="390" y="19"/>
                  </a:lnTo>
                  <a:lnTo>
                    <a:pt x="382" y="15"/>
                  </a:lnTo>
                  <a:lnTo>
                    <a:pt x="375" y="11"/>
                  </a:lnTo>
                  <a:lnTo>
                    <a:pt x="359" y="6"/>
                  </a:lnTo>
                  <a:lnTo>
                    <a:pt x="341" y="3"/>
                  </a:lnTo>
                  <a:lnTo>
                    <a:pt x="325" y="1"/>
                  </a:lnTo>
                  <a:lnTo>
                    <a:pt x="307" y="0"/>
                  </a:lnTo>
                  <a:lnTo>
                    <a:pt x="291" y="1"/>
                  </a:lnTo>
                  <a:lnTo>
                    <a:pt x="276" y="3"/>
                  </a:lnTo>
                  <a:lnTo>
                    <a:pt x="259" y="5"/>
                  </a:lnTo>
                  <a:lnTo>
                    <a:pt x="245" y="10"/>
                  </a:lnTo>
                  <a:lnTo>
                    <a:pt x="231" y="15"/>
                  </a:lnTo>
                  <a:lnTo>
                    <a:pt x="218" y="23"/>
                  </a:lnTo>
                  <a:lnTo>
                    <a:pt x="213" y="27"/>
                  </a:lnTo>
                  <a:lnTo>
                    <a:pt x="208" y="32"/>
                  </a:lnTo>
                  <a:lnTo>
                    <a:pt x="204" y="37"/>
                  </a:lnTo>
                  <a:lnTo>
                    <a:pt x="200" y="42"/>
                  </a:lnTo>
                  <a:lnTo>
                    <a:pt x="194" y="42"/>
                  </a:lnTo>
                  <a:lnTo>
                    <a:pt x="186" y="42"/>
                  </a:lnTo>
                  <a:lnTo>
                    <a:pt x="181" y="44"/>
                  </a:lnTo>
                  <a:lnTo>
                    <a:pt x="176" y="46"/>
                  </a:lnTo>
                  <a:lnTo>
                    <a:pt x="168" y="51"/>
                  </a:lnTo>
                  <a:lnTo>
                    <a:pt x="163" y="56"/>
                  </a:lnTo>
                  <a:lnTo>
                    <a:pt x="158" y="65"/>
                  </a:lnTo>
                  <a:lnTo>
                    <a:pt x="155" y="76"/>
                  </a:lnTo>
                  <a:lnTo>
                    <a:pt x="154" y="86"/>
                  </a:lnTo>
                  <a:lnTo>
                    <a:pt x="155" y="98"/>
                  </a:lnTo>
                  <a:lnTo>
                    <a:pt x="159" y="119"/>
                  </a:lnTo>
                  <a:lnTo>
                    <a:pt x="164" y="139"/>
                  </a:lnTo>
                  <a:lnTo>
                    <a:pt x="164" y="139"/>
                  </a:lnTo>
                  <a:lnTo>
                    <a:pt x="164" y="139"/>
                  </a:lnTo>
                  <a:lnTo>
                    <a:pt x="160" y="141"/>
                  </a:lnTo>
                  <a:lnTo>
                    <a:pt x="158" y="145"/>
                  </a:lnTo>
                  <a:lnTo>
                    <a:pt x="155" y="149"/>
                  </a:lnTo>
                  <a:lnTo>
                    <a:pt x="153" y="154"/>
                  </a:lnTo>
                  <a:lnTo>
                    <a:pt x="149" y="164"/>
                  </a:lnTo>
                  <a:lnTo>
                    <a:pt x="149" y="177"/>
                  </a:lnTo>
                  <a:lnTo>
                    <a:pt x="149" y="184"/>
                  </a:lnTo>
                  <a:lnTo>
                    <a:pt x="150" y="190"/>
                  </a:lnTo>
                  <a:lnTo>
                    <a:pt x="151" y="196"/>
                  </a:lnTo>
                  <a:lnTo>
                    <a:pt x="153" y="202"/>
                  </a:lnTo>
                  <a:lnTo>
                    <a:pt x="155" y="205"/>
                  </a:lnTo>
                  <a:lnTo>
                    <a:pt x="159" y="211"/>
                  </a:lnTo>
                  <a:lnTo>
                    <a:pt x="163" y="213"/>
                  </a:lnTo>
                  <a:lnTo>
                    <a:pt x="167" y="216"/>
                  </a:lnTo>
                  <a:lnTo>
                    <a:pt x="167" y="226"/>
                  </a:lnTo>
                  <a:lnTo>
                    <a:pt x="169" y="236"/>
                  </a:lnTo>
                  <a:lnTo>
                    <a:pt x="171" y="245"/>
                  </a:lnTo>
                  <a:lnTo>
                    <a:pt x="173" y="253"/>
                  </a:lnTo>
                  <a:lnTo>
                    <a:pt x="180" y="268"/>
                  </a:lnTo>
                  <a:lnTo>
                    <a:pt x="187" y="281"/>
                  </a:lnTo>
                  <a:lnTo>
                    <a:pt x="195" y="291"/>
                  </a:lnTo>
                  <a:lnTo>
                    <a:pt x="203" y="299"/>
                  </a:lnTo>
                  <a:lnTo>
                    <a:pt x="209" y="306"/>
                  </a:lnTo>
                  <a:lnTo>
                    <a:pt x="215" y="311"/>
                  </a:lnTo>
                  <a:lnTo>
                    <a:pt x="215" y="367"/>
                  </a:lnTo>
                  <a:lnTo>
                    <a:pt x="203" y="372"/>
                  </a:lnTo>
                  <a:lnTo>
                    <a:pt x="190" y="376"/>
                  </a:lnTo>
                  <a:lnTo>
                    <a:pt x="177" y="381"/>
                  </a:lnTo>
                  <a:lnTo>
                    <a:pt x="164" y="385"/>
                  </a:lnTo>
                  <a:lnTo>
                    <a:pt x="137" y="395"/>
                  </a:lnTo>
                  <a:lnTo>
                    <a:pt x="111" y="404"/>
                  </a:lnTo>
                  <a:lnTo>
                    <a:pt x="87" y="413"/>
                  </a:lnTo>
                  <a:lnTo>
                    <a:pt x="65" y="424"/>
                  </a:lnTo>
                  <a:lnTo>
                    <a:pt x="47" y="434"/>
                  </a:lnTo>
                  <a:lnTo>
                    <a:pt x="32" y="444"/>
                  </a:lnTo>
                  <a:lnTo>
                    <a:pt x="25" y="449"/>
                  </a:lnTo>
                  <a:lnTo>
                    <a:pt x="22" y="456"/>
                  </a:lnTo>
                  <a:lnTo>
                    <a:pt x="18" y="462"/>
                  </a:lnTo>
                  <a:lnTo>
                    <a:pt x="14" y="467"/>
                  </a:lnTo>
                  <a:lnTo>
                    <a:pt x="10" y="487"/>
                  </a:lnTo>
                  <a:lnTo>
                    <a:pt x="6" y="510"/>
                  </a:lnTo>
                  <a:lnTo>
                    <a:pt x="4" y="533"/>
                  </a:lnTo>
                  <a:lnTo>
                    <a:pt x="1" y="557"/>
                  </a:lnTo>
                  <a:lnTo>
                    <a:pt x="0" y="597"/>
                  </a:lnTo>
                  <a:lnTo>
                    <a:pt x="0" y="616"/>
                  </a:lnTo>
                  <a:lnTo>
                    <a:pt x="0" y="620"/>
                  </a:lnTo>
                  <a:lnTo>
                    <a:pt x="2" y="624"/>
                  </a:lnTo>
                  <a:lnTo>
                    <a:pt x="6" y="627"/>
                  </a:lnTo>
                  <a:lnTo>
                    <a:pt x="11" y="628"/>
                  </a:lnTo>
                  <a:lnTo>
                    <a:pt x="557" y="628"/>
                  </a:lnTo>
                  <a:lnTo>
                    <a:pt x="561" y="627"/>
                  </a:lnTo>
                  <a:lnTo>
                    <a:pt x="565" y="624"/>
                  </a:lnTo>
                  <a:lnTo>
                    <a:pt x="567" y="620"/>
                  </a:lnTo>
                  <a:lnTo>
                    <a:pt x="569" y="616"/>
                  </a:lnTo>
                  <a:lnTo>
                    <a:pt x="569" y="597"/>
                  </a:lnTo>
                  <a:lnTo>
                    <a:pt x="567" y="557"/>
                  </a:lnTo>
                  <a:lnTo>
                    <a:pt x="565" y="533"/>
                  </a:lnTo>
                  <a:lnTo>
                    <a:pt x="562" y="510"/>
                  </a:lnTo>
                  <a:lnTo>
                    <a:pt x="558" y="487"/>
                  </a:lnTo>
                  <a:lnTo>
                    <a:pt x="555" y="467"/>
                  </a:lnTo>
                  <a:lnTo>
                    <a:pt x="551" y="461"/>
                  </a:lnTo>
                  <a:lnTo>
                    <a:pt x="547" y="456"/>
                  </a:lnTo>
                  <a:lnTo>
                    <a:pt x="543" y="449"/>
                  </a:lnTo>
                  <a:lnTo>
                    <a:pt x="537" y="444"/>
                  </a:lnTo>
                  <a:lnTo>
                    <a:pt x="522" y="433"/>
                  </a:lnTo>
                  <a:lnTo>
                    <a:pt x="504" y="422"/>
                  </a:lnTo>
                  <a:lnTo>
                    <a:pt x="484" y="413"/>
                  </a:lnTo>
                  <a:lnTo>
                    <a:pt x="461" y="404"/>
                  </a:lnTo>
                  <a:lnTo>
                    <a:pt x="435" y="394"/>
                  </a:lnTo>
                  <a:lnTo>
                    <a:pt x="408"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446">
              <a:extLst>
                <a:ext uri="{FF2B5EF4-FFF2-40B4-BE49-F238E27FC236}">
                  <a16:creationId xmlns:a16="http://schemas.microsoft.com/office/drawing/2014/main" id="{FF25B7D8-4199-9905-653A-4B655510B3B8}"/>
                </a:ext>
              </a:extLst>
            </p:cNvPr>
            <p:cNvSpPr>
              <a:spLocks/>
            </p:cNvSpPr>
            <p:nvPr/>
          </p:nvSpPr>
          <p:spPr bwMode="auto">
            <a:xfrm>
              <a:off x="9485313" y="5387975"/>
              <a:ext cx="112712" cy="247650"/>
            </a:xfrm>
            <a:custGeom>
              <a:avLst/>
              <a:gdLst>
                <a:gd name="T0" fmla="*/ 258 w 281"/>
                <a:gd name="T1" fmla="*/ 450 h 625"/>
                <a:gd name="T2" fmla="*/ 234 w 281"/>
                <a:gd name="T3" fmla="*/ 428 h 625"/>
                <a:gd name="T4" fmla="*/ 199 w 281"/>
                <a:gd name="T5" fmla="*/ 408 h 625"/>
                <a:gd name="T6" fmla="*/ 103 w 281"/>
                <a:gd name="T7" fmla="*/ 367 h 625"/>
                <a:gd name="T8" fmla="*/ 65 w 281"/>
                <a:gd name="T9" fmla="*/ 319 h 625"/>
                <a:gd name="T10" fmla="*/ 86 w 281"/>
                <a:gd name="T11" fmla="*/ 301 h 625"/>
                <a:gd name="T12" fmla="*/ 108 w 281"/>
                <a:gd name="T13" fmla="*/ 265 h 625"/>
                <a:gd name="T14" fmla="*/ 113 w 281"/>
                <a:gd name="T15" fmla="*/ 238 h 625"/>
                <a:gd name="T16" fmla="*/ 122 w 281"/>
                <a:gd name="T17" fmla="*/ 223 h 625"/>
                <a:gd name="T18" fmla="*/ 130 w 281"/>
                <a:gd name="T19" fmla="*/ 209 h 625"/>
                <a:gd name="T20" fmla="*/ 132 w 281"/>
                <a:gd name="T21" fmla="*/ 188 h 625"/>
                <a:gd name="T22" fmla="*/ 123 w 281"/>
                <a:gd name="T23" fmla="*/ 157 h 625"/>
                <a:gd name="T24" fmla="*/ 118 w 281"/>
                <a:gd name="T25" fmla="*/ 151 h 625"/>
                <a:gd name="T26" fmla="*/ 131 w 281"/>
                <a:gd name="T27" fmla="*/ 97 h 625"/>
                <a:gd name="T28" fmla="*/ 130 w 281"/>
                <a:gd name="T29" fmla="*/ 59 h 625"/>
                <a:gd name="T30" fmla="*/ 117 w 281"/>
                <a:gd name="T31" fmla="*/ 35 h 625"/>
                <a:gd name="T32" fmla="*/ 94 w 281"/>
                <a:gd name="T33" fmla="*/ 15 h 625"/>
                <a:gd name="T34" fmla="*/ 65 w 281"/>
                <a:gd name="T35" fmla="*/ 2 h 625"/>
                <a:gd name="T36" fmla="*/ 38 w 281"/>
                <a:gd name="T37" fmla="*/ 0 h 625"/>
                <a:gd name="T38" fmla="*/ 13 w 281"/>
                <a:gd name="T39" fmla="*/ 7 h 625"/>
                <a:gd name="T40" fmla="*/ 0 w 281"/>
                <a:gd name="T41" fmla="*/ 20 h 625"/>
                <a:gd name="T42" fmla="*/ 5 w 281"/>
                <a:gd name="T43" fmla="*/ 32 h 625"/>
                <a:gd name="T44" fmla="*/ 18 w 281"/>
                <a:gd name="T45" fmla="*/ 32 h 625"/>
                <a:gd name="T46" fmla="*/ 38 w 281"/>
                <a:gd name="T47" fmla="*/ 24 h 625"/>
                <a:gd name="T48" fmla="*/ 67 w 281"/>
                <a:gd name="T49" fmla="*/ 28 h 625"/>
                <a:gd name="T50" fmla="*/ 89 w 281"/>
                <a:gd name="T51" fmla="*/ 41 h 625"/>
                <a:gd name="T52" fmla="*/ 103 w 281"/>
                <a:gd name="T53" fmla="*/ 56 h 625"/>
                <a:gd name="T54" fmla="*/ 108 w 281"/>
                <a:gd name="T55" fmla="*/ 75 h 625"/>
                <a:gd name="T56" fmla="*/ 105 w 281"/>
                <a:gd name="T57" fmla="*/ 107 h 625"/>
                <a:gd name="T58" fmla="*/ 92 w 281"/>
                <a:gd name="T59" fmla="*/ 152 h 625"/>
                <a:gd name="T60" fmla="*/ 94 w 281"/>
                <a:gd name="T61" fmla="*/ 166 h 625"/>
                <a:gd name="T62" fmla="*/ 104 w 281"/>
                <a:gd name="T63" fmla="*/ 172 h 625"/>
                <a:gd name="T64" fmla="*/ 109 w 281"/>
                <a:gd name="T65" fmla="*/ 188 h 625"/>
                <a:gd name="T66" fmla="*/ 104 w 281"/>
                <a:gd name="T67" fmla="*/ 206 h 625"/>
                <a:gd name="T68" fmla="*/ 94 w 281"/>
                <a:gd name="T69" fmla="*/ 210 h 625"/>
                <a:gd name="T70" fmla="*/ 90 w 281"/>
                <a:gd name="T71" fmla="*/ 231 h 625"/>
                <a:gd name="T72" fmla="*/ 85 w 281"/>
                <a:gd name="T73" fmla="*/ 259 h 625"/>
                <a:gd name="T74" fmla="*/ 55 w 281"/>
                <a:gd name="T75" fmla="*/ 297 h 625"/>
                <a:gd name="T76" fmla="*/ 44 w 281"/>
                <a:gd name="T77" fmla="*/ 306 h 625"/>
                <a:gd name="T78" fmla="*/ 41 w 281"/>
                <a:gd name="T79" fmla="*/ 360 h 625"/>
                <a:gd name="T80" fmla="*/ 46 w 281"/>
                <a:gd name="T81" fmla="*/ 371 h 625"/>
                <a:gd name="T82" fmla="*/ 119 w 281"/>
                <a:gd name="T83" fmla="*/ 399 h 625"/>
                <a:gd name="T84" fmla="*/ 222 w 281"/>
                <a:gd name="T85" fmla="*/ 449 h 625"/>
                <a:gd name="T86" fmla="*/ 241 w 281"/>
                <a:gd name="T87" fmla="*/ 467 h 625"/>
                <a:gd name="T88" fmla="*/ 250 w 281"/>
                <a:gd name="T89" fmla="*/ 503 h 625"/>
                <a:gd name="T90" fmla="*/ 257 w 281"/>
                <a:gd name="T91" fmla="*/ 574 h 625"/>
                <a:gd name="T92" fmla="*/ 204 w 281"/>
                <a:gd name="T93" fmla="*/ 602 h 625"/>
                <a:gd name="T94" fmla="*/ 196 w 281"/>
                <a:gd name="T95" fmla="*/ 613 h 625"/>
                <a:gd name="T96" fmla="*/ 204 w 281"/>
                <a:gd name="T97" fmla="*/ 624 h 625"/>
                <a:gd name="T98" fmla="*/ 273 w 281"/>
                <a:gd name="T99" fmla="*/ 624 h 625"/>
                <a:gd name="T100" fmla="*/ 281 w 281"/>
                <a:gd name="T101" fmla="*/ 613 h 625"/>
                <a:gd name="T102" fmla="*/ 277 w 281"/>
                <a:gd name="T103" fmla="*/ 530 h 625"/>
                <a:gd name="T104" fmla="*/ 267 w 281"/>
                <a:gd name="T105" fmla="*/ 464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81" h="625">
                  <a:moveTo>
                    <a:pt x="267" y="464"/>
                  </a:moveTo>
                  <a:lnTo>
                    <a:pt x="263" y="457"/>
                  </a:lnTo>
                  <a:lnTo>
                    <a:pt x="258" y="450"/>
                  </a:lnTo>
                  <a:lnTo>
                    <a:pt x="252" y="443"/>
                  </a:lnTo>
                  <a:lnTo>
                    <a:pt x="244" y="435"/>
                  </a:lnTo>
                  <a:lnTo>
                    <a:pt x="234" y="428"/>
                  </a:lnTo>
                  <a:lnTo>
                    <a:pt x="223" y="421"/>
                  </a:lnTo>
                  <a:lnTo>
                    <a:pt x="212" y="414"/>
                  </a:lnTo>
                  <a:lnTo>
                    <a:pt x="199" y="408"/>
                  </a:lnTo>
                  <a:lnTo>
                    <a:pt x="169" y="394"/>
                  </a:lnTo>
                  <a:lnTo>
                    <a:pt x="137" y="381"/>
                  </a:lnTo>
                  <a:lnTo>
                    <a:pt x="103" y="367"/>
                  </a:lnTo>
                  <a:lnTo>
                    <a:pt x="65" y="353"/>
                  </a:lnTo>
                  <a:lnTo>
                    <a:pt x="65" y="353"/>
                  </a:lnTo>
                  <a:lnTo>
                    <a:pt x="65" y="319"/>
                  </a:lnTo>
                  <a:lnTo>
                    <a:pt x="72" y="315"/>
                  </a:lnTo>
                  <a:lnTo>
                    <a:pt x="78" y="309"/>
                  </a:lnTo>
                  <a:lnTo>
                    <a:pt x="86" y="301"/>
                  </a:lnTo>
                  <a:lnTo>
                    <a:pt x="94" y="292"/>
                  </a:lnTo>
                  <a:lnTo>
                    <a:pt x="101" y="279"/>
                  </a:lnTo>
                  <a:lnTo>
                    <a:pt x="108" y="265"/>
                  </a:lnTo>
                  <a:lnTo>
                    <a:pt x="110" y="256"/>
                  </a:lnTo>
                  <a:lnTo>
                    <a:pt x="112" y="247"/>
                  </a:lnTo>
                  <a:lnTo>
                    <a:pt x="113" y="238"/>
                  </a:lnTo>
                  <a:lnTo>
                    <a:pt x="114" y="228"/>
                  </a:lnTo>
                  <a:lnTo>
                    <a:pt x="118" y="226"/>
                  </a:lnTo>
                  <a:lnTo>
                    <a:pt x="122" y="223"/>
                  </a:lnTo>
                  <a:lnTo>
                    <a:pt x="125" y="219"/>
                  </a:lnTo>
                  <a:lnTo>
                    <a:pt x="127" y="215"/>
                  </a:lnTo>
                  <a:lnTo>
                    <a:pt x="130" y="209"/>
                  </a:lnTo>
                  <a:lnTo>
                    <a:pt x="131" y="202"/>
                  </a:lnTo>
                  <a:lnTo>
                    <a:pt x="132" y="196"/>
                  </a:lnTo>
                  <a:lnTo>
                    <a:pt x="132" y="188"/>
                  </a:lnTo>
                  <a:lnTo>
                    <a:pt x="131" y="177"/>
                  </a:lnTo>
                  <a:lnTo>
                    <a:pt x="128" y="166"/>
                  </a:lnTo>
                  <a:lnTo>
                    <a:pt x="123" y="157"/>
                  </a:lnTo>
                  <a:lnTo>
                    <a:pt x="117" y="151"/>
                  </a:lnTo>
                  <a:lnTo>
                    <a:pt x="118" y="151"/>
                  </a:lnTo>
                  <a:lnTo>
                    <a:pt x="118" y="151"/>
                  </a:lnTo>
                  <a:lnTo>
                    <a:pt x="123" y="133"/>
                  </a:lnTo>
                  <a:lnTo>
                    <a:pt x="130" y="110"/>
                  </a:lnTo>
                  <a:lnTo>
                    <a:pt x="131" y="97"/>
                  </a:lnTo>
                  <a:lnTo>
                    <a:pt x="132" y="84"/>
                  </a:lnTo>
                  <a:lnTo>
                    <a:pt x="132" y="71"/>
                  </a:lnTo>
                  <a:lnTo>
                    <a:pt x="130" y="59"/>
                  </a:lnTo>
                  <a:lnTo>
                    <a:pt x="127" y="51"/>
                  </a:lnTo>
                  <a:lnTo>
                    <a:pt x="122" y="43"/>
                  </a:lnTo>
                  <a:lnTo>
                    <a:pt x="117" y="35"/>
                  </a:lnTo>
                  <a:lnTo>
                    <a:pt x="110" y="28"/>
                  </a:lnTo>
                  <a:lnTo>
                    <a:pt x="103" y="21"/>
                  </a:lnTo>
                  <a:lnTo>
                    <a:pt x="94" y="15"/>
                  </a:lnTo>
                  <a:lnTo>
                    <a:pt x="85" y="10"/>
                  </a:lnTo>
                  <a:lnTo>
                    <a:pt x="76" y="6"/>
                  </a:lnTo>
                  <a:lnTo>
                    <a:pt x="65" y="2"/>
                  </a:lnTo>
                  <a:lnTo>
                    <a:pt x="56" y="1"/>
                  </a:lnTo>
                  <a:lnTo>
                    <a:pt x="47" y="0"/>
                  </a:lnTo>
                  <a:lnTo>
                    <a:pt x="38" y="0"/>
                  </a:lnTo>
                  <a:lnTo>
                    <a:pt x="29" y="2"/>
                  </a:lnTo>
                  <a:lnTo>
                    <a:pt x="22" y="3"/>
                  </a:lnTo>
                  <a:lnTo>
                    <a:pt x="13" y="7"/>
                  </a:lnTo>
                  <a:lnTo>
                    <a:pt x="5" y="12"/>
                  </a:lnTo>
                  <a:lnTo>
                    <a:pt x="1" y="15"/>
                  </a:lnTo>
                  <a:lnTo>
                    <a:pt x="0" y="20"/>
                  </a:lnTo>
                  <a:lnTo>
                    <a:pt x="0" y="24"/>
                  </a:lnTo>
                  <a:lnTo>
                    <a:pt x="1" y="29"/>
                  </a:lnTo>
                  <a:lnTo>
                    <a:pt x="5" y="32"/>
                  </a:lnTo>
                  <a:lnTo>
                    <a:pt x="9" y="34"/>
                  </a:lnTo>
                  <a:lnTo>
                    <a:pt x="14" y="34"/>
                  </a:lnTo>
                  <a:lnTo>
                    <a:pt x="18" y="32"/>
                  </a:lnTo>
                  <a:lnTo>
                    <a:pt x="26" y="29"/>
                  </a:lnTo>
                  <a:lnTo>
                    <a:pt x="32" y="26"/>
                  </a:lnTo>
                  <a:lnTo>
                    <a:pt x="38" y="24"/>
                  </a:lnTo>
                  <a:lnTo>
                    <a:pt x="45" y="24"/>
                  </a:lnTo>
                  <a:lnTo>
                    <a:pt x="56" y="25"/>
                  </a:lnTo>
                  <a:lnTo>
                    <a:pt x="67" y="28"/>
                  </a:lnTo>
                  <a:lnTo>
                    <a:pt x="74" y="32"/>
                  </a:lnTo>
                  <a:lnTo>
                    <a:pt x="82" y="35"/>
                  </a:lnTo>
                  <a:lnTo>
                    <a:pt x="89" y="41"/>
                  </a:lnTo>
                  <a:lnTo>
                    <a:pt x="94" y="46"/>
                  </a:lnTo>
                  <a:lnTo>
                    <a:pt x="99" y="51"/>
                  </a:lnTo>
                  <a:lnTo>
                    <a:pt x="103" y="56"/>
                  </a:lnTo>
                  <a:lnTo>
                    <a:pt x="105" y="61"/>
                  </a:lnTo>
                  <a:lnTo>
                    <a:pt x="107" y="65"/>
                  </a:lnTo>
                  <a:lnTo>
                    <a:pt x="108" y="75"/>
                  </a:lnTo>
                  <a:lnTo>
                    <a:pt x="108" y="86"/>
                  </a:lnTo>
                  <a:lnTo>
                    <a:pt x="108" y="97"/>
                  </a:lnTo>
                  <a:lnTo>
                    <a:pt x="105" y="107"/>
                  </a:lnTo>
                  <a:lnTo>
                    <a:pt x="100" y="127"/>
                  </a:lnTo>
                  <a:lnTo>
                    <a:pt x="95" y="142"/>
                  </a:lnTo>
                  <a:lnTo>
                    <a:pt x="92" y="152"/>
                  </a:lnTo>
                  <a:lnTo>
                    <a:pt x="91" y="159"/>
                  </a:lnTo>
                  <a:lnTo>
                    <a:pt x="91" y="163"/>
                  </a:lnTo>
                  <a:lnTo>
                    <a:pt x="94" y="166"/>
                  </a:lnTo>
                  <a:lnTo>
                    <a:pt x="98" y="169"/>
                  </a:lnTo>
                  <a:lnTo>
                    <a:pt x="103" y="170"/>
                  </a:lnTo>
                  <a:lnTo>
                    <a:pt x="104" y="172"/>
                  </a:lnTo>
                  <a:lnTo>
                    <a:pt x="107" y="175"/>
                  </a:lnTo>
                  <a:lnTo>
                    <a:pt x="108" y="181"/>
                  </a:lnTo>
                  <a:lnTo>
                    <a:pt x="109" y="188"/>
                  </a:lnTo>
                  <a:lnTo>
                    <a:pt x="108" y="197"/>
                  </a:lnTo>
                  <a:lnTo>
                    <a:pt x="105" y="204"/>
                  </a:lnTo>
                  <a:lnTo>
                    <a:pt x="104" y="206"/>
                  </a:lnTo>
                  <a:lnTo>
                    <a:pt x="103" y="208"/>
                  </a:lnTo>
                  <a:lnTo>
                    <a:pt x="98" y="208"/>
                  </a:lnTo>
                  <a:lnTo>
                    <a:pt x="94" y="210"/>
                  </a:lnTo>
                  <a:lnTo>
                    <a:pt x="91" y="214"/>
                  </a:lnTo>
                  <a:lnTo>
                    <a:pt x="91" y="219"/>
                  </a:lnTo>
                  <a:lnTo>
                    <a:pt x="90" y="231"/>
                  </a:lnTo>
                  <a:lnTo>
                    <a:pt x="89" y="241"/>
                  </a:lnTo>
                  <a:lnTo>
                    <a:pt x="87" y="250"/>
                  </a:lnTo>
                  <a:lnTo>
                    <a:pt x="85" y="259"/>
                  </a:lnTo>
                  <a:lnTo>
                    <a:pt x="78" y="273"/>
                  </a:lnTo>
                  <a:lnTo>
                    <a:pt x="71" y="283"/>
                  </a:lnTo>
                  <a:lnTo>
                    <a:pt x="55" y="297"/>
                  </a:lnTo>
                  <a:lnTo>
                    <a:pt x="49" y="301"/>
                  </a:lnTo>
                  <a:lnTo>
                    <a:pt x="45" y="304"/>
                  </a:lnTo>
                  <a:lnTo>
                    <a:pt x="44" y="306"/>
                  </a:lnTo>
                  <a:lnTo>
                    <a:pt x="41" y="309"/>
                  </a:lnTo>
                  <a:lnTo>
                    <a:pt x="41" y="313"/>
                  </a:lnTo>
                  <a:lnTo>
                    <a:pt x="41" y="360"/>
                  </a:lnTo>
                  <a:lnTo>
                    <a:pt x="41" y="364"/>
                  </a:lnTo>
                  <a:lnTo>
                    <a:pt x="44" y="368"/>
                  </a:lnTo>
                  <a:lnTo>
                    <a:pt x="46" y="371"/>
                  </a:lnTo>
                  <a:lnTo>
                    <a:pt x="49" y="372"/>
                  </a:lnTo>
                  <a:lnTo>
                    <a:pt x="58" y="376"/>
                  </a:lnTo>
                  <a:lnTo>
                    <a:pt x="119" y="399"/>
                  </a:lnTo>
                  <a:lnTo>
                    <a:pt x="177" y="423"/>
                  </a:lnTo>
                  <a:lnTo>
                    <a:pt x="202" y="436"/>
                  </a:lnTo>
                  <a:lnTo>
                    <a:pt x="222" y="449"/>
                  </a:lnTo>
                  <a:lnTo>
                    <a:pt x="230" y="454"/>
                  </a:lnTo>
                  <a:lnTo>
                    <a:pt x="236" y="461"/>
                  </a:lnTo>
                  <a:lnTo>
                    <a:pt x="241" y="467"/>
                  </a:lnTo>
                  <a:lnTo>
                    <a:pt x="244" y="472"/>
                  </a:lnTo>
                  <a:lnTo>
                    <a:pt x="248" y="486"/>
                  </a:lnTo>
                  <a:lnTo>
                    <a:pt x="250" y="503"/>
                  </a:lnTo>
                  <a:lnTo>
                    <a:pt x="253" y="520"/>
                  </a:lnTo>
                  <a:lnTo>
                    <a:pt x="254" y="539"/>
                  </a:lnTo>
                  <a:lnTo>
                    <a:pt x="257" y="574"/>
                  </a:lnTo>
                  <a:lnTo>
                    <a:pt x="257" y="601"/>
                  </a:lnTo>
                  <a:lnTo>
                    <a:pt x="209" y="601"/>
                  </a:lnTo>
                  <a:lnTo>
                    <a:pt x="204" y="602"/>
                  </a:lnTo>
                  <a:lnTo>
                    <a:pt x="200" y="604"/>
                  </a:lnTo>
                  <a:lnTo>
                    <a:pt x="198" y="608"/>
                  </a:lnTo>
                  <a:lnTo>
                    <a:pt x="196" y="613"/>
                  </a:lnTo>
                  <a:lnTo>
                    <a:pt x="198" y="617"/>
                  </a:lnTo>
                  <a:lnTo>
                    <a:pt x="200" y="621"/>
                  </a:lnTo>
                  <a:lnTo>
                    <a:pt x="204" y="624"/>
                  </a:lnTo>
                  <a:lnTo>
                    <a:pt x="209" y="625"/>
                  </a:lnTo>
                  <a:lnTo>
                    <a:pt x="270" y="625"/>
                  </a:lnTo>
                  <a:lnTo>
                    <a:pt x="273" y="624"/>
                  </a:lnTo>
                  <a:lnTo>
                    <a:pt x="277" y="621"/>
                  </a:lnTo>
                  <a:lnTo>
                    <a:pt x="280" y="617"/>
                  </a:lnTo>
                  <a:lnTo>
                    <a:pt x="281" y="613"/>
                  </a:lnTo>
                  <a:lnTo>
                    <a:pt x="281" y="594"/>
                  </a:lnTo>
                  <a:lnTo>
                    <a:pt x="280" y="554"/>
                  </a:lnTo>
                  <a:lnTo>
                    <a:pt x="277" y="530"/>
                  </a:lnTo>
                  <a:lnTo>
                    <a:pt x="275" y="507"/>
                  </a:lnTo>
                  <a:lnTo>
                    <a:pt x="271" y="484"/>
                  </a:lnTo>
                  <a:lnTo>
                    <a:pt x="267" y="4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aphicFrame>
        <p:nvGraphicFramePr>
          <p:cNvPr id="156" name="Diagram 155">
            <a:extLst>
              <a:ext uri="{FF2B5EF4-FFF2-40B4-BE49-F238E27FC236}">
                <a16:creationId xmlns:a16="http://schemas.microsoft.com/office/drawing/2014/main" id="{6721D4CC-4AF7-D11E-FD6C-35B395416905}"/>
              </a:ext>
            </a:extLst>
          </p:cNvPr>
          <p:cNvGraphicFramePr/>
          <p:nvPr>
            <p:extLst>
              <p:ext uri="{D42A27DB-BD31-4B8C-83A1-F6EECF244321}">
                <p14:modId xmlns:p14="http://schemas.microsoft.com/office/powerpoint/2010/main" val="3691645976"/>
              </p:ext>
            </p:extLst>
          </p:nvPr>
        </p:nvGraphicFramePr>
        <p:xfrm>
          <a:off x="144501" y="641168"/>
          <a:ext cx="5741188" cy="4396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85" name="Group 284">
            <a:extLst>
              <a:ext uri="{FF2B5EF4-FFF2-40B4-BE49-F238E27FC236}">
                <a16:creationId xmlns:a16="http://schemas.microsoft.com/office/drawing/2014/main" id="{4D4A6D72-739D-3832-FD35-103E481249A7}"/>
              </a:ext>
            </a:extLst>
          </p:cNvPr>
          <p:cNvGrpSpPr/>
          <p:nvPr/>
        </p:nvGrpSpPr>
        <p:grpSpPr>
          <a:xfrm>
            <a:off x="53197" y="6638003"/>
            <a:ext cx="11948715" cy="195823"/>
            <a:chOff x="53197" y="6638003"/>
            <a:chExt cx="11948715" cy="195823"/>
          </a:xfrm>
        </p:grpSpPr>
        <p:sp>
          <p:nvSpPr>
            <p:cNvPr id="275" name="Arrow: Pentagon 274">
              <a:extLst>
                <a:ext uri="{FF2B5EF4-FFF2-40B4-BE49-F238E27FC236}">
                  <a16:creationId xmlns:a16="http://schemas.microsoft.com/office/drawing/2014/main" id="{085FDDB1-4A82-32DF-30BE-504C4439AA0B}"/>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276" name="Arrow: Chevron 275">
              <a:extLst>
                <a:ext uri="{FF2B5EF4-FFF2-40B4-BE49-F238E27FC236}">
                  <a16:creationId xmlns:a16="http://schemas.microsoft.com/office/drawing/2014/main" id="{641D65F6-CA03-A15B-E9B2-E508F04B0A42}"/>
                </a:ext>
              </a:extLst>
            </p:cNvPr>
            <p:cNvSpPr/>
            <p:nvPr/>
          </p:nvSpPr>
          <p:spPr>
            <a:xfrm>
              <a:off x="1337597" y="6642920"/>
              <a:ext cx="1394952" cy="182305"/>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Industry Analysis</a:t>
              </a:r>
            </a:p>
          </p:txBody>
        </p:sp>
        <p:sp>
          <p:nvSpPr>
            <p:cNvPr id="277" name="Arrow: Chevron 276">
              <a:extLst>
                <a:ext uri="{FF2B5EF4-FFF2-40B4-BE49-F238E27FC236}">
                  <a16:creationId xmlns:a16="http://schemas.microsoft.com/office/drawing/2014/main" id="{A994A550-A654-9675-3190-4C12DF1BA616}"/>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SC Analysis</a:t>
              </a:r>
              <a:endParaRPr lang="en-US"/>
            </a:p>
          </p:txBody>
        </p:sp>
        <p:sp>
          <p:nvSpPr>
            <p:cNvPr id="278" name="Arrow: Chevron 277">
              <a:extLst>
                <a:ext uri="{FF2B5EF4-FFF2-40B4-BE49-F238E27FC236}">
                  <a16:creationId xmlns:a16="http://schemas.microsoft.com/office/drawing/2014/main" id="{8504809A-5263-B0B0-D961-3ACC12F62873}"/>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279" name="Arrow: Chevron 278">
              <a:extLst>
                <a:ext uri="{FF2B5EF4-FFF2-40B4-BE49-F238E27FC236}">
                  <a16:creationId xmlns:a16="http://schemas.microsoft.com/office/drawing/2014/main" id="{D04CB790-A790-D275-7BD6-9664C4BDD10D}"/>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280" name="Arrow: Chevron 279">
              <a:extLst>
                <a:ext uri="{FF2B5EF4-FFF2-40B4-BE49-F238E27FC236}">
                  <a16:creationId xmlns:a16="http://schemas.microsoft.com/office/drawing/2014/main" id="{05D4C902-04F5-DA69-672A-CE5EF7BACE43}"/>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281" name="Arrow: Chevron 280">
              <a:extLst>
                <a:ext uri="{FF2B5EF4-FFF2-40B4-BE49-F238E27FC236}">
                  <a16:creationId xmlns:a16="http://schemas.microsoft.com/office/drawing/2014/main" id="{8995E423-41A8-E837-68DC-F8301D11ABC0}"/>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282" name="Arrow: Chevron 281">
              <a:extLst>
                <a:ext uri="{FF2B5EF4-FFF2-40B4-BE49-F238E27FC236}">
                  <a16:creationId xmlns:a16="http://schemas.microsoft.com/office/drawing/2014/main" id="{0258F31F-8A7E-7EAF-7F93-69FDC9623789}"/>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283" name="Arrow: Chevron 282">
              <a:extLst>
                <a:ext uri="{FF2B5EF4-FFF2-40B4-BE49-F238E27FC236}">
                  <a16:creationId xmlns:a16="http://schemas.microsoft.com/office/drawing/2014/main" id="{6A48CF81-2D9D-F842-FE92-D19F9394315C}"/>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284" name="Arrow: Chevron 283">
              <a:extLst>
                <a:ext uri="{FF2B5EF4-FFF2-40B4-BE49-F238E27FC236}">
                  <a16:creationId xmlns:a16="http://schemas.microsoft.com/office/drawing/2014/main" id="{704943FC-737A-491C-E9DD-615688864909}"/>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sp>
        <p:nvSpPr>
          <p:cNvPr id="3" name="Rectangle: Rounded Corners 2">
            <a:extLst>
              <a:ext uri="{FF2B5EF4-FFF2-40B4-BE49-F238E27FC236}">
                <a16:creationId xmlns:a16="http://schemas.microsoft.com/office/drawing/2014/main" id="{AE16AC4D-AFBF-053B-F345-80CC2C3E7F63}"/>
              </a:ext>
            </a:extLst>
          </p:cNvPr>
          <p:cNvSpPr/>
          <p:nvPr/>
        </p:nvSpPr>
        <p:spPr>
          <a:xfrm>
            <a:off x="7963317" y="4367439"/>
            <a:ext cx="2671378" cy="526788"/>
          </a:xfrm>
          <a:prstGeom prst="roundRect">
            <a:avLst/>
          </a:prstGeom>
          <a:solidFill>
            <a:srgbClr val="BE7887"/>
          </a:solidFill>
          <a:ln>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200" b="1">
                <a:solidFill>
                  <a:schemeClr val="bg1"/>
                </a:solidFill>
              </a:rPr>
              <a:t>Rs. 4.5-5 </a:t>
            </a:r>
            <a:r>
              <a:rPr lang="en-IN" sz="1200">
                <a:solidFill>
                  <a:schemeClr val="bg1"/>
                </a:solidFill>
              </a:rPr>
              <a:t>Crore/MW capital required for setting up a new plant</a:t>
            </a:r>
          </a:p>
        </p:txBody>
      </p:sp>
      <p:pic>
        <p:nvPicPr>
          <p:cNvPr id="4" name="Picture 3" descr="Innovation S-curves unfold through stages of ferment, take off, maturity and discontinuity">
            <a:extLst>
              <a:ext uri="{FF2B5EF4-FFF2-40B4-BE49-F238E27FC236}">
                <a16:creationId xmlns:a16="http://schemas.microsoft.com/office/drawing/2014/main" id="{99D2E82B-7A79-267B-72CA-1EF74BF938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80814" y="2561909"/>
            <a:ext cx="1667556" cy="77784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5B8D7005-6C78-7788-B610-8452C87BB017}"/>
              </a:ext>
            </a:extLst>
          </p:cNvPr>
          <p:cNvSpPr/>
          <p:nvPr/>
        </p:nvSpPr>
        <p:spPr>
          <a:xfrm>
            <a:off x="6043328" y="521871"/>
            <a:ext cx="5981433" cy="338845"/>
          </a:xfrm>
          <a:prstGeom prst="roundRect">
            <a:avLst/>
          </a:prstGeom>
          <a:solidFill>
            <a:schemeClr val="accent6">
              <a:lumMod val="75000"/>
            </a:schemeClr>
          </a:solidFill>
          <a:ln>
            <a:noFill/>
          </a:ln>
        </p:spPr>
        <p:style>
          <a:lnRef idx="3">
            <a:schemeClr val="lt1"/>
          </a:lnRef>
          <a:fillRef idx="1">
            <a:schemeClr val="accent6"/>
          </a:fillRef>
          <a:effectRef idx="1">
            <a:schemeClr val="accent6"/>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600"/>
              <a:t>PORTER’S FORCES (NEW ENTRANT PROSPECTIVE)</a:t>
            </a:r>
          </a:p>
        </p:txBody>
      </p:sp>
      <p:pic>
        <p:nvPicPr>
          <p:cNvPr id="7" name="Picture 6" descr="Tata Power Delhi Distribution Limited">
            <a:extLst>
              <a:ext uri="{FF2B5EF4-FFF2-40B4-BE49-F238E27FC236}">
                <a16:creationId xmlns:a16="http://schemas.microsoft.com/office/drawing/2014/main" id="{6A8AD489-7210-B8C0-276B-066F662C1E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96956" y="928015"/>
            <a:ext cx="1066361" cy="4321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SPCL detects Rs18.40-cr loss">
            <a:extLst>
              <a:ext uri="{FF2B5EF4-FFF2-40B4-BE49-F238E27FC236}">
                <a16:creationId xmlns:a16="http://schemas.microsoft.com/office/drawing/2014/main" id="{266FFEA5-656A-237A-02BA-E529345D8E5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69036" y="892106"/>
            <a:ext cx="831609" cy="43624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a:extLst>
              <a:ext uri="{FF2B5EF4-FFF2-40B4-BE49-F238E27FC236}">
                <a16:creationId xmlns:a16="http://schemas.microsoft.com/office/drawing/2014/main" id="{D8F7BA21-7FED-C7B7-63F0-B74B41190A1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85665"/>
          <a:stretch/>
        </p:blipFill>
        <p:spPr bwMode="auto">
          <a:xfrm>
            <a:off x="7757621" y="925376"/>
            <a:ext cx="497946" cy="37417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9">
            <a:extLst>
              <a:ext uri="{FF2B5EF4-FFF2-40B4-BE49-F238E27FC236}">
                <a16:creationId xmlns:a16="http://schemas.microsoft.com/office/drawing/2014/main" id="{6D29F194-EAEB-A5FC-1D7D-07117ACDACF2}"/>
              </a:ext>
            </a:extLst>
          </p:cNvPr>
          <p:cNvSpPr/>
          <p:nvPr/>
        </p:nvSpPr>
        <p:spPr>
          <a:xfrm>
            <a:off x="6162827" y="1378005"/>
            <a:ext cx="2250000" cy="144510"/>
          </a:xfrm>
          <a:prstGeom prst="roundRect">
            <a:avLst/>
          </a:prstGeom>
          <a:solidFill>
            <a:srgbClr val="D3EEF5"/>
          </a:solidFill>
          <a:ln>
            <a:solidFill>
              <a:schemeClr val="accent4">
                <a:lumMod val="20000"/>
                <a:lumOff val="8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200">
                <a:solidFill>
                  <a:schemeClr val="tx1"/>
                </a:solidFill>
              </a:rPr>
              <a:t>Powerful govt. &amp; private firms</a:t>
            </a:r>
          </a:p>
        </p:txBody>
      </p:sp>
      <p:sp>
        <p:nvSpPr>
          <p:cNvPr id="11" name="Right Brace 10">
            <a:extLst>
              <a:ext uri="{FF2B5EF4-FFF2-40B4-BE49-F238E27FC236}">
                <a16:creationId xmlns:a16="http://schemas.microsoft.com/office/drawing/2014/main" id="{61BE0358-D265-1710-6D69-9D122CB6A959}"/>
              </a:ext>
            </a:extLst>
          </p:cNvPr>
          <p:cNvSpPr/>
          <p:nvPr/>
        </p:nvSpPr>
        <p:spPr>
          <a:xfrm>
            <a:off x="10619995" y="925842"/>
            <a:ext cx="276305" cy="700033"/>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9pPr>
          </a:lstStyle>
          <a:p>
            <a:pPr algn="ctr"/>
            <a:endParaRPr lang="en-IN"/>
          </a:p>
        </p:txBody>
      </p:sp>
      <p:sp>
        <p:nvSpPr>
          <p:cNvPr id="12" name="TextBox 50">
            <a:extLst>
              <a:ext uri="{FF2B5EF4-FFF2-40B4-BE49-F238E27FC236}">
                <a16:creationId xmlns:a16="http://schemas.microsoft.com/office/drawing/2014/main" id="{9EB5FDB1-BE3F-EA44-3803-7010E3744ED7}"/>
              </a:ext>
            </a:extLst>
          </p:cNvPr>
          <p:cNvSpPr txBox="1"/>
          <p:nvPr/>
        </p:nvSpPr>
        <p:spPr>
          <a:xfrm>
            <a:off x="10936065" y="937736"/>
            <a:ext cx="1066360" cy="646331"/>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200"/>
              <a:t>Power of buyers is </a:t>
            </a:r>
            <a:r>
              <a:rPr lang="en-IN" sz="1200" b="1">
                <a:solidFill>
                  <a:schemeClr val="accent2"/>
                </a:solidFill>
              </a:rPr>
              <a:t>HIGH</a:t>
            </a:r>
          </a:p>
        </p:txBody>
      </p:sp>
      <p:sp>
        <p:nvSpPr>
          <p:cNvPr id="13" name="Rectangle: Rounded Corners 12">
            <a:extLst>
              <a:ext uri="{FF2B5EF4-FFF2-40B4-BE49-F238E27FC236}">
                <a16:creationId xmlns:a16="http://schemas.microsoft.com/office/drawing/2014/main" id="{DF9F0681-109C-FA75-F4AB-1ECBF7600C5A}"/>
              </a:ext>
            </a:extLst>
          </p:cNvPr>
          <p:cNvSpPr/>
          <p:nvPr/>
        </p:nvSpPr>
        <p:spPr>
          <a:xfrm>
            <a:off x="8489846" y="982872"/>
            <a:ext cx="2053130" cy="575807"/>
          </a:xfrm>
          <a:prstGeom prst="roundRect">
            <a:avLst/>
          </a:prstGeom>
          <a:solidFill>
            <a:srgbClr val="BE7887"/>
          </a:solidFill>
          <a:ln>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1050"/>
              <a:t>Laws &amp; regulations increases the power of electricity corporations on RNG plants</a:t>
            </a:r>
          </a:p>
        </p:txBody>
      </p:sp>
      <p:sp>
        <p:nvSpPr>
          <p:cNvPr id="14" name="TextBox 52">
            <a:extLst>
              <a:ext uri="{FF2B5EF4-FFF2-40B4-BE49-F238E27FC236}">
                <a16:creationId xmlns:a16="http://schemas.microsoft.com/office/drawing/2014/main" id="{94A08163-84C4-8E10-928B-1D5D0CDC3C48}"/>
              </a:ext>
            </a:extLst>
          </p:cNvPr>
          <p:cNvSpPr txBox="1"/>
          <p:nvPr/>
        </p:nvSpPr>
        <p:spPr>
          <a:xfrm>
            <a:off x="9485212" y="1621191"/>
            <a:ext cx="946262"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b="1"/>
              <a:t>70%</a:t>
            </a:r>
          </a:p>
        </p:txBody>
      </p:sp>
      <p:sp>
        <p:nvSpPr>
          <p:cNvPr id="15" name="TextBox 53">
            <a:extLst>
              <a:ext uri="{FF2B5EF4-FFF2-40B4-BE49-F238E27FC236}">
                <a16:creationId xmlns:a16="http://schemas.microsoft.com/office/drawing/2014/main" id="{821D1803-FABF-BAE5-F511-F34C043855CE}"/>
              </a:ext>
            </a:extLst>
          </p:cNvPr>
          <p:cNvSpPr txBox="1"/>
          <p:nvPr/>
        </p:nvSpPr>
        <p:spPr>
          <a:xfrm>
            <a:off x="9382685" y="1978142"/>
            <a:ext cx="1112968" cy="345498"/>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900"/>
              <a:t>Farmers attach no economic value to the stubble</a:t>
            </a:r>
          </a:p>
        </p:txBody>
      </p:sp>
      <p:pic>
        <p:nvPicPr>
          <p:cNvPr id="16" name="Graphic 4" descr="Truck with solid fill">
            <a:extLst>
              <a:ext uri="{FF2B5EF4-FFF2-40B4-BE49-F238E27FC236}">
                <a16:creationId xmlns:a16="http://schemas.microsoft.com/office/drawing/2014/main" id="{9C1411BD-E4EC-273B-9252-64B212DF859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911490" y="1617965"/>
            <a:ext cx="565628" cy="407258"/>
          </a:xfrm>
          <a:prstGeom prst="rect">
            <a:avLst/>
          </a:prstGeom>
        </p:spPr>
      </p:pic>
      <p:sp>
        <p:nvSpPr>
          <p:cNvPr id="17" name="TextBox 5">
            <a:extLst>
              <a:ext uri="{FF2B5EF4-FFF2-40B4-BE49-F238E27FC236}">
                <a16:creationId xmlns:a16="http://schemas.microsoft.com/office/drawing/2014/main" id="{42B93B2D-EB78-D89B-B1D2-D48C4337A493}"/>
              </a:ext>
            </a:extLst>
          </p:cNvPr>
          <p:cNvSpPr txBox="1"/>
          <p:nvPr/>
        </p:nvSpPr>
        <p:spPr>
          <a:xfrm>
            <a:off x="10464807" y="1939453"/>
            <a:ext cx="1607143" cy="400110"/>
          </a:xfrm>
          <a:prstGeom prst="rect">
            <a:avLst/>
          </a:prstGeom>
          <a:noFill/>
          <a:ln w="19050">
            <a:solidFill>
              <a:schemeClr val="accent3">
                <a:lumMod val="75000"/>
              </a:schemeClr>
            </a:solidFill>
            <a:prstDash val="sysDot"/>
          </a:ln>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1000"/>
              <a:t>Strong suppliers of rented logistical	 support</a:t>
            </a:r>
          </a:p>
        </p:txBody>
      </p:sp>
      <p:sp>
        <p:nvSpPr>
          <p:cNvPr id="19" name="Right Brace 18">
            <a:extLst>
              <a:ext uri="{FF2B5EF4-FFF2-40B4-BE49-F238E27FC236}">
                <a16:creationId xmlns:a16="http://schemas.microsoft.com/office/drawing/2014/main" id="{E5D5CBB8-A392-3605-3C36-7D672E6D6736}"/>
              </a:ext>
            </a:extLst>
          </p:cNvPr>
          <p:cNvSpPr/>
          <p:nvPr/>
        </p:nvSpPr>
        <p:spPr>
          <a:xfrm flipH="1">
            <a:off x="9091610" y="1749282"/>
            <a:ext cx="442931" cy="649072"/>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9pPr>
          </a:lstStyle>
          <a:p>
            <a:pPr algn="ctr"/>
            <a:endParaRPr lang="en-IN"/>
          </a:p>
        </p:txBody>
      </p:sp>
      <p:sp>
        <p:nvSpPr>
          <p:cNvPr id="20" name="TextBox 54">
            <a:extLst>
              <a:ext uri="{FF2B5EF4-FFF2-40B4-BE49-F238E27FC236}">
                <a16:creationId xmlns:a16="http://schemas.microsoft.com/office/drawing/2014/main" id="{AE4B5A6D-4A3F-2C87-652B-AA20D98E1927}"/>
              </a:ext>
            </a:extLst>
          </p:cNvPr>
          <p:cNvSpPr txBox="1"/>
          <p:nvPr/>
        </p:nvSpPr>
        <p:spPr>
          <a:xfrm flipH="1">
            <a:off x="8054597" y="1747272"/>
            <a:ext cx="1066360" cy="646331"/>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IN" sz="1200"/>
              <a:t>Power of Suppliers is </a:t>
            </a:r>
            <a:r>
              <a:rPr lang="en-IN" sz="1200" b="1">
                <a:solidFill>
                  <a:srgbClr val="FF9900"/>
                </a:solidFill>
              </a:rPr>
              <a:t>MEDIUM</a:t>
            </a:r>
          </a:p>
        </p:txBody>
      </p:sp>
      <p:sp>
        <p:nvSpPr>
          <p:cNvPr id="21" name="Rectangle: Rounded Corners 20">
            <a:extLst>
              <a:ext uri="{FF2B5EF4-FFF2-40B4-BE49-F238E27FC236}">
                <a16:creationId xmlns:a16="http://schemas.microsoft.com/office/drawing/2014/main" id="{61BC3C5E-06D1-4B14-119E-B7CC54E3DD86}"/>
              </a:ext>
            </a:extLst>
          </p:cNvPr>
          <p:cNvSpPr/>
          <p:nvPr/>
        </p:nvSpPr>
        <p:spPr>
          <a:xfrm>
            <a:off x="6140128" y="1729282"/>
            <a:ext cx="1977339" cy="619360"/>
          </a:xfrm>
          <a:prstGeom prst="roundRect">
            <a:avLst/>
          </a:prstGeom>
          <a:solidFill>
            <a:srgbClr val="BE7887"/>
          </a:solidFill>
          <a:ln>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50"/>
              <a:t>Future stubble commoditization will boost supplier power</a:t>
            </a:r>
            <a:endParaRPr lang="en-IN" sz="1050"/>
          </a:p>
        </p:txBody>
      </p:sp>
      <p:sp>
        <p:nvSpPr>
          <p:cNvPr id="23" name="Right Brace 22">
            <a:extLst>
              <a:ext uri="{FF2B5EF4-FFF2-40B4-BE49-F238E27FC236}">
                <a16:creationId xmlns:a16="http://schemas.microsoft.com/office/drawing/2014/main" id="{4EFF7E4D-D13C-627D-09EA-89171B23C50F}"/>
              </a:ext>
            </a:extLst>
          </p:cNvPr>
          <p:cNvSpPr/>
          <p:nvPr/>
        </p:nvSpPr>
        <p:spPr>
          <a:xfrm>
            <a:off x="10731576" y="2599611"/>
            <a:ext cx="326054" cy="649072"/>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9pPr>
          </a:lstStyle>
          <a:p>
            <a:pPr algn="ctr"/>
            <a:endParaRPr lang="en-IN"/>
          </a:p>
        </p:txBody>
      </p:sp>
      <p:sp>
        <p:nvSpPr>
          <p:cNvPr id="87" name="TextBox 1026">
            <a:extLst>
              <a:ext uri="{FF2B5EF4-FFF2-40B4-BE49-F238E27FC236}">
                <a16:creationId xmlns:a16="http://schemas.microsoft.com/office/drawing/2014/main" id="{6AA50993-7598-5DCB-36DC-83F05B916BC0}"/>
              </a:ext>
            </a:extLst>
          </p:cNvPr>
          <p:cNvSpPr txBox="1"/>
          <p:nvPr/>
        </p:nvSpPr>
        <p:spPr>
          <a:xfrm flipH="1">
            <a:off x="11057630" y="2554995"/>
            <a:ext cx="1066360" cy="73866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a:t>Threat of substitute is </a:t>
            </a:r>
            <a:r>
              <a:rPr lang="en-IN" b="1">
                <a:solidFill>
                  <a:schemeClr val="accent2"/>
                </a:solidFill>
              </a:rPr>
              <a:t>HIGH</a:t>
            </a:r>
          </a:p>
        </p:txBody>
      </p:sp>
      <p:sp>
        <p:nvSpPr>
          <p:cNvPr id="93" name="Rectangle: Rounded Corners 92">
            <a:extLst>
              <a:ext uri="{FF2B5EF4-FFF2-40B4-BE49-F238E27FC236}">
                <a16:creationId xmlns:a16="http://schemas.microsoft.com/office/drawing/2014/main" id="{139FBF60-8C9B-6F08-7748-A47E9501E586}"/>
              </a:ext>
            </a:extLst>
          </p:cNvPr>
          <p:cNvSpPr/>
          <p:nvPr/>
        </p:nvSpPr>
        <p:spPr>
          <a:xfrm>
            <a:off x="9089833" y="2594113"/>
            <a:ext cx="1553998" cy="637068"/>
          </a:xfrm>
          <a:prstGeom prst="roundRect">
            <a:avLst/>
          </a:prstGeom>
          <a:solidFill>
            <a:srgbClr val="BE7887"/>
          </a:solidFill>
          <a:ln>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900">
                <a:solidFill>
                  <a:schemeClr val="bg1"/>
                </a:solidFill>
              </a:rPr>
              <a:t>Supplier could have alternative uses of stubble like organic fertilizer, paper mills etc.</a:t>
            </a:r>
          </a:p>
        </p:txBody>
      </p:sp>
      <p:sp>
        <p:nvSpPr>
          <p:cNvPr id="157" name="Rectangle: Rounded Corners 156">
            <a:extLst>
              <a:ext uri="{FF2B5EF4-FFF2-40B4-BE49-F238E27FC236}">
                <a16:creationId xmlns:a16="http://schemas.microsoft.com/office/drawing/2014/main" id="{68124EC7-218F-94BE-17F2-9CB81BC0A1E1}"/>
              </a:ext>
            </a:extLst>
          </p:cNvPr>
          <p:cNvSpPr/>
          <p:nvPr/>
        </p:nvSpPr>
        <p:spPr>
          <a:xfrm>
            <a:off x="7472235" y="3462347"/>
            <a:ext cx="1336767" cy="396990"/>
          </a:xfrm>
          <a:prstGeom prst="roundRect">
            <a:avLst/>
          </a:prstGeom>
          <a:solidFill>
            <a:srgbClr val="BE7887"/>
          </a:solidFill>
          <a:ln>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900"/>
              <a:t>No single major player in the Industry</a:t>
            </a:r>
          </a:p>
        </p:txBody>
      </p:sp>
      <p:sp>
        <p:nvSpPr>
          <p:cNvPr id="158" name="Right Brace 157">
            <a:extLst>
              <a:ext uri="{FF2B5EF4-FFF2-40B4-BE49-F238E27FC236}">
                <a16:creationId xmlns:a16="http://schemas.microsoft.com/office/drawing/2014/main" id="{D50A7074-679A-6E24-09DB-42B1A376E313}"/>
              </a:ext>
            </a:extLst>
          </p:cNvPr>
          <p:cNvSpPr/>
          <p:nvPr/>
        </p:nvSpPr>
        <p:spPr>
          <a:xfrm flipH="1">
            <a:off x="7042085" y="3501036"/>
            <a:ext cx="349125" cy="649072"/>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9pPr>
          </a:lstStyle>
          <a:p>
            <a:pPr algn="ctr"/>
            <a:endParaRPr lang="en-IN"/>
          </a:p>
        </p:txBody>
      </p:sp>
      <p:sp>
        <p:nvSpPr>
          <p:cNvPr id="159" name="TextBox 1043">
            <a:extLst>
              <a:ext uri="{FF2B5EF4-FFF2-40B4-BE49-F238E27FC236}">
                <a16:creationId xmlns:a16="http://schemas.microsoft.com/office/drawing/2014/main" id="{A4895602-1CD2-2C9F-7CE4-889ADC50DCE2}"/>
              </a:ext>
            </a:extLst>
          </p:cNvPr>
          <p:cNvSpPr txBox="1"/>
          <p:nvPr/>
        </p:nvSpPr>
        <p:spPr>
          <a:xfrm>
            <a:off x="5930207" y="3473565"/>
            <a:ext cx="1152609" cy="646331"/>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IN" sz="1200"/>
              <a:t>Competitive Rivalry is </a:t>
            </a:r>
            <a:r>
              <a:rPr lang="en-IN" sz="1200" b="1">
                <a:solidFill>
                  <a:srgbClr val="00B050"/>
                </a:solidFill>
              </a:rPr>
              <a:t>LOW</a:t>
            </a:r>
          </a:p>
        </p:txBody>
      </p:sp>
      <p:sp>
        <p:nvSpPr>
          <p:cNvPr id="160" name="Rectangle 159">
            <a:extLst>
              <a:ext uri="{FF2B5EF4-FFF2-40B4-BE49-F238E27FC236}">
                <a16:creationId xmlns:a16="http://schemas.microsoft.com/office/drawing/2014/main" id="{5BFD834A-9817-B480-CED5-21573DB15965}"/>
              </a:ext>
            </a:extLst>
          </p:cNvPr>
          <p:cNvSpPr/>
          <p:nvPr/>
        </p:nvSpPr>
        <p:spPr>
          <a:xfrm>
            <a:off x="8938195" y="3473904"/>
            <a:ext cx="1994121" cy="389465"/>
          </a:xfrm>
          <a:prstGeom prst="rect">
            <a:avLst/>
          </a:prstGeom>
          <a:noFill/>
          <a:ln>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IN" sz="900">
                <a:solidFill>
                  <a:schemeClr val="tx1"/>
                </a:solidFill>
              </a:rPr>
              <a:t>Global industry to grow with 6% CAGR, hence space for co-existing</a:t>
            </a:r>
          </a:p>
        </p:txBody>
      </p:sp>
      <p:sp>
        <p:nvSpPr>
          <p:cNvPr id="161" name="Right Brace 160">
            <a:extLst>
              <a:ext uri="{FF2B5EF4-FFF2-40B4-BE49-F238E27FC236}">
                <a16:creationId xmlns:a16="http://schemas.microsoft.com/office/drawing/2014/main" id="{AA273F3D-29C3-8687-3B8A-D514EB1830CF}"/>
              </a:ext>
            </a:extLst>
          </p:cNvPr>
          <p:cNvSpPr/>
          <p:nvPr/>
        </p:nvSpPr>
        <p:spPr>
          <a:xfrm flipH="1">
            <a:off x="7118964" y="4300137"/>
            <a:ext cx="442931" cy="649072"/>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tx1"/>
                </a:solidFill>
                <a:latin typeface="+mn-lt"/>
                <a:ea typeface="+mn-ea"/>
                <a:cs typeface="+mn-cs"/>
                <a:sym typeface="Arial"/>
              </a:defRPr>
            </a:lvl9pPr>
          </a:lstStyle>
          <a:p>
            <a:pPr algn="ctr"/>
            <a:endParaRPr lang="en-IN"/>
          </a:p>
        </p:txBody>
      </p:sp>
      <p:sp>
        <p:nvSpPr>
          <p:cNvPr id="162" name="TextBox 1053">
            <a:extLst>
              <a:ext uri="{FF2B5EF4-FFF2-40B4-BE49-F238E27FC236}">
                <a16:creationId xmlns:a16="http://schemas.microsoft.com/office/drawing/2014/main" id="{30EDD8B8-2215-7C9E-F27E-82DA3A29B4BD}"/>
              </a:ext>
            </a:extLst>
          </p:cNvPr>
          <p:cNvSpPr txBox="1"/>
          <p:nvPr/>
        </p:nvSpPr>
        <p:spPr>
          <a:xfrm>
            <a:off x="7488670" y="3910824"/>
            <a:ext cx="2718739" cy="230832"/>
          </a:xfrm>
          <a:prstGeom prst="rect">
            <a:avLst/>
          </a:prstGeom>
          <a:solidFill>
            <a:schemeClr val="accent1">
              <a:lumMod val="20000"/>
              <a:lumOff val="8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900" b="1"/>
              <a:t>11 &amp; 10 plants </a:t>
            </a:r>
            <a:r>
              <a:rPr lang="en-IN" sz="900"/>
              <a:t>in Punjab &amp; Haryana respectively</a:t>
            </a:r>
          </a:p>
        </p:txBody>
      </p:sp>
      <p:pic>
        <p:nvPicPr>
          <p:cNvPr id="164" name="Graphic 1058" descr="Coins with solid fill">
            <a:extLst>
              <a:ext uri="{FF2B5EF4-FFF2-40B4-BE49-F238E27FC236}">
                <a16:creationId xmlns:a16="http://schemas.microsoft.com/office/drawing/2014/main" id="{CEB3DB9A-0313-A424-76AD-BD032C28C46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88670" y="4657684"/>
            <a:ext cx="396455" cy="285452"/>
          </a:xfrm>
          <a:prstGeom prst="rect">
            <a:avLst/>
          </a:prstGeom>
        </p:spPr>
      </p:pic>
      <p:pic>
        <p:nvPicPr>
          <p:cNvPr id="166" name="Graphic 1065" descr="Bar graph with downward trend with solid fill">
            <a:extLst>
              <a:ext uri="{FF2B5EF4-FFF2-40B4-BE49-F238E27FC236}">
                <a16:creationId xmlns:a16="http://schemas.microsoft.com/office/drawing/2014/main" id="{E40DB3C6-B7FE-030F-2007-75A5832D9EF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108700" y="4281770"/>
            <a:ext cx="495175" cy="356531"/>
          </a:xfrm>
          <a:prstGeom prst="rect">
            <a:avLst/>
          </a:prstGeom>
        </p:spPr>
      </p:pic>
      <p:sp>
        <p:nvSpPr>
          <p:cNvPr id="167" name="TextBox 1067">
            <a:extLst>
              <a:ext uri="{FF2B5EF4-FFF2-40B4-BE49-F238E27FC236}">
                <a16:creationId xmlns:a16="http://schemas.microsoft.com/office/drawing/2014/main" id="{6164C3AC-6FEC-2DF1-9B5B-68AD8BB03DCB}"/>
              </a:ext>
            </a:extLst>
          </p:cNvPr>
          <p:cNvSpPr txBox="1"/>
          <p:nvPr/>
        </p:nvSpPr>
        <p:spPr>
          <a:xfrm>
            <a:off x="10603205" y="4553220"/>
            <a:ext cx="1627903" cy="43088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100"/>
              <a:t>No new plant was added in last year. </a:t>
            </a:r>
          </a:p>
        </p:txBody>
      </p:sp>
      <p:sp>
        <p:nvSpPr>
          <p:cNvPr id="168" name="TextBox 167">
            <a:extLst>
              <a:ext uri="{FF2B5EF4-FFF2-40B4-BE49-F238E27FC236}">
                <a16:creationId xmlns:a16="http://schemas.microsoft.com/office/drawing/2014/main" id="{8B2D14BB-1EB2-8C0E-C08B-26C02E98BDC0}"/>
              </a:ext>
            </a:extLst>
          </p:cNvPr>
          <p:cNvSpPr txBox="1"/>
          <p:nvPr/>
        </p:nvSpPr>
        <p:spPr>
          <a:xfrm>
            <a:off x="10753893" y="3367954"/>
            <a:ext cx="1281306" cy="584775"/>
          </a:xfrm>
          <a:prstGeom prst="rect">
            <a:avLst/>
          </a:prstGeom>
          <a:noFill/>
        </p:spPr>
        <p:txBody>
          <a:bodyPr wrap="square" rtlCol="0">
            <a:spAutoFit/>
          </a:bodyPr>
          <a:lstStyle/>
          <a:p>
            <a:pPr algn="ctr"/>
            <a:r>
              <a:rPr lang="en-US" sz="3200" b="1"/>
              <a:t>163 </a:t>
            </a:r>
          </a:p>
        </p:txBody>
      </p:sp>
      <p:sp>
        <p:nvSpPr>
          <p:cNvPr id="169" name="TextBox 168">
            <a:extLst>
              <a:ext uri="{FF2B5EF4-FFF2-40B4-BE49-F238E27FC236}">
                <a16:creationId xmlns:a16="http://schemas.microsoft.com/office/drawing/2014/main" id="{C275DA97-A57B-7174-DA93-F5FE67A6C7EE}"/>
              </a:ext>
            </a:extLst>
          </p:cNvPr>
          <p:cNvSpPr txBox="1"/>
          <p:nvPr/>
        </p:nvSpPr>
        <p:spPr>
          <a:xfrm>
            <a:off x="10891820" y="3796101"/>
            <a:ext cx="1060340" cy="238300"/>
          </a:xfrm>
          <a:prstGeom prst="rect">
            <a:avLst/>
          </a:prstGeom>
          <a:noFill/>
        </p:spPr>
        <p:txBody>
          <a:bodyPr wrap="square" rtlCol="0">
            <a:spAutoFit/>
          </a:bodyPr>
          <a:lstStyle/>
          <a:p>
            <a:pPr algn="ctr"/>
            <a:r>
              <a:rPr lang="en-US" sz="1000"/>
              <a:t>RNG plants in India</a:t>
            </a:r>
            <a:endParaRPr lang="en-IN" sz="1000"/>
          </a:p>
        </p:txBody>
      </p:sp>
      <p:sp>
        <p:nvSpPr>
          <p:cNvPr id="170" name="TextBox 169">
            <a:extLst>
              <a:ext uri="{FF2B5EF4-FFF2-40B4-BE49-F238E27FC236}">
                <a16:creationId xmlns:a16="http://schemas.microsoft.com/office/drawing/2014/main" id="{7871D99A-3EA5-0A49-0A48-52B23ECDDF98}"/>
              </a:ext>
            </a:extLst>
          </p:cNvPr>
          <p:cNvSpPr txBox="1"/>
          <p:nvPr/>
        </p:nvSpPr>
        <p:spPr>
          <a:xfrm flipH="1">
            <a:off x="5977648" y="4263338"/>
            <a:ext cx="1140087" cy="646331"/>
          </a:xfrm>
          <a:prstGeom prst="rect">
            <a:avLst/>
          </a:prstGeom>
          <a:noFill/>
        </p:spPr>
        <p:txBody>
          <a:bodyPr wrap="square" rtlCol="0">
            <a:spAutoFit/>
          </a:bodyPr>
          <a:lstStyle/>
          <a:p>
            <a:pPr algn="r"/>
            <a:r>
              <a:rPr lang="en-IN" sz="1200"/>
              <a:t>Threat of new entrant  is </a:t>
            </a:r>
            <a:r>
              <a:rPr lang="en-IN" sz="1200" b="1">
                <a:solidFill>
                  <a:srgbClr val="00B050"/>
                </a:solidFill>
              </a:rPr>
              <a:t>LOW</a:t>
            </a:r>
          </a:p>
        </p:txBody>
      </p:sp>
      <p:grpSp>
        <p:nvGrpSpPr>
          <p:cNvPr id="262" name="Group 261">
            <a:extLst>
              <a:ext uri="{FF2B5EF4-FFF2-40B4-BE49-F238E27FC236}">
                <a16:creationId xmlns:a16="http://schemas.microsoft.com/office/drawing/2014/main" id="{6DBD25E7-4AD5-7DE7-8732-D413EB38768C}"/>
              </a:ext>
            </a:extLst>
          </p:cNvPr>
          <p:cNvGrpSpPr/>
          <p:nvPr/>
        </p:nvGrpSpPr>
        <p:grpSpPr>
          <a:xfrm>
            <a:off x="233659" y="5223258"/>
            <a:ext cx="12628064" cy="1353289"/>
            <a:chOff x="121378" y="4705220"/>
            <a:chExt cx="7641479" cy="1820341"/>
          </a:xfrm>
        </p:grpSpPr>
        <p:grpSp>
          <p:nvGrpSpPr>
            <p:cNvPr id="184" name="Group 183">
              <a:extLst>
                <a:ext uri="{FF2B5EF4-FFF2-40B4-BE49-F238E27FC236}">
                  <a16:creationId xmlns:a16="http://schemas.microsoft.com/office/drawing/2014/main" id="{98E91473-4088-FA0C-7342-AAAF87AA6395}"/>
                </a:ext>
              </a:extLst>
            </p:cNvPr>
            <p:cNvGrpSpPr/>
            <p:nvPr/>
          </p:nvGrpSpPr>
          <p:grpSpPr>
            <a:xfrm>
              <a:off x="432938" y="4705222"/>
              <a:ext cx="7329919" cy="1820339"/>
              <a:chOff x="258177" y="4796850"/>
              <a:chExt cx="11846304" cy="1557739"/>
            </a:xfrm>
          </p:grpSpPr>
          <p:graphicFrame>
            <p:nvGraphicFramePr>
              <p:cNvPr id="186" name="Diagram 185">
                <a:extLst>
                  <a:ext uri="{FF2B5EF4-FFF2-40B4-BE49-F238E27FC236}">
                    <a16:creationId xmlns:a16="http://schemas.microsoft.com/office/drawing/2014/main" id="{9249E0B5-7D06-FE90-FED3-F06C5A2EF6C1}"/>
                  </a:ext>
                </a:extLst>
              </p:cNvPr>
              <p:cNvGraphicFramePr/>
              <p:nvPr/>
            </p:nvGraphicFramePr>
            <p:xfrm>
              <a:off x="258177" y="4796850"/>
              <a:ext cx="11846304" cy="1557739"/>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87" name="Diagram 186">
                <a:extLst>
                  <a:ext uri="{FF2B5EF4-FFF2-40B4-BE49-F238E27FC236}">
                    <a16:creationId xmlns:a16="http://schemas.microsoft.com/office/drawing/2014/main" id="{AB3CEB72-BE5D-3F68-5563-4D7A83225A3E}"/>
                  </a:ext>
                </a:extLst>
              </p:cNvPr>
              <p:cNvGraphicFramePr/>
              <p:nvPr>
                <p:extLst>
                  <p:ext uri="{D42A27DB-BD31-4B8C-83A1-F6EECF244321}">
                    <p14:modId xmlns:p14="http://schemas.microsoft.com/office/powerpoint/2010/main" val="4101331200"/>
                  </p:ext>
                </p:extLst>
              </p:nvPr>
            </p:nvGraphicFramePr>
            <p:xfrm>
              <a:off x="458760" y="4880492"/>
              <a:ext cx="10748909" cy="136179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pSp>
        <p:sp>
          <p:nvSpPr>
            <p:cNvPr id="185" name="Google Shape;189;p6">
              <a:extLst>
                <a:ext uri="{FF2B5EF4-FFF2-40B4-BE49-F238E27FC236}">
                  <a16:creationId xmlns:a16="http://schemas.microsoft.com/office/drawing/2014/main" id="{862AC6AD-7F35-60B0-8C6E-638F2184ECCB}"/>
                </a:ext>
              </a:extLst>
            </p:cNvPr>
            <p:cNvSpPr/>
            <p:nvPr/>
          </p:nvSpPr>
          <p:spPr>
            <a:xfrm rot="16200000">
              <a:off x="-505915" y="5332513"/>
              <a:ext cx="1628229" cy="373643"/>
            </a:xfrm>
            <a:prstGeom prst="homePlate">
              <a:avLst>
                <a:gd name="adj" fmla="val 50000"/>
              </a:avLst>
            </a:prstGeom>
            <a:solidFill>
              <a:schemeClr val="accent6">
                <a:lumMod val="60000"/>
                <a:lumOff val="40000"/>
              </a:schemeClr>
            </a:solidFill>
            <a:ln/>
          </p:spPr>
          <p:style>
            <a:lnRef idx="3">
              <a:schemeClr val="lt1"/>
            </a:lnRef>
            <a:fillRef idx="1">
              <a:schemeClr val="accent4"/>
            </a:fillRef>
            <a:effectRef idx="1">
              <a:schemeClr val="accent4"/>
            </a:effectRef>
            <a:fontRef idx="minor">
              <a:schemeClr val="lt1"/>
            </a:fontRef>
          </p:style>
          <p:txBody>
            <a:bodyPr spcFirstLastPara="1" wrap="square" lIns="91425" tIns="45700" rIns="91425" bIns="45700" anchor="ctr" anchorCtr="0">
              <a:noAutofit/>
            </a:bodyPr>
            <a:lstStyle/>
            <a:p>
              <a:pPr algn="ctr"/>
              <a:r>
                <a:rPr lang="en-GB" sz="1300" b="1">
                  <a:solidFill>
                    <a:schemeClr val="lt1"/>
                  </a:solidFill>
                </a:rPr>
                <a:t>Timeline</a:t>
              </a:r>
              <a:endParaRPr lang="en-US"/>
            </a:p>
          </p:txBody>
        </p:sp>
      </p:grpSp>
      <p:sp>
        <p:nvSpPr>
          <p:cNvPr id="2" name="TextBox 1">
            <a:extLst>
              <a:ext uri="{FF2B5EF4-FFF2-40B4-BE49-F238E27FC236}">
                <a16:creationId xmlns:a16="http://schemas.microsoft.com/office/drawing/2014/main" id="{37B387E4-65FA-5CFB-136D-75FFF92F3FFF}"/>
              </a:ext>
            </a:extLst>
          </p:cNvPr>
          <p:cNvSpPr txBox="1"/>
          <p:nvPr/>
        </p:nvSpPr>
        <p:spPr>
          <a:xfrm>
            <a:off x="6199051" y="2505712"/>
            <a:ext cx="1273466" cy="784830"/>
          </a:xfrm>
          <a:prstGeom prst="rect">
            <a:avLst/>
          </a:prstGeom>
          <a:noFill/>
          <a:ln>
            <a:solidFill>
              <a:schemeClr val="accent2"/>
            </a:solidFill>
            <a:prstDash val="dash"/>
          </a:ln>
        </p:spPr>
        <p:txBody>
          <a:bodyPr wrap="square" rtlCol="0">
            <a:spAutoFit/>
          </a:bodyPr>
          <a:lstStyle/>
          <a:p>
            <a:pPr algn="ctr"/>
            <a:r>
              <a:rPr lang="en-IN" sz="900">
                <a:solidFill>
                  <a:schemeClr val="tx1"/>
                </a:solidFill>
              </a:rPr>
              <a:t>Technology is in fermentation phase of the S-curve, competing with many other technologies</a:t>
            </a:r>
          </a:p>
        </p:txBody>
      </p:sp>
      <p:grpSp>
        <p:nvGrpSpPr>
          <p:cNvPr id="86" name="Group 85">
            <a:extLst>
              <a:ext uri="{FF2B5EF4-FFF2-40B4-BE49-F238E27FC236}">
                <a16:creationId xmlns:a16="http://schemas.microsoft.com/office/drawing/2014/main" id="{9E8E15F2-84EE-C909-FB83-4FF2D6864BCD}"/>
              </a:ext>
            </a:extLst>
          </p:cNvPr>
          <p:cNvGrpSpPr/>
          <p:nvPr/>
        </p:nvGrpSpPr>
        <p:grpSpPr>
          <a:xfrm>
            <a:off x="6101766" y="1665780"/>
            <a:ext cx="5900146" cy="2543747"/>
            <a:chOff x="6121271" y="1668482"/>
            <a:chExt cx="5900146" cy="2543747"/>
          </a:xfrm>
        </p:grpSpPr>
        <p:cxnSp>
          <p:nvCxnSpPr>
            <p:cNvPr id="82" name="Straight Connector 81">
              <a:extLst>
                <a:ext uri="{FF2B5EF4-FFF2-40B4-BE49-F238E27FC236}">
                  <a16:creationId xmlns:a16="http://schemas.microsoft.com/office/drawing/2014/main" id="{DF77BE49-145D-5C58-7BD2-7129C6639309}"/>
                </a:ext>
              </a:extLst>
            </p:cNvPr>
            <p:cNvCxnSpPr>
              <a:cxnSpLocks/>
            </p:cNvCxnSpPr>
            <p:nvPr/>
          </p:nvCxnSpPr>
          <p:spPr>
            <a:xfrm>
              <a:off x="6121271" y="1668482"/>
              <a:ext cx="5777771" cy="0"/>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3" name="Straight Connector 82">
              <a:extLst>
                <a:ext uri="{FF2B5EF4-FFF2-40B4-BE49-F238E27FC236}">
                  <a16:creationId xmlns:a16="http://schemas.microsoft.com/office/drawing/2014/main" id="{AE98AED2-600C-17A5-B183-2EC9A890812F}"/>
                </a:ext>
              </a:extLst>
            </p:cNvPr>
            <p:cNvCxnSpPr>
              <a:cxnSpLocks/>
            </p:cNvCxnSpPr>
            <p:nvPr/>
          </p:nvCxnSpPr>
          <p:spPr>
            <a:xfrm>
              <a:off x="6199545" y="2451556"/>
              <a:ext cx="5777771" cy="0"/>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4" name="Straight Connector 83">
              <a:extLst>
                <a:ext uri="{FF2B5EF4-FFF2-40B4-BE49-F238E27FC236}">
                  <a16:creationId xmlns:a16="http://schemas.microsoft.com/office/drawing/2014/main" id="{2B77332E-B4E5-3815-3D08-338172ECACA8}"/>
                </a:ext>
              </a:extLst>
            </p:cNvPr>
            <p:cNvCxnSpPr>
              <a:cxnSpLocks/>
            </p:cNvCxnSpPr>
            <p:nvPr/>
          </p:nvCxnSpPr>
          <p:spPr>
            <a:xfrm>
              <a:off x="6243646" y="3333525"/>
              <a:ext cx="5777771" cy="0"/>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5" name="Straight Connector 84">
              <a:extLst>
                <a:ext uri="{FF2B5EF4-FFF2-40B4-BE49-F238E27FC236}">
                  <a16:creationId xmlns:a16="http://schemas.microsoft.com/office/drawing/2014/main" id="{6EB69C68-B770-0D6A-7A58-94CD0642BB5E}"/>
                </a:ext>
              </a:extLst>
            </p:cNvPr>
            <p:cNvCxnSpPr>
              <a:cxnSpLocks/>
            </p:cNvCxnSpPr>
            <p:nvPr/>
          </p:nvCxnSpPr>
          <p:spPr>
            <a:xfrm>
              <a:off x="6232071" y="4212229"/>
              <a:ext cx="5777771" cy="0"/>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972874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0" y="66339"/>
            <a:ext cx="12189541" cy="421645"/>
          </a:xfrm>
          <a:prstGeom prst="rect">
            <a:avLst/>
          </a:prstGeom>
          <a:noFill/>
          <a:ln>
            <a:noFill/>
          </a:ln>
        </p:spPr>
        <p:txBody>
          <a:bodyPr spcFirstLastPara="1" wrap="square" lIns="91425" tIns="45700" rIns="91425" bIns="45700" anchor="ctr" anchorCtr="0">
            <a:normAutofit/>
          </a:bodyPr>
          <a:lstStyle/>
          <a:p>
            <a:r>
              <a:rPr lang="en-IN" sz="2000"/>
              <a:t>Optimized supply chain &amp; gaining trust of farmers early is vital to the </a:t>
            </a:r>
            <a:r>
              <a:rPr lang="en-IN" sz="2000" err="1"/>
              <a:t>longetivity</a:t>
            </a:r>
            <a:r>
              <a:rPr lang="en-IN" sz="2000"/>
              <a:t> of business.</a:t>
            </a:r>
          </a:p>
        </p:txBody>
      </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2108" name="Group 2107">
            <a:extLst>
              <a:ext uri="{FF2B5EF4-FFF2-40B4-BE49-F238E27FC236}">
                <a16:creationId xmlns:a16="http://schemas.microsoft.com/office/drawing/2014/main" id="{4F16407B-618D-CE2A-D71D-584685651E67}"/>
              </a:ext>
            </a:extLst>
          </p:cNvPr>
          <p:cNvGrpSpPr/>
          <p:nvPr/>
        </p:nvGrpSpPr>
        <p:grpSpPr>
          <a:xfrm>
            <a:off x="53197" y="6638003"/>
            <a:ext cx="11948715" cy="195823"/>
            <a:chOff x="53197" y="6638003"/>
            <a:chExt cx="11948715" cy="195823"/>
          </a:xfrm>
        </p:grpSpPr>
        <p:sp>
          <p:nvSpPr>
            <p:cNvPr id="2098" name="Arrow: Pentagon 2097">
              <a:extLst>
                <a:ext uri="{FF2B5EF4-FFF2-40B4-BE49-F238E27FC236}">
                  <a16:creationId xmlns:a16="http://schemas.microsoft.com/office/drawing/2014/main" id="{D6BF1936-83B7-5BBA-1FB5-8D9707E3B523}"/>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2099" name="Arrow: Chevron 2098">
              <a:extLst>
                <a:ext uri="{FF2B5EF4-FFF2-40B4-BE49-F238E27FC236}">
                  <a16:creationId xmlns:a16="http://schemas.microsoft.com/office/drawing/2014/main" id="{F739DB0F-63C8-463E-7A5E-4627E8C46590}"/>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2100" name="Arrow: Chevron 2099">
              <a:extLst>
                <a:ext uri="{FF2B5EF4-FFF2-40B4-BE49-F238E27FC236}">
                  <a16:creationId xmlns:a16="http://schemas.microsoft.com/office/drawing/2014/main" id="{BDDE6228-3236-5FC5-62BC-179BFB6B821A}"/>
                </a:ext>
              </a:extLst>
            </p:cNvPr>
            <p:cNvSpPr/>
            <p:nvPr/>
          </p:nvSpPr>
          <p:spPr>
            <a:xfrm>
              <a:off x="3854601" y="6648441"/>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2101" name="Arrow: Chevron 2100">
              <a:extLst>
                <a:ext uri="{FF2B5EF4-FFF2-40B4-BE49-F238E27FC236}">
                  <a16:creationId xmlns:a16="http://schemas.microsoft.com/office/drawing/2014/main" id="{DF5734D0-54F1-D1E6-EC0C-429075E93632}"/>
                </a:ext>
              </a:extLst>
            </p:cNvPr>
            <p:cNvSpPr/>
            <p:nvPr/>
          </p:nvSpPr>
          <p:spPr>
            <a:xfrm>
              <a:off x="2690030" y="6648440"/>
              <a:ext cx="1235178" cy="182305"/>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SC Analysis</a:t>
              </a:r>
              <a:endParaRPr lang="en-US" sz="1050">
                <a:solidFill>
                  <a:schemeClr val="bg1"/>
                </a:solidFill>
                <a:cs typeface="Arial"/>
              </a:endParaRPr>
            </a:p>
          </p:txBody>
        </p:sp>
        <p:sp>
          <p:nvSpPr>
            <p:cNvPr id="2102" name="Arrow: Chevron 2101">
              <a:extLst>
                <a:ext uri="{FF2B5EF4-FFF2-40B4-BE49-F238E27FC236}">
                  <a16:creationId xmlns:a16="http://schemas.microsoft.com/office/drawing/2014/main" id="{C7F3C903-ACC0-5D03-2F9D-DC7921FDDD5C}"/>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2103" name="Arrow: Chevron 2102">
              <a:extLst>
                <a:ext uri="{FF2B5EF4-FFF2-40B4-BE49-F238E27FC236}">
                  <a16:creationId xmlns:a16="http://schemas.microsoft.com/office/drawing/2014/main" id="{33FEA593-023D-5AB0-6C5F-F3B7FB5D9A66}"/>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2104" name="Arrow: Chevron 2103">
              <a:extLst>
                <a:ext uri="{FF2B5EF4-FFF2-40B4-BE49-F238E27FC236}">
                  <a16:creationId xmlns:a16="http://schemas.microsoft.com/office/drawing/2014/main" id="{7E6C90A2-5994-0517-7BBD-89A262A4F9B9}"/>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2105" name="Arrow: Chevron 2104">
              <a:extLst>
                <a:ext uri="{FF2B5EF4-FFF2-40B4-BE49-F238E27FC236}">
                  <a16:creationId xmlns:a16="http://schemas.microsoft.com/office/drawing/2014/main" id="{03A4F9FD-8AAC-2F78-2686-77C892C41ABC}"/>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2106" name="Arrow: Chevron 2105">
              <a:extLst>
                <a:ext uri="{FF2B5EF4-FFF2-40B4-BE49-F238E27FC236}">
                  <a16:creationId xmlns:a16="http://schemas.microsoft.com/office/drawing/2014/main" id="{9CB11914-1F65-A9AC-7183-2F0C27196053}"/>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2107" name="Arrow: Chevron 2106">
              <a:extLst>
                <a:ext uri="{FF2B5EF4-FFF2-40B4-BE49-F238E27FC236}">
                  <a16:creationId xmlns:a16="http://schemas.microsoft.com/office/drawing/2014/main" id="{4D04910C-0C3B-9917-9A19-056C67A94929}"/>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grpSp>
        <p:nvGrpSpPr>
          <p:cNvPr id="12" name="Group 11">
            <a:extLst>
              <a:ext uri="{FF2B5EF4-FFF2-40B4-BE49-F238E27FC236}">
                <a16:creationId xmlns:a16="http://schemas.microsoft.com/office/drawing/2014/main" id="{D83E8D64-6587-B271-C2C4-85791C6D2B88}"/>
              </a:ext>
            </a:extLst>
          </p:cNvPr>
          <p:cNvGrpSpPr/>
          <p:nvPr/>
        </p:nvGrpSpPr>
        <p:grpSpPr>
          <a:xfrm>
            <a:off x="1982549" y="424156"/>
            <a:ext cx="10115889" cy="1107051"/>
            <a:chOff x="428014" y="2889887"/>
            <a:chExt cx="11335972" cy="1254753"/>
          </a:xfrm>
        </p:grpSpPr>
        <p:grpSp>
          <p:nvGrpSpPr>
            <p:cNvPr id="13" name="Group 12">
              <a:extLst>
                <a:ext uri="{FF2B5EF4-FFF2-40B4-BE49-F238E27FC236}">
                  <a16:creationId xmlns:a16="http://schemas.microsoft.com/office/drawing/2014/main" id="{91753B13-6F41-7A57-220E-9F171211C949}"/>
                </a:ext>
              </a:extLst>
            </p:cNvPr>
            <p:cNvGrpSpPr/>
            <p:nvPr/>
          </p:nvGrpSpPr>
          <p:grpSpPr>
            <a:xfrm>
              <a:off x="428014" y="2971448"/>
              <a:ext cx="11335972" cy="1173192"/>
              <a:chOff x="428014" y="2964227"/>
              <a:chExt cx="11335972" cy="1173192"/>
            </a:xfrm>
          </p:grpSpPr>
          <p:pic>
            <p:nvPicPr>
              <p:cNvPr id="15" name="Graphic 14" descr="Factory with solid fill">
                <a:extLst>
                  <a:ext uri="{FF2B5EF4-FFF2-40B4-BE49-F238E27FC236}">
                    <a16:creationId xmlns:a16="http://schemas.microsoft.com/office/drawing/2014/main" id="{8BC9AF99-3C42-E8BA-4321-0B434FBC5D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33133" y="3199289"/>
                <a:ext cx="823013" cy="823013"/>
              </a:xfrm>
              <a:prstGeom prst="rect">
                <a:avLst/>
              </a:prstGeom>
            </p:spPr>
          </p:pic>
          <p:graphicFrame>
            <p:nvGraphicFramePr>
              <p:cNvPr id="16" name="Diagram 15">
                <a:extLst>
                  <a:ext uri="{FF2B5EF4-FFF2-40B4-BE49-F238E27FC236}">
                    <a16:creationId xmlns:a16="http://schemas.microsoft.com/office/drawing/2014/main" id="{57BD452D-6D68-C405-F33B-DD35AD5874C3}"/>
                  </a:ext>
                </a:extLst>
              </p:cNvPr>
              <p:cNvGraphicFramePr/>
              <p:nvPr>
                <p:extLst>
                  <p:ext uri="{D42A27DB-BD31-4B8C-83A1-F6EECF244321}">
                    <p14:modId xmlns:p14="http://schemas.microsoft.com/office/powerpoint/2010/main" val="4116435448"/>
                  </p:ext>
                </p:extLst>
              </p:nvPr>
            </p:nvGraphicFramePr>
            <p:xfrm>
              <a:off x="428014" y="3808398"/>
              <a:ext cx="11335972" cy="32902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7" name="Picture 16">
                <a:extLst>
                  <a:ext uri="{FF2B5EF4-FFF2-40B4-BE49-F238E27FC236}">
                    <a16:creationId xmlns:a16="http://schemas.microsoft.com/office/drawing/2014/main" id="{D606D2E0-8F07-175C-9144-ABDF6C847FFA}"/>
                  </a:ext>
                </a:extLst>
              </p:cNvPr>
              <p:cNvPicPr>
                <a:picLocks noChangeAspect="1"/>
              </p:cNvPicPr>
              <p:nvPr/>
            </p:nvPicPr>
            <p:blipFill rotWithShape="1">
              <a:blip r:embed="rId10"/>
              <a:srcRect l="5096" t="13984" r="79856" b="65563"/>
              <a:stretch/>
            </p:blipFill>
            <p:spPr>
              <a:xfrm>
                <a:off x="967520" y="2964227"/>
                <a:ext cx="1173796" cy="844170"/>
              </a:xfrm>
              <a:prstGeom prst="rect">
                <a:avLst/>
              </a:prstGeom>
            </p:spPr>
          </p:pic>
          <p:pic>
            <p:nvPicPr>
              <p:cNvPr id="18" name="Picture 17">
                <a:extLst>
                  <a:ext uri="{FF2B5EF4-FFF2-40B4-BE49-F238E27FC236}">
                    <a16:creationId xmlns:a16="http://schemas.microsoft.com/office/drawing/2014/main" id="{651F49DF-DC2F-E6B8-0D01-E289FCB4155C}"/>
                  </a:ext>
                </a:extLst>
              </p:cNvPr>
              <p:cNvPicPr>
                <a:picLocks noChangeAspect="1"/>
              </p:cNvPicPr>
              <p:nvPr/>
            </p:nvPicPr>
            <p:blipFill rotWithShape="1">
              <a:blip r:embed="rId10"/>
              <a:srcRect l="23117" t="12751" r="62206" b="65564"/>
              <a:stretch/>
            </p:blipFill>
            <p:spPr>
              <a:xfrm>
                <a:off x="3217876" y="2975318"/>
                <a:ext cx="1078389" cy="843073"/>
              </a:xfrm>
              <a:prstGeom prst="rect">
                <a:avLst/>
              </a:prstGeom>
            </p:spPr>
          </p:pic>
          <p:pic>
            <p:nvPicPr>
              <p:cNvPr id="19" name="Picture 18">
                <a:extLst>
                  <a:ext uri="{FF2B5EF4-FFF2-40B4-BE49-F238E27FC236}">
                    <a16:creationId xmlns:a16="http://schemas.microsoft.com/office/drawing/2014/main" id="{5AFB39BE-6D2A-A1B2-0A48-9B6C8CB83F36}"/>
                  </a:ext>
                </a:extLst>
              </p:cNvPr>
              <p:cNvPicPr>
                <a:picLocks noChangeAspect="1"/>
              </p:cNvPicPr>
              <p:nvPr/>
            </p:nvPicPr>
            <p:blipFill rotWithShape="1">
              <a:blip r:embed="rId10"/>
              <a:srcRect l="40166" t="10547" r="41696" b="65563"/>
              <a:stretch/>
            </p:blipFill>
            <p:spPr>
              <a:xfrm>
                <a:off x="7609489" y="3028916"/>
                <a:ext cx="1274167" cy="768172"/>
              </a:xfrm>
              <a:prstGeom prst="rect">
                <a:avLst/>
              </a:prstGeom>
            </p:spPr>
          </p:pic>
          <p:pic>
            <p:nvPicPr>
              <p:cNvPr id="20" name="Graphic 19" descr="Plant with solid fill">
                <a:extLst>
                  <a:ext uri="{FF2B5EF4-FFF2-40B4-BE49-F238E27FC236}">
                    <a16:creationId xmlns:a16="http://schemas.microsoft.com/office/drawing/2014/main" id="{FDFD3C27-45F2-112A-AE18-8D5B4EABB48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09481" y="3182399"/>
                <a:ext cx="675787" cy="675787"/>
              </a:xfrm>
              <a:prstGeom prst="rect">
                <a:avLst/>
              </a:prstGeom>
            </p:spPr>
          </p:pic>
          <p:pic>
            <p:nvPicPr>
              <p:cNvPr id="21" name="Graphic 20" descr="Sun with solid fill">
                <a:extLst>
                  <a:ext uri="{FF2B5EF4-FFF2-40B4-BE49-F238E27FC236}">
                    <a16:creationId xmlns:a16="http://schemas.microsoft.com/office/drawing/2014/main" id="{254ECC36-89D6-6EC9-9509-63CB20FBA61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94236" y="3065301"/>
                <a:ext cx="366695" cy="366695"/>
              </a:xfrm>
              <a:prstGeom prst="rect">
                <a:avLst/>
              </a:prstGeom>
            </p:spPr>
          </p:pic>
        </p:grpSp>
        <p:pic>
          <p:nvPicPr>
            <p:cNvPr id="14" name="Graphic 13" descr="Factory with solid fill">
              <a:extLst>
                <a:ext uri="{FF2B5EF4-FFF2-40B4-BE49-F238E27FC236}">
                  <a16:creationId xmlns:a16="http://schemas.microsoft.com/office/drawing/2014/main" id="{561522EB-49B6-844B-CDEF-1061AC30AA6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114566" y="2889887"/>
              <a:ext cx="1098660" cy="1098660"/>
            </a:xfrm>
            <a:prstGeom prst="rect">
              <a:avLst/>
            </a:prstGeom>
          </p:spPr>
        </p:pic>
      </p:grpSp>
      <p:sp>
        <p:nvSpPr>
          <p:cNvPr id="2111" name="TextBox 2110">
            <a:extLst>
              <a:ext uri="{FF2B5EF4-FFF2-40B4-BE49-F238E27FC236}">
                <a16:creationId xmlns:a16="http://schemas.microsoft.com/office/drawing/2014/main" id="{6EFDE1C6-788C-13A1-D4D8-F1C6F7E0307A}"/>
              </a:ext>
            </a:extLst>
          </p:cNvPr>
          <p:cNvSpPr txBox="1"/>
          <p:nvPr/>
        </p:nvSpPr>
        <p:spPr>
          <a:xfrm rot="5400000">
            <a:off x="469482" y="368728"/>
            <a:ext cx="615553" cy="1203337"/>
          </a:xfrm>
          <a:prstGeom prst="rect">
            <a:avLst/>
          </a:prstGeom>
          <a:solidFill>
            <a:schemeClr val="accent6">
              <a:lumMod val="20000"/>
              <a:lumOff val="80000"/>
            </a:schemeClr>
          </a:solidFill>
        </p:spPr>
        <p:txBody>
          <a:bodyPr vert="vert270" wrap="square" lIns="91440" tIns="45720" rIns="91440" bIns="45720" rtlCol="0" anchor="ctr">
            <a:spAutoFit/>
          </a:bodyPr>
          <a:lstStyle/>
          <a:p>
            <a:pPr algn="ctr"/>
            <a:r>
              <a:rPr lang="en-IN" b="1"/>
              <a:t>Supply Chain</a:t>
            </a:r>
            <a:endParaRPr lang="en-US"/>
          </a:p>
        </p:txBody>
      </p:sp>
      <p:cxnSp>
        <p:nvCxnSpPr>
          <p:cNvPr id="2156" name="Straight Arrow Connector 2155">
            <a:extLst>
              <a:ext uri="{FF2B5EF4-FFF2-40B4-BE49-F238E27FC236}">
                <a16:creationId xmlns:a16="http://schemas.microsoft.com/office/drawing/2014/main" id="{7B93F084-81E8-1F18-3861-45A0CCD2D5F5}"/>
              </a:ext>
            </a:extLst>
          </p:cNvPr>
          <p:cNvCxnSpPr/>
          <p:nvPr/>
        </p:nvCxnSpPr>
        <p:spPr>
          <a:xfrm flipH="1">
            <a:off x="175590" y="4752293"/>
            <a:ext cx="11857383" cy="14356"/>
          </a:xfrm>
          <a:prstGeom prst="straightConnector1">
            <a:avLst/>
          </a:prstGeom>
          <a:ln w="28575">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97EF9FC-093C-9DCC-0B7B-1E446B85BB05}"/>
              </a:ext>
            </a:extLst>
          </p:cNvPr>
          <p:cNvSpPr txBox="1"/>
          <p:nvPr/>
        </p:nvSpPr>
        <p:spPr>
          <a:xfrm>
            <a:off x="145605" y="4866055"/>
            <a:ext cx="369332" cy="1622989"/>
          </a:xfrm>
          <a:prstGeom prst="rect">
            <a:avLst/>
          </a:prstGeom>
          <a:solidFill>
            <a:schemeClr val="accent2">
              <a:lumMod val="50000"/>
            </a:schemeClr>
          </a:solidFill>
        </p:spPr>
        <p:txBody>
          <a:bodyPr vert="vert270" wrap="square" lIns="91440" tIns="45720" rIns="91440" bIns="45720" rtlCol="0" anchor="ctr">
            <a:spAutoFit/>
          </a:bodyPr>
          <a:lstStyle/>
          <a:p>
            <a:pPr algn="ctr"/>
            <a:r>
              <a:rPr lang="en-IN" sz="1200" b="1">
                <a:solidFill>
                  <a:schemeClr val="bg1"/>
                </a:solidFill>
              </a:rPr>
              <a:t>Farmer's Journey</a:t>
            </a:r>
            <a:endParaRPr lang="en-US"/>
          </a:p>
        </p:txBody>
      </p:sp>
      <p:pic>
        <p:nvPicPr>
          <p:cNvPr id="23" name="Picture 22" descr="A green rectangle with black text&#10;&#10;Description automatically generated">
            <a:extLst>
              <a:ext uri="{FF2B5EF4-FFF2-40B4-BE49-F238E27FC236}">
                <a16:creationId xmlns:a16="http://schemas.microsoft.com/office/drawing/2014/main" id="{0C227531-ADE5-6D77-D9DD-56A400CA24F1}"/>
              </a:ext>
            </a:extLst>
          </p:cNvPr>
          <p:cNvPicPr>
            <a:picLocks noChangeAspect="1"/>
          </p:cNvPicPr>
          <p:nvPr/>
        </p:nvPicPr>
        <p:blipFill>
          <a:blip r:embed="rId17"/>
          <a:stretch>
            <a:fillRect/>
          </a:stretch>
        </p:blipFill>
        <p:spPr>
          <a:xfrm>
            <a:off x="10970315" y="4870588"/>
            <a:ext cx="963543" cy="1291259"/>
          </a:xfrm>
          <a:prstGeom prst="rect">
            <a:avLst/>
          </a:prstGeom>
        </p:spPr>
      </p:pic>
      <p:pic>
        <p:nvPicPr>
          <p:cNvPr id="2049" name="Picture 2048">
            <a:extLst>
              <a:ext uri="{FF2B5EF4-FFF2-40B4-BE49-F238E27FC236}">
                <a16:creationId xmlns:a16="http://schemas.microsoft.com/office/drawing/2014/main" id="{D4425058-2E35-4618-4A96-B7F019F7CD86}"/>
              </a:ext>
            </a:extLst>
          </p:cNvPr>
          <p:cNvPicPr>
            <a:picLocks noChangeAspect="1"/>
          </p:cNvPicPr>
          <p:nvPr/>
        </p:nvPicPr>
        <p:blipFill>
          <a:blip r:embed="rId18"/>
          <a:stretch>
            <a:fillRect/>
          </a:stretch>
        </p:blipFill>
        <p:spPr>
          <a:xfrm>
            <a:off x="660400" y="4868057"/>
            <a:ext cx="10131286" cy="1561363"/>
          </a:xfrm>
          <a:prstGeom prst="rect">
            <a:avLst/>
          </a:prstGeom>
        </p:spPr>
      </p:pic>
      <p:sp>
        <p:nvSpPr>
          <p:cNvPr id="2076" name="Arrow: Right 2075">
            <a:hlinkClick r:id="rId19" action="ppaction://hlinksldjump"/>
            <a:extLst>
              <a:ext uri="{FF2B5EF4-FFF2-40B4-BE49-F238E27FC236}">
                <a16:creationId xmlns:a16="http://schemas.microsoft.com/office/drawing/2014/main" id="{FD575D42-60A6-2D41-8AE2-434B102266D5}"/>
              </a:ext>
            </a:extLst>
          </p:cNvPr>
          <p:cNvSpPr/>
          <p:nvPr/>
        </p:nvSpPr>
        <p:spPr>
          <a:xfrm>
            <a:off x="10899914" y="6029738"/>
            <a:ext cx="1292087" cy="607389"/>
          </a:xfrm>
          <a:prstGeom prst="rightArrow">
            <a:avLst/>
          </a:prstGeom>
          <a:solidFill>
            <a:srgbClr val="FAFF66">
              <a:alpha val="37000"/>
            </a:srgbClr>
          </a:solidFill>
          <a:ln w="6350">
            <a:solidFill>
              <a:srgbClr val="9C797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dirty="0">
                <a:solidFill>
                  <a:schemeClr val="tx1"/>
                </a:solidFill>
                <a:cs typeface="Arial"/>
              </a:rPr>
              <a:t>Annexure for model analysis</a:t>
            </a:r>
            <a:endParaRPr lang="en-US" dirty="0"/>
          </a:p>
        </p:txBody>
      </p:sp>
      <p:grpSp>
        <p:nvGrpSpPr>
          <p:cNvPr id="2113" name="Group 2112">
            <a:extLst>
              <a:ext uri="{FF2B5EF4-FFF2-40B4-BE49-F238E27FC236}">
                <a16:creationId xmlns:a16="http://schemas.microsoft.com/office/drawing/2014/main" id="{3C72124F-BF9E-2345-AF54-ADA4653B6C07}"/>
              </a:ext>
            </a:extLst>
          </p:cNvPr>
          <p:cNvGrpSpPr/>
          <p:nvPr/>
        </p:nvGrpSpPr>
        <p:grpSpPr>
          <a:xfrm>
            <a:off x="187981" y="1573009"/>
            <a:ext cx="11745877" cy="3014245"/>
            <a:chOff x="555168" y="413651"/>
            <a:chExt cx="11114318" cy="3722913"/>
          </a:xfrm>
        </p:grpSpPr>
        <p:grpSp>
          <p:nvGrpSpPr>
            <p:cNvPr id="8" name="Group 7">
              <a:extLst>
                <a:ext uri="{FF2B5EF4-FFF2-40B4-BE49-F238E27FC236}">
                  <a16:creationId xmlns:a16="http://schemas.microsoft.com/office/drawing/2014/main" id="{0D4A7928-0D90-CCDE-34F5-4F946A4A87F7}"/>
                </a:ext>
              </a:extLst>
            </p:cNvPr>
            <p:cNvGrpSpPr/>
            <p:nvPr/>
          </p:nvGrpSpPr>
          <p:grpSpPr>
            <a:xfrm>
              <a:off x="555168" y="1012372"/>
              <a:ext cx="1643746" cy="3124192"/>
              <a:chOff x="555168" y="1012372"/>
              <a:chExt cx="1643746" cy="3124192"/>
            </a:xfrm>
          </p:grpSpPr>
          <p:sp>
            <p:nvSpPr>
              <p:cNvPr id="9" name="Rectangle 8">
                <a:extLst>
                  <a:ext uri="{FF2B5EF4-FFF2-40B4-BE49-F238E27FC236}">
                    <a16:creationId xmlns:a16="http://schemas.microsoft.com/office/drawing/2014/main" id="{07C86B80-CDA4-CF2E-07BA-42565BB2C748}"/>
                  </a:ext>
                </a:extLst>
              </p:cNvPr>
              <p:cNvSpPr/>
              <p:nvPr/>
            </p:nvSpPr>
            <p:spPr>
              <a:xfrm>
                <a:off x="555171" y="1186542"/>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0" i="0">
                    <a:solidFill>
                      <a:srgbClr val="000000"/>
                    </a:solidFill>
                    <a:effectLst/>
                    <a:latin typeface="Arial" panose="020B0604020202020204" pitchFamily="34" charset="0"/>
                    <a:cs typeface="Arial" panose="020B0604020202020204" pitchFamily="34" charset="0"/>
                  </a:rPr>
                  <a:t>Awareness &amp; Effective farmer communication </a:t>
                </a:r>
                <a:endParaRPr lang="en-US" sz="1200" b="1">
                  <a:solidFill>
                    <a:schemeClr val="tx1"/>
                  </a:solidFill>
                  <a:latin typeface="Arial" panose="020B0604020202020204" pitchFamily="34" charset="0"/>
                  <a:cs typeface="Arial" pitchFamily="34" charset="0"/>
                </a:endParaRPr>
              </a:p>
            </p:txBody>
          </p:sp>
          <p:sp>
            <p:nvSpPr>
              <p:cNvPr id="24" name="Rectangle 23">
                <a:extLst>
                  <a:ext uri="{FF2B5EF4-FFF2-40B4-BE49-F238E27FC236}">
                    <a16:creationId xmlns:a16="http://schemas.microsoft.com/office/drawing/2014/main" id="{F4E4363E-D85F-01F8-120E-86DD5C06368C}"/>
                  </a:ext>
                </a:extLst>
              </p:cNvPr>
              <p:cNvSpPr/>
              <p:nvPr/>
            </p:nvSpPr>
            <p:spPr>
              <a:xfrm>
                <a:off x="555170" y="1970311"/>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IN" sz="1200" b="1" i="0">
                    <a:solidFill>
                      <a:srgbClr val="444444"/>
                    </a:solidFill>
                    <a:effectLst/>
                    <a:latin typeface="Arial" panose="020B0604020202020204" pitchFamily="34" charset="0"/>
                    <a:cs typeface="Arial" panose="020B0604020202020204" pitchFamily="34" charset="0"/>
                  </a:rPr>
                  <a:t>Sourcing Location</a:t>
                </a:r>
                <a:r>
                  <a:rPr lang="en-US" sz="1200" b="1" i="0">
                    <a:solidFill>
                      <a:srgbClr val="444444"/>
                    </a:solidFill>
                    <a:effectLst/>
                    <a:latin typeface="Arial" panose="020B0604020202020204" pitchFamily="34" charset="0"/>
                    <a:cs typeface="Arial" panose="020B0604020202020204" pitchFamily="34" charset="0"/>
                  </a:rPr>
                  <a:t>​</a:t>
                </a:r>
              </a:p>
            </p:txBody>
          </p:sp>
          <p:sp>
            <p:nvSpPr>
              <p:cNvPr id="25" name="Rectangle 24">
                <a:extLst>
                  <a:ext uri="{FF2B5EF4-FFF2-40B4-BE49-F238E27FC236}">
                    <a16:creationId xmlns:a16="http://schemas.microsoft.com/office/drawing/2014/main" id="{6BAA9108-4EC0-89AD-A66F-030F9E716375}"/>
                  </a:ext>
                </a:extLst>
              </p:cNvPr>
              <p:cNvSpPr/>
              <p:nvPr/>
            </p:nvSpPr>
            <p:spPr>
              <a:xfrm>
                <a:off x="555169" y="2754080"/>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IN" sz="1200">
                    <a:solidFill>
                      <a:srgbClr val="444444"/>
                    </a:solidFill>
                    <a:latin typeface="Arial" panose="020B0604020202020204" pitchFamily="34" charset="0"/>
                    <a:cs typeface="Arial" panose="020B0604020202020204" pitchFamily="34" charset="0"/>
                  </a:rPr>
                  <a:t>M</a:t>
                </a:r>
                <a:r>
                  <a:rPr lang="en-IN" sz="1200" b="0" i="0">
                    <a:solidFill>
                      <a:srgbClr val="444444"/>
                    </a:solidFill>
                    <a:effectLst/>
                    <a:latin typeface="Arial" panose="020B0604020202020204" pitchFamily="34" charset="0"/>
                    <a:cs typeface="Arial" panose="020B0604020202020204" pitchFamily="34" charset="0"/>
                  </a:rPr>
                  <a:t>ethods for survey participation</a:t>
                </a:r>
                <a:r>
                  <a:rPr lang="en-US" sz="1200" b="0" i="0">
                    <a:solidFill>
                      <a:srgbClr val="444444"/>
                    </a:solidFill>
                    <a:effectLst/>
                    <a:latin typeface="Arial" panose="020B0604020202020204" pitchFamily="34" charset="0"/>
                    <a:cs typeface="Arial" panose="020B0604020202020204" pitchFamily="34" charset="0"/>
                  </a:rPr>
                  <a:t>​</a:t>
                </a:r>
              </a:p>
            </p:txBody>
          </p:sp>
          <p:sp>
            <p:nvSpPr>
              <p:cNvPr id="26" name="Rectangle 25">
                <a:extLst>
                  <a:ext uri="{FF2B5EF4-FFF2-40B4-BE49-F238E27FC236}">
                    <a16:creationId xmlns:a16="http://schemas.microsoft.com/office/drawing/2014/main" id="{4C926ECA-4178-F31F-8370-B22729D955D6}"/>
                  </a:ext>
                </a:extLst>
              </p:cNvPr>
              <p:cNvSpPr/>
              <p:nvPr/>
            </p:nvSpPr>
            <p:spPr>
              <a:xfrm>
                <a:off x="555168" y="3537849"/>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IN" sz="1200" b="0" i="0">
                    <a:solidFill>
                      <a:srgbClr val="444444"/>
                    </a:solidFill>
                    <a:effectLst/>
                    <a:latin typeface="Arial" panose="020B0604020202020204" pitchFamily="34" charset="0"/>
                    <a:cs typeface="Arial" panose="020B0604020202020204" pitchFamily="34" charset="0"/>
                  </a:rPr>
                  <a:t>Quality of Seeds, soil health, inputs used</a:t>
                </a:r>
                <a:r>
                  <a:rPr lang="en-US" sz="1200" b="0" i="0">
                    <a:solidFill>
                      <a:srgbClr val="444444"/>
                    </a:solidFill>
                    <a:effectLst/>
                    <a:latin typeface="Arial" panose="020B0604020202020204" pitchFamily="34" charset="0"/>
                    <a:cs typeface="Arial" panose="020B0604020202020204" pitchFamily="34" charset="0"/>
                  </a:rPr>
                  <a:t>​</a:t>
                </a:r>
              </a:p>
            </p:txBody>
          </p:sp>
          <p:cxnSp>
            <p:nvCxnSpPr>
              <p:cNvPr id="27" name="Straight Arrow Connector 26">
                <a:extLst>
                  <a:ext uri="{FF2B5EF4-FFF2-40B4-BE49-F238E27FC236}">
                    <a16:creationId xmlns:a16="http://schemas.microsoft.com/office/drawing/2014/main" id="{FFDF6B3B-E1FE-CADD-9443-A24BE25FCC53}"/>
                  </a:ext>
                </a:extLst>
              </p:cNvPr>
              <p:cNvCxnSpPr>
                <a:cxnSpLocks/>
                <a:endCxn id="9" idx="0"/>
              </p:cNvCxnSpPr>
              <p:nvPr/>
            </p:nvCxnSpPr>
            <p:spPr>
              <a:xfrm>
                <a:off x="1377043" y="1012372"/>
                <a:ext cx="0" cy="17417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19D35E-2816-1E49-DA8F-1F9A4CD61E79}"/>
                  </a:ext>
                </a:extLst>
              </p:cNvPr>
              <p:cNvCxnSpPr>
                <a:cxnSpLocks/>
                <a:stCxn id="9" idx="2"/>
                <a:endCxn id="24" idx="0"/>
              </p:cNvCxnSpPr>
              <p:nvPr/>
            </p:nvCxnSpPr>
            <p:spPr>
              <a:xfrm flipH="1">
                <a:off x="1377042" y="1785257"/>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8E90C9D-8D18-8C1A-E6AF-91A2C74CADBE}"/>
                  </a:ext>
                </a:extLst>
              </p:cNvPr>
              <p:cNvCxnSpPr>
                <a:cxnSpLocks/>
                <a:stCxn id="24" idx="2"/>
                <a:endCxn id="25" idx="0"/>
              </p:cNvCxnSpPr>
              <p:nvPr/>
            </p:nvCxnSpPr>
            <p:spPr>
              <a:xfrm flipH="1">
                <a:off x="1377041" y="2569026"/>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B9A3BA6-8038-3DAA-E0B1-30ADA471451D}"/>
                  </a:ext>
                </a:extLst>
              </p:cNvPr>
              <p:cNvCxnSpPr>
                <a:cxnSpLocks/>
                <a:stCxn id="25" idx="2"/>
                <a:endCxn id="26" idx="0"/>
              </p:cNvCxnSpPr>
              <p:nvPr/>
            </p:nvCxnSpPr>
            <p:spPr>
              <a:xfrm flipH="1">
                <a:off x="1377040" y="3352795"/>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10024B9E-2F31-0EC3-3336-09DAB79B82A9}"/>
                </a:ext>
              </a:extLst>
            </p:cNvPr>
            <p:cNvGrpSpPr/>
            <p:nvPr/>
          </p:nvGrpSpPr>
          <p:grpSpPr>
            <a:xfrm>
              <a:off x="2449284" y="1006930"/>
              <a:ext cx="1643746" cy="3124192"/>
              <a:chOff x="555168" y="1012372"/>
              <a:chExt cx="1643746" cy="3124192"/>
            </a:xfrm>
          </p:grpSpPr>
          <p:sp>
            <p:nvSpPr>
              <p:cNvPr id="86" name="Rectangle 85">
                <a:extLst>
                  <a:ext uri="{FF2B5EF4-FFF2-40B4-BE49-F238E27FC236}">
                    <a16:creationId xmlns:a16="http://schemas.microsoft.com/office/drawing/2014/main" id="{1D806989-4647-2F61-96A6-BFE1EE219FA9}"/>
                  </a:ext>
                </a:extLst>
              </p:cNvPr>
              <p:cNvSpPr/>
              <p:nvPr/>
            </p:nvSpPr>
            <p:spPr>
              <a:xfrm>
                <a:off x="555171" y="1186542"/>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0">
                    <a:solidFill>
                      <a:srgbClr val="000000"/>
                    </a:solidFill>
                    <a:effectLst/>
                    <a:latin typeface="Arial" panose="020B0604020202020204" pitchFamily="34" charset="0"/>
                    <a:cs typeface="Arial" panose="020B0604020202020204" pitchFamily="34" charset="0"/>
                  </a:rPr>
                  <a:t>Channels</a:t>
                </a:r>
                <a:endParaRPr lang="en-US" sz="1200" b="1">
                  <a:solidFill>
                    <a:schemeClr val="tx1"/>
                  </a:solidFill>
                  <a:latin typeface="Arial" panose="020B0604020202020204" pitchFamily="34" charset="0"/>
                  <a:cs typeface="Arial" pitchFamily="34" charset="0"/>
                </a:endParaRPr>
              </a:p>
            </p:txBody>
          </p:sp>
          <p:sp>
            <p:nvSpPr>
              <p:cNvPr id="87" name="Rectangle 86">
                <a:extLst>
                  <a:ext uri="{FF2B5EF4-FFF2-40B4-BE49-F238E27FC236}">
                    <a16:creationId xmlns:a16="http://schemas.microsoft.com/office/drawing/2014/main" id="{520EB0CF-D223-2402-AE62-32294942E1E2}"/>
                  </a:ext>
                </a:extLst>
              </p:cNvPr>
              <p:cNvSpPr/>
              <p:nvPr/>
            </p:nvSpPr>
            <p:spPr>
              <a:xfrm>
                <a:off x="555170" y="1970311"/>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i="0" dirty="0">
                    <a:solidFill>
                      <a:srgbClr val="444444"/>
                    </a:solidFill>
                    <a:effectLst/>
                    <a:latin typeface="Arial" panose="020B0604020202020204" pitchFamily="34" charset="0"/>
                    <a:cs typeface="Arial" panose="020B0604020202020204" pitchFamily="34" charset="0"/>
                  </a:rPr>
                  <a:t>Harvesting Schedule</a:t>
                </a:r>
              </a:p>
            </p:txBody>
          </p:sp>
          <p:sp>
            <p:nvSpPr>
              <p:cNvPr id="88" name="Rectangle 87">
                <a:extLst>
                  <a:ext uri="{FF2B5EF4-FFF2-40B4-BE49-F238E27FC236}">
                    <a16:creationId xmlns:a16="http://schemas.microsoft.com/office/drawing/2014/main" id="{618CFB83-BC8C-679B-20E3-6CA5B62E34EF}"/>
                  </a:ext>
                </a:extLst>
              </p:cNvPr>
              <p:cNvSpPr/>
              <p:nvPr/>
            </p:nvSpPr>
            <p:spPr>
              <a:xfrm>
                <a:off x="555169" y="2754080"/>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a:solidFill>
                      <a:srgbClr val="444444"/>
                    </a:solidFill>
                    <a:latin typeface="Arial" panose="020B0604020202020204" pitchFamily="34" charset="0"/>
                    <a:cs typeface="Arial" panose="020B0604020202020204" pitchFamily="34" charset="0"/>
                  </a:rPr>
                  <a:t>Equipment Scheduling</a:t>
                </a:r>
                <a:endParaRPr lang="en-US" sz="1200" b="0" i="0">
                  <a:solidFill>
                    <a:srgbClr val="444444"/>
                  </a:solidFill>
                  <a:effectLst/>
                  <a:latin typeface="Arial" panose="020B0604020202020204" pitchFamily="34" charset="0"/>
                  <a:cs typeface="Arial" panose="020B0604020202020204" pitchFamily="34" charset="0"/>
                </a:endParaRPr>
              </a:p>
            </p:txBody>
          </p:sp>
          <p:sp>
            <p:nvSpPr>
              <p:cNvPr id="89" name="Rectangle 88">
                <a:extLst>
                  <a:ext uri="{FF2B5EF4-FFF2-40B4-BE49-F238E27FC236}">
                    <a16:creationId xmlns:a16="http://schemas.microsoft.com/office/drawing/2014/main" id="{078D64CA-13C2-725B-2266-3EF12304EB54}"/>
                  </a:ext>
                </a:extLst>
              </p:cNvPr>
              <p:cNvSpPr/>
              <p:nvPr/>
            </p:nvSpPr>
            <p:spPr>
              <a:xfrm>
                <a:off x="555168" y="3537849"/>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b="0" i="0">
                    <a:solidFill>
                      <a:srgbClr val="444444"/>
                    </a:solidFill>
                    <a:effectLst/>
                    <a:latin typeface="Arial" panose="020B0604020202020204" pitchFamily="34" charset="0"/>
                    <a:cs typeface="Arial" panose="020B0604020202020204" pitchFamily="34" charset="0"/>
                  </a:rPr>
                  <a:t>Vehicle Routing</a:t>
                </a:r>
              </a:p>
            </p:txBody>
          </p:sp>
          <p:cxnSp>
            <p:nvCxnSpPr>
              <p:cNvPr id="90" name="Straight Arrow Connector 89">
                <a:extLst>
                  <a:ext uri="{FF2B5EF4-FFF2-40B4-BE49-F238E27FC236}">
                    <a16:creationId xmlns:a16="http://schemas.microsoft.com/office/drawing/2014/main" id="{69C17939-C58F-A4F6-8382-88B7CC3FC16E}"/>
                  </a:ext>
                </a:extLst>
              </p:cNvPr>
              <p:cNvCxnSpPr>
                <a:endCxn id="86" idx="0"/>
              </p:cNvCxnSpPr>
              <p:nvPr/>
            </p:nvCxnSpPr>
            <p:spPr>
              <a:xfrm>
                <a:off x="1377043" y="1012372"/>
                <a:ext cx="0" cy="17417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1F18377E-0D97-2BF1-E17F-AC235A2996CF}"/>
                  </a:ext>
                </a:extLst>
              </p:cNvPr>
              <p:cNvCxnSpPr>
                <a:cxnSpLocks/>
                <a:stCxn id="86" idx="2"/>
                <a:endCxn id="87" idx="0"/>
              </p:cNvCxnSpPr>
              <p:nvPr/>
            </p:nvCxnSpPr>
            <p:spPr>
              <a:xfrm flipH="1">
                <a:off x="1377042" y="1785257"/>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50490E3F-7F28-4FBC-EC75-B4E703EDF61C}"/>
                  </a:ext>
                </a:extLst>
              </p:cNvPr>
              <p:cNvCxnSpPr>
                <a:cxnSpLocks/>
                <a:stCxn id="87" idx="2"/>
                <a:endCxn id="88" idx="0"/>
              </p:cNvCxnSpPr>
              <p:nvPr/>
            </p:nvCxnSpPr>
            <p:spPr>
              <a:xfrm flipH="1">
                <a:off x="1377041" y="2569026"/>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91E5B779-569A-6E06-E6AE-70394CED138F}"/>
                  </a:ext>
                </a:extLst>
              </p:cNvPr>
              <p:cNvCxnSpPr>
                <a:cxnSpLocks/>
                <a:stCxn id="88" idx="2"/>
                <a:endCxn id="89" idx="0"/>
              </p:cNvCxnSpPr>
              <p:nvPr/>
            </p:nvCxnSpPr>
            <p:spPr>
              <a:xfrm flipH="1">
                <a:off x="1377040" y="3352795"/>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062" name="Rectangle 2061">
              <a:extLst>
                <a:ext uri="{FF2B5EF4-FFF2-40B4-BE49-F238E27FC236}">
                  <a16:creationId xmlns:a16="http://schemas.microsoft.com/office/drawing/2014/main" id="{1EEE8F4C-6955-518C-F4CA-A08469BD54F7}"/>
                </a:ext>
              </a:extLst>
            </p:cNvPr>
            <p:cNvSpPr/>
            <p:nvPr/>
          </p:nvSpPr>
          <p:spPr>
            <a:xfrm>
              <a:off x="555168" y="413654"/>
              <a:ext cx="1643743" cy="59871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tx1"/>
                  </a:solidFill>
                  <a:latin typeface="Arial" pitchFamily="34" charset="0"/>
                  <a:cs typeface="Arial" pitchFamily="34" charset="0"/>
                </a:rPr>
                <a:t>Surveying</a:t>
              </a:r>
            </a:p>
          </p:txBody>
        </p:sp>
        <p:sp>
          <p:nvSpPr>
            <p:cNvPr id="2063" name="Rectangle 2062">
              <a:extLst>
                <a:ext uri="{FF2B5EF4-FFF2-40B4-BE49-F238E27FC236}">
                  <a16:creationId xmlns:a16="http://schemas.microsoft.com/office/drawing/2014/main" id="{818092A4-2296-800E-2AC8-98EF1EBC3681}"/>
                </a:ext>
              </a:extLst>
            </p:cNvPr>
            <p:cNvSpPr/>
            <p:nvPr/>
          </p:nvSpPr>
          <p:spPr>
            <a:xfrm>
              <a:off x="2449283" y="413653"/>
              <a:ext cx="1643743" cy="59871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tx1"/>
                  </a:solidFill>
                  <a:latin typeface="Arial" pitchFamily="34" charset="0"/>
                  <a:cs typeface="Arial" pitchFamily="34" charset="0"/>
                </a:rPr>
                <a:t>Residue Collection</a:t>
              </a:r>
            </a:p>
          </p:txBody>
        </p:sp>
        <p:sp>
          <p:nvSpPr>
            <p:cNvPr id="2064" name="Rectangle 2063">
              <a:extLst>
                <a:ext uri="{FF2B5EF4-FFF2-40B4-BE49-F238E27FC236}">
                  <a16:creationId xmlns:a16="http://schemas.microsoft.com/office/drawing/2014/main" id="{8F742C52-078A-293B-F0C6-19AE3A079E10}"/>
                </a:ext>
              </a:extLst>
            </p:cNvPr>
            <p:cNvSpPr/>
            <p:nvPr/>
          </p:nvSpPr>
          <p:spPr>
            <a:xfrm>
              <a:off x="4343398" y="413653"/>
              <a:ext cx="1643743" cy="59871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tx1"/>
                  </a:solidFill>
                  <a:latin typeface="Arial" pitchFamily="34" charset="0"/>
                  <a:cs typeface="Arial" pitchFamily="34" charset="0"/>
                </a:rPr>
                <a:t>Transportation &amp; Logistics</a:t>
              </a:r>
            </a:p>
          </p:txBody>
        </p:sp>
        <p:sp>
          <p:nvSpPr>
            <p:cNvPr id="2065" name="Rectangle 2064">
              <a:extLst>
                <a:ext uri="{FF2B5EF4-FFF2-40B4-BE49-F238E27FC236}">
                  <a16:creationId xmlns:a16="http://schemas.microsoft.com/office/drawing/2014/main" id="{76B16618-44D9-9E18-6723-D5426BF48402}"/>
                </a:ext>
              </a:extLst>
            </p:cNvPr>
            <p:cNvSpPr/>
            <p:nvPr/>
          </p:nvSpPr>
          <p:spPr>
            <a:xfrm>
              <a:off x="6237513" y="413653"/>
              <a:ext cx="1643743" cy="59871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tx1"/>
                  </a:solidFill>
                  <a:latin typeface="Arial" pitchFamily="34" charset="0"/>
                  <a:cs typeface="Arial" pitchFamily="34" charset="0"/>
                </a:rPr>
                <a:t>Pretreatment</a:t>
              </a:r>
            </a:p>
          </p:txBody>
        </p:sp>
        <p:sp>
          <p:nvSpPr>
            <p:cNvPr id="2066" name="Rectangle 2065">
              <a:extLst>
                <a:ext uri="{FF2B5EF4-FFF2-40B4-BE49-F238E27FC236}">
                  <a16:creationId xmlns:a16="http://schemas.microsoft.com/office/drawing/2014/main" id="{158BC3BC-804D-65B0-4B4C-802AA62DD252}"/>
                </a:ext>
              </a:extLst>
            </p:cNvPr>
            <p:cNvSpPr/>
            <p:nvPr/>
          </p:nvSpPr>
          <p:spPr>
            <a:xfrm>
              <a:off x="8131628" y="413652"/>
              <a:ext cx="1643743" cy="59871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tx1"/>
                  </a:solidFill>
                  <a:latin typeface="Arial" pitchFamily="34" charset="0"/>
                  <a:cs typeface="Arial" pitchFamily="34" charset="0"/>
                </a:rPr>
                <a:t>Storage</a:t>
              </a:r>
            </a:p>
          </p:txBody>
        </p:sp>
        <p:sp>
          <p:nvSpPr>
            <p:cNvPr id="2067" name="Rectangle 2066">
              <a:extLst>
                <a:ext uri="{FF2B5EF4-FFF2-40B4-BE49-F238E27FC236}">
                  <a16:creationId xmlns:a16="http://schemas.microsoft.com/office/drawing/2014/main" id="{52864938-8134-2641-1334-284E06120478}"/>
                </a:ext>
              </a:extLst>
            </p:cNvPr>
            <p:cNvSpPr/>
            <p:nvPr/>
          </p:nvSpPr>
          <p:spPr>
            <a:xfrm>
              <a:off x="10025743" y="413651"/>
              <a:ext cx="1643743" cy="59871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tx1"/>
                  </a:solidFill>
                  <a:latin typeface="Arial" pitchFamily="34" charset="0"/>
                  <a:cs typeface="Arial" pitchFamily="34" charset="0"/>
                </a:rPr>
                <a:t>Conversion</a:t>
              </a:r>
            </a:p>
          </p:txBody>
        </p:sp>
        <p:grpSp>
          <p:nvGrpSpPr>
            <p:cNvPr id="2068" name="Group 2067">
              <a:extLst>
                <a:ext uri="{FF2B5EF4-FFF2-40B4-BE49-F238E27FC236}">
                  <a16:creationId xmlns:a16="http://schemas.microsoft.com/office/drawing/2014/main" id="{ED987625-740D-56E5-F8D5-EA62ADE5B70D}"/>
                </a:ext>
              </a:extLst>
            </p:cNvPr>
            <p:cNvGrpSpPr/>
            <p:nvPr/>
          </p:nvGrpSpPr>
          <p:grpSpPr>
            <a:xfrm>
              <a:off x="4343398" y="1006927"/>
              <a:ext cx="1643745" cy="2340423"/>
              <a:chOff x="555169" y="1012372"/>
              <a:chExt cx="1643745" cy="2340423"/>
            </a:xfrm>
          </p:grpSpPr>
          <p:sp>
            <p:nvSpPr>
              <p:cNvPr id="2069" name="Rectangle 2068">
                <a:extLst>
                  <a:ext uri="{FF2B5EF4-FFF2-40B4-BE49-F238E27FC236}">
                    <a16:creationId xmlns:a16="http://schemas.microsoft.com/office/drawing/2014/main" id="{6B4E2308-8420-7D92-7446-91818DC7181B}"/>
                  </a:ext>
                </a:extLst>
              </p:cNvPr>
              <p:cNvSpPr/>
              <p:nvPr/>
            </p:nvSpPr>
            <p:spPr>
              <a:xfrm>
                <a:off x="555171" y="1186542"/>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0">
                    <a:solidFill>
                      <a:srgbClr val="000000"/>
                    </a:solidFill>
                    <a:effectLst/>
                    <a:latin typeface="Arial" panose="020B0604020202020204" pitchFamily="34" charset="0"/>
                    <a:cs typeface="Arial" panose="020B0604020202020204" pitchFamily="34" charset="0"/>
                  </a:rPr>
                  <a:t>Route Optimization</a:t>
                </a:r>
                <a:endParaRPr lang="en-US" sz="1200" b="1">
                  <a:solidFill>
                    <a:schemeClr val="tx1"/>
                  </a:solidFill>
                  <a:latin typeface="Arial" panose="020B0604020202020204" pitchFamily="34" charset="0"/>
                  <a:cs typeface="Arial" pitchFamily="34" charset="0"/>
                </a:endParaRPr>
              </a:p>
            </p:txBody>
          </p:sp>
          <p:sp>
            <p:nvSpPr>
              <p:cNvPr id="2070" name="Rectangle 2069">
                <a:extLst>
                  <a:ext uri="{FF2B5EF4-FFF2-40B4-BE49-F238E27FC236}">
                    <a16:creationId xmlns:a16="http://schemas.microsoft.com/office/drawing/2014/main" id="{E21C448E-3DE1-0401-EB1D-78412BB6E819}"/>
                  </a:ext>
                </a:extLst>
              </p:cNvPr>
              <p:cNvSpPr/>
              <p:nvPr/>
            </p:nvSpPr>
            <p:spPr>
              <a:xfrm>
                <a:off x="555170" y="1970311"/>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b="1">
                    <a:solidFill>
                      <a:srgbClr val="444444"/>
                    </a:solidFill>
                    <a:latin typeface="Arial" panose="020B0604020202020204" pitchFamily="34" charset="0"/>
                    <a:cs typeface="Arial" panose="020B0604020202020204" pitchFamily="34" charset="0"/>
                  </a:rPr>
                  <a:t>Network Design for route optimization</a:t>
                </a:r>
                <a:endParaRPr lang="en-US" sz="1200" b="1" i="0">
                  <a:solidFill>
                    <a:srgbClr val="444444"/>
                  </a:solidFill>
                  <a:effectLst/>
                  <a:latin typeface="Arial" panose="020B0604020202020204" pitchFamily="34" charset="0"/>
                  <a:cs typeface="Arial" panose="020B0604020202020204" pitchFamily="34" charset="0"/>
                </a:endParaRPr>
              </a:p>
            </p:txBody>
          </p:sp>
          <p:sp>
            <p:nvSpPr>
              <p:cNvPr id="2071" name="Rectangle 2070">
                <a:extLst>
                  <a:ext uri="{FF2B5EF4-FFF2-40B4-BE49-F238E27FC236}">
                    <a16:creationId xmlns:a16="http://schemas.microsoft.com/office/drawing/2014/main" id="{E5D600DE-E36E-6429-F184-D8A9AFFF49A8}"/>
                  </a:ext>
                </a:extLst>
              </p:cNvPr>
              <p:cNvSpPr/>
              <p:nvPr/>
            </p:nvSpPr>
            <p:spPr>
              <a:xfrm>
                <a:off x="555169" y="2754080"/>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a:solidFill>
                      <a:srgbClr val="444444"/>
                    </a:solidFill>
                    <a:latin typeface="Arial" panose="020B0604020202020204" pitchFamily="34" charset="0"/>
                    <a:cs typeface="Arial" panose="020B0604020202020204" pitchFamily="34" charset="0"/>
                  </a:rPr>
                  <a:t>Collection Centre Location</a:t>
                </a:r>
                <a:endParaRPr lang="en-US" sz="1200" b="0" i="0">
                  <a:solidFill>
                    <a:srgbClr val="444444"/>
                  </a:solidFill>
                  <a:effectLst/>
                  <a:latin typeface="Arial" panose="020B0604020202020204" pitchFamily="34" charset="0"/>
                  <a:cs typeface="Arial" panose="020B0604020202020204" pitchFamily="34" charset="0"/>
                </a:endParaRPr>
              </a:p>
            </p:txBody>
          </p:sp>
          <p:cxnSp>
            <p:nvCxnSpPr>
              <p:cNvPr id="2072" name="Straight Arrow Connector 2071">
                <a:extLst>
                  <a:ext uri="{FF2B5EF4-FFF2-40B4-BE49-F238E27FC236}">
                    <a16:creationId xmlns:a16="http://schemas.microsoft.com/office/drawing/2014/main" id="{1AAF219F-253A-3AAD-DA51-E73AF3636BFB}"/>
                  </a:ext>
                </a:extLst>
              </p:cNvPr>
              <p:cNvCxnSpPr>
                <a:endCxn id="2069" idx="0"/>
              </p:cNvCxnSpPr>
              <p:nvPr/>
            </p:nvCxnSpPr>
            <p:spPr>
              <a:xfrm>
                <a:off x="1377043" y="1012372"/>
                <a:ext cx="0" cy="17417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73" name="Straight Arrow Connector 2072">
                <a:extLst>
                  <a:ext uri="{FF2B5EF4-FFF2-40B4-BE49-F238E27FC236}">
                    <a16:creationId xmlns:a16="http://schemas.microsoft.com/office/drawing/2014/main" id="{AFD8878A-69E0-D844-9E2E-45DD23CC9D7C}"/>
                  </a:ext>
                </a:extLst>
              </p:cNvPr>
              <p:cNvCxnSpPr>
                <a:cxnSpLocks/>
                <a:stCxn id="2069" idx="2"/>
                <a:endCxn id="2070" idx="0"/>
              </p:cNvCxnSpPr>
              <p:nvPr/>
            </p:nvCxnSpPr>
            <p:spPr>
              <a:xfrm flipH="1">
                <a:off x="1377042" y="1785257"/>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74" name="Straight Arrow Connector 2073">
                <a:extLst>
                  <a:ext uri="{FF2B5EF4-FFF2-40B4-BE49-F238E27FC236}">
                    <a16:creationId xmlns:a16="http://schemas.microsoft.com/office/drawing/2014/main" id="{8B5F542E-696C-2924-4328-5679CFA21347}"/>
                  </a:ext>
                </a:extLst>
              </p:cNvPr>
              <p:cNvCxnSpPr>
                <a:cxnSpLocks/>
                <a:stCxn id="2070" idx="2"/>
                <a:endCxn id="2071" idx="0"/>
              </p:cNvCxnSpPr>
              <p:nvPr/>
            </p:nvCxnSpPr>
            <p:spPr>
              <a:xfrm flipH="1">
                <a:off x="1377041" y="2569026"/>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75" name="Group 2074">
              <a:extLst>
                <a:ext uri="{FF2B5EF4-FFF2-40B4-BE49-F238E27FC236}">
                  <a16:creationId xmlns:a16="http://schemas.microsoft.com/office/drawing/2014/main" id="{46DCC073-37AC-3032-CED1-61D098A0FBFB}"/>
                </a:ext>
              </a:extLst>
            </p:cNvPr>
            <p:cNvGrpSpPr/>
            <p:nvPr/>
          </p:nvGrpSpPr>
          <p:grpSpPr>
            <a:xfrm>
              <a:off x="6237511" y="1006927"/>
              <a:ext cx="1643746" cy="3124192"/>
              <a:chOff x="555168" y="1012372"/>
              <a:chExt cx="1643746" cy="3124192"/>
            </a:xfrm>
          </p:grpSpPr>
          <p:sp>
            <p:nvSpPr>
              <p:cNvPr id="2077" name="Rectangle 2076">
                <a:extLst>
                  <a:ext uri="{FF2B5EF4-FFF2-40B4-BE49-F238E27FC236}">
                    <a16:creationId xmlns:a16="http://schemas.microsoft.com/office/drawing/2014/main" id="{5D5F51BD-247B-7EE4-C490-D5CBAF92EEA2}"/>
                  </a:ext>
                </a:extLst>
              </p:cNvPr>
              <p:cNvSpPr/>
              <p:nvPr/>
            </p:nvSpPr>
            <p:spPr>
              <a:xfrm>
                <a:off x="555171" y="1186542"/>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0" i="0">
                    <a:solidFill>
                      <a:srgbClr val="000000"/>
                    </a:solidFill>
                    <a:effectLst/>
                    <a:latin typeface="Arial" panose="020B0604020202020204" pitchFamily="34" charset="0"/>
                    <a:cs typeface="Arial" panose="020B0604020202020204" pitchFamily="34" charset="0"/>
                  </a:rPr>
                  <a:t>Facility Location</a:t>
                </a:r>
                <a:endParaRPr lang="en-US" sz="1200" b="1">
                  <a:solidFill>
                    <a:schemeClr val="tx1"/>
                  </a:solidFill>
                  <a:latin typeface="Arial" panose="020B0604020202020204" pitchFamily="34" charset="0"/>
                  <a:cs typeface="Arial" pitchFamily="34" charset="0"/>
                </a:endParaRPr>
              </a:p>
            </p:txBody>
          </p:sp>
          <p:sp>
            <p:nvSpPr>
              <p:cNvPr id="2078" name="Rectangle 2077">
                <a:extLst>
                  <a:ext uri="{FF2B5EF4-FFF2-40B4-BE49-F238E27FC236}">
                    <a16:creationId xmlns:a16="http://schemas.microsoft.com/office/drawing/2014/main" id="{EAFFC8E9-B810-1637-C0B0-DD02C7DFF7BA}"/>
                  </a:ext>
                </a:extLst>
              </p:cNvPr>
              <p:cNvSpPr/>
              <p:nvPr/>
            </p:nvSpPr>
            <p:spPr>
              <a:xfrm>
                <a:off x="555170" y="1970311"/>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b="1" i="0" dirty="0">
                    <a:solidFill>
                      <a:srgbClr val="444444"/>
                    </a:solidFill>
                    <a:effectLst/>
                    <a:latin typeface="Arial" panose="020B0604020202020204" pitchFamily="34" charset="0"/>
                    <a:cs typeface="Arial" panose="020B0604020202020204" pitchFamily="34" charset="0"/>
                  </a:rPr>
                  <a:t>Capacity Planning</a:t>
                </a:r>
              </a:p>
            </p:txBody>
          </p:sp>
          <p:sp>
            <p:nvSpPr>
              <p:cNvPr id="2079" name="Rectangle 2078">
                <a:extLst>
                  <a:ext uri="{FF2B5EF4-FFF2-40B4-BE49-F238E27FC236}">
                    <a16:creationId xmlns:a16="http://schemas.microsoft.com/office/drawing/2014/main" id="{BC3D2807-1934-270F-E461-D4CD281353E6}"/>
                  </a:ext>
                </a:extLst>
              </p:cNvPr>
              <p:cNvSpPr/>
              <p:nvPr/>
            </p:nvSpPr>
            <p:spPr>
              <a:xfrm>
                <a:off x="555169" y="2754080"/>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IN" sz="1200">
                    <a:solidFill>
                      <a:srgbClr val="444444"/>
                    </a:solidFill>
                    <a:latin typeface="Arial" panose="020B0604020202020204" pitchFamily="34" charset="0"/>
                    <a:cs typeface="Arial" panose="020B0604020202020204" pitchFamily="34" charset="0"/>
                  </a:rPr>
                  <a:t>M</a:t>
                </a:r>
                <a:r>
                  <a:rPr lang="en-IN" sz="1200" b="0" i="0">
                    <a:solidFill>
                      <a:srgbClr val="444444"/>
                    </a:solidFill>
                    <a:effectLst/>
                    <a:latin typeface="Arial" panose="020B0604020202020204" pitchFamily="34" charset="0"/>
                    <a:cs typeface="Arial" panose="020B0604020202020204" pitchFamily="34" charset="0"/>
                  </a:rPr>
                  <a:t>ethods for survey participation</a:t>
                </a:r>
                <a:r>
                  <a:rPr lang="en-US" sz="1200" b="0" i="0">
                    <a:solidFill>
                      <a:srgbClr val="444444"/>
                    </a:solidFill>
                    <a:effectLst/>
                    <a:latin typeface="Arial" panose="020B0604020202020204" pitchFamily="34" charset="0"/>
                    <a:cs typeface="Arial" panose="020B0604020202020204" pitchFamily="34" charset="0"/>
                  </a:rPr>
                  <a:t>​</a:t>
                </a:r>
              </a:p>
            </p:txBody>
          </p:sp>
          <p:sp>
            <p:nvSpPr>
              <p:cNvPr id="2080" name="Rectangle 2079">
                <a:extLst>
                  <a:ext uri="{FF2B5EF4-FFF2-40B4-BE49-F238E27FC236}">
                    <a16:creationId xmlns:a16="http://schemas.microsoft.com/office/drawing/2014/main" id="{D9D8DF0C-7600-80B0-9447-F2F01FE20049}"/>
                  </a:ext>
                </a:extLst>
              </p:cNvPr>
              <p:cNvSpPr/>
              <p:nvPr/>
            </p:nvSpPr>
            <p:spPr>
              <a:xfrm>
                <a:off x="555168" y="3537849"/>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IN" sz="1200" b="1" i="0">
                    <a:solidFill>
                      <a:srgbClr val="444444"/>
                    </a:solidFill>
                    <a:effectLst/>
                    <a:latin typeface="Arial" panose="020B0604020202020204" pitchFamily="34" charset="0"/>
                    <a:cs typeface="Arial" panose="020B0604020202020204" pitchFamily="34" charset="0"/>
                  </a:rPr>
                  <a:t>Quality of Seeds, soil health, inputs used</a:t>
                </a:r>
                <a:r>
                  <a:rPr lang="en-US" sz="1200" b="1" i="0">
                    <a:solidFill>
                      <a:srgbClr val="444444"/>
                    </a:solidFill>
                    <a:effectLst/>
                    <a:latin typeface="Arial" panose="020B0604020202020204" pitchFamily="34" charset="0"/>
                    <a:cs typeface="Arial" panose="020B0604020202020204" pitchFamily="34" charset="0"/>
                  </a:rPr>
                  <a:t>​</a:t>
                </a:r>
              </a:p>
            </p:txBody>
          </p:sp>
          <p:cxnSp>
            <p:nvCxnSpPr>
              <p:cNvPr id="2081" name="Straight Arrow Connector 2080">
                <a:extLst>
                  <a:ext uri="{FF2B5EF4-FFF2-40B4-BE49-F238E27FC236}">
                    <a16:creationId xmlns:a16="http://schemas.microsoft.com/office/drawing/2014/main" id="{67784B37-1ABC-9F63-BCD0-70707DC8C768}"/>
                  </a:ext>
                </a:extLst>
              </p:cNvPr>
              <p:cNvCxnSpPr>
                <a:endCxn id="2077" idx="0"/>
              </p:cNvCxnSpPr>
              <p:nvPr/>
            </p:nvCxnSpPr>
            <p:spPr>
              <a:xfrm>
                <a:off x="1377043" y="1012372"/>
                <a:ext cx="0" cy="17417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2" name="Straight Arrow Connector 2081">
                <a:extLst>
                  <a:ext uri="{FF2B5EF4-FFF2-40B4-BE49-F238E27FC236}">
                    <a16:creationId xmlns:a16="http://schemas.microsoft.com/office/drawing/2014/main" id="{062B2E9F-CC11-E434-316D-D450C735540C}"/>
                  </a:ext>
                </a:extLst>
              </p:cNvPr>
              <p:cNvCxnSpPr>
                <a:cxnSpLocks/>
                <a:stCxn id="2077" idx="2"/>
                <a:endCxn id="2078" idx="0"/>
              </p:cNvCxnSpPr>
              <p:nvPr/>
            </p:nvCxnSpPr>
            <p:spPr>
              <a:xfrm flipH="1">
                <a:off x="1377042" y="1785257"/>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3" name="Straight Arrow Connector 2082">
                <a:extLst>
                  <a:ext uri="{FF2B5EF4-FFF2-40B4-BE49-F238E27FC236}">
                    <a16:creationId xmlns:a16="http://schemas.microsoft.com/office/drawing/2014/main" id="{42A995C9-0C4B-5184-A9D7-AE739F4167C5}"/>
                  </a:ext>
                </a:extLst>
              </p:cNvPr>
              <p:cNvCxnSpPr>
                <a:cxnSpLocks/>
                <a:stCxn id="2078" idx="2"/>
                <a:endCxn id="2079" idx="0"/>
              </p:cNvCxnSpPr>
              <p:nvPr/>
            </p:nvCxnSpPr>
            <p:spPr>
              <a:xfrm flipH="1">
                <a:off x="1377041" y="2569026"/>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4" name="Straight Arrow Connector 2083">
                <a:extLst>
                  <a:ext uri="{FF2B5EF4-FFF2-40B4-BE49-F238E27FC236}">
                    <a16:creationId xmlns:a16="http://schemas.microsoft.com/office/drawing/2014/main" id="{144B7202-F316-1900-9134-02A00455A5E5}"/>
                  </a:ext>
                </a:extLst>
              </p:cNvPr>
              <p:cNvCxnSpPr>
                <a:cxnSpLocks/>
                <a:stCxn id="2079" idx="2"/>
                <a:endCxn id="2080" idx="0"/>
              </p:cNvCxnSpPr>
              <p:nvPr/>
            </p:nvCxnSpPr>
            <p:spPr>
              <a:xfrm flipH="1">
                <a:off x="1377040" y="3352795"/>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85" name="Group 2084">
              <a:extLst>
                <a:ext uri="{FF2B5EF4-FFF2-40B4-BE49-F238E27FC236}">
                  <a16:creationId xmlns:a16="http://schemas.microsoft.com/office/drawing/2014/main" id="{1A75F598-3CB3-72E1-1E54-5300CF874B18}"/>
                </a:ext>
              </a:extLst>
            </p:cNvPr>
            <p:cNvGrpSpPr/>
            <p:nvPr/>
          </p:nvGrpSpPr>
          <p:grpSpPr>
            <a:xfrm>
              <a:off x="8131625" y="1006927"/>
              <a:ext cx="1643745" cy="2340423"/>
              <a:chOff x="555169" y="1012372"/>
              <a:chExt cx="1643745" cy="2340423"/>
            </a:xfrm>
          </p:grpSpPr>
          <p:sp>
            <p:nvSpPr>
              <p:cNvPr id="2086" name="Rectangle 2085">
                <a:extLst>
                  <a:ext uri="{FF2B5EF4-FFF2-40B4-BE49-F238E27FC236}">
                    <a16:creationId xmlns:a16="http://schemas.microsoft.com/office/drawing/2014/main" id="{F317B1D0-403F-88CB-BE60-8906B9DF475B}"/>
                  </a:ext>
                </a:extLst>
              </p:cNvPr>
              <p:cNvSpPr/>
              <p:nvPr/>
            </p:nvSpPr>
            <p:spPr>
              <a:xfrm>
                <a:off x="555171" y="1186542"/>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i="0">
                    <a:solidFill>
                      <a:srgbClr val="000000"/>
                    </a:solidFill>
                    <a:effectLst/>
                    <a:latin typeface="Arial" panose="020B0604020202020204" pitchFamily="34" charset="0"/>
                    <a:cs typeface="Arial" panose="020B0604020202020204" pitchFamily="34" charset="0"/>
                  </a:rPr>
                  <a:t>Facility location for 11 plants</a:t>
                </a:r>
                <a:endParaRPr lang="en-US" sz="1200" b="1">
                  <a:solidFill>
                    <a:schemeClr val="tx1"/>
                  </a:solidFill>
                  <a:latin typeface="Arial" panose="020B0604020202020204" pitchFamily="34" charset="0"/>
                  <a:cs typeface="Arial" pitchFamily="34" charset="0"/>
                </a:endParaRPr>
              </a:p>
            </p:txBody>
          </p:sp>
          <p:sp>
            <p:nvSpPr>
              <p:cNvPr id="2087" name="Rectangle 2086">
                <a:extLst>
                  <a:ext uri="{FF2B5EF4-FFF2-40B4-BE49-F238E27FC236}">
                    <a16:creationId xmlns:a16="http://schemas.microsoft.com/office/drawing/2014/main" id="{872CEC8C-4AF9-BBD4-946B-55E6FCF277D4}"/>
                  </a:ext>
                </a:extLst>
              </p:cNvPr>
              <p:cNvSpPr/>
              <p:nvPr/>
            </p:nvSpPr>
            <p:spPr>
              <a:xfrm>
                <a:off x="555170" y="1970311"/>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i="0">
                    <a:solidFill>
                      <a:srgbClr val="444444"/>
                    </a:solidFill>
                    <a:effectLst/>
                    <a:latin typeface="Arial" panose="020B0604020202020204" pitchFamily="34" charset="0"/>
                    <a:cs typeface="Arial" panose="020B0604020202020204" pitchFamily="34" charset="0"/>
                  </a:rPr>
                  <a:t>Capacity Planning</a:t>
                </a:r>
              </a:p>
            </p:txBody>
          </p:sp>
          <p:sp>
            <p:nvSpPr>
              <p:cNvPr id="2088" name="Rectangle 2087">
                <a:extLst>
                  <a:ext uri="{FF2B5EF4-FFF2-40B4-BE49-F238E27FC236}">
                    <a16:creationId xmlns:a16="http://schemas.microsoft.com/office/drawing/2014/main" id="{D8247C59-281B-7AC7-B55C-F97054C3A2AB}"/>
                  </a:ext>
                </a:extLst>
              </p:cNvPr>
              <p:cNvSpPr/>
              <p:nvPr/>
            </p:nvSpPr>
            <p:spPr>
              <a:xfrm>
                <a:off x="555169" y="2754080"/>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a:solidFill>
                      <a:srgbClr val="444444"/>
                    </a:solidFill>
                    <a:latin typeface="Arial" panose="020B0604020202020204" pitchFamily="34" charset="0"/>
                    <a:cs typeface="Arial" panose="020B0604020202020204" pitchFamily="34" charset="0"/>
                  </a:rPr>
                  <a:t>Scheduling</a:t>
                </a:r>
                <a:endParaRPr lang="en-US" sz="1200" b="0" i="0">
                  <a:solidFill>
                    <a:srgbClr val="444444"/>
                  </a:solidFill>
                  <a:effectLst/>
                  <a:latin typeface="Arial" panose="020B0604020202020204" pitchFamily="34" charset="0"/>
                  <a:cs typeface="Arial" panose="020B0604020202020204" pitchFamily="34" charset="0"/>
                </a:endParaRPr>
              </a:p>
            </p:txBody>
          </p:sp>
          <p:cxnSp>
            <p:nvCxnSpPr>
              <p:cNvPr id="2089" name="Straight Arrow Connector 2088">
                <a:extLst>
                  <a:ext uri="{FF2B5EF4-FFF2-40B4-BE49-F238E27FC236}">
                    <a16:creationId xmlns:a16="http://schemas.microsoft.com/office/drawing/2014/main" id="{03D6E5B1-C659-AD9D-B091-A67D4260D42A}"/>
                  </a:ext>
                </a:extLst>
              </p:cNvPr>
              <p:cNvCxnSpPr>
                <a:endCxn id="2086" idx="0"/>
              </p:cNvCxnSpPr>
              <p:nvPr/>
            </p:nvCxnSpPr>
            <p:spPr>
              <a:xfrm>
                <a:off x="1377043" y="1012372"/>
                <a:ext cx="0" cy="17417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90" name="Straight Arrow Connector 2089">
                <a:extLst>
                  <a:ext uri="{FF2B5EF4-FFF2-40B4-BE49-F238E27FC236}">
                    <a16:creationId xmlns:a16="http://schemas.microsoft.com/office/drawing/2014/main" id="{DCA09869-A729-CBFD-57FD-F601324601DC}"/>
                  </a:ext>
                </a:extLst>
              </p:cNvPr>
              <p:cNvCxnSpPr>
                <a:cxnSpLocks/>
                <a:stCxn id="2086" idx="2"/>
                <a:endCxn id="2087" idx="0"/>
              </p:cNvCxnSpPr>
              <p:nvPr/>
            </p:nvCxnSpPr>
            <p:spPr>
              <a:xfrm flipH="1">
                <a:off x="1377042" y="1785257"/>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91" name="Straight Arrow Connector 2090">
                <a:extLst>
                  <a:ext uri="{FF2B5EF4-FFF2-40B4-BE49-F238E27FC236}">
                    <a16:creationId xmlns:a16="http://schemas.microsoft.com/office/drawing/2014/main" id="{80825D56-2A06-E7EE-42A1-ADB43BD877E4}"/>
                  </a:ext>
                </a:extLst>
              </p:cNvPr>
              <p:cNvCxnSpPr>
                <a:cxnSpLocks/>
                <a:stCxn id="2087" idx="2"/>
                <a:endCxn id="2088" idx="0"/>
              </p:cNvCxnSpPr>
              <p:nvPr/>
            </p:nvCxnSpPr>
            <p:spPr>
              <a:xfrm flipH="1">
                <a:off x="1377041" y="2569026"/>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92" name="Group 2091">
              <a:extLst>
                <a:ext uri="{FF2B5EF4-FFF2-40B4-BE49-F238E27FC236}">
                  <a16:creationId xmlns:a16="http://schemas.microsoft.com/office/drawing/2014/main" id="{4F0F2F20-93F7-D82F-6017-6D29B11426F1}"/>
                </a:ext>
              </a:extLst>
            </p:cNvPr>
            <p:cNvGrpSpPr/>
            <p:nvPr/>
          </p:nvGrpSpPr>
          <p:grpSpPr>
            <a:xfrm>
              <a:off x="10025738" y="1001485"/>
              <a:ext cx="1643746" cy="3124192"/>
              <a:chOff x="555168" y="1012372"/>
              <a:chExt cx="1643746" cy="3124192"/>
            </a:xfrm>
          </p:grpSpPr>
          <p:sp>
            <p:nvSpPr>
              <p:cNvPr id="2093" name="Rectangle 2092">
                <a:extLst>
                  <a:ext uri="{FF2B5EF4-FFF2-40B4-BE49-F238E27FC236}">
                    <a16:creationId xmlns:a16="http://schemas.microsoft.com/office/drawing/2014/main" id="{66C3E3DC-3B85-0E26-6944-328FDF1C6D2B}"/>
                  </a:ext>
                </a:extLst>
              </p:cNvPr>
              <p:cNvSpPr/>
              <p:nvPr/>
            </p:nvSpPr>
            <p:spPr>
              <a:xfrm>
                <a:off x="555171" y="1186542"/>
                <a:ext cx="1643743" cy="598715"/>
              </a:xfrm>
              <a:prstGeom prst="rect">
                <a:avLst/>
              </a:prstGeom>
              <a:no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0" i="0">
                    <a:solidFill>
                      <a:srgbClr val="000000"/>
                    </a:solidFill>
                    <a:effectLst/>
                    <a:latin typeface="Arial" panose="020B0604020202020204" pitchFamily="34" charset="0"/>
                    <a:cs typeface="Arial" panose="020B0604020202020204" pitchFamily="34" charset="0"/>
                  </a:rPr>
                  <a:t>Facility Location</a:t>
                </a:r>
                <a:endParaRPr lang="en-US" sz="1200" b="1">
                  <a:solidFill>
                    <a:schemeClr val="tx1"/>
                  </a:solidFill>
                  <a:latin typeface="Arial" panose="020B0604020202020204" pitchFamily="34" charset="0"/>
                  <a:cs typeface="Arial" pitchFamily="34" charset="0"/>
                </a:endParaRPr>
              </a:p>
            </p:txBody>
          </p:sp>
          <p:sp>
            <p:nvSpPr>
              <p:cNvPr id="2094" name="Rectangle 2093">
                <a:extLst>
                  <a:ext uri="{FF2B5EF4-FFF2-40B4-BE49-F238E27FC236}">
                    <a16:creationId xmlns:a16="http://schemas.microsoft.com/office/drawing/2014/main" id="{49F7D973-10F5-B91D-5D8E-8B435250038A}"/>
                  </a:ext>
                </a:extLst>
              </p:cNvPr>
              <p:cNvSpPr/>
              <p:nvPr/>
            </p:nvSpPr>
            <p:spPr>
              <a:xfrm>
                <a:off x="555170" y="1970311"/>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b="1" i="0">
                    <a:solidFill>
                      <a:srgbClr val="444444"/>
                    </a:solidFill>
                    <a:effectLst/>
                    <a:latin typeface="Arial" panose="020B0604020202020204" pitchFamily="34" charset="0"/>
                    <a:cs typeface="Arial" panose="020B0604020202020204" pitchFamily="34" charset="0"/>
                  </a:rPr>
                  <a:t>Capacity Planning</a:t>
                </a:r>
              </a:p>
            </p:txBody>
          </p:sp>
          <p:sp>
            <p:nvSpPr>
              <p:cNvPr id="2095" name="Rectangle 2094">
                <a:extLst>
                  <a:ext uri="{FF2B5EF4-FFF2-40B4-BE49-F238E27FC236}">
                    <a16:creationId xmlns:a16="http://schemas.microsoft.com/office/drawing/2014/main" id="{B46DF127-6B2C-91CB-7185-B95A7E4A1AA0}"/>
                  </a:ext>
                </a:extLst>
              </p:cNvPr>
              <p:cNvSpPr/>
              <p:nvPr/>
            </p:nvSpPr>
            <p:spPr>
              <a:xfrm>
                <a:off x="555169" y="2754080"/>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b="1">
                    <a:solidFill>
                      <a:srgbClr val="444444"/>
                    </a:solidFill>
                    <a:latin typeface="Arial" panose="020B0604020202020204" pitchFamily="34" charset="0"/>
                    <a:cs typeface="Arial" panose="020B0604020202020204" pitchFamily="34" charset="0"/>
                  </a:rPr>
                  <a:t>Technology Selection</a:t>
                </a:r>
                <a:endParaRPr lang="en-US" sz="1200" b="1" i="0">
                  <a:solidFill>
                    <a:srgbClr val="444444"/>
                  </a:solidFill>
                  <a:effectLst/>
                  <a:latin typeface="Arial" panose="020B0604020202020204" pitchFamily="34" charset="0"/>
                  <a:cs typeface="Arial" panose="020B0604020202020204" pitchFamily="34" charset="0"/>
                </a:endParaRPr>
              </a:p>
            </p:txBody>
          </p:sp>
          <p:sp>
            <p:nvSpPr>
              <p:cNvPr id="2096" name="Rectangle 2095">
                <a:extLst>
                  <a:ext uri="{FF2B5EF4-FFF2-40B4-BE49-F238E27FC236}">
                    <a16:creationId xmlns:a16="http://schemas.microsoft.com/office/drawing/2014/main" id="{93E7DEAD-AC66-EE40-1D45-8A89B4359E73}"/>
                  </a:ext>
                </a:extLst>
              </p:cNvPr>
              <p:cNvSpPr/>
              <p:nvPr/>
            </p:nvSpPr>
            <p:spPr>
              <a:xfrm>
                <a:off x="555168" y="3537849"/>
                <a:ext cx="1643743" cy="598715"/>
              </a:xfrm>
              <a:prstGeom prst="rect">
                <a:avLst/>
              </a:prstGeom>
              <a:solidFill>
                <a:schemeClr val="accent6">
                  <a:lumMod val="20000"/>
                  <a:lumOff val="80000"/>
                </a:schemeClr>
              </a:solidFill>
              <a:ln w="95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fontAlgn="base"/>
                <a:r>
                  <a:rPr lang="en-US" sz="1200" b="1" i="0">
                    <a:solidFill>
                      <a:srgbClr val="444444"/>
                    </a:solidFill>
                    <a:effectLst/>
                    <a:latin typeface="Arial" panose="020B0604020202020204" pitchFamily="34" charset="0"/>
                    <a:cs typeface="Arial" panose="020B0604020202020204" pitchFamily="34" charset="0"/>
                  </a:rPr>
                  <a:t>Maintenance &amp; Operation</a:t>
                </a:r>
              </a:p>
            </p:txBody>
          </p:sp>
          <p:cxnSp>
            <p:nvCxnSpPr>
              <p:cNvPr id="2097" name="Straight Arrow Connector 2096">
                <a:extLst>
                  <a:ext uri="{FF2B5EF4-FFF2-40B4-BE49-F238E27FC236}">
                    <a16:creationId xmlns:a16="http://schemas.microsoft.com/office/drawing/2014/main" id="{1F56F6B3-B51B-4CA5-763A-B470E6AA5D04}"/>
                  </a:ext>
                </a:extLst>
              </p:cNvPr>
              <p:cNvCxnSpPr>
                <a:endCxn id="2093" idx="0"/>
              </p:cNvCxnSpPr>
              <p:nvPr/>
            </p:nvCxnSpPr>
            <p:spPr>
              <a:xfrm>
                <a:off x="1377043" y="1012372"/>
                <a:ext cx="0" cy="17417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09" name="Straight Arrow Connector 2108">
                <a:extLst>
                  <a:ext uri="{FF2B5EF4-FFF2-40B4-BE49-F238E27FC236}">
                    <a16:creationId xmlns:a16="http://schemas.microsoft.com/office/drawing/2014/main" id="{2DB2CC98-42E9-E4B7-A1D8-7C64BB8AFC76}"/>
                  </a:ext>
                </a:extLst>
              </p:cNvPr>
              <p:cNvCxnSpPr>
                <a:cxnSpLocks/>
                <a:stCxn id="2093" idx="2"/>
                <a:endCxn id="2094" idx="0"/>
              </p:cNvCxnSpPr>
              <p:nvPr/>
            </p:nvCxnSpPr>
            <p:spPr>
              <a:xfrm flipH="1">
                <a:off x="1377042" y="1785257"/>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10" name="Straight Arrow Connector 2109">
                <a:extLst>
                  <a:ext uri="{FF2B5EF4-FFF2-40B4-BE49-F238E27FC236}">
                    <a16:creationId xmlns:a16="http://schemas.microsoft.com/office/drawing/2014/main" id="{ADA5152D-CB31-173A-A2DB-5CE7CDCA2FB4}"/>
                  </a:ext>
                </a:extLst>
              </p:cNvPr>
              <p:cNvCxnSpPr>
                <a:cxnSpLocks/>
                <a:stCxn id="2094" idx="2"/>
                <a:endCxn id="2095" idx="0"/>
              </p:cNvCxnSpPr>
              <p:nvPr/>
            </p:nvCxnSpPr>
            <p:spPr>
              <a:xfrm flipH="1">
                <a:off x="1377041" y="2569026"/>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12" name="Straight Arrow Connector 2111">
                <a:extLst>
                  <a:ext uri="{FF2B5EF4-FFF2-40B4-BE49-F238E27FC236}">
                    <a16:creationId xmlns:a16="http://schemas.microsoft.com/office/drawing/2014/main" id="{4F2D3F80-8E61-5455-37BB-C281E4828909}"/>
                  </a:ext>
                </a:extLst>
              </p:cNvPr>
              <p:cNvCxnSpPr>
                <a:cxnSpLocks/>
                <a:stCxn id="2095" idx="2"/>
                <a:endCxn id="2096" idx="0"/>
              </p:cNvCxnSpPr>
              <p:nvPr/>
            </p:nvCxnSpPr>
            <p:spPr>
              <a:xfrm flipH="1">
                <a:off x="1377040" y="3352795"/>
                <a:ext cx="1" cy="185054"/>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576229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title"/>
          </p:nvPr>
        </p:nvSpPr>
        <p:spPr>
          <a:xfrm>
            <a:off x="94342" y="30180"/>
            <a:ext cx="10972800" cy="513335"/>
          </a:xfrm>
          <a:prstGeom prst="rect">
            <a:avLst/>
          </a:prstGeom>
          <a:noFill/>
          <a:ln>
            <a:noFill/>
          </a:ln>
        </p:spPr>
        <p:txBody>
          <a:bodyPr spcFirstLastPara="1" wrap="square" lIns="91425" tIns="45700" rIns="91425" bIns="45700" anchor="ctr" anchorCtr="0">
            <a:normAutofit/>
          </a:bodyPr>
          <a:lstStyle/>
          <a:p>
            <a:r>
              <a:rPr lang="en-IN" sz="2000"/>
              <a:t>Building hypothesis for ensuring robust procurement system</a:t>
            </a:r>
          </a:p>
        </p:txBody>
      </p:sp>
      <p:grpSp>
        <p:nvGrpSpPr>
          <p:cNvPr id="140" name="Group 139">
            <a:extLst>
              <a:ext uri="{FF2B5EF4-FFF2-40B4-BE49-F238E27FC236}">
                <a16:creationId xmlns:a16="http://schemas.microsoft.com/office/drawing/2014/main" id="{D9688273-70AB-8F26-D33D-A5F264B7CF46}"/>
              </a:ext>
            </a:extLst>
          </p:cNvPr>
          <p:cNvGrpSpPr/>
          <p:nvPr/>
        </p:nvGrpSpPr>
        <p:grpSpPr>
          <a:xfrm>
            <a:off x="53197" y="6638003"/>
            <a:ext cx="11948715" cy="195823"/>
            <a:chOff x="53197" y="6638003"/>
            <a:chExt cx="11948715" cy="195823"/>
          </a:xfrm>
        </p:grpSpPr>
        <p:sp>
          <p:nvSpPr>
            <p:cNvPr id="130" name="Arrow: Pentagon 129">
              <a:extLst>
                <a:ext uri="{FF2B5EF4-FFF2-40B4-BE49-F238E27FC236}">
                  <a16:creationId xmlns:a16="http://schemas.microsoft.com/office/drawing/2014/main" id="{2DEFC047-BD86-1AAB-7DE4-5FDFEA0B78FC}"/>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131" name="Arrow: Chevron 130">
              <a:extLst>
                <a:ext uri="{FF2B5EF4-FFF2-40B4-BE49-F238E27FC236}">
                  <a16:creationId xmlns:a16="http://schemas.microsoft.com/office/drawing/2014/main" id="{9DE87B73-34F8-6662-849A-647979FF4F2A}"/>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132" name="Arrow: Chevron 131">
              <a:extLst>
                <a:ext uri="{FF2B5EF4-FFF2-40B4-BE49-F238E27FC236}">
                  <a16:creationId xmlns:a16="http://schemas.microsoft.com/office/drawing/2014/main" id="{AD800D77-7F8F-7234-8FB0-8EFD8E8D20CC}"/>
                </a:ext>
              </a:extLst>
            </p:cNvPr>
            <p:cNvSpPr/>
            <p:nvPr/>
          </p:nvSpPr>
          <p:spPr>
            <a:xfrm>
              <a:off x="3854601" y="6638003"/>
              <a:ext cx="1141772" cy="182305"/>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bg1"/>
                  </a:solidFill>
                  <a:cs typeface="Arial"/>
                </a:rPr>
                <a:t>Hypothesis</a:t>
              </a:r>
            </a:p>
          </p:txBody>
        </p:sp>
        <p:sp>
          <p:nvSpPr>
            <p:cNvPr id="133" name="Arrow: Chevron 132">
              <a:extLst>
                <a:ext uri="{FF2B5EF4-FFF2-40B4-BE49-F238E27FC236}">
                  <a16:creationId xmlns:a16="http://schemas.microsoft.com/office/drawing/2014/main" id="{ECDE11BB-1C8E-8DD3-AFAA-BF5FD8C0FFD1}"/>
                </a:ext>
              </a:extLst>
            </p:cNvPr>
            <p:cNvSpPr/>
            <p:nvPr/>
          </p:nvSpPr>
          <p:spPr>
            <a:xfrm>
              <a:off x="267898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SC Analysis</a:t>
              </a:r>
              <a:endParaRPr lang="en-US" sz="1050">
                <a:solidFill>
                  <a:srgbClr val="FFFFFF"/>
                </a:solidFill>
                <a:cs typeface="Arial"/>
              </a:endParaRPr>
            </a:p>
          </p:txBody>
        </p:sp>
        <p:sp>
          <p:nvSpPr>
            <p:cNvPr id="134" name="Arrow: Chevron 133">
              <a:extLst>
                <a:ext uri="{FF2B5EF4-FFF2-40B4-BE49-F238E27FC236}">
                  <a16:creationId xmlns:a16="http://schemas.microsoft.com/office/drawing/2014/main" id="{ABF4B618-344B-0CBF-601F-322283A1A91E}"/>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135" name="Arrow: Chevron 134">
              <a:extLst>
                <a:ext uri="{FF2B5EF4-FFF2-40B4-BE49-F238E27FC236}">
                  <a16:creationId xmlns:a16="http://schemas.microsoft.com/office/drawing/2014/main" id="{B7DD971E-B72E-A471-7664-52DBCC99B116}"/>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136" name="Arrow: Chevron 135">
              <a:extLst>
                <a:ext uri="{FF2B5EF4-FFF2-40B4-BE49-F238E27FC236}">
                  <a16:creationId xmlns:a16="http://schemas.microsoft.com/office/drawing/2014/main" id="{0FAB3FB2-DA68-0A2C-E92C-6B6653CC7590}"/>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137" name="Arrow: Chevron 136">
              <a:extLst>
                <a:ext uri="{FF2B5EF4-FFF2-40B4-BE49-F238E27FC236}">
                  <a16:creationId xmlns:a16="http://schemas.microsoft.com/office/drawing/2014/main" id="{055841E7-49FF-2E88-979E-6E9E564000E0}"/>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138" name="Arrow: Chevron 137">
              <a:extLst>
                <a:ext uri="{FF2B5EF4-FFF2-40B4-BE49-F238E27FC236}">
                  <a16:creationId xmlns:a16="http://schemas.microsoft.com/office/drawing/2014/main" id="{F5A54579-E255-FBE6-4FE1-29771453D5E1}"/>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139" name="Arrow: Chevron 138">
              <a:extLst>
                <a:ext uri="{FF2B5EF4-FFF2-40B4-BE49-F238E27FC236}">
                  <a16:creationId xmlns:a16="http://schemas.microsoft.com/office/drawing/2014/main" id="{C4ECA5A4-AB31-7B5A-9A5C-44B813F747CC}"/>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sp>
        <p:nvSpPr>
          <p:cNvPr id="143" name="Rectangle 142">
            <a:extLst>
              <a:ext uri="{FF2B5EF4-FFF2-40B4-BE49-F238E27FC236}">
                <a16:creationId xmlns:a16="http://schemas.microsoft.com/office/drawing/2014/main" id="{A5E2A5B9-E7EE-3C6E-E855-567E6E82C73E}"/>
              </a:ext>
            </a:extLst>
          </p:cNvPr>
          <p:cNvSpPr/>
          <p:nvPr/>
        </p:nvSpPr>
        <p:spPr>
          <a:xfrm>
            <a:off x="448634" y="2436609"/>
            <a:ext cx="2768307" cy="598715"/>
          </a:xfrm>
          <a:prstGeom prst="rect">
            <a:avLst/>
          </a:prstGeom>
          <a:solidFill>
            <a:schemeClr val="accent6">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Arial" pitchFamily="34" charset="0"/>
                <a:cs typeface="Arial" pitchFamily="34" charset="0"/>
              </a:rPr>
              <a:t>L1 – Builds network for residue collection</a:t>
            </a:r>
          </a:p>
        </p:txBody>
      </p:sp>
      <p:sp>
        <p:nvSpPr>
          <p:cNvPr id="144" name="Rectangle 143">
            <a:extLst>
              <a:ext uri="{FF2B5EF4-FFF2-40B4-BE49-F238E27FC236}">
                <a16:creationId xmlns:a16="http://schemas.microsoft.com/office/drawing/2014/main" id="{BBA4878A-2A5C-88C7-8978-F10D000BD633}"/>
              </a:ext>
            </a:extLst>
          </p:cNvPr>
          <p:cNvSpPr/>
          <p:nvPr/>
        </p:nvSpPr>
        <p:spPr>
          <a:xfrm>
            <a:off x="4421195" y="2432556"/>
            <a:ext cx="2761721" cy="598715"/>
          </a:xfrm>
          <a:prstGeom prst="rect">
            <a:avLst/>
          </a:prstGeom>
          <a:solidFill>
            <a:schemeClr val="accent6">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Arial" pitchFamily="34" charset="0"/>
                <a:cs typeface="Arial" pitchFamily="34" charset="0"/>
              </a:rPr>
              <a:t>L1 – Build most effective procurement channel</a:t>
            </a:r>
          </a:p>
        </p:txBody>
      </p:sp>
      <p:sp>
        <p:nvSpPr>
          <p:cNvPr id="145" name="Rectangle 144">
            <a:extLst>
              <a:ext uri="{FF2B5EF4-FFF2-40B4-BE49-F238E27FC236}">
                <a16:creationId xmlns:a16="http://schemas.microsoft.com/office/drawing/2014/main" id="{A2BE1B95-6F07-15E8-1E81-54F53AC82DEB}"/>
              </a:ext>
            </a:extLst>
          </p:cNvPr>
          <p:cNvSpPr/>
          <p:nvPr/>
        </p:nvSpPr>
        <p:spPr>
          <a:xfrm>
            <a:off x="8714394" y="2436608"/>
            <a:ext cx="2745484" cy="598715"/>
          </a:xfrm>
          <a:prstGeom prst="rect">
            <a:avLst/>
          </a:prstGeom>
          <a:solidFill>
            <a:schemeClr val="accent6">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Arial" pitchFamily="34" charset="0"/>
                <a:cs typeface="Arial" pitchFamily="34" charset="0"/>
              </a:rPr>
              <a:t>L1 – Has optimized transportation system in place</a:t>
            </a:r>
          </a:p>
        </p:txBody>
      </p:sp>
      <p:sp>
        <p:nvSpPr>
          <p:cNvPr id="205" name="Rectangle 204">
            <a:extLst>
              <a:ext uri="{FF2B5EF4-FFF2-40B4-BE49-F238E27FC236}">
                <a16:creationId xmlns:a16="http://schemas.microsoft.com/office/drawing/2014/main" id="{F54FFC94-76CA-497E-AB86-A44D8446BAB5}"/>
              </a:ext>
            </a:extLst>
          </p:cNvPr>
          <p:cNvSpPr/>
          <p:nvPr/>
        </p:nvSpPr>
        <p:spPr>
          <a:xfrm>
            <a:off x="1456917" y="1052869"/>
            <a:ext cx="8800892" cy="475812"/>
          </a:xfrm>
          <a:prstGeom prst="rect">
            <a:avLst/>
          </a:prstGeom>
          <a:solidFill>
            <a:schemeClr val="accent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err="1">
                <a:solidFill>
                  <a:srgbClr val="FFFFFF"/>
                </a:solidFill>
                <a:latin typeface="Arial" pitchFamily="34" charset="0"/>
                <a:cs typeface="Arial" pitchFamily="34" charset="0"/>
              </a:rPr>
              <a:t>GreenGrow</a:t>
            </a:r>
            <a:r>
              <a:rPr lang="en-US" b="1">
                <a:solidFill>
                  <a:srgbClr val="FFFFFF"/>
                </a:solidFill>
                <a:latin typeface="Arial" pitchFamily="34" charset="0"/>
                <a:cs typeface="Arial" pitchFamily="34" charset="0"/>
              </a:rPr>
              <a:t>(‘GG’) can have robust and cost-effective procurement strategy for the paddy straws if</a:t>
            </a:r>
          </a:p>
        </p:txBody>
      </p:sp>
      <p:sp>
        <p:nvSpPr>
          <p:cNvPr id="234" name="Rectangle 233">
            <a:extLst>
              <a:ext uri="{FF2B5EF4-FFF2-40B4-BE49-F238E27FC236}">
                <a16:creationId xmlns:a16="http://schemas.microsoft.com/office/drawing/2014/main" id="{0B740085-70C4-7FB8-4DAD-88C69CDDF30E}"/>
              </a:ext>
            </a:extLst>
          </p:cNvPr>
          <p:cNvSpPr/>
          <p:nvPr/>
        </p:nvSpPr>
        <p:spPr>
          <a:xfrm>
            <a:off x="450821" y="3262657"/>
            <a:ext cx="2751558" cy="598715"/>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300">
                <a:solidFill>
                  <a:schemeClr val="bg1"/>
                </a:solidFill>
                <a:latin typeface="Arial" pitchFamily="34" charset="0"/>
                <a:cs typeface="Arial" pitchFamily="34" charset="0"/>
              </a:rPr>
              <a:t>L2 – GG can build its sourcing location for residue collection if </a:t>
            </a:r>
          </a:p>
        </p:txBody>
      </p:sp>
      <p:sp>
        <p:nvSpPr>
          <p:cNvPr id="235" name="Rectangle 234">
            <a:extLst>
              <a:ext uri="{FF2B5EF4-FFF2-40B4-BE49-F238E27FC236}">
                <a16:creationId xmlns:a16="http://schemas.microsoft.com/office/drawing/2014/main" id="{54C570DA-1BE9-F56C-BC0F-F7716E12FF9B}"/>
              </a:ext>
            </a:extLst>
          </p:cNvPr>
          <p:cNvSpPr/>
          <p:nvPr/>
        </p:nvSpPr>
        <p:spPr>
          <a:xfrm>
            <a:off x="4431632" y="3261261"/>
            <a:ext cx="2751558" cy="598715"/>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300">
                <a:solidFill>
                  <a:schemeClr val="bg1"/>
                </a:solidFill>
                <a:latin typeface="Arial" pitchFamily="34" charset="0"/>
                <a:cs typeface="Arial" pitchFamily="34" charset="0"/>
              </a:rPr>
              <a:t>L2 – GG can have the right procurement channel if</a:t>
            </a:r>
          </a:p>
        </p:txBody>
      </p:sp>
      <p:sp>
        <p:nvSpPr>
          <p:cNvPr id="237" name="Rectangle 236">
            <a:extLst>
              <a:ext uri="{FF2B5EF4-FFF2-40B4-BE49-F238E27FC236}">
                <a16:creationId xmlns:a16="http://schemas.microsoft.com/office/drawing/2014/main" id="{A25A50AF-33E8-162A-802A-66CDEB15047A}"/>
              </a:ext>
            </a:extLst>
          </p:cNvPr>
          <p:cNvSpPr/>
          <p:nvPr/>
        </p:nvSpPr>
        <p:spPr>
          <a:xfrm>
            <a:off x="8714395" y="3264736"/>
            <a:ext cx="2745412" cy="60486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300">
                <a:solidFill>
                  <a:schemeClr val="bg1"/>
                </a:solidFill>
                <a:latin typeface="Arial" pitchFamily="34" charset="0"/>
                <a:cs typeface="Arial" pitchFamily="34" charset="0"/>
              </a:rPr>
              <a:t>L2 – GG can have optimized the transportation system if</a:t>
            </a:r>
          </a:p>
        </p:txBody>
      </p:sp>
      <p:sp>
        <p:nvSpPr>
          <p:cNvPr id="246" name="Rectangle 245">
            <a:extLst>
              <a:ext uri="{FF2B5EF4-FFF2-40B4-BE49-F238E27FC236}">
                <a16:creationId xmlns:a16="http://schemas.microsoft.com/office/drawing/2014/main" id="{44379348-694D-8D01-575E-23D82BD3BC6B}"/>
              </a:ext>
            </a:extLst>
          </p:cNvPr>
          <p:cNvSpPr/>
          <p:nvPr/>
        </p:nvSpPr>
        <p:spPr>
          <a:xfrm>
            <a:off x="4425328" y="4098364"/>
            <a:ext cx="1338403" cy="1509385"/>
          </a:xfrm>
          <a:prstGeom prst="rect">
            <a:avLst/>
          </a:prstGeom>
          <a:noFill/>
          <a:ln w="127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200" dirty="0"/>
              <a:t>Build long term relationship with farmers/3</a:t>
            </a:r>
            <a:r>
              <a:rPr lang="en-IN" sz="1200" baseline="30000" dirty="0"/>
              <a:t>rd</a:t>
            </a:r>
            <a:r>
              <a:rPr lang="en-IN" sz="1200" dirty="0"/>
              <a:t> party vendors for long term</a:t>
            </a:r>
            <a:endParaRPr lang="en-IN" sz="1200"/>
          </a:p>
        </p:txBody>
      </p:sp>
      <p:sp>
        <p:nvSpPr>
          <p:cNvPr id="247" name="Rectangle 246">
            <a:extLst>
              <a:ext uri="{FF2B5EF4-FFF2-40B4-BE49-F238E27FC236}">
                <a16:creationId xmlns:a16="http://schemas.microsoft.com/office/drawing/2014/main" id="{F826F556-9E11-BAD4-6CED-F733F0A10BB2}"/>
              </a:ext>
            </a:extLst>
          </p:cNvPr>
          <p:cNvSpPr/>
          <p:nvPr/>
        </p:nvSpPr>
        <p:spPr>
          <a:xfrm>
            <a:off x="1870480" y="4098364"/>
            <a:ext cx="1338403" cy="1509385"/>
          </a:xfrm>
          <a:prstGeom prst="rect">
            <a:avLst/>
          </a:prstGeom>
          <a:noFill/>
          <a:ln w="127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200" dirty="0"/>
              <a:t>Introduces a new incentive system for farmers for selling stubble</a:t>
            </a:r>
            <a:endParaRPr lang="en-IN" sz="1200"/>
          </a:p>
        </p:txBody>
      </p:sp>
      <p:sp>
        <p:nvSpPr>
          <p:cNvPr id="248" name="Rectangle 247">
            <a:extLst>
              <a:ext uri="{FF2B5EF4-FFF2-40B4-BE49-F238E27FC236}">
                <a16:creationId xmlns:a16="http://schemas.microsoft.com/office/drawing/2014/main" id="{AFBE87A1-38AD-2D39-3AB3-96EAFBFD7BBB}"/>
              </a:ext>
            </a:extLst>
          </p:cNvPr>
          <p:cNvSpPr/>
          <p:nvPr/>
        </p:nvSpPr>
        <p:spPr>
          <a:xfrm>
            <a:off x="449311" y="4098364"/>
            <a:ext cx="1338403" cy="1503240"/>
          </a:xfrm>
          <a:prstGeom prst="rect">
            <a:avLst/>
          </a:prstGeom>
          <a:noFill/>
          <a:ln w="127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200" dirty="0"/>
              <a:t>GG build data-backed sources to pin-point location for procurement of high-quality paddy straws </a:t>
            </a:r>
          </a:p>
        </p:txBody>
      </p:sp>
      <p:sp>
        <p:nvSpPr>
          <p:cNvPr id="250" name="Rectangle 249">
            <a:extLst>
              <a:ext uri="{FF2B5EF4-FFF2-40B4-BE49-F238E27FC236}">
                <a16:creationId xmlns:a16="http://schemas.microsoft.com/office/drawing/2014/main" id="{75196E2C-0622-F3D7-E65D-5E56F668291B}"/>
              </a:ext>
            </a:extLst>
          </p:cNvPr>
          <p:cNvSpPr/>
          <p:nvPr/>
        </p:nvSpPr>
        <p:spPr>
          <a:xfrm>
            <a:off x="10147923" y="4098364"/>
            <a:ext cx="1319967" cy="1503240"/>
          </a:xfrm>
          <a:prstGeom prst="rect">
            <a:avLst/>
          </a:prstGeom>
          <a:noFill/>
          <a:ln w="127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200" dirty="0"/>
              <a:t>GG has optimised the routing areas</a:t>
            </a:r>
            <a:endParaRPr lang="en-IN" sz="1200"/>
          </a:p>
        </p:txBody>
      </p:sp>
      <p:sp>
        <p:nvSpPr>
          <p:cNvPr id="251" name="Rectangle 250">
            <a:extLst>
              <a:ext uri="{FF2B5EF4-FFF2-40B4-BE49-F238E27FC236}">
                <a16:creationId xmlns:a16="http://schemas.microsoft.com/office/drawing/2014/main" id="{357AF531-5213-64EF-0C24-B01BB1910CAF}"/>
              </a:ext>
            </a:extLst>
          </p:cNvPr>
          <p:cNvSpPr/>
          <p:nvPr/>
        </p:nvSpPr>
        <p:spPr>
          <a:xfrm>
            <a:off x="8740074" y="4098364"/>
            <a:ext cx="1326112" cy="1509385"/>
          </a:xfrm>
          <a:prstGeom prst="rect">
            <a:avLst/>
          </a:prstGeom>
          <a:noFill/>
          <a:ln w="127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200" dirty="0"/>
              <a:t>GG build an optimal transportation system </a:t>
            </a:r>
            <a:endParaRPr lang="en-IN" sz="1200"/>
          </a:p>
        </p:txBody>
      </p:sp>
      <p:sp>
        <p:nvSpPr>
          <p:cNvPr id="252" name="Rectangle 251">
            <a:extLst>
              <a:ext uri="{FF2B5EF4-FFF2-40B4-BE49-F238E27FC236}">
                <a16:creationId xmlns:a16="http://schemas.microsoft.com/office/drawing/2014/main" id="{FE9A93A3-F1B3-43A8-8E14-B21CE5FC28BD}"/>
              </a:ext>
            </a:extLst>
          </p:cNvPr>
          <p:cNvSpPr/>
          <p:nvPr/>
        </p:nvSpPr>
        <p:spPr>
          <a:xfrm>
            <a:off x="5850037" y="4098364"/>
            <a:ext cx="1332258" cy="1503240"/>
          </a:xfrm>
          <a:prstGeom prst="rect">
            <a:avLst/>
          </a:prstGeom>
          <a:noFill/>
          <a:ln w="1270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200" dirty="0"/>
              <a:t>Higher budget for procurement of paddy straws</a:t>
            </a:r>
            <a:endParaRPr lang="en-IN" sz="1200"/>
          </a:p>
        </p:txBody>
      </p:sp>
      <p:cxnSp>
        <p:nvCxnSpPr>
          <p:cNvPr id="7" name="Connector: Elbow 6">
            <a:extLst>
              <a:ext uri="{FF2B5EF4-FFF2-40B4-BE49-F238E27FC236}">
                <a16:creationId xmlns:a16="http://schemas.microsoft.com/office/drawing/2014/main" id="{21280452-EC00-78C2-3896-B504D41E4598}"/>
              </a:ext>
            </a:extLst>
          </p:cNvPr>
          <p:cNvCxnSpPr>
            <a:cxnSpLocks/>
            <a:stCxn id="205" idx="2"/>
            <a:endCxn id="145" idx="0"/>
          </p:cNvCxnSpPr>
          <p:nvPr/>
        </p:nvCxnSpPr>
        <p:spPr>
          <a:xfrm rot="16200000" flipH="1">
            <a:off x="7518286" y="-132243"/>
            <a:ext cx="907927" cy="4229773"/>
          </a:xfrm>
          <a:prstGeom prst="bentConnector3">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2874044E-839C-C678-5B82-2A2A716D275D}"/>
              </a:ext>
            </a:extLst>
          </p:cNvPr>
          <p:cNvCxnSpPr>
            <a:cxnSpLocks/>
            <a:stCxn id="205" idx="2"/>
            <a:endCxn id="143" idx="0"/>
          </p:cNvCxnSpPr>
          <p:nvPr/>
        </p:nvCxnSpPr>
        <p:spPr>
          <a:xfrm rot="5400000">
            <a:off x="3391112" y="-29642"/>
            <a:ext cx="907928" cy="4024575"/>
          </a:xfrm>
          <a:prstGeom prst="bentConnector3">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293187D-096A-9DFB-18E0-9DADD66F6C7C}"/>
              </a:ext>
            </a:extLst>
          </p:cNvPr>
          <p:cNvCxnSpPr>
            <a:cxnSpLocks/>
          </p:cNvCxnSpPr>
          <p:nvPr/>
        </p:nvCxnSpPr>
        <p:spPr>
          <a:xfrm flipH="1">
            <a:off x="5857362" y="1447401"/>
            <a:ext cx="1" cy="984275"/>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E05C3AD-64B6-2A11-AA8B-71CABA09F702}"/>
              </a:ext>
            </a:extLst>
          </p:cNvPr>
          <p:cNvCxnSpPr>
            <a:stCxn id="144" idx="2"/>
            <a:endCxn id="235" idx="0"/>
          </p:cNvCxnSpPr>
          <p:nvPr/>
        </p:nvCxnSpPr>
        <p:spPr>
          <a:xfrm>
            <a:off x="5802056" y="3031271"/>
            <a:ext cx="5355" cy="22999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25" name="Straight Arrow Connector 24">
            <a:extLst>
              <a:ext uri="{FF2B5EF4-FFF2-40B4-BE49-F238E27FC236}">
                <a16:creationId xmlns:a16="http://schemas.microsoft.com/office/drawing/2014/main" id="{56EC2032-E8DD-1872-F32E-E76B8F0F64D3}"/>
              </a:ext>
            </a:extLst>
          </p:cNvPr>
          <p:cNvCxnSpPr>
            <a:stCxn id="143" idx="2"/>
            <a:endCxn id="234" idx="0"/>
          </p:cNvCxnSpPr>
          <p:nvPr/>
        </p:nvCxnSpPr>
        <p:spPr>
          <a:xfrm flipH="1">
            <a:off x="1826600" y="3035324"/>
            <a:ext cx="6188" cy="227333"/>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a:extLst>
              <a:ext uri="{FF2B5EF4-FFF2-40B4-BE49-F238E27FC236}">
                <a16:creationId xmlns:a16="http://schemas.microsoft.com/office/drawing/2014/main" id="{489F66D8-D6D6-DAA1-A140-EA04EFA5CE3A}"/>
              </a:ext>
            </a:extLst>
          </p:cNvPr>
          <p:cNvCxnSpPr>
            <a:stCxn id="145" idx="2"/>
            <a:endCxn id="237" idx="0"/>
          </p:cNvCxnSpPr>
          <p:nvPr/>
        </p:nvCxnSpPr>
        <p:spPr>
          <a:xfrm flipH="1">
            <a:off x="10087101" y="3035323"/>
            <a:ext cx="35" cy="229413"/>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30" name="Connector: Elbow 29">
            <a:extLst>
              <a:ext uri="{FF2B5EF4-FFF2-40B4-BE49-F238E27FC236}">
                <a16:creationId xmlns:a16="http://schemas.microsoft.com/office/drawing/2014/main" id="{06BE02D1-C014-219C-0C78-20213938A80D}"/>
              </a:ext>
            </a:extLst>
          </p:cNvPr>
          <p:cNvCxnSpPr>
            <a:stCxn id="234" idx="2"/>
            <a:endCxn id="248" idx="0"/>
          </p:cNvCxnSpPr>
          <p:nvPr/>
        </p:nvCxnSpPr>
        <p:spPr>
          <a:xfrm rot="5400000">
            <a:off x="1354061" y="3625825"/>
            <a:ext cx="236992" cy="708087"/>
          </a:xfrm>
          <a:prstGeom prst="bent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2" name="Connector: Elbow 31">
            <a:extLst>
              <a:ext uri="{FF2B5EF4-FFF2-40B4-BE49-F238E27FC236}">
                <a16:creationId xmlns:a16="http://schemas.microsoft.com/office/drawing/2014/main" id="{6E5B9485-FA29-E72F-051B-44807C314DF1}"/>
              </a:ext>
            </a:extLst>
          </p:cNvPr>
          <p:cNvCxnSpPr>
            <a:stCxn id="234" idx="2"/>
            <a:endCxn id="247" idx="0"/>
          </p:cNvCxnSpPr>
          <p:nvPr/>
        </p:nvCxnSpPr>
        <p:spPr>
          <a:xfrm rot="16200000" flipH="1">
            <a:off x="2064645" y="3623327"/>
            <a:ext cx="236992" cy="713082"/>
          </a:xfrm>
          <a:prstGeom prst="bent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 name="Connector: Elbow 32">
            <a:extLst>
              <a:ext uri="{FF2B5EF4-FFF2-40B4-BE49-F238E27FC236}">
                <a16:creationId xmlns:a16="http://schemas.microsoft.com/office/drawing/2014/main" id="{70B3927D-F967-434C-4AF8-A62884D3BD6A}"/>
              </a:ext>
            </a:extLst>
          </p:cNvPr>
          <p:cNvCxnSpPr/>
          <p:nvPr/>
        </p:nvCxnSpPr>
        <p:spPr>
          <a:xfrm rot="5400000">
            <a:off x="5291192" y="3613376"/>
            <a:ext cx="236992" cy="708087"/>
          </a:xfrm>
          <a:prstGeom prst="bentConnector3">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4" name="Connector: Elbow 33">
            <a:extLst>
              <a:ext uri="{FF2B5EF4-FFF2-40B4-BE49-F238E27FC236}">
                <a16:creationId xmlns:a16="http://schemas.microsoft.com/office/drawing/2014/main" id="{0FB6BD97-44A1-38AF-0FDD-DAE829F9070D}"/>
              </a:ext>
            </a:extLst>
          </p:cNvPr>
          <p:cNvCxnSpPr/>
          <p:nvPr/>
        </p:nvCxnSpPr>
        <p:spPr>
          <a:xfrm rot="16200000" flipH="1">
            <a:off x="6001776" y="3610878"/>
            <a:ext cx="236992" cy="713082"/>
          </a:xfrm>
          <a:prstGeom prst="bentConnector3">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5" name="Connector: Elbow 34">
            <a:extLst>
              <a:ext uri="{FF2B5EF4-FFF2-40B4-BE49-F238E27FC236}">
                <a16:creationId xmlns:a16="http://schemas.microsoft.com/office/drawing/2014/main" id="{92B60A17-1AD3-362B-40A9-B1E07FA2A5FC}"/>
              </a:ext>
            </a:extLst>
          </p:cNvPr>
          <p:cNvCxnSpPr/>
          <p:nvPr/>
        </p:nvCxnSpPr>
        <p:spPr>
          <a:xfrm rot="5400000">
            <a:off x="9615505" y="3643369"/>
            <a:ext cx="236992" cy="708087"/>
          </a:xfrm>
          <a:prstGeom prst="bentConnector3">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6" name="Connector: Elbow 35">
            <a:extLst>
              <a:ext uri="{FF2B5EF4-FFF2-40B4-BE49-F238E27FC236}">
                <a16:creationId xmlns:a16="http://schemas.microsoft.com/office/drawing/2014/main" id="{9AE4C2F8-9AF9-268F-6C90-7F95F247D9D3}"/>
              </a:ext>
            </a:extLst>
          </p:cNvPr>
          <p:cNvCxnSpPr/>
          <p:nvPr/>
        </p:nvCxnSpPr>
        <p:spPr>
          <a:xfrm rot="16200000" flipH="1">
            <a:off x="10326089" y="3640871"/>
            <a:ext cx="236992" cy="713082"/>
          </a:xfrm>
          <a:prstGeom prst="bentConnector3">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70988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9" name="Rectangle 8">
            <a:extLst>
              <a:ext uri="{FF2B5EF4-FFF2-40B4-BE49-F238E27FC236}">
                <a16:creationId xmlns:a16="http://schemas.microsoft.com/office/drawing/2014/main" id="{5E73EB74-AC34-2870-F8A8-52C5FED2B52A}"/>
              </a:ext>
            </a:extLst>
          </p:cNvPr>
          <p:cNvSpPr/>
          <p:nvPr/>
        </p:nvSpPr>
        <p:spPr>
          <a:xfrm>
            <a:off x="53197" y="541031"/>
            <a:ext cx="6682259" cy="5976727"/>
          </a:xfrm>
          <a:prstGeom prst="rect">
            <a:avLst/>
          </a:prstGeom>
          <a:solidFill>
            <a:srgbClr val="FCF2F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44" name="Diagram 143">
            <a:extLst>
              <a:ext uri="{FF2B5EF4-FFF2-40B4-BE49-F238E27FC236}">
                <a16:creationId xmlns:a16="http://schemas.microsoft.com/office/drawing/2014/main" id="{3B4091B2-8DCD-634A-5037-40EC698196BE}"/>
              </a:ext>
            </a:extLst>
          </p:cNvPr>
          <p:cNvGraphicFramePr/>
          <p:nvPr>
            <p:extLst>
              <p:ext uri="{D42A27DB-BD31-4B8C-83A1-F6EECF244321}">
                <p14:modId xmlns:p14="http://schemas.microsoft.com/office/powerpoint/2010/main" val="777747472"/>
              </p:ext>
            </p:extLst>
          </p:nvPr>
        </p:nvGraphicFramePr>
        <p:xfrm>
          <a:off x="181334" y="3508133"/>
          <a:ext cx="6505670" cy="1559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Rectangle 171">
            <a:extLst>
              <a:ext uri="{FF2B5EF4-FFF2-40B4-BE49-F238E27FC236}">
                <a16:creationId xmlns:a16="http://schemas.microsoft.com/office/drawing/2014/main" id="{C5FF490F-1BAE-9AD6-5D30-4EC596B49158}"/>
              </a:ext>
            </a:extLst>
          </p:cNvPr>
          <p:cNvSpPr/>
          <p:nvPr/>
        </p:nvSpPr>
        <p:spPr>
          <a:xfrm>
            <a:off x="192752" y="2836628"/>
            <a:ext cx="3751902" cy="616833"/>
          </a:xfrm>
          <a:prstGeom prst="rect">
            <a:avLst/>
          </a:prstGeom>
          <a:ln>
            <a:solidFill>
              <a:srgbClr val="9C797F"/>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A39F4245-D36C-0BAD-FC48-DECE1BEAC7B4}"/>
              </a:ext>
            </a:extLst>
          </p:cNvPr>
          <p:cNvSpPr/>
          <p:nvPr/>
        </p:nvSpPr>
        <p:spPr>
          <a:xfrm>
            <a:off x="681601" y="1122481"/>
            <a:ext cx="3992898" cy="332618"/>
          </a:xfrm>
          <a:prstGeom prst="roundRect">
            <a:avLst/>
          </a:prstGeom>
        </p:spPr>
        <p:style>
          <a:lnRef idx="3">
            <a:schemeClr val="lt1"/>
          </a:lnRef>
          <a:fillRef idx="1">
            <a:schemeClr val="accent6"/>
          </a:fillRef>
          <a:effectRef idx="1">
            <a:schemeClr val="accent6"/>
          </a:effectRef>
          <a:fontRef idx="minor">
            <a:schemeClr val="lt1"/>
          </a:fontRef>
        </p:style>
        <p:txBody>
          <a:bodyPr lIns="91440" tIns="45720" rIns="91440" bIns="45720" rtlCol="0" anchor="ctr"/>
          <a:lstStyle/>
          <a:p>
            <a:r>
              <a:rPr lang="en-US" sz="1200" dirty="0"/>
              <a:t>127.44 Million </a:t>
            </a:r>
            <a:r>
              <a:rPr lang="en-US" sz="1200"/>
              <a:t>ton</a:t>
            </a:r>
            <a:r>
              <a:rPr lang="en-US" sz="1200" dirty="0"/>
              <a:t> paddy stubble generated pan India</a:t>
            </a:r>
            <a:endParaRPr lang="en-IN" sz="1200" dirty="0"/>
          </a:p>
        </p:txBody>
      </p:sp>
      <p:sp>
        <p:nvSpPr>
          <p:cNvPr id="19" name="Rectangle: Rounded Corners 18">
            <a:extLst>
              <a:ext uri="{FF2B5EF4-FFF2-40B4-BE49-F238E27FC236}">
                <a16:creationId xmlns:a16="http://schemas.microsoft.com/office/drawing/2014/main" id="{EBF5995C-6110-B871-73E9-8CED6A4D3F3F}"/>
              </a:ext>
            </a:extLst>
          </p:cNvPr>
          <p:cNvSpPr/>
          <p:nvPr/>
        </p:nvSpPr>
        <p:spPr>
          <a:xfrm>
            <a:off x="402920" y="6169006"/>
            <a:ext cx="5988407" cy="234551"/>
          </a:xfrm>
          <a:prstGeom prst="roundRect">
            <a:avLst/>
          </a:prstGeom>
          <a:noFill/>
          <a:ln>
            <a:solidFill>
              <a:srgbClr val="9C797F"/>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r>
              <a:rPr lang="en-IN" sz="1000" i="1"/>
              <a:t>Based on benchmarking with ‘M/s. Sukhbir </a:t>
            </a:r>
            <a:r>
              <a:rPr lang="en-IN" sz="1000" i="1" err="1"/>
              <a:t>Agro</a:t>
            </a:r>
            <a:r>
              <a:rPr lang="en-IN" sz="1000" i="1"/>
              <a:t> Energy Limited’, one of the RNG plants in Punjab</a:t>
            </a:r>
          </a:p>
        </p:txBody>
      </p:sp>
      <p:sp>
        <p:nvSpPr>
          <p:cNvPr id="20" name="Rectangle: Rounded Corners 19">
            <a:extLst>
              <a:ext uri="{FF2B5EF4-FFF2-40B4-BE49-F238E27FC236}">
                <a16:creationId xmlns:a16="http://schemas.microsoft.com/office/drawing/2014/main" id="{C903ACC0-93D1-3738-8E41-CA1C00CDAFDD}"/>
              </a:ext>
            </a:extLst>
          </p:cNvPr>
          <p:cNvSpPr/>
          <p:nvPr/>
        </p:nvSpPr>
        <p:spPr>
          <a:xfrm>
            <a:off x="2004069" y="1759834"/>
            <a:ext cx="1458836" cy="498268"/>
          </a:xfrm>
          <a:prstGeom prst="roundRect">
            <a:avLst/>
          </a:prstGeom>
          <a:noFill/>
          <a:ln w="9525" cap="flat" cmpd="sng" algn="ctr">
            <a:solidFill>
              <a:srgbClr val="707070"/>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000" b="1"/>
              <a:t>8.9208 MT</a:t>
            </a:r>
            <a:r>
              <a:rPr lang="en-US" sz="1000"/>
              <a:t> retained by farmers</a:t>
            </a:r>
            <a:endParaRPr lang="en-IN" sz="1000"/>
          </a:p>
        </p:txBody>
      </p:sp>
      <p:sp>
        <p:nvSpPr>
          <p:cNvPr id="21" name="Rectangle: Rounded Corners 20">
            <a:extLst>
              <a:ext uri="{FF2B5EF4-FFF2-40B4-BE49-F238E27FC236}">
                <a16:creationId xmlns:a16="http://schemas.microsoft.com/office/drawing/2014/main" id="{51238F94-06C8-70DB-3BFE-884F69112258}"/>
              </a:ext>
            </a:extLst>
          </p:cNvPr>
          <p:cNvSpPr/>
          <p:nvPr/>
        </p:nvSpPr>
        <p:spPr>
          <a:xfrm>
            <a:off x="261197" y="1759834"/>
            <a:ext cx="1624239" cy="498268"/>
          </a:xfrm>
          <a:prstGeom prst="roundRect">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000" b="1" dirty="0"/>
              <a:t>2.5488 MT</a:t>
            </a:r>
            <a:r>
              <a:rPr lang="en-US" sz="1000" dirty="0"/>
              <a:t> is acquired by service providers</a:t>
            </a:r>
            <a:endParaRPr lang="en-IN" sz="1000" dirty="0"/>
          </a:p>
        </p:txBody>
      </p:sp>
      <p:sp>
        <p:nvSpPr>
          <p:cNvPr id="22" name="Rectangle: Rounded Corners 21">
            <a:extLst>
              <a:ext uri="{FF2B5EF4-FFF2-40B4-BE49-F238E27FC236}">
                <a16:creationId xmlns:a16="http://schemas.microsoft.com/office/drawing/2014/main" id="{25E4C121-88CE-B860-ECE1-A92ED752F0A3}"/>
              </a:ext>
            </a:extLst>
          </p:cNvPr>
          <p:cNvSpPr/>
          <p:nvPr/>
        </p:nvSpPr>
        <p:spPr>
          <a:xfrm>
            <a:off x="3578747" y="1765506"/>
            <a:ext cx="1458836" cy="504210"/>
          </a:xfrm>
          <a:prstGeom prst="roundRect">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000" b="1"/>
              <a:t>1.2744 MT</a:t>
            </a:r>
            <a:r>
              <a:rPr lang="en-US" sz="1000"/>
              <a:t> acquired by paddy mills</a:t>
            </a:r>
          </a:p>
        </p:txBody>
      </p:sp>
      <p:sp>
        <p:nvSpPr>
          <p:cNvPr id="29" name="Rectangle: Rounded Corners 28">
            <a:extLst>
              <a:ext uri="{FF2B5EF4-FFF2-40B4-BE49-F238E27FC236}">
                <a16:creationId xmlns:a16="http://schemas.microsoft.com/office/drawing/2014/main" id="{B96A4C39-9A43-F8F7-3A12-E2FF1D69D38F}"/>
              </a:ext>
            </a:extLst>
          </p:cNvPr>
          <p:cNvSpPr/>
          <p:nvPr/>
        </p:nvSpPr>
        <p:spPr>
          <a:xfrm>
            <a:off x="136402" y="604926"/>
            <a:ext cx="5339403" cy="47036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36.95 Million hectare under paddy cultivation (top 11 states) </a:t>
            </a:r>
            <a:endParaRPr lang="en-IN" dirty="0"/>
          </a:p>
        </p:txBody>
      </p:sp>
      <p:sp>
        <p:nvSpPr>
          <p:cNvPr id="34" name="Rectangle: Rounded Corners 33">
            <a:extLst>
              <a:ext uri="{FF2B5EF4-FFF2-40B4-BE49-F238E27FC236}">
                <a16:creationId xmlns:a16="http://schemas.microsoft.com/office/drawing/2014/main" id="{2E3D8B49-1873-9009-17CF-0BA64C64F62A}"/>
              </a:ext>
            </a:extLst>
          </p:cNvPr>
          <p:cNvSpPr/>
          <p:nvPr/>
        </p:nvSpPr>
        <p:spPr>
          <a:xfrm>
            <a:off x="266882" y="2886466"/>
            <a:ext cx="1822263" cy="490309"/>
          </a:xfrm>
          <a:prstGeom prst="roundRect">
            <a:avLst/>
          </a:prstGeom>
          <a:solidFill>
            <a:srgbClr val="A95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4.46 tons in Haryana(4800 villages)</a:t>
            </a:r>
            <a:endParaRPr lang="en-IN" sz="1200"/>
          </a:p>
        </p:txBody>
      </p:sp>
      <p:sp>
        <p:nvSpPr>
          <p:cNvPr id="35" name="Rectangle: Rounded Corners 34">
            <a:extLst>
              <a:ext uri="{FF2B5EF4-FFF2-40B4-BE49-F238E27FC236}">
                <a16:creationId xmlns:a16="http://schemas.microsoft.com/office/drawing/2014/main" id="{933CA11B-D2CD-6C9D-2024-2BF23781FAED}"/>
              </a:ext>
            </a:extLst>
          </p:cNvPr>
          <p:cNvSpPr/>
          <p:nvPr/>
        </p:nvSpPr>
        <p:spPr>
          <a:xfrm>
            <a:off x="4093709" y="2899186"/>
            <a:ext cx="1432346" cy="490309"/>
          </a:xfrm>
          <a:prstGeom prst="roundRect">
            <a:avLst/>
          </a:prstGeom>
          <a:solidFill>
            <a:srgbClr val="A95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107.52 tons in Other states</a:t>
            </a:r>
            <a:endParaRPr lang="en-IN" sz="1200"/>
          </a:p>
        </p:txBody>
      </p:sp>
      <p:sp>
        <p:nvSpPr>
          <p:cNvPr id="36" name="Rectangle: Rounded Corners 35">
            <a:extLst>
              <a:ext uri="{FF2B5EF4-FFF2-40B4-BE49-F238E27FC236}">
                <a16:creationId xmlns:a16="http://schemas.microsoft.com/office/drawing/2014/main" id="{E30FCF72-467B-1C24-BCDC-EEA8EFC8DE50}"/>
              </a:ext>
            </a:extLst>
          </p:cNvPr>
          <p:cNvSpPr/>
          <p:nvPr/>
        </p:nvSpPr>
        <p:spPr>
          <a:xfrm>
            <a:off x="2386450" y="2886465"/>
            <a:ext cx="1432346" cy="490309"/>
          </a:xfrm>
          <a:prstGeom prst="roundRect">
            <a:avLst/>
          </a:prstGeom>
          <a:solidFill>
            <a:srgbClr val="A95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15.46 tons in Punjab</a:t>
            </a:r>
            <a:endParaRPr lang="en-IN" sz="1200"/>
          </a:p>
        </p:txBody>
      </p:sp>
      <p:sp>
        <p:nvSpPr>
          <p:cNvPr id="186" name="Rectangle: Rounded Corners 185">
            <a:extLst>
              <a:ext uri="{FF2B5EF4-FFF2-40B4-BE49-F238E27FC236}">
                <a16:creationId xmlns:a16="http://schemas.microsoft.com/office/drawing/2014/main" id="{BF979432-00F4-6A4A-41D8-840027721C74}"/>
              </a:ext>
            </a:extLst>
          </p:cNvPr>
          <p:cNvSpPr/>
          <p:nvPr/>
        </p:nvSpPr>
        <p:spPr>
          <a:xfrm>
            <a:off x="5475805" y="602162"/>
            <a:ext cx="1247011" cy="1302858"/>
          </a:xfrm>
          <a:prstGeom prst="roundRect">
            <a:avLst/>
          </a:prstGeom>
          <a:solidFill>
            <a:schemeClr val="accent6">
              <a:lumMod val="20000"/>
              <a:lumOff val="80000"/>
            </a:schemeClr>
          </a:solidFill>
          <a:ln>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000" i="1" dirty="0"/>
              <a:t>Based on data by International Rice Research Institute: Stubble to Rice ratio is 0.7-1.4. Assumed to be 1.2 in this case.</a:t>
            </a:r>
          </a:p>
        </p:txBody>
      </p:sp>
      <p:sp>
        <p:nvSpPr>
          <p:cNvPr id="187" name="Plus Sign 186">
            <a:extLst>
              <a:ext uri="{FF2B5EF4-FFF2-40B4-BE49-F238E27FC236}">
                <a16:creationId xmlns:a16="http://schemas.microsoft.com/office/drawing/2014/main" id="{877BA90D-AE18-8A5C-C65C-CB922276A02F}"/>
              </a:ext>
            </a:extLst>
          </p:cNvPr>
          <p:cNvSpPr/>
          <p:nvPr/>
        </p:nvSpPr>
        <p:spPr>
          <a:xfrm>
            <a:off x="2151945" y="3020471"/>
            <a:ext cx="165075" cy="233196"/>
          </a:xfrm>
          <a:prstGeom prst="mathPlus">
            <a:avLst/>
          </a:prstGeom>
          <a:solidFill>
            <a:schemeClr val="accent6">
              <a:lumMod val="75000"/>
            </a:schemeClr>
          </a:solidFill>
          <a:ln>
            <a:solidFill>
              <a:schemeClr val="accent6">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88" name="Rectangle 187">
            <a:extLst>
              <a:ext uri="{FF2B5EF4-FFF2-40B4-BE49-F238E27FC236}">
                <a16:creationId xmlns:a16="http://schemas.microsoft.com/office/drawing/2014/main" id="{28492E6B-1335-A95F-BDB0-411F49CB05EC}"/>
              </a:ext>
            </a:extLst>
          </p:cNvPr>
          <p:cNvSpPr/>
          <p:nvPr/>
        </p:nvSpPr>
        <p:spPr>
          <a:xfrm>
            <a:off x="262964" y="2339962"/>
            <a:ext cx="6270726" cy="400102"/>
          </a:xfrm>
          <a:prstGeom prst="rect">
            <a:avLst/>
          </a:prstGeom>
          <a:solidFill>
            <a:schemeClr val="accent6">
              <a:lumMod val="20000"/>
              <a:lumOff val="80000"/>
            </a:schemeClr>
          </a:solidFill>
          <a:ln>
            <a:solidFill>
              <a:schemeClr val="tx2"/>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IN" sz="1000"/>
              <a:t>Based on a study by </a:t>
            </a:r>
            <a:r>
              <a:rPr lang="en-IN" sz="1000" b="0" i="0">
                <a:solidFill>
                  <a:srgbClr val="1F1F1F"/>
                </a:solidFill>
                <a:effectLst/>
              </a:rPr>
              <a:t>ICAR, approximately 20% &amp; 10% respectively is acquired by Service providers</a:t>
            </a:r>
            <a:r>
              <a:rPr lang="en-IN" sz="1000">
                <a:solidFill>
                  <a:srgbClr val="1F1F1F"/>
                </a:solidFill>
              </a:rPr>
              <a:t> &amp;</a:t>
            </a:r>
            <a:r>
              <a:rPr lang="en-IN" sz="1000" b="0" i="0">
                <a:solidFill>
                  <a:srgbClr val="1F1F1F"/>
                </a:solidFill>
                <a:effectLst/>
              </a:rPr>
              <a:t> paddy mills</a:t>
            </a:r>
            <a:endParaRPr lang="en-IN" sz="1000"/>
          </a:p>
        </p:txBody>
      </p:sp>
      <p:sp>
        <p:nvSpPr>
          <p:cNvPr id="197" name="Arrow: Down 196">
            <a:extLst>
              <a:ext uri="{FF2B5EF4-FFF2-40B4-BE49-F238E27FC236}">
                <a16:creationId xmlns:a16="http://schemas.microsoft.com/office/drawing/2014/main" id="{089FB2FB-DBEB-ECA3-9480-2E23F5B6FBE5}"/>
              </a:ext>
            </a:extLst>
          </p:cNvPr>
          <p:cNvSpPr/>
          <p:nvPr/>
        </p:nvSpPr>
        <p:spPr>
          <a:xfrm>
            <a:off x="965327" y="1515457"/>
            <a:ext cx="215981" cy="234662"/>
          </a:xfrm>
          <a:prstGeom prst="downArrow">
            <a:avLst/>
          </a:prstGeom>
          <a:solidFill>
            <a:schemeClr val="accent6">
              <a:lumMod val="60000"/>
              <a:lumOff val="4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 name="Arrow: Down 197">
            <a:extLst>
              <a:ext uri="{FF2B5EF4-FFF2-40B4-BE49-F238E27FC236}">
                <a16:creationId xmlns:a16="http://schemas.microsoft.com/office/drawing/2014/main" id="{D9D34326-FB32-E05A-6197-71772DCE783F}"/>
              </a:ext>
            </a:extLst>
          </p:cNvPr>
          <p:cNvSpPr/>
          <p:nvPr/>
        </p:nvSpPr>
        <p:spPr>
          <a:xfrm>
            <a:off x="4133929" y="1537551"/>
            <a:ext cx="215981" cy="234662"/>
          </a:xfrm>
          <a:prstGeom prst="downArrow">
            <a:avLst/>
          </a:prstGeom>
          <a:solidFill>
            <a:schemeClr val="accent6">
              <a:lumMod val="60000"/>
              <a:lumOff val="4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9" name="Arrow: Down 198">
            <a:extLst>
              <a:ext uri="{FF2B5EF4-FFF2-40B4-BE49-F238E27FC236}">
                <a16:creationId xmlns:a16="http://schemas.microsoft.com/office/drawing/2014/main" id="{F277BC93-0A80-C889-3B9B-F2B7E9E59126}"/>
              </a:ext>
            </a:extLst>
          </p:cNvPr>
          <p:cNvSpPr/>
          <p:nvPr/>
        </p:nvSpPr>
        <p:spPr>
          <a:xfrm>
            <a:off x="2568274" y="1520160"/>
            <a:ext cx="215981" cy="234662"/>
          </a:xfrm>
          <a:prstGeom prst="downArrow">
            <a:avLst/>
          </a:prstGeom>
          <a:solidFill>
            <a:schemeClr val="accent6">
              <a:lumMod val="60000"/>
              <a:lumOff val="4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1" name="TextBox 200">
            <a:extLst>
              <a:ext uri="{FF2B5EF4-FFF2-40B4-BE49-F238E27FC236}">
                <a16:creationId xmlns:a16="http://schemas.microsoft.com/office/drawing/2014/main" id="{4C29C000-9DA5-FD8B-441C-23B392E8DA59}"/>
              </a:ext>
            </a:extLst>
          </p:cNvPr>
          <p:cNvSpPr txBox="1"/>
          <p:nvPr/>
        </p:nvSpPr>
        <p:spPr>
          <a:xfrm>
            <a:off x="5658698" y="2832034"/>
            <a:ext cx="999529" cy="646331"/>
          </a:xfrm>
          <a:prstGeom prst="rect">
            <a:avLst/>
          </a:prstGeom>
          <a:noFill/>
        </p:spPr>
        <p:txBody>
          <a:bodyPr wrap="square" rtlCol="0">
            <a:spAutoFit/>
          </a:bodyPr>
          <a:lstStyle/>
          <a:p>
            <a:pPr algn="ctr"/>
            <a:r>
              <a:rPr lang="en-IN" sz="900"/>
              <a:t>Distance &amp; transportation cost are the deciding factor</a:t>
            </a:r>
          </a:p>
        </p:txBody>
      </p:sp>
      <p:grpSp>
        <p:nvGrpSpPr>
          <p:cNvPr id="224" name="Group 223">
            <a:extLst>
              <a:ext uri="{FF2B5EF4-FFF2-40B4-BE49-F238E27FC236}">
                <a16:creationId xmlns:a16="http://schemas.microsoft.com/office/drawing/2014/main" id="{FED4CD3D-445F-B175-F522-2348E5E1C3D8}"/>
              </a:ext>
            </a:extLst>
          </p:cNvPr>
          <p:cNvGrpSpPr/>
          <p:nvPr/>
        </p:nvGrpSpPr>
        <p:grpSpPr>
          <a:xfrm>
            <a:off x="107119" y="5439279"/>
            <a:ext cx="6579885" cy="460971"/>
            <a:chOff x="6670856" y="5648856"/>
            <a:chExt cx="4761821" cy="559809"/>
          </a:xfrm>
        </p:grpSpPr>
        <p:sp>
          <p:nvSpPr>
            <p:cNvPr id="222" name="Rectangle 221">
              <a:extLst>
                <a:ext uri="{FF2B5EF4-FFF2-40B4-BE49-F238E27FC236}">
                  <a16:creationId xmlns:a16="http://schemas.microsoft.com/office/drawing/2014/main" id="{39D37685-2EFC-FBC2-B601-520645CAA1D5}"/>
                </a:ext>
              </a:extLst>
            </p:cNvPr>
            <p:cNvSpPr/>
            <p:nvPr/>
          </p:nvSpPr>
          <p:spPr>
            <a:xfrm>
              <a:off x="6670856" y="5656434"/>
              <a:ext cx="2309954" cy="55223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b="1">
                  <a:solidFill>
                    <a:schemeClr val="tx1"/>
                  </a:solidFill>
                </a:rPr>
                <a:t>1 RNG plant needs 200000 ton/year;</a:t>
              </a:r>
            </a:p>
            <a:p>
              <a:pPr algn="ctr"/>
              <a:r>
                <a:rPr lang="en-IN" sz="1200" b="1">
                  <a:solidFill>
                    <a:schemeClr val="tx1"/>
                  </a:solidFill>
                </a:rPr>
                <a:t>6 plants = 1.2 million ton/year</a:t>
              </a:r>
            </a:p>
          </p:txBody>
        </p:sp>
        <p:sp>
          <p:nvSpPr>
            <p:cNvPr id="223" name="Rectangle 222">
              <a:extLst>
                <a:ext uri="{FF2B5EF4-FFF2-40B4-BE49-F238E27FC236}">
                  <a16:creationId xmlns:a16="http://schemas.microsoft.com/office/drawing/2014/main" id="{AD0EC7A9-E330-C2CF-A179-09BA139B9DDA}"/>
                </a:ext>
              </a:extLst>
            </p:cNvPr>
            <p:cNvSpPr/>
            <p:nvPr/>
          </p:nvSpPr>
          <p:spPr>
            <a:xfrm>
              <a:off x="9122723" y="5648856"/>
              <a:ext cx="2309954" cy="55037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b="1">
                  <a:solidFill>
                    <a:schemeClr val="tx1"/>
                  </a:solidFill>
                </a:rPr>
                <a:t>Total required stubble is 27% of Stubble available with large farmers.</a:t>
              </a:r>
            </a:p>
          </p:txBody>
        </p:sp>
      </p:grpSp>
      <p:sp>
        <p:nvSpPr>
          <p:cNvPr id="2" name="Google Shape;31;p1">
            <a:extLst>
              <a:ext uri="{FF2B5EF4-FFF2-40B4-BE49-F238E27FC236}">
                <a16:creationId xmlns:a16="http://schemas.microsoft.com/office/drawing/2014/main" id="{F903C8A1-E9CD-5A5B-C472-C79FABF32C9F}"/>
              </a:ext>
            </a:extLst>
          </p:cNvPr>
          <p:cNvSpPr txBox="1">
            <a:spLocks/>
          </p:cNvSpPr>
          <p:nvPr/>
        </p:nvSpPr>
        <p:spPr>
          <a:xfrm>
            <a:off x="-1" y="-1"/>
            <a:ext cx="12092631" cy="49614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200" b="1" i="0" u="none" strike="noStrike" cap="none">
                <a:solidFill>
                  <a:srgbClr val="6D0F14"/>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r>
              <a:rPr lang="en-IN" sz="1600"/>
              <a:t>While large farmers generate sufficient stubble, awareness among other farmers is key to remaining economically viable.</a:t>
            </a:r>
          </a:p>
        </p:txBody>
      </p:sp>
      <p:grpSp>
        <p:nvGrpSpPr>
          <p:cNvPr id="178" name="Group 177">
            <a:extLst>
              <a:ext uri="{FF2B5EF4-FFF2-40B4-BE49-F238E27FC236}">
                <a16:creationId xmlns:a16="http://schemas.microsoft.com/office/drawing/2014/main" id="{3C20DA3C-7E25-4280-42AE-FE07B8CDB912}"/>
              </a:ext>
            </a:extLst>
          </p:cNvPr>
          <p:cNvGrpSpPr/>
          <p:nvPr/>
        </p:nvGrpSpPr>
        <p:grpSpPr>
          <a:xfrm>
            <a:off x="194348" y="3819714"/>
            <a:ext cx="6473892" cy="186906"/>
            <a:chOff x="5370653" y="4186813"/>
            <a:chExt cx="6599504" cy="187838"/>
          </a:xfrm>
        </p:grpSpPr>
        <p:cxnSp>
          <p:nvCxnSpPr>
            <p:cNvPr id="174" name="Straight Connector 173">
              <a:extLst>
                <a:ext uri="{FF2B5EF4-FFF2-40B4-BE49-F238E27FC236}">
                  <a16:creationId xmlns:a16="http://schemas.microsoft.com/office/drawing/2014/main" id="{AA2997D6-6669-5DB7-0F1C-3C9712EA422B}"/>
                </a:ext>
              </a:extLst>
            </p:cNvPr>
            <p:cNvCxnSpPr/>
            <p:nvPr/>
          </p:nvCxnSpPr>
          <p:spPr>
            <a:xfrm flipV="1">
              <a:off x="5370653" y="4186813"/>
              <a:ext cx="300942" cy="185911"/>
            </a:xfrm>
            <a:prstGeom prst="line">
              <a:avLst/>
            </a:prstGeom>
          </p:spPr>
          <p:style>
            <a:lnRef idx="2">
              <a:schemeClr val="accent6"/>
            </a:lnRef>
            <a:fillRef idx="0">
              <a:schemeClr val="accent6"/>
            </a:fillRef>
            <a:effectRef idx="1">
              <a:schemeClr val="accent6"/>
            </a:effectRef>
            <a:fontRef idx="minor">
              <a:schemeClr val="tx1"/>
            </a:fontRef>
          </p:style>
        </p:cxnSp>
        <p:cxnSp>
          <p:nvCxnSpPr>
            <p:cNvPr id="176" name="Straight Connector 175">
              <a:extLst>
                <a:ext uri="{FF2B5EF4-FFF2-40B4-BE49-F238E27FC236}">
                  <a16:creationId xmlns:a16="http://schemas.microsoft.com/office/drawing/2014/main" id="{85B286A8-E4E2-2E03-17F6-EB23613C64DF}"/>
                </a:ext>
              </a:extLst>
            </p:cNvPr>
            <p:cNvCxnSpPr/>
            <p:nvPr/>
          </p:nvCxnSpPr>
          <p:spPr>
            <a:xfrm>
              <a:off x="5671595" y="4186813"/>
              <a:ext cx="6000704"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77" name="Straight Connector 176">
              <a:extLst>
                <a:ext uri="{FF2B5EF4-FFF2-40B4-BE49-F238E27FC236}">
                  <a16:creationId xmlns:a16="http://schemas.microsoft.com/office/drawing/2014/main" id="{85DE2885-D746-A4C1-5773-3C477408B72B}"/>
                </a:ext>
              </a:extLst>
            </p:cNvPr>
            <p:cNvCxnSpPr>
              <a:cxnSpLocks/>
            </p:cNvCxnSpPr>
            <p:nvPr/>
          </p:nvCxnSpPr>
          <p:spPr>
            <a:xfrm flipH="1" flipV="1">
              <a:off x="11669215" y="4188740"/>
              <a:ext cx="300942" cy="18591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83" name="Arrow: Down 182">
            <a:extLst>
              <a:ext uri="{FF2B5EF4-FFF2-40B4-BE49-F238E27FC236}">
                <a16:creationId xmlns:a16="http://schemas.microsoft.com/office/drawing/2014/main" id="{9BFB0758-F003-5708-AB58-AD4D713A86B5}"/>
              </a:ext>
            </a:extLst>
          </p:cNvPr>
          <p:cNvSpPr/>
          <p:nvPr/>
        </p:nvSpPr>
        <p:spPr>
          <a:xfrm>
            <a:off x="2864701" y="3477680"/>
            <a:ext cx="333308" cy="295726"/>
          </a:xfrm>
          <a:prstGeom prst="downArrow">
            <a:avLst>
              <a:gd name="adj1" fmla="val 50000"/>
              <a:gd name="adj2" fmla="val 46528"/>
            </a:avLst>
          </a:prstGeom>
          <a:ln/>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200" name="Double Brace 199">
            <a:extLst>
              <a:ext uri="{FF2B5EF4-FFF2-40B4-BE49-F238E27FC236}">
                <a16:creationId xmlns:a16="http://schemas.microsoft.com/office/drawing/2014/main" id="{0F7827A7-56A9-D4D8-9249-6636E5757209}"/>
              </a:ext>
            </a:extLst>
          </p:cNvPr>
          <p:cNvSpPr/>
          <p:nvPr/>
        </p:nvSpPr>
        <p:spPr>
          <a:xfrm>
            <a:off x="5653661" y="2839204"/>
            <a:ext cx="967483" cy="641908"/>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0" name="Rectangle: Rounded Corners 209">
            <a:extLst>
              <a:ext uri="{FF2B5EF4-FFF2-40B4-BE49-F238E27FC236}">
                <a16:creationId xmlns:a16="http://schemas.microsoft.com/office/drawing/2014/main" id="{2EAD53BA-220D-ED7D-8FE2-85A4BB0E4A5A}"/>
              </a:ext>
            </a:extLst>
          </p:cNvPr>
          <p:cNvSpPr/>
          <p:nvPr/>
        </p:nvSpPr>
        <p:spPr>
          <a:xfrm>
            <a:off x="114157" y="4823858"/>
            <a:ext cx="3701186" cy="436037"/>
          </a:xfrm>
          <a:prstGeom prst="roundRect">
            <a:avLst/>
          </a:prstGeom>
          <a:solidFill>
            <a:schemeClr val="accent3">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rPr>
              <a:t>Fragmented land holding making procurement costly and inefficient</a:t>
            </a:r>
          </a:p>
        </p:txBody>
      </p:sp>
      <p:sp>
        <p:nvSpPr>
          <p:cNvPr id="211" name="Rectangle: Rounded Corners 210">
            <a:extLst>
              <a:ext uri="{FF2B5EF4-FFF2-40B4-BE49-F238E27FC236}">
                <a16:creationId xmlns:a16="http://schemas.microsoft.com/office/drawing/2014/main" id="{D92F4C71-F1E9-F27E-C2A9-C267A6C376E9}"/>
              </a:ext>
            </a:extLst>
          </p:cNvPr>
          <p:cNvSpPr/>
          <p:nvPr/>
        </p:nvSpPr>
        <p:spPr>
          <a:xfrm>
            <a:off x="3996901" y="4823437"/>
            <a:ext cx="2538152" cy="436308"/>
          </a:xfrm>
          <a:prstGeom prst="roundRect">
            <a:avLst/>
          </a:prstGeom>
          <a:solidFill>
            <a:schemeClr val="accent3">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rPr>
              <a:t>Larger land holdings. Potential targets for procurement</a:t>
            </a:r>
          </a:p>
        </p:txBody>
      </p:sp>
      <p:sp>
        <p:nvSpPr>
          <p:cNvPr id="212" name="Left Brace 211">
            <a:extLst>
              <a:ext uri="{FF2B5EF4-FFF2-40B4-BE49-F238E27FC236}">
                <a16:creationId xmlns:a16="http://schemas.microsoft.com/office/drawing/2014/main" id="{436D0AED-E773-988F-2F9D-1A6C52F96797}"/>
              </a:ext>
            </a:extLst>
          </p:cNvPr>
          <p:cNvSpPr/>
          <p:nvPr/>
        </p:nvSpPr>
        <p:spPr>
          <a:xfrm rot="16200000">
            <a:off x="1931612" y="2848679"/>
            <a:ext cx="232601" cy="3790893"/>
          </a:xfrm>
          <a:prstGeom prst="leftBrace">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IN"/>
          </a:p>
        </p:txBody>
      </p:sp>
      <p:sp>
        <p:nvSpPr>
          <p:cNvPr id="213" name="Left Brace 212">
            <a:extLst>
              <a:ext uri="{FF2B5EF4-FFF2-40B4-BE49-F238E27FC236}">
                <a16:creationId xmlns:a16="http://schemas.microsoft.com/office/drawing/2014/main" id="{BE173A44-C796-86B1-F07E-2AA3C75A2ECB}"/>
              </a:ext>
            </a:extLst>
          </p:cNvPr>
          <p:cNvSpPr/>
          <p:nvPr/>
        </p:nvSpPr>
        <p:spPr>
          <a:xfrm rot="16200000">
            <a:off x="5155130" y="3479140"/>
            <a:ext cx="247858" cy="2551502"/>
          </a:xfrm>
          <a:prstGeom prst="leftBrace">
            <a:avLst/>
          </a:pr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en-IN"/>
          </a:p>
        </p:txBody>
      </p:sp>
      <p:grpSp>
        <p:nvGrpSpPr>
          <p:cNvPr id="53" name="Group 52">
            <a:extLst>
              <a:ext uri="{FF2B5EF4-FFF2-40B4-BE49-F238E27FC236}">
                <a16:creationId xmlns:a16="http://schemas.microsoft.com/office/drawing/2014/main" id="{96556FFB-A947-B23D-F4BF-E5402ED8E80A}"/>
              </a:ext>
            </a:extLst>
          </p:cNvPr>
          <p:cNvGrpSpPr/>
          <p:nvPr/>
        </p:nvGrpSpPr>
        <p:grpSpPr>
          <a:xfrm>
            <a:off x="53197" y="6638003"/>
            <a:ext cx="11948715" cy="195823"/>
            <a:chOff x="53197" y="6638003"/>
            <a:chExt cx="11948715" cy="195823"/>
          </a:xfrm>
        </p:grpSpPr>
        <p:sp>
          <p:nvSpPr>
            <p:cNvPr id="43" name="Arrow: Pentagon 42">
              <a:extLst>
                <a:ext uri="{FF2B5EF4-FFF2-40B4-BE49-F238E27FC236}">
                  <a16:creationId xmlns:a16="http://schemas.microsoft.com/office/drawing/2014/main" id="{094EAF9E-E4BF-E842-3734-1FDC3E26C624}"/>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44" name="Arrow: Chevron 43">
              <a:extLst>
                <a:ext uri="{FF2B5EF4-FFF2-40B4-BE49-F238E27FC236}">
                  <a16:creationId xmlns:a16="http://schemas.microsoft.com/office/drawing/2014/main" id="{B31379DB-F20C-9B86-EC6C-4BB80945D818}"/>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45" name="Arrow: Chevron 44">
              <a:extLst>
                <a:ext uri="{FF2B5EF4-FFF2-40B4-BE49-F238E27FC236}">
                  <a16:creationId xmlns:a16="http://schemas.microsoft.com/office/drawing/2014/main" id="{374BF200-B9F2-0215-C4BD-34A705548318}"/>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SC Analysis</a:t>
              </a:r>
              <a:endParaRPr lang="en-US"/>
            </a:p>
          </p:txBody>
        </p:sp>
        <p:sp>
          <p:nvSpPr>
            <p:cNvPr id="46" name="Arrow: Chevron 45">
              <a:extLst>
                <a:ext uri="{FF2B5EF4-FFF2-40B4-BE49-F238E27FC236}">
                  <a16:creationId xmlns:a16="http://schemas.microsoft.com/office/drawing/2014/main" id="{95BB365A-7107-D079-AE52-A5C549E41C1F}"/>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47" name="Arrow: Chevron 46">
              <a:extLst>
                <a:ext uri="{FF2B5EF4-FFF2-40B4-BE49-F238E27FC236}">
                  <a16:creationId xmlns:a16="http://schemas.microsoft.com/office/drawing/2014/main" id="{F0449AA3-7D5B-E816-32B1-B6C93B9B6DB4}"/>
                </a:ext>
              </a:extLst>
            </p:cNvPr>
            <p:cNvSpPr/>
            <p:nvPr/>
          </p:nvSpPr>
          <p:spPr>
            <a:xfrm>
              <a:off x="4930058" y="6642919"/>
              <a:ext cx="1178643" cy="182305"/>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Surveying</a:t>
              </a:r>
              <a:endParaRPr lang="en-US" sz="1050">
                <a:solidFill>
                  <a:schemeClr val="bg1"/>
                </a:solidFill>
                <a:cs typeface="Arial"/>
              </a:endParaRPr>
            </a:p>
          </p:txBody>
        </p:sp>
        <p:sp>
          <p:nvSpPr>
            <p:cNvPr id="48" name="Arrow: Chevron 47">
              <a:extLst>
                <a:ext uri="{FF2B5EF4-FFF2-40B4-BE49-F238E27FC236}">
                  <a16:creationId xmlns:a16="http://schemas.microsoft.com/office/drawing/2014/main" id="{40881704-5E65-EC68-1BFA-E3082D7D904E}"/>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49" name="Arrow: Chevron 48">
              <a:extLst>
                <a:ext uri="{FF2B5EF4-FFF2-40B4-BE49-F238E27FC236}">
                  <a16:creationId xmlns:a16="http://schemas.microsoft.com/office/drawing/2014/main" id="{9C248478-1277-107C-35AF-55D8FE525A08}"/>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50" name="Arrow: Chevron 49">
              <a:extLst>
                <a:ext uri="{FF2B5EF4-FFF2-40B4-BE49-F238E27FC236}">
                  <a16:creationId xmlns:a16="http://schemas.microsoft.com/office/drawing/2014/main" id="{3889EA8A-10AB-746E-A109-2976BF23143B}"/>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51" name="Arrow: Chevron 50">
              <a:extLst>
                <a:ext uri="{FF2B5EF4-FFF2-40B4-BE49-F238E27FC236}">
                  <a16:creationId xmlns:a16="http://schemas.microsoft.com/office/drawing/2014/main" id="{AA1D9332-40B9-4B75-59CE-19D00791D7C4}"/>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52" name="Arrow: Chevron 51">
              <a:extLst>
                <a:ext uri="{FF2B5EF4-FFF2-40B4-BE49-F238E27FC236}">
                  <a16:creationId xmlns:a16="http://schemas.microsoft.com/office/drawing/2014/main" id="{B9A70C6B-8C6C-E36E-162C-56C2EFF4944E}"/>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graphicFrame>
        <p:nvGraphicFramePr>
          <p:cNvPr id="5" name="Table 3">
            <a:extLst>
              <a:ext uri="{FF2B5EF4-FFF2-40B4-BE49-F238E27FC236}">
                <a16:creationId xmlns:a16="http://schemas.microsoft.com/office/drawing/2014/main" id="{DA9B1749-94FA-4051-7A75-E35502E9A395}"/>
              </a:ext>
            </a:extLst>
          </p:cNvPr>
          <p:cNvGraphicFramePr>
            <a:graphicFrameLocks noGrp="1"/>
          </p:cNvGraphicFramePr>
          <p:nvPr>
            <p:extLst>
              <p:ext uri="{D42A27DB-BD31-4B8C-83A1-F6EECF244321}">
                <p14:modId xmlns:p14="http://schemas.microsoft.com/office/powerpoint/2010/main" val="2316508684"/>
              </p:ext>
            </p:extLst>
          </p:nvPr>
        </p:nvGraphicFramePr>
        <p:xfrm>
          <a:off x="6815046" y="886615"/>
          <a:ext cx="5313325" cy="2844876"/>
        </p:xfrm>
        <a:graphic>
          <a:graphicData uri="http://schemas.openxmlformats.org/drawingml/2006/table">
            <a:tbl>
              <a:tblPr firstRow="1" bandRow="1">
                <a:tableStyleId>{912C8C85-51F0-491E-9774-3900AFEF0FD7}</a:tableStyleId>
              </a:tblPr>
              <a:tblGrid>
                <a:gridCol w="1004710">
                  <a:extLst>
                    <a:ext uri="{9D8B030D-6E8A-4147-A177-3AD203B41FA5}">
                      <a16:colId xmlns:a16="http://schemas.microsoft.com/office/drawing/2014/main" val="3275482400"/>
                    </a:ext>
                  </a:extLst>
                </a:gridCol>
                <a:gridCol w="1500217">
                  <a:extLst>
                    <a:ext uri="{9D8B030D-6E8A-4147-A177-3AD203B41FA5}">
                      <a16:colId xmlns:a16="http://schemas.microsoft.com/office/drawing/2014/main" val="2986033029"/>
                    </a:ext>
                  </a:extLst>
                </a:gridCol>
                <a:gridCol w="2808398">
                  <a:extLst>
                    <a:ext uri="{9D8B030D-6E8A-4147-A177-3AD203B41FA5}">
                      <a16:colId xmlns:a16="http://schemas.microsoft.com/office/drawing/2014/main" val="3533169205"/>
                    </a:ext>
                  </a:extLst>
                </a:gridCol>
              </a:tblGrid>
              <a:tr h="365028">
                <a:tc>
                  <a:txBody>
                    <a:bodyPr/>
                    <a:lstStyle/>
                    <a:p>
                      <a:pPr algn="ctr"/>
                      <a:r>
                        <a:rPr lang="en-IN" sz="1000"/>
                        <a:t>Awareness factor</a:t>
                      </a:r>
                      <a:endParaRPr lang="en-IN" sz="1000">
                        <a:latin typeface="+mn-lt"/>
                        <a:ea typeface="Calibri" panose="020F0502020204030204" pitchFamily="34" charset="0"/>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sz="1000"/>
                        <a:t>Sub-factors</a:t>
                      </a:r>
                      <a:endParaRPr lang="en-IN" sz="1000">
                        <a:latin typeface="+mn-lt"/>
                        <a:ea typeface="Calibri" panose="020F0502020204030204" pitchFamily="34" charset="0"/>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sz="1000" dirty="0"/>
                        <a:t>Farmers (burning stubble)</a:t>
                      </a:r>
                      <a:endParaRPr lang="en-IN" sz="1000" dirty="0">
                        <a:latin typeface="+mn-lt"/>
                        <a:ea typeface="Calibri" panose="020F0502020204030204" pitchFamily="34" charset="0"/>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36796337"/>
                  </a:ext>
                </a:extLst>
              </a:tr>
              <a:tr h="645819">
                <a:tc rowSpan="2">
                  <a:txBody>
                    <a:bodyPr/>
                    <a:lstStyle/>
                    <a:p>
                      <a:pPr algn="ctr"/>
                      <a:r>
                        <a:rPr lang="en-US" sz="1000">
                          <a:solidFill>
                            <a:schemeClr val="tx1"/>
                          </a:solidFill>
                        </a:rPr>
                        <a:t>Economic</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a:solidFill>
                            <a:schemeClr val="tx1"/>
                          </a:solidFill>
                        </a:rPr>
                        <a:t>Government side</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a:buFont typeface="+mj-lt"/>
                        <a:buAutoNum type="arabicPeriod"/>
                      </a:pPr>
                      <a:r>
                        <a:rPr lang="en-US" sz="1000" dirty="0">
                          <a:solidFill>
                            <a:schemeClr val="tx1"/>
                          </a:solidFill>
                        </a:rPr>
                        <a:t>Rs.1000-Rs.2500/Acre fine on burning residue</a:t>
                      </a:r>
                    </a:p>
                    <a:p>
                      <a:pPr marL="342900" indent="-342900" algn="l">
                        <a:buFont typeface="+mj-lt"/>
                        <a:buAutoNum type="arabicPeriod"/>
                      </a:pPr>
                      <a:r>
                        <a:rPr lang="en-US" sz="1000" dirty="0">
                          <a:solidFill>
                            <a:schemeClr val="tx1"/>
                          </a:solidFill>
                        </a:rPr>
                        <a:t>Rs,1500-Rs.2500/Acre for using stubble management practices</a:t>
                      </a:r>
                      <a:endParaRPr lang="en-US" sz="10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199009"/>
                  </a:ext>
                </a:extLst>
              </a:tr>
              <a:tr h="365028">
                <a:tc vMerge="1">
                  <a:txBody>
                    <a:bodyPr/>
                    <a:lstStyle/>
                    <a:p>
                      <a:pPr algn="ctr"/>
                      <a:endParaRPr lang="en-IN" sz="900">
                        <a:latin typeface="+mn-lt"/>
                      </a:endParaRPr>
                    </a:p>
                  </a:txBody>
                  <a:tcPr anchor="ctr"/>
                </a:tc>
                <a:tc>
                  <a:txBody>
                    <a:bodyPr/>
                    <a:lstStyle/>
                    <a:p>
                      <a:pPr algn="ctr"/>
                      <a:r>
                        <a:rPr lang="en-US" sz="1000">
                          <a:solidFill>
                            <a:schemeClr val="tx1"/>
                          </a:solidFill>
                        </a:rPr>
                        <a:t>Business side</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dirty="0">
                          <a:solidFill>
                            <a:schemeClr val="tx1"/>
                          </a:solidFill>
                        </a:rPr>
                        <a:t>Economic value of stubble if sold to service provider or RNG power plants</a:t>
                      </a:r>
                      <a:endParaRPr lang="en-IN" sz="10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8341170"/>
                  </a:ext>
                </a:extLst>
              </a:tr>
              <a:tr h="539912">
                <a:tc rowSpan="2">
                  <a:txBody>
                    <a:bodyPr/>
                    <a:lstStyle/>
                    <a:p>
                      <a:pPr algn="ctr"/>
                      <a:r>
                        <a:rPr lang="en-US" sz="1000">
                          <a:solidFill>
                            <a:schemeClr val="tx1"/>
                          </a:solidFill>
                        </a:rPr>
                        <a:t>Ecological</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a:solidFill>
                            <a:schemeClr val="tx1"/>
                          </a:solidFill>
                        </a:rPr>
                        <a:t>Soil benefits</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a:buFont typeface="+mj-lt"/>
                        <a:buAutoNum type="arabicPeriod"/>
                      </a:pPr>
                      <a:r>
                        <a:rPr lang="en-US" sz="1000" dirty="0">
                          <a:solidFill>
                            <a:schemeClr val="tx1"/>
                          </a:solidFill>
                        </a:rPr>
                        <a:t>Micro-organisms and small creatures such as earthworms that enrich the soil</a:t>
                      </a:r>
                    </a:p>
                    <a:p>
                      <a:pPr marL="342900" indent="-342900" algn="l">
                        <a:buFont typeface="+mj-lt"/>
                        <a:buAutoNum type="arabicPeriod"/>
                      </a:pPr>
                      <a:r>
                        <a:rPr lang="en-IN" sz="1000" dirty="0">
                          <a:solidFill>
                            <a:schemeClr val="tx1"/>
                          </a:solidFill>
                        </a:rPr>
                        <a:t>Burning of stubble is harmful the soil</a:t>
                      </a:r>
                      <a:endParaRPr lang="en-US" sz="10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494296"/>
                  </a:ext>
                </a:extLst>
              </a:tr>
              <a:tr h="539912">
                <a:tc vMerge="1">
                  <a:txBody>
                    <a:bodyPr/>
                    <a:lstStyle/>
                    <a:p>
                      <a:pPr algn="ctr"/>
                      <a:endParaRPr lang="en-IN" sz="900">
                        <a:latin typeface="+mn-lt"/>
                      </a:endParaRPr>
                    </a:p>
                  </a:txBody>
                  <a:tcPr anchor="ctr"/>
                </a:tc>
                <a:tc>
                  <a:txBody>
                    <a:bodyPr/>
                    <a:lstStyle/>
                    <a:p>
                      <a:pPr algn="ctr"/>
                      <a:r>
                        <a:rPr lang="en-US" sz="1000">
                          <a:solidFill>
                            <a:schemeClr val="tx1"/>
                          </a:solidFill>
                        </a:rPr>
                        <a:t>Urging to farmers conscience</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a:buFont typeface="+mj-lt"/>
                        <a:buAutoNum type="arabicPeriod"/>
                      </a:pPr>
                      <a:r>
                        <a:rPr lang="en-US" sz="1000">
                          <a:solidFill>
                            <a:schemeClr val="tx1"/>
                          </a:solidFill>
                        </a:rPr>
                        <a:t>Awareness regarding pollution and ecological impact of burning. </a:t>
                      </a:r>
                    </a:p>
                    <a:p>
                      <a:pPr marL="342900" indent="-342900" algn="l">
                        <a:buFont typeface="+mj-lt"/>
                        <a:buAutoNum type="arabicPeriod"/>
                      </a:pPr>
                      <a:r>
                        <a:rPr lang="en-US" sz="1000">
                          <a:solidFill>
                            <a:schemeClr val="tx1"/>
                          </a:solidFill>
                        </a:rPr>
                        <a:t>Impact on energy crisis management </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6295998"/>
                  </a:ext>
                </a:extLst>
              </a:tr>
              <a:tr h="254076">
                <a:tc gridSpan="2">
                  <a:txBody>
                    <a:bodyPr/>
                    <a:lstStyle/>
                    <a:p>
                      <a:pPr algn="ctr"/>
                      <a:r>
                        <a:rPr lang="en-US" sz="1000">
                          <a:solidFill>
                            <a:schemeClr val="tx1"/>
                          </a:solidFill>
                        </a:rPr>
                        <a:t>Personal Health</a:t>
                      </a:r>
                      <a:endParaRPr lang="en-IN" sz="100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sz="1400">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00" dirty="0">
                          <a:solidFill>
                            <a:schemeClr val="tx1"/>
                          </a:solidFill>
                        </a:rPr>
                        <a:t>Fine particles penetrating deep into lungs</a:t>
                      </a:r>
                      <a:endParaRPr lang="en-IN" sz="1000" dirty="0">
                        <a:solidFill>
                          <a:schemeClr val="tx1"/>
                        </a:solidFill>
                        <a:latin typeface="+mn-lt"/>
                        <a:ea typeface="Calibri" panose="020F0502020204030204" pitchFamily="34" charset="0"/>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247047"/>
                  </a:ext>
                </a:extLst>
              </a:tr>
            </a:tbl>
          </a:graphicData>
        </a:graphic>
      </p:graphicFrame>
      <p:grpSp>
        <p:nvGrpSpPr>
          <p:cNvPr id="17" name="Group 16">
            <a:extLst>
              <a:ext uri="{FF2B5EF4-FFF2-40B4-BE49-F238E27FC236}">
                <a16:creationId xmlns:a16="http://schemas.microsoft.com/office/drawing/2014/main" id="{32FDECC9-9F4C-31E4-57BC-81F3F34564EC}"/>
              </a:ext>
            </a:extLst>
          </p:cNvPr>
          <p:cNvGrpSpPr/>
          <p:nvPr/>
        </p:nvGrpSpPr>
        <p:grpSpPr>
          <a:xfrm>
            <a:off x="6811416" y="3826160"/>
            <a:ext cx="5313325" cy="2175364"/>
            <a:chOff x="6905412" y="3883304"/>
            <a:chExt cx="5215206" cy="2175364"/>
          </a:xfrm>
        </p:grpSpPr>
        <p:sp>
          <p:nvSpPr>
            <p:cNvPr id="13" name="Rectangle 12">
              <a:extLst>
                <a:ext uri="{FF2B5EF4-FFF2-40B4-BE49-F238E27FC236}">
                  <a16:creationId xmlns:a16="http://schemas.microsoft.com/office/drawing/2014/main" id="{6C165EA4-2610-A914-94A9-76CF1EDAAE25}"/>
                </a:ext>
              </a:extLst>
            </p:cNvPr>
            <p:cNvSpPr/>
            <p:nvPr/>
          </p:nvSpPr>
          <p:spPr>
            <a:xfrm>
              <a:off x="6905412" y="3883304"/>
              <a:ext cx="2481404" cy="434053"/>
            </a:xfrm>
            <a:prstGeom prst="rect">
              <a:avLst/>
            </a:prstGeom>
            <a:solidFill>
              <a:srgbClr val="7D3C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t>BRAND INRODUCTION</a:t>
              </a:r>
            </a:p>
          </p:txBody>
        </p:sp>
        <p:sp>
          <p:nvSpPr>
            <p:cNvPr id="14" name="Rectangle 13">
              <a:extLst>
                <a:ext uri="{FF2B5EF4-FFF2-40B4-BE49-F238E27FC236}">
                  <a16:creationId xmlns:a16="http://schemas.microsoft.com/office/drawing/2014/main" id="{151828B4-1260-97DC-D127-32302B08DB06}"/>
                </a:ext>
              </a:extLst>
            </p:cNvPr>
            <p:cNvSpPr/>
            <p:nvPr/>
          </p:nvSpPr>
          <p:spPr>
            <a:xfrm>
              <a:off x="9636025" y="3883304"/>
              <a:ext cx="2481404" cy="434053"/>
            </a:xfrm>
            <a:prstGeom prst="rect">
              <a:avLst/>
            </a:prstGeom>
            <a:solidFill>
              <a:srgbClr val="7D3C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t>General Awareness</a:t>
              </a:r>
            </a:p>
          </p:txBody>
        </p:sp>
        <p:sp>
          <p:nvSpPr>
            <p:cNvPr id="15" name="Rectangle 14">
              <a:extLst>
                <a:ext uri="{FF2B5EF4-FFF2-40B4-BE49-F238E27FC236}">
                  <a16:creationId xmlns:a16="http://schemas.microsoft.com/office/drawing/2014/main" id="{B269B35B-1877-0E8F-A6DF-8376DF8EE183}"/>
                </a:ext>
              </a:extLst>
            </p:cNvPr>
            <p:cNvSpPr/>
            <p:nvPr/>
          </p:nvSpPr>
          <p:spPr>
            <a:xfrm>
              <a:off x="6905412" y="4317357"/>
              <a:ext cx="2481404" cy="1741311"/>
            </a:xfrm>
            <a:prstGeom prst="rect">
              <a:avLst/>
            </a:prstGeom>
            <a:solidFill>
              <a:srgbClr val="D8D0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lvl="0" indent="-285750" algn="l">
                <a:buFont typeface="Arial" panose="020B0604020202020204" pitchFamily="34" charset="0"/>
                <a:buChar char="•"/>
              </a:pPr>
              <a:r>
                <a:rPr lang="en-IN" sz="1200" b="1" i="0">
                  <a:solidFill>
                    <a:schemeClr val="tx1"/>
                  </a:solidFill>
                </a:rPr>
                <a:t>Farmers' Engagement : </a:t>
              </a:r>
              <a:r>
                <a:rPr lang="en-IN" sz="1200" b="0" i="0">
                  <a:solidFill>
                    <a:schemeClr val="tx1"/>
                  </a:solidFill>
                </a:rPr>
                <a:t>Introduce</a:t>
              </a:r>
              <a:r>
                <a:rPr lang="en-US" sz="1200" b="0" i="0">
                  <a:solidFill>
                    <a:schemeClr val="tx1"/>
                  </a:solidFill>
                </a:rPr>
                <a:t> the brand and build as a trustworthy and reliable partner.</a:t>
              </a:r>
              <a:endParaRPr lang="en-IN" sz="1200">
                <a:solidFill>
                  <a:schemeClr val="tx1"/>
                </a:solidFill>
              </a:endParaRPr>
            </a:p>
            <a:p>
              <a:pPr marL="285750" lvl="0" indent="-285750" algn="l">
                <a:buFont typeface="Arial" panose="020B0604020202020204" pitchFamily="34" charset="0"/>
                <a:buChar char="•"/>
              </a:pPr>
              <a:r>
                <a:rPr lang="en-IN" sz="1200" b="1" i="0">
                  <a:solidFill>
                    <a:schemeClr val="tx1"/>
                  </a:solidFill>
                </a:rPr>
                <a:t>Long-Term Partnership : </a:t>
              </a:r>
              <a:r>
                <a:rPr lang="en-US" sz="1200" b="1" i="0">
                  <a:solidFill>
                    <a:schemeClr val="tx1"/>
                  </a:solidFill>
                </a:rPr>
                <a:t> </a:t>
              </a:r>
              <a:r>
                <a:rPr lang="en-US" sz="1200" b="0" i="0">
                  <a:solidFill>
                    <a:schemeClr val="tx1"/>
                  </a:solidFill>
                </a:rPr>
                <a:t>Benefits of collaborating with our brand, stable income, environmental impact, and mutual growth.</a:t>
              </a:r>
              <a:endParaRPr lang="en-IN" sz="1200">
                <a:solidFill>
                  <a:schemeClr val="tx1"/>
                </a:solidFill>
              </a:endParaRPr>
            </a:p>
          </p:txBody>
        </p:sp>
        <p:sp>
          <p:nvSpPr>
            <p:cNvPr id="16" name="Rectangle 15">
              <a:extLst>
                <a:ext uri="{FF2B5EF4-FFF2-40B4-BE49-F238E27FC236}">
                  <a16:creationId xmlns:a16="http://schemas.microsoft.com/office/drawing/2014/main" id="{DBAEA7AA-49E8-F1D1-9296-A14C9BD29BE1}"/>
                </a:ext>
              </a:extLst>
            </p:cNvPr>
            <p:cNvSpPr/>
            <p:nvPr/>
          </p:nvSpPr>
          <p:spPr>
            <a:xfrm>
              <a:off x="9639214" y="4317356"/>
              <a:ext cx="2481404" cy="1741311"/>
            </a:xfrm>
            <a:prstGeom prst="rect">
              <a:avLst/>
            </a:prstGeom>
            <a:solidFill>
              <a:srgbClr val="D8D0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lvl="0" indent="-171450">
                <a:buFont typeface="Arial" panose="020B0604020202020204" pitchFamily="34" charset="0"/>
                <a:buChar char="•"/>
              </a:pPr>
              <a:r>
                <a:rPr lang="en-US" sz="1200" b="1" i="0" dirty="0">
                  <a:solidFill>
                    <a:schemeClr val="tx1"/>
                  </a:solidFill>
                </a:rPr>
                <a:t>Demonstration Farms:</a:t>
              </a:r>
              <a:r>
                <a:rPr lang="en-US" sz="1200" b="0" i="0" dirty="0">
                  <a:solidFill>
                    <a:schemeClr val="tx1"/>
                  </a:solidFill>
                </a:rPr>
                <a:t> Set up model farms where stubble utilization is showcased to inspire farmers.</a:t>
              </a:r>
              <a:endParaRPr lang="en-IN" sz="1200" dirty="0">
                <a:solidFill>
                  <a:schemeClr val="tx1"/>
                </a:solidFill>
              </a:endParaRPr>
            </a:p>
            <a:p>
              <a:pPr marL="171450" lvl="0" indent="-171450">
                <a:buFont typeface="Arial" panose="020B0604020202020204" pitchFamily="34" charset="0"/>
                <a:buChar char="•"/>
              </a:pPr>
              <a:r>
                <a:rPr lang="en-US" sz="1200" b="1" i="0" dirty="0">
                  <a:solidFill>
                    <a:schemeClr val="tx1"/>
                  </a:solidFill>
                </a:rPr>
                <a:t>Village Meetings:</a:t>
              </a:r>
              <a:r>
                <a:rPr lang="en-US" sz="1200" b="0" i="0" dirty="0">
                  <a:solidFill>
                    <a:schemeClr val="tx1"/>
                  </a:solidFill>
                </a:rPr>
                <a:t> Organize gatherings where experts can interact with farmers and address their concerns about stubble burning </a:t>
              </a:r>
              <a:endParaRPr lang="en-IN" sz="1200" dirty="0">
                <a:solidFill>
                  <a:schemeClr val="tx1"/>
                </a:solidFill>
              </a:endParaRPr>
            </a:p>
            <a:p>
              <a:pPr algn="ctr"/>
              <a:endParaRPr lang="en-IN" dirty="0"/>
            </a:p>
          </p:txBody>
        </p:sp>
      </p:grpSp>
      <p:sp>
        <p:nvSpPr>
          <p:cNvPr id="26" name="Rectangle: Rounded Corners 25">
            <a:extLst>
              <a:ext uri="{FF2B5EF4-FFF2-40B4-BE49-F238E27FC236}">
                <a16:creationId xmlns:a16="http://schemas.microsoft.com/office/drawing/2014/main" id="{72A27983-3C09-6FA9-0D93-FCA63C0C8E8F}"/>
              </a:ext>
            </a:extLst>
          </p:cNvPr>
          <p:cNvSpPr/>
          <p:nvPr/>
        </p:nvSpPr>
        <p:spPr>
          <a:xfrm>
            <a:off x="6913206" y="6038348"/>
            <a:ext cx="5196528" cy="497590"/>
          </a:xfrm>
          <a:prstGeom prst="roundRect">
            <a:avLst/>
          </a:prstGeom>
          <a:solidFill>
            <a:schemeClr val="accent6">
              <a:lumMod val="60000"/>
              <a:lumOff val="4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effectLst/>
              </a:rPr>
              <a:t>35 million tonnes</a:t>
            </a:r>
            <a:r>
              <a:rPr lang="en-US" sz="1200">
                <a:solidFill>
                  <a:schemeClr val="bg1"/>
                </a:solidFill>
                <a:effectLst/>
              </a:rPr>
              <a:t> paddy straw are burnt in Punjab and Haryana alone making brand and awareness approaches extremely important</a:t>
            </a:r>
            <a:endParaRPr lang="en-IN" sz="1200">
              <a:solidFill>
                <a:schemeClr val="bg1"/>
              </a:solidFill>
            </a:endParaRPr>
          </a:p>
        </p:txBody>
      </p:sp>
      <p:sp>
        <p:nvSpPr>
          <p:cNvPr id="3" name="Rectangle 2">
            <a:extLst>
              <a:ext uri="{FF2B5EF4-FFF2-40B4-BE49-F238E27FC236}">
                <a16:creationId xmlns:a16="http://schemas.microsoft.com/office/drawing/2014/main" id="{92CE165A-CFEC-7467-7EC0-6094BAEA5611}"/>
              </a:ext>
            </a:extLst>
          </p:cNvPr>
          <p:cNvSpPr/>
          <p:nvPr/>
        </p:nvSpPr>
        <p:spPr>
          <a:xfrm>
            <a:off x="6811416" y="541032"/>
            <a:ext cx="5298318" cy="28722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r>
              <a:rPr lang="en-IN" b="1" dirty="0"/>
              <a:t>EDUCATING FARMERS</a:t>
            </a:r>
          </a:p>
        </p:txBody>
      </p:sp>
    </p:spTree>
    <p:extLst>
      <p:ext uri="{BB962C8B-B14F-4D97-AF65-F5344CB8AC3E}">
        <p14:creationId xmlns:p14="http://schemas.microsoft.com/office/powerpoint/2010/main" val="1874950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title"/>
          </p:nvPr>
        </p:nvSpPr>
        <p:spPr>
          <a:xfrm>
            <a:off x="94342" y="17890"/>
            <a:ext cx="11925299" cy="519480"/>
          </a:xfrm>
          <a:prstGeom prst="rect">
            <a:avLst/>
          </a:prstGeom>
          <a:noFill/>
          <a:ln>
            <a:noFill/>
          </a:ln>
        </p:spPr>
        <p:txBody>
          <a:bodyPr spcFirstLastPara="1" wrap="square" lIns="91425" tIns="45700" rIns="91425" bIns="45700" anchor="ctr" anchorCtr="0">
            <a:noAutofit/>
          </a:bodyPr>
          <a:lstStyle/>
          <a:p>
            <a:r>
              <a:rPr lang="en-IN" sz="1800"/>
              <a:t>Procurement should focus on Superior Channels in the short term, while exploring other optimal options. </a:t>
            </a:r>
            <a:endParaRPr lang="en-US" sz="1800"/>
          </a:p>
        </p:txBody>
      </p:sp>
      <p:grpSp>
        <p:nvGrpSpPr>
          <p:cNvPr id="2" name="Group 1">
            <a:extLst>
              <a:ext uri="{FF2B5EF4-FFF2-40B4-BE49-F238E27FC236}">
                <a16:creationId xmlns:a16="http://schemas.microsoft.com/office/drawing/2014/main" id="{ADDC10CA-A722-D52E-E5AE-0FBA3132FCBF}"/>
              </a:ext>
            </a:extLst>
          </p:cNvPr>
          <p:cNvGrpSpPr/>
          <p:nvPr/>
        </p:nvGrpSpPr>
        <p:grpSpPr>
          <a:xfrm>
            <a:off x="917208" y="4058011"/>
            <a:ext cx="10516964" cy="2475359"/>
            <a:chOff x="777237" y="473825"/>
            <a:chExt cx="10732105" cy="2594649"/>
          </a:xfrm>
        </p:grpSpPr>
        <p:sp>
          <p:nvSpPr>
            <p:cNvPr id="23" name="Google Shape;189;p6">
              <a:extLst>
                <a:ext uri="{FF2B5EF4-FFF2-40B4-BE49-F238E27FC236}">
                  <a16:creationId xmlns:a16="http://schemas.microsoft.com/office/drawing/2014/main" id="{5277932F-47DC-FA65-4BEA-74565B597312}"/>
                </a:ext>
              </a:extLst>
            </p:cNvPr>
            <p:cNvSpPr/>
            <p:nvPr/>
          </p:nvSpPr>
          <p:spPr>
            <a:xfrm>
              <a:off x="777237" y="846530"/>
              <a:ext cx="2092095" cy="692582"/>
            </a:xfrm>
            <a:prstGeom prst="homePlate">
              <a:avLst>
                <a:gd name="adj" fmla="val 50000"/>
              </a:avLst>
            </a:prstGeom>
            <a:solidFill>
              <a:schemeClr val="accent6"/>
            </a:solidFill>
            <a:ln>
              <a:noFill/>
            </a:ln>
          </p:spPr>
          <p:txBody>
            <a:bodyPr spcFirstLastPara="1" wrap="square" lIns="91425" tIns="45700" rIns="91425" bIns="45700" anchor="ctr" anchorCtr="0">
              <a:noAutofit/>
            </a:bodyPr>
            <a:lstStyle/>
            <a:p>
              <a:pPr algn="ctr"/>
              <a:r>
                <a:rPr lang="en-GB" sz="1300" b="1">
                  <a:solidFill>
                    <a:schemeClr val="lt1"/>
                  </a:solidFill>
                </a:rPr>
                <a:t>Forest Harvest Scheduling Problem</a:t>
              </a:r>
              <a:endParaRPr lang="en-US" sz="1300" b="1">
                <a:solidFill>
                  <a:schemeClr val="lt1"/>
                </a:solidFill>
                <a:latin typeface="Arial"/>
                <a:ea typeface="Arial"/>
                <a:cs typeface="Arial"/>
              </a:endParaRPr>
            </a:p>
          </p:txBody>
        </p:sp>
        <p:sp>
          <p:nvSpPr>
            <p:cNvPr id="25" name="Google Shape;191;p6">
              <a:extLst>
                <a:ext uri="{FF2B5EF4-FFF2-40B4-BE49-F238E27FC236}">
                  <a16:creationId xmlns:a16="http://schemas.microsoft.com/office/drawing/2014/main" id="{1CC54591-9AD5-C440-6EF1-DEB837C73989}"/>
                </a:ext>
              </a:extLst>
            </p:cNvPr>
            <p:cNvSpPr/>
            <p:nvPr/>
          </p:nvSpPr>
          <p:spPr>
            <a:xfrm>
              <a:off x="777237" y="1616611"/>
              <a:ext cx="2092095" cy="688306"/>
            </a:xfrm>
            <a:prstGeom prst="homePlate">
              <a:avLst>
                <a:gd name="adj" fmla="val 50000"/>
              </a:avLst>
            </a:prstGeom>
            <a:solidFill>
              <a:schemeClr val="accent6"/>
            </a:solidFill>
            <a:ln>
              <a:noFill/>
            </a:ln>
          </p:spPr>
          <p:txBody>
            <a:bodyPr spcFirstLastPara="1" wrap="square" lIns="91425" tIns="45700" rIns="91425" bIns="45700" anchor="ctr" anchorCtr="0">
              <a:noAutofit/>
            </a:bodyPr>
            <a:lstStyle/>
            <a:p>
              <a:pPr algn="ctr"/>
              <a:r>
                <a:rPr lang="en-GB" sz="1300" b="1">
                  <a:solidFill>
                    <a:schemeClr val="lt1"/>
                  </a:solidFill>
                </a:rPr>
                <a:t>Crop Harvesting Problem</a:t>
              </a:r>
              <a:endParaRPr lang="en-US" sz="1300">
                <a:solidFill>
                  <a:schemeClr val="lt1"/>
                </a:solidFill>
              </a:endParaRPr>
            </a:p>
          </p:txBody>
        </p:sp>
        <p:sp>
          <p:nvSpPr>
            <p:cNvPr id="27" name="Google Shape;195;p6">
              <a:extLst>
                <a:ext uri="{FF2B5EF4-FFF2-40B4-BE49-F238E27FC236}">
                  <a16:creationId xmlns:a16="http://schemas.microsoft.com/office/drawing/2014/main" id="{0B838979-ED21-AFBC-C009-5797C10F19AE}"/>
                </a:ext>
              </a:extLst>
            </p:cNvPr>
            <p:cNvSpPr/>
            <p:nvPr/>
          </p:nvSpPr>
          <p:spPr>
            <a:xfrm>
              <a:off x="777237" y="2374120"/>
              <a:ext cx="2092095" cy="694354"/>
            </a:xfrm>
            <a:prstGeom prst="homePlate">
              <a:avLst>
                <a:gd name="adj" fmla="val 50000"/>
              </a:avLst>
            </a:prstGeom>
            <a:solidFill>
              <a:schemeClr val="accent6"/>
            </a:solidFill>
            <a:ln>
              <a:noFill/>
            </a:ln>
          </p:spPr>
          <p:txBody>
            <a:bodyPr spcFirstLastPara="1" wrap="square" lIns="91425" tIns="45700" rIns="91425" bIns="45700" anchor="ctr" anchorCtr="0">
              <a:noAutofit/>
            </a:bodyPr>
            <a:lstStyle/>
            <a:p>
              <a:pPr algn="ctr"/>
              <a:r>
                <a:rPr lang="en-GB" sz="1300" b="1">
                  <a:solidFill>
                    <a:schemeClr val="lt1"/>
                  </a:solidFill>
                </a:rPr>
                <a:t>Scheduling Problem for Equipment</a:t>
              </a:r>
              <a:endParaRPr lang="en-US" sz="1300"/>
            </a:p>
          </p:txBody>
        </p:sp>
        <p:sp>
          <p:nvSpPr>
            <p:cNvPr id="29" name="Google Shape;190;p6">
              <a:extLst>
                <a:ext uri="{FF2B5EF4-FFF2-40B4-BE49-F238E27FC236}">
                  <a16:creationId xmlns:a16="http://schemas.microsoft.com/office/drawing/2014/main" id="{D08C6DA6-A9B9-D646-0FCE-EB31E12EDB64}"/>
                </a:ext>
              </a:extLst>
            </p:cNvPr>
            <p:cNvSpPr/>
            <p:nvPr/>
          </p:nvSpPr>
          <p:spPr>
            <a:xfrm>
              <a:off x="3114255" y="848779"/>
              <a:ext cx="3865423" cy="686536"/>
            </a:xfrm>
            <a:prstGeom prst="rect">
              <a:avLst/>
            </a:prstGeom>
            <a:solidFill>
              <a:srgbClr val="F3E5E8"/>
            </a:solidFill>
            <a:ln>
              <a:noFill/>
            </a:ln>
          </p:spPr>
          <p:txBody>
            <a:bodyPr spcFirstLastPara="1" wrap="square" lIns="91425" tIns="45700" rIns="91425" bIns="45700" anchor="ctr" anchorCtr="0">
              <a:noAutofit/>
            </a:bodyPr>
            <a:lstStyle/>
            <a:p>
              <a:r>
                <a:rPr lang="en-US" sz="1200">
                  <a:solidFill>
                    <a:schemeClr val="dk1"/>
                  </a:solidFill>
                </a:rPr>
                <a:t>Maximize harvesting profit while prohibiting harvesting of contiguous areas larger than a specified value</a:t>
              </a:r>
            </a:p>
          </p:txBody>
        </p:sp>
        <p:sp>
          <p:nvSpPr>
            <p:cNvPr id="30" name="Google Shape;190;p6">
              <a:extLst>
                <a:ext uri="{FF2B5EF4-FFF2-40B4-BE49-F238E27FC236}">
                  <a16:creationId xmlns:a16="http://schemas.microsoft.com/office/drawing/2014/main" id="{B1D5C0BD-2680-7194-5A58-E5481B428039}"/>
                </a:ext>
              </a:extLst>
            </p:cNvPr>
            <p:cNvSpPr/>
            <p:nvPr/>
          </p:nvSpPr>
          <p:spPr>
            <a:xfrm>
              <a:off x="3114254" y="1616826"/>
              <a:ext cx="3865423" cy="686536"/>
            </a:xfrm>
            <a:prstGeom prst="rect">
              <a:avLst/>
            </a:prstGeom>
            <a:solidFill>
              <a:srgbClr val="F3E5E8"/>
            </a:solidFill>
            <a:ln>
              <a:noFill/>
            </a:ln>
          </p:spPr>
          <p:txBody>
            <a:bodyPr spcFirstLastPara="1" wrap="square" lIns="91425" tIns="45700" rIns="91425" bIns="45700" anchor="ctr" anchorCtr="0">
              <a:noAutofit/>
            </a:bodyPr>
            <a:lstStyle/>
            <a:p>
              <a:r>
                <a:rPr lang="en-IN" sz="1200">
                  <a:solidFill>
                    <a:schemeClr val="dk1"/>
                  </a:solidFill>
                </a:rPr>
                <a:t>Need to maximize profit </a:t>
              </a:r>
              <a:r>
                <a:rPr lang="en-US" sz="1200">
                  <a:solidFill>
                    <a:schemeClr val="dk1"/>
                  </a:solidFill>
                </a:rPr>
                <a:t>with limited time window and resource constraints of equipment and labor</a:t>
              </a:r>
            </a:p>
          </p:txBody>
        </p:sp>
        <p:sp>
          <p:nvSpPr>
            <p:cNvPr id="31" name="Google Shape;190;p6">
              <a:extLst>
                <a:ext uri="{FF2B5EF4-FFF2-40B4-BE49-F238E27FC236}">
                  <a16:creationId xmlns:a16="http://schemas.microsoft.com/office/drawing/2014/main" id="{806F2B60-BBB0-BFC7-D93D-8C1027DADB06}"/>
                </a:ext>
              </a:extLst>
            </p:cNvPr>
            <p:cNvSpPr/>
            <p:nvPr/>
          </p:nvSpPr>
          <p:spPr>
            <a:xfrm>
              <a:off x="3114253" y="2372778"/>
              <a:ext cx="3865423" cy="686536"/>
            </a:xfrm>
            <a:prstGeom prst="rect">
              <a:avLst/>
            </a:prstGeom>
            <a:solidFill>
              <a:srgbClr val="F3E5E8"/>
            </a:solidFill>
            <a:ln>
              <a:noFill/>
            </a:ln>
          </p:spPr>
          <p:txBody>
            <a:bodyPr spcFirstLastPara="1" wrap="square" lIns="91425" tIns="45700" rIns="91425" bIns="45700" anchor="ctr" anchorCtr="0">
              <a:noAutofit/>
            </a:bodyPr>
            <a:lstStyle/>
            <a:p>
              <a:r>
                <a:rPr lang="en-US" sz="1200">
                  <a:solidFill>
                    <a:schemeClr val="dk1"/>
                  </a:solidFill>
                </a:rPr>
                <a:t>Scheduling problem for arranging equipment for harvesting to minimize the total operational costs </a:t>
              </a:r>
            </a:p>
          </p:txBody>
        </p:sp>
        <p:sp>
          <p:nvSpPr>
            <p:cNvPr id="32" name="Google Shape;190;p6">
              <a:extLst>
                <a:ext uri="{FF2B5EF4-FFF2-40B4-BE49-F238E27FC236}">
                  <a16:creationId xmlns:a16="http://schemas.microsoft.com/office/drawing/2014/main" id="{CB7BD38D-6EAF-94F1-17BF-13965A20729F}"/>
                </a:ext>
              </a:extLst>
            </p:cNvPr>
            <p:cNvSpPr/>
            <p:nvPr/>
          </p:nvSpPr>
          <p:spPr>
            <a:xfrm>
              <a:off x="7105681" y="848778"/>
              <a:ext cx="4403661" cy="686536"/>
            </a:xfrm>
            <a:prstGeom prst="rect">
              <a:avLst/>
            </a:prstGeom>
            <a:solidFill>
              <a:schemeClr val="bg1">
                <a:lumMod val="95000"/>
              </a:schemeClr>
            </a:solidFill>
            <a:ln>
              <a:noFill/>
            </a:ln>
          </p:spPr>
          <p:txBody>
            <a:bodyPr spcFirstLastPara="1" wrap="square" lIns="91425" tIns="45700" rIns="91425" bIns="45700" anchor="ctr" anchorCtr="0">
              <a:noAutofit/>
            </a:bodyPr>
            <a:lstStyle/>
            <a:p>
              <a:r>
                <a:rPr lang="en-US" sz="1200" b="1">
                  <a:solidFill>
                    <a:schemeClr val="dk1"/>
                  </a:solidFill>
                </a:rPr>
                <a:t>Heuristic Approach</a:t>
              </a:r>
              <a:r>
                <a:rPr lang="en-US" sz="1200">
                  <a:solidFill>
                    <a:schemeClr val="dk1"/>
                  </a:solidFill>
                </a:rPr>
                <a:t>: Prioritize harvesting areas based on their profitability and adjacency, </a:t>
              </a:r>
              <a:r>
                <a:rPr lang="en-IN" sz="1200">
                  <a:solidFill>
                    <a:schemeClr val="dk1"/>
                  </a:solidFill>
                </a:rPr>
                <a:t>targeting farmers with contiguous areas of more than 10 acres</a:t>
              </a:r>
              <a:endParaRPr lang="en-US" sz="1200">
                <a:solidFill>
                  <a:schemeClr val="dk1"/>
                </a:solidFill>
              </a:endParaRPr>
            </a:p>
          </p:txBody>
        </p:sp>
        <p:sp>
          <p:nvSpPr>
            <p:cNvPr id="33" name="Google Shape;190;p6">
              <a:extLst>
                <a:ext uri="{FF2B5EF4-FFF2-40B4-BE49-F238E27FC236}">
                  <a16:creationId xmlns:a16="http://schemas.microsoft.com/office/drawing/2014/main" id="{8CB81172-FAA7-1A40-7769-1D70BBCFB232}"/>
                </a:ext>
              </a:extLst>
            </p:cNvPr>
            <p:cNvSpPr/>
            <p:nvPr/>
          </p:nvSpPr>
          <p:spPr>
            <a:xfrm>
              <a:off x="7105681" y="1616826"/>
              <a:ext cx="4403661" cy="686536"/>
            </a:xfrm>
            <a:prstGeom prst="rect">
              <a:avLst/>
            </a:prstGeom>
            <a:solidFill>
              <a:schemeClr val="bg1">
                <a:lumMod val="95000"/>
              </a:schemeClr>
            </a:solidFill>
            <a:ln>
              <a:noFill/>
            </a:ln>
          </p:spPr>
          <p:txBody>
            <a:bodyPr spcFirstLastPara="1" wrap="square" lIns="91425" tIns="45700" rIns="91425" bIns="45700" anchor="ctr" anchorCtr="0">
              <a:noAutofit/>
            </a:bodyPr>
            <a:lstStyle/>
            <a:p>
              <a:r>
                <a:rPr lang="en-US" sz="1200" b="1">
                  <a:solidFill>
                    <a:schemeClr val="dk1"/>
                  </a:solidFill>
                </a:rPr>
                <a:t>Greedy algorithm </a:t>
              </a:r>
              <a:r>
                <a:rPr lang="en-US" sz="1200">
                  <a:solidFill>
                    <a:schemeClr val="dk1"/>
                  </a:solidFill>
                </a:rPr>
                <a:t>that selects fields for harvesting in a sequence maximizing profit while adhering to time and resource constraints.</a:t>
              </a:r>
              <a:endParaRPr lang="en-IN" sz="1200">
                <a:solidFill>
                  <a:schemeClr val="dk1"/>
                </a:solidFill>
              </a:endParaRPr>
            </a:p>
          </p:txBody>
        </p:sp>
        <p:sp>
          <p:nvSpPr>
            <p:cNvPr id="34" name="Google Shape;190;p6">
              <a:extLst>
                <a:ext uri="{FF2B5EF4-FFF2-40B4-BE49-F238E27FC236}">
                  <a16:creationId xmlns:a16="http://schemas.microsoft.com/office/drawing/2014/main" id="{70A9E460-4A0B-C846-8DAE-18D62DB441FC}"/>
                </a:ext>
              </a:extLst>
            </p:cNvPr>
            <p:cNvSpPr/>
            <p:nvPr/>
          </p:nvSpPr>
          <p:spPr>
            <a:xfrm>
              <a:off x="7099633" y="2372778"/>
              <a:ext cx="4403661" cy="686536"/>
            </a:xfrm>
            <a:prstGeom prst="rect">
              <a:avLst/>
            </a:prstGeom>
            <a:solidFill>
              <a:schemeClr val="bg1">
                <a:lumMod val="95000"/>
              </a:schemeClr>
            </a:solidFill>
            <a:ln>
              <a:noFill/>
            </a:ln>
          </p:spPr>
          <p:txBody>
            <a:bodyPr spcFirstLastPara="1" wrap="square" lIns="91425" tIns="45700" rIns="91425" bIns="45700" anchor="ctr" anchorCtr="0">
              <a:noAutofit/>
            </a:bodyPr>
            <a:lstStyle/>
            <a:p>
              <a:r>
                <a:rPr lang="en-US" sz="1200" b="1">
                  <a:solidFill>
                    <a:schemeClr val="dk1"/>
                  </a:solidFill>
                </a:rPr>
                <a:t>Genetic algorithms</a:t>
              </a:r>
              <a:r>
                <a:rPr lang="en-US" sz="1200">
                  <a:solidFill>
                    <a:schemeClr val="dk1"/>
                  </a:solidFill>
                </a:rPr>
                <a:t> for scheduling equipment allocation. distance between fields, equipment availability. </a:t>
              </a:r>
              <a:r>
                <a:rPr lang="en-IN" sz="1200">
                  <a:solidFill>
                    <a:schemeClr val="dk1"/>
                  </a:solidFill>
                </a:rPr>
                <a:t>Partnering up with 3P providers for balers &amp; rent balers from baler owners</a:t>
              </a:r>
              <a:endParaRPr lang="en-US" sz="1200">
                <a:solidFill>
                  <a:schemeClr val="dk1"/>
                </a:solidFill>
              </a:endParaRPr>
            </a:p>
          </p:txBody>
        </p:sp>
        <p:sp>
          <p:nvSpPr>
            <p:cNvPr id="50" name="Google Shape;190;p6">
              <a:extLst>
                <a:ext uri="{FF2B5EF4-FFF2-40B4-BE49-F238E27FC236}">
                  <a16:creationId xmlns:a16="http://schemas.microsoft.com/office/drawing/2014/main" id="{46AEFD19-15B7-1217-41BC-C5875A315601}"/>
                </a:ext>
              </a:extLst>
            </p:cNvPr>
            <p:cNvSpPr/>
            <p:nvPr/>
          </p:nvSpPr>
          <p:spPr>
            <a:xfrm>
              <a:off x="779873" y="479874"/>
              <a:ext cx="2081374" cy="420441"/>
            </a:xfrm>
            <a:prstGeom prst="rect">
              <a:avLst/>
            </a:prstGeom>
            <a:noFill/>
            <a:ln>
              <a:noFill/>
            </a:ln>
          </p:spPr>
          <p:txBody>
            <a:bodyPr spcFirstLastPara="1" wrap="square" lIns="91425" tIns="45700" rIns="91425" bIns="45700" anchor="ctr" anchorCtr="0">
              <a:noAutofit/>
            </a:bodyPr>
            <a:lstStyle/>
            <a:p>
              <a:pPr algn="ctr">
                <a:buClr>
                  <a:schemeClr val="dk1"/>
                </a:buClr>
                <a:buSzPts val="1300"/>
              </a:pPr>
              <a:r>
                <a:rPr lang="en-IN" sz="1300" b="1">
                  <a:solidFill>
                    <a:schemeClr val="dk1"/>
                  </a:solidFill>
                </a:rPr>
                <a:t>Procurement Problem </a:t>
              </a:r>
            </a:p>
          </p:txBody>
        </p:sp>
        <p:sp>
          <p:nvSpPr>
            <p:cNvPr id="54" name="Google Shape;190;p6">
              <a:extLst>
                <a:ext uri="{FF2B5EF4-FFF2-40B4-BE49-F238E27FC236}">
                  <a16:creationId xmlns:a16="http://schemas.microsoft.com/office/drawing/2014/main" id="{D1B98ADB-1E41-E709-27BA-CA8A2D84ADAA}"/>
                </a:ext>
              </a:extLst>
            </p:cNvPr>
            <p:cNvSpPr/>
            <p:nvPr/>
          </p:nvSpPr>
          <p:spPr>
            <a:xfrm>
              <a:off x="7099635" y="473825"/>
              <a:ext cx="4403659" cy="420441"/>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Proposed Solutions</a:t>
              </a:r>
            </a:p>
          </p:txBody>
        </p:sp>
        <p:sp>
          <p:nvSpPr>
            <p:cNvPr id="55" name="Google Shape;190;p6">
              <a:extLst>
                <a:ext uri="{FF2B5EF4-FFF2-40B4-BE49-F238E27FC236}">
                  <a16:creationId xmlns:a16="http://schemas.microsoft.com/office/drawing/2014/main" id="{1F48EFAC-5C1B-8F86-E377-8E2B3C46D0C8}"/>
                </a:ext>
              </a:extLst>
            </p:cNvPr>
            <p:cNvSpPr/>
            <p:nvPr/>
          </p:nvSpPr>
          <p:spPr>
            <a:xfrm>
              <a:off x="3192871" y="473826"/>
              <a:ext cx="3865422" cy="426488"/>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Problem Detailing</a:t>
              </a:r>
              <a:endParaRPr lang="en-US"/>
            </a:p>
          </p:txBody>
        </p:sp>
      </p:grpSp>
      <p:sp>
        <p:nvSpPr>
          <p:cNvPr id="3" name="Google Shape;190;p6">
            <a:extLst>
              <a:ext uri="{FF2B5EF4-FFF2-40B4-BE49-F238E27FC236}">
                <a16:creationId xmlns:a16="http://schemas.microsoft.com/office/drawing/2014/main" id="{56138B70-F691-DA69-773A-FE9FF25609FB}"/>
              </a:ext>
            </a:extLst>
          </p:cNvPr>
          <p:cNvSpPr/>
          <p:nvPr/>
        </p:nvSpPr>
        <p:spPr>
          <a:xfrm>
            <a:off x="776349" y="944748"/>
            <a:ext cx="2528898" cy="1128014"/>
          </a:xfrm>
          <a:prstGeom prst="rect">
            <a:avLst/>
          </a:prstGeom>
          <a:solidFill>
            <a:srgbClr val="F3E5E8">
              <a:alpha val="54000"/>
            </a:srgbClr>
          </a:solidFill>
          <a:ln>
            <a:noFill/>
          </a:ln>
        </p:spPr>
        <p:txBody>
          <a:bodyPr spcFirstLastPara="1" wrap="square" lIns="91425" tIns="45700" rIns="91425" bIns="45700" anchor="ctr" anchorCtr="0">
            <a:noAutofit/>
          </a:bodyPr>
          <a:lstStyle/>
          <a:p>
            <a:pPr>
              <a:buClr>
                <a:schemeClr val="dk1"/>
              </a:buClr>
              <a:buSzPts val="1300"/>
            </a:pPr>
            <a:r>
              <a:rPr lang="en-IN" sz="1200" b="1">
                <a:solidFill>
                  <a:schemeClr val="dk1"/>
                </a:solidFill>
              </a:rPr>
              <a:t>1.Direct Procurement: </a:t>
            </a:r>
            <a:r>
              <a:rPr lang="en-IN" sz="1200">
                <a:solidFill>
                  <a:schemeClr val="dk1"/>
                </a:solidFill>
              </a:rPr>
              <a:t>Farmer creates &amp; supplies bales</a:t>
            </a:r>
            <a:endParaRPr lang="en-IN" sz="1200" b="1">
              <a:solidFill>
                <a:schemeClr val="dk1"/>
              </a:solidFill>
            </a:endParaRPr>
          </a:p>
          <a:p>
            <a:pPr>
              <a:buSzPts val="1300"/>
            </a:pPr>
            <a:r>
              <a:rPr lang="en-IN" sz="1200" b="1">
                <a:solidFill>
                  <a:schemeClr val="dk1"/>
                </a:solidFill>
              </a:rPr>
              <a:t>2.Field Clearing Services: </a:t>
            </a:r>
            <a:r>
              <a:rPr lang="en-IN" sz="1200">
                <a:solidFill>
                  <a:schemeClr val="dk1"/>
                </a:solidFill>
              </a:rPr>
              <a:t>Firm provides machinery &amp; labour to clear field</a:t>
            </a:r>
            <a:endParaRPr lang="en-US" sz="1200" b="1">
              <a:solidFill>
                <a:schemeClr val="dk1"/>
              </a:solidFill>
            </a:endParaRPr>
          </a:p>
        </p:txBody>
      </p:sp>
      <p:sp>
        <p:nvSpPr>
          <p:cNvPr id="5" name="Google Shape;190;p6">
            <a:extLst>
              <a:ext uri="{FF2B5EF4-FFF2-40B4-BE49-F238E27FC236}">
                <a16:creationId xmlns:a16="http://schemas.microsoft.com/office/drawing/2014/main" id="{CEFF81EF-DCE5-756F-0578-D81009C57DF5}"/>
              </a:ext>
            </a:extLst>
          </p:cNvPr>
          <p:cNvSpPr/>
          <p:nvPr/>
        </p:nvSpPr>
        <p:spPr>
          <a:xfrm>
            <a:off x="3449395" y="1014197"/>
            <a:ext cx="2528898" cy="1128012"/>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US" sz="1200" b="1">
                <a:solidFill>
                  <a:schemeClr val="dk1"/>
                </a:solidFill>
              </a:rPr>
              <a:t>1.Tender Bidding </a:t>
            </a:r>
            <a:r>
              <a:rPr lang="en-US" sz="1200">
                <a:solidFill>
                  <a:schemeClr val="dk1"/>
                </a:solidFill>
              </a:rPr>
              <a:t>by 3P stubble aggregators/baler owners </a:t>
            </a:r>
          </a:p>
          <a:p>
            <a:r>
              <a:rPr lang="en-US" sz="1200" b="1">
                <a:solidFill>
                  <a:schemeClr val="dk1"/>
                </a:solidFill>
              </a:rPr>
              <a:t>2.Farmer Co-op </a:t>
            </a:r>
            <a:r>
              <a:rPr lang="en-US" sz="1200">
                <a:solidFill>
                  <a:schemeClr val="dk1"/>
                </a:solidFill>
              </a:rPr>
              <a:t>contracted to aggregate feedstock </a:t>
            </a:r>
            <a:r>
              <a:rPr lang="en-US" sz="1200" b="1">
                <a:solidFill>
                  <a:schemeClr val="dk1"/>
                </a:solidFill>
              </a:rPr>
              <a:t>3.Micropreneurs n</a:t>
            </a:r>
            <a:r>
              <a:rPr lang="en-US" sz="1200">
                <a:solidFill>
                  <a:schemeClr val="dk1"/>
                </a:solidFill>
              </a:rPr>
              <a:t>etwork built</a:t>
            </a:r>
            <a:r>
              <a:rPr lang="en-US" sz="1200" b="1">
                <a:solidFill>
                  <a:schemeClr val="dk1"/>
                </a:solidFill>
              </a:rPr>
              <a:t> </a:t>
            </a:r>
            <a:r>
              <a:rPr lang="en-US" sz="1200">
                <a:solidFill>
                  <a:schemeClr val="dk1"/>
                </a:solidFill>
              </a:rPr>
              <a:t>to collect stubble </a:t>
            </a:r>
            <a:endParaRPr lang="en-US" sz="1200" b="1">
              <a:solidFill>
                <a:schemeClr val="dk1"/>
              </a:solidFill>
            </a:endParaRPr>
          </a:p>
        </p:txBody>
      </p:sp>
      <p:sp>
        <p:nvSpPr>
          <p:cNvPr id="6" name="Google Shape;190;p6">
            <a:extLst>
              <a:ext uri="{FF2B5EF4-FFF2-40B4-BE49-F238E27FC236}">
                <a16:creationId xmlns:a16="http://schemas.microsoft.com/office/drawing/2014/main" id="{3E01DC4E-C03E-C4C6-1BC1-49BA06870A07}"/>
              </a:ext>
            </a:extLst>
          </p:cNvPr>
          <p:cNvSpPr/>
          <p:nvPr/>
        </p:nvSpPr>
        <p:spPr>
          <a:xfrm>
            <a:off x="6176872" y="1014197"/>
            <a:ext cx="2534945" cy="1128013"/>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US" sz="1200" b="1">
                <a:solidFill>
                  <a:schemeClr val="dk1"/>
                </a:solidFill>
              </a:rPr>
              <a:t>1.Mandi </a:t>
            </a:r>
            <a:r>
              <a:rPr lang="en-US" sz="1200">
                <a:solidFill>
                  <a:schemeClr val="dk1"/>
                </a:solidFill>
              </a:rPr>
              <a:t>&amp; E-procurement system utilized to collect &amp; sell stubble </a:t>
            </a:r>
          </a:p>
          <a:p>
            <a:r>
              <a:rPr lang="en-US" sz="1200" b="1">
                <a:solidFill>
                  <a:schemeClr val="dk1"/>
                </a:solidFill>
              </a:rPr>
              <a:t>2. Online Platform</a:t>
            </a:r>
            <a:r>
              <a:rPr lang="en-US" sz="1200">
                <a:solidFill>
                  <a:schemeClr val="dk1"/>
                </a:solidFill>
              </a:rPr>
              <a:t> (individual or in collaboration) similar to other Agri-product procurement like E-Naam, Agri Bazar</a:t>
            </a:r>
          </a:p>
        </p:txBody>
      </p:sp>
      <p:sp>
        <p:nvSpPr>
          <p:cNvPr id="7" name="Google Shape;190;p6">
            <a:extLst>
              <a:ext uri="{FF2B5EF4-FFF2-40B4-BE49-F238E27FC236}">
                <a16:creationId xmlns:a16="http://schemas.microsoft.com/office/drawing/2014/main" id="{4AA03DF3-5912-758C-76DA-6C7ABD4C1741}"/>
              </a:ext>
            </a:extLst>
          </p:cNvPr>
          <p:cNvSpPr/>
          <p:nvPr/>
        </p:nvSpPr>
        <p:spPr>
          <a:xfrm>
            <a:off x="8928538" y="1014198"/>
            <a:ext cx="2522851" cy="1128013"/>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IN" sz="1200">
                <a:solidFill>
                  <a:schemeClr val="dk1"/>
                </a:solidFill>
              </a:rPr>
              <a:t>1. Paddy Straw is an unused residue, which can be collected &amp; brough to use. </a:t>
            </a:r>
            <a:endParaRPr lang="en-US" sz="1200">
              <a:solidFill>
                <a:schemeClr val="dk1"/>
              </a:solidFill>
            </a:endParaRPr>
          </a:p>
        </p:txBody>
      </p:sp>
      <p:cxnSp>
        <p:nvCxnSpPr>
          <p:cNvPr id="8" name="Straight Arrow Connector 7">
            <a:extLst>
              <a:ext uri="{FF2B5EF4-FFF2-40B4-BE49-F238E27FC236}">
                <a16:creationId xmlns:a16="http://schemas.microsoft.com/office/drawing/2014/main" id="{20B404D4-BF98-BB54-54B9-F4D99F208B4C}"/>
              </a:ext>
            </a:extLst>
          </p:cNvPr>
          <p:cNvCxnSpPr/>
          <p:nvPr/>
        </p:nvCxnSpPr>
        <p:spPr>
          <a:xfrm flipV="1">
            <a:off x="779038" y="894763"/>
            <a:ext cx="2523064" cy="10886"/>
          </a:xfrm>
          <a:prstGeom prst="straightConnector1">
            <a:avLst/>
          </a:prstGeom>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A87C48D6-5FAC-5365-9900-BD74DAF5CD2E}"/>
              </a:ext>
            </a:extLst>
          </p:cNvPr>
          <p:cNvCxnSpPr>
            <a:cxnSpLocks/>
          </p:cNvCxnSpPr>
          <p:nvPr/>
        </p:nvCxnSpPr>
        <p:spPr>
          <a:xfrm flipV="1">
            <a:off x="3452084" y="882667"/>
            <a:ext cx="2523064" cy="10886"/>
          </a:xfrm>
          <a:prstGeom prst="straightConnector1">
            <a:avLst/>
          </a:prstGeom>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7613AFAE-7BF7-418E-9AAD-6DC53E4F82AD}"/>
              </a:ext>
            </a:extLst>
          </p:cNvPr>
          <p:cNvCxnSpPr>
            <a:cxnSpLocks/>
          </p:cNvCxnSpPr>
          <p:nvPr/>
        </p:nvCxnSpPr>
        <p:spPr>
          <a:xfrm>
            <a:off x="6179561" y="863315"/>
            <a:ext cx="2517017" cy="7257"/>
          </a:xfrm>
          <a:prstGeom prst="straightConnector1">
            <a:avLst/>
          </a:prstGeom>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06C53985-E296-4B6C-11E2-ACA2E47D4082}"/>
              </a:ext>
            </a:extLst>
          </p:cNvPr>
          <p:cNvCxnSpPr>
            <a:cxnSpLocks/>
          </p:cNvCxnSpPr>
          <p:nvPr/>
        </p:nvCxnSpPr>
        <p:spPr>
          <a:xfrm flipV="1">
            <a:off x="8931227" y="864525"/>
            <a:ext cx="2523064" cy="10886"/>
          </a:xfrm>
          <a:prstGeom prst="straightConnector1">
            <a:avLst/>
          </a:prstGeom>
        </p:spPr>
        <p:style>
          <a:lnRef idx="1">
            <a:schemeClr val="accent6"/>
          </a:lnRef>
          <a:fillRef idx="0">
            <a:schemeClr val="accent6"/>
          </a:fillRef>
          <a:effectRef idx="0">
            <a:schemeClr val="accent6"/>
          </a:effectRef>
          <a:fontRef idx="minor">
            <a:schemeClr val="tx1"/>
          </a:fontRef>
        </p:style>
      </p:cxnSp>
      <p:sp>
        <p:nvSpPr>
          <p:cNvPr id="12" name="Google Shape;190;p6">
            <a:extLst>
              <a:ext uri="{FF2B5EF4-FFF2-40B4-BE49-F238E27FC236}">
                <a16:creationId xmlns:a16="http://schemas.microsoft.com/office/drawing/2014/main" id="{82A71A75-16E3-E60E-B3F3-874E1752A4C5}"/>
              </a:ext>
            </a:extLst>
          </p:cNvPr>
          <p:cNvSpPr/>
          <p:nvPr/>
        </p:nvSpPr>
        <p:spPr>
          <a:xfrm>
            <a:off x="788444" y="524341"/>
            <a:ext cx="2528898" cy="402299"/>
          </a:xfrm>
          <a:prstGeom prst="rect">
            <a:avLst/>
          </a:prstGeom>
          <a:noFill/>
          <a:ln>
            <a:noFill/>
          </a:ln>
        </p:spPr>
        <p:txBody>
          <a:bodyPr spcFirstLastPara="1" wrap="square" lIns="91425" tIns="45700" rIns="91425" bIns="45700" anchor="ctr" anchorCtr="0">
            <a:noAutofit/>
          </a:bodyPr>
          <a:lstStyle/>
          <a:p>
            <a:pPr algn="ctr">
              <a:buClr>
                <a:schemeClr val="dk1"/>
              </a:buClr>
              <a:buSzPts val="1300"/>
            </a:pPr>
            <a:r>
              <a:rPr lang="en-IN" sz="1300" b="1">
                <a:solidFill>
                  <a:schemeClr val="dk1"/>
                </a:solidFill>
              </a:rPr>
              <a:t>Farmers</a:t>
            </a:r>
          </a:p>
        </p:txBody>
      </p:sp>
      <p:sp>
        <p:nvSpPr>
          <p:cNvPr id="13" name="Google Shape;190;p6">
            <a:extLst>
              <a:ext uri="{FF2B5EF4-FFF2-40B4-BE49-F238E27FC236}">
                <a16:creationId xmlns:a16="http://schemas.microsoft.com/office/drawing/2014/main" id="{D5902CE6-0550-347C-4996-3DC46AC4084E}"/>
              </a:ext>
            </a:extLst>
          </p:cNvPr>
          <p:cNvSpPr/>
          <p:nvPr/>
        </p:nvSpPr>
        <p:spPr>
          <a:xfrm>
            <a:off x="3534062" y="524340"/>
            <a:ext cx="2528898" cy="402299"/>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Service Providers</a:t>
            </a:r>
            <a:endParaRPr lang="en-US" sz="1300"/>
          </a:p>
        </p:txBody>
      </p:sp>
      <p:sp>
        <p:nvSpPr>
          <p:cNvPr id="14" name="Google Shape;190;p6">
            <a:extLst>
              <a:ext uri="{FF2B5EF4-FFF2-40B4-BE49-F238E27FC236}">
                <a16:creationId xmlns:a16="http://schemas.microsoft.com/office/drawing/2014/main" id="{91638FB5-0B80-B722-0579-5920EEFEBF05}"/>
              </a:ext>
            </a:extLst>
          </p:cNvPr>
          <p:cNvSpPr/>
          <p:nvPr/>
        </p:nvSpPr>
        <p:spPr>
          <a:xfrm>
            <a:off x="6297824" y="524340"/>
            <a:ext cx="2528898" cy="402299"/>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Govt. Agency &amp; Online Mkt.</a:t>
            </a:r>
            <a:endParaRPr lang="en-US" sz="1300"/>
          </a:p>
        </p:txBody>
      </p:sp>
      <p:sp>
        <p:nvSpPr>
          <p:cNvPr id="15" name="Google Shape;190;p6">
            <a:extLst>
              <a:ext uri="{FF2B5EF4-FFF2-40B4-BE49-F238E27FC236}">
                <a16:creationId xmlns:a16="http://schemas.microsoft.com/office/drawing/2014/main" id="{862F0948-60B0-EABD-E13A-58038FECD32B}"/>
              </a:ext>
            </a:extLst>
          </p:cNvPr>
          <p:cNvSpPr/>
          <p:nvPr/>
        </p:nvSpPr>
        <p:spPr>
          <a:xfrm>
            <a:off x="834027" y="3254296"/>
            <a:ext cx="1119079" cy="450983"/>
          </a:xfrm>
          <a:prstGeom prst="rect">
            <a:avLst/>
          </a:prstGeom>
          <a:solidFill>
            <a:srgbClr val="F3E5E8">
              <a:alpha val="54000"/>
            </a:srgbClr>
          </a:solidFill>
          <a:ln>
            <a:noFill/>
          </a:ln>
        </p:spPr>
        <p:txBody>
          <a:bodyPr spcFirstLastPara="1" wrap="square" lIns="91425" tIns="45700" rIns="91425" bIns="45700" anchor="ctr" anchorCtr="0">
            <a:noAutofit/>
          </a:bodyPr>
          <a:lstStyle/>
          <a:p>
            <a:pPr>
              <a:buClr>
                <a:schemeClr val="dk1"/>
              </a:buClr>
              <a:buSzPts val="1300"/>
            </a:pPr>
            <a:r>
              <a:rPr lang="en-IN" sz="1050">
                <a:solidFill>
                  <a:schemeClr val="dk1"/>
                </a:solidFill>
              </a:rPr>
              <a:t>Burning stubble is preferred</a:t>
            </a:r>
          </a:p>
        </p:txBody>
      </p:sp>
      <p:sp>
        <p:nvSpPr>
          <p:cNvPr id="16" name="Google Shape;190;p6">
            <a:extLst>
              <a:ext uri="{FF2B5EF4-FFF2-40B4-BE49-F238E27FC236}">
                <a16:creationId xmlns:a16="http://schemas.microsoft.com/office/drawing/2014/main" id="{D7497552-CBCF-563D-1AC6-DDFCC3D13CD5}"/>
              </a:ext>
            </a:extLst>
          </p:cNvPr>
          <p:cNvSpPr/>
          <p:nvPr/>
        </p:nvSpPr>
        <p:spPr>
          <a:xfrm>
            <a:off x="800539" y="2229770"/>
            <a:ext cx="1162136" cy="952633"/>
          </a:xfrm>
          <a:prstGeom prst="rect">
            <a:avLst/>
          </a:prstGeom>
          <a:solidFill>
            <a:srgbClr val="F3E5E8">
              <a:alpha val="54000"/>
            </a:srgbClr>
          </a:solidFill>
          <a:ln>
            <a:noFill/>
          </a:ln>
        </p:spPr>
        <p:txBody>
          <a:bodyPr spcFirstLastPara="1" wrap="square" lIns="91425" tIns="45700" rIns="91425" bIns="45700" anchor="ctr" anchorCtr="0">
            <a:noAutofit/>
          </a:bodyPr>
          <a:lstStyle/>
          <a:p>
            <a:r>
              <a:rPr lang="en-IN" sz="1200">
                <a:solidFill>
                  <a:schemeClr val="tx1"/>
                </a:solidFill>
              </a:rPr>
              <a:t>Direct </a:t>
            </a:r>
            <a:endParaRPr lang="en-US">
              <a:solidFill>
                <a:schemeClr val="tx1"/>
              </a:solidFill>
            </a:endParaRPr>
          </a:p>
          <a:p>
            <a:r>
              <a:rPr lang="en-IN" sz="1200">
                <a:solidFill>
                  <a:schemeClr val="tx1"/>
                </a:solidFill>
              </a:rPr>
              <a:t>Procurement: Farmers earn Rs. 200-300/acre</a:t>
            </a:r>
            <a:endParaRPr lang="en-IN">
              <a:solidFill>
                <a:schemeClr val="tx1"/>
              </a:solidFill>
            </a:endParaRPr>
          </a:p>
        </p:txBody>
      </p:sp>
      <p:sp>
        <p:nvSpPr>
          <p:cNvPr id="17" name="Google Shape;190;p6">
            <a:extLst>
              <a:ext uri="{FF2B5EF4-FFF2-40B4-BE49-F238E27FC236}">
                <a16:creationId xmlns:a16="http://schemas.microsoft.com/office/drawing/2014/main" id="{6232AA28-5910-5A69-67A7-A17596579A47}"/>
              </a:ext>
            </a:extLst>
          </p:cNvPr>
          <p:cNvSpPr/>
          <p:nvPr/>
        </p:nvSpPr>
        <p:spPr>
          <a:xfrm>
            <a:off x="3449394" y="2229768"/>
            <a:ext cx="1180280" cy="1466678"/>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US" sz="1200" b="1">
                <a:solidFill>
                  <a:schemeClr val="dk1"/>
                </a:solidFill>
              </a:rPr>
              <a:t>Issue: Tender</a:t>
            </a:r>
            <a:r>
              <a:rPr lang="en-US" sz="1200">
                <a:solidFill>
                  <a:schemeClr val="dk1"/>
                </a:solidFill>
              </a:rPr>
              <a:t> Bidding requires thorough evaluation of svc provider </a:t>
            </a:r>
          </a:p>
        </p:txBody>
      </p:sp>
      <p:sp>
        <p:nvSpPr>
          <p:cNvPr id="18" name="Google Shape;190;p6">
            <a:extLst>
              <a:ext uri="{FF2B5EF4-FFF2-40B4-BE49-F238E27FC236}">
                <a16:creationId xmlns:a16="http://schemas.microsoft.com/office/drawing/2014/main" id="{2171520A-95EC-4A30-86EB-D5B45E085DF7}"/>
              </a:ext>
            </a:extLst>
          </p:cNvPr>
          <p:cNvSpPr/>
          <p:nvPr/>
        </p:nvSpPr>
        <p:spPr>
          <a:xfrm>
            <a:off x="4684103" y="2229767"/>
            <a:ext cx="1294189" cy="1466678"/>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US" sz="1200" b="1">
                <a:solidFill>
                  <a:schemeClr val="dk1"/>
                </a:solidFill>
              </a:rPr>
              <a:t>Issue: </a:t>
            </a:r>
            <a:r>
              <a:rPr lang="en-US" sz="1200">
                <a:solidFill>
                  <a:schemeClr val="dk1"/>
                </a:solidFill>
              </a:rPr>
              <a:t>Farmer Co-op &amp; Micropreneur network have longer execution horizons</a:t>
            </a:r>
            <a:endParaRPr lang="en-US">
              <a:solidFill>
                <a:schemeClr val="dk1"/>
              </a:solidFill>
            </a:endParaRPr>
          </a:p>
        </p:txBody>
      </p:sp>
      <p:sp>
        <p:nvSpPr>
          <p:cNvPr id="19" name="Google Shape;190;p6">
            <a:extLst>
              <a:ext uri="{FF2B5EF4-FFF2-40B4-BE49-F238E27FC236}">
                <a16:creationId xmlns:a16="http://schemas.microsoft.com/office/drawing/2014/main" id="{C09C68F8-0BBF-0EC0-9B6A-C02186FA3DDB}"/>
              </a:ext>
            </a:extLst>
          </p:cNvPr>
          <p:cNvSpPr/>
          <p:nvPr/>
        </p:nvSpPr>
        <p:spPr>
          <a:xfrm>
            <a:off x="6164776" y="2229768"/>
            <a:ext cx="1289137" cy="1466679"/>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US" sz="1200" b="1">
                <a:solidFill>
                  <a:schemeClr val="dk1"/>
                </a:solidFill>
              </a:rPr>
              <a:t>Issue:</a:t>
            </a:r>
            <a:r>
              <a:rPr lang="en-US" sz="1200">
                <a:solidFill>
                  <a:schemeClr val="dk1"/>
                </a:solidFill>
              </a:rPr>
              <a:t> For Mandi, MSP proposed but not enforced. Dependent on </a:t>
            </a:r>
            <a:r>
              <a:rPr lang="en-US" sz="1200" i="1">
                <a:solidFill>
                  <a:schemeClr val="dk1"/>
                </a:solidFill>
              </a:rPr>
              <a:t>commoditization </a:t>
            </a:r>
            <a:r>
              <a:rPr lang="en-US" sz="1200">
                <a:solidFill>
                  <a:schemeClr val="dk1"/>
                </a:solidFill>
              </a:rPr>
              <a:t>of stubble</a:t>
            </a:r>
          </a:p>
        </p:txBody>
      </p:sp>
      <p:sp>
        <p:nvSpPr>
          <p:cNvPr id="21" name="Google Shape;190;p6">
            <a:extLst>
              <a:ext uri="{FF2B5EF4-FFF2-40B4-BE49-F238E27FC236}">
                <a16:creationId xmlns:a16="http://schemas.microsoft.com/office/drawing/2014/main" id="{76467D2C-9134-C260-CECA-467AD2AFAFF1}"/>
              </a:ext>
            </a:extLst>
          </p:cNvPr>
          <p:cNvSpPr/>
          <p:nvPr/>
        </p:nvSpPr>
        <p:spPr>
          <a:xfrm>
            <a:off x="7549679" y="2229767"/>
            <a:ext cx="1156090" cy="1466679"/>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US" sz="1200" b="1">
                <a:solidFill>
                  <a:schemeClr val="dk1"/>
                </a:solidFill>
              </a:rPr>
              <a:t>Issue:</a:t>
            </a:r>
            <a:r>
              <a:rPr lang="en-US" sz="1200">
                <a:solidFill>
                  <a:schemeClr val="dk1"/>
                </a:solidFill>
              </a:rPr>
              <a:t> Online Platform requires significant investment &amp; has longer horizon</a:t>
            </a:r>
            <a:endParaRPr lang="en-US">
              <a:solidFill>
                <a:schemeClr val="dk1"/>
              </a:solidFill>
            </a:endParaRPr>
          </a:p>
        </p:txBody>
      </p:sp>
      <p:sp>
        <p:nvSpPr>
          <p:cNvPr id="22" name="Google Shape;190;p6">
            <a:extLst>
              <a:ext uri="{FF2B5EF4-FFF2-40B4-BE49-F238E27FC236}">
                <a16:creationId xmlns:a16="http://schemas.microsoft.com/office/drawing/2014/main" id="{F00C7E54-51E0-83DA-FC42-233F5ECF4829}"/>
              </a:ext>
            </a:extLst>
          </p:cNvPr>
          <p:cNvSpPr/>
          <p:nvPr/>
        </p:nvSpPr>
        <p:spPr>
          <a:xfrm>
            <a:off x="8934586" y="2229770"/>
            <a:ext cx="1210518" cy="1466679"/>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IN" sz="1200" b="1">
                <a:solidFill>
                  <a:schemeClr val="dk1"/>
                </a:solidFill>
              </a:rPr>
              <a:t>Issue:</a:t>
            </a:r>
            <a:r>
              <a:rPr lang="en-IN" sz="1200">
                <a:solidFill>
                  <a:schemeClr val="dk1"/>
                </a:solidFill>
              </a:rPr>
              <a:t> The stubble of mechanically </a:t>
            </a:r>
            <a:endParaRPr lang="en-US" sz="1200" b="1">
              <a:solidFill>
                <a:schemeClr val="dk1"/>
              </a:solidFill>
            </a:endParaRPr>
          </a:p>
          <a:p>
            <a:r>
              <a:rPr lang="en-IN" sz="1200">
                <a:solidFill>
                  <a:schemeClr val="dk1"/>
                </a:solidFill>
              </a:rPr>
              <a:t>harvested paddy remains on field &amp; thus may not be viable.</a:t>
            </a:r>
            <a:endParaRPr lang="en-US" sz="1200">
              <a:solidFill>
                <a:schemeClr val="dk1"/>
              </a:solidFill>
            </a:endParaRPr>
          </a:p>
        </p:txBody>
      </p:sp>
      <p:sp>
        <p:nvSpPr>
          <p:cNvPr id="26" name="Google Shape;190;p6">
            <a:extLst>
              <a:ext uri="{FF2B5EF4-FFF2-40B4-BE49-F238E27FC236}">
                <a16:creationId xmlns:a16="http://schemas.microsoft.com/office/drawing/2014/main" id="{16C713E1-BCE0-83F2-0BE3-6DB57FEF5415}"/>
              </a:ext>
            </a:extLst>
          </p:cNvPr>
          <p:cNvSpPr/>
          <p:nvPr/>
        </p:nvSpPr>
        <p:spPr>
          <a:xfrm>
            <a:off x="10240871" y="2229769"/>
            <a:ext cx="1210518" cy="1466679"/>
          </a:xfrm>
          <a:prstGeom prst="rect">
            <a:avLst/>
          </a:prstGeom>
          <a:solidFill>
            <a:srgbClr val="EAD3D8">
              <a:alpha val="39000"/>
            </a:srgbClr>
          </a:solidFill>
          <a:ln>
            <a:noFill/>
          </a:ln>
        </p:spPr>
        <p:txBody>
          <a:bodyPr spcFirstLastPara="1" wrap="square" lIns="91425" tIns="45700" rIns="91425" bIns="45700" anchor="ctr" anchorCtr="0">
            <a:noAutofit/>
          </a:bodyPr>
          <a:lstStyle/>
          <a:p>
            <a:r>
              <a:rPr lang="en-IN" sz="1200" b="1">
                <a:solidFill>
                  <a:schemeClr val="dk1"/>
                </a:solidFill>
              </a:rPr>
              <a:t>Issue:</a:t>
            </a:r>
            <a:r>
              <a:rPr lang="en-IN" sz="1200">
                <a:solidFill>
                  <a:schemeClr val="dk1"/>
                </a:solidFill>
              </a:rPr>
              <a:t> Manually harvested paddy may have stubble but is expensive to carry out</a:t>
            </a:r>
          </a:p>
        </p:txBody>
      </p:sp>
      <p:sp>
        <p:nvSpPr>
          <p:cNvPr id="35" name="Google Shape;190;p6">
            <a:extLst>
              <a:ext uri="{FF2B5EF4-FFF2-40B4-BE49-F238E27FC236}">
                <a16:creationId xmlns:a16="http://schemas.microsoft.com/office/drawing/2014/main" id="{8D858431-8596-378F-09E6-E88CF45EECC3}"/>
              </a:ext>
            </a:extLst>
          </p:cNvPr>
          <p:cNvSpPr/>
          <p:nvPr/>
        </p:nvSpPr>
        <p:spPr>
          <a:xfrm>
            <a:off x="2053561" y="2137488"/>
            <a:ext cx="1218406" cy="744903"/>
          </a:xfrm>
          <a:prstGeom prst="roundRect">
            <a:avLst/>
          </a:prstGeom>
          <a:solidFill>
            <a:schemeClr val="accent6">
              <a:lumMod val="60000"/>
              <a:lumOff val="40000"/>
            </a:schemeClr>
          </a:solidFill>
          <a:ln/>
        </p:spPr>
        <p:style>
          <a:lnRef idx="1">
            <a:schemeClr val="accent6"/>
          </a:lnRef>
          <a:fillRef idx="2">
            <a:schemeClr val="accent6"/>
          </a:fillRef>
          <a:effectRef idx="1">
            <a:schemeClr val="accent6"/>
          </a:effectRef>
          <a:fontRef idx="minor">
            <a:schemeClr val="dk1"/>
          </a:fontRef>
        </p:style>
        <p:txBody>
          <a:bodyPr spcFirstLastPara="1" wrap="square" lIns="91425" tIns="45700" rIns="91425" bIns="45700" anchor="ctr" anchorCtr="0">
            <a:noAutofit/>
          </a:bodyPr>
          <a:lstStyle/>
          <a:p>
            <a:pPr algn="ctr"/>
            <a:r>
              <a:rPr lang="en-IN" sz="1100">
                <a:solidFill>
                  <a:schemeClr val="bg1"/>
                </a:solidFill>
              </a:rPr>
              <a:t>Field Clearing Svc: Farmers earn Rs. 500/acre</a:t>
            </a:r>
          </a:p>
        </p:txBody>
      </p:sp>
      <p:sp>
        <p:nvSpPr>
          <p:cNvPr id="36" name="Google Shape;190;p6">
            <a:extLst>
              <a:ext uri="{FF2B5EF4-FFF2-40B4-BE49-F238E27FC236}">
                <a16:creationId xmlns:a16="http://schemas.microsoft.com/office/drawing/2014/main" id="{C32F0511-58B7-9926-47E6-D46937B6B7BC}"/>
              </a:ext>
            </a:extLst>
          </p:cNvPr>
          <p:cNvSpPr/>
          <p:nvPr/>
        </p:nvSpPr>
        <p:spPr>
          <a:xfrm>
            <a:off x="8811683" y="512245"/>
            <a:ext cx="2528898" cy="402299"/>
          </a:xfrm>
          <a:prstGeom prst="rect">
            <a:avLst/>
          </a:prstGeom>
          <a:noFill/>
          <a:ln>
            <a:noFill/>
          </a:ln>
        </p:spPr>
        <p:txBody>
          <a:bodyPr spcFirstLastPara="1" wrap="square" lIns="91425" tIns="45700" rIns="91425" bIns="45700" anchor="ctr" anchorCtr="0">
            <a:noAutofit/>
          </a:bodyPr>
          <a:lstStyle/>
          <a:p>
            <a:pPr algn="ctr">
              <a:buClr>
                <a:schemeClr val="dk1"/>
              </a:buClr>
              <a:buSzPts val="1300"/>
            </a:pPr>
            <a:r>
              <a:rPr lang="en-IN" sz="1300" b="1">
                <a:solidFill>
                  <a:schemeClr val="dk1"/>
                </a:solidFill>
              </a:rPr>
              <a:t>Paddy Mills</a:t>
            </a:r>
          </a:p>
        </p:txBody>
      </p:sp>
      <p:sp>
        <p:nvSpPr>
          <p:cNvPr id="38" name="TextBox 37">
            <a:extLst>
              <a:ext uri="{FF2B5EF4-FFF2-40B4-BE49-F238E27FC236}">
                <a16:creationId xmlns:a16="http://schemas.microsoft.com/office/drawing/2014/main" id="{38687E06-8754-641E-C1EF-2FDA5AEFEB2E}"/>
              </a:ext>
            </a:extLst>
          </p:cNvPr>
          <p:cNvSpPr txBox="1"/>
          <p:nvPr/>
        </p:nvSpPr>
        <p:spPr>
          <a:xfrm>
            <a:off x="344388" y="4347010"/>
            <a:ext cx="369332" cy="2108903"/>
          </a:xfrm>
          <a:prstGeom prst="rect">
            <a:avLst/>
          </a:prstGeom>
          <a:solidFill>
            <a:schemeClr val="accent2">
              <a:lumMod val="50000"/>
            </a:schemeClr>
          </a:solidFill>
        </p:spPr>
        <p:txBody>
          <a:bodyPr vert="vert270" wrap="square" rtlCol="0">
            <a:spAutoFit/>
          </a:bodyPr>
          <a:lstStyle/>
          <a:p>
            <a:r>
              <a:rPr lang="en-IN" sz="1200" b="1">
                <a:solidFill>
                  <a:schemeClr val="bg1"/>
                </a:solidFill>
              </a:rPr>
              <a:t>Procuring through farmers</a:t>
            </a:r>
          </a:p>
        </p:txBody>
      </p:sp>
      <p:sp>
        <p:nvSpPr>
          <p:cNvPr id="40" name="Isosceles Triangle 39">
            <a:extLst>
              <a:ext uri="{FF2B5EF4-FFF2-40B4-BE49-F238E27FC236}">
                <a16:creationId xmlns:a16="http://schemas.microsoft.com/office/drawing/2014/main" id="{439967DA-BA7D-721F-D927-61DFE4582F67}"/>
              </a:ext>
            </a:extLst>
          </p:cNvPr>
          <p:cNvSpPr/>
          <p:nvPr/>
        </p:nvSpPr>
        <p:spPr>
          <a:xfrm rot="10800000">
            <a:off x="912995" y="3791955"/>
            <a:ext cx="2394049" cy="207463"/>
          </a:xfrm>
          <a:prstGeom prst="triangle">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CAD85730-F694-0133-6421-16EDBFF98E5F}"/>
              </a:ext>
            </a:extLst>
          </p:cNvPr>
          <p:cNvSpPr txBox="1"/>
          <p:nvPr/>
        </p:nvSpPr>
        <p:spPr>
          <a:xfrm>
            <a:off x="307543" y="1004041"/>
            <a:ext cx="369332" cy="2686547"/>
          </a:xfrm>
          <a:prstGeom prst="rect">
            <a:avLst/>
          </a:prstGeom>
          <a:solidFill>
            <a:schemeClr val="accent2">
              <a:lumMod val="50000"/>
            </a:schemeClr>
          </a:solidFill>
        </p:spPr>
        <p:txBody>
          <a:bodyPr vert="vert270" wrap="square" lIns="91440" tIns="45720" rIns="91440" bIns="45720" rtlCol="0" anchor="ctr">
            <a:spAutoFit/>
          </a:bodyPr>
          <a:lstStyle/>
          <a:p>
            <a:pPr algn="ctr"/>
            <a:r>
              <a:rPr lang="en-IN" sz="1200" b="1">
                <a:solidFill>
                  <a:schemeClr val="bg1"/>
                </a:solidFill>
              </a:rPr>
              <a:t>Procurement Channels</a:t>
            </a:r>
            <a:endParaRPr lang="en-US" sz="1200">
              <a:solidFill>
                <a:schemeClr val="bg1"/>
              </a:solidFill>
            </a:endParaRPr>
          </a:p>
        </p:txBody>
      </p:sp>
      <p:sp>
        <p:nvSpPr>
          <p:cNvPr id="20" name="Google Shape;190;p6">
            <a:extLst>
              <a:ext uri="{FF2B5EF4-FFF2-40B4-BE49-F238E27FC236}">
                <a16:creationId xmlns:a16="http://schemas.microsoft.com/office/drawing/2014/main" id="{EEB3E5F4-9B08-59CC-5381-D75D9A5F5ADD}"/>
              </a:ext>
            </a:extLst>
          </p:cNvPr>
          <p:cNvSpPr/>
          <p:nvPr/>
        </p:nvSpPr>
        <p:spPr>
          <a:xfrm>
            <a:off x="2055817" y="2969929"/>
            <a:ext cx="1216149" cy="690513"/>
          </a:xfrm>
          <a:prstGeom prst="roundRect">
            <a:avLst/>
          </a:prstGeom>
          <a:solidFill>
            <a:schemeClr val="accent6">
              <a:lumMod val="60000"/>
              <a:lumOff val="40000"/>
            </a:schemeClr>
          </a:solidFill>
          <a:ln/>
        </p:spPr>
        <p:style>
          <a:lnRef idx="1">
            <a:schemeClr val="accent6"/>
          </a:lnRef>
          <a:fillRef idx="2">
            <a:schemeClr val="accent6"/>
          </a:fillRef>
          <a:effectRef idx="1">
            <a:schemeClr val="accent6"/>
          </a:effectRef>
          <a:fontRef idx="minor">
            <a:schemeClr val="dk1"/>
          </a:fontRef>
        </p:style>
        <p:txBody>
          <a:bodyPr spcFirstLastPara="1" wrap="square" lIns="91425" tIns="45700" rIns="91425" bIns="45700" anchor="ctr" anchorCtr="0">
            <a:noAutofit/>
          </a:bodyPr>
          <a:lstStyle/>
          <a:p>
            <a:pPr algn="ctr"/>
            <a:r>
              <a:rPr lang="en-IN" sz="1100">
                <a:solidFill>
                  <a:srgbClr val="FFFFFF"/>
                </a:solidFill>
              </a:rPr>
              <a:t>Focus on large farmers as superior channel</a:t>
            </a:r>
            <a:endParaRPr lang="en-US" sz="1100">
              <a:solidFill>
                <a:srgbClr val="FFFFFF"/>
              </a:solidFill>
            </a:endParaRPr>
          </a:p>
        </p:txBody>
      </p:sp>
      <p:sp>
        <p:nvSpPr>
          <p:cNvPr id="42" name="Rectangle 41">
            <a:extLst>
              <a:ext uri="{FF2B5EF4-FFF2-40B4-BE49-F238E27FC236}">
                <a16:creationId xmlns:a16="http://schemas.microsoft.com/office/drawing/2014/main" id="{FE0D24B0-E2AF-759E-9021-41F792911F65}"/>
              </a:ext>
            </a:extLst>
          </p:cNvPr>
          <p:cNvSpPr/>
          <p:nvPr/>
        </p:nvSpPr>
        <p:spPr>
          <a:xfrm>
            <a:off x="3430298" y="3701643"/>
            <a:ext cx="8010238" cy="221236"/>
          </a:xfrm>
          <a:prstGeom prst="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200">
                <a:solidFill>
                  <a:schemeClr val="tx1"/>
                </a:solidFill>
                <a:cs typeface="Arial"/>
              </a:rPr>
              <a:t>With 3P service, the problem would be to negotiate for optimal terms – direct procurement problems is off-loaded</a:t>
            </a:r>
          </a:p>
        </p:txBody>
      </p:sp>
      <p:sp>
        <p:nvSpPr>
          <p:cNvPr id="28" name="Rectangle 27">
            <a:extLst>
              <a:ext uri="{FF2B5EF4-FFF2-40B4-BE49-F238E27FC236}">
                <a16:creationId xmlns:a16="http://schemas.microsoft.com/office/drawing/2014/main" id="{C63814CB-4156-226A-C049-92A32184A42F}"/>
              </a:ext>
            </a:extLst>
          </p:cNvPr>
          <p:cNvSpPr/>
          <p:nvPr/>
        </p:nvSpPr>
        <p:spPr>
          <a:xfrm>
            <a:off x="718304" y="586623"/>
            <a:ext cx="2636209" cy="3153795"/>
          </a:xfrm>
          <a:prstGeom prst="rect">
            <a:avLst/>
          </a:prstGeom>
          <a:noFill/>
          <a:ln>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2" name="Group 61">
            <a:extLst>
              <a:ext uri="{FF2B5EF4-FFF2-40B4-BE49-F238E27FC236}">
                <a16:creationId xmlns:a16="http://schemas.microsoft.com/office/drawing/2014/main" id="{5BE25F80-9DAC-9542-778E-8FFE9C98BFC6}"/>
              </a:ext>
            </a:extLst>
          </p:cNvPr>
          <p:cNvGrpSpPr/>
          <p:nvPr/>
        </p:nvGrpSpPr>
        <p:grpSpPr>
          <a:xfrm>
            <a:off x="53197" y="6638003"/>
            <a:ext cx="11948715" cy="195823"/>
            <a:chOff x="53197" y="6638003"/>
            <a:chExt cx="11948715" cy="195823"/>
          </a:xfrm>
        </p:grpSpPr>
        <p:sp>
          <p:nvSpPr>
            <p:cNvPr id="37" name="Arrow: Pentagon 36">
              <a:extLst>
                <a:ext uri="{FF2B5EF4-FFF2-40B4-BE49-F238E27FC236}">
                  <a16:creationId xmlns:a16="http://schemas.microsoft.com/office/drawing/2014/main" id="{487530C7-4395-0DC6-6341-82307D7C0FE7}"/>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39" name="Arrow: Chevron 38">
              <a:extLst>
                <a:ext uri="{FF2B5EF4-FFF2-40B4-BE49-F238E27FC236}">
                  <a16:creationId xmlns:a16="http://schemas.microsoft.com/office/drawing/2014/main" id="{781E23AF-9E1B-BAB1-84F2-93149C6F3E7B}"/>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41" name="Arrow: Chevron 40">
              <a:extLst>
                <a:ext uri="{FF2B5EF4-FFF2-40B4-BE49-F238E27FC236}">
                  <a16:creationId xmlns:a16="http://schemas.microsoft.com/office/drawing/2014/main" id="{91B3DA94-0E39-623E-ABDA-7C903AB94F70}"/>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SC Analysis</a:t>
              </a:r>
            </a:p>
          </p:txBody>
        </p:sp>
        <p:sp>
          <p:nvSpPr>
            <p:cNvPr id="53" name="Arrow: Chevron 52">
              <a:extLst>
                <a:ext uri="{FF2B5EF4-FFF2-40B4-BE49-F238E27FC236}">
                  <a16:creationId xmlns:a16="http://schemas.microsoft.com/office/drawing/2014/main" id="{EDA6F0A0-207F-F40A-BAD2-1D2FB8820667}"/>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56" name="Arrow: Chevron 55">
              <a:extLst>
                <a:ext uri="{FF2B5EF4-FFF2-40B4-BE49-F238E27FC236}">
                  <a16:creationId xmlns:a16="http://schemas.microsoft.com/office/drawing/2014/main" id="{031DC57E-07D0-B033-6C46-356084A2B7FD}"/>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57" name="Arrow: Chevron 56">
              <a:extLst>
                <a:ext uri="{FF2B5EF4-FFF2-40B4-BE49-F238E27FC236}">
                  <a16:creationId xmlns:a16="http://schemas.microsoft.com/office/drawing/2014/main" id="{B87B2C34-ABAA-B753-DDB1-F638022E1ABB}"/>
                </a:ext>
              </a:extLst>
            </p:cNvPr>
            <p:cNvSpPr/>
            <p:nvPr/>
          </p:nvSpPr>
          <p:spPr>
            <a:xfrm>
              <a:off x="6049705" y="6639231"/>
              <a:ext cx="1215514" cy="194595"/>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Procurement</a:t>
              </a:r>
              <a:endParaRPr lang="en-US" sz="1050">
                <a:solidFill>
                  <a:schemeClr val="bg1"/>
                </a:solidFill>
                <a:cs typeface="Arial"/>
              </a:endParaRPr>
            </a:p>
          </p:txBody>
        </p:sp>
        <p:sp>
          <p:nvSpPr>
            <p:cNvPr id="58" name="Arrow: Chevron 57">
              <a:extLst>
                <a:ext uri="{FF2B5EF4-FFF2-40B4-BE49-F238E27FC236}">
                  <a16:creationId xmlns:a16="http://schemas.microsoft.com/office/drawing/2014/main" id="{799F9F66-64ED-F739-AC31-D38840148724}"/>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59" name="Arrow: Chevron 58">
              <a:extLst>
                <a:ext uri="{FF2B5EF4-FFF2-40B4-BE49-F238E27FC236}">
                  <a16:creationId xmlns:a16="http://schemas.microsoft.com/office/drawing/2014/main" id="{58D890BD-CBD5-6362-9569-BF848F24757D}"/>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60" name="Arrow: Chevron 59">
              <a:extLst>
                <a:ext uri="{FF2B5EF4-FFF2-40B4-BE49-F238E27FC236}">
                  <a16:creationId xmlns:a16="http://schemas.microsoft.com/office/drawing/2014/main" id="{4A8B1C9A-6486-A45B-1961-BB84FEDF1720}"/>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61" name="Arrow: Chevron 60">
              <a:extLst>
                <a:ext uri="{FF2B5EF4-FFF2-40B4-BE49-F238E27FC236}">
                  <a16:creationId xmlns:a16="http://schemas.microsoft.com/office/drawing/2014/main" id="{3E181998-5DA9-346C-71D1-1212C727B47A}"/>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spTree>
    <p:extLst>
      <p:ext uri="{BB962C8B-B14F-4D97-AF65-F5344CB8AC3E}">
        <p14:creationId xmlns:p14="http://schemas.microsoft.com/office/powerpoint/2010/main" val="51073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6" name="Google Shape;189;p6">
            <a:extLst>
              <a:ext uri="{FF2B5EF4-FFF2-40B4-BE49-F238E27FC236}">
                <a16:creationId xmlns:a16="http://schemas.microsoft.com/office/drawing/2014/main" id="{8968DC21-AD21-879D-BF9C-961C664A95EA}"/>
              </a:ext>
            </a:extLst>
          </p:cNvPr>
          <p:cNvSpPr/>
          <p:nvPr/>
        </p:nvSpPr>
        <p:spPr>
          <a:xfrm rot="16200000">
            <a:off x="-1225376" y="3917704"/>
            <a:ext cx="3145435" cy="443317"/>
          </a:xfrm>
          <a:prstGeom prst="homePlate">
            <a:avLst>
              <a:gd name="adj" fmla="val 50000"/>
            </a:avLst>
          </a:prstGeom>
          <a:solidFill>
            <a:schemeClr val="accent6"/>
          </a:solidFill>
          <a:ln>
            <a:noFill/>
          </a:ln>
        </p:spPr>
        <p:txBody>
          <a:bodyPr spcFirstLastPara="1" wrap="square" lIns="91425" tIns="45700" rIns="91425" bIns="45700" anchor="ctr" anchorCtr="0">
            <a:noAutofit/>
          </a:bodyPr>
          <a:lstStyle/>
          <a:p>
            <a:pPr algn="ctr"/>
            <a:r>
              <a:rPr lang="en-GB" sz="1300" b="1">
                <a:solidFill>
                  <a:schemeClr val="lt1"/>
                </a:solidFill>
              </a:rPr>
              <a:t>Network Transport Analysis</a:t>
            </a:r>
            <a:endParaRPr lang="en-US"/>
          </a:p>
        </p:txBody>
      </p:sp>
      <p:sp>
        <p:nvSpPr>
          <p:cNvPr id="7" name="Arrow: Chevron 6">
            <a:extLst>
              <a:ext uri="{FF2B5EF4-FFF2-40B4-BE49-F238E27FC236}">
                <a16:creationId xmlns:a16="http://schemas.microsoft.com/office/drawing/2014/main" id="{CE182687-CCD8-B148-6AC7-5703F5CEB4B5}"/>
              </a:ext>
            </a:extLst>
          </p:cNvPr>
          <p:cNvSpPr/>
          <p:nvPr/>
        </p:nvSpPr>
        <p:spPr>
          <a:xfrm rot="16200000">
            <a:off x="-537732" y="1561389"/>
            <a:ext cx="1783032" cy="432537"/>
          </a:xfrm>
          <a:prstGeom prst="chevron">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rtlCol="0" anchor="ctr"/>
          <a:lstStyle/>
          <a:p>
            <a:pPr algn="ctr"/>
            <a:r>
              <a:rPr lang="en-GB" sz="1300" b="1">
                <a:solidFill>
                  <a:schemeClr val="bg1"/>
                </a:solidFill>
                <a:cs typeface="Arial"/>
              </a:rPr>
              <a:t>Route Choice</a:t>
            </a:r>
          </a:p>
        </p:txBody>
      </p:sp>
      <p:sp>
        <p:nvSpPr>
          <p:cNvPr id="3" name="Google Shape;190;p6">
            <a:extLst>
              <a:ext uri="{FF2B5EF4-FFF2-40B4-BE49-F238E27FC236}">
                <a16:creationId xmlns:a16="http://schemas.microsoft.com/office/drawing/2014/main" id="{DDD3E300-C180-F2C3-0944-8DC68E86B4E2}"/>
              </a:ext>
            </a:extLst>
          </p:cNvPr>
          <p:cNvSpPr/>
          <p:nvPr/>
        </p:nvSpPr>
        <p:spPr>
          <a:xfrm>
            <a:off x="700992" y="887431"/>
            <a:ext cx="3865423" cy="581888"/>
          </a:xfrm>
          <a:prstGeom prst="rect">
            <a:avLst/>
          </a:prstGeom>
          <a:solidFill>
            <a:srgbClr val="F3E5E8"/>
          </a:solidFill>
          <a:ln>
            <a:noFill/>
          </a:ln>
        </p:spPr>
        <p:txBody>
          <a:bodyPr spcFirstLastPara="1" wrap="square" lIns="91425" tIns="45700" rIns="91425" bIns="45700" anchor="ctr" anchorCtr="0">
            <a:noAutofit/>
          </a:bodyPr>
          <a:lstStyle/>
          <a:p>
            <a:r>
              <a:rPr lang="en-US" sz="1200"/>
              <a:t>To minimize distance traversed &amp; enhance collection schedule for maximum collection efficiency in a short window, </a:t>
            </a:r>
            <a:r>
              <a:rPr lang="en-US" sz="1200" b="1"/>
              <a:t>route optimization</a:t>
            </a:r>
            <a:r>
              <a:rPr lang="en-US" sz="1200"/>
              <a:t> is required.</a:t>
            </a:r>
          </a:p>
        </p:txBody>
      </p:sp>
      <p:sp>
        <p:nvSpPr>
          <p:cNvPr id="4" name="Google Shape;190;p6">
            <a:extLst>
              <a:ext uri="{FF2B5EF4-FFF2-40B4-BE49-F238E27FC236}">
                <a16:creationId xmlns:a16="http://schemas.microsoft.com/office/drawing/2014/main" id="{891F2EDC-1A01-D6FF-1965-8701717A213A}"/>
              </a:ext>
            </a:extLst>
          </p:cNvPr>
          <p:cNvSpPr/>
          <p:nvPr/>
        </p:nvSpPr>
        <p:spPr>
          <a:xfrm>
            <a:off x="700991" y="1509020"/>
            <a:ext cx="3865423" cy="432538"/>
          </a:xfrm>
          <a:prstGeom prst="rect">
            <a:avLst/>
          </a:prstGeom>
          <a:solidFill>
            <a:srgbClr val="F3E5E8"/>
          </a:solidFill>
          <a:ln>
            <a:noFill/>
          </a:ln>
        </p:spPr>
        <p:txBody>
          <a:bodyPr spcFirstLastPara="1" wrap="square" lIns="91425" tIns="45700" rIns="91425" bIns="45700" anchor="ctr" anchorCtr="0">
            <a:noAutofit/>
          </a:bodyPr>
          <a:lstStyle/>
          <a:p>
            <a:r>
              <a:rPr lang="en-US" sz="1200" b="1"/>
              <a:t>Dynamic Vehicle Routing Problem</a:t>
            </a:r>
            <a:r>
              <a:rPr lang="en-US" sz="1200"/>
              <a:t>: Plans routes by minimizing distance &amp; adapts to changing conditions</a:t>
            </a:r>
          </a:p>
        </p:txBody>
      </p:sp>
      <p:sp>
        <p:nvSpPr>
          <p:cNvPr id="5" name="Google Shape;190;p6">
            <a:extLst>
              <a:ext uri="{FF2B5EF4-FFF2-40B4-BE49-F238E27FC236}">
                <a16:creationId xmlns:a16="http://schemas.microsoft.com/office/drawing/2014/main" id="{78479604-41CB-18F6-99F1-72440D6F7E12}"/>
              </a:ext>
            </a:extLst>
          </p:cNvPr>
          <p:cNvSpPr/>
          <p:nvPr/>
        </p:nvSpPr>
        <p:spPr>
          <a:xfrm>
            <a:off x="700990" y="1998350"/>
            <a:ext cx="3865423" cy="432538"/>
          </a:xfrm>
          <a:prstGeom prst="rect">
            <a:avLst/>
          </a:prstGeom>
          <a:solidFill>
            <a:srgbClr val="F3E5E8"/>
          </a:solidFill>
          <a:ln>
            <a:noFill/>
          </a:ln>
        </p:spPr>
        <p:txBody>
          <a:bodyPr spcFirstLastPara="1" wrap="square" lIns="91425" tIns="45700" rIns="91425" bIns="45700" anchor="ctr" anchorCtr="0">
            <a:noAutofit/>
          </a:bodyPr>
          <a:lstStyle/>
          <a:p>
            <a:r>
              <a:rPr lang="en-US" sz="1200" b="1"/>
              <a:t>Multi-Objective Route Optimization</a:t>
            </a:r>
            <a:r>
              <a:rPr lang="en-US" sz="1200"/>
              <a:t>: Optimizes routes considering multiple objectives</a:t>
            </a:r>
          </a:p>
        </p:txBody>
      </p:sp>
      <p:sp>
        <p:nvSpPr>
          <p:cNvPr id="8" name="Google Shape;190;p6">
            <a:extLst>
              <a:ext uri="{FF2B5EF4-FFF2-40B4-BE49-F238E27FC236}">
                <a16:creationId xmlns:a16="http://schemas.microsoft.com/office/drawing/2014/main" id="{9F9CBEF7-9306-5CBF-E79A-813583DB3966}"/>
              </a:ext>
            </a:extLst>
          </p:cNvPr>
          <p:cNvSpPr/>
          <p:nvPr/>
        </p:nvSpPr>
        <p:spPr>
          <a:xfrm>
            <a:off x="700989" y="2475585"/>
            <a:ext cx="3865423" cy="432538"/>
          </a:xfrm>
          <a:prstGeom prst="rect">
            <a:avLst/>
          </a:prstGeom>
          <a:solidFill>
            <a:srgbClr val="F3E5E8"/>
          </a:solidFill>
          <a:ln>
            <a:noFill/>
          </a:ln>
        </p:spPr>
        <p:txBody>
          <a:bodyPr spcFirstLastPara="1" wrap="square" lIns="91425" tIns="45700" rIns="91425" bIns="45700" anchor="ctr" anchorCtr="0">
            <a:noAutofit/>
          </a:bodyPr>
          <a:lstStyle/>
          <a:p>
            <a:r>
              <a:rPr lang="en-US" sz="1200" b="1"/>
              <a:t>Iterated Local Search</a:t>
            </a:r>
            <a:r>
              <a:rPr lang="en-US" sz="1200"/>
              <a:t>: Apply local search heuristics to improve current solution as new areas are added</a:t>
            </a:r>
          </a:p>
        </p:txBody>
      </p:sp>
      <p:sp>
        <p:nvSpPr>
          <p:cNvPr id="11" name="Google Shape;190;p6">
            <a:extLst>
              <a:ext uri="{FF2B5EF4-FFF2-40B4-BE49-F238E27FC236}">
                <a16:creationId xmlns:a16="http://schemas.microsoft.com/office/drawing/2014/main" id="{BB938CCF-ED76-3965-F2E1-914FFAC28E12}"/>
              </a:ext>
            </a:extLst>
          </p:cNvPr>
          <p:cNvSpPr/>
          <p:nvPr/>
        </p:nvSpPr>
        <p:spPr>
          <a:xfrm>
            <a:off x="702524" y="2967054"/>
            <a:ext cx="3865421" cy="285029"/>
          </a:xfrm>
          <a:prstGeom prst="rect">
            <a:avLst/>
          </a:prstGeom>
          <a:solidFill>
            <a:srgbClr val="7D3C4A"/>
          </a:solidFill>
          <a:ln>
            <a:noFill/>
          </a:ln>
        </p:spPr>
        <p:txBody>
          <a:bodyPr spcFirstLastPara="1" wrap="square" lIns="91425" tIns="45700" rIns="91425" bIns="45700" anchor="ctr" anchorCtr="0">
            <a:noAutofit/>
          </a:bodyPr>
          <a:lstStyle/>
          <a:p>
            <a:pPr algn="ctr"/>
            <a:r>
              <a:rPr lang="en-IN" sz="1200" b="1">
                <a:solidFill>
                  <a:schemeClr val="bg1"/>
                </a:solidFill>
              </a:rPr>
              <a:t>Transport of Stubble</a:t>
            </a:r>
            <a:endParaRPr lang="en-US" b="1">
              <a:solidFill>
                <a:schemeClr val="bg1"/>
              </a:solidFill>
            </a:endParaRPr>
          </a:p>
        </p:txBody>
      </p:sp>
      <p:sp>
        <p:nvSpPr>
          <p:cNvPr id="12" name="Google Shape;190;p6">
            <a:extLst>
              <a:ext uri="{FF2B5EF4-FFF2-40B4-BE49-F238E27FC236}">
                <a16:creationId xmlns:a16="http://schemas.microsoft.com/office/drawing/2014/main" id="{66FED717-4E5A-69BC-59C8-CCF872F8EDDB}"/>
              </a:ext>
            </a:extLst>
          </p:cNvPr>
          <p:cNvSpPr/>
          <p:nvPr/>
        </p:nvSpPr>
        <p:spPr>
          <a:xfrm>
            <a:off x="700463" y="3289647"/>
            <a:ext cx="1228662" cy="233231"/>
          </a:xfrm>
          <a:prstGeom prst="rect">
            <a:avLst/>
          </a:prstGeom>
          <a:solidFill>
            <a:srgbClr val="F3E5E8"/>
          </a:solidFill>
          <a:ln>
            <a:noFill/>
          </a:ln>
        </p:spPr>
        <p:txBody>
          <a:bodyPr spcFirstLastPara="1" wrap="square" lIns="91425" tIns="45700" rIns="91425" bIns="45700" anchor="ctr" anchorCtr="0">
            <a:noAutofit/>
          </a:bodyPr>
          <a:lstStyle/>
          <a:p>
            <a:pPr algn="ctr"/>
            <a:r>
              <a:rPr lang="en-US" sz="1200" b="1"/>
              <a:t>Truck</a:t>
            </a:r>
            <a:endParaRPr lang="en-US"/>
          </a:p>
        </p:txBody>
      </p:sp>
      <p:sp>
        <p:nvSpPr>
          <p:cNvPr id="13" name="Google Shape;190;p6">
            <a:extLst>
              <a:ext uri="{FF2B5EF4-FFF2-40B4-BE49-F238E27FC236}">
                <a16:creationId xmlns:a16="http://schemas.microsoft.com/office/drawing/2014/main" id="{6C423E38-0707-E963-6D65-E17CBA3156EA}"/>
              </a:ext>
            </a:extLst>
          </p:cNvPr>
          <p:cNvSpPr/>
          <p:nvPr/>
        </p:nvSpPr>
        <p:spPr>
          <a:xfrm>
            <a:off x="2023838" y="3289646"/>
            <a:ext cx="1228662" cy="233231"/>
          </a:xfrm>
          <a:prstGeom prst="rect">
            <a:avLst/>
          </a:prstGeom>
          <a:solidFill>
            <a:srgbClr val="F3E5E8"/>
          </a:solidFill>
          <a:ln>
            <a:noFill/>
          </a:ln>
        </p:spPr>
        <p:txBody>
          <a:bodyPr spcFirstLastPara="1" wrap="square" lIns="91425" tIns="45700" rIns="91425" bIns="45700" anchor="ctr" anchorCtr="0">
            <a:noAutofit/>
          </a:bodyPr>
          <a:lstStyle/>
          <a:p>
            <a:pPr algn="ctr"/>
            <a:r>
              <a:rPr lang="en-US" sz="1200" b="1"/>
              <a:t>Train</a:t>
            </a:r>
            <a:endParaRPr lang="en-US"/>
          </a:p>
        </p:txBody>
      </p:sp>
      <p:sp>
        <p:nvSpPr>
          <p:cNvPr id="14" name="Google Shape;190;p6">
            <a:extLst>
              <a:ext uri="{FF2B5EF4-FFF2-40B4-BE49-F238E27FC236}">
                <a16:creationId xmlns:a16="http://schemas.microsoft.com/office/drawing/2014/main" id="{61592C4D-5257-D798-6266-4673E57F9DE5}"/>
              </a:ext>
            </a:extLst>
          </p:cNvPr>
          <p:cNvSpPr/>
          <p:nvPr/>
        </p:nvSpPr>
        <p:spPr>
          <a:xfrm>
            <a:off x="3353790" y="3289647"/>
            <a:ext cx="1228662" cy="233231"/>
          </a:xfrm>
          <a:prstGeom prst="rect">
            <a:avLst/>
          </a:prstGeom>
          <a:solidFill>
            <a:srgbClr val="F3E5E8"/>
          </a:solidFill>
          <a:ln>
            <a:noFill/>
          </a:ln>
        </p:spPr>
        <p:txBody>
          <a:bodyPr spcFirstLastPara="1" wrap="square" lIns="91425" tIns="45700" rIns="91425" bIns="45700" anchor="ctr" anchorCtr="0">
            <a:noAutofit/>
          </a:bodyPr>
          <a:lstStyle/>
          <a:p>
            <a:pPr algn="ctr"/>
            <a:r>
              <a:rPr lang="en-US" sz="1200" b="1"/>
              <a:t>Others</a:t>
            </a:r>
            <a:endParaRPr lang="en-US"/>
          </a:p>
        </p:txBody>
      </p:sp>
      <p:sp>
        <p:nvSpPr>
          <p:cNvPr id="15" name="Google Shape;190;p6">
            <a:extLst>
              <a:ext uri="{FF2B5EF4-FFF2-40B4-BE49-F238E27FC236}">
                <a16:creationId xmlns:a16="http://schemas.microsoft.com/office/drawing/2014/main" id="{C8CB16C7-2F3F-572A-8EB6-5B3908C2EC46}"/>
              </a:ext>
            </a:extLst>
          </p:cNvPr>
          <p:cNvSpPr/>
          <p:nvPr/>
        </p:nvSpPr>
        <p:spPr>
          <a:xfrm>
            <a:off x="700462" y="3596235"/>
            <a:ext cx="1228662" cy="1182443"/>
          </a:xfrm>
          <a:prstGeom prst="rect">
            <a:avLst/>
          </a:prstGeom>
          <a:noFill/>
          <a:ln>
            <a:solidFill>
              <a:schemeClr val="accent6">
                <a:lumMod val="40000"/>
                <a:lumOff val="60000"/>
              </a:schemeClr>
            </a:solidFill>
            <a:prstDash val="dash"/>
          </a:ln>
        </p:spPr>
        <p:txBody>
          <a:bodyPr spcFirstLastPara="1" wrap="square" lIns="91425" tIns="45700" rIns="91425" bIns="45700" anchor="ctr" anchorCtr="0">
            <a:noAutofit/>
          </a:bodyPr>
          <a:lstStyle/>
          <a:p>
            <a:pPr algn="ctr"/>
            <a:r>
              <a:rPr lang="en-US" sz="1200"/>
              <a:t>Cost/KM for 1Ton = Rs. 1.1</a:t>
            </a:r>
            <a:endParaRPr lang="en-US"/>
          </a:p>
          <a:p>
            <a:pPr algn="ctr"/>
            <a:r>
              <a:rPr lang="en-US" sz="1200"/>
              <a:t>Cost/KM for 18MW plant’s material = Rs. 2.3 Lakh</a:t>
            </a:r>
            <a:endParaRPr lang="en-US"/>
          </a:p>
        </p:txBody>
      </p:sp>
      <p:sp>
        <p:nvSpPr>
          <p:cNvPr id="16" name="Google Shape;190;p6">
            <a:extLst>
              <a:ext uri="{FF2B5EF4-FFF2-40B4-BE49-F238E27FC236}">
                <a16:creationId xmlns:a16="http://schemas.microsoft.com/office/drawing/2014/main" id="{D9E39209-58C5-422E-768A-7E47139566E3}"/>
              </a:ext>
            </a:extLst>
          </p:cNvPr>
          <p:cNvSpPr/>
          <p:nvPr/>
        </p:nvSpPr>
        <p:spPr>
          <a:xfrm>
            <a:off x="2023838" y="3596234"/>
            <a:ext cx="1228662" cy="1182443"/>
          </a:xfrm>
          <a:prstGeom prst="rect">
            <a:avLst/>
          </a:prstGeom>
          <a:noFill/>
          <a:ln>
            <a:solidFill>
              <a:schemeClr val="accent6">
                <a:lumMod val="40000"/>
                <a:lumOff val="60000"/>
              </a:schemeClr>
            </a:solidFill>
            <a:prstDash val="dash"/>
          </a:ln>
        </p:spPr>
        <p:txBody>
          <a:bodyPr spcFirstLastPara="1" wrap="square" lIns="91425" tIns="45700" rIns="91425" bIns="45700" anchor="ctr" anchorCtr="0">
            <a:noAutofit/>
          </a:bodyPr>
          <a:lstStyle/>
          <a:p>
            <a:pPr algn="ctr"/>
            <a:r>
              <a:rPr lang="en-US" sz="1200"/>
              <a:t>Cost/KM for 1Ton = Rs. 0.8</a:t>
            </a:r>
            <a:endParaRPr lang="en-US"/>
          </a:p>
          <a:p>
            <a:pPr algn="ctr"/>
            <a:r>
              <a:rPr lang="en-US" sz="1200"/>
              <a:t>Cost/KM for 18MW plant’s material = Rs. 1.7 Lakh</a:t>
            </a:r>
            <a:endParaRPr lang="en-US"/>
          </a:p>
        </p:txBody>
      </p:sp>
      <p:sp>
        <p:nvSpPr>
          <p:cNvPr id="17" name="Google Shape;190;p6">
            <a:extLst>
              <a:ext uri="{FF2B5EF4-FFF2-40B4-BE49-F238E27FC236}">
                <a16:creationId xmlns:a16="http://schemas.microsoft.com/office/drawing/2014/main" id="{6208842D-14D0-3E27-E400-500BF8AD8CD9}"/>
              </a:ext>
            </a:extLst>
          </p:cNvPr>
          <p:cNvSpPr/>
          <p:nvPr/>
        </p:nvSpPr>
        <p:spPr>
          <a:xfrm>
            <a:off x="3337222" y="3596233"/>
            <a:ext cx="1228662" cy="1182443"/>
          </a:xfrm>
          <a:prstGeom prst="rect">
            <a:avLst/>
          </a:prstGeom>
          <a:noFill/>
          <a:ln>
            <a:solidFill>
              <a:schemeClr val="accent6">
                <a:lumMod val="40000"/>
                <a:lumOff val="60000"/>
              </a:schemeClr>
            </a:solidFill>
            <a:prstDash val="dash"/>
          </a:ln>
        </p:spPr>
        <p:txBody>
          <a:bodyPr spcFirstLastPara="1" wrap="square" lIns="91425" tIns="45700" rIns="91425" bIns="45700" anchor="ctr" anchorCtr="0">
            <a:noAutofit/>
          </a:bodyPr>
          <a:lstStyle/>
          <a:p>
            <a:pPr algn="ctr"/>
            <a:r>
              <a:rPr lang="en-US" sz="1200"/>
              <a:t>Trolley likely to have lower load capacity, making it more expensive than Truck</a:t>
            </a:r>
            <a:endParaRPr lang="en-US"/>
          </a:p>
        </p:txBody>
      </p:sp>
      <p:sp>
        <p:nvSpPr>
          <p:cNvPr id="18" name="Google Shape;190;p6">
            <a:extLst>
              <a:ext uri="{FF2B5EF4-FFF2-40B4-BE49-F238E27FC236}">
                <a16:creationId xmlns:a16="http://schemas.microsoft.com/office/drawing/2014/main" id="{B3F0AF23-3441-A530-DBB9-A076922A070D}"/>
              </a:ext>
            </a:extLst>
          </p:cNvPr>
          <p:cNvSpPr/>
          <p:nvPr/>
        </p:nvSpPr>
        <p:spPr>
          <a:xfrm>
            <a:off x="704932" y="4838625"/>
            <a:ext cx="1228662" cy="867966"/>
          </a:xfrm>
          <a:prstGeom prst="rect">
            <a:avLst/>
          </a:prstGeom>
          <a:solidFill>
            <a:schemeClr val="accent6"/>
          </a:solidFill>
          <a:ln>
            <a:noFill/>
          </a:ln>
        </p:spPr>
        <p:txBody>
          <a:bodyPr spcFirstLastPara="1" wrap="square" lIns="91425" tIns="45700" rIns="91425" bIns="45700" anchor="ctr" anchorCtr="0">
            <a:noAutofit/>
          </a:bodyPr>
          <a:lstStyle/>
          <a:p>
            <a:pPr algn="ctr"/>
            <a:r>
              <a:rPr lang="en-US" sz="1200">
                <a:solidFill>
                  <a:srgbClr val="FFFFFF"/>
                </a:solidFill>
              </a:rPr>
              <a:t>Cost for short dist. (&lt;50KM) = ~Rs. 1.15Cr </a:t>
            </a:r>
            <a:endParaRPr lang="en-US">
              <a:solidFill>
                <a:srgbClr val="FFFFFF"/>
              </a:solidFill>
            </a:endParaRPr>
          </a:p>
        </p:txBody>
      </p:sp>
      <p:sp>
        <p:nvSpPr>
          <p:cNvPr id="20" name="Google Shape;190;p6">
            <a:extLst>
              <a:ext uri="{FF2B5EF4-FFF2-40B4-BE49-F238E27FC236}">
                <a16:creationId xmlns:a16="http://schemas.microsoft.com/office/drawing/2014/main" id="{C1FD3442-DEB8-9DFA-314F-2403452247F1}"/>
              </a:ext>
            </a:extLst>
          </p:cNvPr>
          <p:cNvSpPr/>
          <p:nvPr/>
        </p:nvSpPr>
        <p:spPr>
          <a:xfrm>
            <a:off x="2022785" y="4838624"/>
            <a:ext cx="1228662" cy="867967"/>
          </a:xfrm>
          <a:prstGeom prst="rect">
            <a:avLst/>
          </a:prstGeom>
          <a:noFill/>
          <a:ln>
            <a:solidFill>
              <a:schemeClr val="accent6">
                <a:lumMod val="40000"/>
                <a:lumOff val="60000"/>
              </a:schemeClr>
            </a:solidFill>
            <a:prstDash val="dash"/>
          </a:ln>
        </p:spPr>
        <p:txBody>
          <a:bodyPr spcFirstLastPara="1" wrap="square" lIns="91425" tIns="45700" rIns="91425" bIns="45700" anchor="ctr" anchorCtr="0">
            <a:noAutofit/>
          </a:bodyPr>
          <a:lstStyle/>
          <a:p>
            <a:pPr algn="ctr"/>
            <a:r>
              <a:rPr lang="en-US" sz="1200"/>
              <a:t>Cost for long dist. (&lt;100KM) = Rs. 1.7Cr+ </a:t>
            </a:r>
            <a:endParaRPr lang="en-US"/>
          </a:p>
        </p:txBody>
      </p:sp>
      <p:sp>
        <p:nvSpPr>
          <p:cNvPr id="21" name="Google Shape;190;p6">
            <a:extLst>
              <a:ext uri="{FF2B5EF4-FFF2-40B4-BE49-F238E27FC236}">
                <a16:creationId xmlns:a16="http://schemas.microsoft.com/office/drawing/2014/main" id="{3A90C922-88C7-CEA0-DF4D-EA3782351A53}"/>
              </a:ext>
            </a:extLst>
          </p:cNvPr>
          <p:cNvSpPr/>
          <p:nvPr/>
        </p:nvSpPr>
        <p:spPr>
          <a:xfrm>
            <a:off x="3342741" y="4838623"/>
            <a:ext cx="1222615" cy="867967"/>
          </a:xfrm>
          <a:prstGeom prst="rect">
            <a:avLst/>
          </a:prstGeom>
          <a:noFill/>
          <a:ln>
            <a:solidFill>
              <a:schemeClr val="accent6">
                <a:lumMod val="40000"/>
                <a:lumOff val="60000"/>
              </a:schemeClr>
            </a:solidFill>
            <a:prstDash val="dash"/>
          </a:ln>
        </p:spPr>
        <p:txBody>
          <a:bodyPr spcFirstLastPara="1" wrap="square" lIns="91425" tIns="45700" rIns="91425" bIns="45700" anchor="ctr" anchorCtr="0">
            <a:noAutofit/>
          </a:bodyPr>
          <a:lstStyle/>
          <a:p>
            <a:pPr algn="ctr"/>
            <a:r>
              <a:rPr lang="en-US" sz="1200"/>
              <a:t>Due to high cost, animal cart is not considered.</a:t>
            </a:r>
            <a:endParaRPr lang="en-US"/>
          </a:p>
        </p:txBody>
      </p:sp>
      <p:sp>
        <p:nvSpPr>
          <p:cNvPr id="22" name="Google Shape;190;p6">
            <a:extLst>
              <a:ext uri="{FF2B5EF4-FFF2-40B4-BE49-F238E27FC236}">
                <a16:creationId xmlns:a16="http://schemas.microsoft.com/office/drawing/2014/main" id="{631D6CE0-719D-EDF5-EB4D-C495289DA8CB}"/>
              </a:ext>
            </a:extLst>
          </p:cNvPr>
          <p:cNvSpPr/>
          <p:nvPr/>
        </p:nvSpPr>
        <p:spPr>
          <a:xfrm>
            <a:off x="125682" y="5781938"/>
            <a:ext cx="4457825" cy="564571"/>
          </a:xfrm>
          <a:prstGeom prst="rect">
            <a:avLst/>
          </a:prstGeom>
          <a:solidFill>
            <a:schemeClr val="bg1">
              <a:lumMod val="95000"/>
            </a:schemeClr>
          </a:solidFill>
          <a:ln>
            <a:noFill/>
          </a:ln>
        </p:spPr>
        <p:txBody>
          <a:bodyPr spcFirstLastPara="1" wrap="square" lIns="91425" tIns="45700" rIns="91425" bIns="45700" anchor="ctr" anchorCtr="0">
            <a:noAutofit/>
          </a:bodyPr>
          <a:lstStyle/>
          <a:p>
            <a:pPr algn="ctr"/>
            <a:r>
              <a:rPr lang="en-IN" sz="1150"/>
              <a:t>Transportation over greater distances is expensive, making sourcing only from same/neighbouring states economically feasible. Thus, </a:t>
            </a:r>
            <a:r>
              <a:rPr lang="en-IN" sz="1150" b="1"/>
              <a:t>plants should be constructed in paddy regions</a:t>
            </a:r>
            <a:endParaRPr lang="en-US" sz="1150" b="1"/>
          </a:p>
        </p:txBody>
      </p:sp>
      <p:grpSp>
        <p:nvGrpSpPr>
          <p:cNvPr id="30" name="Group 29">
            <a:extLst>
              <a:ext uri="{FF2B5EF4-FFF2-40B4-BE49-F238E27FC236}">
                <a16:creationId xmlns:a16="http://schemas.microsoft.com/office/drawing/2014/main" id="{92CCC5CA-4830-3172-1CF8-95BEB704BA7D}"/>
              </a:ext>
            </a:extLst>
          </p:cNvPr>
          <p:cNvGrpSpPr/>
          <p:nvPr/>
        </p:nvGrpSpPr>
        <p:grpSpPr>
          <a:xfrm>
            <a:off x="53197" y="6638003"/>
            <a:ext cx="11948715" cy="195823"/>
            <a:chOff x="53197" y="6638003"/>
            <a:chExt cx="11948715" cy="195823"/>
          </a:xfrm>
        </p:grpSpPr>
        <p:sp>
          <p:nvSpPr>
            <p:cNvPr id="9" name="Arrow: Pentagon 8">
              <a:extLst>
                <a:ext uri="{FF2B5EF4-FFF2-40B4-BE49-F238E27FC236}">
                  <a16:creationId xmlns:a16="http://schemas.microsoft.com/office/drawing/2014/main" id="{F80193C6-8A4C-AACA-3EDC-BA90E081510D}"/>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10" name="Arrow: Chevron 9">
              <a:extLst>
                <a:ext uri="{FF2B5EF4-FFF2-40B4-BE49-F238E27FC236}">
                  <a16:creationId xmlns:a16="http://schemas.microsoft.com/office/drawing/2014/main" id="{4F17770B-2321-BC82-3695-BAA323FCE5EF}"/>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19" name="Arrow: Chevron 18">
              <a:extLst>
                <a:ext uri="{FF2B5EF4-FFF2-40B4-BE49-F238E27FC236}">
                  <a16:creationId xmlns:a16="http://schemas.microsoft.com/office/drawing/2014/main" id="{FA0AA1AC-8D22-6701-6482-640324A81712}"/>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SC Analysis</a:t>
              </a:r>
            </a:p>
          </p:txBody>
        </p:sp>
        <p:sp>
          <p:nvSpPr>
            <p:cNvPr id="23" name="Arrow: Chevron 22">
              <a:extLst>
                <a:ext uri="{FF2B5EF4-FFF2-40B4-BE49-F238E27FC236}">
                  <a16:creationId xmlns:a16="http://schemas.microsoft.com/office/drawing/2014/main" id="{A8659EFA-4F93-3490-8DF7-7E03DA7E39D6}"/>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24" name="Arrow: Chevron 23">
              <a:extLst>
                <a:ext uri="{FF2B5EF4-FFF2-40B4-BE49-F238E27FC236}">
                  <a16:creationId xmlns:a16="http://schemas.microsoft.com/office/drawing/2014/main" id="{96C8A967-3612-FFE1-C0D4-BA83D5D44519}"/>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25" name="Arrow: Chevron 24">
              <a:extLst>
                <a:ext uri="{FF2B5EF4-FFF2-40B4-BE49-F238E27FC236}">
                  <a16:creationId xmlns:a16="http://schemas.microsoft.com/office/drawing/2014/main" id="{A0965C96-07F6-223B-FC19-EFC9278F3129}"/>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26" name="Arrow: Chevron 25">
              <a:extLst>
                <a:ext uri="{FF2B5EF4-FFF2-40B4-BE49-F238E27FC236}">
                  <a16:creationId xmlns:a16="http://schemas.microsoft.com/office/drawing/2014/main" id="{7789193D-6260-C2DE-B50A-FA68FE5E8398}"/>
                </a:ext>
              </a:extLst>
            </p:cNvPr>
            <p:cNvSpPr/>
            <p:nvPr/>
          </p:nvSpPr>
          <p:spPr>
            <a:xfrm>
              <a:off x="7216058" y="6644148"/>
              <a:ext cx="1670256" cy="174931"/>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Transport &amp; Logistics</a:t>
              </a:r>
              <a:endParaRPr lang="en-US" sz="1050">
                <a:solidFill>
                  <a:schemeClr val="bg1"/>
                </a:solidFill>
                <a:cs typeface="Arial"/>
              </a:endParaRPr>
            </a:p>
          </p:txBody>
        </p:sp>
        <p:sp>
          <p:nvSpPr>
            <p:cNvPr id="27" name="Arrow: Chevron 26">
              <a:extLst>
                <a:ext uri="{FF2B5EF4-FFF2-40B4-BE49-F238E27FC236}">
                  <a16:creationId xmlns:a16="http://schemas.microsoft.com/office/drawing/2014/main" id="{94F02B6A-5BC0-9F14-30C9-2E7BBDFE92C1}"/>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28" name="Arrow: Chevron 27">
              <a:extLst>
                <a:ext uri="{FF2B5EF4-FFF2-40B4-BE49-F238E27FC236}">
                  <a16:creationId xmlns:a16="http://schemas.microsoft.com/office/drawing/2014/main" id="{0687D2A9-031B-A3E8-B12C-8E31004D368D}"/>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29" name="Arrow: Chevron 28">
              <a:extLst>
                <a:ext uri="{FF2B5EF4-FFF2-40B4-BE49-F238E27FC236}">
                  <a16:creationId xmlns:a16="http://schemas.microsoft.com/office/drawing/2014/main" id="{D9816172-492A-FB8E-DF8E-2C665DF4590A}"/>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cxnSp>
        <p:nvCxnSpPr>
          <p:cNvPr id="2" name="Straight Arrow Connector 1">
            <a:extLst>
              <a:ext uri="{FF2B5EF4-FFF2-40B4-BE49-F238E27FC236}">
                <a16:creationId xmlns:a16="http://schemas.microsoft.com/office/drawing/2014/main" id="{9DA0FA05-1787-0AD3-F8C4-735963EACF47}"/>
              </a:ext>
            </a:extLst>
          </p:cNvPr>
          <p:cNvCxnSpPr/>
          <p:nvPr/>
        </p:nvCxnSpPr>
        <p:spPr>
          <a:xfrm flipH="1">
            <a:off x="4664764" y="597452"/>
            <a:ext cx="2210" cy="5911572"/>
          </a:xfrm>
          <a:prstGeom prst="straightConnector1">
            <a:avLst/>
          </a:prstGeom>
          <a:ln w="28575">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33" name="Google Shape;162;p5">
            <a:extLst>
              <a:ext uri="{FF2B5EF4-FFF2-40B4-BE49-F238E27FC236}">
                <a16:creationId xmlns:a16="http://schemas.microsoft.com/office/drawing/2014/main" id="{8A513B05-47BF-AFBB-AC4C-77772349A16D}"/>
              </a:ext>
            </a:extLst>
          </p:cNvPr>
          <p:cNvSpPr/>
          <p:nvPr/>
        </p:nvSpPr>
        <p:spPr>
          <a:xfrm>
            <a:off x="4792330" y="1970851"/>
            <a:ext cx="7201524" cy="273663"/>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rgbClr val="FFFFFF"/>
                </a:solidFill>
              </a:rPr>
              <a:t>Pre-Transportation Treatment</a:t>
            </a:r>
            <a:endParaRPr lang="en-GB" sz="1300" b="1">
              <a:solidFill>
                <a:srgbClr val="FFFFFF"/>
              </a:solidFill>
              <a:latin typeface="Arial"/>
              <a:ea typeface="Arial"/>
              <a:cs typeface="Arial"/>
              <a:sym typeface="Arial"/>
            </a:endParaRPr>
          </a:p>
        </p:txBody>
      </p:sp>
      <p:sp>
        <p:nvSpPr>
          <p:cNvPr id="35" name="Google Shape;166;p5">
            <a:extLst>
              <a:ext uri="{FF2B5EF4-FFF2-40B4-BE49-F238E27FC236}">
                <a16:creationId xmlns:a16="http://schemas.microsoft.com/office/drawing/2014/main" id="{09796284-08CB-61BC-BFF6-9EEF8520F449}"/>
              </a:ext>
            </a:extLst>
          </p:cNvPr>
          <p:cNvSpPr/>
          <p:nvPr/>
        </p:nvSpPr>
        <p:spPr>
          <a:xfrm>
            <a:off x="4792330" y="2287834"/>
            <a:ext cx="3524047" cy="595216"/>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r>
              <a:rPr lang="en-US" sz="1200"/>
              <a:t>The thrashed straw should be stored in </a:t>
            </a:r>
            <a:r>
              <a:rPr lang="en-US" sz="1200" b="1"/>
              <a:t>clean spaces</a:t>
            </a:r>
            <a:r>
              <a:rPr lang="en-US" sz="1200"/>
              <a:t> so that it does not carry any undesired material from the ground. </a:t>
            </a:r>
            <a:endParaRPr lang="en-US"/>
          </a:p>
        </p:txBody>
      </p:sp>
      <p:sp>
        <p:nvSpPr>
          <p:cNvPr id="36" name="Google Shape;166;p5">
            <a:extLst>
              <a:ext uri="{FF2B5EF4-FFF2-40B4-BE49-F238E27FC236}">
                <a16:creationId xmlns:a16="http://schemas.microsoft.com/office/drawing/2014/main" id="{99B70285-7C11-FD31-61F9-01825637D80B}"/>
              </a:ext>
            </a:extLst>
          </p:cNvPr>
          <p:cNvSpPr/>
          <p:nvPr/>
        </p:nvSpPr>
        <p:spPr>
          <a:xfrm>
            <a:off x="8475331" y="2287834"/>
            <a:ext cx="3524045" cy="595216"/>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r>
              <a:rPr lang="en-US" sz="1200"/>
              <a:t>It should be covered to </a:t>
            </a:r>
            <a:r>
              <a:rPr lang="en-US" sz="1200" b="1"/>
              <a:t>protect from rain and dust storms</a:t>
            </a:r>
            <a:r>
              <a:rPr lang="en-US" sz="1200"/>
              <a:t>, thus ensuring lower moisture &amp; dust content in the stubble. </a:t>
            </a:r>
          </a:p>
        </p:txBody>
      </p:sp>
      <p:sp>
        <p:nvSpPr>
          <p:cNvPr id="37" name="Google Shape;162;p5">
            <a:extLst>
              <a:ext uri="{FF2B5EF4-FFF2-40B4-BE49-F238E27FC236}">
                <a16:creationId xmlns:a16="http://schemas.microsoft.com/office/drawing/2014/main" id="{5A7BBBBA-F61D-53E2-C088-70507874BDDC}"/>
              </a:ext>
            </a:extLst>
          </p:cNvPr>
          <p:cNvSpPr/>
          <p:nvPr/>
        </p:nvSpPr>
        <p:spPr>
          <a:xfrm>
            <a:off x="4797852" y="3003416"/>
            <a:ext cx="7207046" cy="279184"/>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rgbClr val="FFFFFF"/>
                </a:solidFill>
              </a:rPr>
              <a:t>Long-Term Storage</a:t>
            </a:r>
            <a:endParaRPr lang="en-GB" sz="1300" b="1">
              <a:solidFill>
                <a:srgbClr val="FFFFFF"/>
              </a:solidFill>
              <a:latin typeface="Arial"/>
              <a:ea typeface="Arial"/>
              <a:cs typeface="Arial"/>
            </a:endParaRPr>
          </a:p>
        </p:txBody>
      </p:sp>
      <p:sp>
        <p:nvSpPr>
          <p:cNvPr id="38" name="Google Shape;166;p5">
            <a:extLst>
              <a:ext uri="{FF2B5EF4-FFF2-40B4-BE49-F238E27FC236}">
                <a16:creationId xmlns:a16="http://schemas.microsoft.com/office/drawing/2014/main" id="{F52C6196-E7DA-6FAC-3BDD-F26C7C19E2D7}"/>
              </a:ext>
            </a:extLst>
          </p:cNvPr>
          <p:cNvSpPr/>
          <p:nvPr/>
        </p:nvSpPr>
        <p:spPr>
          <a:xfrm>
            <a:off x="6150678" y="3348007"/>
            <a:ext cx="5848699" cy="462696"/>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r>
              <a:rPr lang="en-US" sz="1200" dirty="0">
                <a:solidFill>
                  <a:srgbClr val="374151"/>
                </a:solidFill>
              </a:rPr>
              <a:t>Required at both starting &amp; end – </a:t>
            </a:r>
            <a:r>
              <a:rPr lang="en-US" sz="1200" dirty="0"/>
              <a:t>sanity checks must be conducted to ensure that collected straw </a:t>
            </a:r>
            <a:r>
              <a:rPr lang="en-US" sz="1200" b="1" dirty="0"/>
              <a:t>meets all quality parameters </a:t>
            </a:r>
            <a:r>
              <a:rPr lang="en-US" sz="1200" dirty="0"/>
              <a:t>for efficient power generation.</a:t>
            </a:r>
          </a:p>
        </p:txBody>
      </p:sp>
      <p:sp>
        <p:nvSpPr>
          <p:cNvPr id="39" name="Google Shape;190;p6">
            <a:extLst>
              <a:ext uri="{FF2B5EF4-FFF2-40B4-BE49-F238E27FC236}">
                <a16:creationId xmlns:a16="http://schemas.microsoft.com/office/drawing/2014/main" id="{84740937-4D9A-3A5F-E78C-DCFDD82B3D1A}"/>
              </a:ext>
            </a:extLst>
          </p:cNvPr>
          <p:cNvSpPr/>
          <p:nvPr/>
        </p:nvSpPr>
        <p:spPr>
          <a:xfrm>
            <a:off x="4797593" y="3350386"/>
            <a:ext cx="1256271" cy="465145"/>
          </a:xfrm>
          <a:prstGeom prst="rect">
            <a:avLst/>
          </a:prstGeom>
          <a:solidFill>
            <a:srgbClr val="F3E5E8"/>
          </a:solidFill>
          <a:ln>
            <a:noFill/>
          </a:ln>
        </p:spPr>
        <p:txBody>
          <a:bodyPr spcFirstLastPara="1" wrap="square" lIns="91425" tIns="45700" rIns="91425" bIns="45700" anchor="ctr" anchorCtr="0">
            <a:noAutofit/>
          </a:bodyPr>
          <a:lstStyle/>
          <a:p>
            <a:pPr algn="ctr"/>
            <a:r>
              <a:rPr lang="en-US" sz="1200" b="1"/>
              <a:t>Quality Control</a:t>
            </a:r>
            <a:endParaRPr lang="en-US"/>
          </a:p>
        </p:txBody>
      </p:sp>
      <p:sp>
        <p:nvSpPr>
          <p:cNvPr id="45" name="Google Shape;166;p5">
            <a:extLst>
              <a:ext uri="{FF2B5EF4-FFF2-40B4-BE49-F238E27FC236}">
                <a16:creationId xmlns:a16="http://schemas.microsoft.com/office/drawing/2014/main" id="{F135CEA3-D8BF-69D0-C50D-806F6DA2ED97}"/>
              </a:ext>
            </a:extLst>
          </p:cNvPr>
          <p:cNvSpPr/>
          <p:nvPr/>
        </p:nvSpPr>
        <p:spPr>
          <a:xfrm>
            <a:off x="6145159" y="3883615"/>
            <a:ext cx="5854218" cy="617303"/>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r>
              <a:rPr lang="en-US" sz="1200" dirty="0">
                <a:solidFill>
                  <a:schemeClr val="tx1"/>
                </a:solidFill>
              </a:rPr>
              <a:t>Pre-investigate strategies for storing excess feedstock during peak seasons:</a:t>
            </a:r>
          </a:p>
          <a:p>
            <a:pPr marL="171450" indent="-171450">
              <a:buChar char="•"/>
            </a:pPr>
            <a:r>
              <a:rPr lang="en-US" sz="1200" dirty="0"/>
              <a:t>Superiority of the warehouse and </a:t>
            </a:r>
            <a:r>
              <a:rPr lang="en-US" sz="1200" b="1"/>
              <a:t>optimal sanitary conditions</a:t>
            </a:r>
            <a:r>
              <a:rPr lang="en-US" sz="1200" dirty="0"/>
              <a:t> for operations</a:t>
            </a:r>
          </a:p>
          <a:p>
            <a:pPr marL="171450" indent="-171450">
              <a:buChar char="•"/>
            </a:pPr>
            <a:r>
              <a:rPr lang="en-US" sz="1200" b="1">
                <a:solidFill>
                  <a:schemeClr val="tx1"/>
                </a:solidFill>
              </a:rPr>
              <a:t>Oxidization of stubble </a:t>
            </a:r>
            <a:r>
              <a:rPr lang="en-US" sz="1200">
                <a:solidFill>
                  <a:schemeClr val="tx1"/>
                </a:solidFill>
              </a:rPr>
              <a:t>to</a:t>
            </a:r>
            <a:r>
              <a:rPr lang="en-US" sz="1200" dirty="0">
                <a:solidFill>
                  <a:schemeClr val="tx1"/>
                </a:solidFill>
              </a:rPr>
              <a:t> improve the GCV value &amp; reduce volume for storage</a:t>
            </a:r>
          </a:p>
        </p:txBody>
      </p:sp>
      <p:sp>
        <p:nvSpPr>
          <p:cNvPr id="46" name="Google Shape;190;p6">
            <a:extLst>
              <a:ext uri="{FF2B5EF4-FFF2-40B4-BE49-F238E27FC236}">
                <a16:creationId xmlns:a16="http://schemas.microsoft.com/office/drawing/2014/main" id="{9F0CBB85-86FA-1493-A387-993BD8119CA8}"/>
              </a:ext>
            </a:extLst>
          </p:cNvPr>
          <p:cNvSpPr/>
          <p:nvPr/>
        </p:nvSpPr>
        <p:spPr>
          <a:xfrm>
            <a:off x="4792073" y="3891516"/>
            <a:ext cx="1256271" cy="614231"/>
          </a:xfrm>
          <a:prstGeom prst="rect">
            <a:avLst/>
          </a:prstGeom>
          <a:solidFill>
            <a:srgbClr val="F3E5E8"/>
          </a:solidFill>
          <a:ln>
            <a:noFill/>
          </a:ln>
        </p:spPr>
        <p:txBody>
          <a:bodyPr spcFirstLastPara="1" wrap="square" lIns="91425" tIns="45700" rIns="91425" bIns="45700" anchor="ctr" anchorCtr="0">
            <a:noAutofit/>
          </a:bodyPr>
          <a:lstStyle/>
          <a:p>
            <a:pPr algn="ctr"/>
            <a:r>
              <a:rPr lang="en-US" sz="1200" b="1"/>
              <a:t>Storage &amp; Preservation</a:t>
            </a:r>
            <a:endParaRPr lang="en-US"/>
          </a:p>
        </p:txBody>
      </p:sp>
      <p:sp>
        <p:nvSpPr>
          <p:cNvPr id="48" name="Google Shape;190;p6">
            <a:extLst>
              <a:ext uri="{FF2B5EF4-FFF2-40B4-BE49-F238E27FC236}">
                <a16:creationId xmlns:a16="http://schemas.microsoft.com/office/drawing/2014/main" id="{57228507-4EB5-2D7D-9EBF-9B4E47425470}"/>
              </a:ext>
            </a:extLst>
          </p:cNvPr>
          <p:cNvSpPr/>
          <p:nvPr/>
        </p:nvSpPr>
        <p:spPr>
          <a:xfrm>
            <a:off x="4797594" y="4570689"/>
            <a:ext cx="1256271" cy="1205056"/>
          </a:xfrm>
          <a:prstGeom prst="rect">
            <a:avLst/>
          </a:prstGeom>
          <a:solidFill>
            <a:srgbClr val="F3E5E8"/>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a:t>Storage Space</a:t>
            </a:r>
            <a:endParaRPr lang="en-US"/>
          </a:p>
        </p:txBody>
      </p:sp>
      <p:sp>
        <p:nvSpPr>
          <p:cNvPr id="50" name="Google Shape;166;p5">
            <a:extLst>
              <a:ext uri="{FF2B5EF4-FFF2-40B4-BE49-F238E27FC236}">
                <a16:creationId xmlns:a16="http://schemas.microsoft.com/office/drawing/2014/main" id="{B1FE836E-640A-3AFF-6C7D-46D972736E6B}"/>
              </a:ext>
            </a:extLst>
          </p:cNvPr>
          <p:cNvSpPr/>
          <p:nvPr/>
        </p:nvSpPr>
        <p:spPr>
          <a:xfrm>
            <a:off x="6150679" y="4584876"/>
            <a:ext cx="5854220" cy="1191564"/>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buChar char="•"/>
            </a:pPr>
            <a:r>
              <a:rPr lang="en-US" sz="1200" dirty="0"/>
              <a:t>Due to seasonal availability &amp; bulkiness, </a:t>
            </a:r>
            <a:r>
              <a:rPr lang="en-US" sz="1200" b="1" dirty="0"/>
              <a:t>large &amp; enclosed storage space</a:t>
            </a:r>
            <a:r>
              <a:rPr lang="en-US" sz="1200" dirty="0"/>
              <a:t> is needed. Storage in open can result in decay of ~20% stubble.</a:t>
            </a:r>
            <a:endParaRPr lang="en-US" dirty="0"/>
          </a:p>
          <a:p>
            <a:pPr marL="171450" indent="-171450">
              <a:buChar char="•"/>
            </a:pPr>
            <a:r>
              <a:rPr lang="en-US" sz="1200" b="1" dirty="0"/>
              <a:t>Suitable fire protection arrangements </a:t>
            </a:r>
            <a:r>
              <a:rPr lang="en-US" sz="1200" dirty="0"/>
              <a:t>must be made in the stockyard, with well laid-out water pipelines and provision for rubber hoses.</a:t>
            </a:r>
          </a:p>
          <a:p>
            <a:pPr marL="171450" indent="-171450">
              <a:buChar char="•"/>
            </a:pPr>
            <a:r>
              <a:rPr lang="en-US" sz="1200" dirty="0"/>
              <a:t>The straw should preferably be </a:t>
            </a:r>
            <a:r>
              <a:rPr lang="en-US" sz="1200" b="1" dirty="0"/>
              <a:t>stored on the raised platforms</a:t>
            </a:r>
            <a:r>
              <a:rPr lang="en-US" sz="1200" dirty="0"/>
              <a:t>, so that it can be saved from water logging and microbial attacks from the ground. </a:t>
            </a:r>
          </a:p>
        </p:txBody>
      </p:sp>
      <p:sp>
        <p:nvSpPr>
          <p:cNvPr id="52" name="Google Shape;166;p5">
            <a:extLst>
              <a:ext uri="{FF2B5EF4-FFF2-40B4-BE49-F238E27FC236}">
                <a16:creationId xmlns:a16="http://schemas.microsoft.com/office/drawing/2014/main" id="{2AD1D578-EF69-98CA-8836-9133E2C9A366}"/>
              </a:ext>
            </a:extLst>
          </p:cNvPr>
          <p:cNvSpPr/>
          <p:nvPr/>
        </p:nvSpPr>
        <p:spPr>
          <a:xfrm>
            <a:off x="6145158" y="5860399"/>
            <a:ext cx="5865262" cy="650433"/>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buChar char="•"/>
            </a:pPr>
            <a:r>
              <a:rPr lang="en-US" sz="1200" b="1"/>
              <a:t>Labour intensive </a:t>
            </a:r>
            <a:r>
              <a:rPr lang="en-US" sz="1200"/>
              <a:t>process - </a:t>
            </a:r>
            <a:r>
              <a:rPr lang="en-US" sz="1200" err="1"/>
              <a:t>labour</a:t>
            </a:r>
            <a:r>
              <a:rPr lang="en-US" sz="1200"/>
              <a:t> could be contracted or employed. </a:t>
            </a:r>
            <a:endParaRPr lang="en-IN" sz="1200"/>
          </a:p>
          <a:p>
            <a:pPr marL="171450" indent="-171450">
              <a:buChar char="•"/>
            </a:pPr>
            <a:r>
              <a:rPr lang="en-US" sz="1200"/>
              <a:t>Numerous factories are constrained on this front by </a:t>
            </a:r>
            <a:r>
              <a:rPr lang="en-US" sz="1200" b="1"/>
              <a:t>political interference and stringent </a:t>
            </a:r>
            <a:r>
              <a:rPr lang="en-US" sz="1200" b="1" err="1"/>
              <a:t>labour</a:t>
            </a:r>
            <a:r>
              <a:rPr lang="en-US" sz="1200" b="1"/>
              <a:t> regulations</a:t>
            </a:r>
            <a:r>
              <a:rPr lang="en-US" sz="1200"/>
              <a:t>. </a:t>
            </a:r>
            <a:endParaRPr lang="en-IN" sz="1200"/>
          </a:p>
        </p:txBody>
      </p:sp>
      <p:sp>
        <p:nvSpPr>
          <p:cNvPr id="54" name="Google Shape;190;p6">
            <a:extLst>
              <a:ext uri="{FF2B5EF4-FFF2-40B4-BE49-F238E27FC236}">
                <a16:creationId xmlns:a16="http://schemas.microsoft.com/office/drawing/2014/main" id="{4C61FECC-3FA9-DF85-73B6-11DCBF2292C3}"/>
              </a:ext>
            </a:extLst>
          </p:cNvPr>
          <p:cNvSpPr/>
          <p:nvPr/>
        </p:nvSpPr>
        <p:spPr>
          <a:xfrm>
            <a:off x="4797595" y="5857256"/>
            <a:ext cx="1261791" cy="652882"/>
          </a:xfrm>
          <a:prstGeom prst="rect">
            <a:avLst/>
          </a:prstGeom>
          <a:solidFill>
            <a:srgbClr val="F3E5E8"/>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a:t>Labour Requirement</a:t>
            </a:r>
            <a:endParaRPr lang="en-US"/>
          </a:p>
        </p:txBody>
      </p:sp>
      <p:sp>
        <p:nvSpPr>
          <p:cNvPr id="55" name="Google Shape;162;p5">
            <a:extLst>
              <a:ext uri="{FF2B5EF4-FFF2-40B4-BE49-F238E27FC236}">
                <a16:creationId xmlns:a16="http://schemas.microsoft.com/office/drawing/2014/main" id="{A093268C-4FF9-BE96-E71A-E6110437ECD6}"/>
              </a:ext>
            </a:extLst>
          </p:cNvPr>
          <p:cNvSpPr/>
          <p:nvPr/>
        </p:nvSpPr>
        <p:spPr>
          <a:xfrm>
            <a:off x="4792330" y="927242"/>
            <a:ext cx="7201524" cy="284705"/>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rgbClr val="FFFFFF"/>
                </a:solidFill>
              </a:rPr>
              <a:t>Pre-Transportation Checks</a:t>
            </a:r>
            <a:endParaRPr lang="en-GB" sz="1300" b="1">
              <a:solidFill>
                <a:srgbClr val="FFFFFF"/>
              </a:solidFill>
              <a:latin typeface="Arial"/>
              <a:ea typeface="Arial"/>
              <a:cs typeface="Arial"/>
            </a:endParaRPr>
          </a:p>
        </p:txBody>
      </p:sp>
      <p:sp>
        <p:nvSpPr>
          <p:cNvPr id="57" name="Google Shape;166;p5">
            <a:extLst>
              <a:ext uri="{FF2B5EF4-FFF2-40B4-BE49-F238E27FC236}">
                <a16:creationId xmlns:a16="http://schemas.microsoft.com/office/drawing/2014/main" id="{9AD8F5C0-0DB5-3282-E79C-84722F6F1FD8}"/>
              </a:ext>
            </a:extLst>
          </p:cNvPr>
          <p:cNvSpPr/>
          <p:nvPr/>
        </p:nvSpPr>
        <p:spPr>
          <a:xfrm>
            <a:off x="4803373" y="1260791"/>
            <a:ext cx="3513004" cy="595216"/>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r>
              <a:rPr lang="en-US" sz="1200" dirty="0"/>
              <a:t>Stubble should be transported in the </a:t>
            </a:r>
            <a:r>
              <a:rPr lang="en-US" sz="1200" b="1" dirty="0"/>
              <a:t>baled form</a:t>
            </a:r>
            <a:r>
              <a:rPr lang="en-US" sz="1200" dirty="0"/>
              <a:t>, which helps in efficient transportation &amp; handling</a:t>
            </a:r>
          </a:p>
        </p:txBody>
      </p:sp>
      <p:sp>
        <p:nvSpPr>
          <p:cNvPr id="58" name="Google Shape;166;p5">
            <a:extLst>
              <a:ext uri="{FF2B5EF4-FFF2-40B4-BE49-F238E27FC236}">
                <a16:creationId xmlns:a16="http://schemas.microsoft.com/office/drawing/2014/main" id="{5BFB59CA-D540-D30B-4C86-D2F48550587A}"/>
              </a:ext>
            </a:extLst>
          </p:cNvPr>
          <p:cNvSpPr/>
          <p:nvPr/>
        </p:nvSpPr>
        <p:spPr>
          <a:xfrm>
            <a:off x="8475331" y="1260791"/>
            <a:ext cx="3524045" cy="595216"/>
          </a:xfrm>
          <a:prstGeom prst="rect">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r>
              <a:rPr lang="en-US" sz="1200" b="1"/>
              <a:t>Quality parameters</a:t>
            </a:r>
            <a:r>
              <a:rPr lang="en-US" sz="1200"/>
              <a:t> for stubble procurement of should be announced openly to farmers, motivators &amp; liaison agencies.</a:t>
            </a:r>
          </a:p>
        </p:txBody>
      </p:sp>
      <p:sp>
        <p:nvSpPr>
          <p:cNvPr id="60" name="Google Shape;162;p5">
            <a:extLst>
              <a:ext uri="{FF2B5EF4-FFF2-40B4-BE49-F238E27FC236}">
                <a16:creationId xmlns:a16="http://schemas.microsoft.com/office/drawing/2014/main" id="{2FEA074F-F237-42CD-39FE-92743DAC913C}"/>
              </a:ext>
            </a:extLst>
          </p:cNvPr>
          <p:cNvSpPr/>
          <p:nvPr/>
        </p:nvSpPr>
        <p:spPr>
          <a:xfrm>
            <a:off x="115418" y="562806"/>
            <a:ext cx="4451697" cy="268140"/>
          </a:xfrm>
          <a:prstGeom prst="rect">
            <a:avLst/>
          </a:prstGeom>
          <a:solidFill>
            <a:schemeClr val="bg2">
              <a:lumMod val="20000"/>
              <a:lumOff val="80000"/>
            </a:schemeClr>
          </a:solidFill>
          <a:ln w="12700" cap="flat" cmpd="sng">
            <a:no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chemeClr val="tx1"/>
                </a:solidFill>
              </a:rPr>
              <a:t>Transport</a:t>
            </a:r>
            <a:endParaRPr lang="en-GB" sz="1300" b="1">
              <a:solidFill>
                <a:schemeClr val="tx1"/>
              </a:solidFill>
              <a:latin typeface="Arial"/>
              <a:ea typeface="Arial"/>
              <a:cs typeface="Arial"/>
            </a:endParaRPr>
          </a:p>
        </p:txBody>
      </p:sp>
      <p:sp>
        <p:nvSpPr>
          <p:cNvPr id="61" name="Google Shape;162;p5">
            <a:extLst>
              <a:ext uri="{FF2B5EF4-FFF2-40B4-BE49-F238E27FC236}">
                <a16:creationId xmlns:a16="http://schemas.microsoft.com/office/drawing/2014/main" id="{0A241919-06F3-F68D-51DF-F8AA03F51D35}"/>
              </a:ext>
            </a:extLst>
          </p:cNvPr>
          <p:cNvSpPr/>
          <p:nvPr/>
        </p:nvSpPr>
        <p:spPr>
          <a:xfrm>
            <a:off x="4797854" y="562806"/>
            <a:ext cx="7201522" cy="268140"/>
          </a:xfrm>
          <a:prstGeom prst="rect">
            <a:avLst/>
          </a:prstGeom>
          <a:solidFill>
            <a:schemeClr val="bg2">
              <a:lumMod val="20000"/>
              <a:lumOff val="80000"/>
            </a:schemeClr>
          </a:solidFill>
          <a:ln w="12700" cap="flat" cmpd="sng">
            <a:no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chemeClr val="tx1"/>
                </a:solidFill>
              </a:rPr>
              <a:t>Logistics</a:t>
            </a:r>
            <a:endParaRPr lang="en-GB" sz="1300" b="1">
              <a:solidFill>
                <a:schemeClr val="tx1"/>
              </a:solidFill>
              <a:latin typeface="Arial"/>
              <a:ea typeface="Arial"/>
              <a:cs typeface="Arial"/>
            </a:endParaRPr>
          </a:p>
        </p:txBody>
      </p:sp>
      <p:sp>
        <p:nvSpPr>
          <p:cNvPr id="31" name="Arrow: Right 30">
            <a:hlinkClick r:id="rId3" action="ppaction://hlinksldjump"/>
            <a:extLst>
              <a:ext uri="{FF2B5EF4-FFF2-40B4-BE49-F238E27FC236}">
                <a16:creationId xmlns:a16="http://schemas.microsoft.com/office/drawing/2014/main" id="{1E8E235F-AC6C-B465-C28C-0F8AA6C3B91B}"/>
              </a:ext>
            </a:extLst>
          </p:cNvPr>
          <p:cNvSpPr/>
          <p:nvPr/>
        </p:nvSpPr>
        <p:spPr>
          <a:xfrm>
            <a:off x="2672679" y="6265187"/>
            <a:ext cx="2171607" cy="392041"/>
          </a:xfrm>
          <a:prstGeom prst="rightArrow">
            <a:avLst/>
          </a:prstGeom>
          <a:solidFill>
            <a:srgbClr val="FAFF66">
              <a:alpha val="37000"/>
            </a:srgbClr>
          </a:solidFill>
          <a:ln w="6350">
            <a:solidFill>
              <a:srgbClr val="9C79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cs typeface="Arial"/>
              </a:rPr>
              <a:t>Annexure for Assumptions</a:t>
            </a:r>
          </a:p>
        </p:txBody>
      </p:sp>
      <p:sp>
        <p:nvSpPr>
          <p:cNvPr id="34" name="Google Shape;188;p6">
            <a:extLst>
              <a:ext uri="{FF2B5EF4-FFF2-40B4-BE49-F238E27FC236}">
                <a16:creationId xmlns:a16="http://schemas.microsoft.com/office/drawing/2014/main" id="{0B5594AF-CE2A-AEE5-235A-64178F52B903}"/>
              </a:ext>
            </a:extLst>
          </p:cNvPr>
          <p:cNvSpPr txBox="1">
            <a:spLocks noGrp="1"/>
          </p:cNvSpPr>
          <p:nvPr>
            <p:ph type="title"/>
          </p:nvPr>
        </p:nvSpPr>
        <p:spPr>
          <a:xfrm>
            <a:off x="94342" y="17890"/>
            <a:ext cx="11925299" cy="519480"/>
          </a:xfrm>
          <a:prstGeom prst="rect">
            <a:avLst/>
          </a:prstGeom>
          <a:noFill/>
          <a:ln>
            <a:noFill/>
          </a:ln>
        </p:spPr>
        <p:txBody>
          <a:bodyPr spcFirstLastPara="1" wrap="square" lIns="91425" tIns="45700" rIns="91425" bIns="45700" anchor="ctr" anchorCtr="0">
            <a:noAutofit/>
          </a:bodyPr>
          <a:lstStyle/>
          <a:p>
            <a:r>
              <a:rPr lang="en-IN" sz="2000"/>
              <a:t>Short distance transportation &amp; robust storage solutions are crucial to current business model.</a:t>
            </a:r>
            <a:endParaRPr lang="en-US" sz="2000"/>
          </a:p>
        </p:txBody>
      </p:sp>
    </p:spTree>
    <p:extLst>
      <p:ext uri="{BB962C8B-B14F-4D97-AF65-F5344CB8AC3E}">
        <p14:creationId xmlns:p14="http://schemas.microsoft.com/office/powerpoint/2010/main" val="3971716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0" y="509"/>
            <a:ext cx="12103509" cy="454479"/>
          </a:xfrm>
          <a:prstGeom prst="rect">
            <a:avLst/>
          </a:prstGeom>
          <a:noFill/>
          <a:ln>
            <a:noFill/>
          </a:ln>
        </p:spPr>
        <p:txBody>
          <a:bodyPr spcFirstLastPara="1" wrap="square" lIns="91425" tIns="45700" rIns="91425" bIns="45700" anchor="ctr" anchorCtr="0">
            <a:noAutofit/>
          </a:bodyPr>
          <a:lstStyle/>
          <a:p>
            <a:r>
              <a:rPr lang="en-IN" sz="1800"/>
              <a:t>New plants should be set-up in areas with high paddy availability &amp; minimal overlap with existing plants.</a:t>
            </a:r>
          </a:p>
        </p:txBody>
      </p:sp>
      <p:grpSp>
        <p:nvGrpSpPr>
          <p:cNvPr id="19" name="Group 18">
            <a:extLst>
              <a:ext uri="{FF2B5EF4-FFF2-40B4-BE49-F238E27FC236}">
                <a16:creationId xmlns:a16="http://schemas.microsoft.com/office/drawing/2014/main" id="{40E3D9E1-5066-64F0-8614-98D39D77C975}"/>
              </a:ext>
            </a:extLst>
          </p:cNvPr>
          <p:cNvGrpSpPr/>
          <p:nvPr/>
        </p:nvGrpSpPr>
        <p:grpSpPr>
          <a:xfrm>
            <a:off x="53197" y="6638003"/>
            <a:ext cx="11948715" cy="195823"/>
            <a:chOff x="53197" y="6638003"/>
            <a:chExt cx="11948715" cy="195823"/>
          </a:xfrm>
        </p:grpSpPr>
        <p:sp>
          <p:nvSpPr>
            <p:cNvPr id="5" name="Arrow: Pentagon 4">
              <a:extLst>
                <a:ext uri="{FF2B5EF4-FFF2-40B4-BE49-F238E27FC236}">
                  <a16:creationId xmlns:a16="http://schemas.microsoft.com/office/drawing/2014/main" id="{6AA3DC60-FF15-666D-2DCC-FBB365D2083F}"/>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7" name="Arrow: Chevron 6">
              <a:extLst>
                <a:ext uri="{FF2B5EF4-FFF2-40B4-BE49-F238E27FC236}">
                  <a16:creationId xmlns:a16="http://schemas.microsoft.com/office/drawing/2014/main" id="{03698DFF-9365-B242-71A6-76772DACC4A4}"/>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8" name="Arrow: Chevron 7">
              <a:extLst>
                <a:ext uri="{FF2B5EF4-FFF2-40B4-BE49-F238E27FC236}">
                  <a16:creationId xmlns:a16="http://schemas.microsoft.com/office/drawing/2014/main" id="{5BA22646-5F8C-615E-565C-551E37DF57C7}"/>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SC Analysis</a:t>
              </a:r>
            </a:p>
          </p:txBody>
        </p:sp>
        <p:sp>
          <p:nvSpPr>
            <p:cNvPr id="10" name="Arrow: Chevron 9">
              <a:extLst>
                <a:ext uri="{FF2B5EF4-FFF2-40B4-BE49-F238E27FC236}">
                  <a16:creationId xmlns:a16="http://schemas.microsoft.com/office/drawing/2014/main" id="{5D6410CB-2DAD-190A-EC94-7A5BC5E3F528}"/>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11" name="Arrow: Chevron 10">
              <a:extLst>
                <a:ext uri="{FF2B5EF4-FFF2-40B4-BE49-F238E27FC236}">
                  <a16:creationId xmlns:a16="http://schemas.microsoft.com/office/drawing/2014/main" id="{F0DC1E6C-ECA0-16EC-F17B-75455157450C}"/>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12" name="Arrow: Chevron 11">
              <a:extLst>
                <a:ext uri="{FF2B5EF4-FFF2-40B4-BE49-F238E27FC236}">
                  <a16:creationId xmlns:a16="http://schemas.microsoft.com/office/drawing/2014/main" id="{F28CB814-0A1C-D907-E2C8-20554E0A5797}"/>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13" name="Arrow: Chevron 12">
              <a:extLst>
                <a:ext uri="{FF2B5EF4-FFF2-40B4-BE49-F238E27FC236}">
                  <a16:creationId xmlns:a16="http://schemas.microsoft.com/office/drawing/2014/main" id="{EDBD9D0D-AB05-30EE-20DF-00CF9A3862C4}"/>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14" name="Arrow: Chevron 13">
              <a:extLst>
                <a:ext uri="{FF2B5EF4-FFF2-40B4-BE49-F238E27FC236}">
                  <a16:creationId xmlns:a16="http://schemas.microsoft.com/office/drawing/2014/main" id="{68230385-B0DB-5664-7BE6-BA896EAEAAC6}"/>
                </a:ext>
              </a:extLst>
            </p:cNvPr>
            <p:cNvSpPr/>
            <p:nvPr/>
          </p:nvSpPr>
          <p:spPr>
            <a:xfrm>
              <a:off x="8844526" y="6638003"/>
              <a:ext cx="791499" cy="181076"/>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Plant</a:t>
              </a:r>
              <a:endParaRPr lang="en-US" sz="1050">
                <a:solidFill>
                  <a:schemeClr val="bg1"/>
                </a:solidFill>
                <a:cs typeface="Arial"/>
              </a:endParaRPr>
            </a:p>
          </p:txBody>
        </p:sp>
        <p:sp>
          <p:nvSpPr>
            <p:cNvPr id="15" name="Arrow: Chevron 14">
              <a:extLst>
                <a:ext uri="{FF2B5EF4-FFF2-40B4-BE49-F238E27FC236}">
                  <a16:creationId xmlns:a16="http://schemas.microsoft.com/office/drawing/2014/main" id="{0FFBBB15-BE5B-9D5C-9C9A-D6DAB35EB308}"/>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17" name="Arrow: Chevron 16">
              <a:extLst>
                <a:ext uri="{FF2B5EF4-FFF2-40B4-BE49-F238E27FC236}">
                  <a16:creationId xmlns:a16="http://schemas.microsoft.com/office/drawing/2014/main" id="{7B9BCB1F-E189-B772-F677-AEF990507027}"/>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sp>
        <p:nvSpPr>
          <p:cNvPr id="21" name="TextBox 20">
            <a:extLst>
              <a:ext uri="{FF2B5EF4-FFF2-40B4-BE49-F238E27FC236}">
                <a16:creationId xmlns:a16="http://schemas.microsoft.com/office/drawing/2014/main" id="{36CCC0D9-75FD-644C-5F92-EC8BACAE8502}"/>
              </a:ext>
            </a:extLst>
          </p:cNvPr>
          <p:cNvSpPr txBox="1"/>
          <p:nvPr/>
        </p:nvSpPr>
        <p:spPr>
          <a:xfrm>
            <a:off x="6522824" y="1110127"/>
            <a:ext cx="5524606" cy="1377300"/>
          </a:xfrm>
          <a:prstGeom prst="rect">
            <a:avLst/>
          </a:prstGeom>
          <a:noFill/>
        </p:spPr>
        <p:txBody>
          <a:bodyPr wrap="square" lIns="91440" tIns="45720" rIns="91440" bIns="45720" rtlCol="0" anchor="t">
            <a:spAutoFit/>
          </a:bodyPr>
          <a:lstStyle/>
          <a:p>
            <a:pPr algn="ctr">
              <a:spcAft>
                <a:spcPts val="300"/>
              </a:spcAft>
            </a:pPr>
            <a:r>
              <a:rPr lang="en-IN" b="1" dirty="0"/>
              <a:t>Proposal for setting up 5 new plants in the Punjab region</a:t>
            </a:r>
            <a:endParaRPr lang="en-US" dirty="0"/>
          </a:p>
          <a:p>
            <a:pPr algn="ctr">
              <a:spcAft>
                <a:spcPts val="300"/>
              </a:spcAft>
            </a:pPr>
            <a:r>
              <a:rPr lang="en-IN" b="1" dirty="0"/>
              <a:t>Hypothesis:</a:t>
            </a:r>
            <a:endParaRPr lang="en-IN" dirty="0"/>
          </a:p>
          <a:p>
            <a:pPr marL="285750" indent="-285750">
              <a:spcAft>
                <a:spcPts val="300"/>
              </a:spcAft>
              <a:buAutoNum type="arabicPeriod"/>
            </a:pPr>
            <a:r>
              <a:rPr lang="en-IN" sz="1200" dirty="0"/>
              <a:t>Setting up the plant such that there is minimal overlap in the region in the 50 km radius of the plant.</a:t>
            </a:r>
          </a:p>
          <a:p>
            <a:pPr marL="285750" indent="-285750">
              <a:spcAft>
                <a:spcPts val="300"/>
              </a:spcAft>
              <a:buAutoNum type="arabicPeriod"/>
            </a:pPr>
            <a:r>
              <a:rPr lang="en-IN" sz="1200" dirty="0"/>
              <a:t>Choosing regions with the highest volume of paddy straw generated and no plants.</a:t>
            </a:r>
          </a:p>
        </p:txBody>
      </p:sp>
      <p:cxnSp>
        <p:nvCxnSpPr>
          <p:cNvPr id="22" name="Straight Connector 21">
            <a:extLst>
              <a:ext uri="{FF2B5EF4-FFF2-40B4-BE49-F238E27FC236}">
                <a16:creationId xmlns:a16="http://schemas.microsoft.com/office/drawing/2014/main" id="{9D4CE0E9-AF55-AF2B-F085-570B4BA7C4E5}"/>
              </a:ext>
            </a:extLst>
          </p:cNvPr>
          <p:cNvCxnSpPr/>
          <p:nvPr/>
        </p:nvCxnSpPr>
        <p:spPr>
          <a:xfrm>
            <a:off x="6334812" y="603315"/>
            <a:ext cx="65988" cy="5742993"/>
          </a:xfrm>
          <a:prstGeom prst="line">
            <a:avLst/>
          </a:prstGeom>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6A63427E-FA3B-A3F1-F0A3-7949A8100902}"/>
              </a:ext>
            </a:extLst>
          </p:cNvPr>
          <p:cNvGrpSpPr/>
          <p:nvPr/>
        </p:nvGrpSpPr>
        <p:grpSpPr>
          <a:xfrm>
            <a:off x="6464600" y="2834062"/>
            <a:ext cx="4989556" cy="3390815"/>
            <a:chOff x="6595640" y="3627273"/>
            <a:chExt cx="4332345" cy="2719035"/>
          </a:xfrm>
        </p:grpSpPr>
        <p:pic>
          <p:nvPicPr>
            <p:cNvPr id="20" name="Picture 19">
              <a:extLst>
                <a:ext uri="{FF2B5EF4-FFF2-40B4-BE49-F238E27FC236}">
                  <a16:creationId xmlns:a16="http://schemas.microsoft.com/office/drawing/2014/main" id="{A31F84B5-0F2F-AE3C-FBAB-D761CF1B2641}"/>
                </a:ext>
              </a:extLst>
            </p:cNvPr>
            <p:cNvPicPr>
              <a:picLocks noChangeAspect="1"/>
            </p:cNvPicPr>
            <p:nvPr/>
          </p:nvPicPr>
          <p:blipFill>
            <a:blip r:embed="rId3"/>
            <a:stretch>
              <a:fillRect/>
            </a:stretch>
          </p:blipFill>
          <p:spPr>
            <a:xfrm>
              <a:off x="6595640" y="3627273"/>
              <a:ext cx="4332345" cy="2719035"/>
            </a:xfrm>
            <a:prstGeom prst="rect">
              <a:avLst/>
            </a:prstGeom>
          </p:spPr>
        </p:pic>
        <p:sp>
          <p:nvSpPr>
            <p:cNvPr id="92" name="Oval 91">
              <a:extLst>
                <a:ext uri="{FF2B5EF4-FFF2-40B4-BE49-F238E27FC236}">
                  <a16:creationId xmlns:a16="http://schemas.microsoft.com/office/drawing/2014/main" id="{465A457B-E4EF-D843-0EF3-D0C796B82614}"/>
                </a:ext>
              </a:extLst>
            </p:cNvPr>
            <p:cNvSpPr/>
            <p:nvPr/>
          </p:nvSpPr>
          <p:spPr>
            <a:xfrm>
              <a:off x="7046066" y="5302493"/>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Oval 1">
              <a:extLst>
                <a:ext uri="{FF2B5EF4-FFF2-40B4-BE49-F238E27FC236}">
                  <a16:creationId xmlns:a16="http://schemas.microsoft.com/office/drawing/2014/main" id="{EE7A4AD3-17EF-2BBF-99F2-CBAA2D6350F1}"/>
                </a:ext>
              </a:extLst>
            </p:cNvPr>
            <p:cNvSpPr/>
            <p:nvPr/>
          </p:nvSpPr>
          <p:spPr>
            <a:xfrm>
              <a:off x="6997643" y="5694233"/>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D98CFAF-8E34-3806-7E52-4D4E906CB660}"/>
                </a:ext>
              </a:extLst>
            </p:cNvPr>
            <p:cNvSpPr/>
            <p:nvPr/>
          </p:nvSpPr>
          <p:spPr>
            <a:xfrm>
              <a:off x="7255582" y="5395843"/>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1EDBAF8C-7103-E75F-4DE3-CA4C29A61125}"/>
                </a:ext>
              </a:extLst>
            </p:cNvPr>
            <p:cNvSpPr/>
            <p:nvPr/>
          </p:nvSpPr>
          <p:spPr>
            <a:xfrm>
              <a:off x="7386124" y="5694232"/>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8A8AEC95-BADD-2C12-B1BB-B9942823199C}"/>
                </a:ext>
              </a:extLst>
            </p:cNvPr>
            <p:cNvSpPr/>
            <p:nvPr/>
          </p:nvSpPr>
          <p:spPr>
            <a:xfrm>
              <a:off x="8149950" y="5916856"/>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BAAF66DF-5F4A-D1C0-B909-258532B614A1}"/>
                </a:ext>
              </a:extLst>
            </p:cNvPr>
            <p:cNvSpPr/>
            <p:nvPr/>
          </p:nvSpPr>
          <p:spPr>
            <a:xfrm>
              <a:off x="7471754" y="4950235"/>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5EF1225D-A7CE-6DA0-3991-84E0DC1797AA}"/>
                </a:ext>
              </a:extLst>
            </p:cNvPr>
            <p:cNvSpPr/>
            <p:nvPr/>
          </p:nvSpPr>
          <p:spPr>
            <a:xfrm>
              <a:off x="7637477" y="5160561"/>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F4B7471E-E680-DA19-16C9-A998C6716913}"/>
                </a:ext>
              </a:extLst>
            </p:cNvPr>
            <p:cNvSpPr/>
            <p:nvPr/>
          </p:nvSpPr>
          <p:spPr>
            <a:xfrm>
              <a:off x="8051186" y="5141963"/>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97B07828-2D0B-6656-4996-4FBA9B459A9E}"/>
                </a:ext>
              </a:extLst>
            </p:cNvPr>
            <p:cNvSpPr/>
            <p:nvPr/>
          </p:nvSpPr>
          <p:spPr>
            <a:xfrm>
              <a:off x="8251977" y="4835960"/>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a:extLst>
                <a:ext uri="{FF2B5EF4-FFF2-40B4-BE49-F238E27FC236}">
                  <a16:creationId xmlns:a16="http://schemas.microsoft.com/office/drawing/2014/main" id="{F4376537-9EBD-4547-1AB1-381206777457}"/>
                </a:ext>
              </a:extLst>
            </p:cNvPr>
            <p:cNvSpPr/>
            <p:nvPr/>
          </p:nvSpPr>
          <p:spPr>
            <a:xfrm>
              <a:off x="8520330" y="4871939"/>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a:extLst>
                <a:ext uri="{FF2B5EF4-FFF2-40B4-BE49-F238E27FC236}">
                  <a16:creationId xmlns:a16="http://schemas.microsoft.com/office/drawing/2014/main" id="{23982C5A-3446-7DDB-A22A-5427799125A4}"/>
                </a:ext>
              </a:extLst>
            </p:cNvPr>
            <p:cNvSpPr/>
            <p:nvPr/>
          </p:nvSpPr>
          <p:spPr>
            <a:xfrm>
              <a:off x="8768344" y="4288891"/>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a:extLst>
                <a:ext uri="{FF2B5EF4-FFF2-40B4-BE49-F238E27FC236}">
                  <a16:creationId xmlns:a16="http://schemas.microsoft.com/office/drawing/2014/main" id="{FCB16A1B-FA61-1EAF-AFFA-5AB12EBFD13C}"/>
                </a:ext>
              </a:extLst>
            </p:cNvPr>
            <p:cNvSpPr/>
            <p:nvPr/>
          </p:nvSpPr>
          <p:spPr>
            <a:xfrm>
              <a:off x="8941317" y="4614170"/>
              <a:ext cx="83527" cy="7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a:extLst>
                <a:ext uri="{FF2B5EF4-FFF2-40B4-BE49-F238E27FC236}">
                  <a16:creationId xmlns:a16="http://schemas.microsoft.com/office/drawing/2014/main" id="{98E131CB-4C9D-0563-9015-B0DD40C164B1}"/>
                </a:ext>
              </a:extLst>
            </p:cNvPr>
            <p:cNvSpPr/>
            <p:nvPr/>
          </p:nvSpPr>
          <p:spPr>
            <a:xfrm>
              <a:off x="8698512" y="5441277"/>
              <a:ext cx="83527" cy="719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Oval 115">
              <a:extLst>
                <a:ext uri="{FF2B5EF4-FFF2-40B4-BE49-F238E27FC236}">
                  <a16:creationId xmlns:a16="http://schemas.microsoft.com/office/drawing/2014/main" id="{6DC18977-56BD-1767-90CA-22592E2F2D3F}"/>
                </a:ext>
              </a:extLst>
            </p:cNvPr>
            <p:cNvSpPr/>
            <p:nvPr/>
          </p:nvSpPr>
          <p:spPr>
            <a:xfrm>
              <a:off x="9526058" y="5345728"/>
              <a:ext cx="83527" cy="719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Oval 116">
              <a:extLst>
                <a:ext uri="{FF2B5EF4-FFF2-40B4-BE49-F238E27FC236}">
                  <a16:creationId xmlns:a16="http://schemas.microsoft.com/office/drawing/2014/main" id="{58A8AD60-64CA-F85E-4933-41B4060A1362}"/>
                </a:ext>
              </a:extLst>
            </p:cNvPr>
            <p:cNvSpPr/>
            <p:nvPr/>
          </p:nvSpPr>
          <p:spPr>
            <a:xfrm>
              <a:off x="8698512" y="5766191"/>
              <a:ext cx="83527" cy="719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Oval 117">
              <a:extLst>
                <a:ext uri="{FF2B5EF4-FFF2-40B4-BE49-F238E27FC236}">
                  <a16:creationId xmlns:a16="http://schemas.microsoft.com/office/drawing/2014/main" id="{BA0999E0-FBBC-8A6B-0A1F-CB7DBFAE0E9F}"/>
                </a:ext>
              </a:extLst>
            </p:cNvPr>
            <p:cNvSpPr/>
            <p:nvPr/>
          </p:nvSpPr>
          <p:spPr>
            <a:xfrm>
              <a:off x="9156748" y="5558097"/>
              <a:ext cx="83527" cy="719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Oval 118">
              <a:extLst>
                <a:ext uri="{FF2B5EF4-FFF2-40B4-BE49-F238E27FC236}">
                  <a16:creationId xmlns:a16="http://schemas.microsoft.com/office/drawing/2014/main" id="{72C159A5-BF7C-7091-5E7F-2210B1C0E047}"/>
                </a:ext>
              </a:extLst>
            </p:cNvPr>
            <p:cNvSpPr/>
            <p:nvPr/>
          </p:nvSpPr>
          <p:spPr>
            <a:xfrm>
              <a:off x="8436803" y="5117111"/>
              <a:ext cx="83527" cy="719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a:extLst>
                <a:ext uri="{FF2B5EF4-FFF2-40B4-BE49-F238E27FC236}">
                  <a16:creationId xmlns:a16="http://schemas.microsoft.com/office/drawing/2014/main" id="{47AF32D9-02B9-7A78-246C-02ADCA7F508C}"/>
                </a:ext>
              </a:extLst>
            </p:cNvPr>
            <p:cNvSpPr/>
            <p:nvPr/>
          </p:nvSpPr>
          <p:spPr>
            <a:xfrm>
              <a:off x="8857790" y="4991236"/>
              <a:ext cx="83527" cy="719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1" name="Oval 120">
            <a:extLst>
              <a:ext uri="{FF2B5EF4-FFF2-40B4-BE49-F238E27FC236}">
                <a16:creationId xmlns:a16="http://schemas.microsoft.com/office/drawing/2014/main" id="{13A1B441-5C10-9462-E9A3-BD963A1DF382}"/>
              </a:ext>
            </a:extLst>
          </p:cNvPr>
          <p:cNvSpPr/>
          <p:nvPr/>
        </p:nvSpPr>
        <p:spPr>
          <a:xfrm>
            <a:off x="10148891" y="3901973"/>
            <a:ext cx="180445" cy="1554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Oval 121">
            <a:extLst>
              <a:ext uri="{FF2B5EF4-FFF2-40B4-BE49-F238E27FC236}">
                <a16:creationId xmlns:a16="http://schemas.microsoft.com/office/drawing/2014/main" id="{BAA51A54-CBE2-E2BF-D3E4-4A067E9A1974}"/>
              </a:ext>
            </a:extLst>
          </p:cNvPr>
          <p:cNvSpPr/>
          <p:nvPr/>
        </p:nvSpPr>
        <p:spPr>
          <a:xfrm>
            <a:off x="10148892" y="4154898"/>
            <a:ext cx="180445" cy="15545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a:extLst>
              <a:ext uri="{FF2B5EF4-FFF2-40B4-BE49-F238E27FC236}">
                <a16:creationId xmlns:a16="http://schemas.microsoft.com/office/drawing/2014/main" id="{E426715E-3AF8-7D32-CC6E-A76F22E96C87}"/>
              </a:ext>
            </a:extLst>
          </p:cNvPr>
          <p:cNvSpPr txBox="1"/>
          <p:nvPr/>
        </p:nvSpPr>
        <p:spPr>
          <a:xfrm>
            <a:off x="10307566" y="3776291"/>
            <a:ext cx="1739864" cy="707886"/>
          </a:xfrm>
          <a:prstGeom prst="rect">
            <a:avLst/>
          </a:prstGeom>
          <a:noFill/>
        </p:spPr>
        <p:txBody>
          <a:bodyPr wrap="square" rtlCol="0">
            <a:spAutoFit/>
          </a:bodyPr>
          <a:lstStyle/>
          <a:p>
            <a:r>
              <a:rPr lang="en-US" sz="1000"/>
              <a:t>Location of current RNG plants (11 in Punjab)</a:t>
            </a:r>
          </a:p>
          <a:p>
            <a:r>
              <a:rPr lang="en-US" sz="1000"/>
              <a:t>Suggested location for plant set-up in Punjab</a:t>
            </a:r>
            <a:endParaRPr lang="en-IN" sz="1000"/>
          </a:p>
        </p:txBody>
      </p:sp>
      <p:sp>
        <p:nvSpPr>
          <p:cNvPr id="124" name="Rectangle 123">
            <a:extLst>
              <a:ext uri="{FF2B5EF4-FFF2-40B4-BE49-F238E27FC236}">
                <a16:creationId xmlns:a16="http://schemas.microsoft.com/office/drawing/2014/main" id="{231310DA-7830-EFD2-3631-173FC6E823CC}"/>
              </a:ext>
            </a:extLst>
          </p:cNvPr>
          <p:cNvSpPr/>
          <p:nvPr/>
        </p:nvSpPr>
        <p:spPr>
          <a:xfrm>
            <a:off x="7042161" y="6153880"/>
            <a:ext cx="2952313" cy="24138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a:t>Locations are approximated with district only*</a:t>
            </a:r>
            <a:endParaRPr lang="en-IN" sz="1000"/>
          </a:p>
        </p:txBody>
      </p:sp>
      <p:sp>
        <p:nvSpPr>
          <p:cNvPr id="125" name="Google Shape;162;p5">
            <a:extLst>
              <a:ext uri="{FF2B5EF4-FFF2-40B4-BE49-F238E27FC236}">
                <a16:creationId xmlns:a16="http://schemas.microsoft.com/office/drawing/2014/main" id="{6BAC879F-6836-BEAF-70A8-6A16F1A2E0A5}"/>
              </a:ext>
            </a:extLst>
          </p:cNvPr>
          <p:cNvSpPr/>
          <p:nvPr/>
        </p:nvSpPr>
        <p:spPr>
          <a:xfrm>
            <a:off x="98455" y="559500"/>
            <a:ext cx="6114333" cy="325301"/>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rgbClr val="FFFFFF"/>
                </a:solidFill>
                <a:latin typeface="Arial"/>
                <a:ea typeface="Arial"/>
                <a:cs typeface="Arial"/>
              </a:rPr>
              <a:t>PLANT REQUIREMENTS</a:t>
            </a:r>
          </a:p>
        </p:txBody>
      </p:sp>
      <p:sp>
        <p:nvSpPr>
          <p:cNvPr id="129" name="Google Shape;162;p5">
            <a:extLst>
              <a:ext uri="{FF2B5EF4-FFF2-40B4-BE49-F238E27FC236}">
                <a16:creationId xmlns:a16="http://schemas.microsoft.com/office/drawing/2014/main" id="{147E6509-85A5-F3B9-70B7-D0957A8D6F64}"/>
              </a:ext>
            </a:extLst>
          </p:cNvPr>
          <p:cNvSpPr/>
          <p:nvPr/>
        </p:nvSpPr>
        <p:spPr>
          <a:xfrm>
            <a:off x="6417991" y="559501"/>
            <a:ext cx="5675555" cy="378582"/>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300" b="1">
                <a:solidFill>
                  <a:srgbClr val="FFFFFF"/>
                </a:solidFill>
              </a:rPr>
              <a:t>Proposal for setting up future RNG Plants</a:t>
            </a:r>
            <a:endParaRPr lang="en-GB" sz="1300" b="1">
              <a:solidFill>
                <a:srgbClr val="FFFFFF"/>
              </a:solidFill>
              <a:latin typeface="Arial"/>
              <a:ea typeface="Arial"/>
              <a:cs typeface="Arial"/>
            </a:endParaRPr>
          </a:p>
        </p:txBody>
      </p:sp>
      <p:sp>
        <p:nvSpPr>
          <p:cNvPr id="18" name="Google Shape;87;p1">
            <a:extLst>
              <a:ext uri="{FF2B5EF4-FFF2-40B4-BE49-F238E27FC236}">
                <a16:creationId xmlns:a16="http://schemas.microsoft.com/office/drawing/2014/main" id="{8F18FA97-C190-5D00-E2ED-75A8551727EB}"/>
              </a:ext>
            </a:extLst>
          </p:cNvPr>
          <p:cNvSpPr/>
          <p:nvPr/>
        </p:nvSpPr>
        <p:spPr>
          <a:xfrm>
            <a:off x="101637" y="3688777"/>
            <a:ext cx="1124943" cy="516306"/>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Arial"/>
              <a:buNone/>
            </a:pPr>
            <a:r>
              <a:rPr lang="en-IN" sz="1200" b="1">
                <a:solidFill>
                  <a:schemeClr val="bg1"/>
                </a:solidFill>
                <a:latin typeface="+mj-lt"/>
              </a:rPr>
              <a:t>Labour</a:t>
            </a:r>
            <a:endParaRPr lang="en-IN" sz="1200" b="1" i="0" u="none" strike="noStrike" cap="none">
              <a:solidFill>
                <a:schemeClr val="bg1"/>
              </a:solidFill>
              <a:latin typeface="+mj-lt"/>
              <a:ea typeface="Arial"/>
              <a:cs typeface="Arial"/>
              <a:sym typeface="Arial"/>
            </a:endParaRPr>
          </a:p>
        </p:txBody>
      </p:sp>
      <p:sp>
        <p:nvSpPr>
          <p:cNvPr id="23" name="Google Shape;86;p1">
            <a:extLst>
              <a:ext uri="{FF2B5EF4-FFF2-40B4-BE49-F238E27FC236}">
                <a16:creationId xmlns:a16="http://schemas.microsoft.com/office/drawing/2014/main" id="{561F06C2-D9FB-0D12-F8E8-A601825761BB}"/>
              </a:ext>
            </a:extLst>
          </p:cNvPr>
          <p:cNvSpPr/>
          <p:nvPr/>
        </p:nvSpPr>
        <p:spPr>
          <a:xfrm>
            <a:off x="1307257" y="3706312"/>
            <a:ext cx="4909404" cy="506674"/>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114300" indent="-114300" algn="l">
              <a:buFont typeface="Arial" panose="020B0604020202020204" pitchFamily="34" charset="0"/>
              <a:buChar char="•"/>
            </a:pPr>
            <a:r>
              <a:rPr lang="en-US" sz="1200" b="0" i="0">
                <a:solidFill>
                  <a:srgbClr val="374151"/>
                </a:solidFill>
                <a:effectLst/>
                <a:latin typeface="+mn-lt"/>
              </a:rPr>
              <a:t>Ensure the availability of skilled personnel who can troubleshoot and manage any technical issues.</a:t>
            </a:r>
            <a:endParaRPr lang="en-US"/>
          </a:p>
        </p:txBody>
      </p:sp>
      <p:sp>
        <p:nvSpPr>
          <p:cNvPr id="24" name="Google Shape;27;p1">
            <a:extLst>
              <a:ext uri="{FF2B5EF4-FFF2-40B4-BE49-F238E27FC236}">
                <a16:creationId xmlns:a16="http://schemas.microsoft.com/office/drawing/2014/main" id="{7AEADE91-BB38-08E5-795D-8E37F8F08CAF}"/>
              </a:ext>
            </a:extLst>
          </p:cNvPr>
          <p:cNvSpPr/>
          <p:nvPr/>
        </p:nvSpPr>
        <p:spPr>
          <a:xfrm>
            <a:off x="101637" y="914524"/>
            <a:ext cx="1146592" cy="742826"/>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Arial"/>
              <a:buNone/>
            </a:pPr>
            <a:r>
              <a:rPr lang="en-US" sz="1200" b="1" i="0">
                <a:solidFill>
                  <a:schemeClr val="bg1"/>
                </a:solidFill>
                <a:effectLst/>
                <a:latin typeface="+mj-lt"/>
              </a:rPr>
              <a:t>Optimal Plant Size</a:t>
            </a:r>
            <a:endParaRPr sz="1200" b="1" i="0" u="none" strike="noStrike" cap="none">
              <a:solidFill>
                <a:schemeClr val="bg1"/>
              </a:solidFill>
              <a:latin typeface="+mj-lt"/>
              <a:ea typeface="Arial"/>
              <a:cs typeface="Arial"/>
              <a:sym typeface="Arial"/>
            </a:endParaRPr>
          </a:p>
        </p:txBody>
      </p:sp>
      <p:sp>
        <p:nvSpPr>
          <p:cNvPr id="25" name="Google Shape;28;p1">
            <a:extLst>
              <a:ext uri="{FF2B5EF4-FFF2-40B4-BE49-F238E27FC236}">
                <a16:creationId xmlns:a16="http://schemas.microsoft.com/office/drawing/2014/main" id="{FFCEBED8-6722-9144-4400-8C70E6E3DAFD}"/>
              </a:ext>
            </a:extLst>
          </p:cNvPr>
          <p:cNvSpPr/>
          <p:nvPr/>
        </p:nvSpPr>
        <p:spPr>
          <a:xfrm>
            <a:off x="1307255" y="910135"/>
            <a:ext cx="4909406" cy="742826"/>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114300" indent="-114300">
              <a:buFont typeface="Arial" panose="020B0604020202020204" pitchFamily="34" charset="0"/>
              <a:buChar char="•"/>
            </a:pPr>
            <a:r>
              <a:rPr lang="en-US" sz="1200" dirty="0">
                <a:solidFill>
                  <a:srgbClr val="374151"/>
                </a:solidFill>
                <a:latin typeface="+mn-lt"/>
              </a:rPr>
              <a:t>I</a:t>
            </a:r>
            <a:r>
              <a:rPr lang="en-US" sz="1200" b="0" i="0" dirty="0">
                <a:solidFill>
                  <a:srgbClr val="374151"/>
                </a:solidFill>
                <a:effectLst/>
                <a:latin typeface="+mn-lt"/>
              </a:rPr>
              <a:t>deal plant capacity based on feedstock availability and power demand. </a:t>
            </a:r>
            <a:r>
              <a:rPr lang="en-US" sz="1200" b="1" dirty="0">
                <a:solidFill>
                  <a:srgbClr val="374151"/>
                </a:solidFill>
                <a:latin typeface="+mn-lt"/>
              </a:rPr>
              <a:t>B</a:t>
            </a:r>
            <a:r>
              <a:rPr lang="en-US" sz="1200" b="1" i="0" dirty="0">
                <a:solidFill>
                  <a:srgbClr val="374151"/>
                </a:solidFill>
                <a:effectLst/>
                <a:latin typeface="+mn-lt"/>
              </a:rPr>
              <a:t>alance between economies of scale and operational efficiency. </a:t>
            </a:r>
            <a:endParaRPr lang="en-US" b="1" dirty="0"/>
          </a:p>
        </p:txBody>
      </p:sp>
      <p:sp>
        <p:nvSpPr>
          <p:cNvPr id="39" name="Google Shape;85;p1">
            <a:extLst>
              <a:ext uri="{FF2B5EF4-FFF2-40B4-BE49-F238E27FC236}">
                <a16:creationId xmlns:a16="http://schemas.microsoft.com/office/drawing/2014/main" id="{20006F3B-183D-FDE7-329E-005EBEE8AB4B}"/>
              </a:ext>
            </a:extLst>
          </p:cNvPr>
          <p:cNvSpPr/>
          <p:nvPr/>
        </p:nvSpPr>
        <p:spPr>
          <a:xfrm>
            <a:off x="101637" y="1714910"/>
            <a:ext cx="1146592" cy="930105"/>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Arial"/>
              <a:buNone/>
            </a:pPr>
            <a:r>
              <a:rPr lang="en-US" sz="1200" b="1" i="0">
                <a:solidFill>
                  <a:schemeClr val="bg1"/>
                </a:solidFill>
                <a:effectLst/>
                <a:latin typeface="+mj-lt"/>
              </a:rPr>
              <a:t>Technology Selection</a:t>
            </a:r>
            <a:endParaRPr lang="en-US" sz="1200" b="1" i="0" u="none" strike="noStrike" cap="none">
              <a:solidFill>
                <a:schemeClr val="bg1"/>
              </a:solidFill>
              <a:latin typeface="+mj-lt"/>
              <a:ea typeface="Arial"/>
              <a:cs typeface="Arial"/>
              <a:sym typeface="Arial"/>
            </a:endParaRPr>
          </a:p>
        </p:txBody>
      </p:sp>
      <p:sp>
        <p:nvSpPr>
          <p:cNvPr id="40" name="Google Shape;86;p1">
            <a:extLst>
              <a:ext uri="{FF2B5EF4-FFF2-40B4-BE49-F238E27FC236}">
                <a16:creationId xmlns:a16="http://schemas.microsoft.com/office/drawing/2014/main" id="{7F5F9616-5921-1A00-993A-DC0A56804B9D}"/>
              </a:ext>
            </a:extLst>
          </p:cNvPr>
          <p:cNvSpPr/>
          <p:nvPr/>
        </p:nvSpPr>
        <p:spPr>
          <a:xfrm>
            <a:off x="1307258" y="1708590"/>
            <a:ext cx="4909403" cy="935895"/>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114300" indent="-114300" algn="l">
              <a:buFont typeface="Arial" panose="020B0604020202020204" pitchFamily="34" charset="0"/>
              <a:buChar char="•"/>
            </a:pPr>
            <a:r>
              <a:rPr lang="en-US" sz="1200" dirty="0">
                <a:solidFill>
                  <a:srgbClr val="374151"/>
                </a:solidFill>
                <a:latin typeface="+mn-lt"/>
              </a:rPr>
              <a:t>A</a:t>
            </a:r>
            <a:r>
              <a:rPr lang="en-US" sz="1200" b="0" i="0" dirty="0">
                <a:solidFill>
                  <a:srgbClr val="374151"/>
                </a:solidFill>
                <a:effectLst/>
                <a:latin typeface="+mn-lt"/>
              </a:rPr>
              <a:t>utomation of the energy conversion process</a:t>
            </a:r>
            <a:endParaRPr lang="en-US" dirty="0"/>
          </a:p>
          <a:p>
            <a:pPr marL="114300" indent="-114300" algn="l">
              <a:buFont typeface="Arial" panose="020B0604020202020204" pitchFamily="34" charset="0"/>
              <a:buChar char="•"/>
            </a:pPr>
            <a:r>
              <a:rPr lang="en-US" sz="1200" b="0" i="0" dirty="0">
                <a:solidFill>
                  <a:srgbClr val="374151"/>
                </a:solidFill>
                <a:effectLst/>
                <a:latin typeface="+mn-lt"/>
              </a:rPr>
              <a:t>Choose </a:t>
            </a:r>
            <a:r>
              <a:rPr lang="en-US" sz="1200" b="1" i="0" dirty="0">
                <a:solidFill>
                  <a:srgbClr val="374151"/>
                </a:solidFill>
                <a:effectLst/>
                <a:latin typeface="+mn-lt"/>
              </a:rPr>
              <a:t>advanced and efficient RNG</a:t>
            </a:r>
            <a:r>
              <a:rPr lang="en-US" sz="1200" b="0" i="0" dirty="0">
                <a:solidFill>
                  <a:srgbClr val="374151"/>
                </a:solidFill>
                <a:effectLst/>
                <a:latin typeface="+mn-lt"/>
              </a:rPr>
              <a:t> plant technology to maximize power generation from the feedstock.</a:t>
            </a:r>
          </a:p>
          <a:p>
            <a:pPr marL="114300" indent="-114300" algn="l">
              <a:buFont typeface="Arial" panose="020B0604020202020204" pitchFamily="34" charset="0"/>
              <a:buChar char="•"/>
            </a:pPr>
            <a:r>
              <a:rPr lang="en-US" sz="1200" b="0" i="0" dirty="0">
                <a:solidFill>
                  <a:srgbClr val="374151"/>
                </a:solidFill>
                <a:effectLst/>
                <a:latin typeface="+mn-lt"/>
              </a:rPr>
              <a:t>integration with the energy grid.</a:t>
            </a:r>
          </a:p>
        </p:txBody>
      </p:sp>
      <p:sp>
        <p:nvSpPr>
          <p:cNvPr id="90" name="Google Shape;87;p1">
            <a:extLst>
              <a:ext uri="{FF2B5EF4-FFF2-40B4-BE49-F238E27FC236}">
                <a16:creationId xmlns:a16="http://schemas.microsoft.com/office/drawing/2014/main" id="{B7F769A9-2DF5-854E-FE59-DAC2FDB53783}"/>
              </a:ext>
            </a:extLst>
          </p:cNvPr>
          <p:cNvSpPr/>
          <p:nvPr/>
        </p:nvSpPr>
        <p:spPr>
          <a:xfrm>
            <a:off x="101637" y="2694949"/>
            <a:ext cx="1133729" cy="934383"/>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Arial"/>
              <a:buNone/>
            </a:pPr>
            <a:r>
              <a:rPr lang="en-US" sz="1200" b="1" i="0">
                <a:solidFill>
                  <a:schemeClr val="bg1"/>
                </a:solidFill>
                <a:effectLst/>
                <a:latin typeface="+mj-lt"/>
              </a:rPr>
              <a:t>Maintenance</a:t>
            </a:r>
            <a:endParaRPr lang="en-US" sz="1200" b="1" i="0" u="none" strike="noStrike" cap="none">
              <a:solidFill>
                <a:schemeClr val="bg1"/>
              </a:solidFill>
              <a:latin typeface="+mj-lt"/>
              <a:ea typeface="Arial"/>
              <a:cs typeface="Arial"/>
              <a:sym typeface="Arial"/>
            </a:endParaRPr>
          </a:p>
        </p:txBody>
      </p:sp>
      <p:sp>
        <p:nvSpPr>
          <p:cNvPr id="91" name="Google Shape;86;p1">
            <a:extLst>
              <a:ext uri="{FF2B5EF4-FFF2-40B4-BE49-F238E27FC236}">
                <a16:creationId xmlns:a16="http://schemas.microsoft.com/office/drawing/2014/main" id="{D26EDA5D-8E19-B6BB-B1A9-EDF6B0799D82}"/>
              </a:ext>
            </a:extLst>
          </p:cNvPr>
          <p:cNvSpPr/>
          <p:nvPr/>
        </p:nvSpPr>
        <p:spPr>
          <a:xfrm>
            <a:off x="1303384" y="2710338"/>
            <a:ext cx="4913277" cy="90922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114300" indent="-114300" algn="l">
              <a:buFont typeface="Arial" panose="020B0604020202020204" pitchFamily="34" charset="0"/>
              <a:buChar char="•"/>
            </a:pPr>
            <a:r>
              <a:rPr lang="en-US" sz="1200" b="0" i="0" dirty="0">
                <a:solidFill>
                  <a:srgbClr val="374151"/>
                </a:solidFill>
                <a:effectLst/>
                <a:latin typeface="+mn-lt"/>
              </a:rPr>
              <a:t>Implement </a:t>
            </a:r>
            <a:r>
              <a:rPr lang="en-US" sz="1200" b="1" i="0" dirty="0">
                <a:solidFill>
                  <a:srgbClr val="374151"/>
                </a:solidFill>
                <a:effectLst/>
                <a:latin typeface="+mn-lt"/>
              </a:rPr>
              <a:t>regular maintenance </a:t>
            </a:r>
            <a:r>
              <a:rPr lang="en-US" sz="1200" b="0" i="0" dirty="0">
                <a:solidFill>
                  <a:srgbClr val="374151"/>
                </a:solidFill>
                <a:effectLst/>
                <a:latin typeface="+mn-lt"/>
              </a:rPr>
              <a:t>schedule for plant equipment &amp; machinery to ensure continuous efficiency &amp; prevent breakdowns.</a:t>
            </a:r>
            <a:endParaRPr lang="en-US" dirty="0"/>
          </a:p>
          <a:p>
            <a:pPr marL="114300" indent="-114300" algn="l">
              <a:buFont typeface="Arial" panose="020B0604020202020204" pitchFamily="34" charset="0"/>
              <a:buChar char="•"/>
            </a:pPr>
            <a:r>
              <a:rPr lang="en-US" sz="1200" b="0" i="0" dirty="0">
                <a:solidFill>
                  <a:srgbClr val="374151"/>
                </a:solidFill>
                <a:effectLst/>
                <a:latin typeface="+mn-lt"/>
              </a:rPr>
              <a:t>Maintain an </a:t>
            </a:r>
            <a:r>
              <a:rPr lang="en-US" sz="1200" b="1" i="0" dirty="0">
                <a:solidFill>
                  <a:srgbClr val="374151"/>
                </a:solidFill>
                <a:effectLst/>
                <a:latin typeface="+mn-lt"/>
              </a:rPr>
              <a:t>inventory of critical spare </a:t>
            </a:r>
            <a:r>
              <a:rPr lang="en-US" sz="1200" b="0" i="0" dirty="0">
                <a:solidFill>
                  <a:srgbClr val="374151"/>
                </a:solidFill>
                <a:effectLst/>
                <a:latin typeface="+mn-lt"/>
              </a:rPr>
              <a:t>parts to promptly address any unforeseen equipment failures.</a:t>
            </a:r>
          </a:p>
        </p:txBody>
      </p:sp>
      <p:sp>
        <p:nvSpPr>
          <p:cNvPr id="93" name="Rectangle 92">
            <a:extLst>
              <a:ext uri="{FF2B5EF4-FFF2-40B4-BE49-F238E27FC236}">
                <a16:creationId xmlns:a16="http://schemas.microsoft.com/office/drawing/2014/main" id="{75F3FFEA-A0D8-CB81-33C6-09D805F3CD96}"/>
              </a:ext>
            </a:extLst>
          </p:cNvPr>
          <p:cNvSpPr/>
          <p:nvPr/>
        </p:nvSpPr>
        <p:spPr>
          <a:xfrm>
            <a:off x="6521330" y="2591597"/>
            <a:ext cx="5438152" cy="242466"/>
          </a:xfrm>
          <a:prstGeom prst="rect">
            <a:avLst/>
          </a:prstGeom>
          <a:solidFill>
            <a:schemeClr val="accent6"/>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IN" sz="1300" b="1">
                <a:solidFill>
                  <a:srgbClr val="FFFFFF"/>
                </a:solidFill>
                <a:latin typeface="Arial"/>
                <a:cs typeface="Arial"/>
              </a:rPr>
              <a:t>District wise paddy straw generated in Punjab</a:t>
            </a:r>
          </a:p>
        </p:txBody>
      </p:sp>
      <p:graphicFrame>
        <p:nvGraphicFramePr>
          <p:cNvPr id="16" name="Diagram 15">
            <a:extLst>
              <a:ext uri="{FF2B5EF4-FFF2-40B4-BE49-F238E27FC236}">
                <a16:creationId xmlns:a16="http://schemas.microsoft.com/office/drawing/2014/main" id="{748A8291-F213-42C2-9BB3-C6C7DD54670C}"/>
              </a:ext>
            </a:extLst>
          </p:cNvPr>
          <p:cNvGraphicFramePr/>
          <p:nvPr>
            <p:extLst>
              <p:ext uri="{D42A27DB-BD31-4B8C-83A1-F6EECF244321}">
                <p14:modId xmlns:p14="http://schemas.microsoft.com/office/powerpoint/2010/main" val="3684706233"/>
              </p:ext>
            </p:extLst>
          </p:nvPr>
        </p:nvGraphicFramePr>
        <p:xfrm>
          <a:off x="-734173" y="4324837"/>
          <a:ext cx="5799068" cy="22020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6" name="Rectangle: Rounded Corners 25">
            <a:extLst>
              <a:ext uri="{FF2B5EF4-FFF2-40B4-BE49-F238E27FC236}">
                <a16:creationId xmlns:a16="http://schemas.microsoft.com/office/drawing/2014/main" id="{53BAF647-1029-FC54-4FFA-9FAD7A2C05A1}"/>
              </a:ext>
            </a:extLst>
          </p:cNvPr>
          <p:cNvSpPr/>
          <p:nvPr/>
        </p:nvSpPr>
        <p:spPr>
          <a:xfrm>
            <a:off x="4351702" y="4367274"/>
            <a:ext cx="1837825" cy="204642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a:t>Our plants will contribute towards these positives. The impact will depend on the size of the plant and some other related variables</a:t>
            </a:r>
          </a:p>
        </p:txBody>
      </p:sp>
      <p:sp>
        <p:nvSpPr>
          <p:cNvPr id="60" name="Rectangle 59">
            <a:extLst>
              <a:ext uri="{FF2B5EF4-FFF2-40B4-BE49-F238E27FC236}">
                <a16:creationId xmlns:a16="http://schemas.microsoft.com/office/drawing/2014/main" id="{6ED23C86-D705-71DD-18AB-A1BC779D8D83}"/>
              </a:ext>
            </a:extLst>
          </p:cNvPr>
          <p:cNvSpPr/>
          <p:nvPr/>
        </p:nvSpPr>
        <p:spPr>
          <a:xfrm>
            <a:off x="6525481" y="2835752"/>
            <a:ext cx="5438402" cy="3608536"/>
          </a:xfrm>
          <a:prstGeom prst="rect">
            <a:avLst/>
          </a:prstGeom>
          <a:noFill/>
          <a:ln w="12700">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8631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C328150-A707-CC0A-DCBB-6BFCEBF18175}"/>
              </a:ext>
            </a:extLst>
          </p:cNvPr>
          <p:cNvGraphicFramePr>
            <a:graphicFrameLocks noGrp="1"/>
          </p:cNvGraphicFramePr>
          <p:nvPr>
            <p:extLst>
              <p:ext uri="{D42A27DB-BD31-4B8C-83A1-F6EECF244321}">
                <p14:modId xmlns:p14="http://schemas.microsoft.com/office/powerpoint/2010/main" val="500209417"/>
              </p:ext>
            </p:extLst>
          </p:nvPr>
        </p:nvGraphicFramePr>
        <p:xfrm>
          <a:off x="586619" y="852714"/>
          <a:ext cx="4152926" cy="1658499"/>
        </p:xfrm>
        <a:graphic>
          <a:graphicData uri="http://schemas.openxmlformats.org/drawingml/2006/table">
            <a:tbl>
              <a:tblPr firstRow="1" bandRow="1">
                <a:tableStyleId>{2D5ABB26-0587-4C30-8999-92F81FD0307C}</a:tableStyleId>
              </a:tblPr>
              <a:tblGrid>
                <a:gridCol w="2993716">
                  <a:extLst>
                    <a:ext uri="{9D8B030D-6E8A-4147-A177-3AD203B41FA5}">
                      <a16:colId xmlns:a16="http://schemas.microsoft.com/office/drawing/2014/main" val="1755479806"/>
                    </a:ext>
                  </a:extLst>
                </a:gridCol>
                <a:gridCol w="1159210">
                  <a:extLst>
                    <a:ext uri="{9D8B030D-6E8A-4147-A177-3AD203B41FA5}">
                      <a16:colId xmlns:a16="http://schemas.microsoft.com/office/drawing/2014/main" val="3425371471"/>
                    </a:ext>
                  </a:extLst>
                </a:gridCol>
              </a:tblGrid>
              <a:tr h="459619">
                <a:tc>
                  <a:txBody>
                    <a:bodyPr/>
                    <a:lstStyle/>
                    <a:p>
                      <a:r>
                        <a:rPr lang="en-GB" sz="1200"/>
                        <a:t>Units of electricity generated by 1MW plant in 18H</a:t>
                      </a:r>
                    </a:p>
                  </a:txBody>
                  <a:tcPr>
                    <a:lnL w="0">
                      <a:noFill/>
                    </a:lnL>
                    <a:lnR w="3175">
                      <a:solidFill>
                        <a:schemeClr val="tx1"/>
                      </a:solidFill>
                    </a:lnR>
                    <a:lnT w="12700">
                      <a:solidFill>
                        <a:schemeClr val="tx1"/>
                      </a:solidFill>
                    </a:lnT>
                    <a:lnB w="3175">
                      <a:solidFill>
                        <a:schemeClr val="tx1"/>
                      </a:solidFill>
                    </a:lnB>
                  </a:tcPr>
                </a:tc>
                <a:tc>
                  <a:txBody>
                    <a:bodyPr/>
                    <a:lstStyle/>
                    <a:p>
                      <a:r>
                        <a:rPr lang="en-GB" sz="1200"/>
                        <a:t>18K units/day</a:t>
                      </a:r>
                    </a:p>
                  </a:txBody>
                  <a:tcPr>
                    <a:lnL w="3175">
                      <a:solidFill>
                        <a:schemeClr val="tx1"/>
                      </a:solidFill>
                    </a:lnL>
                    <a:lnR w="0">
                      <a:noFill/>
                    </a:lnR>
                    <a:lnT w="12700">
                      <a:solidFill>
                        <a:schemeClr val="tx1"/>
                      </a:solidFill>
                    </a:lnT>
                    <a:lnB w="3175">
                      <a:solidFill>
                        <a:schemeClr val="tx1"/>
                      </a:solidFill>
                    </a:lnB>
                  </a:tcPr>
                </a:tc>
                <a:extLst>
                  <a:ext uri="{0D108BD9-81ED-4DB2-BD59-A6C34878D82A}">
                    <a16:rowId xmlns:a16="http://schemas.microsoft.com/office/drawing/2014/main" val="4188432309"/>
                  </a:ext>
                </a:extLst>
              </a:tr>
              <a:tr h="370840">
                <a:tc>
                  <a:txBody>
                    <a:bodyPr/>
                    <a:lstStyle/>
                    <a:p>
                      <a:pPr lvl="0" algn="l">
                        <a:lnSpc>
                          <a:spcPct val="100000"/>
                        </a:lnSpc>
                        <a:spcBef>
                          <a:spcPts val="0"/>
                        </a:spcBef>
                        <a:spcAft>
                          <a:spcPts val="0"/>
                        </a:spcAft>
                        <a:buNone/>
                      </a:pPr>
                      <a:r>
                        <a:rPr lang="en-GB" sz="1200" b="0" i="0" u="none" strike="noStrike" noProof="0">
                          <a:solidFill>
                            <a:srgbClr val="000000"/>
                          </a:solidFill>
                          <a:latin typeface="Arial"/>
                        </a:rPr>
                        <a:t>Units of electricity generated by 6 18MW plant (18H day, 90% of year)</a:t>
                      </a:r>
                    </a:p>
                  </a:txBody>
                  <a:tcPr>
                    <a:lnL w="0">
                      <a:noFill/>
                    </a:lnL>
                    <a:lnR w="3175">
                      <a:solidFill>
                        <a:schemeClr val="tx1"/>
                      </a:solidFill>
                    </a:lnR>
                    <a:lnT w="3175">
                      <a:solidFill>
                        <a:schemeClr val="tx1"/>
                      </a:solidFill>
                    </a:lnT>
                    <a:lnB w="3175">
                      <a:solidFill>
                        <a:schemeClr val="tx1"/>
                      </a:solidFill>
                    </a:lnB>
                  </a:tcPr>
                </a:tc>
                <a:tc>
                  <a:txBody>
                    <a:bodyPr/>
                    <a:lstStyle/>
                    <a:p>
                      <a:r>
                        <a:rPr lang="en-GB" sz="1200"/>
                        <a:t>64Cr units/</a:t>
                      </a:r>
                      <a:r>
                        <a:rPr lang="en-GB" sz="1200" err="1"/>
                        <a:t>yr</a:t>
                      </a:r>
                      <a:endParaRPr lang="en-US" err="1"/>
                    </a:p>
                  </a:txBody>
                  <a:tcPr>
                    <a:lnL w="3175">
                      <a:solidFill>
                        <a:schemeClr val="tx1"/>
                      </a:solidFill>
                    </a:lnL>
                    <a:lnR w="0">
                      <a:noFill/>
                    </a:lnR>
                    <a:lnT w="3175">
                      <a:solidFill>
                        <a:schemeClr val="tx1"/>
                      </a:solidFill>
                    </a:lnT>
                    <a:lnB w="3175">
                      <a:solidFill>
                        <a:schemeClr val="tx1"/>
                      </a:solidFill>
                    </a:lnB>
                  </a:tcPr>
                </a:tc>
                <a:extLst>
                  <a:ext uri="{0D108BD9-81ED-4DB2-BD59-A6C34878D82A}">
                    <a16:rowId xmlns:a16="http://schemas.microsoft.com/office/drawing/2014/main" val="2239868964"/>
                  </a:ext>
                </a:extLst>
              </a:tr>
              <a:tr h="370840">
                <a:tc>
                  <a:txBody>
                    <a:bodyPr/>
                    <a:lstStyle/>
                    <a:p>
                      <a:r>
                        <a:rPr lang="en-GB" sz="1200"/>
                        <a:t>Punjab State Power Corp. Tariff</a:t>
                      </a:r>
                    </a:p>
                  </a:txBody>
                  <a:tcPr>
                    <a:lnL w="0">
                      <a:noFill/>
                    </a:lnL>
                    <a:lnR w="3175">
                      <a:solidFill>
                        <a:schemeClr val="tx1"/>
                      </a:solidFill>
                    </a:lnR>
                    <a:lnT w="3175">
                      <a:solidFill>
                        <a:schemeClr val="tx1"/>
                      </a:solidFill>
                    </a:lnT>
                    <a:lnB w="3175">
                      <a:solidFill>
                        <a:schemeClr val="tx1"/>
                      </a:solidFill>
                    </a:lnB>
                  </a:tcPr>
                </a:tc>
                <a:tc>
                  <a:txBody>
                    <a:bodyPr/>
                    <a:lstStyle/>
                    <a:p>
                      <a:r>
                        <a:rPr lang="en-GB" sz="1200"/>
                        <a:t>Rs. 4/unit</a:t>
                      </a:r>
                    </a:p>
                  </a:txBody>
                  <a:tcPr>
                    <a:lnL w="3175">
                      <a:solidFill>
                        <a:schemeClr val="tx1"/>
                      </a:solidFill>
                    </a:lnL>
                    <a:lnR w="0">
                      <a:noFill/>
                    </a:lnR>
                    <a:lnT w="3175">
                      <a:solidFill>
                        <a:schemeClr val="tx1"/>
                      </a:solidFill>
                    </a:lnT>
                    <a:lnB w="3175">
                      <a:solidFill>
                        <a:schemeClr val="tx1"/>
                      </a:solidFill>
                    </a:lnB>
                  </a:tcPr>
                </a:tc>
                <a:extLst>
                  <a:ext uri="{0D108BD9-81ED-4DB2-BD59-A6C34878D82A}">
                    <a16:rowId xmlns:a16="http://schemas.microsoft.com/office/drawing/2014/main" val="713158890"/>
                  </a:ext>
                </a:extLst>
              </a:tr>
              <a:tr h="370840">
                <a:tc>
                  <a:txBody>
                    <a:bodyPr/>
                    <a:lstStyle/>
                    <a:p>
                      <a:r>
                        <a:rPr lang="en-GB" sz="1200" b="1"/>
                        <a:t>Revenue generated</a:t>
                      </a:r>
                    </a:p>
                  </a:txBody>
                  <a:tcPr>
                    <a:lnL w="0">
                      <a:noFill/>
                    </a:lnL>
                    <a:lnR w="3175">
                      <a:solidFill>
                        <a:schemeClr val="tx1"/>
                      </a:solidFill>
                    </a:lnR>
                    <a:lnT w="3175">
                      <a:solidFill>
                        <a:schemeClr val="tx1"/>
                      </a:solidFill>
                    </a:lnT>
                    <a:lnB w="12700">
                      <a:solidFill>
                        <a:schemeClr val="tx1"/>
                      </a:solidFill>
                    </a:lnB>
                    <a:solidFill>
                      <a:schemeClr val="accent6">
                        <a:lumMod val="20000"/>
                        <a:lumOff val="80000"/>
                      </a:schemeClr>
                    </a:solidFill>
                  </a:tcPr>
                </a:tc>
                <a:tc>
                  <a:txBody>
                    <a:bodyPr/>
                    <a:lstStyle/>
                    <a:p>
                      <a:r>
                        <a:rPr lang="en-GB" sz="1200" b="1"/>
                        <a:t>Rs. 255 Cr/yr</a:t>
                      </a:r>
                    </a:p>
                  </a:txBody>
                  <a:tcPr>
                    <a:lnL w="3175">
                      <a:solidFill>
                        <a:schemeClr val="tx1"/>
                      </a:solidFill>
                    </a:lnL>
                    <a:lnR w="0">
                      <a:noFill/>
                    </a:lnR>
                    <a:lnT w="3175">
                      <a:solidFill>
                        <a:schemeClr val="tx1"/>
                      </a:solidFill>
                    </a:lnT>
                    <a:lnB w="12700">
                      <a:solidFill>
                        <a:schemeClr val="tx1"/>
                      </a:solidFill>
                    </a:lnB>
                    <a:solidFill>
                      <a:schemeClr val="accent6">
                        <a:lumMod val="20000"/>
                        <a:lumOff val="80000"/>
                      </a:schemeClr>
                    </a:solidFill>
                  </a:tcPr>
                </a:tc>
                <a:extLst>
                  <a:ext uri="{0D108BD9-81ED-4DB2-BD59-A6C34878D82A}">
                    <a16:rowId xmlns:a16="http://schemas.microsoft.com/office/drawing/2014/main" val="3257372320"/>
                  </a:ext>
                </a:extLst>
              </a:tr>
            </a:tbl>
          </a:graphicData>
        </a:graphic>
      </p:graphicFrame>
      <p:graphicFrame>
        <p:nvGraphicFramePr>
          <p:cNvPr id="8" name="Table 7">
            <a:extLst>
              <a:ext uri="{FF2B5EF4-FFF2-40B4-BE49-F238E27FC236}">
                <a16:creationId xmlns:a16="http://schemas.microsoft.com/office/drawing/2014/main" id="{17684655-D6E3-066D-DEFF-EB8B1CE51114}"/>
              </a:ext>
            </a:extLst>
          </p:cNvPr>
          <p:cNvGraphicFramePr>
            <a:graphicFrameLocks noGrp="1"/>
          </p:cNvGraphicFramePr>
          <p:nvPr>
            <p:extLst>
              <p:ext uri="{D42A27DB-BD31-4B8C-83A1-F6EECF244321}">
                <p14:modId xmlns:p14="http://schemas.microsoft.com/office/powerpoint/2010/main" val="1789010240"/>
              </p:ext>
            </p:extLst>
          </p:nvPr>
        </p:nvGraphicFramePr>
        <p:xfrm>
          <a:off x="7779254" y="934356"/>
          <a:ext cx="3854570" cy="1020520"/>
        </p:xfrm>
        <a:graphic>
          <a:graphicData uri="http://schemas.openxmlformats.org/drawingml/2006/table">
            <a:tbl>
              <a:tblPr firstRow="1" bandRow="1">
                <a:tableStyleId>{2D5ABB26-0587-4C30-8999-92F81FD0307C}</a:tableStyleId>
              </a:tblPr>
              <a:tblGrid>
                <a:gridCol w="2673370">
                  <a:extLst>
                    <a:ext uri="{9D8B030D-6E8A-4147-A177-3AD203B41FA5}">
                      <a16:colId xmlns:a16="http://schemas.microsoft.com/office/drawing/2014/main" val="1755479806"/>
                    </a:ext>
                  </a:extLst>
                </a:gridCol>
                <a:gridCol w="1181200">
                  <a:extLst>
                    <a:ext uri="{9D8B030D-6E8A-4147-A177-3AD203B41FA5}">
                      <a16:colId xmlns:a16="http://schemas.microsoft.com/office/drawing/2014/main" val="3425371471"/>
                    </a:ext>
                  </a:extLst>
                </a:gridCol>
              </a:tblGrid>
              <a:tr h="359360">
                <a:tc>
                  <a:txBody>
                    <a:bodyPr/>
                    <a:lstStyle/>
                    <a:p>
                      <a:pPr lvl="0">
                        <a:buNone/>
                      </a:pPr>
                      <a:r>
                        <a:rPr lang="en-GB" sz="1200"/>
                        <a:t>Stubble generated in Punjab &amp; Haryana </a:t>
                      </a:r>
                      <a:endParaRPr lang="en-GB" sz="1200" b="0" i="0" u="none" strike="noStrike" noProof="0">
                        <a:solidFill>
                          <a:srgbClr val="000000"/>
                        </a:solidFill>
                        <a:latin typeface="Arial"/>
                      </a:endParaRPr>
                    </a:p>
                  </a:txBody>
                  <a:tcPr>
                    <a:lnL w="0">
                      <a:noFill/>
                    </a:lnL>
                    <a:lnR w="3175">
                      <a:solidFill>
                        <a:schemeClr val="tx1"/>
                      </a:solidFill>
                    </a:lnR>
                    <a:lnT w="12700">
                      <a:solidFill>
                        <a:schemeClr val="tx1"/>
                      </a:solidFill>
                    </a:lnT>
                    <a:lnB w="3175">
                      <a:solidFill>
                        <a:schemeClr val="tx1"/>
                      </a:solidFill>
                    </a:lnB>
                  </a:tcPr>
                </a:tc>
                <a:tc>
                  <a:txBody>
                    <a:bodyPr/>
                    <a:lstStyle/>
                    <a:p>
                      <a:pPr lvl="0">
                        <a:buNone/>
                      </a:pPr>
                      <a:r>
                        <a:rPr lang="en-GB" sz="1200"/>
                        <a:t>1.8Cr Ton/</a:t>
                      </a:r>
                      <a:r>
                        <a:rPr lang="en-GB" sz="1200" err="1"/>
                        <a:t>yr</a:t>
                      </a:r>
                    </a:p>
                  </a:txBody>
                  <a:tcPr>
                    <a:lnL w="3175">
                      <a:solidFill>
                        <a:schemeClr val="tx1"/>
                      </a:solidFill>
                    </a:lnL>
                    <a:lnR w="0">
                      <a:noFill/>
                    </a:lnR>
                    <a:lnT w="12700">
                      <a:solidFill>
                        <a:schemeClr val="tx1"/>
                      </a:solidFill>
                    </a:lnT>
                    <a:lnB w="3175">
                      <a:solidFill>
                        <a:schemeClr val="tx1"/>
                      </a:solidFill>
                    </a:lnB>
                  </a:tcPr>
                </a:tc>
                <a:extLst>
                  <a:ext uri="{0D108BD9-81ED-4DB2-BD59-A6C34878D82A}">
                    <a16:rowId xmlns:a16="http://schemas.microsoft.com/office/drawing/2014/main" val="4188432309"/>
                  </a:ext>
                </a:extLst>
              </a:tr>
              <a:tr h="281660">
                <a:tc>
                  <a:txBody>
                    <a:bodyPr/>
                    <a:lstStyle/>
                    <a:p>
                      <a:pPr lvl="0" algn="l">
                        <a:lnSpc>
                          <a:spcPct val="100000"/>
                        </a:lnSpc>
                        <a:spcBef>
                          <a:spcPts val="0"/>
                        </a:spcBef>
                        <a:spcAft>
                          <a:spcPts val="0"/>
                        </a:spcAft>
                        <a:buNone/>
                      </a:pPr>
                      <a:r>
                        <a:rPr lang="en-GB" sz="1200" b="0" i="0" u="none" strike="noStrike" noProof="0">
                          <a:solidFill>
                            <a:srgbClr val="000000"/>
                          </a:solidFill>
                          <a:latin typeface="Arial"/>
                        </a:rPr>
                        <a:t>Stubble for 6 18MW plant</a:t>
                      </a:r>
                    </a:p>
                  </a:txBody>
                  <a:tcPr>
                    <a:lnL w="0">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a:solidFill>
                        <a:schemeClr val="tx1"/>
                      </a:solidFill>
                    </a:lnB>
                  </a:tcPr>
                </a:tc>
                <a:tc>
                  <a:txBody>
                    <a:bodyPr/>
                    <a:lstStyle/>
                    <a:p>
                      <a:r>
                        <a:rPr lang="en-GB" sz="1200"/>
                        <a:t>1200K Ton/</a:t>
                      </a:r>
                      <a:r>
                        <a:rPr lang="en-GB" sz="1200" err="1"/>
                        <a:t>yr</a:t>
                      </a:r>
                    </a:p>
                  </a:txBody>
                  <a:tcPr>
                    <a:lnL w="3175" cap="flat" cmpd="sng" algn="ctr">
                      <a:solidFill>
                        <a:schemeClr val="tx1"/>
                      </a:solidFill>
                      <a:prstDash val="solid"/>
                      <a:round/>
                      <a:headEnd type="none" w="med" len="med"/>
                      <a:tailEnd type="none" w="med" len="med"/>
                    </a:lnL>
                    <a:lnR w="0">
                      <a:noFill/>
                    </a:lnR>
                    <a:lnT w="3175" cap="flat" cmpd="sng" algn="ctr">
                      <a:solidFill>
                        <a:schemeClr val="tx1"/>
                      </a:solidFill>
                      <a:prstDash val="solid"/>
                      <a:round/>
                      <a:headEnd type="none" w="med" len="med"/>
                      <a:tailEnd type="none" w="med" len="med"/>
                    </a:lnT>
                    <a:lnB w="3175">
                      <a:solidFill>
                        <a:schemeClr val="tx1"/>
                      </a:solidFill>
                    </a:lnB>
                  </a:tcPr>
                </a:tc>
                <a:extLst>
                  <a:ext uri="{0D108BD9-81ED-4DB2-BD59-A6C34878D82A}">
                    <a16:rowId xmlns:a16="http://schemas.microsoft.com/office/drawing/2014/main" val="713158890"/>
                  </a:ext>
                </a:extLst>
              </a:tr>
              <a:tr h="281660">
                <a:tc>
                  <a:txBody>
                    <a:bodyPr/>
                    <a:lstStyle/>
                    <a:p>
                      <a:pPr lvl="0">
                        <a:buNone/>
                      </a:pPr>
                      <a:r>
                        <a:rPr lang="en-GB" sz="1200"/>
                        <a:t>Payment to Farmers @Rs.500/ton</a:t>
                      </a:r>
                    </a:p>
                  </a:txBody>
                  <a:tcPr>
                    <a:lnL w="0">
                      <a:noFill/>
                    </a:lnL>
                    <a:lnR w="3174">
                      <a:solidFill>
                        <a:schemeClr val="tx1"/>
                      </a:solidFill>
                    </a:lnR>
                    <a:lnT w="3175">
                      <a:solidFill>
                        <a:schemeClr val="tx1"/>
                      </a:solidFill>
                    </a:lnT>
                    <a:lnB w="12700">
                      <a:solidFill>
                        <a:schemeClr val="tx1"/>
                      </a:solidFill>
                    </a:lnB>
                  </a:tcPr>
                </a:tc>
                <a:tc>
                  <a:txBody>
                    <a:bodyPr/>
                    <a:lstStyle/>
                    <a:p>
                      <a:pPr lvl="0">
                        <a:buNone/>
                      </a:pPr>
                      <a:r>
                        <a:rPr lang="en-GB" sz="1200"/>
                        <a:t>Rs. 60 Cr/</a:t>
                      </a:r>
                      <a:r>
                        <a:rPr lang="en-GB" sz="1200" err="1"/>
                        <a:t>yr</a:t>
                      </a:r>
                    </a:p>
                  </a:txBody>
                  <a:tcPr>
                    <a:lnL w="3174">
                      <a:solidFill>
                        <a:schemeClr val="tx1"/>
                      </a:solidFill>
                    </a:lnL>
                    <a:lnR w="0">
                      <a:noFill/>
                    </a:lnR>
                    <a:lnT w="3175">
                      <a:solidFill>
                        <a:schemeClr val="tx1"/>
                      </a:solidFill>
                    </a:lnT>
                    <a:lnB w="12700">
                      <a:solidFill>
                        <a:schemeClr val="tx1"/>
                      </a:solidFill>
                    </a:lnB>
                  </a:tcPr>
                </a:tc>
                <a:extLst>
                  <a:ext uri="{0D108BD9-81ED-4DB2-BD59-A6C34878D82A}">
                    <a16:rowId xmlns:a16="http://schemas.microsoft.com/office/drawing/2014/main" val="689233900"/>
                  </a:ext>
                </a:extLst>
              </a:tr>
            </a:tbl>
          </a:graphicData>
        </a:graphic>
      </p:graphicFrame>
      <p:graphicFrame>
        <p:nvGraphicFramePr>
          <p:cNvPr id="10" name="Table 9">
            <a:extLst>
              <a:ext uri="{FF2B5EF4-FFF2-40B4-BE49-F238E27FC236}">
                <a16:creationId xmlns:a16="http://schemas.microsoft.com/office/drawing/2014/main" id="{371F2B45-C40E-2FC3-874E-C3293FFF608F}"/>
              </a:ext>
            </a:extLst>
          </p:cNvPr>
          <p:cNvGraphicFramePr>
            <a:graphicFrameLocks noGrp="1"/>
          </p:cNvGraphicFramePr>
          <p:nvPr>
            <p:extLst>
              <p:ext uri="{D42A27DB-BD31-4B8C-83A1-F6EECF244321}">
                <p14:modId xmlns:p14="http://schemas.microsoft.com/office/powerpoint/2010/main" val="2348880961"/>
              </p:ext>
            </p:extLst>
          </p:nvPr>
        </p:nvGraphicFramePr>
        <p:xfrm>
          <a:off x="7783382" y="2507164"/>
          <a:ext cx="3888856" cy="2501775"/>
        </p:xfrm>
        <a:graphic>
          <a:graphicData uri="http://schemas.openxmlformats.org/drawingml/2006/table">
            <a:tbl>
              <a:tblPr firstRow="1" bandRow="1">
                <a:tableStyleId>{2D5ABB26-0587-4C30-8999-92F81FD0307C}</a:tableStyleId>
              </a:tblPr>
              <a:tblGrid>
                <a:gridCol w="2745719">
                  <a:extLst>
                    <a:ext uri="{9D8B030D-6E8A-4147-A177-3AD203B41FA5}">
                      <a16:colId xmlns:a16="http://schemas.microsoft.com/office/drawing/2014/main" val="1755479806"/>
                    </a:ext>
                  </a:extLst>
                </a:gridCol>
                <a:gridCol w="1143137">
                  <a:extLst>
                    <a:ext uri="{9D8B030D-6E8A-4147-A177-3AD203B41FA5}">
                      <a16:colId xmlns:a16="http://schemas.microsoft.com/office/drawing/2014/main" val="3425371471"/>
                    </a:ext>
                  </a:extLst>
                </a:gridCol>
              </a:tblGrid>
              <a:tr h="317475">
                <a:tc>
                  <a:txBody>
                    <a:bodyPr/>
                    <a:lstStyle/>
                    <a:p>
                      <a:pPr lvl="0">
                        <a:buNone/>
                      </a:pPr>
                      <a:r>
                        <a:rPr lang="en-GB" sz="1200"/>
                        <a:t>Area under Paddy to be baled  </a:t>
                      </a:r>
                      <a:endParaRPr lang="en-GB" sz="1200" b="0" i="0" u="none" strike="noStrike" noProof="0">
                        <a:solidFill>
                          <a:srgbClr val="000000"/>
                        </a:solidFill>
                        <a:latin typeface="Arial"/>
                      </a:endParaRPr>
                    </a:p>
                  </a:txBody>
                  <a:tcPr>
                    <a:lnL w="0">
                      <a:noFill/>
                    </a:lnL>
                    <a:lnR w="3175">
                      <a:solidFill>
                        <a:schemeClr val="tx1"/>
                      </a:solidFill>
                    </a:lnR>
                    <a:lnT w="12700">
                      <a:solidFill>
                        <a:schemeClr val="tx1"/>
                      </a:solidFill>
                    </a:lnT>
                    <a:lnB w="3175">
                      <a:solidFill>
                        <a:schemeClr val="tx1"/>
                      </a:solidFill>
                    </a:lnB>
                  </a:tcPr>
                </a:tc>
                <a:tc>
                  <a:txBody>
                    <a:bodyPr/>
                    <a:lstStyle/>
                    <a:p>
                      <a:pPr lvl="0">
                        <a:buNone/>
                      </a:pPr>
                      <a:r>
                        <a:rPr lang="en-GB" sz="1200"/>
                        <a:t>261K Hectare</a:t>
                      </a:r>
                      <a:endParaRPr lang="en-GB" sz="1200" err="1"/>
                    </a:p>
                  </a:txBody>
                  <a:tcPr>
                    <a:lnL w="3175">
                      <a:solidFill>
                        <a:schemeClr val="tx1"/>
                      </a:solidFill>
                    </a:lnL>
                    <a:lnR w="0">
                      <a:noFill/>
                    </a:lnR>
                    <a:lnT w="12700">
                      <a:solidFill>
                        <a:schemeClr val="tx1"/>
                      </a:solidFill>
                    </a:lnT>
                    <a:lnB w="3175">
                      <a:solidFill>
                        <a:schemeClr val="tx1"/>
                      </a:solidFill>
                    </a:lnB>
                  </a:tcPr>
                </a:tc>
                <a:extLst>
                  <a:ext uri="{0D108BD9-81ED-4DB2-BD59-A6C34878D82A}">
                    <a16:rowId xmlns:a16="http://schemas.microsoft.com/office/drawing/2014/main" val="4188432309"/>
                  </a:ext>
                </a:extLst>
              </a:tr>
              <a:tr h="405055">
                <a:tc>
                  <a:txBody>
                    <a:bodyPr/>
                    <a:lstStyle/>
                    <a:p>
                      <a:pPr lvl="0" algn="l">
                        <a:lnSpc>
                          <a:spcPct val="100000"/>
                        </a:lnSpc>
                        <a:spcBef>
                          <a:spcPts val="0"/>
                        </a:spcBef>
                        <a:spcAft>
                          <a:spcPts val="0"/>
                        </a:spcAft>
                        <a:buNone/>
                      </a:pPr>
                      <a:r>
                        <a:rPr lang="en-GB" sz="1200" b="0" i="0" u="none" strike="noStrike" noProof="0">
                          <a:solidFill>
                            <a:srgbClr val="000000"/>
                          </a:solidFill>
                          <a:latin typeface="Arial"/>
                        </a:rPr>
                        <a:t>Days required to bale (12H day @80% efficiency)</a:t>
                      </a:r>
                    </a:p>
                  </a:txBody>
                  <a:tcPr>
                    <a:lnL w="0">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a:solidFill>
                        <a:schemeClr val="tx1"/>
                      </a:solidFill>
                    </a:lnB>
                  </a:tcPr>
                </a:tc>
                <a:tc>
                  <a:txBody>
                    <a:bodyPr/>
                    <a:lstStyle/>
                    <a:p>
                      <a:pPr lvl="0">
                        <a:buNone/>
                      </a:pPr>
                      <a:r>
                        <a:rPr lang="en-GB" sz="1200"/>
                        <a:t>240K Hours</a:t>
                      </a:r>
                      <a:endParaRPr lang="en-GB" sz="1200" err="1"/>
                    </a:p>
                  </a:txBody>
                  <a:tcPr>
                    <a:lnL w="3175" cap="flat" cmpd="sng" algn="ctr">
                      <a:solidFill>
                        <a:schemeClr val="tx1"/>
                      </a:solidFill>
                      <a:prstDash val="solid"/>
                      <a:round/>
                      <a:headEnd type="none" w="med" len="med"/>
                      <a:tailEnd type="none" w="med" len="med"/>
                    </a:lnL>
                    <a:lnR w="0">
                      <a:noFill/>
                    </a:lnR>
                    <a:lnT w="3175" cap="flat" cmpd="sng" algn="ctr">
                      <a:solidFill>
                        <a:schemeClr val="tx1"/>
                      </a:solidFill>
                      <a:prstDash val="solid"/>
                      <a:round/>
                      <a:headEnd type="none" w="med" len="med"/>
                      <a:tailEnd type="none" w="med" len="med"/>
                    </a:lnT>
                    <a:lnB w="3175">
                      <a:solidFill>
                        <a:schemeClr val="tx1"/>
                      </a:solidFill>
                    </a:lnB>
                  </a:tcPr>
                </a:tc>
                <a:extLst>
                  <a:ext uri="{0D108BD9-81ED-4DB2-BD59-A6C34878D82A}">
                    <a16:rowId xmlns:a16="http://schemas.microsoft.com/office/drawing/2014/main" val="713158890"/>
                  </a:ext>
                </a:extLst>
              </a:tr>
              <a:tr h="405055">
                <a:tc>
                  <a:txBody>
                    <a:bodyPr/>
                    <a:lstStyle/>
                    <a:p>
                      <a:pPr lvl="0">
                        <a:buNone/>
                      </a:pPr>
                      <a:r>
                        <a:rPr lang="en-GB" sz="1200"/>
                        <a:t>No. of balers required to complete in 15 days</a:t>
                      </a:r>
                    </a:p>
                  </a:txBody>
                  <a:tcPr>
                    <a:lnL w="0">
                      <a:noFill/>
                    </a:lnL>
                    <a:lnR w="3174">
                      <a:solidFill>
                        <a:schemeClr val="tx1"/>
                      </a:solidFill>
                    </a:lnR>
                    <a:lnT w="3175">
                      <a:solidFill>
                        <a:schemeClr val="tx1"/>
                      </a:solidFill>
                    </a:lnT>
                    <a:lnB w="3175">
                      <a:solidFill>
                        <a:schemeClr val="tx1"/>
                      </a:solidFill>
                    </a:lnB>
                  </a:tcPr>
                </a:tc>
                <a:tc>
                  <a:txBody>
                    <a:bodyPr/>
                    <a:lstStyle/>
                    <a:p>
                      <a:pPr lvl="0">
                        <a:buNone/>
                      </a:pPr>
                      <a:r>
                        <a:rPr lang="en-GB" sz="1200"/>
                        <a:t>1660</a:t>
                      </a:r>
                      <a:endParaRPr lang="en-GB" sz="1200" err="1"/>
                    </a:p>
                  </a:txBody>
                  <a:tcPr>
                    <a:lnL w="3174">
                      <a:solidFill>
                        <a:schemeClr val="tx1"/>
                      </a:solidFill>
                    </a:lnL>
                    <a:lnR w="0">
                      <a:noFill/>
                    </a:lnR>
                    <a:lnT w="3175">
                      <a:solidFill>
                        <a:schemeClr val="tx1"/>
                      </a:solidFill>
                    </a:lnT>
                    <a:lnB w="3175">
                      <a:solidFill>
                        <a:schemeClr val="tx1"/>
                      </a:solidFill>
                    </a:lnB>
                  </a:tcPr>
                </a:tc>
                <a:extLst>
                  <a:ext uri="{0D108BD9-81ED-4DB2-BD59-A6C34878D82A}">
                    <a16:rowId xmlns:a16="http://schemas.microsoft.com/office/drawing/2014/main" val="689233900"/>
                  </a:ext>
                </a:extLst>
              </a:tr>
              <a:tr h="317475">
                <a:tc>
                  <a:txBody>
                    <a:bodyPr/>
                    <a:lstStyle/>
                    <a:p>
                      <a:pPr lvl="0">
                        <a:buNone/>
                      </a:pPr>
                      <a:r>
                        <a:rPr lang="en-GB" sz="1200"/>
                        <a:t>Cost of Balers @Rs. 14 Lakh</a:t>
                      </a:r>
                    </a:p>
                  </a:txBody>
                  <a:tcPr>
                    <a:lnL w="0">
                      <a:no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tcPr>
                </a:tc>
                <a:tc>
                  <a:txBody>
                    <a:bodyPr/>
                    <a:lstStyle/>
                    <a:p>
                      <a:pPr lvl="0">
                        <a:buNone/>
                      </a:pPr>
                      <a:r>
                        <a:rPr lang="en-GB" sz="1200"/>
                        <a:t>Rs. 233 Cr</a:t>
                      </a:r>
                    </a:p>
                  </a:txBody>
                  <a:tcPr>
                    <a:lnL w="3174">
                      <a:solidFill>
                        <a:schemeClr val="tx1"/>
                      </a:solidFill>
                    </a:lnL>
                    <a:lnR w="0">
                      <a:noFill/>
                    </a:lnR>
                    <a:lnT w="3175" cap="flat" cmpd="sng" algn="ctr">
                      <a:solidFill>
                        <a:schemeClr val="tx1"/>
                      </a:solidFill>
                      <a:prstDash val="solid"/>
                      <a:round/>
                      <a:headEnd type="none" w="med" len="med"/>
                      <a:tailEnd type="none" w="med" len="med"/>
                    </a:lnT>
                    <a:lnB w="3174">
                      <a:solidFill>
                        <a:schemeClr val="tx1"/>
                      </a:solidFill>
                    </a:lnB>
                  </a:tcPr>
                </a:tc>
                <a:extLst>
                  <a:ext uri="{0D108BD9-81ED-4DB2-BD59-A6C34878D82A}">
                    <a16:rowId xmlns:a16="http://schemas.microsoft.com/office/drawing/2014/main" val="1894063574"/>
                  </a:ext>
                </a:extLst>
              </a:tr>
              <a:tr h="317475">
                <a:tc>
                  <a:txBody>
                    <a:bodyPr/>
                    <a:lstStyle/>
                    <a:p>
                      <a:pPr lvl="0">
                        <a:buNone/>
                      </a:pPr>
                      <a:r>
                        <a:rPr lang="en-GB" sz="1200"/>
                        <a:t>Cost of Tractor @Rs. 9 Lakh</a:t>
                      </a:r>
                    </a:p>
                  </a:txBody>
                  <a:tcPr>
                    <a:lnL w="0">
                      <a:noFill/>
                    </a:lnL>
                    <a:lnR w="3174">
                      <a:solidFill>
                        <a:schemeClr val="tx1"/>
                      </a:solidFill>
                    </a:lnR>
                    <a:lnT w="3174">
                      <a:solidFill>
                        <a:schemeClr val="tx1"/>
                      </a:solidFill>
                    </a:lnT>
                    <a:lnB w="3174">
                      <a:solidFill>
                        <a:schemeClr val="tx1"/>
                      </a:solidFill>
                    </a:lnB>
                  </a:tcPr>
                </a:tc>
                <a:tc>
                  <a:txBody>
                    <a:bodyPr/>
                    <a:lstStyle/>
                    <a:p>
                      <a:pPr lvl="0">
                        <a:buNone/>
                      </a:pPr>
                      <a:r>
                        <a:rPr lang="en-GB" sz="1200"/>
                        <a:t>Rs. 150 Cr</a:t>
                      </a:r>
                    </a:p>
                  </a:txBody>
                  <a:tcPr>
                    <a:lnL w="3174">
                      <a:solidFill>
                        <a:schemeClr val="tx1"/>
                      </a:solidFill>
                    </a:lnL>
                    <a:lnR w="0">
                      <a:noFill/>
                    </a:lnR>
                    <a:lnT w="3174">
                      <a:solidFill>
                        <a:schemeClr val="tx1"/>
                      </a:solidFill>
                    </a:lnT>
                    <a:lnB w="3174">
                      <a:solidFill>
                        <a:schemeClr val="tx1"/>
                      </a:solidFill>
                    </a:lnB>
                  </a:tcPr>
                </a:tc>
                <a:extLst>
                  <a:ext uri="{0D108BD9-81ED-4DB2-BD59-A6C34878D82A}">
                    <a16:rowId xmlns:a16="http://schemas.microsoft.com/office/drawing/2014/main" val="2847306143"/>
                  </a:ext>
                </a:extLst>
              </a:tr>
              <a:tr h="317475">
                <a:tc>
                  <a:txBody>
                    <a:bodyPr/>
                    <a:lstStyle/>
                    <a:p>
                      <a:pPr lvl="0">
                        <a:buNone/>
                      </a:pPr>
                      <a:r>
                        <a:rPr lang="en-GB" sz="1200"/>
                        <a:t>Cost of Diesel</a:t>
                      </a:r>
                    </a:p>
                  </a:txBody>
                  <a:tcPr>
                    <a:lnL w="0">
                      <a:noFill/>
                    </a:lnL>
                    <a:lnR w="3174">
                      <a:solidFill>
                        <a:schemeClr val="tx1"/>
                      </a:solidFill>
                    </a:lnR>
                    <a:lnT w="3174">
                      <a:solidFill>
                        <a:schemeClr val="tx1"/>
                      </a:solidFill>
                    </a:lnT>
                    <a:lnB w="3174">
                      <a:solidFill>
                        <a:schemeClr val="tx1"/>
                      </a:solidFill>
                    </a:lnB>
                  </a:tcPr>
                </a:tc>
                <a:tc>
                  <a:txBody>
                    <a:bodyPr/>
                    <a:lstStyle/>
                    <a:p>
                      <a:pPr lvl="0">
                        <a:buNone/>
                      </a:pPr>
                      <a:r>
                        <a:rPr lang="en-GB" sz="1200"/>
                        <a:t>Rs. 65 Cr</a:t>
                      </a:r>
                    </a:p>
                  </a:txBody>
                  <a:tcPr>
                    <a:lnL w="3174">
                      <a:solidFill>
                        <a:schemeClr val="tx1"/>
                      </a:solidFill>
                    </a:lnL>
                    <a:lnR w="0">
                      <a:noFill/>
                    </a:lnR>
                    <a:lnT w="3174">
                      <a:solidFill>
                        <a:schemeClr val="tx1"/>
                      </a:solidFill>
                    </a:lnT>
                    <a:lnB w="3174">
                      <a:solidFill>
                        <a:schemeClr val="tx1"/>
                      </a:solidFill>
                    </a:lnB>
                  </a:tcPr>
                </a:tc>
                <a:extLst>
                  <a:ext uri="{0D108BD9-81ED-4DB2-BD59-A6C34878D82A}">
                    <a16:rowId xmlns:a16="http://schemas.microsoft.com/office/drawing/2014/main" val="2664949788"/>
                  </a:ext>
                </a:extLst>
              </a:tr>
              <a:tr h="317475">
                <a:tc>
                  <a:txBody>
                    <a:bodyPr/>
                    <a:lstStyle/>
                    <a:p>
                      <a:pPr lvl="0">
                        <a:buNone/>
                      </a:pPr>
                      <a:r>
                        <a:rPr lang="en-GB" sz="1200"/>
                        <a:t>Cost of Labour – 3 pax/baler</a:t>
                      </a:r>
                    </a:p>
                  </a:txBody>
                  <a:tcPr>
                    <a:lnL w="0">
                      <a:noFill/>
                    </a:lnL>
                    <a:lnR w="3174">
                      <a:solidFill>
                        <a:schemeClr val="tx1"/>
                      </a:solidFill>
                    </a:lnR>
                    <a:lnT w="3174">
                      <a:solidFill>
                        <a:schemeClr val="tx1"/>
                      </a:solidFill>
                    </a:lnT>
                    <a:lnB w="12700">
                      <a:solidFill>
                        <a:schemeClr val="tx1"/>
                      </a:solidFill>
                    </a:lnB>
                  </a:tcPr>
                </a:tc>
                <a:tc>
                  <a:txBody>
                    <a:bodyPr/>
                    <a:lstStyle/>
                    <a:p>
                      <a:pPr lvl="0">
                        <a:buNone/>
                      </a:pPr>
                      <a:r>
                        <a:rPr lang="en-GB" sz="1200"/>
                        <a:t>Rs. 3 Cr</a:t>
                      </a:r>
                    </a:p>
                  </a:txBody>
                  <a:tcPr>
                    <a:lnL w="3174">
                      <a:solidFill>
                        <a:schemeClr val="tx1"/>
                      </a:solidFill>
                    </a:lnL>
                    <a:lnR w="0">
                      <a:noFill/>
                    </a:lnR>
                    <a:lnT w="3174">
                      <a:solidFill>
                        <a:schemeClr val="tx1"/>
                      </a:solidFill>
                    </a:lnT>
                    <a:lnB w="12700">
                      <a:solidFill>
                        <a:schemeClr val="tx1"/>
                      </a:solidFill>
                    </a:lnB>
                  </a:tcPr>
                </a:tc>
                <a:extLst>
                  <a:ext uri="{0D108BD9-81ED-4DB2-BD59-A6C34878D82A}">
                    <a16:rowId xmlns:a16="http://schemas.microsoft.com/office/drawing/2014/main" val="1375710259"/>
                  </a:ext>
                </a:extLst>
              </a:tr>
            </a:tbl>
          </a:graphicData>
        </a:graphic>
      </p:graphicFrame>
      <p:graphicFrame>
        <p:nvGraphicFramePr>
          <p:cNvPr id="14" name="Table 13">
            <a:extLst>
              <a:ext uri="{FF2B5EF4-FFF2-40B4-BE49-F238E27FC236}">
                <a16:creationId xmlns:a16="http://schemas.microsoft.com/office/drawing/2014/main" id="{94DA8BCB-571A-1C69-AE95-ADB838B3C5DD}"/>
              </a:ext>
            </a:extLst>
          </p:cNvPr>
          <p:cNvGraphicFramePr>
            <a:graphicFrameLocks noGrp="1"/>
          </p:cNvGraphicFramePr>
          <p:nvPr>
            <p:extLst>
              <p:ext uri="{D42A27DB-BD31-4B8C-83A1-F6EECF244321}">
                <p14:modId xmlns:p14="http://schemas.microsoft.com/office/powerpoint/2010/main" val="3830831376"/>
              </p:ext>
            </p:extLst>
          </p:nvPr>
        </p:nvGraphicFramePr>
        <p:xfrm>
          <a:off x="622905" y="3162904"/>
          <a:ext cx="4116644" cy="741679"/>
        </p:xfrm>
        <a:graphic>
          <a:graphicData uri="http://schemas.openxmlformats.org/drawingml/2006/table">
            <a:tbl>
              <a:tblPr firstRow="1" bandRow="1">
                <a:tableStyleId>{2D5ABB26-0587-4C30-8999-92F81FD0307C}</a:tableStyleId>
              </a:tblPr>
              <a:tblGrid>
                <a:gridCol w="3362476">
                  <a:extLst>
                    <a:ext uri="{9D8B030D-6E8A-4147-A177-3AD203B41FA5}">
                      <a16:colId xmlns:a16="http://schemas.microsoft.com/office/drawing/2014/main" val="1755479806"/>
                    </a:ext>
                  </a:extLst>
                </a:gridCol>
                <a:gridCol w="754168">
                  <a:extLst>
                    <a:ext uri="{9D8B030D-6E8A-4147-A177-3AD203B41FA5}">
                      <a16:colId xmlns:a16="http://schemas.microsoft.com/office/drawing/2014/main" val="3425371471"/>
                    </a:ext>
                  </a:extLst>
                </a:gridCol>
              </a:tblGrid>
              <a:tr h="370840">
                <a:tc>
                  <a:txBody>
                    <a:bodyPr/>
                    <a:lstStyle/>
                    <a:p>
                      <a:pPr lvl="0">
                        <a:buNone/>
                      </a:pPr>
                      <a:r>
                        <a:rPr lang="en-GB" sz="1200"/>
                        <a:t>Cost/KM for 1Ton via Truck</a:t>
                      </a:r>
                      <a:endParaRPr lang="en-US"/>
                    </a:p>
                  </a:txBody>
                  <a:tcPr>
                    <a:lnL w="0">
                      <a:noFill/>
                    </a:lnL>
                    <a:lnR w="3175">
                      <a:solidFill>
                        <a:schemeClr val="tx1"/>
                      </a:solidFill>
                    </a:lnR>
                    <a:lnT w="12700">
                      <a:solidFill>
                        <a:schemeClr val="tx1"/>
                      </a:solidFill>
                    </a:lnT>
                    <a:lnB w="3175">
                      <a:solidFill>
                        <a:schemeClr val="tx1"/>
                      </a:solidFill>
                    </a:lnB>
                  </a:tcPr>
                </a:tc>
                <a:tc>
                  <a:txBody>
                    <a:bodyPr/>
                    <a:lstStyle/>
                    <a:p>
                      <a:pPr lvl="0">
                        <a:buNone/>
                      </a:pPr>
                      <a:r>
                        <a:rPr lang="en-GB" sz="1200"/>
                        <a:t>Rs. 1.1</a:t>
                      </a:r>
                      <a:endParaRPr lang="en-GB" sz="1200" err="1"/>
                    </a:p>
                  </a:txBody>
                  <a:tcPr>
                    <a:lnL w="3175">
                      <a:solidFill>
                        <a:schemeClr val="tx1"/>
                      </a:solidFill>
                    </a:lnL>
                    <a:lnR w="0">
                      <a:noFill/>
                    </a:lnR>
                    <a:lnT w="12700">
                      <a:solidFill>
                        <a:schemeClr val="tx1"/>
                      </a:solidFill>
                    </a:lnT>
                    <a:lnB w="3175">
                      <a:solidFill>
                        <a:schemeClr val="tx1"/>
                      </a:solidFill>
                    </a:lnB>
                  </a:tcPr>
                </a:tc>
                <a:extLst>
                  <a:ext uri="{0D108BD9-81ED-4DB2-BD59-A6C34878D82A}">
                    <a16:rowId xmlns:a16="http://schemas.microsoft.com/office/drawing/2014/main" val="4188432309"/>
                  </a:ext>
                </a:extLst>
              </a:tr>
              <a:tr h="370839">
                <a:tc>
                  <a:txBody>
                    <a:bodyPr/>
                    <a:lstStyle/>
                    <a:p>
                      <a:pPr lvl="0" algn="l">
                        <a:lnSpc>
                          <a:spcPct val="100000"/>
                        </a:lnSpc>
                        <a:spcBef>
                          <a:spcPts val="0"/>
                        </a:spcBef>
                        <a:spcAft>
                          <a:spcPts val="0"/>
                        </a:spcAft>
                        <a:buNone/>
                      </a:pPr>
                      <a:r>
                        <a:rPr lang="en-GB" sz="1200" b="0" i="0" u="none" strike="noStrike" noProof="0">
                          <a:solidFill>
                            <a:srgbClr val="000000"/>
                          </a:solidFill>
                          <a:latin typeface="Arial"/>
                        </a:rPr>
                        <a:t>Cost for stubble for 6 18MW plants for 50KM</a:t>
                      </a:r>
                      <a:endParaRPr lang="en-GB" sz="1200"/>
                    </a:p>
                  </a:txBody>
                  <a:tcPr>
                    <a:lnL w="0">
                      <a:noFill/>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a:solidFill>
                        <a:schemeClr val="tx1"/>
                      </a:solidFill>
                    </a:lnB>
                  </a:tcPr>
                </a:tc>
                <a:tc>
                  <a:txBody>
                    <a:bodyPr/>
                    <a:lstStyle/>
                    <a:p>
                      <a:pPr lvl="0">
                        <a:buNone/>
                      </a:pPr>
                      <a:r>
                        <a:rPr lang="en-GB" sz="1200"/>
                        <a:t>Rs. 7Cr</a:t>
                      </a:r>
                      <a:endParaRPr lang="en-GB" sz="1200" err="1"/>
                    </a:p>
                  </a:txBody>
                  <a:tcPr>
                    <a:lnL w="3174" cap="flat" cmpd="sng" algn="ctr">
                      <a:solidFill>
                        <a:schemeClr val="tx1"/>
                      </a:solidFill>
                      <a:prstDash val="solid"/>
                      <a:round/>
                      <a:headEnd type="none" w="med" len="med"/>
                      <a:tailEnd type="none" w="med" len="med"/>
                    </a:lnL>
                    <a:lnR w="0">
                      <a:noFill/>
                    </a:lnR>
                    <a:lnT w="3175" cap="flat" cmpd="sng" algn="ctr">
                      <a:solidFill>
                        <a:schemeClr val="tx1"/>
                      </a:solidFill>
                      <a:prstDash val="solid"/>
                      <a:round/>
                      <a:headEnd type="none" w="med" len="med"/>
                      <a:tailEnd type="none" w="med" len="med"/>
                    </a:lnT>
                    <a:lnB w="12700">
                      <a:solidFill>
                        <a:schemeClr val="tx1"/>
                      </a:solidFill>
                    </a:lnB>
                  </a:tcPr>
                </a:tc>
                <a:extLst>
                  <a:ext uri="{0D108BD9-81ED-4DB2-BD59-A6C34878D82A}">
                    <a16:rowId xmlns:a16="http://schemas.microsoft.com/office/drawing/2014/main" val="689233900"/>
                  </a:ext>
                </a:extLst>
              </a:tr>
            </a:tbl>
          </a:graphicData>
        </a:graphic>
      </p:graphicFrame>
      <p:sp>
        <p:nvSpPr>
          <p:cNvPr id="5" name="Rectangle 4">
            <a:extLst>
              <a:ext uri="{FF2B5EF4-FFF2-40B4-BE49-F238E27FC236}">
                <a16:creationId xmlns:a16="http://schemas.microsoft.com/office/drawing/2014/main" id="{AE6F0419-924A-3016-5289-2E3698067406}"/>
              </a:ext>
            </a:extLst>
          </p:cNvPr>
          <p:cNvSpPr/>
          <p:nvPr/>
        </p:nvSpPr>
        <p:spPr>
          <a:xfrm>
            <a:off x="4795761" y="532189"/>
            <a:ext cx="2600476" cy="1185332"/>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45720" rIns="91439" bIns="45720" numCol="1" spcCol="0" rtlCol="0" fromWordArt="0" anchor="ctr" anchorCtr="0" forceAA="0" compatLnSpc="1">
            <a:prstTxWarp prst="textNoShape">
              <a:avLst/>
            </a:prstTxWarp>
            <a:noAutofit/>
          </a:bodyPr>
          <a:lstStyle/>
          <a:p>
            <a:pPr algn="r"/>
            <a:r>
              <a:rPr lang="en-GB" sz="1800" b="1">
                <a:solidFill>
                  <a:schemeClr val="tx1"/>
                </a:solidFill>
                <a:cs typeface="Arial"/>
              </a:rPr>
              <a:t>Revenue</a:t>
            </a:r>
            <a:endParaRPr lang="en-US"/>
          </a:p>
        </p:txBody>
      </p:sp>
      <p:sp>
        <p:nvSpPr>
          <p:cNvPr id="7" name="Rectangle 6">
            <a:extLst>
              <a:ext uri="{FF2B5EF4-FFF2-40B4-BE49-F238E27FC236}">
                <a16:creationId xmlns:a16="http://schemas.microsoft.com/office/drawing/2014/main" id="{92417C78-7EB9-5930-BCC7-1E85B6C1E6C8}"/>
              </a:ext>
            </a:extLst>
          </p:cNvPr>
          <p:cNvSpPr/>
          <p:nvPr/>
        </p:nvSpPr>
        <p:spPr>
          <a:xfrm>
            <a:off x="4795760" y="1741712"/>
            <a:ext cx="2600476" cy="1185332"/>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74320" tIns="45720" rIns="91439" bIns="45720" rtlCol="0" anchor="ctr"/>
          <a:lstStyle/>
          <a:p>
            <a:r>
              <a:rPr lang="en-GB" sz="1800" b="1">
                <a:solidFill>
                  <a:schemeClr val="tx1"/>
                </a:solidFill>
                <a:cs typeface="Arial"/>
              </a:rPr>
              <a:t>COGS</a:t>
            </a:r>
            <a:endParaRPr lang="en-US"/>
          </a:p>
        </p:txBody>
      </p:sp>
      <p:sp>
        <p:nvSpPr>
          <p:cNvPr id="9" name="Rectangle 8">
            <a:extLst>
              <a:ext uri="{FF2B5EF4-FFF2-40B4-BE49-F238E27FC236}">
                <a16:creationId xmlns:a16="http://schemas.microsoft.com/office/drawing/2014/main" id="{79EAE815-91C8-5795-C990-CF0F98C8E2CF}"/>
              </a:ext>
            </a:extLst>
          </p:cNvPr>
          <p:cNvSpPr/>
          <p:nvPr/>
        </p:nvSpPr>
        <p:spPr>
          <a:xfrm>
            <a:off x="4795760" y="2945187"/>
            <a:ext cx="2600476" cy="1185332"/>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228600" bIns="45720" rtlCol="0" anchor="ctr"/>
          <a:lstStyle/>
          <a:p>
            <a:pPr algn="r"/>
            <a:r>
              <a:rPr lang="en-GB" sz="1800" b="1">
                <a:solidFill>
                  <a:schemeClr val="tx1"/>
                </a:solidFill>
                <a:cs typeface="Arial"/>
              </a:rPr>
              <a:t>Transport</a:t>
            </a:r>
            <a:endParaRPr lang="en-US"/>
          </a:p>
        </p:txBody>
      </p:sp>
      <p:sp>
        <p:nvSpPr>
          <p:cNvPr id="11" name="Rectangle 10">
            <a:extLst>
              <a:ext uri="{FF2B5EF4-FFF2-40B4-BE49-F238E27FC236}">
                <a16:creationId xmlns:a16="http://schemas.microsoft.com/office/drawing/2014/main" id="{C35D0778-44B4-87B2-52F4-B203CF954DFC}"/>
              </a:ext>
            </a:extLst>
          </p:cNvPr>
          <p:cNvSpPr/>
          <p:nvPr/>
        </p:nvSpPr>
        <p:spPr>
          <a:xfrm>
            <a:off x="4795760" y="4160760"/>
            <a:ext cx="2600476" cy="118533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800" b="1">
                <a:cs typeface="Arial"/>
              </a:rPr>
              <a:t>Procurement</a:t>
            </a:r>
          </a:p>
        </p:txBody>
      </p:sp>
      <p:sp>
        <p:nvSpPr>
          <p:cNvPr id="12" name="Rectangle 11">
            <a:extLst>
              <a:ext uri="{FF2B5EF4-FFF2-40B4-BE49-F238E27FC236}">
                <a16:creationId xmlns:a16="http://schemas.microsoft.com/office/drawing/2014/main" id="{0992C753-9A44-D714-6C2F-3E999D218E7D}"/>
              </a:ext>
            </a:extLst>
          </p:cNvPr>
          <p:cNvSpPr/>
          <p:nvPr/>
        </p:nvSpPr>
        <p:spPr>
          <a:xfrm>
            <a:off x="4795759" y="5382378"/>
            <a:ext cx="2600476" cy="1185332"/>
          </a:xfrm>
          <a:prstGeom prst="rect">
            <a:avLst/>
          </a:prstGeom>
          <a:solidFill>
            <a:schemeClr val="accent6">
              <a:lumMod val="75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GB" sz="1800" b="1">
                <a:cs typeface="Arial"/>
              </a:rPr>
              <a:t>Quality </a:t>
            </a:r>
            <a:endParaRPr lang="en-US"/>
          </a:p>
          <a:p>
            <a:pPr algn="r"/>
            <a:r>
              <a:rPr lang="en-GB" sz="1800" b="1">
                <a:cs typeface="Arial"/>
              </a:rPr>
              <a:t>Parameters</a:t>
            </a:r>
          </a:p>
        </p:txBody>
      </p:sp>
      <p:pic>
        <p:nvPicPr>
          <p:cNvPr id="13" name="Graphic 12" descr="Coins with solid fill">
            <a:extLst>
              <a:ext uri="{FF2B5EF4-FFF2-40B4-BE49-F238E27FC236}">
                <a16:creationId xmlns:a16="http://schemas.microsoft.com/office/drawing/2014/main" id="{A6DBD8B0-3D8F-0DD7-DDEF-176ED67526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6903" y="614236"/>
            <a:ext cx="914400" cy="914400"/>
          </a:xfrm>
          <a:prstGeom prst="rect">
            <a:avLst/>
          </a:prstGeom>
        </p:spPr>
      </p:pic>
      <p:pic>
        <p:nvPicPr>
          <p:cNvPr id="15" name="Graphic 14" descr="Plant with solid fill">
            <a:extLst>
              <a:ext uri="{FF2B5EF4-FFF2-40B4-BE49-F238E27FC236}">
                <a16:creationId xmlns:a16="http://schemas.microsoft.com/office/drawing/2014/main" id="{3DE37EFE-0468-4C32-B2DC-543C407B7D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9848" y="1883228"/>
            <a:ext cx="950685" cy="944638"/>
          </a:xfrm>
          <a:prstGeom prst="rect">
            <a:avLst/>
          </a:prstGeom>
        </p:spPr>
      </p:pic>
      <p:pic>
        <p:nvPicPr>
          <p:cNvPr id="16" name="Graphic 15" descr="Truck with solid fill">
            <a:extLst>
              <a:ext uri="{FF2B5EF4-FFF2-40B4-BE49-F238E27FC236}">
                <a16:creationId xmlns:a16="http://schemas.microsoft.com/office/drawing/2014/main" id="{EC6542B9-BD06-BC6A-CEAF-41F6E8A75B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21943" y="3080657"/>
            <a:ext cx="914400" cy="914400"/>
          </a:xfrm>
          <a:prstGeom prst="rect">
            <a:avLst/>
          </a:prstGeom>
        </p:spPr>
      </p:pic>
      <p:cxnSp>
        <p:nvCxnSpPr>
          <p:cNvPr id="18" name="Straight Arrow Connector 17">
            <a:extLst>
              <a:ext uri="{FF2B5EF4-FFF2-40B4-BE49-F238E27FC236}">
                <a16:creationId xmlns:a16="http://schemas.microsoft.com/office/drawing/2014/main" id="{AF909E7B-45BA-78ED-E6BD-F1A6CEABC804}"/>
              </a:ext>
            </a:extLst>
          </p:cNvPr>
          <p:cNvCxnSpPr/>
          <p:nvPr/>
        </p:nvCxnSpPr>
        <p:spPr>
          <a:xfrm>
            <a:off x="426864" y="717014"/>
            <a:ext cx="4367589" cy="19353"/>
          </a:xfrm>
          <a:prstGeom prst="straightConnector1">
            <a:avLst/>
          </a:prstGeom>
          <a:ln w="28575">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119B8FD-3D36-ED6E-D2A9-02A0EA84F850}"/>
              </a:ext>
            </a:extLst>
          </p:cNvPr>
          <p:cNvSpPr/>
          <p:nvPr/>
        </p:nvSpPr>
        <p:spPr>
          <a:xfrm>
            <a:off x="96762" y="514047"/>
            <a:ext cx="411238" cy="423333"/>
          </a:xfrm>
          <a:prstGeom prst="ellips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cs typeface="Arial"/>
              </a:rPr>
              <a:t>1</a:t>
            </a:r>
          </a:p>
        </p:txBody>
      </p:sp>
      <p:cxnSp>
        <p:nvCxnSpPr>
          <p:cNvPr id="20" name="Straight Arrow Connector 19">
            <a:extLst>
              <a:ext uri="{FF2B5EF4-FFF2-40B4-BE49-F238E27FC236}">
                <a16:creationId xmlns:a16="http://schemas.microsoft.com/office/drawing/2014/main" id="{1825D019-531A-A4DA-6410-A79E2C681C0D}"/>
              </a:ext>
            </a:extLst>
          </p:cNvPr>
          <p:cNvCxnSpPr>
            <a:cxnSpLocks/>
          </p:cNvCxnSpPr>
          <p:nvPr/>
        </p:nvCxnSpPr>
        <p:spPr>
          <a:xfrm>
            <a:off x="426863" y="3003013"/>
            <a:ext cx="4367589" cy="19353"/>
          </a:xfrm>
          <a:prstGeom prst="straightConnector1">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557A314-BEB6-AE76-7D6F-6CCA03674D51}"/>
              </a:ext>
            </a:extLst>
          </p:cNvPr>
          <p:cNvSpPr/>
          <p:nvPr/>
        </p:nvSpPr>
        <p:spPr>
          <a:xfrm>
            <a:off x="96761" y="2800046"/>
            <a:ext cx="411238" cy="423333"/>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chemeClr val="tx1"/>
                </a:solidFill>
                <a:cs typeface="Arial"/>
              </a:rPr>
              <a:t>3</a:t>
            </a:r>
          </a:p>
        </p:txBody>
      </p:sp>
      <p:cxnSp>
        <p:nvCxnSpPr>
          <p:cNvPr id="22" name="Straight Arrow Connector 21">
            <a:extLst>
              <a:ext uri="{FF2B5EF4-FFF2-40B4-BE49-F238E27FC236}">
                <a16:creationId xmlns:a16="http://schemas.microsoft.com/office/drawing/2014/main" id="{74E75F44-882C-7C73-2628-E2C723295221}"/>
              </a:ext>
            </a:extLst>
          </p:cNvPr>
          <p:cNvCxnSpPr>
            <a:cxnSpLocks/>
          </p:cNvCxnSpPr>
          <p:nvPr/>
        </p:nvCxnSpPr>
        <p:spPr>
          <a:xfrm flipV="1">
            <a:off x="7735411" y="748461"/>
            <a:ext cx="3904946" cy="9877"/>
          </a:xfrm>
          <a:prstGeom prst="straightConnector1">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4C3CC5B-A828-ED08-F11D-E74A2947198C}"/>
              </a:ext>
            </a:extLst>
          </p:cNvPr>
          <p:cNvSpPr/>
          <p:nvPr/>
        </p:nvSpPr>
        <p:spPr>
          <a:xfrm>
            <a:off x="11641666" y="562427"/>
            <a:ext cx="411238" cy="423333"/>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chemeClr val="tx1"/>
                </a:solidFill>
                <a:cs typeface="Arial"/>
              </a:rPr>
              <a:t>2</a:t>
            </a:r>
          </a:p>
        </p:txBody>
      </p:sp>
      <p:cxnSp>
        <p:nvCxnSpPr>
          <p:cNvPr id="24" name="Straight Arrow Connector 23">
            <a:extLst>
              <a:ext uri="{FF2B5EF4-FFF2-40B4-BE49-F238E27FC236}">
                <a16:creationId xmlns:a16="http://schemas.microsoft.com/office/drawing/2014/main" id="{71F3FA35-3FBD-71FB-8960-5F1DE2EF05EC}"/>
              </a:ext>
            </a:extLst>
          </p:cNvPr>
          <p:cNvCxnSpPr>
            <a:cxnSpLocks/>
          </p:cNvCxnSpPr>
          <p:nvPr/>
        </p:nvCxnSpPr>
        <p:spPr>
          <a:xfrm flipV="1">
            <a:off x="7340477" y="749498"/>
            <a:ext cx="399511" cy="1457764"/>
          </a:xfrm>
          <a:prstGeom prst="straightConnector1">
            <a:avLst/>
          </a:prstGeom>
          <a:ln w="2857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453CD48-692F-45BA-390B-EFB402851674}"/>
              </a:ext>
            </a:extLst>
          </p:cNvPr>
          <p:cNvCxnSpPr>
            <a:cxnSpLocks/>
          </p:cNvCxnSpPr>
          <p:nvPr/>
        </p:nvCxnSpPr>
        <p:spPr>
          <a:xfrm flipV="1">
            <a:off x="7387465" y="2277310"/>
            <a:ext cx="365039" cy="2320616"/>
          </a:xfrm>
          <a:prstGeom prst="straightConnector1">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85AADC9-A996-E8F1-DFDC-6FAC7C4CFF22}"/>
              </a:ext>
            </a:extLst>
          </p:cNvPr>
          <p:cNvCxnSpPr>
            <a:cxnSpLocks/>
          </p:cNvCxnSpPr>
          <p:nvPr/>
        </p:nvCxnSpPr>
        <p:spPr>
          <a:xfrm flipH="1" flipV="1">
            <a:off x="7733459" y="2289357"/>
            <a:ext cx="3932596" cy="11375"/>
          </a:xfrm>
          <a:prstGeom prst="straightConnector1">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8BEFAE8E-313E-B9A7-FBF6-18FD21AAE466}"/>
              </a:ext>
            </a:extLst>
          </p:cNvPr>
          <p:cNvSpPr/>
          <p:nvPr/>
        </p:nvSpPr>
        <p:spPr>
          <a:xfrm>
            <a:off x="11628080" y="2081120"/>
            <a:ext cx="411238" cy="42333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rgbClr val="FFFFFF"/>
                </a:solidFill>
                <a:cs typeface="Arial"/>
              </a:rPr>
              <a:t>4</a:t>
            </a:r>
          </a:p>
        </p:txBody>
      </p:sp>
      <p:pic>
        <p:nvPicPr>
          <p:cNvPr id="28" name="Graphic 27" descr="Connections with solid fill">
            <a:extLst>
              <a:ext uri="{FF2B5EF4-FFF2-40B4-BE49-F238E27FC236}">
                <a16:creationId xmlns:a16="http://schemas.microsoft.com/office/drawing/2014/main" id="{F4F1541F-3B6E-6D64-1EE7-9C86A015E35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86689" y="4298244"/>
            <a:ext cx="914400" cy="914400"/>
          </a:xfrm>
          <a:prstGeom prst="rect">
            <a:avLst/>
          </a:prstGeom>
        </p:spPr>
      </p:pic>
      <p:pic>
        <p:nvPicPr>
          <p:cNvPr id="29" name="Graphic 28" descr="CheckList with solid fill">
            <a:extLst>
              <a:ext uri="{FF2B5EF4-FFF2-40B4-BE49-F238E27FC236}">
                <a16:creationId xmlns:a16="http://schemas.microsoft.com/office/drawing/2014/main" id="{BF1CCD3F-9763-D958-9ED1-D5AE12D8F26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017911" y="5518856"/>
            <a:ext cx="914400" cy="914400"/>
          </a:xfrm>
          <a:prstGeom prst="rect">
            <a:avLst/>
          </a:prstGeom>
        </p:spPr>
      </p:pic>
      <p:cxnSp>
        <p:nvCxnSpPr>
          <p:cNvPr id="30" name="Straight Arrow Connector 29">
            <a:extLst>
              <a:ext uri="{FF2B5EF4-FFF2-40B4-BE49-F238E27FC236}">
                <a16:creationId xmlns:a16="http://schemas.microsoft.com/office/drawing/2014/main" id="{37B60422-1DCE-F549-F3F1-1123F3F2D6D1}"/>
              </a:ext>
            </a:extLst>
          </p:cNvPr>
          <p:cNvCxnSpPr>
            <a:cxnSpLocks/>
          </p:cNvCxnSpPr>
          <p:nvPr/>
        </p:nvCxnSpPr>
        <p:spPr>
          <a:xfrm flipH="1" flipV="1">
            <a:off x="4423878" y="4312553"/>
            <a:ext cx="404820" cy="1584764"/>
          </a:xfrm>
          <a:prstGeom prst="straightConnector1">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0E75562-C64F-C399-29BD-07991A9355F9}"/>
              </a:ext>
            </a:extLst>
          </p:cNvPr>
          <p:cNvCxnSpPr>
            <a:cxnSpLocks/>
          </p:cNvCxnSpPr>
          <p:nvPr/>
        </p:nvCxnSpPr>
        <p:spPr>
          <a:xfrm>
            <a:off x="484069" y="4324156"/>
            <a:ext cx="3927520" cy="688"/>
          </a:xfrm>
          <a:prstGeom prst="straightConnector1">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BCD92E8A-CEDD-CDFD-3273-14FBFA9A90DB}"/>
              </a:ext>
            </a:extLst>
          </p:cNvPr>
          <p:cNvSpPr/>
          <p:nvPr/>
        </p:nvSpPr>
        <p:spPr>
          <a:xfrm>
            <a:off x="95135" y="4083376"/>
            <a:ext cx="411238" cy="423333"/>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solidFill>
                  <a:srgbClr val="FFFFFF"/>
                </a:solidFill>
                <a:cs typeface="Arial"/>
              </a:rPr>
              <a:t>5</a:t>
            </a:r>
          </a:p>
        </p:txBody>
      </p:sp>
      <p:sp>
        <p:nvSpPr>
          <p:cNvPr id="34" name="Google Shape;122;p3">
            <a:extLst>
              <a:ext uri="{FF2B5EF4-FFF2-40B4-BE49-F238E27FC236}">
                <a16:creationId xmlns:a16="http://schemas.microsoft.com/office/drawing/2014/main" id="{3904A234-E7DF-892D-53BA-959325DB52CC}"/>
              </a:ext>
            </a:extLst>
          </p:cNvPr>
          <p:cNvSpPr/>
          <p:nvPr/>
        </p:nvSpPr>
        <p:spPr>
          <a:xfrm>
            <a:off x="428409" y="4438382"/>
            <a:ext cx="3965182" cy="1998983"/>
          </a:xfrm>
          <a:prstGeom prst="rect">
            <a:avLst/>
          </a:prstGeom>
          <a:noFill/>
          <a:ln w="12700" cap="flat" cmpd="sng">
            <a:solidFill>
              <a:schemeClr val="accent6"/>
            </a:solidFill>
            <a:prstDash val="dash"/>
            <a:round/>
            <a:headEnd type="none" w="sm" len="sm"/>
            <a:tailEnd type="none" w="sm" len="sm"/>
          </a:ln>
        </p:spPr>
        <p:txBody>
          <a:bodyPr spcFirstLastPara="1" wrap="square" lIns="180000" tIns="45700" rIns="91425" bIns="45700" anchor="ctr" anchorCtr="0">
            <a:noAutofit/>
          </a:bodyPr>
          <a:lstStyle/>
          <a:p>
            <a:pPr>
              <a:buChar char="•"/>
            </a:pPr>
            <a:r>
              <a:rPr lang="en-GB" sz="1200" b="1" i="1">
                <a:solidFill>
                  <a:schemeClr val="dk1"/>
                </a:solidFill>
              </a:rPr>
              <a:t>Gross Calorific Value (GCV): </a:t>
            </a:r>
            <a:r>
              <a:rPr lang="en-GB" sz="1200">
                <a:solidFill>
                  <a:schemeClr val="dk1"/>
                </a:solidFill>
              </a:rPr>
              <a:t>Should be &gt;3500kCal. Analysis of the impact of seed quality, farming techniques, &amp; field quality on GCV needed</a:t>
            </a:r>
          </a:p>
          <a:p>
            <a:pPr>
              <a:buChar char="•"/>
            </a:pPr>
            <a:r>
              <a:rPr lang="en-GB" sz="1200" b="1" i="1">
                <a:solidFill>
                  <a:schemeClr val="dk1"/>
                </a:solidFill>
              </a:rPr>
              <a:t>Moisture: </a:t>
            </a:r>
            <a:r>
              <a:rPr lang="en-GB" sz="1200"/>
              <a:t>Should be </a:t>
            </a:r>
            <a:r>
              <a:rPr lang="en-GB" sz="1200" b="1"/>
              <a:t>&lt;10-15%</a:t>
            </a:r>
            <a:r>
              <a:rPr lang="en-GB" sz="1200"/>
              <a:t> to prevent paying for equipment damage and water weight</a:t>
            </a:r>
          </a:p>
          <a:p>
            <a:pPr>
              <a:buChar char="•"/>
            </a:pPr>
            <a:r>
              <a:rPr lang="en-GB" sz="1200" b="1" i="1">
                <a:solidFill>
                  <a:schemeClr val="dk1"/>
                </a:solidFill>
              </a:rPr>
              <a:t>Dust, Straw Density</a:t>
            </a:r>
            <a:r>
              <a:rPr lang="en-GB" sz="1200" b="1">
                <a:solidFill>
                  <a:schemeClr val="dk1"/>
                </a:solidFill>
              </a:rPr>
              <a:t>:</a:t>
            </a:r>
            <a:r>
              <a:rPr lang="en-GB" sz="1200">
                <a:solidFill>
                  <a:schemeClr val="dk1"/>
                </a:solidFill>
              </a:rPr>
              <a:t> Determine acceptable ranges for these parameters in the feedstock.</a:t>
            </a:r>
          </a:p>
          <a:p>
            <a:pPr>
              <a:buChar char="•"/>
            </a:pPr>
            <a:r>
              <a:rPr lang="en-GB" sz="1200" b="1" i="1">
                <a:solidFill>
                  <a:schemeClr val="dk1"/>
                </a:solidFill>
              </a:rPr>
              <a:t>Soil Health &amp; Crop Nutrition</a:t>
            </a:r>
            <a:r>
              <a:rPr lang="en-GB" sz="1200">
                <a:solidFill>
                  <a:schemeClr val="dk1"/>
                </a:solidFill>
              </a:rPr>
              <a:t>: Soil health affects plant nutrition; Nutrient-rich soil enhances growth, affecting GCV in crops </a:t>
            </a:r>
          </a:p>
        </p:txBody>
      </p:sp>
      <p:graphicFrame>
        <p:nvGraphicFramePr>
          <p:cNvPr id="2" name="Table 1">
            <a:extLst>
              <a:ext uri="{FF2B5EF4-FFF2-40B4-BE49-F238E27FC236}">
                <a16:creationId xmlns:a16="http://schemas.microsoft.com/office/drawing/2014/main" id="{456767EA-1229-A1D1-479E-16B8C1653047}"/>
              </a:ext>
            </a:extLst>
          </p:cNvPr>
          <p:cNvGraphicFramePr>
            <a:graphicFrameLocks noGrp="1"/>
          </p:cNvGraphicFramePr>
          <p:nvPr>
            <p:extLst>
              <p:ext uri="{D42A27DB-BD31-4B8C-83A1-F6EECF244321}">
                <p14:modId xmlns:p14="http://schemas.microsoft.com/office/powerpoint/2010/main" val="941734714"/>
              </p:ext>
            </p:extLst>
          </p:nvPr>
        </p:nvGraphicFramePr>
        <p:xfrm>
          <a:off x="7698341" y="5642199"/>
          <a:ext cx="4150689" cy="741680"/>
        </p:xfrm>
        <a:graphic>
          <a:graphicData uri="http://schemas.openxmlformats.org/drawingml/2006/table">
            <a:tbl>
              <a:tblPr firstRow="1" bandRow="1">
                <a:tableStyleId>{912C8C85-51F0-491E-9774-3900AFEF0FD7}</a:tableStyleId>
              </a:tblPr>
              <a:tblGrid>
                <a:gridCol w="1612165">
                  <a:extLst>
                    <a:ext uri="{9D8B030D-6E8A-4147-A177-3AD203B41FA5}">
                      <a16:colId xmlns:a16="http://schemas.microsoft.com/office/drawing/2014/main" val="2030742138"/>
                    </a:ext>
                  </a:extLst>
                </a:gridCol>
                <a:gridCol w="1295396">
                  <a:extLst>
                    <a:ext uri="{9D8B030D-6E8A-4147-A177-3AD203B41FA5}">
                      <a16:colId xmlns:a16="http://schemas.microsoft.com/office/drawing/2014/main" val="2427819718"/>
                    </a:ext>
                  </a:extLst>
                </a:gridCol>
                <a:gridCol w="1243128">
                  <a:extLst>
                    <a:ext uri="{9D8B030D-6E8A-4147-A177-3AD203B41FA5}">
                      <a16:colId xmlns:a16="http://schemas.microsoft.com/office/drawing/2014/main" val="3448294177"/>
                    </a:ext>
                  </a:extLst>
                </a:gridCol>
              </a:tblGrid>
              <a:tr h="370840">
                <a:tc>
                  <a:txBody>
                    <a:bodyPr/>
                    <a:lstStyle/>
                    <a:p>
                      <a:pPr algn="ctr"/>
                      <a:r>
                        <a:rPr lang="en-GB"/>
                        <a:t>Total Revenue</a:t>
                      </a:r>
                    </a:p>
                  </a:txBody>
                  <a:tcPr anchor="ctr">
                    <a:lnR w="3175">
                      <a:solidFill>
                        <a:schemeClr val="tx1"/>
                      </a:solidFill>
                    </a:lnR>
                    <a:lnT w="12700">
                      <a:solidFill>
                        <a:schemeClr val="tx1"/>
                      </a:solidFill>
                    </a:lnT>
                    <a:lnB w="3175">
                      <a:solidFill>
                        <a:schemeClr val="tx1"/>
                      </a:solidFill>
                    </a:lnB>
                  </a:tcPr>
                </a:tc>
                <a:tc>
                  <a:txBody>
                    <a:bodyPr/>
                    <a:lstStyle/>
                    <a:p>
                      <a:pPr algn="ctr"/>
                      <a:r>
                        <a:rPr lang="en-GB"/>
                        <a:t>Total Cost</a:t>
                      </a:r>
                    </a:p>
                  </a:txBody>
                  <a:tcPr anchor="ctr">
                    <a:lnL w="3175">
                      <a:solidFill>
                        <a:schemeClr val="tx1"/>
                      </a:solidFill>
                    </a:lnL>
                    <a:lnR w="3175">
                      <a:solidFill>
                        <a:schemeClr val="tx1"/>
                      </a:solidFill>
                    </a:lnR>
                    <a:lnT w="12700">
                      <a:solidFill>
                        <a:schemeClr val="tx1"/>
                      </a:solidFill>
                    </a:lnT>
                    <a:lnB w="3175">
                      <a:solidFill>
                        <a:schemeClr val="tx1"/>
                      </a:solidFill>
                    </a:lnB>
                  </a:tcPr>
                </a:tc>
                <a:tc>
                  <a:txBody>
                    <a:bodyPr/>
                    <a:lstStyle/>
                    <a:p>
                      <a:pPr algn="ctr"/>
                      <a:r>
                        <a:rPr lang="en-GB"/>
                        <a:t>Total Profit</a:t>
                      </a:r>
                    </a:p>
                  </a:txBody>
                  <a:tcPr anchor="ctr">
                    <a:lnL w="3175">
                      <a:solidFill>
                        <a:schemeClr val="tx1"/>
                      </a:solidFill>
                    </a:lnL>
                    <a:lnT w="12700">
                      <a:solidFill>
                        <a:schemeClr val="tx1"/>
                      </a:solidFill>
                    </a:lnT>
                    <a:lnB w="3175">
                      <a:solidFill>
                        <a:schemeClr val="tx1"/>
                      </a:solidFill>
                    </a:lnB>
                  </a:tcPr>
                </a:tc>
                <a:extLst>
                  <a:ext uri="{0D108BD9-81ED-4DB2-BD59-A6C34878D82A}">
                    <a16:rowId xmlns:a16="http://schemas.microsoft.com/office/drawing/2014/main" val="4107579860"/>
                  </a:ext>
                </a:extLst>
              </a:tr>
              <a:tr h="370840">
                <a:tc>
                  <a:txBody>
                    <a:bodyPr/>
                    <a:lstStyle/>
                    <a:p>
                      <a:pPr algn="ctr"/>
                      <a:r>
                        <a:rPr lang="en-GB"/>
                        <a:t>Rs. 255 Cr</a:t>
                      </a:r>
                    </a:p>
                  </a:txBody>
                  <a:tcPr anchor="ctr">
                    <a:lnR w="3175">
                      <a:solidFill>
                        <a:schemeClr val="tx1"/>
                      </a:solidFill>
                    </a:lnR>
                    <a:lnT w="3175">
                      <a:solidFill>
                        <a:schemeClr val="tx1"/>
                      </a:solidFill>
                    </a:lnT>
                    <a:lnB w="12700">
                      <a:solidFill>
                        <a:schemeClr val="tx1"/>
                      </a:solidFill>
                    </a:lnB>
                  </a:tcPr>
                </a:tc>
                <a:tc>
                  <a:txBody>
                    <a:bodyPr/>
                    <a:lstStyle/>
                    <a:p>
                      <a:pPr algn="ctr"/>
                      <a:r>
                        <a:rPr lang="en-GB"/>
                        <a:t>Rs. 227 Cr</a:t>
                      </a:r>
                    </a:p>
                  </a:txBody>
                  <a:tcPr anchor="ctr">
                    <a:lnL w="3175">
                      <a:solidFill>
                        <a:schemeClr val="tx1"/>
                      </a:solidFill>
                    </a:lnL>
                    <a:lnR w="3175">
                      <a:solidFill>
                        <a:schemeClr val="tx1"/>
                      </a:solidFill>
                    </a:lnR>
                    <a:lnT w="3175">
                      <a:solidFill>
                        <a:schemeClr val="tx1"/>
                      </a:solidFill>
                    </a:lnT>
                    <a:lnB w="12700">
                      <a:solidFill>
                        <a:schemeClr val="tx1"/>
                      </a:solidFill>
                    </a:lnB>
                  </a:tcPr>
                </a:tc>
                <a:tc>
                  <a:txBody>
                    <a:bodyPr/>
                    <a:lstStyle/>
                    <a:p>
                      <a:pPr algn="ctr"/>
                      <a:r>
                        <a:rPr lang="en-GB"/>
                        <a:t>Rs. 28 Cr</a:t>
                      </a:r>
                    </a:p>
                  </a:txBody>
                  <a:tcPr anchor="ctr">
                    <a:lnL w="3175">
                      <a:solidFill>
                        <a:schemeClr val="tx1"/>
                      </a:solidFill>
                    </a:lnL>
                    <a:lnT w="3175">
                      <a:solidFill>
                        <a:schemeClr val="tx1"/>
                      </a:solidFill>
                    </a:lnT>
                    <a:lnB w="12700">
                      <a:solidFill>
                        <a:schemeClr val="tx1"/>
                      </a:solidFill>
                    </a:lnB>
                  </a:tcPr>
                </a:tc>
                <a:extLst>
                  <a:ext uri="{0D108BD9-81ED-4DB2-BD59-A6C34878D82A}">
                    <a16:rowId xmlns:a16="http://schemas.microsoft.com/office/drawing/2014/main" val="3667994819"/>
                  </a:ext>
                </a:extLst>
              </a:tr>
            </a:tbl>
          </a:graphicData>
        </a:graphic>
      </p:graphicFrame>
      <p:sp>
        <p:nvSpPr>
          <p:cNvPr id="4" name="Google Shape;190;p6">
            <a:extLst>
              <a:ext uri="{FF2B5EF4-FFF2-40B4-BE49-F238E27FC236}">
                <a16:creationId xmlns:a16="http://schemas.microsoft.com/office/drawing/2014/main" id="{30ED1A5D-A7B4-A62D-B67F-1F2172485D48}"/>
              </a:ext>
            </a:extLst>
          </p:cNvPr>
          <p:cNvSpPr/>
          <p:nvPr/>
        </p:nvSpPr>
        <p:spPr>
          <a:xfrm>
            <a:off x="8442166" y="5236346"/>
            <a:ext cx="2528898" cy="402299"/>
          </a:xfrm>
          <a:prstGeom prst="rect">
            <a:avLst/>
          </a:prstGeom>
          <a:noFill/>
          <a:ln>
            <a:noFill/>
          </a:ln>
        </p:spPr>
        <p:txBody>
          <a:bodyPr spcFirstLastPara="1" wrap="square" lIns="91425" tIns="45700" rIns="91425" bIns="45700" anchor="ctr" anchorCtr="0">
            <a:noAutofit/>
          </a:bodyPr>
          <a:lstStyle/>
          <a:p>
            <a:pPr algn="ctr">
              <a:buClr>
                <a:schemeClr val="dk1"/>
              </a:buClr>
              <a:buSzPts val="1300"/>
            </a:pPr>
            <a:r>
              <a:rPr lang="en-IN" sz="1600" b="1">
                <a:solidFill>
                  <a:schemeClr val="dk1"/>
                </a:solidFill>
              </a:rPr>
              <a:t>Cumulative</a:t>
            </a:r>
            <a:endParaRPr lang="en-IN" b="1">
              <a:solidFill>
                <a:schemeClr val="dk1"/>
              </a:solidFill>
            </a:endParaRPr>
          </a:p>
        </p:txBody>
      </p:sp>
      <p:sp>
        <p:nvSpPr>
          <p:cNvPr id="42" name="Google Shape;188;p6">
            <a:extLst>
              <a:ext uri="{FF2B5EF4-FFF2-40B4-BE49-F238E27FC236}">
                <a16:creationId xmlns:a16="http://schemas.microsoft.com/office/drawing/2014/main" id="{9AE8A1C9-4EF8-88D2-55EF-D4996AFB295C}"/>
              </a:ext>
            </a:extLst>
          </p:cNvPr>
          <p:cNvSpPr txBox="1">
            <a:spLocks noGrp="1"/>
          </p:cNvSpPr>
          <p:nvPr>
            <p:ph type="title"/>
          </p:nvPr>
        </p:nvSpPr>
        <p:spPr>
          <a:xfrm>
            <a:off x="94342" y="30180"/>
            <a:ext cx="10972800" cy="513335"/>
          </a:xfrm>
          <a:prstGeom prst="rect">
            <a:avLst/>
          </a:prstGeom>
          <a:noFill/>
          <a:ln>
            <a:noFill/>
          </a:ln>
        </p:spPr>
        <p:txBody>
          <a:bodyPr spcFirstLastPara="1" wrap="square" lIns="91425" tIns="45700" rIns="91425" bIns="45700" anchor="ctr" anchorCtr="0">
            <a:normAutofit/>
          </a:bodyPr>
          <a:lstStyle/>
          <a:p>
            <a:r>
              <a:rPr lang="en-IN"/>
              <a:t>Economic Unit Value is crucial for profit estimation &amp; model optimization.</a:t>
            </a:r>
          </a:p>
        </p:txBody>
      </p:sp>
      <p:grpSp>
        <p:nvGrpSpPr>
          <p:cNvPr id="44" name="Group 43">
            <a:extLst>
              <a:ext uri="{FF2B5EF4-FFF2-40B4-BE49-F238E27FC236}">
                <a16:creationId xmlns:a16="http://schemas.microsoft.com/office/drawing/2014/main" id="{A08723F9-2455-8262-BC4A-3CC7A6BC847F}"/>
              </a:ext>
            </a:extLst>
          </p:cNvPr>
          <p:cNvGrpSpPr/>
          <p:nvPr/>
        </p:nvGrpSpPr>
        <p:grpSpPr>
          <a:xfrm>
            <a:off x="53197" y="6638003"/>
            <a:ext cx="11948715" cy="195823"/>
            <a:chOff x="53197" y="6638003"/>
            <a:chExt cx="11948715" cy="195823"/>
          </a:xfrm>
        </p:grpSpPr>
        <p:sp>
          <p:nvSpPr>
            <p:cNvPr id="17" name="Arrow: Pentagon 16">
              <a:extLst>
                <a:ext uri="{FF2B5EF4-FFF2-40B4-BE49-F238E27FC236}">
                  <a16:creationId xmlns:a16="http://schemas.microsoft.com/office/drawing/2014/main" id="{E5E2DD72-EC8B-F221-2258-70471ED833B0}"/>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33" name="Arrow: Chevron 32">
              <a:extLst>
                <a:ext uri="{FF2B5EF4-FFF2-40B4-BE49-F238E27FC236}">
                  <a16:creationId xmlns:a16="http://schemas.microsoft.com/office/drawing/2014/main" id="{29ADB4CE-79A9-018A-B310-FBC2BD87EF46}"/>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35" name="Arrow: Chevron 34">
              <a:extLst>
                <a:ext uri="{FF2B5EF4-FFF2-40B4-BE49-F238E27FC236}">
                  <a16:creationId xmlns:a16="http://schemas.microsoft.com/office/drawing/2014/main" id="{789CD9A9-728C-1CAF-73AC-8102FEA46C77}"/>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SC Analysis</a:t>
              </a:r>
            </a:p>
          </p:txBody>
        </p:sp>
        <p:sp>
          <p:nvSpPr>
            <p:cNvPr id="36" name="Arrow: Chevron 35">
              <a:extLst>
                <a:ext uri="{FF2B5EF4-FFF2-40B4-BE49-F238E27FC236}">
                  <a16:creationId xmlns:a16="http://schemas.microsoft.com/office/drawing/2014/main" id="{64F840D0-26BA-36F2-0874-62112F5F856E}"/>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37" name="Arrow: Chevron 36">
              <a:extLst>
                <a:ext uri="{FF2B5EF4-FFF2-40B4-BE49-F238E27FC236}">
                  <a16:creationId xmlns:a16="http://schemas.microsoft.com/office/drawing/2014/main" id="{99F392D3-5899-146A-B959-008D1803A2A9}"/>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38" name="Arrow: Chevron 37">
              <a:extLst>
                <a:ext uri="{FF2B5EF4-FFF2-40B4-BE49-F238E27FC236}">
                  <a16:creationId xmlns:a16="http://schemas.microsoft.com/office/drawing/2014/main" id="{9DDA35F8-0098-6DA8-1CFD-4AFE8B859CBD}"/>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39" name="Arrow: Chevron 38">
              <a:extLst>
                <a:ext uri="{FF2B5EF4-FFF2-40B4-BE49-F238E27FC236}">
                  <a16:creationId xmlns:a16="http://schemas.microsoft.com/office/drawing/2014/main" id="{0748D737-72A8-6B4B-1414-7783C6B49772}"/>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40" name="Arrow: Chevron 39">
              <a:extLst>
                <a:ext uri="{FF2B5EF4-FFF2-40B4-BE49-F238E27FC236}">
                  <a16:creationId xmlns:a16="http://schemas.microsoft.com/office/drawing/2014/main" id="{1F94A4C4-345B-0D0E-0559-2828B4368874}"/>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41" name="Arrow: Chevron 40">
              <a:extLst>
                <a:ext uri="{FF2B5EF4-FFF2-40B4-BE49-F238E27FC236}">
                  <a16:creationId xmlns:a16="http://schemas.microsoft.com/office/drawing/2014/main" id="{5AFB912E-FBAB-B0F2-2785-3F84A456A178}"/>
                </a:ext>
              </a:extLst>
            </p:cNvPr>
            <p:cNvSpPr/>
            <p:nvPr/>
          </p:nvSpPr>
          <p:spPr>
            <a:xfrm>
              <a:off x="9588090" y="6638003"/>
              <a:ext cx="1055741" cy="181076"/>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Unit Econ</a:t>
              </a:r>
              <a:endParaRPr lang="en-US" sz="1050">
                <a:solidFill>
                  <a:schemeClr val="bg1"/>
                </a:solidFill>
                <a:cs typeface="Arial"/>
              </a:endParaRPr>
            </a:p>
          </p:txBody>
        </p:sp>
        <p:sp>
          <p:nvSpPr>
            <p:cNvPr id="43" name="Arrow: Chevron 42">
              <a:extLst>
                <a:ext uri="{FF2B5EF4-FFF2-40B4-BE49-F238E27FC236}">
                  <a16:creationId xmlns:a16="http://schemas.microsoft.com/office/drawing/2014/main" id="{9B9D6715-E5EC-2295-A1D9-7B48A91E6FBB}"/>
                </a:ext>
              </a:extLst>
            </p:cNvPr>
            <p:cNvSpPr/>
            <p:nvPr/>
          </p:nvSpPr>
          <p:spPr>
            <a:xfrm>
              <a:off x="10602043" y="6644148"/>
              <a:ext cx="139986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Future Prospects</a:t>
              </a:r>
              <a:endParaRPr lang="en-US"/>
            </a:p>
          </p:txBody>
        </p:sp>
      </p:grpSp>
      <p:sp>
        <p:nvSpPr>
          <p:cNvPr id="3" name="Arrow: Right 2">
            <a:extLst>
              <a:ext uri="{FF2B5EF4-FFF2-40B4-BE49-F238E27FC236}">
                <a16:creationId xmlns:a16="http://schemas.microsoft.com/office/drawing/2014/main" id="{E59B0613-9EB6-47D9-B42A-70DE9EE54020}"/>
              </a:ext>
            </a:extLst>
          </p:cNvPr>
          <p:cNvSpPr/>
          <p:nvPr/>
        </p:nvSpPr>
        <p:spPr>
          <a:xfrm>
            <a:off x="10563087" y="5212522"/>
            <a:ext cx="1490869" cy="392041"/>
          </a:xfrm>
          <a:prstGeom prst="rightArrow">
            <a:avLst/>
          </a:prstGeom>
          <a:solidFill>
            <a:srgbClr val="FAFF66">
              <a:alpha val="37000"/>
            </a:srgbClr>
          </a:solidFill>
          <a:ln w="6350">
            <a:solidFill>
              <a:srgbClr val="9C79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hlinkClick r:id="rId13">
                  <a:extLst>
                    <a:ext uri="{A12FA001-AC4F-418D-AE19-62706E023703}">
                      <ahyp:hlinkClr xmlns:ahyp="http://schemas.microsoft.com/office/drawing/2018/hyperlinkcolor" val="tx"/>
                    </a:ext>
                  </a:extLst>
                </a:hlinkClick>
              </a:rPr>
              <a:t>Detailed Analysis</a:t>
            </a:r>
            <a:endParaRPr lang="en-GB" sz="1050">
              <a:solidFill>
                <a:schemeClr val="tx1"/>
              </a:solidFill>
              <a:cs typeface="Arial"/>
            </a:endParaRPr>
          </a:p>
        </p:txBody>
      </p:sp>
    </p:spTree>
    <p:extLst>
      <p:ext uri="{BB962C8B-B14F-4D97-AF65-F5344CB8AC3E}">
        <p14:creationId xmlns:p14="http://schemas.microsoft.com/office/powerpoint/2010/main" val="3937653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2" name="TextBox 1">
            <a:extLst>
              <a:ext uri="{FF2B5EF4-FFF2-40B4-BE49-F238E27FC236}">
                <a16:creationId xmlns:a16="http://schemas.microsoft.com/office/drawing/2014/main" id="{068B7374-EAE1-D860-7FD0-C482ABA953B6}"/>
              </a:ext>
            </a:extLst>
          </p:cNvPr>
          <p:cNvSpPr txBox="1"/>
          <p:nvPr/>
        </p:nvSpPr>
        <p:spPr>
          <a:xfrm>
            <a:off x="186710" y="54797"/>
            <a:ext cx="11794510" cy="430887"/>
          </a:xfrm>
          <a:prstGeom prst="rect">
            <a:avLst/>
          </a:prstGeom>
          <a:noFill/>
        </p:spPr>
        <p:txBody>
          <a:bodyPr wrap="square" lIns="91440" tIns="45720" rIns="91440" bIns="45720" rtlCol="0" anchor="t">
            <a:spAutoFit/>
          </a:bodyPr>
          <a:lstStyle/>
          <a:p>
            <a:r>
              <a:rPr lang="en-IN" sz="2200" b="1">
                <a:solidFill>
                  <a:srgbClr val="6D0F14"/>
                </a:solidFill>
              </a:rPr>
              <a:t>Superior solutions of the future will drive the market, improving production in India.</a:t>
            </a:r>
          </a:p>
        </p:txBody>
      </p:sp>
      <p:grpSp>
        <p:nvGrpSpPr>
          <p:cNvPr id="26" name="Group 25">
            <a:extLst>
              <a:ext uri="{FF2B5EF4-FFF2-40B4-BE49-F238E27FC236}">
                <a16:creationId xmlns:a16="http://schemas.microsoft.com/office/drawing/2014/main" id="{AA244495-5D4F-915B-E466-C3C3F4484B72}"/>
              </a:ext>
            </a:extLst>
          </p:cNvPr>
          <p:cNvGrpSpPr/>
          <p:nvPr/>
        </p:nvGrpSpPr>
        <p:grpSpPr>
          <a:xfrm>
            <a:off x="53197" y="6638003"/>
            <a:ext cx="11948715" cy="195823"/>
            <a:chOff x="53197" y="6638003"/>
            <a:chExt cx="11948715" cy="195823"/>
          </a:xfrm>
        </p:grpSpPr>
        <p:sp>
          <p:nvSpPr>
            <p:cNvPr id="4" name="Arrow: Pentagon 3">
              <a:extLst>
                <a:ext uri="{FF2B5EF4-FFF2-40B4-BE49-F238E27FC236}">
                  <a16:creationId xmlns:a16="http://schemas.microsoft.com/office/drawing/2014/main" id="{0EB0BCB4-34BD-EDC0-673C-C89CAED98E8F}"/>
                </a:ext>
              </a:extLst>
            </p:cNvPr>
            <p:cNvSpPr/>
            <p:nvPr/>
          </p:nvSpPr>
          <p:spPr>
            <a:xfrm>
              <a:off x="53197" y="6647133"/>
              <a:ext cx="1335082" cy="186286"/>
            </a:xfrm>
            <a:prstGeom prst="homePlat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Introduction</a:t>
              </a:r>
            </a:p>
          </p:txBody>
        </p:sp>
        <p:sp>
          <p:nvSpPr>
            <p:cNvPr id="5" name="Arrow: Chevron 4">
              <a:extLst>
                <a:ext uri="{FF2B5EF4-FFF2-40B4-BE49-F238E27FC236}">
                  <a16:creationId xmlns:a16="http://schemas.microsoft.com/office/drawing/2014/main" id="{B12DF4FD-EA8C-32B7-8716-1B4FBA616A18}"/>
                </a:ext>
              </a:extLst>
            </p:cNvPr>
            <p:cNvSpPr/>
            <p:nvPr/>
          </p:nvSpPr>
          <p:spPr>
            <a:xfrm>
              <a:off x="1337597" y="6642920"/>
              <a:ext cx="139495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rPr>
                <a:t>Industry Analysis</a:t>
              </a:r>
            </a:p>
          </p:txBody>
        </p:sp>
        <p:sp>
          <p:nvSpPr>
            <p:cNvPr id="6" name="Arrow: Chevron 5">
              <a:extLst>
                <a:ext uri="{FF2B5EF4-FFF2-40B4-BE49-F238E27FC236}">
                  <a16:creationId xmlns:a16="http://schemas.microsoft.com/office/drawing/2014/main" id="{0D9F600C-CCE4-121F-1EB8-D4BE332FE2B2}"/>
                </a:ext>
              </a:extLst>
            </p:cNvPr>
            <p:cNvSpPr/>
            <p:nvPr/>
          </p:nvSpPr>
          <p:spPr>
            <a:xfrm>
              <a:off x="2678470" y="6642919"/>
              <a:ext cx="1141772"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SC Analysis</a:t>
              </a:r>
            </a:p>
          </p:txBody>
        </p:sp>
        <p:sp>
          <p:nvSpPr>
            <p:cNvPr id="7" name="Arrow: Chevron 6">
              <a:extLst>
                <a:ext uri="{FF2B5EF4-FFF2-40B4-BE49-F238E27FC236}">
                  <a16:creationId xmlns:a16="http://schemas.microsoft.com/office/drawing/2014/main" id="{EA85B53F-7A5B-2822-D6FB-728455DBF555}"/>
                </a:ext>
              </a:extLst>
            </p:cNvPr>
            <p:cNvSpPr/>
            <p:nvPr/>
          </p:nvSpPr>
          <p:spPr>
            <a:xfrm>
              <a:off x="3761247" y="6642918"/>
              <a:ext cx="1235178"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100">
                  <a:solidFill>
                    <a:schemeClr val="tx1"/>
                  </a:solidFill>
                  <a:cs typeface="Arial"/>
                </a:rPr>
                <a:t>Hypothesis</a:t>
              </a:r>
            </a:p>
          </p:txBody>
        </p:sp>
        <p:sp>
          <p:nvSpPr>
            <p:cNvPr id="8" name="Arrow: Chevron 7">
              <a:extLst>
                <a:ext uri="{FF2B5EF4-FFF2-40B4-BE49-F238E27FC236}">
                  <a16:creationId xmlns:a16="http://schemas.microsoft.com/office/drawing/2014/main" id="{8AF3B630-FC73-309C-3D63-D34715A44B54}"/>
                </a:ext>
              </a:extLst>
            </p:cNvPr>
            <p:cNvSpPr/>
            <p:nvPr/>
          </p:nvSpPr>
          <p:spPr>
            <a:xfrm>
              <a:off x="4930058" y="6642919"/>
              <a:ext cx="1178643" cy="18230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Surveying</a:t>
              </a:r>
              <a:endParaRPr lang="en-US" sz="1050">
                <a:solidFill>
                  <a:schemeClr val="tx1"/>
                </a:solidFill>
              </a:endParaRPr>
            </a:p>
          </p:txBody>
        </p:sp>
        <p:sp>
          <p:nvSpPr>
            <p:cNvPr id="9" name="Arrow: Chevron 8">
              <a:extLst>
                <a:ext uri="{FF2B5EF4-FFF2-40B4-BE49-F238E27FC236}">
                  <a16:creationId xmlns:a16="http://schemas.microsoft.com/office/drawing/2014/main" id="{1D0EB286-BB4D-4D0B-C978-9127217469A7}"/>
                </a:ext>
              </a:extLst>
            </p:cNvPr>
            <p:cNvSpPr/>
            <p:nvPr/>
          </p:nvSpPr>
          <p:spPr>
            <a:xfrm>
              <a:off x="6049705" y="6639231"/>
              <a:ext cx="1215514" cy="194595"/>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Procurement</a:t>
              </a:r>
              <a:endParaRPr lang="en-US" sz="1050">
                <a:solidFill>
                  <a:schemeClr val="tx1"/>
                </a:solidFill>
                <a:cs typeface="Arial"/>
              </a:endParaRPr>
            </a:p>
          </p:txBody>
        </p:sp>
        <p:sp>
          <p:nvSpPr>
            <p:cNvPr id="10" name="Arrow: Chevron 9">
              <a:extLst>
                <a:ext uri="{FF2B5EF4-FFF2-40B4-BE49-F238E27FC236}">
                  <a16:creationId xmlns:a16="http://schemas.microsoft.com/office/drawing/2014/main" id="{A746BFBA-0308-30F5-628F-9B2875E83D8E}"/>
                </a:ext>
              </a:extLst>
            </p:cNvPr>
            <p:cNvSpPr/>
            <p:nvPr/>
          </p:nvSpPr>
          <p:spPr>
            <a:xfrm>
              <a:off x="7216058" y="6644148"/>
              <a:ext cx="1670256" cy="174931"/>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Transport &amp; Logistics</a:t>
              </a:r>
              <a:endParaRPr lang="en-US" sz="1050">
                <a:solidFill>
                  <a:schemeClr val="tx1"/>
                </a:solidFill>
              </a:endParaRPr>
            </a:p>
          </p:txBody>
        </p:sp>
        <p:sp>
          <p:nvSpPr>
            <p:cNvPr id="11" name="Arrow: Chevron 10">
              <a:extLst>
                <a:ext uri="{FF2B5EF4-FFF2-40B4-BE49-F238E27FC236}">
                  <a16:creationId xmlns:a16="http://schemas.microsoft.com/office/drawing/2014/main" id="{889B64C7-830F-01E2-0F01-EC97C9F410E0}"/>
                </a:ext>
              </a:extLst>
            </p:cNvPr>
            <p:cNvSpPr/>
            <p:nvPr/>
          </p:nvSpPr>
          <p:spPr>
            <a:xfrm>
              <a:off x="8844526" y="6638003"/>
              <a:ext cx="791499"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Plant</a:t>
              </a:r>
              <a:endParaRPr lang="en-US" sz="1050">
                <a:solidFill>
                  <a:schemeClr val="tx1"/>
                </a:solidFill>
              </a:endParaRPr>
            </a:p>
          </p:txBody>
        </p:sp>
        <p:sp>
          <p:nvSpPr>
            <p:cNvPr id="14" name="Arrow: Chevron 13">
              <a:extLst>
                <a:ext uri="{FF2B5EF4-FFF2-40B4-BE49-F238E27FC236}">
                  <a16:creationId xmlns:a16="http://schemas.microsoft.com/office/drawing/2014/main" id="{7DDEE58D-0946-A666-1A9C-C648F70B813F}"/>
                </a:ext>
              </a:extLst>
            </p:cNvPr>
            <p:cNvSpPr/>
            <p:nvPr/>
          </p:nvSpPr>
          <p:spPr>
            <a:xfrm>
              <a:off x="9588090" y="6638003"/>
              <a:ext cx="1055741" cy="181076"/>
            </a:xfrm>
            <a:prstGeom prst="chevron">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tx1"/>
                  </a:solidFill>
                  <a:cs typeface="Arial"/>
                </a:rPr>
                <a:t>Unit Econ</a:t>
              </a:r>
              <a:endParaRPr lang="en-US" sz="1050">
                <a:solidFill>
                  <a:schemeClr val="tx1"/>
                </a:solidFill>
              </a:endParaRPr>
            </a:p>
          </p:txBody>
        </p:sp>
        <p:sp>
          <p:nvSpPr>
            <p:cNvPr id="25" name="Arrow: Chevron 24">
              <a:extLst>
                <a:ext uri="{FF2B5EF4-FFF2-40B4-BE49-F238E27FC236}">
                  <a16:creationId xmlns:a16="http://schemas.microsoft.com/office/drawing/2014/main" id="{C67367F0-E2CC-4AF5-FEB0-79C13672BE85}"/>
                </a:ext>
              </a:extLst>
            </p:cNvPr>
            <p:cNvSpPr/>
            <p:nvPr/>
          </p:nvSpPr>
          <p:spPr>
            <a:xfrm>
              <a:off x="10602043" y="6644148"/>
              <a:ext cx="1399869" cy="181076"/>
            </a:xfrm>
            <a:prstGeom prst="chevro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solidFill>
                    <a:schemeClr val="bg1"/>
                  </a:solidFill>
                  <a:cs typeface="Arial"/>
                </a:rPr>
                <a:t>Future Prospects</a:t>
              </a:r>
              <a:endParaRPr lang="en-US">
                <a:solidFill>
                  <a:schemeClr val="bg1"/>
                </a:solidFill>
                <a:cs typeface="Arial"/>
              </a:endParaRPr>
            </a:p>
          </p:txBody>
        </p:sp>
      </p:grpSp>
      <p:grpSp>
        <p:nvGrpSpPr>
          <p:cNvPr id="39" name="Group 38">
            <a:extLst>
              <a:ext uri="{FF2B5EF4-FFF2-40B4-BE49-F238E27FC236}">
                <a16:creationId xmlns:a16="http://schemas.microsoft.com/office/drawing/2014/main" id="{D0B7039A-12CA-7493-2D35-0D8AD797C62B}"/>
              </a:ext>
            </a:extLst>
          </p:cNvPr>
          <p:cNvGrpSpPr/>
          <p:nvPr/>
        </p:nvGrpSpPr>
        <p:grpSpPr>
          <a:xfrm>
            <a:off x="171358" y="582519"/>
            <a:ext cx="2625569" cy="2715269"/>
            <a:chOff x="550616" y="602581"/>
            <a:chExt cx="2625569" cy="2715269"/>
          </a:xfrm>
        </p:grpSpPr>
        <p:sp>
          <p:nvSpPr>
            <p:cNvPr id="40" name="Google Shape;143;p4">
              <a:extLst>
                <a:ext uri="{FF2B5EF4-FFF2-40B4-BE49-F238E27FC236}">
                  <a16:creationId xmlns:a16="http://schemas.microsoft.com/office/drawing/2014/main" id="{B7D05CFC-8F13-0256-F5F4-8369A17931FD}"/>
                </a:ext>
              </a:extLst>
            </p:cNvPr>
            <p:cNvSpPr/>
            <p:nvPr/>
          </p:nvSpPr>
          <p:spPr>
            <a:xfrm rot="5400000">
              <a:off x="1583330" y="-424610"/>
              <a:ext cx="559634" cy="2614021"/>
            </a:xfrm>
            <a:prstGeom prst="homePlate">
              <a:avLst>
                <a:gd name="adj" fmla="val 2413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4;p4">
              <a:extLst>
                <a:ext uri="{FF2B5EF4-FFF2-40B4-BE49-F238E27FC236}">
                  <a16:creationId xmlns:a16="http://schemas.microsoft.com/office/drawing/2014/main" id="{5E896990-E166-E2C8-ABDF-C4004D5D827D}"/>
                </a:ext>
              </a:extLst>
            </p:cNvPr>
            <p:cNvSpPr txBox="1"/>
            <p:nvPr/>
          </p:nvSpPr>
          <p:spPr>
            <a:xfrm>
              <a:off x="562164" y="602581"/>
              <a:ext cx="2614021" cy="492100"/>
            </a:xfrm>
            <a:prstGeom prst="rect">
              <a:avLst/>
            </a:prstGeom>
            <a:noFill/>
            <a:ln>
              <a:noFill/>
            </a:ln>
          </p:spPr>
          <p:txBody>
            <a:bodyPr spcFirstLastPara="1" wrap="square" lIns="91425" tIns="45700" rIns="91425" bIns="45700" anchor="ctr" anchorCtr="0">
              <a:noAutofit/>
            </a:bodyPr>
            <a:lstStyle/>
            <a:p>
              <a:pPr algn="ctr"/>
              <a:r>
                <a:rPr lang="en-GB" sz="1300" b="1">
                  <a:solidFill>
                    <a:schemeClr val="lt1"/>
                  </a:solidFill>
                </a:rPr>
                <a:t>Surveying</a:t>
              </a:r>
              <a:endParaRPr lang="en-US"/>
            </a:p>
          </p:txBody>
        </p:sp>
        <p:sp>
          <p:nvSpPr>
            <p:cNvPr id="42" name="Google Shape;150;p4">
              <a:extLst>
                <a:ext uri="{FF2B5EF4-FFF2-40B4-BE49-F238E27FC236}">
                  <a16:creationId xmlns:a16="http://schemas.microsoft.com/office/drawing/2014/main" id="{931B2210-A9EA-30B2-97A2-86243875AC45}"/>
                </a:ext>
              </a:extLst>
            </p:cNvPr>
            <p:cNvSpPr/>
            <p:nvPr/>
          </p:nvSpPr>
          <p:spPr>
            <a:xfrm>
              <a:off x="550616" y="1019034"/>
              <a:ext cx="2625062" cy="2298816"/>
            </a:xfrm>
            <a:custGeom>
              <a:avLst/>
              <a:gdLst/>
              <a:ahLst/>
              <a:cxnLst/>
              <a:rect l="l" t="t" r="r" b="b"/>
              <a:pathLst>
                <a:path w="2614020" h="4348303" extrusionOk="0">
                  <a:moveTo>
                    <a:pt x="0" y="0"/>
                  </a:moveTo>
                  <a:lnTo>
                    <a:pt x="1307011" y="290881"/>
                  </a:lnTo>
                  <a:lnTo>
                    <a:pt x="2614020" y="0"/>
                  </a:lnTo>
                  <a:lnTo>
                    <a:pt x="2614020" y="4348303"/>
                  </a:lnTo>
                  <a:lnTo>
                    <a:pt x="0" y="4348303"/>
                  </a:lnTo>
                  <a:close/>
                </a:path>
              </a:pathLst>
            </a:custGeom>
            <a:solidFill>
              <a:srgbClr val="F2F2F2"/>
            </a:solidFill>
            <a:ln>
              <a:noFill/>
            </a:ln>
          </p:spPr>
          <p:txBody>
            <a:bodyPr spcFirstLastPara="1" wrap="square" lIns="88900" tIns="360000" rIns="88900" bIns="38100" anchor="t" anchorCtr="0">
              <a:normAutofit lnSpcReduction="10000"/>
            </a:bodyPr>
            <a:lstStyle/>
            <a:p>
              <a:pPr marL="171450" indent="-171450">
                <a:buChar char="•"/>
              </a:pPr>
              <a:r>
                <a:rPr lang="en-US" sz="1200">
                  <a:solidFill>
                    <a:schemeClr val="dk1"/>
                  </a:solidFill>
                </a:rPr>
                <a:t>Collecting accurate &amp; timely data by drones can aid in monitoring </a:t>
              </a:r>
              <a:r>
                <a:rPr lang="en-GB" sz="1200" b="1"/>
                <a:t>paddy's health and harvest readiness,</a:t>
              </a:r>
              <a:r>
                <a:rPr lang="en-GB" sz="1200"/>
                <a:t> benefiting both the firm and the farmer. </a:t>
              </a:r>
              <a:endParaRPr lang="en-US" sz="1200"/>
            </a:p>
            <a:p>
              <a:pPr marL="171450" indent="-171450">
                <a:buChar char="•"/>
              </a:pPr>
              <a:r>
                <a:rPr lang="en-GB" sz="1200">
                  <a:solidFill>
                    <a:schemeClr val="dk1"/>
                  </a:solidFill>
                </a:rPr>
                <a:t>Drones can also be utilised for effective planning during the brief window of opportunity &amp; </a:t>
              </a:r>
              <a:r>
                <a:rPr lang="en-GB" sz="1200" b="1">
                  <a:solidFill>
                    <a:schemeClr val="dk1"/>
                  </a:solidFill>
                </a:rPr>
                <a:t>widen the network of farms </a:t>
              </a:r>
              <a:r>
                <a:rPr lang="en-GB" sz="1200">
                  <a:solidFill>
                    <a:schemeClr val="dk1"/>
                  </a:solidFill>
                </a:rPr>
                <a:t>from which residue is sourced.</a:t>
              </a:r>
              <a:endParaRPr lang="en-GB" sz="1200">
                <a:solidFill>
                  <a:schemeClr val="dk1"/>
                </a:solidFill>
                <a:latin typeface="Arial"/>
                <a:ea typeface="Arial"/>
                <a:cs typeface="Arial"/>
              </a:endParaRPr>
            </a:p>
            <a:p>
              <a:endParaRPr lang="en-GB" sz="1250">
                <a:solidFill>
                  <a:schemeClr val="dk1"/>
                </a:solidFill>
              </a:endParaRPr>
            </a:p>
          </p:txBody>
        </p:sp>
      </p:grpSp>
      <p:grpSp>
        <p:nvGrpSpPr>
          <p:cNvPr id="43" name="Group 42">
            <a:extLst>
              <a:ext uri="{FF2B5EF4-FFF2-40B4-BE49-F238E27FC236}">
                <a16:creationId xmlns:a16="http://schemas.microsoft.com/office/drawing/2014/main" id="{B42ABBC1-2234-3B8E-3EA1-ACF8CC670C75}"/>
              </a:ext>
            </a:extLst>
          </p:cNvPr>
          <p:cNvGrpSpPr/>
          <p:nvPr/>
        </p:nvGrpSpPr>
        <p:grpSpPr>
          <a:xfrm>
            <a:off x="2925305" y="582857"/>
            <a:ext cx="2615711" cy="2710273"/>
            <a:chOff x="3368282" y="602582"/>
            <a:chExt cx="2615711" cy="2633284"/>
          </a:xfrm>
        </p:grpSpPr>
        <p:sp>
          <p:nvSpPr>
            <p:cNvPr id="44" name="Google Shape;145;p4">
              <a:extLst>
                <a:ext uri="{FF2B5EF4-FFF2-40B4-BE49-F238E27FC236}">
                  <a16:creationId xmlns:a16="http://schemas.microsoft.com/office/drawing/2014/main" id="{5923B958-7F2B-0542-F128-2544D8BC272D}"/>
                </a:ext>
              </a:extLst>
            </p:cNvPr>
            <p:cNvSpPr/>
            <p:nvPr/>
          </p:nvSpPr>
          <p:spPr>
            <a:xfrm rot="5400000">
              <a:off x="4397166" y="-424608"/>
              <a:ext cx="559634" cy="2614021"/>
            </a:xfrm>
            <a:prstGeom prst="homePlate">
              <a:avLst>
                <a:gd name="adj" fmla="val 24135"/>
              </a:avLst>
            </a:prstGeom>
            <a:solidFill>
              <a:srgbClr val="BF7B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6;p4">
              <a:extLst>
                <a:ext uri="{FF2B5EF4-FFF2-40B4-BE49-F238E27FC236}">
                  <a16:creationId xmlns:a16="http://schemas.microsoft.com/office/drawing/2014/main" id="{B7E28358-9E24-4BCB-91E6-4BB8D8FAE246}"/>
                </a:ext>
              </a:extLst>
            </p:cNvPr>
            <p:cNvSpPr txBox="1"/>
            <p:nvPr/>
          </p:nvSpPr>
          <p:spPr>
            <a:xfrm>
              <a:off x="3369962" y="602582"/>
              <a:ext cx="2614021" cy="492100"/>
            </a:xfrm>
            <a:prstGeom prst="rect">
              <a:avLst/>
            </a:prstGeom>
            <a:noFill/>
            <a:ln>
              <a:noFill/>
            </a:ln>
          </p:spPr>
          <p:txBody>
            <a:bodyPr spcFirstLastPara="1" wrap="square" lIns="91425" tIns="45700" rIns="91425" bIns="45700" anchor="ctr" anchorCtr="0">
              <a:noAutofit/>
            </a:bodyPr>
            <a:lstStyle/>
            <a:p>
              <a:pPr algn="ctr"/>
              <a:r>
                <a:rPr lang="en-GB" sz="1300" b="1">
                  <a:solidFill>
                    <a:schemeClr val="lt1"/>
                  </a:solidFill>
                </a:rPr>
                <a:t>Procurement</a:t>
              </a:r>
              <a:endParaRPr lang="en-GB" sz="1300">
                <a:solidFill>
                  <a:schemeClr val="lt1"/>
                </a:solidFill>
              </a:endParaRPr>
            </a:p>
          </p:txBody>
        </p:sp>
        <p:sp>
          <p:nvSpPr>
            <p:cNvPr id="46" name="Google Shape;150;p4">
              <a:extLst>
                <a:ext uri="{FF2B5EF4-FFF2-40B4-BE49-F238E27FC236}">
                  <a16:creationId xmlns:a16="http://schemas.microsoft.com/office/drawing/2014/main" id="{3FE236F4-5BEB-75CC-E625-D4BB55BFC083}"/>
                </a:ext>
              </a:extLst>
            </p:cNvPr>
            <p:cNvSpPr/>
            <p:nvPr/>
          </p:nvSpPr>
          <p:spPr>
            <a:xfrm>
              <a:off x="3368282" y="1025083"/>
              <a:ext cx="2614020" cy="2210783"/>
            </a:xfrm>
            <a:custGeom>
              <a:avLst/>
              <a:gdLst/>
              <a:ahLst/>
              <a:cxnLst/>
              <a:rect l="l" t="t" r="r" b="b"/>
              <a:pathLst>
                <a:path w="2614020" h="4348303" extrusionOk="0">
                  <a:moveTo>
                    <a:pt x="0" y="0"/>
                  </a:moveTo>
                  <a:lnTo>
                    <a:pt x="1307011" y="290881"/>
                  </a:lnTo>
                  <a:lnTo>
                    <a:pt x="2614020" y="0"/>
                  </a:lnTo>
                  <a:lnTo>
                    <a:pt x="2614020" y="4348303"/>
                  </a:lnTo>
                  <a:lnTo>
                    <a:pt x="0" y="4348303"/>
                  </a:lnTo>
                  <a:close/>
                </a:path>
              </a:pathLst>
            </a:custGeom>
            <a:solidFill>
              <a:srgbClr val="F2F2F2"/>
            </a:solidFill>
            <a:ln>
              <a:noFill/>
            </a:ln>
          </p:spPr>
          <p:txBody>
            <a:bodyPr spcFirstLastPara="1" wrap="square" lIns="88900" tIns="360000" rIns="88900" bIns="38100" anchor="t" anchorCtr="0">
              <a:normAutofit/>
            </a:bodyPr>
            <a:lstStyle/>
            <a:p>
              <a:pPr marL="171450" indent="-171450">
                <a:buChar char="•"/>
              </a:pPr>
              <a:r>
                <a:rPr lang="en-GB" sz="1200" b="1">
                  <a:solidFill>
                    <a:schemeClr val="dk1"/>
                  </a:solidFill>
                </a:rPr>
                <a:t>Govt. Agency</a:t>
              </a:r>
              <a:r>
                <a:rPr lang="en-GB" sz="1200">
                  <a:solidFill>
                    <a:schemeClr val="dk1"/>
                  </a:solidFill>
                </a:rPr>
                <a:t>: Enforcement of MSP </a:t>
              </a:r>
              <a:r>
                <a:rPr lang="en-GB" sz="1200"/>
                <a:t>could facilitate appropriate trading channels for stubble and increase farmers' compensation.</a:t>
              </a:r>
              <a:endParaRPr lang="en-US" sz="1200"/>
            </a:p>
            <a:p>
              <a:pPr marL="171450" indent="-171450">
                <a:buChar char="•"/>
              </a:pPr>
              <a:r>
                <a:rPr lang="en-GB" sz="1200" b="1">
                  <a:solidFill>
                    <a:schemeClr val="dk1"/>
                  </a:solidFill>
                </a:rPr>
                <a:t>Straw Banks &amp; E-Commerce</a:t>
              </a:r>
              <a:r>
                <a:rPr lang="en-GB" sz="1200">
                  <a:solidFill>
                    <a:schemeClr val="dk1"/>
                  </a:solidFill>
                </a:rPr>
                <a:t>: A dense network of Straw Banks &amp; online trading can further help in expansion of </a:t>
              </a:r>
              <a:r>
                <a:rPr lang="en-GB" sz="1200" err="1">
                  <a:solidFill>
                    <a:schemeClr val="dk1"/>
                  </a:solidFill>
                </a:rPr>
                <a:t>micropreneurs</a:t>
              </a:r>
              <a:r>
                <a:rPr lang="en-GB" sz="1200">
                  <a:solidFill>
                    <a:schemeClr val="dk1"/>
                  </a:solidFill>
                </a:rPr>
                <a:t> &amp; farmer co-ops.</a:t>
              </a:r>
            </a:p>
            <a:p>
              <a:endParaRPr lang="en-GB" sz="1200">
                <a:solidFill>
                  <a:schemeClr val="dk1"/>
                </a:solidFill>
                <a:latin typeface="Arial"/>
                <a:ea typeface="Arial"/>
                <a:cs typeface="Arial"/>
              </a:endParaRPr>
            </a:p>
            <a:p>
              <a:endParaRPr lang="en-GB" sz="1200">
                <a:solidFill>
                  <a:schemeClr val="dk1"/>
                </a:solidFill>
              </a:endParaRPr>
            </a:p>
          </p:txBody>
        </p:sp>
      </p:grpSp>
      <p:grpSp>
        <p:nvGrpSpPr>
          <p:cNvPr id="47" name="Group 46">
            <a:extLst>
              <a:ext uri="{FF2B5EF4-FFF2-40B4-BE49-F238E27FC236}">
                <a16:creationId xmlns:a16="http://schemas.microsoft.com/office/drawing/2014/main" id="{469E6CF0-C0B1-B094-A940-AFC3BCA0B007}"/>
              </a:ext>
            </a:extLst>
          </p:cNvPr>
          <p:cNvGrpSpPr/>
          <p:nvPr/>
        </p:nvGrpSpPr>
        <p:grpSpPr>
          <a:xfrm>
            <a:off x="5658570" y="3343728"/>
            <a:ext cx="2666041" cy="2660576"/>
            <a:chOff x="6153717" y="602582"/>
            <a:chExt cx="2621967" cy="2644012"/>
          </a:xfrm>
        </p:grpSpPr>
        <p:sp>
          <p:nvSpPr>
            <p:cNvPr id="48" name="Google Shape;143;p4">
              <a:extLst>
                <a:ext uri="{FF2B5EF4-FFF2-40B4-BE49-F238E27FC236}">
                  <a16:creationId xmlns:a16="http://schemas.microsoft.com/office/drawing/2014/main" id="{EC9FB5AC-51F9-8FF9-3B6E-171EFD27CAB2}"/>
                </a:ext>
              </a:extLst>
            </p:cNvPr>
            <p:cNvSpPr/>
            <p:nvPr/>
          </p:nvSpPr>
          <p:spPr>
            <a:xfrm rot="5400000">
              <a:off x="7188857" y="-424611"/>
              <a:ext cx="559634" cy="2614021"/>
            </a:xfrm>
            <a:prstGeom prst="homePlate">
              <a:avLst>
                <a:gd name="adj" fmla="val 24135"/>
              </a:avLst>
            </a:prstGeom>
            <a:solidFill>
              <a:schemeClr val="accent6">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0;p4">
              <a:extLst>
                <a:ext uri="{FF2B5EF4-FFF2-40B4-BE49-F238E27FC236}">
                  <a16:creationId xmlns:a16="http://schemas.microsoft.com/office/drawing/2014/main" id="{417FB3A7-2671-A4DB-110E-3D5C977D19A8}"/>
                </a:ext>
              </a:extLst>
            </p:cNvPr>
            <p:cNvSpPr/>
            <p:nvPr/>
          </p:nvSpPr>
          <p:spPr>
            <a:xfrm>
              <a:off x="6156233" y="1025082"/>
              <a:ext cx="2614020" cy="2221512"/>
            </a:xfrm>
            <a:custGeom>
              <a:avLst/>
              <a:gdLst/>
              <a:ahLst/>
              <a:cxnLst/>
              <a:rect l="l" t="t" r="r" b="b"/>
              <a:pathLst>
                <a:path w="2614020" h="4348303" extrusionOk="0">
                  <a:moveTo>
                    <a:pt x="0" y="0"/>
                  </a:moveTo>
                  <a:lnTo>
                    <a:pt x="1307011" y="290881"/>
                  </a:lnTo>
                  <a:lnTo>
                    <a:pt x="2614020" y="0"/>
                  </a:lnTo>
                  <a:lnTo>
                    <a:pt x="2614020" y="4348303"/>
                  </a:lnTo>
                  <a:lnTo>
                    <a:pt x="0" y="4348303"/>
                  </a:lnTo>
                  <a:close/>
                </a:path>
              </a:pathLst>
            </a:custGeom>
            <a:solidFill>
              <a:srgbClr val="F2F2F2"/>
            </a:solidFill>
            <a:ln>
              <a:noFill/>
            </a:ln>
          </p:spPr>
          <p:txBody>
            <a:bodyPr spcFirstLastPara="1" wrap="square" lIns="88900" tIns="360000" rIns="88900" bIns="38100" anchor="t" anchorCtr="0">
              <a:normAutofit/>
            </a:bodyPr>
            <a:lstStyle/>
            <a:p>
              <a:pPr marL="171450" indent="-171450">
                <a:buChar char="•"/>
              </a:pPr>
              <a:r>
                <a:rPr lang="en-GB" sz="1200" b="1">
                  <a:solidFill>
                    <a:schemeClr val="dk1"/>
                  </a:solidFill>
                </a:rPr>
                <a:t>Improvements due to govt. schemes</a:t>
              </a:r>
              <a:r>
                <a:rPr lang="en-GB" sz="1200">
                  <a:solidFill>
                    <a:schemeClr val="dk1"/>
                  </a:solidFill>
                </a:rPr>
                <a:t>: </a:t>
              </a:r>
              <a:r>
                <a:rPr lang="en-GB" sz="1200" u="sng">
                  <a:solidFill>
                    <a:schemeClr val="dk1"/>
                  </a:solidFill>
                </a:rPr>
                <a:t>Gati Shakti &amp; Dedicated Freight Corridors</a:t>
              </a:r>
              <a:r>
                <a:rPr lang="en-GB" sz="1200" b="1">
                  <a:solidFill>
                    <a:schemeClr val="dk1"/>
                  </a:solidFill>
                </a:rPr>
                <a:t> </a:t>
              </a:r>
              <a:r>
                <a:rPr lang="en-GB" sz="1200">
                  <a:solidFill>
                    <a:schemeClr val="dk1"/>
                  </a:solidFill>
                </a:rPr>
                <a:t>for  multi-modal connectivity for high-speed &amp; seamless connectivity.</a:t>
              </a:r>
              <a:endParaRPr lang="en-US" sz="1200">
                <a:solidFill>
                  <a:schemeClr val="dk1"/>
                </a:solidFill>
              </a:endParaRPr>
            </a:p>
            <a:p>
              <a:pPr marL="171450" indent="-171450">
                <a:buChar char="•"/>
              </a:pPr>
              <a:r>
                <a:rPr lang="en-GB" sz="1200">
                  <a:solidFill>
                    <a:schemeClr val="dk1"/>
                  </a:solidFill>
                </a:rPr>
                <a:t>DFC can help </a:t>
              </a:r>
              <a:r>
                <a:rPr lang="en-GB" sz="1200" b="1">
                  <a:solidFill>
                    <a:schemeClr val="dk1"/>
                  </a:solidFill>
                </a:rPr>
                <a:t>connect to more paddy-focused states</a:t>
              </a:r>
              <a:r>
                <a:rPr lang="en-GB" sz="1200">
                  <a:solidFill>
                    <a:schemeClr val="dk1"/>
                  </a:solidFill>
                </a:rPr>
                <a:t> &amp; establish plants while minimizing costs.</a:t>
              </a:r>
            </a:p>
          </p:txBody>
        </p:sp>
        <p:sp>
          <p:nvSpPr>
            <p:cNvPr id="51" name="Google Shape;146;p4">
              <a:extLst>
                <a:ext uri="{FF2B5EF4-FFF2-40B4-BE49-F238E27FC236}">
                  <a16:creationId xmlns:a16="http://schemas.microsoft.com/office/drawing/2014/main" id="{8512143A-CCF1-C3EB-5963-F29060478F7C}"/>
                </a:ext>
              </a:extLst>
            </p:cNvPr>
            <p:cNvSpPr txBox="1"/>
            <p:nvPr/>
          </p:nvSpPr>
          <p:spPr>
            <a:xfrm>
              <a:off x="6153717" y="602582"/>
              <a:ext cx="2614021" cy="492100"/>
            </a:xfrm>
            <a:prstGeom prst="rect">
              <a:avLst/>
            </a:prstGeom>
            <a:noFill/>
            <a:ln>
              <a:noFill/>
            </a:ln>
          </p:spPr>
          <p:txBody>
            <a:bodyPr spcFirstLastPara="1" wrap="square" lIns="91425" tIns="45700" rIns="91425" bIns="45700" anchor="ctr" anchorCtr="0">
              <a:noAutofit/>
            </a:bodyPr>
            <a:lstStyle/>
            <a:p>
              <a:pPr algn="ctr"/>
              <a:r>
                <a:rPr lang="en-GB" sz="1300" b="1">
                  <a:solidFill>
                    <a:schemeClr val="lt1"/>
                  </a:solidFill>
                </a:rPr>
                <a:t>Transport</a:t>
              </a:r>
              <a:endParaRPr lang="en-GB" sz="1300">
                <a:solidFill>
                  <a:schemeClr val="lt1"/>
                </a:solidFill>
              </a:endParaRPr>
            </a:p>
          </p:txBody>
        </p:sp>
      </p:grpSp>
      <p:grpSp>
        <p:nvGrpSpPr>
          <p:cNvPr id="52" name="Group 51">
            <a:extLst>
              <a:ext uri="{FF2B5EF4-FFF2-40B4-BE49-F238E27FC236}">
                <a16:creationId xmlns:a16="http://schemas.microsoft.com/office/drawing/2014/main" id="{EB3A5011-DE76-829E-82F2-A48AFE040D7B}"/>
              </a:ext>
            </a:extLst>
          </p:cNvPr>
          <p:cNvGrpSpPr/>
          <p:nvPr/>
        </p:nvGrpSpPr>
        <p:grpSpPr>
          <a:xfrm>
            <a:off x="160312" y="3388311"/>
            <a:ext cx="8164423" cy="3124643"/>
            <a:chOff x="640196" y="3355906"/>
            <a:chExt cx="8164423" cy="3124643"/>
          </a:xfrm>
        </p:grpSpPr>
        <p:pic>
          <p:nvPicPr>
            <p:cNvPr id="53" name="Picture 2" descr="Map Showing Top 10 Rice Producing States in India">
              <a:extLst>
                <a:ext uri="{FF2B5EF4-FFF2-40B4-BE49-F238E27FC236}">
                  <a16:creationId xmlns:a16="http://schemas.microsoft.com/office/drawing/2014/main" id="{731B0FEE-7E6A-173F-D1E8-0DA3061AB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196" y="3355906"/>
              <a:ext cx="2601267" cy="2568972"/>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A map of india with a project map&#10;&#10;Description automatically generated">
              <a:extLst>
                <a:ext uri="{FF2B5EF4-FFF2-40B4-BE49-F238E27FC236}">
                  <a16:creationId xmlns:a16="http://schemas.microsoft.com/office/drawing/2014/main" id="{960EF4C8-E9FF-7695-466D-C594FE9C1B6D}"/>
                </a:ext>
              </a:extLst>
            </p:cNvPr>
            <p:cNvPicPr>
              <a:picLocks noChangeAspect="1"/>
            </p:cNvPicPr>
            <p:nvPr/>
          </p:nvPicPr>
          <p:blipFill>
            <a:blip r:embed="rId4"/>
            <a:stretch>
              <a:fillRect/>
            </a:stretch>
          </p:blipFill>
          <p:spPr>
            <a:xfrm>
              <a:off x="3355493" y="3355906"/>
              <a:ext cx="2706505" cy="2582722"/>
            </a:xfrm>
            <a:prstGeom prst="rect">
              <a:avLst/>
            </a:prstGeom>
          </p:spPr>
        </p:pic>
        <p:sp>
          <p:nvSpPr>
            <p:cNvPr id="55" name="Google Shape;190;p6">
              <a:extLst>
                <a:ext uri="{FF2B5EF4-FFF2-40B4-BE49-F238E27FC236}">
                  <a16:creationId xmlns:a16="http://schemas.microsoft.com/office/drawing/2014/main" id="{6A989E8A-F656-155F-C52B-B11D290D0D90}"/>
                </a:ext>
              </a:extLst>
            </p:cNvPr>
            <p:cNvSpPr/>
            <p:nvPr/>
          </p:nvSpPr>
          <p:spPr>
            <a:xfrm>
              <a:off x="655448" y="6004902"/>
              <a:ext cx="8149171" cy="475647"/>
            </a:xfrm>
            <a:prstGeom prst="rect">
              <a:avLst/>
            </a:prstGeom>
            <a:solidFill>
              <a:srgbClr val="EAD3D8">
                <a:alpha val="39000"/>
              </a:srgb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sz="1200" b="1">
                  <a:solidFill>
                    <a:schemeClr val="tx1"/>
                  </a:solidFill>
                </a:rPr>
                <a:t>Eastern DFC &amp; East-Cost DFC will establish connections among the top paddy-producing states, leading to formation of a resilient &amp; efficient supply chain network.</a:t>
              </a:r>
            </a:p>
          </p:txBody>
        </p:sp>
      </p:grpSp>
      <p:grpSp>
        <p:nvGrpSpPr>
          <p:cNvPr id="15" name="Group 14">
            <a:extLst>
              <a:ext uri="{FF2B5EF4-FFF2-40B4-BE49-F238E27FC236}">
                <a16:creationId xmlns:a16="http://schemas.microsoft.com/office/drawing/2014/main" id="{F1230193-3CC9-565D-486A-090FF84CBF41}"/>
              </a:ext>
            </a:extLst>
          </p:cNvPr>
          <p:cNvGrpSpPr/>
          <p:nvPr/>
        </p:nvGrpSpPr>
        <p:grpSpPr>
          <a:xfrm>
            <a:off x="5658921" y="579782"/>
            <a:ext cx="2675274" cy="2716659"/>
            <a:chOff x="5542964" y="574261"/>
            <a:chExt cx="2614535" cy="2661443"/>
          </a:xfrm>
        </p:grpSpPr>
        <p:grpSp>
          <p:nvGrpSpPr>
            <p:cNvPr id="35" name="Group 34">
              <a:extLst>
                <a:ext uri="{FF2B5EF4-FFF2-40B4-BE49-F238E27FC236}">
                  <a16:creationId xmlns:a16="http://schemas.microsoft.com/office/drawing/2014/main" id="{DCD78EEC-89E5-5541-1FE5-4E33525FCC1D}"/>
                </a:ext>
              </a:extLst>
            </p:cNvPr>
            <p:cNvGrpSpPr/>
            <p:nvPr/>
          </p:nvGrpSpPr>
          <p:grpSpPr>
            <a:xfrm>
              <a:off x="5543471" y="574261"/>
              <a:ext cx="2614028" cy="562835"/>
              <a:chOff x="8942486" y="597013"/>
              <a:chExt cx="2614028" cy="565201"/>
            </a:xfrm>
          </p:grpSpPr>
          <p:sp>
            <p:nvSpPr>
              <p:cNvPr id="37" name="Google Shape;152;p4">
                <a:extLst>
                  <a:ext uri="{FF2B5EF4-FFF2-40B4-BE49-F238E27FC236}">
                    <a16:creationId xmlns:a16="http://schemas.microsoft.com/office/drawing/2014/main" id="{E125A528-36E2-57B2-2067-882B9E93C9C5}"/>
                  </a:ext>
                </a:extLst>
              </p:cNvPr>
              <p:cNvSpPr/>
              <p:nvPr/>
            </p:nvSpPr>
            <p:spPr>
              <a:xfrm rot="5400000">
                <a:off x="9969687" y="-424613"/>
                <a:ext cx="559633" cy="2614021"/>
              </a:xfrm>
              <a:prstGeom prst="homePlate">
                <a:avLst>
                  <a:gd name="adj" fmla="val 2413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3;p4">
                <a:extLst>
                  <a:ext uri="{FF2B5EF4-FFF2-40B4-BE49-F238E27FC236}">
                    <a16:creationId xmlns:a16="http://schemas.microsoft.com/office/drawing/2014/main" id="{E4F23BF5-CD25-9293-116A-093D70B99805}"/>
                  </a:ext>
                </a:extLst>
              </p:cNvPr>
              <p:cNvSpPr txBox="1"/>
              <p:nvPr/>
            </p:nvSpPr>
            <p:spPr>
              <a:xfrm>
                <a:off x="8942486" y="597013"/>
                <a:ext cx="2614021" cy="492099"/>
              </a:xfrm>
              <a:prstGeom prst="rect">
                <a:avLst/>
              </a:prstGeom>
              <a:noFill/>
              <a:ln>
                <a:noFill/>
              </a:ln>
            </p:spPr>
            <p:txBody>
              <a:bodyPr spcFirstLastPara="1" wrap="square" lIns="91425" tIns="45700" rIns="91425" bIns="45700" anchor="ctr" anchorCtr="0">
                <a:noAutofit/>
              </a:bodyPr>
              <a:lstStyle/>
              <a:p>
                <a:pPr marL="0" marR="0" lvl="0" indent="0" algn="ctr">
                  <a:spcBef>
                    <a:spcPts val="0"/>
                  </a:spcBef>
                  <a:spcAft>
                    <a:spcPts val="0"/>
                  </a:spcAft>
                  <a:buNone/>
                </a:pPr>
                <a:r>
                  <a:rPr lang="en-GB" sz="1300" b="1">
                    <a:solidFill>
                      <a:schemeClr val="lt1"/>
                    </a:solidFill>
                  </a:rPr>
                  <a:t>Market Alignment</a:t>
                </a:r>
                <a:endParaRPr lang="en-US"/>
              </a:p>
            </p:txBody>
          </p:sp>
        </p:grpSp>
        <p:sp>
          <p:nvSpPr>
            <p:cNvPr id="13" name="Google Shape;150;p4">
              <a:extLst>
                <a:ext uri="{FF2B5EF4-FFF2-40B4-BE49-F238E27FC236}">
                  <a16:creationId xmlns:a16="http://schemas.microsoft.com/office/drawing/2014/main" id="{0BD4C2C3-8FE7-0B88-B25A-C601F8210B0A}"/>
                </a:ext>
              </a:extLst>
            </p:cNvPr>
            <p:cNvSpPr/>
            <p:nvPr/>
          </p:nvSpPr>
          <p:spPr>
            <a:xfrm>
              <a:off x="5542964" y="1014192"/>
              <a:ext cx="2614020" cy="2221512"/>
            </a:xfrm>
            <a:custGeom>
              <a:avLst/>
              <a:gdLst/>
              <a:ahLst/>
              <a:cxnLst/>
              <a:rect l="l" t="t" r="r" b="b"/>
              <a:pathLst>
                <a:path w="2614020" h="4348303" extrusionOk="0">
                  <a:moveTo>
                    <a:pt x="0" y="0"/>
                  </a:moveTo>
                  <a:lnTo>
                    <a:pt x="1307011" y="290881"/>
                  </a:lnTo>
                  <a:lnTo>
                    <a:pt x="2614020" y="0"/>
                  </a:lnTo>
                  <a:lnTo>
                    <a:pt x="2614020" y="4348303"/>
                  </a:lnTo>
                  <a:lnTo>
                    <a:pt x="0" y="4348303"/>
                  </a:lnTo>
                  <a:close/>
                </a:path>
              </a:pathLst>
            </a:custGeom>
            <a:solidFill>
              <a:srgbClr val="F2F2F2"/>
            </a:solidFill>
            <a:ln>
              <a:noFill/>
            </a:ln>
          </p:spPr>
          <p:txBody>
            <a:bodyPr spcFirstLastPara="1" wrap="square" lIns="88900" tIns="360000" rIns="88900" bIns="38100" anchor="t" anchorCtr="0">
              <a:normAutofit/>
            </a:bodyPr>
            <a:lstStyle/>
            <a:p>
              <a:pPr marL="171450" indent="-171450">
                <a:buFont typeface="Arial"/>
                <a:buChar char="•"/>
              </a:pPr>
              <a:r>
                <a:rPr lang="en-GB" sz="1200" b="1" dirty="0">
                  <a:solidFill>
                    <a:schemeClr val="dk1"/>
                  </a:solidFill>
                </a:rPr>
                <a:t>Diversification</a:t>
              </a:r>
              <a:r>
                <a:rPr lang="en-GB" sz="1200" dirty="0">
                  <a:solidFill>
                    <a:schemeClr val="dk1"/>
                  </a:solidFill>
                </a:rPr>
                <a:t>: The company should </a:t>
              </a:r>
              <a:r>
                <a:rPr lang="en-US" sz="1200" dirty="0">
                  <a:solidFill>
                    <a:schemeClr val="dk1"/>
                  </a:solidFill>
                </a:rPr>
                <a:t>also evaluate </a:t>
              </a:r>
              <a:r>
                <a:rPr lang="en-US" sz="1200" dirty="0" err="1">
                  <a:solidFill>
                    <a:schemeClr val="dk1"/>
                  </a:solidFill>
                </a:rPr>
                <a:t>utilising</a:t>
              </a:r>
              <a:r>
                <a:rPr lang="en-US" sz="1200" dirty="0">
                  <a:solidFill>
                    <a:schemeClr val="dk1"/>
                  </a:solidFill>
                </a:rPr>
                <a:t> other bio-residues</a:t>
              </a:r>
              <a:r>
                <a:rPr lang="en-GB" sz="1200" dirty="0">
                  <a:solidFill>
                    <a:schemeClr val="dk1"/>
                  </a:solidFill>
                </a:rPr>
                <a:t> in case of unforeseen circumstances such as crop failure, rain, fire, etc.</a:t>
              </a:r>
              <a:endParaRPr lang="en-GB" sz="1200" b="1" dirty="0">
                <a:solidFill>
                  <a:schemeClr val="dk1"/>
                </a:solidFill>
              </a:endParaRPr>
            </a:p>
            <a:p>
              <a:pPr marL="171450" indent="-171450">
                <a:buChar char="•"/>
              </a:pPr>
              <a:r>
                <a:rPr lang="en-GB" sz="1200" b="1" dirty="0">
                  <a:solidFill>
                    <a:schemeClr val="dk1"/>
                  </a:solidFill>
                </a:rPr>
                <a:t>Technology: </a:t>
              </a:r>
              <a:r>
                <a:rPr lang="en-GB" sz="1200" dirty="0">
                  <a:solidFill>
                    <a:schemeClr val="dk1"/>
                  </a:solidFill>
                </a:rPr>
                <a:t>If </a:t>
              </a:r>
              <a:r>
                <a:rPr lang="en-US" sz="1200" dirty="0">
                  <a:solidFill>
                    <a:schemeClr val="dk1"/>
                  </a:solidFill>
                </a:rPr>
                <a:t>bale sizes are standardized, the cutters and other handing equipment installed in the mills will be accordingly standardized.</a:t>
              </a:r>
              <a:endParaRPr lang="en-GB" sz="1200" dirty="0">
                <a:solidFill>
                  <a:schemeClr val="dk1"/>
                </a:solidFill>
              </a:endParaRPr>
            </a:p>
          </p:txBody>
        </p:sp>
      </p:grpSp>
      <p:cxnSp>
        <p:nvCxnSpPr>
          <p:cNvPr id="17" name="Straight Arrow Connector 16">
            <a:extLst>
              <a:ext uri="{FF2B5EF4-FFF2-40B4-BE49-F238E27FC236}">
                <a16:creationId xmlns:a16="http://schemas.microsoft.com/office/drawing/2014/main" id="{B6C2991E-5D96-1AFB-F013-2351F47646F9}"/>
              </a:ext>
            </a:extLst>
          </p:cNvPr>
          <p:cNvCxnSpPr/>
          <p:nvPr/>
        </p:nvCxnSpPr>
        <p:spPr>
          <a:xfrm flipH="1">
            <a:off x="8441633" y="597452"/>
            <a:ext cx="2210" cy="5911572"/>
          </a:xfrm>
          <a:prstGeom prst="straightConnector1">
            <a:avLst/>
          </a:prstGeom>
          <a:ln w="28575">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19" name="Google Shape;31;p1">
            <a:extLst>
              <a:ext uri="{FF2B5EF4-FFF2-40B4-BE49-F238E27FC236}">
                <a16:creationId xmlns:a16="http://schemas.microsoft.com/office/drawing/2014/main" id="{7B78CD2D-5F53-2601-5D19-A812DF1E5089}"/>
              </a:ext>
            </a:extLst>
          </p:cNvPr>
          <p:cNvSpPr txBox="1">
            <a:spLocks noGrp="1"/>
          </p:cNvSpPr>
          <p:nvPr>
            <p:ph type="title"/>
          </p:nvPr>
        </p:nvSpPr>
        <p:spPr>
          <a:xfrm>
            <a:off x="8718826" y="1043866"/>
            <a:ext cx="3148496" cy="411314"/>
          </a:xfrm>
          <a:prstGeom prst="rect">
            <a:avLst/>
          </a:prstGeom>
          <a:noFill/>
          <a:ln>
            <a:noFill/>
          </a:ln>
        </p:spPr>
        <p:txBody>
          <a:bodyPr spcFirstLastPara="1" wrap="square" lIns="91425" tIns="45700" rIns="91425" bIns="45700" anchor="ctr" anchorCtr="0">
            <a:normAutofit/>
          </a:bodyPr>
          <a:lstStyle/>
          <a:p>
            <a:pPr algn="ctr"/>
            <a:r>
              <a:rPr lang="en-IN" sz="2000"/>
              <a:t>Thank You!</a:t>
            </a:r>
          </a:p>
        </p:txBody>
      </p:sp>
      <p:graphicFrame>
        <p:nvGraphicFramePr>
          <p:cNvPr id="23" name="Table 22">
            <a:extLst>
              <a:ext uri="{FF2B5EF4-FFF2-40B4-BE49-F238E27FC236}">
                <a16:creationId xmlns:a16="http://schemas.microsoft.com/office/drawing/2014/main" id="{A8656A00-6A41-E942-A76E-BD8DCC20E3CD}"/>
              </a:ext>
            </a:extLst>
          </p:cNvPr>
          <p:cNvGraphicFramePr>
            <a:graphicFrameLocks noGrp="1"/>
          </p:cNvGraphicFramePr>
          <p:nvPr>
            <p:extLst>
              <p:ext uri="{D42A27DB-BD31-4B8C-83A1-F6EECF244321}">
                <p14:modId xmlns:p14="http://schemas.microsoft.com/office/powerpoint/2010/main" val="2258356948"/>
              </p:ext>
            </p:extLst>
          </p:nvPr>
        </p:nvGraphicFramePr>
        <p:xfrm>
          <a:off x="8687463" y="2019984"/>
          <a:ext cx="3088637" cy="2815615"/>
        </p:xfrm>
        <a:graphic>
          <a:graphicData uri="http://schemas.openxmlformats.org/drawingml/2006/table">
            <a:tbl>
              <a:tblPr firstRow="1" bandRow="1">
                <a:tableStyleId>{912C8C85-51F0-491E-9774-3900AFEF0FD7}</a:tableStyleId>
              </a:tblPr>
              <a:tblGrid>
                <a:gridCol w="3088637">
                  <a:extLst>
                    <a:ext uri="{9D8B030D-6E8A-4147-A177-3AD203B41FA5}">
                      <a16:colId xmlns:a16="http://schemas.microsoft.com/office/drawing/2014/main" val="659227063"/>
                    </a:ext>
                  </a:extLst>
                </a:gridCol>
              </a:tblGrid>
              <a:tr h="418039">
                <a:tc>
                  <a:txBody>
                    <a:bodyPr/>
                    <a:lstStyle/>
                    <a:p>
                      <a:pPr algn="ctr"/>
                      <a:r>
                        <a:rPr lang="en-GB"/>
                        <a:t>Team Details</a:t>
                      </a:r>
                    </a:p>
                  </a:txBody>
                  <a:tcPr anchor="ctr">
                    <a:lnT w="12700">
                      <a:solidFill>
                        <a:schemeClr val="tx1"/>
                      </a:solidFill>
                    </a:lnT>
                    <a:lnB w="12700">
                      <a:solidFill>
                        <a:schemeClr val="tx1"/>
                      </a:solidFill>
                    </a:lnB>
                  </a:tcPr>
                </a:tc>
                <a:extLst>
                  <a:ext uri="{0D108BD9-81ED-4DB2-BD59-A6C34878D82A}">
                    <a16:rowId xmlns:a16="http://schemas.microsoft.com/office/drawing/2014/main" val="3151549838"/>
                  </a:ext>
                </a:extLst>
              </a:tr>
              <a:tr h="799192">
                <a:tc>
                  <a:txBody>
                    <a:bodyPr/>
                    <a:lstStyle/>
                    <a:p>
                      <a:pPr algn="ctr"/>
                      <a:r>
                        <a:rPr lang="en-GB"/>
                        <a:t>Jay Kumar</a:t>
                      </a:r>
                    </a:p>
                    <a:p>
                      <a:pPr lvl="0" algn="ctr">
                        <a:buNone/>
                      </a:pPr>
                      <a:r>
                        <a:rPr lang="en-GB">
                          <a:hlinkClick r:id="rId5"/>
                        </a:rPr>
                        <a:t>PGP38069@IIML.AC.IN</a:t>
                      </a:r>
                    </a:p>
                    <a:p>
                      <a:pPr lvl="0" algn="ctr">
                        <a:buNone/>
                      </a:pPr>
                      <a:r>
                        <a:rPr lang="en-GB" sz="1400" b="0" i="0" u="none" strike="noStrike" noProof="0">
                          <a:latin typeface="Arial"/>
                        </a:rPr>
                        <a:t>+91 98970 63440</a:t>
                      </a:r>
                      <a:endParaRPr lang="en-GB"/>
                    </a:p>
                  </a:txBody>
                  <a:tcPr anchor="ctr">
                    <a:lnT w="12700">
                      <a:solidFill>
                        <a:schemeClr val="tx1"/>
                      </a:solidFill>
                    </a:lnT>
                    <a:lnB w="12700">
                      <a:solidFill>
                        <a:schemeClr val="tx1"/>
                      </a:solidFill>
                    </a:lnB>
                  </a:tcPr>
                </a:tc>
                <a:extLst>
                  <a:ext uri="{0D108BD9-81ED-4DB2-BD59-A6C34878D82A}">
                    <a16:rowId xmlns:a16="http://schemas.microsoft.com/office/drawing/2014/main" val="3796005920"/>
                  </a:ext>
                </a:extLst>
              </a:tr>
              <a:tr h="799192">
                <a:tc>
                  <a:txBody>
                    <a:bodyPr/>
                    <a:lstStyle/>
                    <a:p>
                      <a:pPr algn="ctr"/>
                      <a:r>
                        <a:rPr lang="en-GB"/>
                        <a:t>Kritika Prakash</a:t>
                      </a:r>
                    </a:p>
                    <a:p>
                      <a:pPr lvl="0" algn="ctr">
                        <a:buNone/>
                      </a:pPr>
                      <a:r>
                        <a:rPr lang="en-GB">
                          <a:hlinkClick r:id="rId6"/>
                        </a:rPr>
                        <a:t>PGP38347@IIML.AC.IN</a:t>
                      </a:r>
                    </a:p>
                    <a:p>
                      <a:pPr lvl="0" algn="ctr">
                        <a:buNone/>
                      </a:pPr>
                      <a:r>
                        <a:rPr lang="en-GB"/>
                        <a:t>+91 98719 31051</a:t>
                      </a:r>
                    </a:p>
                  </a:txBody>
                  <a:tcPr anchor="ctr">
                    <a:lnT w="12700">
                      <a:solidFill>
                        <a:schemeClr val="tx1"/>
                      </a:solidFill>
                    </a:lnT>
                    <a:lnB w="12700">
                      <a:solidFill>
                        <a:schemeClr val="tx1"/>
                      </a:solidFill>
                    </a:lnB>
                  </a:tcPr>
                </a:tc>
                <a:extLst>
                  <a:ext uri="{0D108BD9-81ED-4DB2-BD59-A6C34878D82A}">
                    <a16:rowId xmlns:a16="http://schemas.microsoft.com/office/drawing/2014/main" val="3891256105"/>
                  </a:ext>
                </a:extLst>
              </a:tr>
              <a:tr h="799192">
                <a:tc>
                  <a:txBody>
                    <a:bodyPr/>
                    <a:lstStyle/>
                    <a:p>
                      <a:pPr algn="ctr"/>
                      <a:r>
                        <a:rPr lang="en-GB"/>
                        <a:t>Shivam Pathak</a:t>
                      </a:r>
                    </a:p>
                    <a:p>
                      <a:pPr lvl="0" algn="ctr">
                        <a:buNone/>
                      </a:pPr>
                      <a:r>
                        <a:rPr lang="en-GB">
                          <a:hlinkClick r:id="rId7"/>
                        </a:rPr>
                        <a:t>ABM19021@IIML.AC.IN</a:t>
                      </a:r>
                      <a:endParaRPr lang="en-GB"/>
                    </a:p>
                    <a:p>
                      <a:pPr lvl="0" algn="ctr">
                        <a:buNone/>
                      </a:pPr>
                      <a:r>
                        <a:rPr lang="en-GB" sz="1400" b="0" i="0" u="none" strike="noStrike" noProof="0">
                          <a:latin typeface="Arial"/>
                        </a:rPr>
                        <a:t>+91 80738 00369</a:t>
                      </a:r>
                      <a:endParaRPr lang="en-GB"/>
                    </a:p>
                  </a:txBody>
                  <a:tcPr anchor="ctr">
                    <a:lnT w="12700">
                      <a:solidFill>
                        <a:schemeClr val="tx1"/>
                      </a:solidFill>
                    </a:lnT>
                    <a:lnB w="12700">
                      <a:solidFill>
                        <a:schemeClr val="tx1"/>
                      </a:solidFill>
                    </a:lnB>
                  </a:tcPr>
                </a:tc>
                <a:extLst>
                  <a:ext uri="{0D108BD9-81ED-4DB2-BD59-A6C34878D82A}">
                    <a16:rowId xmlns:a16="http://schemas.microsoft.com/office/drawing/2014/main" val="1931217666"/>
                  </a:ext>
                </a:extLst>
              </a:tr>
            </a:tbl>
          </a:graphicData>
        </a:graphic>
      </p:graphicFrame>
    </p:spTree>
    <p:extLst>
      <p:ext uri="{BB962C8B-B14F-4D97-AF65-F5344CB8AC3E}">
        <p14:creationId xmlns:p14="http://schemas.microsoft.com/office/powerpoint/2010/main" val="3486343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pic>
        <p:nvPicPr>
          <p:cNvPr id="10" name="Picture 9">
            <a:extLst>
              <a:ext uri="{FF2B5EF4-FFF2-40B4-BE49-F238E27FC236}">
                <a16:creationId xmlns:a16="http://schemas.microsoft.com/office/drawing/2014/main" id="{B8AEF3A3-90CE-3476-80F4-0907AB4772CD}"/>
              </a:ext>
            </a:extLst>
          </p:cNvPr>
          <p:cNvPicPr>
            <a:picLocks noChangeAspect="1"/>
          </p:cNvPicPr>
          <p:nvPr/>
        </p:nvPicPr>
        <p:blipFill rotWithShape="1">
          <a:blip r:embed="rId3"/>
          <a:srcRect l="14622" r="16828"/>
          <a:stretch/>
        </p:blipFill>
        <p:spPr>
          <a:xfrm>
            <a:off x="5639329" y="564307"/>
            <a:ext cx="5361983" cy="2849329"/>
          </a:xfrm>
          <a:prstGeom prst="rect">
            <a:avLst/>
          </a:prstGeom>
        </p:spPr>
      </p:pic>
      <p:pic>
        <p:nvPicPr>
          <p:cNvPr id="13" name="Picture 12">
            <a:extLst>
              <a:ext uri="{FF2B5EF4-FFF2-40B4-BE49-F238E27FC236}">
                <a16:creationId xmlns:a16="http://schemas.microsoft.com/office/drawing/2014/main" id="{8EB94702-DB65-DFFB-CEFF-2F9169434E18}"/>
              </a:ext>
            </a:extLst>
          </p:cNvPr>
          <p:cNvPicPr>
            <a:picLocks noChangeAspect="1"/>
          </p:cNvPicPr>
          <p:nvPr/>
        </p:nvPicPr>
        <p:blipFill>
          <a:blip r:embed="rId4"/>
          <a:stretch>
            <a:fillRect/>
          </a:stretch>
        </p:blipFill>
        <p:spPr>
          <a:xfrm>
            <a:off x="5217956" y="2644371"/>
            <a:ext cx="4212471" cy="3037840"/>
          </a:xfrm>
          <a:prstGeom prst="rect">
            <a:avLst/>
          </a:prstGeom>
        </p:spPr>
      </p:pic>
      <p:sp>
        <p:nvSpPr>
          <p:cNvPr id="31" name="Google Shape;31;p1"/>
          <p:cNvSpPr txBox="1">
            <a:spLocks noGrp="1"/>
          </p:cNvSpPr>
          <p:nvPr>
            <p:ph type="title"/>
          </p:nvPr>
        </p:nvSpPr>
        <p:spPr>
          <a:xfrm>
            <a:off x="0" y="-204048"/>
            <a:ext cx="10972800" cy="864096"/>
          </a:xfrm>
          <a:prstGeom prst="rect">
            <a:avLst/>
          </a:prstGeom>
          <a:noFill/>
          <a:ln>
            <a:noFill/>
          </a:ln>
        </p:spPr>
        <p:txBody>
          <a:bodyPr spcFirstLastPara="1" wrap="square" lIns="91425" tIns="45700" rIns="91425" bIns="45700" anchor="ctr" anchorCtr="0">
            <a:normAutofit/>
          </a:bodyPr>
          <a:lstStyle/>
          <a:p>
            <a:r>
              <a:rPr lang="en-IN"/>
              <a:t>Annexure 1 : News articles capturing the impact of stubble burning</a:t>
            </a:r>
            <a:endParaRPr lang="en-IN" b="0"/>
          </a:p>
        </p:txBody>
      </p:sp>
      <p:grpSp>
        <p:nvGrpSpPr>
          <p:cNvPr id="32" name="Google Shape;32;p1" descr="{&quot;Key&quot;:&quot;POWER_USER_SHAPE_ICON&quot;,&quot;Value&quot;:&quot;POWER_USER_SHAPE_ICON_STYLE_1&quot;}"/>
          <p:cNvGrpSpPr/>
          <p:nvPr/>
        </p:nvGrpSpPr>
        <p:grpSpPr>
          <a:xfrm>
            <a:off x="4762687" y="1872743"/>
            <a:ext cx="634238" cy="367355"/>
            <a:chOff x="5095875" y="3181351"/>
            <a:chExt cx="641351" cy="371475"/>
          </a:xfrm>
        </p:grpSpPr>
        <p:sp>
          <p:nvSpPr>
            <p:cNvPr id="33" name="Google Shape;33;p1"/>
            <p:cNvSpPr/>
            <p:nvPr/>
          </p:nvSpPr>
          <p:spPr>
            <a:xfrm>
              <a:off x="5311775" y="3300413"/>
              <a:ext cx="211138" cy="18256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
            <p:cNvSpPr/>
            <p:nvPr/>
          </p:nvSpPr>
          <p:spPr>
            <a:xfrm>
              <a:off x="5392738" y="3357563"/>
              <a:ext cx="49213"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
            <p:cNvSpPr/>
            <p:nvPr/>
          </p:nvSpPr>
          <p:spPr>
            <a:xfrm>
              <a:off x="5659438"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
            <p:cNvSpPr/>
            <p:nvPr/>
          </p:nvSpPr>
          <p:spPr>
            <a:xfrm>
              <a:off x="5681663"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1"/>
            <p:cNvSpPr/>
            <p:nvPr/>
          </p:nvSpPr>
          <p:spPr>
            <a:xfrm>
              <a:off x="5659438"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 name="Google Shape;38;p1"/>
            <p:cNvSpPr/>
            <p:nvPr/>
          </p:nvSpPr>
          <p:spPr>
            <a:xfrm>
              <a:off x="5124450"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 name="Google Shape;39;p1"/>
            <p:cNvSpPr/>
            <p:nvPr/>
          </p:nvSpPr>
          <p:spPr>
            <a:xfrm>
              <a:off x="5102225"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1"/>
            <p:cNvSpPr/>
            <p:nvPr/>
          </p:nvSpPr>
          <p:spPr>
            <a:xfrm>
              <a:off x="5124450"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1"/>
            <p:cNvSpPr/>
            <p:nvPr/>
          </p:nvSpPr>
          <p:spPr>
            <a:xfrm>
              <a:off x="5307013" y="3295651"/>
              <a:ext cx="220663" cy="193675"/>
            </a:xfrm>
            <a:custGeom>
              <a:avLst/>
              <a:gdLst/>
              <a:ahLst/>
              <a:cxnLst/>
              <a:rect l="l" t="t" r="r" b="b"/>
              <a:pathLst>
                <a:path w="328" h="286" extrusionOk="0">
                  <a:moveTo>
                    <a:pt x="16" y="269"/>
                  </a:moveTo>
                  <a:lnTo>
                    <a:pt x="312" y="269"/>
                  </a:lnTo>
                  <a:lnTo>
                    <a:pt x="312" y="16"/>
                  </a:lnTo>
                  <a:lnTo>
                    <a:pt x="16" y="16"/>
                  </a:lnTo>
                  <a:lnTo>
                    <a:pt x="16" y="269"/>
                  </a:lnTo>
                  <a:close/>
                  <a:moveTo>
                    <a:pt x="328" y="286"/>
                  </a:moveTo>
                  <a:lnTo>
                    <a:pt x="0" y="286"/>
                  </a:lnTo>
                  <a:lnTo>
                    <a:pt x="0" y="0"/>
                  </a:lnTo>
                  <a:lnTo>
                    <a:pt x="328" y="0"/>
                  </a:lnTo>
                  <a:lnTo>
                    <a:pt x="328" y="2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 name="Google Shape;42;p1"/>
            <p:cNvSpPr/>
            <p:nvPr/>
          </p:nvSpPr>
          <p:spPr>
            <a:xfrm>
              <a:off x="5334000" y="3181351"/>
              <a:ext cx="166688" cy="125413"/>
            </a:xfrm>
            <a:custGeom>
              <a:avLst/>
              <a:gdLst/>
              <a:ahLst/>
              <a:cxnLst/>
              <a:rect l="l" t="t" r="r" b="b"/>
              <a:pathLst>
                <a:path w="245" h="186" extrusionOk="0">
                  <a:moveTo>
                    <a:pt x="245" y="186"/>
                  </a:moveTo>
                  <a:lnTo>
                    <a:pt x="201" y="186"/>
                  </a:lnTo>
                  <a:lnTo>
                    <a:pt x="201" y="170"/>
                  </a:lnTo>
                  <a:lnTo>
                    <a:pt x="229" y="170"/>
                  </a:lnTo>
                  <a:lnTo>
                    <a:pt x="229" y="122"/>
                  </a:lnTo>
                  <a:cubicBezTo>
                    <a:pt x="229" y="64"/>
                    <a:pt x="181" y="16"/>
                    <a:pt x="123" y="16"/>
                  </a:cubicBezTo>
                  <a:cubicBezTo>
                    <a:pt x="65" y="16"/>
                    <a:pt x="17" y="64"/>
                    <a:pt x="17" y="122"/>
                  </a:cubicBezTo>
                  <a:lnTo>
                    <a:pt x="17" y="170"/>
                  </a:lnTo>
                  <a:lnTo>
                    <a:pt x="45" y="170"/>
                  </a:lnTo>
                  <a:lnTo>
                    <a:pt x="45" y="186"/>
                  </a:lnTo>
                  <a:lnTo>
                    <a:pt x="0" y="186"/>
                  </a:lnTo>
                  <a:lnTo>
                    <a:pt x="0" y="122"/>
                  </a:lnTo>
                  <a:cubicBezTo>
                    <a:pt x="0" y="55"/>
                    <a:pt x="55" y="0"/>
                    <a:pt x="123" y="0"/>
                  </a:cubicBezTo>
                  <a:cubicBezTo>
                    <a:pt x="190" y="0"/>
                    <a:pt x="245" y="55"/>
                    <a:pt x="245" y="122"/>
                  </a:cubicBezTo>
                  <a:lnTo>
                    <a:pt x="245" y="1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 name="Google Shape;43;p1"/>
            <p:cNvSpPr/>
            <p:nvPr/>
          </p:nvSpPr>
          <p:spPr>
            <a:xfrm>
              <a:off x="5386388" y="3351213"/>
              <a:ext cx="61913" cy="61913"/>
            </a:xfrm>
            <a:custGeom>
              <a:avLst/>
              <a:gdLst/>
              <a:ahLst/>
              <a:cxnLst/>
              <a:rect l="l" t="t" r="r" b="b"/>
              <a:pathLst>
                <a:path w="91" h="91" extrusionOk="0">
                  <a:moveTo>
                    <a:pt x="46" y="17"/>
                  </a:moveTo>
                  <a:cubicBezTo>
                    <a:pt x="30" y="17"/>
                    <a:pt x="17" y="30"/>
                    <a:pt x="17" y="46"/>
                  </a:cubicBezTo>
                  <a:cubicBezTo>
                    <a:pt x="17" y="62"/>
                    <a:pt x="30" y="75"/>
                    <a:pt x="46" y="75"/>
                  </a:cubicBezTo>
                  <a:cubicBezTo>
                    <a:pt x="62" y="75"/>
                    <a:pt x="75" y="62"/>
                    <a:pt x="75" y="46"/>
                  </a:cubicBezTo>
                  <a:cubicBezTo>
                    <a:pt x="75" y="30"/>
                    <a:pt x="62" y="17"/>
                    <a:pt x="46" y="17"/>
                  </a:cubicBezTo>
                  <a:close/>
                  <a:moveTo>
                    <a:pt x="46" y="91"/>
                  </a:moveTo>
                  <a:cubicBezTo>
                    <a:pt x="21" y="91"/>
                    <a:pt x="0" y="71"/>
                    <a:pt x="0" y="46"/>
                  </a:cubicBezTo>
                  <a:cubicBezTo>
                    <a:pt x="0" y="21"/>
                    <a:pt x="21" y="0"/>
                    <a:pt x="46" y="0"/>
                  </a:cubicBezTo>
                  <a:cubicBezTo>
                    <a:pt x="71" y="0"/>
                    <a:pt x="91" y="21"/>
                    <a:pt x="91" y="46"/>
                  </a:cubicBezTo>
                  <a:cubicBezTo>
                    <a:pt x="91" y="71"/>
                    <a:pt x="71" y="91"/>
                    <a:pt x="46" y="91"/>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1"/>
            <p:cNvSpPr/>
            <p:nvPr/>
          </p:nvSpPr>
          <p:spPr>
            <a:xfrm>
              <a:off x="5411788" y="3408363"/>
              <a:ext cx="11113" cy="365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1"/>
            <p:cNvSpPr/>
            <p:nvPr/>
          </p:nvSpPr>
          <p:spPr>
            <a:xfrm>
              <a:off x="5556250" y="3276601"/>
              <a:ext cx="115888" cy="71438"/>
            </a:xfrm>
            <a:custGeom>
              <a:avLst/>
              <a:gdLst/>
              <a:ahLst/>
              <a:cxnLst/>
              <a:rect l="l" t="t" r="r" b="b"/>
              <a:pathLst>
                <a:path w="73" h="45" extrusionOk="0">
                  <a:moveTo>
                    <a:pt x="36" y="45"/>
                  </a:moveTo>
                  <a:lnTo>
                    <a:pt x="0" y="45"/>
                  </a:lnTo>
                  <a:lnTo>
                    <a:pt x="0" y="38"/>
                  </a:lnTo>
                  <a:lnTo>
                    <a:pt x="33" y="38"/>
                  </a:lnTo>
                  <a:lnTo>
                    <a:pt x="67" y="0"/>
                  </a:lnTo>
                  <a:lnTo>
                    <a:pt x="73" y="5"/>
                  </a:lnTo>
                  <a:lnTo>
                    <a:pt x="36"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1"/>
            <p:cNvSpPr/>
            <p:nvPr/>
          </p:nvSpPr>
          <p:spPr>
            <a:xfrm>
              <a:off x="56530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1"/>
            <p:cNvSpPr/>
            <p:nvPr/>
          </p:nvSpPr>
          <p:spPr>
            <a:xfrm>
              <a:off x="5675313"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5" y="62"/>
                    <a:pt x="75" y="46"/>
                  </a:cubicBezTo>
                  <a:cubicBezTo>
                    <a:pt x="75" y="30"/>
                    <a:pt x="62" y="17"/>
                    <a:pt x="46" y="17"/>
                  </a:cubicBezTo>
                  <a:close/>
                  <a:moveTo>
                    <a:pt x="46" y="92"/>
                  </a:moveTo>
                  <a:cubicBezTo>
                    <a:pt x="21" y="92"/>
                    <a:pt x="0" y="72"/>
                    <a:pt x="0" y="46"/>
                  </a:cubicBezTo>
                  <a:cubicBezTo>
                    <a:pt x="0" y="21"/>
                    <a:pt x="21" y="0"/>
                    <a:pt x="46" y="0"/>
                  </a:cubicBezTo>
                  <a:cubicBezTo>
                    <a:pt x="71" y="0"/>
                    <a:pt x="92" y="21"/>
                    <a:pt x="92" y="46"/>
                  </a:cubicBezTo>
                  <a:cubicBezTo>
                    <a:pt x="92" y="72"/>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1"/>
            <p:cNvSpPr/>
            <p:nvPr/>
          </p:nvSpPr>
          <p:spPr>
            <a:xfrm>
              <a:off x="5556250" y="3435351"/>
              <a:ext cx="115888" cy="71438"/>
            </a:xfrm>
            <a:custGeom>
              <a:avLst/>
              <a:gdLst/>
              <a:ahLst/>
              <a:cxnLst/>
              <a:rect l="l" t="t" r="r" b="b"/>
              <a:pathLst>
                <a:path w="73" h="45" extrusionOk="0">
                  <a:moveTo>
                    <a:pt x="67" y="45"/>
                  </a:moveTo>
                  <a:lnTo>
                    <a:pt x="33" y="7"/>
                  </a:lnTo>
                  <a:lnTo>
                    <a:pt x="0" y="7"/>
                  </a:lnTo>
                  <a:lnTo>
                    <a:pt x="0" y="0"/>
                  </a:lnTo>
                  <a:lnTo>
                    <a:pt x="36" y="0"/>
                  </a:lnTo>
                  <a:lnTo>
                    <a:pt x="73" y="40"/>
                  </a:lnTo>
                  <a:lnTo>
                    <a:pt x="67"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1"/>
            <p:cNvSpPr/>
            <p:nvPr/>
          </p:nvSpPr>
          <p:spPr>
            <a:xfrm>
              <a:off x="56530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556250"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5162550" y="3435351"/>
              <a:ext cx="115888" cy="71438"/>
            </a:xfrm>
            <a:custGeom>
              <a:avLst/>
              <a:gdLst/>
              <a:ahLst/>
              <a:cxnLst/>
              <a:rect l="l" t="t" r="r" b="b"/>
              <a:pathLst>
                <a:path w="73" h="45" extrusionOk="0">
                  <a:moveTo>
                    <a:pt x="5" y="45"/>
                  </a:moveTo>
                  <a:lnTo>
                    <a:pt x="0" y="40"/>
                  </a:lnTo>
                  <a:lnTo>
                    <a:pt x="37" y="0"/>
                  </a:lnTo>
                  <a:lnTo>
                    <a:pt x="73" y="0"/>
                  </a:lnTo>
                  <a:lnTo>
                    <a:pt x="73" y="7"/>
                  </a:lnTo>
                  <a:lnTo>
                    <a:pt x="40" y="7"/>
                  </a:lnTo>
                  <a:lnTo>
                    <a:pt x="5"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a:off x="51196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a:off x="5095875"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6" y="62"/>
                    <a:pt x="76" y="46"/>
                  </a:cubicBezTo>
                  <a:cubicBezTo>
                    <a:pt x="76" y="30"/>
                    <a:pt x="62" y="17"/>
                    <a:pt x="46" y="17"/>
                  </a:cubicBezTo>
                  <a:close/>
                  <a:moveTo>
                    <a:pt x="46" y="92"/>
                  </a:moveTo>
                  <a:cubicBezTo>
                    <a:pt x="21" y="92"/>
                    <a:pt x="0" y="72"/>
                    <a:pt x="0" y="46"/>
                  </a:cubicBezTo>
                  <a:cubicBezTo>
                    <a:pt x="0" y="21"/>
                    <a:pt x="21" y="0"/>
                    <a:pt x="46" y="0"/>
                  </a:cubicBezTo>
                  <a:cubicBezTo>
                    <a:pt x="72" y="0"/>
                    <a:pt x="92" y="21"/>
                    <a:pt x="92" y="46"/>
                  </a:cubicBezTo>
                  <a:cubicBezTo>
                    <a:pt x="92" y="72"/>
                    <a:pt x="72"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a:off x="5162550" y="3276601"/>
              <a:ext cx="115888" cy="71438"/>
            </a:xfrm>
            <a:custGeom>
              <a:avLst/>
              <a:gdLst/>
              <a:ahLst/>
              <a:cxnLst/>
              <a:rect l="l" t="t" r="r" b="b"/>
              <a:pathLst>
                <a:path w="73" h="45" extrusionOk="0">
                  <a:moveTo>
                    <a:pt x="73" y="45"/>
                  </a:moveTo>
                  <a:lnTo>
                    <a:pt x="37" y="45"/>
                  </a:lnTo>
                  <a:lnTo>
                    <a:pt x="0" y="5"/>
                  </a:lnTo>
                  <a:lnTo>
                    <a:pt x="5" y="0"/>
                  </a:lnTo>
                  <a:lnTo>
                    <a:pt x="40" y="38"/>
                  </a:lnTo>
                  <a:lnTo>
                    <a:pt x="73" y="38"/>
                  </a:lnTo>
                  <a:lnTo>
                    <a:pt x="73"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1"/>
            <p:cNvSpPr/>
            <p:nvPr/>
          </p:nvSpPr>
          <p:spPr>
            <a:xfrm>
              <a:off x="51196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1"/>
            <p:cNvSpPr/>
            <p:nvPr/>
          </p:nvSpPr>
          <p:spPr>
            <a:xfrm>
              <a:off x="5153025"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4" name="TextBox 3">
            <a:extLst>
              <a:ext uri="{FF2B5EF4-FFF2-40B4-BE49-F238E27FC236}">
                <a16:creationId xmlns:a16="http://schemas.microsoft.com/office/drawing/2014/main" id="{4985DD54-CC65-DCBA-38D9-A2A8FBD635B6}"/>
              </a:ext>
            </a:extLst>
          </p:cNvPr>
          <p:cNvSpPr txBox="1"/>
          <p:nvPr/>
        </p:nvSpPr>
        <p:spPr>
          <a:xfrm>
            <a:off x="99385" y="594450"/>
            <a:ext cx="5118571" cy="461665"/>
          </a:xfrm>
          <a:prstGeom prst="rect">
            <a:avLst/>
          </a:prstGeom>
          <a:noFill/>
        </p:spPr>
        <p:txBody>
          <a:bodyPr wrap="square" lIns="91440" tIns="45720" rIns="91440" bIns="45720" rtlCol="0" anchor="t">
            <a:spAutoFit/>
          </a:bodyPr>
          <a:lstStyle/>
          <a:p>
            <a:pPr algn="ctr"/>
            <a:r>
              <a:rPr lang="en-US" sz="1200" b="0" i="1" dirty="0">
                <a:solidFill>
                  <a:srgbClr val="383838"/>
                </a:solidFill>
                <a:effectLst/>
                <a:latin typeface="Roboto"/>
              </a:rPr>
              <a:t>NASA images show red dots that indicate fires, including stubble burning surrounding Delhi and other neighboring states. </a:t>
            </a:r>
            <a:endParaRPr lang="en-IN" sz="1200" dirty="0">
              <a:latin typeface="Roboto"/>
            </a:endParaRPr>
          </a:p>
        </p:txBody>
      </p:sp>
      <p:pic>
        <p:nvPicPr>
          <p:cNvPr id="7" name="Picture 2" descr="Delhi air pollution">
            <a:extLst>
              <a:ext uri="{FF2B5EF4-FFF2-40B4-BE49-F238E27FC236}">
                <a16:creationId xmlns:a16="http://schemas.microsoft.com/office/drawing/2014/main" id="{48C8CD39-EA07-3B89-C894-9DEE72B0D2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200" y="1080633"/>
            <a:ext cx="4877092" cy="24943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50F61FE-F801-D290-BAA8-753EDADC7D91}"/>
              </a:ext>
            </a:extLst>
          </p:cNvPr>
          <p:cNvPicPr>
            <a:picLocks noChangeAspect="1"/>
          </p:cNvPicPr>
          <p:nvPr/>
        </p:nvPicPr>
        <p:blipFill rotWithShape="1">
          <a:blip r:embed="rId6"/>
          <a:srcRect l="4838" r="8838" b="8668"/>
          <a:stretch/>
        </p:blipFill>
        <p:spPr>
          <a:xfrm>
            <a:off x="20320" y="3852007"/>
            <a:ext cx="5619009" cy="2629942"/>
          </a:xfrm>
          <a:prstGeom prst="rect">
            <a:avLst/>
          </a:prstGeom>
        </p:spPr>
      </p:pic>
      <p:pic>
        <p:nvPicPr>
          <p:cNvPr id="15" name="Picture 14">
            <a:extLst>
              <a:ext uri="{FF2B5EF4-FFF2-40B4-BE49-F238E27FC236}">
                <a16:creationId xmlns:a16="http://schemas.microsoft.com/office/drawing/2014/main" id="{F67E5938-D1D1-3B2A-963E-5278E7239D74}"/>
              </a:ext>
            </a:extLst>
          </p:cNvPr>
          <p:cNvPicPr>
            <a:picLocks noChangeAspect="1"/>
          </p:cNvPicPr>
          <p:nvPr/>
        </p:nvPicPr>
        <p:blipFill rotWithShape="1">
          <a:blip r:embed="rId7"/>
          <a:srcRect l="14237" r="29513"/>
          <a:stretch/>
        </p:blipFill>
        <p:spPr>
          <a:xfrm>
            <a:off x="7514828" y="3852007"/>
            <a:ext cx="4372371" cy="2603904"/>
          </a:xfrm>
          <a:prstGeom prst="rect">
            <a:avLst/>
          </a:prstGeom>
        </p:spPr>
      </p:pic>
    </p:spTree>
    <p:extLst>
      <p:ext uri="{BB962C8B-B14F-4D97-AF65-F5344CB8AC3E}">
        <p14:creationId xmlns:p14="http://schemas.microsoft.com/office/powerpoint/2010/main" val="1736414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0" y="-204048"/>
            <a:ext cx="10972800" cy="864096"/>
          </a:xfrm>
          <a:prstGeom prst="rect">
            <a:avLst/>
          </a:prstGeom>
          <a:noFill/>
          <a:ln>
            <a:noFill/>
          </a:ln>
        </p:spPr>
        <p:txBody>
          <a:bodyPr spcFirstLastPara="1" wrap="square" lIns="91425" tIns="45700" rIns="91425" bIns="45700" anchor="ctr" anchorCtr="0">
            <a:normAutofit/>
          </a:bodyPr>
          <a:lstStyle/>
          <a:p>
            <a:r>
              <a:rPr lang="en-IN"/>
              <a:t>Annexure 2 : Paddy Stubble Type Analysis</a:t>
            </a:r>
            <a:endParaRPr/>
          </a:p>
        </p:txBody>
      </p:sp>
      <p:grpSp>
        <p:nvGrpSpPr>
          <p:cNvPr id="32" name="Google Shape;32;p1" descr="{&quot;Key&quot;:&quot;POWER_USER_SHAPE_ICON&quot;,&quot;Value&quot;:&quot;POWER_USER_SHAPE_ICON_STYLE_1&quot;}"/>
          <p:cNvGrpSpPr/>
          <p:nvPr/>
        </p:nvGrpSpPr>
        <p:grpSpPr>
          <a:xfrm>
            <a:off x="4762687" y="1872743"/>
            <a:ext cx="634238" cy="367355"/>
            <a:chOff x="5095875" y="3181351"/>
            <a:chExt cx="641351" cy="371475"/>
          </a:xfrm>
        </p:grpSpPr>
        <p:sp>
          <p:nvSpPr>
            <p:cNvPr id="33" name="Google Shape;33;p1"/>
            <p:cNvSpPr/>
            <p:nvPr/>
          </p:nvSpPr>
          <p:spPr>
            <a:xfrm>
              <a:off x="5311775" y="3300413"/>
              <a:ext cx="211138" cy="18256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
            <p:cNvSpPr/>
            <p:nvPr/>
          </p:nvSpPr>
          <p:spPr>
            <a:xfrm>
              <a:off x="5392738" y="3357563"/>
              <a:ext cx="49213"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
            <p:cNvSpPr/>
            <p:nvPr/>
          </p:nvSpPr>
          <p:spPr>
            <a:xfrm>
              <a:off x="5659438"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
            <p:cNvSpPr/>
            <p:nvPr/>
          </p:nvSpPr>
          <p:spPr>
            <a:xfrm>
              <a:off x="5681663"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1"/>
            <p:cNvSpPr/>
            <p:nvPr/>
          </p:nvSpPr>
          <p:spPr>
            <a:xfrm>
              <a:off x="5659438"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 name="Google Shape;38;p1"/>
            <p:cNvSpPr/>
            <p:nvPr/>
          </p:nvSpPr>
          <p:spPr>
            <a:xfrm>
              <a:off x="5124450"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 name="Google Shape;39;p1"/>
            <p:cNvSpPr/>
            <p:nvPr/>
          </p:nvSpPr>
          <p:spPr>
            <a:xfrm>
              <a:off x="5102225"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1"/>
            <p:cNvSpPr/>
            <p:nvPr/>
          </p:nvSpPr>
          <p:spPr>
            <a:xfrm>
              <a:off x="5124450"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1"/>
            <p:cNvSpPr/>
            <p:nvPr/>
          </p:nvSpPr>
          <p:spPr>
            <a:xfrm>
              <a:off x="5307013" y="3295651"/>
              <a:ext cx="220663" cy="193675"/>
            </a:xfrm>
            <a:custGeom>
              <a:avLst/>
              <a:gdLst/>
              <a:ahLst/>
              <a:cxnLst/>
              <a:rect l="l" t="t" r="r" b="b"/>
              <a:pathLst>
                <a:path w="328" h="286" extrusionOk="0">
                  <a:moveTo>
                    <a:pt x="16" y="269"/>
                  </a:moveTo>
                  <a:lnTo>
                    <a:pt x="312" y="269"/>
                  </a:lnTo>
                  <a:lnTo>
                    <a:pt x="312" y="16"/>
                  </a:lnTo>
                  <a:lnTo>
                    <a:pt x="16" y="16"/>
                  </a:lnTo>
                  <a:lnTo>
                    <a:pt x="16" y="269"/>
                  </a:lnTo>
                  <a:close/>
                  <a:moveTo>
                    <a:pt x="328" y="286"/>
                  </a:moveTo>
                  <a:lnTo>
                    <a:pt x="0" y="286"/>
                  </a:lnTo>
                  <a:lnTo>
                    <a:pt x="0" y="0"/>
                  </a:lnTo>
                  <a:lnTo>
                    <a:pt x="328" y="0"/>
                  </a:lnTo>
                  <a:lnTo>
                    <a:pt x="328" y="2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 name="Google Shape;42;p1"/>
            <p:cNvSpPr/>
            <p:nvPr/>
          </p:nvSpPr>
          <p:spPr>
            <a:xfrm>
              <a:off x="5334000" y="3181351"/>
              <a:ext cx="166688" cy="125413"/>
            </a:xfrm>
            <a:custGeom>
              <a:avLst/>
              <a:gdLst/>
              <a:ahLst/>
              <a:cxnLst/>
              <a:rect l="l" t="t" r="r" b="b"/>
              <a:pathLst>
                <a:path w="245" h="186" extrusionOk="0">
                  <a:moveTo>
                    <a:pt x="245" y="186"/>
                  </a:moveTo>
                  <a:lnTo>
                    <a:pt x="201" y="186"/>
                  </a:lnTo>
                  <a:lnTo>
                    <a:pt x="201" y="170"/>
                  </a:lnTo>
                  <a:lnTo>
                    <a:pt x="229" y="170"/>
                  </a:lnTo>
                  <a:lnTo>
                    <a:pt x="229" y="122"/>
                  </a:lnTo>
                  <a:cubicBezTo>
                    <a:pt x="229" y="64"/>
                    <a:pt x="181" y="16"/>
                    <a:pt x="123" y="16"/>
                  </a:cubicBezTo>
                  <a:cubicBezTo>
                    <a:pt x="65" y="16"/>
                    <a:pt x="17" y="64"/>
                    <a:pt x="17" y="122"/>
                  </a:cubicBezTo>
                  <a:lnTo>
                    <a:pt x="17" y="170"/>
                  </a:lnTo>
                  <a:lnTo>
                    <a:pt x="45" y="170"/>
                  </a:lnTo>
                  <a:lnTo>
                    <a:pt x="45" y="186"/>
                  </a:lnTo>
                  <a:lnTo>
                    <a:pt x="0" y="186"/>
                  </a:lnTo>
                  <a:lnTo>
                    <a:pt x="0" y="122"/>
                  </a:lnTo>
                  <a:cubicBezTo>
                    <a:pt x="0" y="55"/>
                    <a:pt x="55" y="0"/>
                    <a:pt x="123" y="0"/>
                  </a:cubicBezTo>
                  <a:cubicBezTo>
                    <a:pt x="190" y="0"/>
                    <a:pt x="245" y="55"/>
                    <a:pt x="245" y="122"/>
                  </a:cubicBezTo>
                  <a:lnTo>
                    <a:pt x="245" y="1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 name="Google Shape;43;p1"/>
            <p:cNvSpPr/>
            <p:nvPr/>
          </p:nvSpPr>
          <p:spPr>
            <a:xfrm>
              <a:off x="5386388" y="3351213"/>
              <a:ext cx="61913" cy="61913"/>
            </a:xfrm>
            <a:custGeom>
              <a:avLst/>
              <a:gdLst/>
              <a:ahLst/>
              <a:cxnLst/>
              <a:rect l="l" t="t" r="r" b="b"/>
              <a:pathLst>
                <a:path w="91" h="91" extrusionOk="0">
                  <a:moveTo>
                    <a:pt x="46" y="17"/>
                  </a:moveTo>
                  <a:cubicBezTo>
                    <a:pt x="30" y="17"/>
                    <a:pt x="17" y="30"/>
                    <a:pt x="17" y="46"/>
                  </a:cubicBezTo>
                  <a:cubicBezTo>
                    <a:pt x="17" y="62"/>
                    <a:pt x="30" y="75"/>
                    <a:pt x="46" y="75"/>
                  </a:cubicBezTo>
                  <a:cubicBezTo>
                    <a:pt x="62" y="75"/>
                    <a:pt x="75" y="62"/>
                    <a:pt x="75" y="46"/>
                  </a:cubicBezTo>
                  <a:cubicBezTo>
                    <a:pt x="75" y="30"/>
                    <a:pt x="62" y="17"/>
                    <a:pt x="46" y="17"/>
                  </a:cubicBezTo>
                  <a:close/>
                  <a:moveTo>
                    <a:pt x="46" y="91"/>
                  </a:moveTo>
                  <a:cubicBezTo>
                    <a:pt x="21" y="91"/>
                    <a:pt x="0" y="71"/>
                    <a:pt x="0" y="46"/>
                  </a:cubicBezTo>
                  <a:cubicBezTo>
                    <a:pt x="0" y="21"/>
                    <a:pt x="21" y="0"/>
                    <a:pt x="46" y="0"/>
                  </a:cubicBezTo>
                  <a:cubicBezTo>
                    <a:pt x="71" y="0"/>
                    <a:pt x="91" y="21"/>
                    <a:pt x="91" y="46"/>
                  </a:cubicBezTo>
                  <a:cubicBezTo>
                    <a:pt x="91" y="71"/>
                    <a:pt x="71" y="91"/>
                    <a:pt x="46" y="91"/>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1"/>
            <p:cNvSpPr/>
            <p:nvPr/>
          </p:nvSpPr>
          <p:spPr>
            <a:xfrm>
              <a:off x="5411788" y="3408363"/>
              <a:ext cx="11113" cy="365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1"/>
            <p:cNvSpPr/>
            <p:nvPr/>
          </p:nvSpPr>
          <p:spPr>
            <a:xfrm>
              <a:off x="5556250" y="3276601"/>
              <a:ext cx="115888" cy="71438"/>
            </a:xfrm>
            <a:custGeom>
              <a:avLst/>
              <a:gdLst/>
              <a:ahLst/>
              <a:cxnLst/>
              <a:rect l="l" t="t" r="r" b="b"/>
              <a:pathLst>
                <a:path w="73" h="45" extrusionOk="0">
                  <a:moveTo>
                    <a:pt x="36" y="45"/>
                  </a:moveTo>
                  <a:lnTo>
                    <a:pt x="0" y="45"/>
                  </a:lnTo>
                  <a:lnTo>
                    <a:pt x="0" y="38"/>
                  </a:lnTo>
                  <a:lnTo>
                    <a:pt x="33" y="38"/>
                  </a:lnTo>
                  <a:lnTo>
                    <a:pt x="67" y="0"/>
                  </a:lnTo>
                  <a:lnTo>
                    <a:pt x="73" y="5"/>
                  </a:lnTo>
                  <a:lnTo>
                    <a:pt x="36"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1"/>
            <p:cNvSpPr/>
            <p:nvPr/>
          </p:nvSpPr>
          <p:spPr>
            <a:xfrm>
              <a:off x="56530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1"/>
            <p:cNvSpPr/>
            <p:nvPr/>
          </p:nvSpPr>
          <p:spPr>
            <a:xfrm>
              <a:off x="5675313"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5" y="62"/>
                    <a:pt x="75" y="46"/>
                  </a:cubicBezTo>
                  <a:cubicBezTo>
                    <a:pt x="75" y="30"/>
                    <a:pt x="62" y="17"/>
                    <a:pt x="46" y="17"/>
                  </a:cubicBezTo>
                  <a:close/>
                  <a:moveTo>
                    <a:pt x="46" y="92"/>
                  </a:moveTo>
                  <a:cubicBezTo>
                    <a:pt x="21" y="92"/>
                    <a:pt x="0" y="72"/>
                    <a:pt x="0" y="46"/>
                  </a:cubicBezTo>
                  <a:cubicBezTo>
                    <a:pt x="0" y="21"/>
                    <a:pt x="21" y="0"/>
                    <a:pt x="46" y="0"/>
                  </a:cubicBezTo>
                  <a:cubicBezTo>
                    <a:pt x="71" y="0"/>
                    <a:pt x="92" y="21"/>
                    <a:pt x="92" y="46"/>
                  </a:cubicBezTo>
                  <a:cubicBezTo>
                    <a:pt x="92" y="72"/>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1"/>
            <p:cNvSpPr/>
            <p:nvPr/>
          </p:nvSpPr>
          <p:spPr>
            <a:xfrm>
              <a:off x="5556250" y="3435351"/>
              <a:ext cx="115888" cy="71438"/>
            </a:xfrm>
            <a:custGeom>
              <a:avLst/>
              <a:gdLst/>
              <a:ahLst/>
              <a:cxnLst/>
              <a:rect l="l" t="t" r="r" b="b"/>
              <a:pathLst>
                <a:path w="73" h="45" extrusionOk="0">
                  <a:moveTo>
                    <a:pt x="67" y="45"/>
                  </a:moveTo>
                  <a:lnTo>
                    <a:pt x="33" y="7"/>
                  </a:lnTo>
                  <a:lnTo>
                    <a:pt x="0" y="7"/>
                  </a:lnTo>
                  <a:lnTo>
                    <a:pt x="0" y="0"/>
                  </a:lnTo>
                  <a:lnTo>
                    <a:pt x="36" y="0"/>
                  </a:lnTo>
                  <a:lnTo>
                    <a:pt x="73" y="40"/>
                  </a:lnTo>
                  <a:lnTo>
                    <a:pt x="67"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1"/>
            <p:cNvSpPr/>
            <p:nvPr/>
          </p:nvSpPr>
          <p:spPr>
            <a:xfrm>
              <a:off x="56530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556250"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5162550" y="3435351"/>
              <a:ext cx="115888" cy="71438"/>
            </a:xfrm>
            <a:custGeom>
              <a:avLst/>
              <a:gdLst/>
              <a:ahLst/>
              <a:cxnLst/>
              <a:rect l="l" t="t" r="r" b="b"/>
              <a:pathLst>
                <a:path w="73" h="45" extrusionOk="0">
                  <a:moveTo>
                    <a:pt x="5" y="45"/>
                  </a:moveTo>
                  <a:lnTo>
                    <a:pt x="0" y="40"/>
                  </a:lnTo>
                  <a:lnTo>
                    <a:pt x="37" y="0"/>
                  </a:lnTo>
                  <a:lnTo>
                    <a:pt x="73" y="0"/>
                  </a:lnTo>
                  <a:lnTo>
                    <a:pt x="73" y="7"/>
                  </a:lnTo>
                  <a:lnTo>
                    <a:pt x="40" y="7"/>
                  </a:lnTo>
                  <a:lnTo>
                    <a:pt x="5"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a:off x="51196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a:off x="5095875"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6" y="62"/>
                    <a:pt x="76" y="46"/>
                  </a:cubicBezTo>
                  <a:cubicBezTo>
                    <a:pt x="76" y="30"/>
                    <a:pt x="62" y="17"/>
                    <a:pt x="46" y="17"/>
                  </a:cubicBezTo>
                  <a:close/>
                  <a:moveTo>
                    <a:pt x="46" y="92"/>
                  </a:moveTo>
                  <a:cubicBezTo>
                    <a:pt x="21" y="92"/>
                    <a:pt x="0" y="72"/>
                    <a:pt x="0" y="46"/>
                  </a:cubicBezTo>
                  <a:cubicBezTo>
                    <a:pt x="0" y="21"/>
                    <a:pt x="21" y="0"/>
                    <a:pt x="46" y="0"/>
                  </a:cubicBezTo>
                  <a:cubicBezTo>
                    <a:pt x="72" y="0"/>
                    <a:pt x="92" y="21"/>
                    <a:pt x="92" y="46"/>
                  </a:cubicBezTo>
                  <a:cubicBezTo>
                    <a:pt x="92" y="72"/>
                    <a:pt x="72"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a:off x="5162550" y="3276601"/>
              <a:ext cx="115888" cy="71438"/>
            </a:xfrm>
            <a:custGeom>
              <a:avLst/>
              <a:gdLst/>
              <a:ahLst/>
              <a:cxnLst/>
              <a:rect l="l" t="t" r="r" b="b"/>
              <a:pathLst>
                <a:path w="73" h="45" extrusionOk="0">
                  <a:moveTo>
                    <a:pt x="73" y="45"/>
                  </a:moveTo>
                  <a:lnTo>
                    <a:pt x="37" y="45"/>
                  </a:lnTo>
                  <a:lnTo>
                    <a:pt x="0" y="5"/>
                  </a:lnTo>
                  <a:lnTo>
                    <a:pt x="5" y="0"/>
                  </a:lnTo>
                  <a:lnTo>
                    <a:pt x="40" y="38"/>
                  </a:lnTo>
                  <a:lnTo>
                    <a:pt x="73" y="38"/>
                  </a:lnTo>
                  <a:lnTo>
                    <a:pt x="73"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1"/>
            <p:cNvSpPr/>
            <p:nvPr/>
          </p:nvSpPr>
          <p:spPr>
            <a:xfrm>
              <a:off x="51196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1"/>
            <p:cNvSpPr/>
            <p:nvPr/>
          </p:nvSpPr>
          <p:spPr>
            <a:xfrm>
              <a:off x="5153025"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aphicFrame>
        <p:nvGraphicFramePr>
          <p:cNvPr id="3" name="Table 4">
            <a:extLst>
              <a:ext uri="{FF2B5EF4-FFF2-40B4-BE49-F238E27FC236}">
                <a16:creationId xmlns:a16="http://schemas.microsoft.com/office/drawing/2014/main" id="{E9FBCFBB-A654-9CE9-882A-F826A2A0BD2C}"/>
              </a:ext>
            </a:extLst>
          </p:cNvPr>
          <p:cNvGraphicFramePr>
            <a:graphicFrameLocks noGrp="1"/>
          </p:cNvGraphicFramePr>
          <p:nvPr>
            <p:extLst>
              <p:ext uri="{D42A27DB-BD31-4B8C-83A1-F6EECF244321}">
                <p14:modId xmlns:p14="http://schemas.microsoft.com/office/powerpoint/2010/main" val="3626809371"/>
              </p:ext>
            </p:extLst>
          </p:nvPr>
        </p:nvGraphicFramePr>
        <p:xfrm>
          <a:off x="494399" y="658762"/>
          <a:ext cx="11288385" cy="4516765"/>
        </p:xfrm>
        <a:graphic>
          <a:graphicData uri="http://schemas.openxmlformats.org/drawingml/2006/table">
            <a:tbl>
              <a:tblPr firstRow="1" bandRow="1">
                <a:tableStyleId>{912C8C85-51F0-491E-9774-3900AFEF0FD7}</a:tableStyleId>
              </a:tblPr>
              <a:tblGrid>
                <a:gridCol w="2240586">
                  <a:extLst>
                    <a:ext uri="{9D8B030D-6E8A-4147-A177-3AD203B41FA5}">
                      <a16:colId xmlns:a16="http://schemas.microsoft.com/office/drawing/2014/main" val="2663814446"/>
                    </a:ext>
                  </a:extLst>
                </a:gridCol>
                <a:gridCol w="2326041">
                  <a:extLst>
                    <a:ext uri="{9D8B030D-6E8A-4147-A177-3AD203B41FA5}">
                      <a16:colId xmlns:a16="http://schemas.microsoft.com/office/drawing/2014/main" val="594286363"/>
                    </a:ext>
                  </a:extLst>
                </a:gridCol>
                <a:gridCol w="2240586">
                  <a:extLst>
                    <a:ext uri="{9D8B030D-6E8A-4147-A177-3AD203B41FA5}">
                      <a16:colId xmlns:a16="http://schemas.microsoft.com/office/drawing/2014/main" val="430686108"/>
                    </a:ext>
                  </a:extLst>
                </a:gridCol>
                <a:gridCol w="2240586">
                  <a:extLst>
                    <a:ext uri="{9D8B030D-6E8A-4147-A177-3AD203B41FA5}">
                      <a16:colId xmlns:a16="http://schemas.microsoft.com/office/drawing/2014/main" val="486027616"/>
                    </a:ext>
                  </a:extLst>
                </a:gridCol>
                <a:gridCol w="2240586">
                  <a:extLst>
                    <a:ext uri="{9D8B030D-6E8A-4147-A177-3AD203B41FA5}">
                      <a16:colId xmlns:a16="http://schemas.microsoft.com/office/drawing/2014/main" val="1108201540"/>
                    </a:ext>
                  </a:extLst>
                </a:gridCol>
              </a:tblGrid>
              <a:tr h="725129">
                <a:tc>
                  <a:txBody>
                    <a:bodyPr/>
                    <a:lstStyle/>
                    <a:p>
                      <a:pPr lvl="0" algn="ctr">
                        <a:buNone/>
                      </a:pPr>
                      <a:r>
                        <a:rPr lang="en-IN" sz="1200" b="1">
                          <a:latin typeface="Arial"/>
                        </a:rPr>
                        <a:t>State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IN" sz="1200" b="1">
                          <a:latin typeface="Arial"/>
                        </a:rPr>
                        <a:t>Area Under Paddy </a:t>
                      </a:r>
                      <a:endParaRPr lang="en-IN" sz="1200" b="1">
                        <a:latin typeface="Arial"/>
                        <a:ea typeface="Calibri" panose="020F0502020204030204" pitchFamily="34" charset="0"/>
                        <a:cs typeface="Calibri"/>
                      </a:endParaRPr>
                    </a:p>
                    <a:p>
                      <a:pPr lvl="0" algn="ctr">
                        <a:buNone/>
                      </a:pPr>
                      <a:r>
                        <a:rPr lang="en-IN" sz="1200" b="1">
                          <a:latin typeface="Arial"/>
                        </a:rPr>
                        <a:t>Cultivation (Million Ha)</a:t>
                      </a:r>
                      <a:endParaRPr lang="en-IN" sz="1200" b="1">
                        <a:latin typeface="Arial"/>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IN" sz="1200" b="1">
                          <a:latin typeface="Arial"/>
                        </a:rPr>
                        <a:t>Paddy Yield</a:t>
                      </a:r>
                    </a:p>
                    <a:p>
                      <a:pPr algn="ctr"/>
                      <a:r>
                        <a:rPr lang="en-IN" sz="1200" b="1">
                          <a:latin typeface="Arial"/>
                        </a:rPr>
                        <a:t>(Kg/Ha)</a:t>
                      </a:r>
                      <a:endParaRPr lang="en-IN" sz="1200" b="1">
                        <a:latin typeface="Arial"/>
                        <a:ea typeface="Calibri" panose="020F0502020204030204" pitchFamily="34" charset="0"/>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IN" sz="1200" b="1">
                          <a:latin typeface="Arial"/>
                        </a:rPr>
                        <a:t>Production</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IN" sz="1200" b="1">
                          <a:latin typeface="Arial"/>
                        </a:rPr>
                        <a:t>Stubble (Mt) (S/P=1.2)</a:t>
                      </a:r>
                      <a:endParaRPr lang="en-IN" sz="1200" b="1">
                        <a:latin typeface="Arial"/>
                        <a:ea typeface="Calibri" panose="020F0502020204030204" pitchFamily="34" charset="0"/>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66188393"/>
                  </a:ext>
                </a:extLst>
              </a:tr>
              <a:tr h="303217">
                <a:tc>
                  <a:txBody>
                    <a:bodyPr/>
                    <a:lstStyle/>
                    <a:p>
                      <a:pPr algn="ctr" rtl="0" fontAlgn="b"/>
                      <a:r>
                        <a:rPr lang="en-IN" sz="1200" b="0" u="none" strike="noStrike">
                          <a:solidFill>
                            <a:schemeClr val="tx1"/>
                          </a:solidFill>
                          <a:effectLst/>
                          <a:latin typeface="Arial"/>
                        </a:rPr>
                        <a:t>West Bengal</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5.6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2996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16777.6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20.13</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56281621"/>
                  </a:ext>
                </a:extLst>
              </a:tr>
              <a:tr h="303217">
                <a:tc>
                  <a:txBody>
                    <a:bodyPr/>
                    <a:lstStyle/>
                    <a:p>
                      <a:pPr algn="ctr" rtl="0" fontAlgn="b"/>
                      <a:r>
                        <a:rPr lang="en-IN" sz="1200" b="0" u="none" strike="noStrike">
                          <a:solidFill>
                            <a:schemeClr val="tx1"/>
                          </a:solidFill>
                          <a:effectLst/>
                          <a:latin typeface="Arial"/>
                        </a:rPr>
                        <a:t>Uttar Pradesh</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5.7</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2679</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15270.3</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18.32</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26037083"/>
                  </a:ext>
                </a:extLst>
              </a:tr>
              <a:tr h="303217">
                <a:tc>
                  <a:txBody>
                    <a:bodyPr/>
                    <a:lstStyle/>
                    <a:p>
                      <a:pPr algn="ctr" rtl="0" fontAlgn="b"/>
                      <a:r>
                        <a:rPr lang="en-IN" sz="1200" b="0" u="none" strike="noStrike">
                          <a:solidFill>
                            <a:schemeClr val="tx1"/>
                          </a:solidFill>
                          <a:effectLst/>
                          <a:latin typeface="Arial"/>
                        </a:rPr>
                        <a:t>Punjab</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2.97</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4340</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12889.8</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15.46</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40032803"/>
                  </a:ext>
                </a:extLst>
              </a:tr>
              <a:tr h="303217">
                <a:tc>
                  <a:txBody>
                    <a:bodyPr/>
                    <a:lstStyle/>
                    <a:p>
                      <a:pPr algn="ctr" rtl="0" fontAlgn="b"/>
                      <a:r>
                        <a:rPr lang="en-IN" sz="1200" b="0" u="none" strike="noStrike">
                          <a:solidFill>
                            <a:schemeClr val="tx1"/>
                          </a:solidFill>
                          <a:effectLst/>
                          <a:latin typeface="Arial"/>
                        </a:rPr>
                        <a:t>Telangana</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3.65</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3366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12285.9</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14.74</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531304379"/>
                  </a:ext>
                </a:extLst>
              </a:tr>
              <a:tr h="303217">
                <a:tc>
                  <a:txBody>
                    <a:bodyPr/>
                    <a:lstStyle/>
                    <a:p>
                      <a:pPr algn="ctr" rtl="0" fontAlgn="b"/>
                      <a:r>
                        <a:rPr lang="en-IN" sz="1200" b="0" u="none" strike="noStrike">
                          <a:solidFill>
                            <a:schemeClr val="tx1"/>
                          </a:solidFill>
                          <a:effectLst/>
                          <a:latin typeface="Arial"/>
                        </a:rPr>
                        <a:t>Odisha</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3.94</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2318</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9132.92</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10.95</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725104646"/>
                  </a:ext>
                </a:extLst>
              </a:tr>
              <a:tr h="303217">
                <a:tc>
                  <a:txBody>
                    <a:bodyPr/>
                    <a:lstStyle/>
                    <a:p>
                      <a:pPr algn="ctr" rtl="0" fontAlgn="b"/>
                      <a:r>
                        <a:rPr lang="en-IN" sz="1200" b="0" u="none" strike="noStrike">
                          <a:solidFill>
                            <a:schemeClr val="tx1"/>
                          </a:solidFill>
                          <a:effectLst/>
                          <a:latin typeface="Arial"/>
                        </a:rPr>
                        <a:t>Tamil Nadu</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2.21</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3658</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8084.18</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9.71</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56279286"/>
                  </a:ext>
                </a:extLst>
              </a:tr>
              <a:tr h="303217">
                <a:tc>
                  <a:txBody>
                    <a:bodyPr/>
                    <a:lstStyle/>
                    <a:p>
                      <a:pPr algn="ctr" rtl="0" fontAlgn="b"/>
                      <a:r>
                        <a:rPr lang="en-IN" sz="1200" b="0" u="none" strike="noStrike">
                          <a:solidFill>
                            <a:schemeClr val="tx1"/>
                          </a:solidFill>
                          <a:effectLst/>
                          <a:latin typeface="Arial"/>
                        </a:rPr>
                        <a:t>Chhattisgarh</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3.76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2101</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7899.76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9.48</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53805713"/>
                  </a:ext>
                </a:extLst>
              </a:tr>
              <a:tr h="446284">
                <a:tc>
                  <a:txBody>
                    <a:bodyPr/>
                    <a:lstStyle/>
                    <a:p>
                      <a:pPr algn="ctr" rtl="0" fontAlgn="b"/>
                      <a:r>
                        <a:rPr lang="en-IN" sz="1200" b="0" u="none" strike="noStrike">
                          <a:solidFill>
                            <a:schemeClr val="tx1"/>
                          </a:solidFill>
                          <a:effectLst/>
                          <a:latin typeface="Arial"/>
                        </a:rPr>
                        <a:t>Andhra Pradesh</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2.25</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3470</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7807.5</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9.37</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082761461"/>
                  </a:ext>
                </a:extLst>
              </a:tr>
              <a:tr h="303217">
                <a:tc>
                  <a:txBody>
                    <a:bodyPr/>
                    <a:lstStyle/>
                    <a:p>
                      <a:pPr algn="ctr" rtl="0" fontAlgn="b"/>
                      <a:r>
                        <a:rPr lang="en-IN" sz="1200" b="0" u="none" strike="noStrike">
                          <a:solidFill>
                            <a:schemeClr val="tx1"/>
                          </a:solidFill>
                          <a:effectLst/>
                          <a:latin typeface="Arial"/>
                        </a:rPr>
                        <a:t>Bihar</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3.1</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2282</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7074.2</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8.49</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34581462"/>
                  </a:ext>
                </a:extLst>
              </a:tr>
              <a:tr h="303217">
                <a:tc>
                  <a:txBody>
                    <a:bodyPr/>
                    <a:lstStyle/>
                    <a:p>
                      <a:pPr algn="ctr" rtl="0" fontAlgn="b"/>
                      <a:r>
                        <a:rPr lang="en-IN" sz="1200" b="0" u="none" strike="noStrike">
                          <a:solidFill>
                            <a:schemeClr val="tx1"/>
                          </a:solidFill>
                          <a:effectLst/>
                          <a:latin typeface="Arial"/>
                        </a:rPr>
                        <a:t>Assam</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2.36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2236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5276.96</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6.33</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964357406"/>
                  </a:ext>
                </a:extLst>
              </a:tr>
              <a:tr h="303217">
                <a:tc>
                  <a:txBody>
                    <a:bodyPr/>
                    <a:lstStyle/>
                    <a:p>
                      <a:pPr algn="ctr" rtl="0" fontAlgn="b"/>
                      <a:r>
                        <a:rPr lang="en-IN" sz="1200" b="0" u="none" strike="noStrike">
                          <a:solidFill>
                            <a:schemeClr val="tx1"/>
                          </a:solidFill>
                          <a:effectLst/>
                          <a:latin typeface="Arial"/>
                        </a:rPr>
                        <a:t>Haryana</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
                      <a:r>
                        <a:rPr lang="en-IN" sz="1200" b="0" u="none" strike="noStrike">
                          <a:solidFill>
                            <a:schemeClr val="tx1"/>
                          </a:solidFill>
                          <a:effectLst/>
                          <a:latin typeface="Arial"/>
                        </a:rPr>
                        <a:t>1.41</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ctr"/>
                      <a:r>
                        <a:rPr lang="en-IN" sz="1200" b="0" u="none" strike="noStrike">
                          <a:solidFill>
                            <a:schemeClr val="tx1"/>
                          </a:solidFill>
                          <a:effectLst/>
                          <a:latin typeface="Arial"/>
                        </a:rPr>
                        <a:t>3236.02</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chemeClr val="tx1"/>
                          </a:solidFill>
                          <a:effectLst/>
                          <a:latin typeface="Arial"/>
                        </a:rPr>
                        <a:t>4562.8</a:t>
                      </a:r>
                      <a:endParaRPr lang="en-IN" sz="1200" b="0" i="0" u="none" strike="noStrike">
                        <a:solidFill>
                          <a:schemeClr val="tx1"/>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ctr"/>
                      <a:r>
                        <a:rPr lang="en-IN" sz="1200" b="0" u="none" strike="noStrike">
                          <a:solidFill>
                            <a:srgbClr val="2E2E2E"/>
                          </a:solidFill>
                          <a:effectLst/>
                          <a:latin typeface="Arial"/>
                        </a:rPr>
                        <a:t>4.46</a:t>
                      </a:r>
                      <a:endParaRPr lang="en-IN" sz="1200" b="0"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4918238"/>
                  </a:ext>
                </a:extLst>
              </a:tr>
              <a:tr h="313182">
                <a:tc>
                  <a:txBody>
                    <a:bodyPr/>
                    <a:lstStyle/>
                    <a:p>
                      <a:pPr algn="ctr" rtl="0" fontAlgn="b"/>
                      <a:r>
                        <a:rPr lang="en-IN" sz="1200" b="1">
                          <a:effectLst/>
                          <a:latin typeface="Arial"/>
                        </a:rPr>
                        <a:t>Total</a:t>
                      </a:r>
                      <a:endParaRPr lang="en-IN" sz="1200" b="1">
                        <a:effectLst/>
                        <a:latin typeface="Arial"/>
                        <a:ea typeface="Calibri" panose="020F0502020204030204" pitchFamily="34" charset="0"/>
                        <a:cs typeface="Calibri"/>
                      </a:endParaRPr>
                    </a:p>
                  </a:txBody>
                  <a:tcPr marL="22860" marR="22860" marT="15240" marB="15240"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lgn="ctr" fontAlgn="ctr"/>
                      <a:r>
                        <a:rPr lang="en-IN" sz="1200" b="1" u="none" strike="noStrike">
                          <a:solidFill>
                            <a:srgbClr val="2E2E2E"/>
                          </a:solidFill>
                          <a:effectLst/>
                          <a:latin typeface="Arial"/>
                        </a:rPr>
                        <a:t>36.95</a:t>
                      </a:r>
                      <a:endParaRPr lang="en-IN" sz="1200" b="1"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lgn="ctr" fontAlgn="ctr"/>
                      <a:r>
                        <a:rPr lang="en-IN" sz="1200" b="1" u="none" strike="noStrike">
                          <a:solidFill>
                            <a:srgbClr val="2E2E2E"/>
                          </a:solidFill>
                          <a:effectLst/>
                          <a:latin typeface="Arial"/>
                        </a:rPr>
                        <a:t>32682.02</a:t>
                      </a:r>
                      <a:endParaRPr lang="en-IN" sz="1200" b="1"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lgn="ctr" fontAlgn="ctr"/>
                      <a:r>
                        <a:rPr lang="en-IN" sz="1200" b="1" u="none" strike="noStrike">
                          <a:solidFill>
                            <a:srgbClr val="2E2E2E"/>
                          </a:solidFill>
                          <a:effectLst/>
                          <a:latin typeface="Arial"/>
                        </a:rPr>
                        <a:t>107061.9</a:t>
                      </a:r>
                      <a:endParaRPr lang="en-IN" sz="1200" b="1"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lgn="ctr" fontAlgn="ctr"/>
                      <a:r>
                        <a:rPr lang="en-IN" sz="1200" b="1" u="none" strike="noStrike">
                          <a:solidFill>
                            <a:srgbClr val="2E2E2E"/>
                          </a:solidFill>
                          <a:effectLst/>
                          <a:latin typeface="Arial"/>
                        </a:rPr>
                        <a:t>127.44</a:t>
                      </a:r>
                      <a:endParaRPr lang="en-IN" sz="1200" b="1" i="0" u="none" strike="noStrike">
                        <a:solidFill>
                          <a:srgbClr val="2E2E2E"/>
                        </a:solidFill>
                        <a:effectLst/>
                        <a:latin typeface="Arial"/>
                        <a:ea typeface="Calibri" panose="020F0502020204030204" pitchFamily="34" charset="0"/>
                        <a:cs typeface="Calibri"/>
                      </a:endParaRP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extLst>
                  <a:ext uri="{0D108BD9-81ED-4DB2-BD59-A6C34878D82A}">
                    <a16:rowId xmlns:a16="http://schemas.microsoft.com/office/drawing/2014/main" val="2563266902"/>
                  </a:ext>
                </a:extLst>
              </a:tr>
            </a:tbl>
          </a:graphicData>
        </a:graphic>
      </p:graphicFrame>
      <p:sp>
        <p:nvSpPr>
          <p:cNvPr id="5" name="TextBox 4">
            <a:extLst>
              <a:ext uri="{FF2B5EF4-FFF2-40B4-BE49-F238E27FC236}">
                <a16:creationId xmlns:a16="http://schemas.microsoft.com/office/drawing/2014/main" id="{5B87412D-A59A-2035-2539-C25BEAC16360}"/>
              </a:ext>
            </a:extLst>
          </p:cNvPr>
          <p:cNvSpPr txBox="1"/>
          <p:nvPr/>
        </p:nvSpPr>
        <p:spPr>
          <a:xfrm>
            <a:off x="491728" y="5460660"/>
            <a:ext cx="11295510" cy="430887"/>
          </a:xfrm>
          <a:prstGeom prst="rect">
            <a:avLst/>
          </a:prstGeom>
          <a:noFill/>
        </p:spPr>
        <p:txBody>
          <a:bodyPr wrap="square" lIns="91440" tIns="45720" rIns="91440" bIns="45720" rtlCol="0" anchor="t">
            <a:spAutoFit/>
          </a:bodyPr>
          <a:lstStyle/>
          <a:p>
            <a:r>
              <a:rPr lang="en-US" sz="1100" b="0" i="0">
                <a:solidFill>
                  <a:srgbClr val="1F1F1F"/>
                </a:solidFill>
                <a:effectLst/>
              </a:rPr>
              <a:t>Source: Agricultural Statistics at a Glance, 2021, Ministry of Agriculture and Farmers Welfare, Government of India.</a:t>
            </a:r>
          </a:p>
          <a:p>
            <a:r>
              <a:rPr lang="en-US" sz="1100" b="0" i="0">
                <a:solidFill>
                  <a:srgbClr val="1F1F1F"/>
                </a:solidFill>
                <a:effectLst/>
              </a:rPr>
              <a:t>Source: International Rice research Institute</a:t>
            </a:r>
            <a:endParaRPr lang="en-IN" sz="1100"/>
          </a:p>
        </p:txBody>
      </p:sp>
    </p:spTree>
    <p:extLst>
      <p:ext uri="{BB962C8B-B14F-4D97-AF65-F5344CB8AC3E}">
        <p14:creationId xmlns:p14="http://schemas.microsoft.com/office/powerpoint/2010/main" val="353936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0" y="-204048"/>
            <a:ext cx="10972800" cy="864096"/>
          </a:xfrm>
          <a:prstGeom prst="rect">
            <a:avLst/>
          </a:prstGeom>
          <a:noFill/>
          <a:ln>
            <a:noFill/>
          </a:ln>
        </p:spPr>
        <p:txBody>
          <a:bodyPr spcFirstLastPara="1" wrap="square" lIns="91425" tIns="45700" rIns="91425" bIns="45700" anchor="ctr" anchorCtr="0">
            <a:normAutofit/>
          </a:bodyPr>
          <a:lstStyle/>
          <a:p>
            <a:r>
              <a:rPr lang="en-IN"/>
              <a:t>Annexure 3 : Business Model Analysis</a:t>
            </a:r>
            <a:endParaRPr/>
          </a:p>
        </p:txBody>
      </p:sp>
      <p:grpSp>
        <p:nvGrpSpPr>
          <p:cNvPr id="32" name="Google Shape;32;p1" descr="{&quot;Key&quot;:&quot;POWER_USER_SHAPE_ICON&quot;,&quot;Value&quot;:&quot;POWER_USER_SHAPE_ICON_STYLE_1&quot;}"/>
          <p:cNvGrpSpPr/>
          <p:nvPr/>
        </p:nvGrpSpPr>
        <p:grpSpPr>
          <a:xfrm>
            <a:off x="4762687" y="1872743"/>
            <a:ext cx="634238" cy="367355"/>
            <a:chOff x="5095875" y="3181351"/>
            <a:chExt cx="641351" cy="371475"/>
          </a:xfrm>
        </p:grpSpPr>
        <p:sp>
          <p:nvSpPr>
            <p:cNvPr id="33" name="Google Shape;33;p1"/>
            <p:cNvSpPr/>
            <p:nvPr/>
          </p:nvSpPr>
          <p:spPr>
            <a:xfrm>
              <a:off x="5311775" y="3300413"/>
              <a:ext cx="211138" cy="18256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
            <p:cNvSpPr/>
            <p:nvPr/>
          </p:nvSpPr>
          <p:spPr>
            <a:xfrm>
              <a:off x="5392738" y="3357563"/>
              <a:ext cx="49213"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
            <p:cNvSpPr/>
            <p:nvPr/>
          </p:nvSpPr>
          <p:spPr>
            <a:xfrm>
              <a:off x="5659438"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
            <p:cNvSpPr/>
            <p:nvPr/>
          </p:nvSpPr>
          <p:spPr>
            <a:xfrm>
              <a:off x="5681663"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1"/>
            <p:cNvSpPr/>
            <p:nvPr/>
          </p:nvSpPr>
          <p:spPr>
            <a:xfrm>
              <a:off x="5659438"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 name="Google Shape;38;p1"/>
            <p:cNvSpPr/>
            <p:nvPr/>
          </p:nvSpPr>
          <p:spPr>
            <a:xfrm>
              <a:off x="5124450"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 name="Google Shape;39;p1"/>
            <p:cNvSpPr/>
            <p:nvPr/>
          </p:nvSpPr>
          <p:spPr>
            <a:xfrm>
              <a:off x="5102225"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1"/>
            <p:cNvSpPr/>
            <p:nvPr/>
          </p:nvSpPr>
          <p:spPr>
            <a:xfrm>
              <a:off x="5124450"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1"/>
            <p:cNvSpPr/>
            <p:nvPr/>
          </p:nvSpPr>
          <p:spPr>
            <a:xfrm>
              <a:off x="5307013" y="3295651"/>
              <a:ext cx="220663" cy="193675"/>
            </a:xfrm>
            <a:custGeom>
              <a:avLst/>
              <a:gdLst/>
              <a:ahLst/>
              <a:cxnLst/>
              <a:rect l="l" t="t" r="r" b="b"/>
              <a:pathLst>
                <a:path w="328" h="286" extrusionOk="0">
                  <a:moveTo>
                    <a:pt x="16" y="269"/>
                  </a:moveTo>
                  <a:lnTo>
                    <a:pt x="312" y="269"/>
                  </a:lnTo>
                  <a:lnTo>
                    <a:pt x="312" y="16"/>
                  </a:lnTo>
                  <a:lnTo>
                    <a:pt x="16" y="16"/>
                  </a:lnTo>
                  <a:lnTo>
                    <a:pt x="16" y="269"/>
                  </a:lnTo>
                  <a:close/>
                  <a:moveTo>
                    <a:pt x="328" y="286"/>
                  </a:moveTo>
                  <a:lnTo>
                    <a:pt x="0" y="286"/>
                  </a:lnTo>
                  <a:lnTo>
                    <a:pt x="0" y="0"/>
                  </a:lnTo>
                  <a:lnTo>
                    <a:pt x="328" y="0"/>
                  </a:lnTo>
                  <a:lnTo>
                    <a:pt x="328" y="2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 name="Google Shape;42;p1"/>
            <p:cNvSpPr/>
            <p:nvPr/>
          </p:nvSpPr>
          <p:spPr>
            <a:xfrm>
              <a:off x="5334000" y="3181351"/>
              <a:ext cx="166688" cy="125413"/>
            </a:xfrm>
            <a:custGeom>
              <a:avLst/>
              <a:gdLst/>
              <a:ahLst/>
              <a:cxnLst/>
              <a:rect l="l" t="t" r="r" b="b"/>
              <a:pathLst>
                <a:path w="245" h="186" extrusionOk="0">
                  <a:moveTo>
                    <a:pt x="245" y="186"/>
                  </a:moveTo>
                  <a:lnTo>
                    <a:pt x="201" y="186"/>
                  </a:lnTo>
                  <a:lnTo>
                    <a:pt x="201" y="170"/>
                  </a:lnTo>
                  <a:lnTo>
                    <a:pt x="229" y="170"/>
                  </a:lnTo>
                  <a:lnTo>
                    <a:pt x="229" y="122"/>
                  </a:lnTo>
                  <a:cubicBezTo>
                    <a:pt x="229" y="64"/>
                    <a:pt x="181" y="16"/>
                    <a:pt x="123" y="16"/>
                  </a:cubicBezTo>
                  <a:cubicBezTo>
                    <a:pt x="65" y="16"/>
                    <a:pt x="17" y="64"/>
                    <a:pt x="17" y="122"/>
                  </a:cubicBezTo>
                  <a:lnTo>
                    <a:pt x="17" y="170"/>
                  </a:lnTo>
                  <a:lnTo>
                    <a:pt x="45" y="170"/>
                  </a:lnTo>
                  <a:lnTo>
                    <a:pt x="45" y="186"/>
                  </a:lnTo>
                  <a:lnTo>
                    <a:pt x="0" y="186"/>
                  </a:lnTo>
                  <a:lnTo>
                    <a:pt x="0" y="122"/>
                  </a:lnTo>
                  <a:cubicBezTo>
                    <a:pt x="0" y="55"/>
                    <a:pt x="55" y="0"/>
                    <a:pt x="123" y="0"/>
                  </a:cubicBezTo>
                  <a:cubicBezTo>
                    <a:pt x="190" y="0"/>
                    <a:pt x="245" y="55"/>
                    <a:pt x="245" y="122"/>
                  </a:cubicBezTo>
                  <a:lnTo>
                    <a:pt x="245" y="1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 name="Google Shape;43;p1"/>
            <p:cNvSpPr/>
            <p:nvPr/>
          </p:nvSpPr>
          <p:spPr>
            <a:xfrm>
              <a:off x="5386388" y="3351213"/>
              <a:ext cx="61913" cy="61913"/>
            </a:xfrm>
            <a:custGeom>
              <a:avLst/>
              <a:gdLst/>
              <a:ahLst/>
              <a:cxnLst/>
              <a:rect l="l" t="t" r="r" b="b"/>
              <a:pathLst>
                <a:path w="91" h="91" extrusionOk="0">
                  <a:moveTo>
                    <a:pt x="46" y="17"/>
                  </a:moveTo>
                  <a:cubicBezTo>
                    <a:pt x="30" y="17"/>
                    <a:pt x="17" y="30"/>
                    <a:pt x="17" y="46"/>
                  </a:cubicBezTo>
                  <a:cubicBezTo>
                    <a:pt x="17" y="62"/>
                    <a:pt x="30" y="75"/>
                    <a:pt x="46" y="75"/>
                  </a:cubicBezTo>
                  <a:cubicBezTo>
                    <a:pt x="62" y="75"/>
                    <a:pt x="75" y="62"/>
                    <a:pt x="75" y="46"/>
                  </a:cubicBezTo>
                  <a:cubicBezTo>
                    <a:pt x="75" y="30"/>
                    <a:pt x="62" y="17"/>
                    <a:pt x="46" y="17"/>
                  </a:cubicBezTo>
                  <a:close/>
                  <a:moveTo>
                    <a:pt x="46" y="91"/>
                  </a:moveTo>
                  <a:cubicBezTo>
                    <a:pt x="21" y="91"/>
                    <a:pt x="0" y="71"/>
                    <a:pt x="0" y="46"/>
                  </a:cubicBezTo>
                  <a:cubicBezTo>
                    <a:pt x="0" y="21"/>
                    <a:pt x="21" y="0"/>
                    <a:pt x="46" y="0"/>
                  </a:cubicBezTo>
                  <a:cubicBezTo>
                    <a:pt x="71" y="0"/>
                    <a:pt x="91" y="21"/>
                    <a:pt x="91" y="46"/>
                  </a:cubicBezTo>
                  <a:cubicBezTo>
                    <a:pt x="91" y="71"/>
                    <a:pt x="71" y="91"/>
                    <a:pt x="46" y="91"/>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1"/>
            <p:cNvSpPr/>
            <p:nvPr/>
          </p:nvSpPr>
          <p:spPr>
            <a:xfrm>
              <a:off x="5411788" y="3408363"/>
              <a:ext cx="11113" cy="365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1"/>
            <p:cNvSpPr/>
            <p:nvPr/>
          </p:nvSpPr>
          <p:spPr>
            <a:xfrm>
              <a:off x="5556250" y="3276601"/>
              <a:ext cx="115888" cy="71438"/>
            </a:xfrm>
            <a:custGeom>
              <a:avLst/>
              <a:gdLst/>
              <a:ahLst/>
              <a:cxnLst/>
              <a:rect l="l" t="t" r="r" b="b"/>
              <a:pathLst>
                <a:path w="73" h="45" extrusionOk="0">
                  <a:moveTo>
                    <a:pt x="36" y="45"/>
                  </a:moveTo>
                  <a:lnTo>
                    <a:pt x="0" y="45"/>
                  </a:lnTo>
                  <a:lnTo>
                    <a:pt x="0" y="38"/>
                  </a:lnTo>
                  <a:lnTo>
                    <a:pt x="33" y="38"/>
                  </a:lnTo>
                  <a:lnTo>
                    <a:pt x="67" y="0"/>
                  </a:lnTo>
                  <a:lnTo>
                    <a:pt x="73" y="5"/>
                  </a:lnTo>
                  <a:lnTo>
                    <a:pt x="36"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1"/>
            <p:cNvSpPr/>
            <p:nvPr/>
          </p:nvSpPr>
          <p:spPr>
            <a:xfrm>
              <a:off x="56530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1"/>
            <p:cNvSpPr/>
            <p:nvPr/>
          </p:nvSpPr>
          <p:spPr>
            <a:xfrm>
              <a:off x="5675313"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5" y="62"/>
                    <a:pt x="75" y="46"/>
                  </a:cubicBezTo>
                  <a:cubicBezTo>
                    <a:pt x="75" y="30"/>
                    <a:pt x="62" y="17"/>
                    <a:pt x="46" y="17"/>
                  </a:cubicBezTo>
                  <a:close/>
                  <a:moveTo>
                    <a:pt x="46" y="92"/>
                  </a:moveTo>
                  <a:cubicBezTo>
                    <a:pt x="21" y="92"/>
                    <a:pt x="0" y="72"/>
                    <a:pt x="0" y="46"/>
                  </a:cubicBezTo>
                  <a:cubicBezTo>
                    <a:pt x="0" y="21"/>
                    <a:pt x="21" y="0"/>
                    <a:pt x="46" y="0"/>
                  </a:cubicBezTo>
                  <a:cubicBezTo>
                    <a:pt x="71" y="0"/>
                    <a:pt x="92" y="21"/>
                    <a:pt x="92" y="46"/>
                  </a:cubicBezTo>
                  <a:cubicBezTo>
                    <a:pt x="92" y="72"/>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1"/>
            <p:cNvSpPr/>
            <p:nvPr/>
          </p:nvSpPr>
          <p:spPr>
            <a:xfrm>
              <a:off x="5556250" y="3435351"/>
              <a:ext cx="115888" cy="71438"/>
            </a:xfrm>
            <a:custGeom>
              <a:avLst/>
              <a:gdLst/>
              <a:ahLst/>
              <a:cxnLst/>
              <a:rect l="l" t="t" r="r" b="b"/>
              <a:pathLst>
                <a:path w="73" h="45" extrusionOk="0">
                  <a:moveTo>
                    <a:pt x="67" y="45"/>
                  </a:moveTo>
                  <a:lnTo>
                    <a:pt x="33" y="7"/>
                  </a:lnTo>
                  <a:lnTo>
                    <a:pt x="0" y="7"/>
                  </a:lnTo>
                  <a:lnTo>
                    <a:pt x="0" y="0"/>
                  </a:lnTo>
                  <a:lnTo>
                    <a:pt x="36" y="0"/>
                  </a:lnTo>
                  <a:lnTo>
                    <a:pt x="73" y="40"/>
                  </a:lnTo>
                  <a:lnTo>
                    <a:pt x="67"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1"/>
            <p:cNvSpPr/>
            <p:nvPr/>
          </p:nvSpPr>
          <p:spPr>
            <a:xfrm>
              <a:off x="56530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556250"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5162550" y="3435351"/>
              <a:ext cx="115888" cy="71438"/>
            </a:xfrm>
            <a:custGeom>
              <a:avLst/>
              <a:gdLst/>
              <a:ahLst/>
              <a:cxnLst/>
              <a:rect l="l" t="t" r="r" b="b"/>
              <a:pathLst>
                <a:path w="73" h="45" extrusionOk="0">
                  <a:moveTo>
                    <a:pt x="5" y="45"/>
                  </a:moveTo>
                  <a:lnTo>
                    <a:pt x="0" y="40"/>
                  </a:lnTo>
                  <a:lnTo>
                    <a:pt x="37" y="0"/>
                  </a:lnTo>
                  <a:lnTo>
                    <a:pt x="73" y="0"/>
                  </a:lnTo>
                  <a:lnTo>
                    <a:pt x="73" y="7"/>
                  </a:lnTo>
                  <a:lnTo>
                    <a:pt x="40" y="7"/>
                  </a:lnTo>
                  <a:lnTo>
                    <a:pt x="5"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a:off x="51196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a:off x="5095875"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6" y="62"/>
                    <a:pt x="76" y="46"/>
                  </a:cubicBezTo>
                  <a:cubicBezTo>
                    <a:pt x="76" y="30"/>
                    <a:pt x="62" y="17"/>
                    <a:pt x="46" y="17"/>
                  </a:cubicBezTo>
                  <a:close/>
                  <a:moveTo>
                    <a:pt x="46" y="92"/>
                  </a:moveTo>
                  <a:cubicBezTo>
                    <a:pt x="21" y="92"/>
                    <a:pt x="0" y="72"/>
                    <a:pt x="0" y="46"/>
                  </a:cubicBezTo>
                  <a:cubicBezTo>
                    <a:pt x="0" y="21"/>
                    <a:pt x="21" y="0"/>
                    <a:pt x="46" y="0"/>
                  </a:cubicBezTo>
                  <a:cubicBezTo>
                    <a:pt x="72" y="0"/>
                    <a:pt x="92" y="21"/>
                    <a:pt x="92" y="46"/>
                  </a:cubicBezTo>
                  <a:cubicBezTo>
                    <a:pt x="92" y="72"/>
                    <a:pt x="72"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a:off x="5162550" y="3276601"/>
              <a:ext cx="115888" cy="71438"/>
            </a:xfrm>
            <a:custGeom>
              <a:avLst/>
              <a:gdLst/>
              <a:ahLst/>
              <a:cxnLst/>
              <a:rect l="l" t="t" r="r" b="b"/>
              <a:pathLst>
                <a:path w="73" h="45" extrusionOk="0">
                  <a:moveTo>
                    <a:pt x="73" y="45"/>
                  </a:moveTo>
                  <a:lnTo>
                    <a:pt x="37" y="45"/>
                  </a:lnTo>
                  <a:lnTo>
                    <a:pt x="0" y="5"/>
                  </a:lnTo>
                  <a:lnTo>
                    <a:pt x="5" y="0"/>
                  </a:lnTo>
                  <a:lnTo>
                    <a:pt x="40" y="38"/>
                  </a:lnTo>
                  <a:lnTo>
                    <a:pt x="73" y="38"/>
                  </a:lnTo>
                  <a:lnTo>
                    <a:pt x="73"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1"/>
            <p:cNvSpPr/>
            <p:nvPr/>
          </p:nvSpPr>
          <p:spPr>
            <a:xfrm>
              <a:off x="51196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1"/>
            <p:cNvSpPr/>
            <p:nvPr/>
          </p:nvSpPr>
          <p:spPr>
            <a:xfrm>
              <a:off x="5153025"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aphicFrame>
        <p:nvGraphicFramePr>
          <p:cNvPr id="8" name="Table 7">
            <a:extLst>
              <a:ext uri="{FF2B5EF4-FFF2-40B4-BE49-F238E27FC236}">
                <a16:creationId xmlns:a16="http://schemas.microsoft.com/office/drawing/2014/main" id="{C2E39937-E521-2037-8B84-C20CBFD99492}"/>
              </a:ext>
            </a:extLst>
          </p:cNvPr>
          <p:cNvGraphicFramePr>
            <a:graphicFrameLocks noGrp="1"/>
          </p:cNvGraphicFramePr>
          <p:nvPr>
            <p:extLst>
              <p:ext uri="{D42A27DB-BD31-4B8C-83A1-F6EECF244321}">
                <p14:modId xmlns:p14="http://schemas.microsoft.com/office/powerpoint/2010/main" val="1469591668"/>
              </p:ext>
            </p:extLst>
          </p:nvPr>
        </p:nvGraphicFramePr>
        <p:xfrm>
          <a:off x="265043" y="1129140"/>
          <a:ext cx="5554870" cy="4381500"/>
        </p:xfrm>
        <a:graphic>
          <a:graphicData uri="http://schemas.openxmlformats.org/drawingml/2006/table">
            <a:tbl>
              <a:tblPr firstRow="1" bandRow="1">
                <a:tableStyleId>{912C8C85-51F0-491E-9774-3900AFEF0FD7}</a:tableStyleId>
              </a:tblPr>
              <a:tblGrid>
                <a:gridCol w="1957866">
                  <a:extLst>
                    <a:ext uri="{9D8B030D-6E8A-4147-A177-3AD203B41FA5}">
                      <a16:colId xmlns:a16="http://schemas.microsoft.com/office/drawing/2014/main" val="936441080"/>
                    </a:ext>
                  </a:extLst>
                </a:gridCol>
                <a:gridCol w="1946478">
                  <a:extLst>
                    <a:ext uri="{9D8B030D-6E8A-4147-A177-3AD203B41FA5}">
                      <a16:colId xmlns:a16="http://schemas.microsoft.com/office/drawing/2014/main" val="1962664965"/>
                    </a:ext>
                  </a:extLst>
                </a:gridCol>
                <a:gridCol w="1650526">
                  <a:extLst>
                    <a:ext uri="{9D8B030D-6E8A-4147-A177-3AD203B41FA5}">
                      <a16:colId xmlns:a16="http://schemas.microsoft.com/office/drawing/2014/main" val="2196858994"/>
                    </a:ext>
                  </a:extLst>
                </a:gridCol>
              </a:tblGrid>
              <a:tr h="220869">
                <a:tc>
                  <a:txBody>
                    <a:bodyPr/>
                    <a:lstStyle/>
                    <a:p>
                      <a:pPr rtl="0" fontAlgn="b"/>
                      <a:r>
                        <a:rPr lang="en-GB" sz="1200">
                          <a:effectLst/>
                        </a:rPr>
                        <a:t>Head</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Explanation</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Amount (Rs.)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099240906"/>
                  </a:ext>
                </a:extLst>
              </a:tr>
              <a:tr h="200025">
                <a:tc>
                  <a:txBody>
                    <a:bodyPr/>
                    <a:lstStyle/>
                    <a:p>
                      <a:pPr rtl="0" fontAlgn="b"/>
                      <a:r>
                        <a:rPr lang="en-GB" sz="1200">
                          <a:effectLst/>
                        </a:rPr>
                        <a:t>Revenue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For 6 18MW plants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2,554,416,000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45610714"/>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939147067"/>
                  </a:ext>
                </a:extLst>
              </a:tr>
              <a:tr h="200025">
                <a:tc>
                  <a:txBody>
                    <a:bodyPr/>
                    <a:lstStyle/>
                    <a:p>
                      <a:pPr rtl="0" fontAlgn="b"/>
                      <a:r>
                        <a:rPr lang="en-GB" sz="1200">
                          <a:effectLst/>
                        </a:rPr>
                        <a:t>Cost of Baler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Amortization over 15Yr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155,555,556</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9888602"/>
                  </a:ext>
                </a:extLst>
              </a:tr>
              <a:tr h="200025">
                <a:tc>
                  <a:txBody>
                    <a:bodyPr/>
                    <a:lstStyle/>
                    <a:p>
                      <a:pPr rtl="0" fontAlgn="b"/>
                      <a:r>
                        <a:rPr lang="en-GB" sz="1200">
                          <a:effectLst/>
                        </a:rPr>
                        <a:t>Cost of Tractor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Amortization over 15Yr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100,000,000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084447964"/>
                  </a:ext>
                </a:extLst>
              </a:tr>
              <a:tr h="200025">
                <a:tc>
                  <a:txBody>
                    <a:bodyPr/>
                    <a:lstStyle/>
                    <a:p>
                      <a:pPr rtl="0" fontAlgn="b"/>
                      <a:r>
                        <a:rPr lang="en-GB" sz="1200">
                          <a:effectLst/>
                        </a:rPr>
                        <a:t>Cost of Diesel</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Estimated as Rs.1K, considering the Baler rent per acre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646,484,632</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53176307"/>
                  </a:ext>
                </a:extLst>
              </a:tr>
              <a:tr h="200025">
                <a:tc>
                  <a:txBody>
                    <a:bodyPr/>
                    <a:lstStyle/>
                    <a:p>
                      <a:pPr rtl="0" fontAlgn="b"/>
                      <a:r>
                        <a:rPr lang="en-GB" sz="1200">
                          <a:effectLst/>
                        </a:rPr>
                        <a:t>Cost of Labour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3 semi-skilled labourer required for each</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30,975,000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157291626"/>
                  </a:ext>
                </a:extLst>
              </a:tr>
              <a:tr h="200025">
                <a:tc>
                  <a:txBody>
                    <a:bodyPr/>
                    <a:lstStyle/>
                    <a:p>
                      <a:pPr rtl="0" fontAlgn="b"/>
                      <a:r>
                        <a:rPr lang="en-GB" sz="1200">
                          <a:effectLst/>
                        </a:rPr>
                        <a:t>Cost of Farmer Payment</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Rs. 0/ton paid to Farmer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018317142"/>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249885624"/>
                  </a:ext>
                </a:extLst>
              </a:tr>
              <a:tr h="200025">
                <a:tc>
                  <a:txBody>
                    <a:bodyPr/>
                    <a:lstStyle/>
                    <a:p>
                      <a:pPr rtl="0" fontAlgn="b"/>
                      <a:r>
                        <a:rPr lang="en-GB" sz="1200">
                          <a:effectLst/>
                        </a:rPr>
                        <a:t>Cost of Transportation to Plant</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50KM distance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68,693,980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166396670"/>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77590464"/>
                  </a:ext>
                </a:extLst>
              </a:tr>
              <a:tr h="200025">
                <a:tc>
                  <a:txBody>
                    <a:bodyPr/>
                    <a:lstStyle/>
                    <a:p>
                      <a:pPr rtl="0" fontAlgn="b"/>
                      <a:r>
                        <a:rPr lang="en-GB" sz="1200">
                          <a:effectLst/>
                        </a:rPr>
                        <a:t>Maintenance Cost for Truck &amp; Baler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@20% of cost over lifetime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466,666,667</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673835717"/>
                  </a:ext>
                </a:extLst>
              </a:tr>
              <a:tr h="200025">
                <a:tc>
                  <a:txBody>
                    <a:bodyPr/>
                    <a:lstStyle/>
                    <a:p>
                      <a:pPr rtl="0" fontAlgn="b"/>
                      <a:r>
                        <a:rPr lang="en-GB" sz="1200">
                          <a:effectLst/>
                        </a:rPr>
                        <a:t>Overheads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@10%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146,837,583</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480307331"/>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9749175"/>
                  </a:ext>
                </a:extLst>
              </a:tr>
              <a:tr h="200025">
                <a:tc>
                  <a:txBody>
                    <a:bodyPr/>
                    <a:lstStyle/>
                    <a:p>
                      <a:pPr rtl="0" fontAlgn="b"/>
                      <a:r>
                        <a:rPr lang="en-GB" sz="1200" b="1">
                          <a:effectLst/>
                        </a:rPr>
                        <a:t>Total P/L</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rtl="0" fontAlgn="b"/>
                      <a:endParaRPr lang="en-GB" b="1">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lgn="r" rtl="0" fontAlgn="b"/>
                      <a:r>
                        <a:rPr lang="en-GB" sz="1200" b="1">
                          <a:effectLst/>
                        </a:rPr>
                        <a:t>939,202,583</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extLst>
                  <a:ext uri="{0D108BD9-81ED-4DB2-BD59-A6C34878D82A}">
                    <a16:rowId xmlns:a16="http://schemas.microsoft.com/office/drawing/2014/main" val="3048846858"/>
                  </a:ext>
                </a:extLst>
              </a:tr>
            </a:tbl>
          </a:graphicData>
        </a:graphic>
      </p:graphicFrame>
      <p:sp>
        <p:nvSpPr>
          <p:cNvPr id="10" name="Google Shape;162;p5">
            <a:extLst>
              <a:ext uri="{FF2B5EF4-FFF2-40B4-BE49-F238E27FC236}">
                <a16:creationId xmlns:a16="http://schemas.microsoft.com/office/drawing/2014/main" id="{07E021A3-AC29-E833-878D-99566E9304B0}"/>
              </a:ext>
            </a:extLst>
          </p:cNvPr>
          <p:cNvSpPr/>
          <p:nvPr/>
        </p:nvSpPr>
        <p:spPr>
          <a:xfrm>
            <a:off x="264504" y="584894"/>
            <a:ext cx="5556046" cy="450355"/>
          </a:xfrm>
          <a:prstGeom prst="rect">
            <a:avLst/>
          </a:prstGeom>
          <a:solidFill>
            <a:schemeClr val="accent6">
              <a:lumMod val="75000"/>
            </a:schemeClr>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200">
                <a:solidFill>
                  <a:srgbClr val="FFFFFF"/>
                </a:solidFill>
              </a:rPr>
              <a:t>Case 1: Balers are bought &amp; farmers are provided field clearing service but are not paid</a:t>
            </a:r>
            <a:endParaRPr lang="en-US" sz="1200"/>
          </a:p>
        </p:txBody>
      </p:sp>
      <p:sp>
        <p:nvSpPr>
          <p:cNvPr id="11" name="Google Shape;162;p5">
            <a:extLst>
              <a:ext uri="{FF2B5EF4-FFF2-40B4-BE49-F238E27FC236}">
                <a16:creationId xmlns:a16="http://schemas.microsoft.com/office/drawing/2014/main" id="{A00A3E9C-04ED-84F9-FAAD-23129803C03D}"/>
              </a:ext>
            </a:extLst>
          </p:cNvPr>
          <p:cNvSpPr/>
          <p:nvPr/>
        </p:nvSpPr>
        <p:spPr>
          <a:xfrm>
            <a:off x="264504" y="5659372"/>
            <a:ext cx="5556046" cy="881051"/>
          </a:xfrm>
          <a:prstGeom prst="rect">
            <a:avLst/>
          </a:prstGeom>
          <a:solidFill>
            <a:schemeClr val="bg1">
              <a:lumMod val="95000"/>
            </a:schemeClr>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200" b="1">
                <a:solidFill>
                  <a:schemeClr val="tx1"/>
                </a:solidFill>
              </a:rPr>
              <a:t>Insight</a:t>
            </a:r>
            <a:r>
              <a:rPr lang="en-GB" sz="1200">
                <a:solidFill>
                  <a:schemeClr val="tx1"/>
                </a:solidFill>
              </a:rPr>
              <a:t>: While the model generates high profits (Rs. 93Cr), this is not feasible for the long term. Once bale gets commoditized, the farmer may no longer be willing to give bales for free, despite the services offered.</a:t>
            </a:r>
            <a:endParaRPr lang="en-US" sz="1200">
              <a:solidFill>
                <a:schemeClr val="tx1"/>
              </a:solidFill>
            </a:endParaRPr>
          </a:p>
        </p:txBody>
      </p:sp>
      <p:graphicFrame>
        <p:nvGraphicFramePr>
          <p:cNvPr id="13" name="Table 12">
            <a:extLst>
              <a:ext uri="{FF2B5EF4-FFF2-40B4-BE49-F238E27FC236}">
                <a16:creationId xmlns:a16="http://schemas.microsoft.com/office/drawing/2014/main" id="{B4C45481-0D40-5BE9-6BA9-4183083FD508}"/>
              </a:ext>
            </a:extLst>
          </p:cNvPr>
          <p:cNvGraphicFramePr>
            <a:graphicFrameLocks noGrp="1"/>
          </p:cNvGraphicFramePr>
          <p:nvPr>
            <p:extLst>
              <p:ext uri="{D42A27DB-BD31-4B8C-83A1-F6EECF244321}">
                <p14:modId xmlns:p14="http://schemas.microsoft.com/office/powerpoint/2010/main" val="2031568425"/>
              </p:ext>
            </p:extLst>
          </p:nvPr>
        </p:nvGraphicFramePr>
        <p:xfrm>
          <a:off x="6338956" y="1126434"/>
          <a:ext cx="5613743" cy="4489904"/>
        </p:xfrm>
        <a:graphic>
          <a:graphicData uri="http://schemas.openxmlformats.org/drawingml/2006/table">
            <a:tbl>
              <a:tblPr firstRow="1" bandRow="1">
                <a:tableStyleId>{912C8C85-51F0-491E-9774-3900AFEF0FD7}</a:tableStyleId>
              </a:tblPr>
              <a:tblGrid>
                <a:gridCol w="1668767">
                  <a:extLst>
                    <a:ext uri="{9D8B030D-6E8A-4147-A177-3AD203B41FA5}">
                      <a16:colId xmlns:a16="http://schemas.microsoft.com/office/drawing/2014/main" val="1672463370"/>
                    </a:ext>
                  </a:extLst>
                </a:gridCol>
                <a:gridCol w="2395654">
                  <a:extLst>
                    <a:ext uri="{9D8B030D-6E8A-4147-A177-3AD203B41FA5}">
                      <a16:colId xmlns:a16="http://schemas.microsoft.com/office/drawing/2014/main" val="2492710196"/>
                    </a:ext>
                  </a:extLst>
                </a:gridCol>
                <a:gridCol w="1549322">
                  <a:extLst>
                    <a:ext uri="{9D8B030D-6E8A-4147-A177-3AD203B41FA5}">
                      <a16:colId xmlns:a16="http://schemas.microsoft.com/office/drawing/2014/main" val="2145905081"/>
                    </a:ext>
                  </a:extLst>
                </a:gridCol>
              </a:tblGrid>
              <a:tr h="224164">
                <a:tc>
                  <a:txBody>
                    <a:bodyPr/>
                    <a:lstStyle/>
                    <a:p>
                      <a:pPr rtl="0" fontAlgn="b"/>
                      <a:r>
                        <a:rPr lang="en-GB" sz="1200">
                          <a:effectLst/>
                        </a:rPr>
                        <a:t>Head</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Explanation</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Amount (Rs.)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728593542"/>
                  </a:ext>
                </a:extLst>
              </a:tr>
              <a:tr h="224164">
                <a:tc>
                  <a:txBody>
                    <a:bodyPr/>
                    <a:lstStyle/>
                    <a:p>
                      <a:pPr rtl="0" fontAlgn="b"/>
                      <a:r>
                        <a:rPr lang="en-GB" sz="1200">
                          <a:effectLst/>
                        </a:rPr>
                        <a:t>Revenue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For 6 18MW plants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2,554,416,000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16338807"/>
                  </a:ext>
                </a:extLst>
              </a:tr>
              <a:tr h="245514">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33074215"/>
                  </a:ext>
                </a:extLst>
              </a:tr>
              <a:tr h="224164">
                <a:tc>
                  <a:txBody>
                    <a:bodyPr/>
                    <a:lstStyle/>
                    <a:p>
                      <a:pPr rtl="0" fontAlgn="b"/>
                      <a:r>
                        <a:rPr lang="en-GB" sz="1200">
                          <a:effectLst/>
                        </a:rPr>
                        <a:t>Rent of Baler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sz="1200">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969,726,948</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28841397"/>
                  </a:ext>
                </a:extLst>
              </a:tr>
              <a:tr h="224164">
                <a:tc>
                  <a:txBody>
                    <a:bodyPr/>
                    <a:lstStyle/>
                    <a:p>
                      <a:pPr rtl="0" fontAlgn="b"/>
                      <a:r>
                        <a:rPr lang="en-GB" sz="1200">
                          <a:effectLst/>
                        </a:rPr>
                        <a:t>Cost of Tractor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Amortization over 15Yr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15144031"/>
                  </a:ext>
                </a:extLst>
              </a:tr>
              <a:tr h="426981">
                <a:tc>
                  <a:txBody>
                    <a:bodyPr/>
                    <a:lstStyle/>
                    <a:p>
                      <a:pPr rtl="0" fontAlgn="b"/>
                      <a:r>
                        <a:rPr lang="en-GB" sz="1200">
                          <a:effectLst/>
                        </a:rPr>
                        <a:t>Cost of Diesel</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Estimated as Rs.1K, considering the Baler rent per acre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73985099"/>
                  </a:ext>
                </a:extLst>
              </a:tr>
              <a:tr h="426981">
                <a:tc>
                  <a:txBody>
                    <a:bodyPr/>
                    <a:lstStyle/>
                    <a:p>
                      <a:pPr rtl="0" fontAlgn="b"/>
                      <a:r>
                        <a:rPr lang="en-GB" sz="1200">
                          <a:effectLst/>
                        </a:rPr>
                        <a:t>Cost of Labour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3 semi-skilled labourer required for each</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30,975,000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600961912"/>
                  </a:ext>
                </a:extLst>
              </a:tr>
              <a:tr h="394957">
                <a:tc>
                  <a:txBody>
                    <a:bodyPr/>
                    <a:lstStyle/>
                    <a:p>
                      <a:pPr rtl="0" fontAlgn="b"/>
                      <a:r>
                        <a:rPr lang="en-GB" sz="1200">
                          <a:effectLst/>
                        </a:rPr>
                        <a:t>Cost of Farmer Payment</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Rs. 0/ton paid to Farmer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647194538"/>
                  </a:ext>
                </a:extLst>
              </a:tr>
              <a:tr h="245514">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427489034"/>
                  </a:ext>
                </a:extLst>
              </a:tr>
              <a:tr h="426981">
                <a:tc>
                  <a:txBody>
                    <a:bodyPr/>
                    <a:lstStyle/>
                    <a:p>
                      <a:pPr rtl="0" fontAlgn="b"/>
                      <a:r>
                        <a:rPr lang="en-GB" sz="1200">
                          <a:effectLst/>
                        </a:rPr>
                        <a:t>Cost of Transportation to Plant</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50KM distance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68,693,980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1546655"/>
                  </a:ext>
                </a:extLst>
              </a:tr>
              <a:tr h="245514">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161235738"/>
                  </a:ext>
                </a:extLst>
              </a:tr>
              <a:tr h="426981">
                <a:tc>
                  <a:txBody>
                    <a:bodyPr/>
                    <a:lstStyle/>
                    <a:p>
                      <a:pPr rtl="0" fontAlgn="b"/>
                      <a:r>
                        <a:rPr lang="en-GB" sz="1200">
                          <a:effectLst/>
                        </a:rPr>
                        <a:t>Maintenance Cost for Truck &amp; Baler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@20% of cost over lifetime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486976296"/>
                  </a:ext>
                </a:extLst>
              </a:tr>
              <a:tr h="224164">
                <a:tc>
                  <a:txBody>
                    <a:bodyPr/>
                    <a:lstStyle/>
                    <a:p>
                      <a:pPr rtl="0" fontAlgn="b"/>
                      <a:r>
                        <a:rPr lang="en-GB" sz="1200">
                          <a:effectLst/>
                        </a:rPr>
                        <a:t>Overheads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@10%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106,939,593</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16774674"/>
                  </a:ext>
                </a:extLst>
              </a:tr>
              <a:tr h="245514">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521042213"/>
                  </a:ext>
                </a:extLst>
              </a:tr>
              <a:tr h="245514">
                <a:tc>
                  <a:txBody>
                    <a:bodyPr/>
                    <a:lstStyle/>
                    <a:p>
                      <a:pPr rtl="0" fontAlgn="b"/>
                      <a:r>
                        <a:rPr lang="en-GB" sz="1200" b="1">
                          <a:effectLst/>
                        </a:rPr>
                        <a:t>Total P/L</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rtl="0" fontAlgn="b"/>
                      <a:endParaRPr lang="en-GB" b="1">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lgn="r" rtl="0" fontAlgn="b"/>
                      <a:r>
                        <a:rPr lang="en-GB" sz="1200" b="1">
                          <a:effectLst/>
                        </a:rPr>
                        <a:t>1,378,080,479</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extLst>
                  <a:ext uri="{0D108BD9-81ED-4DB2-BD59-A6C34878D82A}">
                    <a16:rowId xmlns:a16="http://schemas.microsoft.com/office/drawing/2014/main" val="3486766577"/>
                  </a:ext>
                </a:extLst>
              </a:tr>
            </a:tbl>
          </a:graphicData>
        </a:graphic>
      </p:graphicFrame>
      <p:sp>
        <p:nvSpPr>
          <p:cNvPr id="14" name="Google Shape;162;p5">
            <a:extLst>
              <a:ext uri="{FF2B5EF4-FFF2-40B4-BE49-F238E27FC236}">
                <a16:creationId xmlns:a16="http://schemas.microsoft.com/office/drawing/2014/main" id="{EB330E5D-6BBB-5C5A-23F9-7262F1368461}"/>
              </a:ext>
            </a:extLst>
          </p:cNvPr>
          <p:cNvSpPr/>
          <p:nvPr/>
        </p:nvSpPr>
        <p:spPr>
          <a:xfrm>
            <a:off x="6338415" y="584894"/>
            <a:ext cx="5556047" cy="450355"/>
          </a:xfrm>
          <a:prstGeom prst="rect">
            <a:avLst/>
          </a:prstGeom>
          <a:solidFill>
            <a:schemeClr val="accent6">
              <a:lumMod val="75000"/>
            </a:schemeClr>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200">
                <a:solidFill>
                  <a:srgbClr val="FFFFFF"/>
                </a:solidFill>
              </a:rPr>
              <a:t>Case 2: Balers are rented, farmers are provided field clearing service but are not paid</a:t>
            </a:r>
            <a:endParaRPr lang="en-US" sz="1200"/>
          </a:p>
        </p:txBody>
      </p:sp>
      <p:sp>
        <p:nvSpPr>
          <p:cNvPr id="15" name="Google Shape;162;p5">
            <a:extLst>
              <a:ext uri="{FF2B5EF4-FFF2-40B4-BE49-F238E27FC236}">
                <a16:creationId xmlns:a16="http://schemas.microsoft.com/office/drawing/2014/main" id="{28ADFC83-15BD-15A8-BBD0-50BAF0302CEE}"/>
              </a:ext>
            </a:extLst>
          </p:cNvPr>
          <p:cNvSpPr/>
          <p:nvPr/>
        </p:nvSpPr>
        <p:spPr>
          <a:xfrm>
            <a:off x="6338417" y="5659372"/>
            <a:ext cx="5622306" cy="881051"/>
          </a:xfrm>
          <a:prstGeom prst="rect">
            <a:avLst/>
          </a:prstGeom>
          <a:solidFill>
            <a:schemeClr val="bg1">
              <a:lumMod val="95000"/>
            </a:schemeClr>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200" b="1">
                <a:solidFill>
                  <a:schemeClr val="tx1"/>
                </a:solidFill>
              </a:rPr>
              <a:t>Insight</a:t>
            </a:r>
            <a:r>
              <a:rPr lang="en-GB" sz="1200">
                <a:solidFill>
                  <a:schemeClr val="tx1"/>
                </a:solidFill>
              </a:rPr>
              <a:t>: While the model generates highest profits (Rs. 137Cr), </a:t>
            </a:r>
            <a:r>
              <a:rPr lang="en-GB" sz="1200"/>
              <a:t>it is not sustainable in the long run because it creates equipment dependence on third parties</a:t>
            </a:r>
            <a:r>
              <a:rPr lang="en-GB" sz="1200">
                <a:solidFill>
                  <a:schemeClr val="tx1"/>
                </a:solidFill>
              </a:rPr>
              <a:t>. Baler Renters can capitalize on such an opportunity &amp; can create problems for the firm.</a:t>
            </a:r>
          </a:p>
        </p:txBody>
      </p:sp>
    </p:spTree>
    <p:extLst>
      <p:ext uri="{BB962C8B-B14F-4D97-AF65-F5344CB8AC3E}">
        <p14:creationId xmlns:p14="http://schemas.microsoft.com/office/powerpoint/2010/main" val="2692005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0" y="-204048"/>
            <a:ext cx="10972800" cy="864096"/>
          </a:xfrm>
          <a:prstGeom prst="rect">
            <a:avLst/>
          </a:prstGeom>
          <a:noFill/>
          <a:ln>
            <a:noFill/>
          </a:ln>
        </p:spPr>
        <p:txBody>
          <a:bodyPr spcFirstLastPara="1" wrap="square" lIns="91425" tIns="45700" rIns="91425" bIns="45700" anchor="ctr" anchorCtr="0">
            <a:normAutofit/>
          </a:bodyPr>
          <a:lstStyle/>
          <a:p>
            <a:r>
              <a:rPr lang="en-IN"/>
              <a:t>Annexure 3 : Business Model Analysis</a:t>
            </a:r>
            <a:endParaRPr/>
          </a:p>
        </p:txBody>
      </p:sp>
      <p:grpSp>
        <p:nvGrpSpPr>
          <p:cNvPr id="32" name="Google Shape;32;p1" descr="{&quot;Key&quot;:&quot;POWER_USER_SHAPE_ICON&quot;,&quot;Value&quot;:&quot;POWER_USER_SHAPE_ICON_STYLE_1&quot;}"/>
          <p:cNvGrpSpPr/>
          <p:nvPr/>
        </p:nvGrpSpPr>
        <p:grpSpPr>
          <a:xfrm>
            <a:off x="4762687" y="1872743"/>
            <a:ext cx="634238" cy="367355"/>
            <a:chOff x="5095875" y="3181351"/>
            <a:chExt cx="641351" cy="371475"/>
          </a:xfrm>
        </p:grpSpPr>
        <p:sp>
          <p:nvSpPr>
            <p:cNvPr id="33" name="Google Shape;33;p1"/>
            <p:cNvSpPr/>
            <p:nvPr/>
          </p:nvSpPr>
          <p:spPr>
            <a:xfrm>
              <a:off x="5311775" y="3300413"/>
              <a:ext cx="211138" cy="18256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
            <p:cNvSpPr/>
            <p:nvPr/>
          </p:nvSpPr>
          <p:spPr>
            <a:xfrm>
              <a:off x="5392738" y="3357563"/>
              <a:ext cx="49213"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
            <p:cNvSpPr/>
            <p:nvPr/>
          </p:nvSpPr>
          <p:spPr>
            <a:xfrm>
              <a:off x="5659438"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
            <p:cNvSpPr/>
            <p:nvPr/>
          </p:nvSpPr>
          <p:spPr>
            <a:xfrm>
              <a:off x="5681663"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1"/>
            <p:cNvSpPr/>
            <p:nvPr/>
          </p:nvSpPr>
          <p:spPr>
            <a:xfrm>
              <a:off x="5659438"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 name="Google Shape;38;p1"/>
            <p:cNvSpPr/>
            <p:nvPr/>
          </p:nvSpPr>
          <p:spPr>
            <a:xfrm>
              <a:off x="5124450"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 name="Google Shape;39;p1"/>
            <p:cNvSpPr/>
            <p:nvPr/>
          </p:nvSpPr>
          <p:spPr>
            <a:xfrm>
              <a:off x="5102225"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1"/>
            <p:cNvSpPr/>
            <p:nvPr/>
          </p:nvSpPr>
          <p:spPr>
            <a:xfrm>
              <a:off x="5124450"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1"/>
            <p:cNvSpPr/>
            <p:nvPr/>
          </p:nvSpPr>
          <p:spPr>
            <a:xfrm>
              <a:off x="5307013" y="3295651"/>
              <a:ext cx="220663" cy="193675"/>
            </a:xfrm>
            <a:custGeom>
              <a:avLst/>
              <a:gdLst/>
              <a:ahLst/>
              <a:cxnLst/>
              <a:rect l="l" t="t" r="r" b="b"/>
              <a:pathLst>
                <a:path w="328" h="286" extrusionOk="0">
                  <a:moveTo>
                    <a:pt x="16" y="269"/>
                  </a:moveTo>
                  <a:lnTo>
                    <a:pt x="312" y="269"/>
                  </a:lnTo>
                  <a:lnTo>
                    <a:pt x="312" y="16"/>
                  </a:lnTo>
                  <a:lnTo>
                    <a:pt x="16" y="16"/>
                  </a:lnTo>
                  <a:lnTo>
                    <a:pt x="16" y="269"/>
                  </a:lnTo>
                  <a:close/>
                  <a:moveTo>
                    <a:pt x="328" y="286"/>
                  </a:moveTo>
                  <a:lnTo>
                    <a:pt x="0" y="286"/>
                  </a:lnTo>
                  <a:lnTo>
                    <a:pt x="0" y="0"/>
                  </a:lnTo>
                  <a:lnTo>
                    <a:pt x="328" y="0"/>
                  </a:lnTo>
                  <a:lnTo>
                    <a:pt x="328" y="2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 name="Google Shape;42;p1"/>
            <p:cNvSpPr/>
            <p:nvPr/>
          </p:nvSpPr>
          <p:spPr>
            <a:xfrm>
              <a:off x="5334000" y="3181351"/>
              <a:ext cx="166688" cy="125413"/>
            </a:xfrm>
            <a:custGeom>
              <a:avLst/>
              <a:gdLst/>
              <a:ahLst/>
              <a:cxnLst/>
              <a:rect l="l" t="t" r="r" b="b"/>
              <a:pathLst>
                <a:path w="245" h="186" extrusionOk="0">
                  <a:moveTo>
                    <a:pt x="245" y="186"/>
                  </a:moveTo>
                  <a:lnTo>
                    <a:pt x="201" y="186"/>
                  </a:lnTo>
                  <a:lnTo>
                    <a:pt x="201" y="170"/>
                  </a:lnTo>
                  <a:lnTo>
                    <a:pt x="229" y="170"/>
                  </a:lnTo>
                  <a:lnTo>
                    <a:pt x="229" y="122"/>
                  </a:lnTo>
                  <a:cubicBezTo>
                    <a:pt x="229" y="64"/>
                    <a:pt x="181" y="16"/>
                    <a:pt x="123" y="16"/>
                  </a:cubicBezTo>
                  <a:cubicBezTo>
                    <a:pt x="65" y="16"/>
                    <a:pt x="17" y="64"/>
                    <a:pt x="17" y="122"/>
                  </a:cubicBezTo>
                  <a:lnTo>
                    <a:pt x="17" y="170"/>
                  </a:lnTo>
                  <a:lnTo>
                    <a:pt x="45" y="170"/>
                  </a:lnTo>
                  <a:lnTo>
                    <a:pt x="45" y="186"/>
                  </a:lnTo>
                  <a:lnTo>
                    <a:pt x="0" y="186"/>
                  </a:lnTo>
                  <a:lnTo>
                    <a:pt x="0" y="122"/>
                  </a:lnTo>
                  <a:cubicBezTo>
                    <a:pt x="0" y="55"/>
                    <a:pt x="55" y="0"/>
                    <a:pt x="123" y="0"/>
                  </a:cubicBezTo>
                  <a:cubicBezTo>
                    <a:pt x="190" y="0"/>
                    <a:pt x="245" y="55"/>
                    <a:pt x="245" y="122"/>
                  </a:cubicBezTo>
                  <a:lnTo>
                    <a:pt x="245" y="1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 name="Google Shape;43;p1"/>
            <p:cNvSpPr/>
            <p:nvPr/>
          </p:nvSpPr>
          <p:spPr>
            <a:xfrm>
              <a:off x="5386388" y="3351213"/>
              <a:ext cx="61913" cy="61913"/>
            </a:xfrm>
            <a:custGeom>
              <a:avLst/>
              <a:gdLst/>
              <a:ahLst/>
              <a:cxnLst/>
              <a:rect l="l" t="t" r="r" b="b"/>
              <a:pathLst>
                <a:path w="91" h="91" extrusionOk="0">
                  <a:moveTo>
                    <a:pt x="46" y="17"/>
                  </a:moveTo>
                  <a:cubicBezTo>
                    <a:pt x="30" y="17"/>
                    <a:pt x="17" y="30"/>
                    <a:pt x="17" y="46"/>
                  </a:cubicBezTo>
                  <a:cubicBezTo>
                    <a:pt x="17" y="62"/>
                    <a:pt x="30" y="75"/>
                    <a:pt x="46" y="75"/>
                  </a:cubicBezTo>
                  <a:cubicBezTo>
                    <a:pt x="62" y="75"/>
                    <a:pt x="75" y="62"/>
                    <a:pt x="75" y="46"/>
                  </a:cubicBezTo>
                  <a:cubicBezTo>
                    <a:pt x="75" y="30"/>
                    <a:pt x="62" y="17"/>
                    <a:pt x="46" y="17"/>
                  </a:cubicBezTo>
                  <a:close/>
                  <a:moveTo>
                    <a:pt x="46" y="91"/>
                  </a:moveTo>
                  <a:cubicBezTo>
                    <a:pt x="21" y="91"/>
                    <a:pt x="0" y="71"/>
                    <a:pt x="0" y="46"/>
                  </a:cubicBezTo>
                  <a:cubicBezTo>
                    <a:pt x="0" y="21"/>
                    <a:pt x="21" y="0"/>
                    <a:pt x="46" y="0"/>
                  </a:cubicBezTo>
                  <a:cubicBezTo>
                    <a:pt x="71" y="0"/>
                    <a:pt x="91" y="21"/>
                    <a:pt x="91" y="46"/>
                  </a:cubicBezTo>
                  <a:cubicBezTo>
                    <a:pt x="91" y="71"/>
                    <a:pt x="71" y="91"/>
                    <a:pt x="46" y="91"/>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1"/>
            <p:cNvSpPr/>
            <p:nvPr/>
          </p:nvSpPr>
          <p:spPr>
            <a:xfrm>
              <a:off x="5411788" y="3408363"/>
              <a:ext cx="11113" cy="365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1"/>
            <p:cNvSpPr/>
            <p:nvPr/>
          </p:nvSpPr>
          <p:spPr>
            <a:xfrm>
              <a:off x="5556250" y="3276601"/>
              <a:ext cx="115888" cy="71438"/>
            </a:xfrm>
            <a:custGeom>
              <a:avLst/>
              <a:gdLst/>
              <a:ahLst/>
              <a:cxnLst/>
              <a:rect l="l" t="t" r="r" b="b"/>
              <a:pathLst>
                <a:path w="73" h="45" extrusionOk="0">
                  <a:moveTo>
                    <a:pt x="36" y="45"/>
                  </a:moveTo>
                  <a:lnTo>
                    <a:pt x="0" y="45"/>
                  </a:lnTo>
                  <a:lnTo>
                    <a:pt x="0" y="38"/>
                  </a:lnTo>
                  <a:lnTo>
                    <a:pt x="33" y="38"/>
                  </a:lnTo>
                  <a:lnTo>
                    <a:pt x="67" y="0"/>
                  </a:lnTo>
                  <a:lnTo>
                    <a:pt x="73" y="5"/>
                  </a:lnTo>
                  <a:lnTo>
                    <a:pt x="36"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1"/>
            <p:cNvSpPr/>
            <p:nvPr/>
          </p:nvSpPr>
          <p:spPr>
            <a:xfrm>
              <a:off x="56530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1"/>
            <p:cNvSpPr/>
            <p:nvPr/>
          </p:nvSpPr>
          <p:spPr>
            <a:xfrm>
              <a:off x="5675313"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5" y="62"/>
                    <a:pt x="75" y="46"/>
                  </a:cubicBezTo>
                  <a:cubicBezTo>
                    <a:pt x="75" y="30"/>
                    <a:pt x="62" y="17"/>
                    <a:pt x="46" y="17"/>
                  </a:cubicBezTo>
                  <a:close/>
                  <a:moveTo>
                    <a:pt x="46" y="92"/>
                  </a:moveTo>
                  <a:cubicBezTo>
                    <a:pt x="21" y="92"/>
                    <a:pt x="0" y="72"/>
                    <a:pt x="0" y="46"/>
                  </a:cubicBezTo>
                  <a:cubicBezTo>
                    <a:pt x="0" y="21"/>
                    <a:pt x="21" y="0"/>
                    <a:pt x="46" y="0"/>
                  </a:cubicBezTo>
                  <a:cubicBezTo>
                    <a:pt x="71" y="0"/>
                    <a:pt x="92" y="21"/>
                    <a:pt x="92" y="46"/>
                  </a:cubicBezTo>
                  <a:cubicBezTo>
                    <a:pt x="92" y="72"/>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1"/>
            <p:cNvSpPr/>
            <p:nvPr/>
          </p:nvSpPr>
          <p:spPr>
            <a:xfrm>
              <a:off x="5556250" y="3435351"/>
              <a:ext cx="115888" cy="71438"/>
            </a:xfrm>
            <a:custGeom>
              <a:avLst/>
              <a:gdLst/>
              <a:ahLst/>
              <a:cxnLst/>
              <a:rect l="l" t="t" r="r" b="b"/>
              <a:pathLst>
                <a:path w="73" h="45" extrusionOk="0">
                  <a:moveTo>
                    <a:pt x="67" y="45"/>
                  </a:moveTo>
                  <a:lnTo>
                    <a:pt x="33" y="7"/>
                  </a:lnTo>
                  <a:lnTo>
                    <a:pt x="0" y="7"/>
                  </a:lnTo>
                  <a:lnTo>
                    <a:pt x="0" y="0"/>
                  </a:lnTo>
                  <a:lnTo>
                    <a:pt x="36" y="0"/>
                  </a:lnTo>
                  <a:lnTo>
                    <a:pt x="73" y="40"/>
                  </a:lnTo>
                  <a:lnTo>
                    <a:pt x="67"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1"/>
            <p:cNvSpPr/>
            <p:nvPr/>
          </p:nvSpPr>
          <p:spPr>
            <a:xfrm>
              <a:off x="56530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556250"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5162550" y="3435351"/>
              <a:ext cx="115888" cy="71438"/>
            </a:xfrm>
            <a:custGeom>
              <a:avLst/>
              <a:gdLst/>
              <a:ahLst/>
              <a:cxnLst/>
              <a:rect l="l" t="t" r="r" b="b"/>
              <a:pathLst>
                <a:path w="73" h="45" extrusionOk="0">
                  <a:moveTo>
                    <a:pt x="5" y="45"/>
                  </a:moveTo>
                  <a:lnTo>
                    <a:pt x="0" y="40"/>
                  </a:lnTo>
                  <a:lnTo>
                    <a:pt x="37" y="0"/>
                  </a:lnTo>
                  <a:lnTo>
                    <a:pt x="73" y="0"/>
                  </a:lnTo>
                  <a:lnTo>
                    <a:pt x="73" y="7"/>
                  </a:lnTo>
                  <a:lnTo>
                    <a:pt x="40" y="7"/>
                  </a:lnTo>
                  <a:lnTo>
                    <a:pt x="5"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a:off x="51196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a:off x="5095875"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6" y="62"/>
                    <a:pt x="76" y="46"/>
                  </a:cubicBezTo>
                  <a:cubicBezTo>
                    <a:pt x="76" y="30"/>
                    <a:pt x="62" y="17"/>
                    <a:pt x="46" y="17"/>
                  </a:cubicBezTo>
                  <a:close/>
                  <a:moveTo>
                    <a:pt x="46" y="92"/>
                  </a:moveTo>
                  <a:cubicBezTo>
                    <a:pt x="21" y="92"/>
                    <a:pt x="0" y="72"/>
                    <a:pt x="0" y="46"/>
                  </a:cubicBezTo>
                  <a:cubicBezTo>
                    <a:pt x="0" y="21"/>
                    <a:pt x="21" y="0"/>
                    <a:pt x="46" y="0"/>
                  </a:cubicBezTo>
                  <a:cubicBezTo>
                    <a:pt x="72" y="0"/>
                    <a:pt x="92" y="21"/>
                    <a:pt x="92" y="46"/>
                  </a:cubicBezTo>
                  <a:cubicBezTo>
                    <a:pt x="92" y="72"/>
                    <a:pt x="72"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a:off x="5162550" y="3276601"/>
              <a:ext cx="115888" cy="71438"/>
            </a:xfrm>
            <a:custGeom>
              <a:avLst/>
              <a:gdLst/>
              <a:ahLst/>
              <a:cxnLst/>
              <a:rect l="l" t="t" r="r" b="b"/>
              <a:pathLst>
                <a:path w="73" h="45" extrusionOk="0">
                  <a:moveTo>
                    <a:pt x="73" y="45"/>
                  </a:moveTo>
                  <a:lnTo>
                    <a:pt x="37" y="45"/>
                  </a:lnTo>
                  <a:lnTo>
                    <a:pt x="0" y="5"/>
                  </a:lnTo>
                  <a:lnTo>
                    <a:pt x="5" y="0"/>
                  </a:lnTo>
                  <a:lnTo>
                    <a:pt x="40" y="38"/>
                  </a:lnTo>
                  <a:lnTo>
                    <a:pt x="73" y="38"/>
                  </a:lnTo>
                  <a:lnTo>
                    <a:pt x="73"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1"/>
            <p:cNvSpPr/>
            <p:nvPr/>
          </p:nvSpPr>
          <p:spPr>
            <a:xfrm>
              <a:off x="51196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1"/>
            <p:cNvSpPr/>
            <p:nvPr/>
          </p:nvSpPr>
          <p:spPr>
            <a:xfrm>
              <a:off x="5153025"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10" name="Google Shape;162;p5">
            <a:extLst>
              <a:ext uri="{FF2B5EF4-FFF2-40B4-BE49-F238E27FC236}">
                <a16:creationId xmlns:a16="http://schemas.microsoft.com/office/drawing/2014/main" id="{07E021A3-AC29-E833-878D-99566E9304B0}"/>
              </a:ext>
            </a:extLst>
          </p:cNvPr>
          <p:cNvSpPr/>
          <p:nvPr/>
        </p:nvSpPr>
        <p:spPr>
          <a:xfrm>
            <a:off x="2373808" y="573851"/>
            <a:ext cx="7444480" cy="450355"/>
          </a:xfrm>
          <a:prstGeom prst="rect">
            <a:avLst/>
          </a:prstGeom>
          <a:solidFill>
            <a:schemeClr val="accent6">
              <a:lumMod val="75000"/>
            </a:schemeClr>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200">
                <a:solidFill>
                  <a:srgbClr val="FFFFFF"/>
                </a:solidFill>
              </a:rPr>
              <a:t>Case 3: Balers are bought &amp; farmers are provided field clearing service &amp; are paid for the bales</a:t>
            </a:r>
            <a:endParaRPr lang="en-US" sz="1200"/>
          </a:p>
        </p:txBody>
      </p:sp>
      <p:sp>
        <p:nvSpPr>
          <p:cNvPr id="11" name="Google Shape;162;p5">
            <a:extLst>
              <a:ext uri="{FF2B5EF4-FFF2-40B4-BE49-F238E27FC236}">
                <a16:creationId xmlns:a16="http://schemas.microsoft.com/office/drawing/2014/main" id="{A00A3E9C-04ED-84F9-FAAD-23129803C03D}"/>
              </a:ext>
            </a:extLst>
          </p:cNvPr>
          <p:cNvSpPr/>
          <p:nvPr/>
        </p:nvSpPr>
        <p:spPr>
          <a:xfrm>
            <a:off x="2605722" y="5151372"/>
            <a:ext cx="6930958" cy="1146094"/>
          </a:xfrm>
          <a:prstGeom prst="rect">
            <a:avLst/>
          </a:prstGeom>
          <a:solidFill>
            <a:schemeClr val="bg1">
              <a:lumMod val="95000"/>
            </a:schemeClr>
          </a:soli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GB" sz="1200" b="1"/>
              <a:t>Insight</a:t>
            </a:r>
            <a:r>
              <a:rPr lang="en-GB" sz="1200"/>
              <a:t>: While this model generates the lowest profits (Rs. 28Cr), it is the most sustainable in the long run. Before stubble is commoditized, this presents an opportunity to establish long-term relationships with farmers and gain their trust. This will enable the company to maintain long-lasting relationships with the producers despite the changing market environment. Furthermore, since the equipment is possessed, there is no dependence on third-party providers.</a:t>
            </a:r>
            <a:endParaRPr lang="en-US"/>
          </a:p>
        </p:txBody>
      </p:sp>
      <p:graphicFrame>
        <p:nvGraphicFramePr>
          <p:cNvPr id="3" name="Table 2">
            <a:extLst>
              <a:ext uri="{FF2B5EF4-FFF2-40B4-BE49-F238E27FC236}">
                <a16:creationId xmlns:a16="http://schemas.microsoft.com/office/drawing/2014/main" id="{2E7E621F-5218-31A8-5AD0-FE84182BA449}"/>
              </a:ext>
            </a:extLst>
          </p:cNvPr>
          <p:cNvGraphicFramePr>
            <a:graphicFrameLocks noGrp="1"/>
          </p:cNvGraphicFramePr>
          <p:nvPr>
            <p:extLst>
              <p:ext uri="{D42A27DB-BD31-4B8C-83A1-F6EECF244321}">
                <p14:modId xmlns:p14="http://schemas.microsoft.com/office/powerpoint/2010/main" val="2959149329"/>
              </p:ext>
            </p:extLst>
          </p:nvPr>
        </p:nvGraphicFramePr>
        <p:xfrm>
          <a:off x="2606260" y="1173314"/>
          <a:ext cx="6979476" cy="3832860"/>
        </p:xfrm>
        <a:graphic>
          <a:graphicData uri="http://schemas.openxmlformats.org/drawingml/2006/table">
            <a:tbl>
              <a:tblPr firstRow="1" bandRow="1">
                <a:tableStyleId>{912C8C85-51F0-491E-9774-3900AFEF0FD7}</a:tableStyleId>
              </a:tblPr>
              <a:tblGrid>
                <a:gridCol w="2440608">
                  <a:extLst>
                    <a:ext uri="{9D8B030D-6E8A-4147-A177-3AD203B41FA5}">
                      <a16:colId xmlns:a16="http://schemas.microsoft.com/office/drawing/2014/main" val="4158039008"/>
                    </a:ext>
                  </a:extLst>
                </a:gridCol>
                <a:gridCol w="2860260">
                  <a:extLst>
                    <a:ext uri="{9D8B030D-6E8A-4147-A177-3AD203B41FA5}">
                      <a16:colId xmlns:a16="http://schemas.microsoft.com/office/drawing/2014/main" val="1259685744"/>
                    </a:ext>
                  </a:extLst>
                </a:gridCol>
                <a:gridCol w="1678608">
                  <a:extLst>
                    <a:ext uri="{9D8B030D-6E8A-4147-A177-3AD203B41FA5}">
                      <a16:colId xmlns:a16="http://schemas.microsoft.com/office/drawing/2014/main" val="2232957124"/>
                    </a:ext>
                  </a:extLst>
                </a:gridCol>
              </a:tblGrid>
              <a:tr h="200025">
                <a:tc>
                  <a:txBody>
                    <a:bodyPr/>
                    <a:lstStyle/>
                    <a:p>
                      <a:pPr rtl="0" fontAlgn="b"/>
                      <a:r>
                        <a:rPr lang="en-GB" sz="1200">
                          <a:effectLst/>
                        </a:rPr>
                        <a:t>Head</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Explanation</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Amount (Rs.)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78727055"/>
                  </a:ext>
                </a:extLst>
              </a:tr>
              <a:tr h="200025">
                <a:tc>
                  <a:txBody>
                    <a:bodyPr/>
                    <a:lstStyle/>
                    <a:p>
                      <a:pPr rtl="0" fontAlgn="b"/>
                      <a:r>
                        <a:rPr lang="en-GB" sz="1200">
                          <a:effectLst/>
                        </a:rPr>
                        <a:t>Revenue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For 6 18MW plants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2,554,416,000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09978675"/>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019500330"/>
                  </a:ext>
                </a:extLst>
              </a:tr>
              <a:tr h="200025">
                <a:tc>
                  <a:txBody>
                    <a:bodyPr/>
                    <a:lstStyle/>
                    <a:p>
                      <a:pPr rtl="0" fontAlgn="b"/>
                      <a:r>
                        <a:rPr lang="en-GB" sz="1200">
                          <a:effectLst/>
                        </a:rPr>
                        <a:t>Cost of Baler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Amortization over 15Yr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155,555,556</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291031968"/>
                  </a:ext>
                </a:extLst>
              </a:tr>
              <a:tr h="200025">
                <a:tc>
                  <a:txBody>
                    <a:bodyPr/>
                    <a:lstStyle/>
                    <a:p>
                      <a:pPr rtl="0" fontAlgn="b"/>
                      <a:r>
                        <a:rPr lang="en-GB" sz="1200">
                          <a:effectLst/>
                        </a:rPr>
                        <a:t>Cost of Tractor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Amortization over 15Yr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100,000,000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379270195"/>
                  </a:ext>
                </a:extLst>
              </a:tr>
              <a:tr h="200025">
                <a:tc>
                  <a:txBody>
                    <a:bodyPr/>
                    <a:lstStyle/>
                    <a:p>
                      <a:pPr rtl="0" fontAlgn="b"/>
                      <a:r>
                        <a:rPr lang="en-GB" sz="1200">
                          <a:effectLst/>
                        </a:rPr>
                        <a:t>Cost of Diesel</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Estimated as Rs.1K, considering the Baler rent per acre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646,484,632</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8739377"/>
                  </a:ext>
                </a:extLst>
              </a:tr>
              <a:tr h="200025">
                <a:tc>
                  <a:txBody>
                    <a:bodyPr/>
                    <a:lstStyle/>
                    <a:p>
                      <a:pPr rtl="0" fontAlgn="b"/>
                      <a:r>
                        <a:rPr lang="en-GB" sz="1200">
                          <a:effectLst/>
                        </a:rPr>
                        <a:t>Cost of Labour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3 semi-skilled labourer required for each</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30,975,000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68098302"/>
                  </a:ext>
                </a:extLst>
              </a:tr>
              <a:tr h="200025">
                <a:tc>
                  <a:txBody>
                    <a:bodyPr/>
                    <a:lstStyle/>
                    <a:p>
                      <a:pPr rtl="0" fontAlgn="b"/>
                      <a:r>
                        <a:rPr lang="en-GB" sz="1200">
                          <a:effectLst/>
                        </a:rPr>
                        <a:t>Cost of Farmer Payment</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Rs. 500/ton paid to Farmer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600,000,000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76821135"/>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93712184"/>
                  </a:ext>
                </a:extLst>
              </a:tr>
              <a:tr h="200025">
                <a:tc>
                  <a:txBody>
                    <a:bodyPr/>
                    <a:lstStyle/>
                    <a:p>
                      <a:pPr rtl="0" fontAlgn="b"/>
                      <a:r>
                        <a:rPr lang="en-GB" sz="1200">
                          <a:effectLst/>
                        </a:rPr>
                        <a:t>Cost of Transportation to Plant</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50KM distance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68,693,980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258158892"/>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75252501"/>
                  </a:ext>
                </a:extLst>
              </a:tr>
              <a:tr h="200025">
                <a:tc>
                  <a:txBody>
                    <a:bodyPr/>
                    <a:lstStyle/>
                    <a:p>
                      <a:pPr rtl="0" fontAlgn="b"/>
                      <a:r>
                        <a:rPr lang="en-GB" sz="1200">
                          <a:effectLst/>
                        </a:rPr>
                        <a:t>Maintenance Cost for Truck &amp; Baler</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@20% of cost over lifetime</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466,666,667</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296160220"/>
                  </a:ext>
                </a:extLst>
              </a:tr>
              <a:tr h="200025">
                <a:tc>
                  <a:txBody>
                    <a:bodyPr/>
                    <a:lstStyle/>
                    <a:p>
                      <a:pPr rtl="0" fontAlgn="b"/>
                      <a:r>
                        <a:rPr lang="en-GB" sz="1200">
                          <a:effectLst/>
                        </a:rPr>
                        <a:t>Overheads</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r>
                        <a:rPr lang="en-GB" sz="1200">
                          <a:effectLst/>
                        </a:rPr>
                        <a:t>Assumed @10%</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206,837,583</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158369462"/>
                  </a:ext>
                </a:extLst>
              </a:tr>
              <a:tr h="200025">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68862616"/>
                  </a:ext>
                </a:extLst>
              </a:tr>
              <a:tr h="200025">
                <a:tc>
                  <a:txBody>
                    <a:bodyPr/>
                    <a:lstStyle/>
                    <a:p>
                      <a:pPr rtl="0" fontAlgn="b"/>
                      <a:r>
                        <a:rPr lang="en-GB" sz="1200">
                          <a:effectLst/>
                        </a:rPr>
                        <a:t>Total P/L</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rtl="0" fontAlgn="b"/>
                      <a:endParaRPr lang="en-GB">
                        <a:effectLst/>
                      </a:endParaRP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r" rtl="0" fontAlgn="b"/>
                      <a:r>
                        <a:rPr lang="en-GB" sz="1200">
                          <a:effectLst/>
                        </a:rPr>
                        <a:t>279,202,583</a:t>
                      </a:r>
                    </a:p>
                  </a:txBody>
                  <a:tcPr marL="28575" marR="28575" marT="19050" marB="1905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564096698"/>
                  </a:ext>
                </a:extLst>
              </a:tr>
            </a:tbl>
          </a:graphicData>
        </a:graphic>
      </p:graphicFrame>
      <p:sp>
        <p:nvSpPr>
          <p:cNvPr id="5" name="Arrow: Right 4">
            <a:extLst>
              <a:ext uri="{FF2B5EF4-FFF2-40B4-BE49-F238E27FC236}">
                <a16:creationId xmlns:a16="http://schemas.microsoft.com/office/drawing/2014/main" id="{4C12E1E0-E5AC-7627-E521-86AB0ED1AC67}"/>
              </a:ext>
            </a:extLst>
          </p:cNvPr>
          <p:cNvSpPr/>
          <p:nvPr/>
        </p:nvSpPr>
        <p:spPr>
          <a:xfrm>
            <a:off x="10402957" y="541130"/>
            <a:ext cx="1490869" cy="392041"/>
          </a:xfrm>
          <a:prstGeom prst="rightArrow">
            <a:avLst/>
          </a:prstGeom>
          <a:solidFill>
            <a:srgbClr val="FAFF66">
              <a:alpha val="37000"/>
            </a:srgbClr>
          </a:solidFill>
          <a:ln w="6350">
            <a:solidFill>
              <a:srgbClr val="9C79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solidFill>
                  <a:schemeClr val="tx1"/>
                </a:solidFill>
                <a:cs typeface="Arial"/>
                <a:hlinkClick r:id="rId3">
                  <a:extLst>
                    <a:ext uri="{A12FA001-AC4F-418D-AE19-62706E023703}">
                      <ahyp:hlinkClr xmlns:ahyp="http://schemas.microsoft.com/office/drawing/2018/hyperlinkcolor" val="tx"/>
                    </a:ext>
                  </a:extLst>
                </a:hlinkClick>
              </a:rPr>
              <a:t>Detailed Analysis</a:t>
            </a:r>
            <a:endParaRPr lang="en-GB" sz="1050">
              <a:solidFill>
                <a:schemeClr val="tx1"/>
              </a:solidFill>
              <a:cs typeface="Arial"/>
            </a:endParaRPr>
          </a:p>
        </p:txBody>
      </p:sp>
    </p:spTree>
    <p:extLst>
      <p:ext uri="{BB962C8B-B14F-4D97-AF65-F5344CB8AC3E}">
        <p14:creationId xmlns:p14="http://schemas.microsoft.com/office/powerpoint/2010/main" val="3929634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title"/>
          </p:nvPr>
        </p:nvSpPr>
        <p:spPr>
          <a:xfrm>
            <a:off x="94342" y="30180"/>
            <a:ext cx="10972800" cy="513335"/>
          </a:xfrm>
          <a:prstGeom prst="rect">
            <a:avLst/>
          </a:prstGeom>
          <a:noFill/>
          <a:ln>
            <a:noFill/>
          </a:ln>
        </p:spPr>
        <p:txBody>
          <a:bodyPr spcFirstLastPara="1" wrap="square" lIns="91425" tIns="45700" rIns="91425" bIns="45700" anchor="ctr" anchorCtr="0">
            <a:normAutofit/>
          </a:bodyPr>
          <a:lstStyle/>
          <a:p>
            <a:r>
              <a:rPr lang="en-IN"/>
              <a:t>Annexure 4 : Key Questions &amp; Assumptions of Model</a:t>
            </a:r>
            <a:endParaRPr lang="en-IN" b="0"/>
          </a:p>
        </p:txBody>
      </p:sp>
      <p:sp>
        <p:nvSpPr>
          <p:cNvPr id="29" name="Google Shape;190;p6">
            <a:extLst>
              <a:ext uri="{FF2B5EF4-FFF2-40B4-BE49-F238E27FC236}">
                <a16:creationId xmlns:a16="http://schemas.microsoft.com/office/drawing/2014/main" id="{D08C6DA6-A9B9-D646-0FCE-EB31E12EDB64}"/>
              </a:ext>
            </a:extLst>
          </p:cNvPr>
          <p:cNvSpPr/>
          <p:nvPr/>
        </p:nvSpPr>
        <p:spPr>
          <a:xfrm>
            <a:off x="2390161" y="925987"/>
            <a:ext cx="4715588" cy="654972"/>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a:solidFill>
                  <a:schemeClr val="tx1"/>
                </a:solidFill>
              </a:rPr>
              <a:t>What is the brand value &amp; market foothold of firm?</a:t>
            </a:r>
            <a:endParaRPr lang="en-US">
              <a:solidFill>
                <a:schemeClr val="tx1"/>
              </a:solidFill>
            </a:endParaRPr>
          </a:p>
          <a:p>
            <a:pPr marL="171450" indent="-171450">
              <a:buChar char="•"/>
            </a:pPr>
            <a:r>
              <a:rPr lang="en-IN" sz="1200">
                <a:solidFill>
                  <a:schemeClr val="tx1"/>
                </a:solidFill>
              </a:rPr>
              <a:t>What is the existing network that can be used to generate trust &amp; gather info?</a:t>
            </a:r>
          </a:p>
        </p:txBody>
      </p:sp>
      <p:sp>
        <p:nvSpPr>
          <p:cNvPr id="12" name="Google Shape;190;p6">
            <a:extLst>
              <a:ext uri="{FF2B5EF4-FFF2-40B4-BE49-F238E27FC236}">
                <a16:creationId xmlns:a16="http://schemas.microsoft.com/office/drawing/2014/main" id="{82A71A75-16E3-E60E-B3F3-874E1752A4C5}"/>
              </a:ext>
            </a:extLst>
          </p:cNvPr>
          <p:cNvSpPr/>
          <p:nvPr/>
        </p:nvSpPr>
        <p:spPr>
          <a:xfrm>
            <a:off x="225227" y="546427"/>
            <a:ext cx="2037464" cy="396778"/>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Key Concern Areas</a:t>
            </a:r>
            <a:endParaRPr lang="en-US"/>
          </a:p>
        </p:txBody>
      </p:sp>
      <p:sp>
        <p:nvSpPr>
          <p:cNvPr id="13" name="Google Shape;190;p6">
            <a:extLst>
              <a:ext uri="{FF2B5EF4-FFF2-40B4-BE49-F238E27FC236}">
                <a16:creationId xmlns:a16="http://schemas.microsoft.com/office/drawing/2014/main" id="{D5902CE6-0550-347C-4996-3DC46AC4084E}"/>
              </a:ext>
            </a:extLst>
          </p:cNvPr>
          <p:cNvSpPr/>
          <p:nvPr/>
        </p:nvSpPr>
        <p:spPr>
          <a:xfrm>
            <a:off x="3020540" y="540905"/>
            <a:ext cx="2528898" cy="402299"/>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Key Questions</a:t>
            </a:r>
            <a:endParaRPr lang="en-US"/>
          </a:p>
        </p:txBody>
      </p:sp>
      <p:sp>
        <p:nvSpPr>
          <p:cNvPr id="24" name="Google Shape;190;p6">
            <a:extLst>
              <a:ext uri="{FF2B5EF4-FFF2-40B4-BE49-F238E27FC236}">
                <a16:creationId xmlns:a16="http://schemas.microsoft.com/office/drawing/2014/main" id="{2D3D890B-287B-D0AA-739B-0B10441B19F2}"/>
              </a:ext>
            </a:extLst>
          </p:cNvPr>
          <p:cNvSpPr/>
          <p:nvPr/>
        </p:nvSpPr>
        <p:spPr>
          <a:xfrm>
            <a:off x="225639" y="925988"/>
            <a:ext cx="2037545" cy="654972"/>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Surveying</a:t>
            </a:r>
            <a:endParaRPr lang="en-US" b="1"/>
          </a:p>
        </p:txBody>
      </p:sp>
      <p:sp>
        <p:nvSpPr>
          <p:cNvPr id="43" name="Google Shape;190;p6">
            <a:extLst>
              <a:ext uri="{FF2B5EF4-FFF2-40B4-BE49-F238E27FC236}">
                <a16:creationId xmlns:a16="http://schemas.microsoft.com/office/drawing/2014/main" id="{325A1458-F65C-6DF5-E85B-6EB8CB859F32}"/>
              </a:ext>
            </a:extLst>
          </p:cNvPr>
          <p:cNvSpPr/>
          <p:nvPr/>
        </p:nvSpPr>
        <p:spPr>
          <a:xfrm>
            <a:off x="2384638" y="1676943"/>
            <a:ext cx="4715588" cy="820624"/>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a:solidFill>
                  <a:schemeClr val="tx1"/>
                </a:solidFill>
              </a:rPr>
              <a:t>What is the number of balers available for renting in the region? </a:t>
            </a:r>
            <a:endParaRPr lang="en-US">
              <a:solidFill>
                <a:schemeClr val="tx1"/>
              </a:solidFill>
            </a:endParaRPr>
          </a:p>
          <a:p>
            <a:pPr marL="171450" indent="-171450">
              <a:buChar char="•"/>
            </a:pPr>
            <a:r>
              <a:rPr lang="en-IN" sz="1200">
                <a:solidFill>
                  <a:schemeClr val="tx1"/>
                </a:solidFill>
              </a:rPr>
              <a:t>What's the dependence on rented balers?</a:t>
            </a:r>
          </a:p>
          <a:p>
            <a:pPr marL="171450" indent="-171450">
              <a:buChar char="•"/>
            </a:pPr>
            <a:r>
              <a:rPr lang="en-IN" sz="1200">
                <a:solidFill>
                  <a:schemeClr val="tx1"/>
                </a:solidFill>
              </a:rPr>
              <a:t>Are there farmer co-operatives that can be leveraged to collect bales and what are the common methods of incentivisation?</a:t>
            </a:r>
          </a:p>
        </p:txBody>
      </p:sp>
      <p:sp>
        <p:nvSpPr>
          <p:cNvPr id="44" name="Google Shape;190;p6">
            <a:extLst>
              <a:ext uri="{FF2B5EF4-FFF2-40B4-BE49-F238E27FC236}">
                <a16:creationId xmlns:a16="http://schemas.microsoft.com/office/drawing/2014/main" id="{C996CF9F-4A40-453F-259A-305943E10FFB}"/>
              </a:ext>
            </a:extLst>
          </p:cNvPr>
          <p:cNvSpPr/>
          <p:nvPr/>
        </p:nvSpPr>
        <p:spPr>
          <a:xfrm>
            <a:off x="220116" y="1676944"/>
            <a:ext cx="2037545" cy="82062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Procurement</a:t>
            </a:r>
            <a:endParaRPr lang="en-US"/>
          </a:p>
        </p:txBody>
      </p:sp>
      <p:sp>
        <p:nvSpPr>
          <p:cNvPr id="45" name="Google Shape;190;p6">
            <a:extLst>
              <a:ext uri="{FF2B5EF4-FFF2-40B4-BE49-F238E27FC236}">
                <a16:creationId xmlns:a16="http://schemas.microsoft.com/office/drawing/2014/main" id="{25A79C20-6A77-2E80-2D7B-6048F450A898}"/>
              </a:ext>
            </a:extLst>
          </p:cNvPr>
          <p:cNvSpPr/>
          <p:nvPr/>
        </p:nvSpPr>
        <p:spPr>
          <a:xfrm>
            <a:off x="2390161" y="2610117"/>
            <a:ext cx="4715588" cy="820624"/>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a:solidFill>
                  <a:schemeClr val="tx1"/>
                </a:solidFill>
              </a:rPr>
              <a:t>What % of the budget is generally allocated to transportation &amp; logistics in the industry?</a:t>
            </a:r>
          </a:p>
          <a:p>
            <a:pPr marL="171450" indent="-171450">
              <a:buChar char="•"/>
            </a:pPr>
            <a:r>
              <a:rPr lang="en-IN" sz="1200">
                <a:solidFill>
                  <a:schemeClr val="tx1"/>
                </a:solidFill>
              </a:rPr>
              <a:t>What is the tech currently used for route optimization &amp; have other options been considered?</a:t>
            </a:r>
          </a:p>
        </p:txBody>
      </p:sp>
      <p:sp>
        <p:nvSpPr>
          <p:cNvPr id="46" name="Google Shape;190;p6">
            <a:extLst>
              <a:ext uri="{FF2B5EF4-FFF2-40B4-BE49-F238E27FC236}">
                <a16:creationId xmlns:a16="http://schemas.microsoft.com/office/drawing/2014/main" id="{C17A723B-566D-D0A5-6EAE-1DC5A7B5D54B}"/>
              </a:ext>
            </a:extLst>
          </p:cNvPr>
          <p:cNvSpPr/>
          <p:nvPr/>
        </p:nvSpPr>
        <p:spPr>
          <a:xfrm>
            <a:off x="220117" y="2610118"/>
            <a:ext cx="2037545" cy="82062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Transportation</a:t>
            </a:r>
            <a:endParaRPr lang="en-US"/>
          </a:p>
        </p:txBody>
      </p:sp>
      <p:sp>
        <p:nvSpPr>
          <p:cNvPr id="48" name="Google Shape;190;p6">
            <a:extLst>
              <a:ext uri="{FF2B5EF4-FFF2-40B4-BE49-F238E27FC236}">
                <a16:creationId xmlns:a16="http://schemas.microsoft.com/office/drawing/2014/main" id="{2CA9C379-1D59-4BE1-BFFC-EC6C978C63D9}"/>
              </a:ext>
            </a:extLst>
          </p:cNvPr>
          <p:cNvSpPr/>
          <p:nvPr/>
        </p:nvSpPr>
        <p:spPr>
          <a:xfrm>
            <a:off x="220117" y="3526727"/>
            <a:ext cx="2037545" cy="82062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Storage</a:t>
            </a:r>
            <a:endParaRPr lang="en-US"/>
          </a:p>
        </p:txBody>
      </p:sp>
      <p:sp>
        <p:nvSpPr>
          <p:cNvPr id="49" name="Google Shape;190;p6">
            <a:extLst>
              <a:ext uri="{FF2B5EF4-FFF2-40B4-BE49-F238E27FC236}">
                <a16:creationId xmlns:a16="http://schemas.microsoft.com/office/drawing/2014/main" id="{0A63BFB0-D995-F83E-C824-7EC288E68090}"/>
              </a:ext>
            </a:extLst>
          </p:cNvPr>
          <p:cNvSpPr/>
          <p:nvPr/>
        </p:nvSpPr>
        <p:spPr>
          <a:xfrm>
            <a:off x="2390161" y="3526725"/>
            <a:ext cx="4715588" cy="820624"/>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a:solidFill>
                  <a:schemeClr val="tx1"/>
                </a:solidFill>
              </a:rPr>
              <a:t>How is the quality check of bales carried out on field (moisture content, GCV value, etc.) &amp; at the warehouse?</a:t>
            </a:r>
          </a:p>
          <a:p>
            <a:pPr marL="171450" indent="-171450">
              <a:buChar char="•"/>
            </a:pPr>
            <a:r>
              <a:rPr lang="en-IN" sz="1200">
                <a:solidFill>
                  <a:schemeClr val="tx1"/>
                </a:solidFill>
              </a:rPr>
              <a:t>Are there any existing warehouse that can be utilized to create straw banks for the company?</a:t>
            </a:r>
          </a:p>
        </p:txBody>
      </p:sp>
      <p:sp>
        <p:nvSpPr>
          <p:cNvPr id="51" name="Google Shape;190;p6">
            <a:extLst>
              <a:ext uri="{FF2B5EF4-FFF2-40B4-BE49-F238E27FC236}">
                <a16:creationId xmlns:a16="http://schemas.microsoft.com/office/drawing/2014/main" id="{97945AB3-869E-D72B-CF69-1779478C1FCB}"/>
              </a:ext>
            </a:extLst>
          </p:cNvPr>
          <p:cNvSpPr/>
          <p:nvPr/>
        </p:nvSpPr>
        <p:spPr>
          <a:xfrm>
            <a:off x="2390160" y="4443334"/>
            <a:ext cx="4715588" cy="688103"/>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a:solidFill>
                  <a:schemeClr val="tx1"/>
                </a:solidFill>
              </a:rPr>
              <a:t>What is the capacity (MW) of the firm's plants (current &amp; future)?</a:t>
            </a:r>
          </a:p>
          <a:p>
            <a:pPr marL="171450" indent="-171450">
              <a:buChar char="•"/>
            </a:pPr>
            <a:r>
              <a:rPr lang="en-IN" sz="1200">
                <a:solidFill>
                  <a:schemeClr val="tx1"/>
                </a:solidFill>
              </a:rPr>
              <a:t>What is the expected operational hours &amp; days for the plant?</a:t>
            </a:r>
          </a:p>
          <a:p>
            <a:pPr marL="171450" indent="-171450">
              <a:buChar char="•"/>
            </a:pPr>
            <a:r>
              <a:rPr lang="en-IN" sz="1200">
                <a:solidFill>
                  <a:schemeClr val="tx1"/>
                </a:solidFill>
              </a:rPr>
              <a:t>How many employees are generally required at the plant?</a:t>
            </a:r>
          </a:p>
        </p:txBody>
      </p:sp>
      <p:sp>
        <p:nvSpPr>
          <p:cNvPr id="52" name="Google Shape;190;p6">
            <a:extLst>
              <a:ext uri="{FF2B5EF4-FFF2-40B4-BE49-F238E27FC236}">
                <a16:creationId xmlns:a16="http://schemas.microsoft.com/office/drawing/2014/main" id="{96636AE9-4921-21E6-C4D8-C9F2381590A0}"/>
              </a:ext>
            </a:extLst>
          </p:cNvPr>
          <p:cNvSpPr/>
          <p:nvPr/>
        </p:nvSpPr>
        <p:spPr>
          <a:xfrm>
            <a:off x="220117" y="4443336"/>
            <a:ext cx="2037545" cy="688103"/>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Plant</a:t>
            </a:r>
            <a:endParaRPr lang="en-US"/>
          </a:p>
        </p:txBody>
      </p:sp>
      <p:sp>
        <p:nvSpPr>
          <p:cNvPr id="63" name="Google Shape;190;p6">
            <a:extLst>
              <a:ext uri="{FF2B5EF4-FFF2-40B4-BE49-F238E27FC236}">
                <a16:creationId xmlns:a16="http://schemas.microsoft.com/office/drawing/2014/main" id="{544E9039-57BA-3423-5218-F1B01592187B}"/>
              </a:ext>
            </a:extLst>
          </p:cNvPr>
          <p:cNvSpPr/>
          <p:nvPr/>
        </p:nvSpPr>
        <p:spPr>
          <a:xfrm>
            <a:off x="220118" y="5227423"/>
            <a:ext cx="2037545" cy="116849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Partnerships</a:t>
            </a:r>
            <a:endParaRPr lang="en-US"/>
          </a:p>
        </p:txBody>
      </p:sp>
      <p:sp>
        <p:nvSpPr>
          <p:cNvPr id="128" name="Google Shape;190;p6">
            <a:extLst>
              <a:ext uri="{FF2B5EF4-FFF2-40B4-BE49-F238E27FC236}">
                <a16:creationId xmlns:a16="http://schemas.microsoft.com/office/drawing/2014/main" id="{945ACE67-E0FC-3CDF-E720-398DC28E01EF}"/>
              </a:ext>
            </a:extLst>
          </p:cNvPr>
          <p:cNvSpPr/>
          <p:nvPr/>
        </p:nvSpPr>
        <p:spPr>
          <a:xfrm>
            <a:off x="2384639" y="5227421"/>
            <a:ext cx="4715588" cy="1174016"/>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US" sz="1200">
                <a:solidFill>
                  <a:schemeClr val="tx1"/>
                </a:solidFill>
              </a:rPr>
              <a:t>What kind of long-term agreements or partnerships are you open to, in order to secure a steady feedstock supply?</a:t>
            </a:r>
            <a:endParaRPr lang="en-US"/>
          </a:p>
          <a:p>
            <a:pPr marL="171450" indent="-171450">
              <a:buChar char="•"/>
            </a:pPr>
            <a:r>
              <a:rPr lang="en-US" sz="1200">
                <a:solidFill>
                  <a:schemeClr val="tx1"/>
                </a:solidFill>
              </a:rPr>
              <a:t>Are there any plans to explore alternative sources of feedstock beyond paddy straw to ensure a more resilient supply chain?</a:t>
            </a:r>
          </a:p>
          <a:p>
            <a:pPr marL="171450" indent="-171450">
              <a:buChar char="•"/>
            </a:pPr>
            <a:r>
              <a:rPr lang="en-US" sz="1200">
                <a:solidFill>
                  <a:schemeClr val="tx1"/>
                </a:solidFill>
              </a:rPr>
              <a:t>Business model pivots on other materials like fertilizers etc?</a:t>
            </a:r>
          </a:p>
        </p:txBody>
      </p:sp>
      <p:cxnSp>
        <p:nvCxnSpPr>
          <p:cNvPr id="3" name="Straight Arrow Connector 2">
            <a:extLst>
              <a:ext uri="{FF2B5EF4-FFF2-40B4-BE49-F238E27FC236}">
                <a16:creationId xmlns:a16="http://schemas.microsoft.com/office/drawing/2014/main" id="{7B745901-55EA-0316-A336-8C814B6ADE12}"/>
              </a:ext>
            </a:extLst>
          </p:cNvPr>
          <p:cNvCxnSpPr/>
          <p:nvPr/>
        </p:nvCxnSpPr>
        <p:spPr>
          <a:xfrm flipH="1">
            <a:off x="7224891" y="572871"/>
            <a:ext cx="2210" cy="5911572"/>
          </a:xfrm>
          <a:prstGeom prst="straightConnector1">
            <a:avLst/>
          </a:prstGeom>
          <a:ln w="28575">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6" name="Google Shape;190;p6">
            <a:extLst>
              <a:ext uri="{FF2B5EF4-FFF2-40B4-BE49-F238E27FC236}">
                <a16:creationId xmlns:a16="http://schemas.microsoft.com/office/drawing/2014/main" id="{FEAD9925-4A5D-C2A0-B359-08DBFE376B79}"/>
              </a:ext>
            </a:extLst>
          </p:cNvPr>
          <p:cNvSpPr/>
          <p:nvPr/>
        </p:nvSpPr>
        <p:spPr>
          <a:xfrm>
            <a:off x="8495878" y="540904"/>
            <a:ext cx="2528898" cy="402299"/>
          </a:xfrm>
          <a:prstGeom prst="rect">
            <a:avLst/>
          </a:prstGeom>
          <a:noFill/>
          <a:ln>
            <a:noFill/>
          </a:ln>
        </p:spPr>
        <p:txBody>
          <a:bodyPr spcFirstLastPara="1" wrap="square" lIns="91425" tIns="45700" rIns="91425" bIns="45700" anchor="ctr" anchorCtr="0">
            <a:noAutofit/>
          </a:bodyPr>
          <a:lstStyle/>
          <a:p>
            <a:pPr algn="ctr"/>
            <a:r>
              <a:rPr lang="en-IN" sz="1300" b="1">
                <a:solidFill>
                  <a:schemeClr val="dk1"/>
                </a:solidFill>
              </a:rPr>
              <a:t>Assumptions of Model</a:t>
            </a:r>
            <a:endParaRPr lang="en-US">
              <a:solidFill>
                <a:schemeClr val="dk1"/>
              </a:solidFill>
            </a:endParaRPr>
          </a:p>
        </p:txBody>
      </p:sp>
      <p:sp>
        <p:nvSpPr>
          <p:cNvPr id="7" name="Google Shape;190;p6">
            <a:extLst>
              <a:ext uri="{FF2B5EF4-FFF2-40B4-BE49-F238E27FC236}">
                <a16:creationId xmlns:a16="http://schemas.microsoft.com/office/drawing/2014/main" id="{52DD4F37-4334-C528-CDA2-849E9629F7E6}"/>
              </a:ext>
            </a:extLst>
          </p:cNvPr>
          <p:cNvSpPr/>
          <p:nvPr/>
        </p:nvSpPr>
        <p:spPr>
          <a:xfrm>
            <a:off x="7398467" y="1436033"/>
            <a:ext cx="4580395" cy="1429263"/>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b="1">
                <a:solidFill>
                  <a:schemeClr val="tx1"/>
                </a:solidFill>
              </a:rPr>
              <a:t>Power Rating</a:t>
            </a:r>
            <a:r>
              <a:rPr lang="en-IN" sz="1200">
                <a:solidFill>
                  <a:schemeClr val="tx1"/>
                </a:solidFill>
              </a:rPr>
              <a:t>: All 6 power plants are assumed to be 18MW</a:t>
            </a:r>
          </a:p>
          <a:p>
            <a:pPr marL="171450" indent="-171450">
              <a:buChar char="•"/>
            </a:pPr>
            <a:r>
              <a:rPr lang="en-IN" sz="1200" b="1">
                <a:solidFill>
                  <a:schemeClr val="tx1"/>
                </a:solidFill>
              </a:rPr>
              <a:t>Raw Material:</a:t>
            </a:r>
            <a:r>
              <a:rPr lang="en-IN" sz="1200">
                <a:solidFill>
                  <a:schemeClr val="tx1"/>
                </a:solidFill>
              </a:rPr>
              <a:t> Each 18MW is assumed to consumer 200K Ton of stubble per year (basis </a:t>
            </a:r>
            <a:r>
              <a:rPr lang="en-IN" sz="1200">
                <a:solidFill>
                  <a:schemeClr val="tx1"/>
                </a:solidFill>
                <a:hlinkClick r:id="rId3">
                  <a:extLst>
                    <a:ext uri="{A12FA001-AC4F-418D-AE19-62706E023703}">
                      <ahyp:hlinkClr xmlns:ahyp="http://schemas.microsoft.com/office/drawing/2018/hyperlinkcolor" val="tx"/>
                    </a:ext>
                  </a:extLst>
                </a:hlinkClick>
              </a:rPr>
              <a:t>SAEL, Punjab</a:t>
            </a:r>
            <a:r>
              <a:rPr lang="en-IN" sz="1200">
                <a:solidFill>
                  <a:schemeClr val="tx1"/>
                </a:solidFill>
              </a:rPr>
              <a:t>)</a:t>
            </a:r>
          </a:p>
          <a:p>
            <a:pPr marL="171450" indent="-171450">
              <a:buChar char="•"/>
            </a:pPr>
            <a:r>
              <a:rPr lang="en-IN" sz="1200" b="1">
                <a:solidFill>
                  <a:schemeClr val="tx1"/>
                </a:solidFill>
              </a:rPr>
              <a:t>Operational Hours</a:t>
            </a:r>
            <a:r>
              <a:rPr lang="en-IN" sz="1200">
                <a:solidFill>
                  <a:schemeClr val="tx1"/>
                </a:solidFill>
              </a:rPr>
              <a:t>: Power plant assumed to be operational for 18H/day, 90% of the year</a:t>
            </a:r>
          </a:p>
          <a:p>
            <a:pPr marL="171450" indent="-171450">
              <a:buChar char="•"/>
            </a:pPr>
            <a:r>
              <a:rPr lang="en-IN" sz="1200" b="1">
                <a:solidFill>
                  <a:schemeClr val="tx1"/>
                </a:solidFill>
              </a:rPr>
              <a:t>Tariff Rate</a:t>
            </a:r>
            <a:r>
              <a:rPr lang="en-IN" sz="1200">
                <a:solidFill>
                  <a:schemeClr val="tx1"/>
                </a:solidFill>
              </a:rPr>
              <a:t>: Electricity unit's selling rate assumed to be Rs. 4 (basis the tariff of </a:t>
            </a:r>
            <a:r>
              <a:rPr lang="en-IN" sz="1200">
                <a:solidFill>
                  <a:schemeClr val="tx1"/>
                </a:solidFill>
                <a:hlinkClick r:id="rId3"/>
              </a:rPr>
              <a:t>Punjab State Power Corp. Ltd.</a:t>
            </a:r>
            <a:r>
              <a:rPr lang="en-IN" sz="1200">
                <a:solidFill>
                  <a:schemeClr val="tx1"/>
                </a:solidFill>
              </a:rPr>
              <a:t>)</a:t>
            </a:r>
          </a:p>
        </p:txBody>
      </p:sp>
      <p:sp>
        <p:nvSpPr>
          <p:cNvPr id="4" name="Arrow: Right 3">
            <a:extLst>
              <a:ext uri="{FF2B5EF4-FFF2-40B4-BE49-F238E27FC236}">
                <a16:creationId xmlns:a16="http://schemas.microsoft.com/office/drawing/2014/main" id="{A6DF4AE6-E4B7-825C-5818-1D88FF190C79}"/>
              </a:ext>
            </a:extLst>
          </p:cNvPr>
          <p:cNvSpPr/>
          <p:nvPr/>
        </p:nvSpPr>
        <p:spPr>
          <a:xfrm>
            <a:off x="7342667" y="534985"/>
            <a:ext cx="1490869" cy="392041"/>
          </a:xfrm>
          <a:prstGeom prst="rightArrow">
            <a:avLst/>
          </a:prstGeom>
          <a:solidFill>
            <a:srgbClr val="FAFF66">
              <a:alpha val="37000"/>
            </a:srgbClr>
          </a:solidFill>
          <a:ln w="6350">
            <a:solidFill>
              <a:srgbClr val="9C797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solidFill>
                  <a:schemeClr val="tx1"/>
                </a:solidFill>
                <a:cs typeface="Arial"/>
                <a:hlinkClick r:id="rId4">
                  <a:extLst>
                    <a:ext uri="{A12FA001-AC4F-418D-AE19-62706E023703}">
                      <ahyp:hlinkClr xmlns:ahyp="http://schemas.microsoft.com/office/drawing/2018/hyperlinkcolor" val="tx"/>
                    </a:ext>
                  </a:extLst>
                </a:hlinkClick>
              </a:rPr>
              <a:t>Detailed Assumption</a:t>
            </a:r>
            <a:endParaRPr lang="en-US" sz="900">
              <a:solidFill>
                <a:schemeClr val="tx1"/>
              </a:solidFill>
              <a:cs typeface="Arial"/>
            </a:endParaRPr>
          </a:p>
        </p:txBody>
      </p:sp>
      <p:sp>
        <p:nvSpPr>
          <p:cNvPr id="5" name="Google Shape;190;p6">
            <a:extLst>
              <a:ext uri="{FF2B5EF4-FFF2-40B4-BE49-F238E27FC236}">
                <a16:creationId xmlns:a16="http://schemas.microsoft.com/office/drawing/2014/main" id="{A0F6F9D2-08A3-E465-D149-735C14A0FD86}"/>
              </a:ext>
            </a:extLst>
          </p:cNvPr>
          <p:cNvSpPr/>
          <p:nvPr/>
        </p:nvSpPr>
        <p:spPr>
          <a:xfrm>
            <a:off x="7397042" y="1024311"/>
            <a:ext cx="4618512" cy="33542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Power Plant</a:t>
            </a:r>
            <a:endParaRPr lang="en-US"/>
          </a:p>
        </p:txBody>
      </p:sp>
      <p:sp>
        <p:nvSpPr>
          <p:cNvPr id="8" name="Google Shape;190;p6">
            <a:extLst>
              <a:ext uri="{FF2B5EF4-FFF2-40B4-BE49-F238E27FC236}">
                <a16:creationId xmlns:a16="http://schemas.microsoft.com/office/drawing/2014/main" id="{677B76D9-4DEC-F5B5-A545-5866DD192201}"/>
              </a:ext>
            </a:extLst>
          </p:cNvPr>
          <p:cNvSpPr/>
          <p:nvPr/>
        </p:nvSpPr>
        <p:spPr>
          <a:xfrm>
            <a:off x="7397042" y="2947746"/>
            <a:ext cx="4618512" cy="33542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Procurement Equipment</a:t>
            </a:r>
            <a:endParaRPr lang="en-US"/>
          </a:p>
        </p:txBody>
      </p:sp>
      <p:sp>
        <p:nvSpPr>
          <p:cNvPr id="9" name="Google Shape;190;p6">
            <a:extLst>
              <a:ext uri="{FF2B5EF4-FFF2-40B4-BE49-F238E27FC236}">
                <a16:creationId xmlns:a16="http://schemas.microsoft.com/office/drawing/2014/main" id="{6F318A86-F78B-D128-435D-14FE6A72BBA5}"/>
              </a:ext>
            </a:extLst>
          </p:cNvPr>
          <p:cNvSpPr/>
          <p:nvPr/>
        </p:nvSpPr>
        <p:spPr>
          <a:xfrm>
            <a:off x="7398467" y="3359468"/>
            <a:ext cx="4580395" cy="1429263"/>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b="1">
                <a:solidFill>
                  <a:schemeClr val="tx1"/>
                </a:solidFill>
                <a:hlinkClick r:id="rId5">
                  <a:extLst>
                    <a:ext uri="{A12FA001-AC4F-418D-AE19-62706E023703}">
                      <ahyp:hlinkClr xmlns:ahyp="http://schemas.microsoft.com/office/drawing/2018/hyperlinkcolor" val="tx"/>
                    </a:ext>
                  </a:extLst>
                </a:hlinkClick>
              </a:rPr>
              <a:t>Baler</a:t>
            </a:r>
            <a:r>
              <a:rPr lang="en-IN" sz="1200" b="1">
                <a:solidFill>
                  <a:schemeClr val="tx1"/>
                </a:solidFill>
              </a:rPr>
              <a:t>: </a:t>
            </a:r>
            <a:r>
              <a:rPr lang="en-IN" sz="1200">
                <a:solidFill>
                  <a:schemeClr val="tx1"/>
                </a:solidFill>
              </a:rPr>
              <a:t>Assumed to cost Rs. 14L with life of 15 years</a:t>
            </a:r>
          </a:p>
          <a:p>
            <a:pPr marL="171450" indent="-171450">
              <a:buChar char="•"/>
            </a:pPr>
            <a:r>
              <a:rPr lang="en-IN" sz="1200">
                <a:solidFill>
                  <a:schemeClr val="tx1"/>
                </a:solidFill>
                <a:hlinkClick r:id="rId6">
                  <a:extLst>
                    <a:ext uri="{A12FA001-AC4F-418D-AE19-62706E023703}">
                      <ahyp:hlinkClr xmlns:ahyp="http://schemas.microsoft.com/office/drawing/2018/hyperlinkcolor" val="tx"/>
                    </a:ext>
                  </a:extLst>
                </a:hlinkClick>
              </a:rPr>
              <a:t>Tractor</a:t>
            </a:r>
            <a:r>
              <a:rPr lang="en-IN" sz="1200">
                <a:solidFill>
                  <a:schemeClr val="tx1"/>
                </a:solidFill>
              </a:rPr>
              <a:t>: Assumed to cost Rs. 9L with life of 15 years</a:t>
            </a:r>
          </a:p>
          <a:p>
            <a:pPr marL="171450" indent="-171450">
              <a:buChar char="•"/>
            </a:pPr>
            <a:r>
              <a:rPr lang="en-IN" sz="1200">
                <a:solidFill>
                  <a:schemeClr val="tx1"/>
                </a:solidFill>
              </a:rPr>
              <a:t>Labour: Assumed that each machine requires 1 person + 2 assistants (Semi-Skilled), paid Rs. 413/day (basis </a:t>
            </a:r>
            <a:r>
              <a:rPr lang="en-IN" sz="1200">
                <a:solidFill>
                  <a:schemeClr val="tx1"/>
                </a:solidFill>
                <a:hlinkClick r:id="rId7"/>
              </a:rPr>
              <a:t>Haryana Labour Wage</a:t>
            </a:r>
            <a:r>
              <a:rPr lang="en-IN" sz="1200">
                <a:solidFill>
                  <a:schemeClr val="tx1"/>
                </a:solidFill>
              </a:rPr>
              <a:t>)</a:t>
            </a:r>
          </a:p>
          <a:p>
            <a:pPr marL="171450" indent="-171450">
              <a:buChar char="•"/>
            </a:pPr>
            <a:r>
              <a:rPr lang="en-IN" sz="1200" b="1">
                <a:solidFill>
                  <a:schemeClr val="tx1"/>
                </a:solidFill>
              </a:rPr>
              <a:t>Diesel</a:t>
            </a:r>
            <a:r>
              <a:rPr lang="en-IN" sz="1200">
                <a:solidFill>
                  <a:schemeClr val="tx1"/>
                </a:solidFill>
              </a:rPr>
              <a:t>: Assumed to cost Rs. 1K/acre, considering the baler rent costs of Rs. 1-1.5K/acre </a:t>
            </a:r>
          </a:p>
        </p:txBody>
      </p:sp>
      <p:sp>
        <p:nvSpPr>
          <p:cNvPr id="10" name="Google Shape;190;p6">
            <a:extLst>
              <a:ext uri="{FF2B5EF4-FFF2-40B4-BE49-F238E27FC236}">
                <a16:creationId xmlns:a16="http://schemas.microsoft.com/office/drawing/2014/main" id="{840C2244-6C84-B581-DAA4-3F413EB7B272}"/>
              </a:ext>
            </a:extLst>
          </p:cNvPr>
          <p:cNvSpPr/>
          <p:nvPr/>
        </p:nvSpPr>
        <p:spPr>
          <a:xfrm>
            <a:off x="7397042" y="4895762"/>
            <a:ext cx="4618512" cy="335424"/>
          </a:xfrm>
          <a:prstGeom prst="rect">
            <a:avLst/>
          </a:prstGeom>
          <a:solidFill>
            <a:schemeClr val="accent6"/>
          </a:solidFill>
          <a:ln>
            <a:noFill/>
          </a:ln>
        </p:spPr>
        <p:txBody>
          <a:bodyPr spcFirstLastPara="1" wrap="square" lIns="91425" tIns="45700" rIns="91425" bIns="45700" anchor="ctr" anchorCtr="0">
            <a:noAutofit/>
          </a:bodyPr>
          <a:lstStyle/>
          <a:p>
            <a:pPr algn="ctr"/>
            <a:r>
              <a:rPr lang="en-IN" b="1">
                <a:solidFill>
                  <a:srgbClr val="FFFFFF"/>
                </a:solidFill>
              </a:rPr>
              <a:t>Transportation</a:t>
            </a:r>
            <a:endParaRPr lang="en-US"/>
          </a:p>
        </p:txBody>
      </p:sp>
      <p:sp>
        <p:nvSpPr>
          <p:cNvPr id="14" name="Google Shape;190;p6">
            <a:extLst>
              <a:ext uri="{FF2B5EF4-FFF2-40B4-BE49-F238E27FC236}">
                <a16:creationId xmlns:a16="http://schemas.microsoft.com/office/drawing/2014/main" id="{DB777BB8-67C9-2724-6CE6-5967CE86C9FB}"/>
              </a:ext>
            </a:extLst>
          </p:cNvPr>
          <p:cNvSpPr/>
          <p:nvPr/>
        </p:nvSpPr>
        <p:spPr>
          <a:xfrm>
            <a:off x="7398467" y="5325920"/>
            <a:ext cx="4580395" cy="1078989"/>
          </a:xfrm>
          <a:prstGeom prst="rect">
            <a:avLst/>
          </a:prstGeom>
          <a:noFill/>
          <a:ln w="12700">
            <a:solidFill>
              <a:schemeClr val="accent6"/>
            </a:solidFill>
            <a:prstDash val="dash"/>
          </a:ln>
        </p:spPr>
        <p:txBody>
          <a:bodyPr spcFirstLastPara="1" wrap="square" lIns="91425" tIns="45700" rIns="91425" bIns="45700" anchor="ctr" anchorCtr="0">
            <a:noAutofit/>
          </a:bodyPr>
          <a:lstStyle/>
          <a:p>
            <a:pPr marL="171450" indent="-171450">
              <a:buChar char="•"/>
            </a:pPr>
            <a:r>
              <a:rPr lang="en-IN" sz="1200" b="1">
                <a:solidFill>
                  <a:schemeClr val="tx1"/>
                </a:solidFill>
              </a:rPr>
              <a:t>Freight Cost by Train: </a:t>
            </a:r>
            <a:r>
              <a:rPr lang="en-IN" sz="1200">
                <a:solidFill>
                  <a:schemeClr val="tx1"/>
                </a:solidFill>
              </a:rPr>
              <a:t>Assumed to be Rs. 0.8/KM for 1Ton (basis </a:t>
            </a:r>
            <a:r>
              <a:rPr lang="en-IN" sz="1200">
                <a:solidFill>
                  <a:schemeClr val="tx1"/>
                </a:solidFill>
                <a:hlinkClick r:id="rId8">
                  <a:extLst>
                    <a:ext uri="{A12FA001-AC4F-418D-AE19-62706E023703}">
                      <ahyp:hlinkClr xmlns:ahyp="http://schemas.microsoft.com/office/drawing/2018/hyperlinkcolor" val="tx"/>
                    </a:ext>
                  </a:extLst>
                </a:hlinkClick>
              </a:rPr>
              <a:t>freight rates of Indian Railways</a:t>
            </a:r>
            <a:r>
              <a:rPr lang="en-IN" sz="1200">
                <a:solidFill>
                  <a:schemeClr val="tx1"/>
                </a:solidFill>
              </a:rPr>
              <a:t>)</a:t>
            </a:r>
          </a:p>
          <a:p>
            <a:pPr marL="171450" indent="-171450">
              <a:buChar char="•"/>
            </a:pPr>
            <a:r>
              <a:rPr lang="en-IN" sz="1200" b="1">
                <a:solidFill>
                  <a:schemeClr val="tx1"/>
                </a:solidFill>
              </a:rPr>
              <a:t>Freight Cost by Truck</a:t>
            </a:r>
            <a:r>
              <a:rPr lang="en-IN" sz="1200">
                <a:solidFill>
                  <a:schemeClr val="tx1"/>
                </a:solidFill>
              </a:rPr>
              <a:t>: Assumed to be Rs. 1.1/KM for 1Ton (basis </a:t>
            </a:r>
            <a:r>
              <a:rPr lang="en-IN" sz="1200">
                <a:solidFill>
                  <a:schemeClr val="tx1"/>
                </a:solidFill>
                <a:hlinkClick r:id="rId9">
                  <a:extLst>
                    <a:ext uri="{A12FA001-AC4F-418D-AE19-62706E023703}">
                      <ahyp:hlinkClr xmlns:ahyp="http://schemas.microsoft.com/office/drawing/2018/hyperlinkcolor" val="tx"/>
                    </a:ext>
                  </a:extLst>
                </a:hlinkClick>
              </a:rPr>
              <a:t>news article</a:t>
            </a:r>
            <a:r>
              <a:rPr lang="en-IN" sz="1200">
                <a:solidFill>
                  <a:schemeClr val="tx1"/>
                </a:solidFill>
              </a:rPr>
              <a:t>)</a:t>
            </a:r>
          </a:p>
        </p:txBody>
      </p:sp>
    </p:spTree>
    <p:extLst>
      <p:ext uri="{BB962C8B-B14F-4D97-AF65-F5344CB8AC3E}">
        <p14:creationId xmlns:p14="http://schemas.microsoft.com/office/powerpoint/2010/main" val="2651196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31" name="Google Shape;31;p1"/>
          <p:cNvSpPr txBox="1">
            <a:spLocks noGrp="1"/>
          </p:cNvSpPr>
          <p:nvPr>
            <p:ph type="title"/>
          </p:nvPr>
        </p:nvSpPr>
        <p:spPr>
          <a:xfrm>
            <a:off x="0" y="-204048"/>
            <a:ext cx="10972800" cy="864096"/>
          </a:xfrm>
          <a:prstGeom prst="rect">
            <a:avLst/>
          </a:prstGeom>
          <a:noFill/>
          <a:ln>
            <a:noFill/>
          </a:ln>
        </p:spPr>
        <p:txBody>
          <a:bodyPr spcFirstLastPara="1" wrap="square" lIns="91425" tIns="45700" rIns="91425" bIns="45700" anchor="ctr" anchorCtr="0">
            <a:normAutofit/>
          </a:bodyPr>
          <a:lstStyle/>
          <a:p>
            <a:r>
              <a:rPr lang="en-IN"/>
              <a:t>Annexure 5 : REFERENCES</a:t>
            </a:r>
            <a:endParaRPr/>
          </a:p>
        </p:txBody>
      </p:sp>
      <p:grpSp>
        <p:nvGrpSpPr>
          <p:cNvPr id="32" name="Google Shape;32;p1" descr="{&quot;Key&quot;:&quot;POWER_USER_SHAPE_ICON&quot;,&quot;Value&quot;:&quot;POWER_USER_SHAPE_ICON_STYLE_1&quot;}"/>
          <p:cNvGrpSpPr/>
          <p:nvPr/>
        </p:nvGrpSpPr>
        <p:grpSpPr>
          <a:xfrm>
            <a:off x="4762687" y="1872743"/>
            <a:ext cx="634238" cy="367355"/>
            <a:chOff x="5095875" y="3181351"/>
            <a:chExt cx="641351" cy="371475"/>
          </a:xfrm>
        </p:grpSpPr>
        <p:sp>
          <p:nvSpPr>
            <p:cNvPr id="33" name="Google Shape;33;p1"/>
            <p:cNvSpPr/>
            <p:nvPr/>
          </p:nvSpPr>
          <p:spPr>
            <a:xfrm>
              <a:off x="5311775" y="3300413"/>
              <a:ext cx="211138" cy="18256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
            <p:cNvSpPr/>
            <p:nvPr/>
          </p:nvSpPr>
          <p:spPr>
            <a:xfrm>
              <a:off x="5392738" y="3357563"/>
              <a:ext cx="49213"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
            <p:cNvSpPr/>
            <p:nvPr/>
          </p:nvSpPr>
          <p:spPr>
            <a:xfrm>
              <a:off x="5659438"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
            <p:cNvSpPr/>
            <p:nvPr/>
          </p:nvSpPr>
          <p:spPr>
            <a:xfrm>
              <a:off x="5681663"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7" name="Google Shape;37;p1"/>
            <p:cNvSpPr/>
            <p:nvPr/>
          </p:nvSpPr>
          <p:spPr>
            <a:xfrm>
              <a:off x="5659438"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 name="Google Shape;38;p1"/>
            <p:cNvSpPr/>
            <p:nvPr/>
          </p:nvSpPr>
          <p:spPr>
            <a:xfrm>
              <a:off x="5124450" y="3495676"/>
              <a:ext cx="50800" cy="52388"/>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 name="Google Shape;39;p1"/>
            <p:cNvSpPr/>
            <p:nvPr/>
          </p:nvSpPr>
          <p:spPr>
            <a:xfrm>
              <a:off x="5102225" y="3367088"/>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 name="Google Shape;40;p1"/>
            <p:cNvSpPr/>
            <p:nvPr/>
          </p:nvSpPr>
          <p:spPr>
            <a:xfrm>
              <a:off x="5124450" y="3236913"/>
              <a:ext cx="50800" cy="50800"/>
            </a:xfrm>
            <a:prstGeom prst="ellipse">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 name="Google Shape;41;p1"/>
            <p:cNvSpPr/>
            <p:nvPr/>
          </p:nvSpPr>
          <p:spPr>
            <a:xfrm>
              <a:off x="5307013" y="3295651"/>
              <a:ext cx="220663" cy="193675"/>
            </a:xfrm>
            <a:custGeom>
              <a:avLst/>
              <a:gdLst/>
              <a:ahLst/>
              <a:cxnLst/>
              <a:rect l="l" t="t" r="r" b="b"/>
              <a:pathLst>
                <a:path w="328" h="286" extrusionOk="0">
                  <a:moveTo>
                    <a:pt x="16" y="269"/>
                  </a:moveTo>
                  <a:lnTo>
                    <a:pt x="312" y="269"/>
                  </a:lnTo>
                  <a:lnTo>
                    <a:pt x="312" y="16"/>
                  </a:lnTo>
                  <a:lnTo>
                    <a:pt x="16" y="16"/>
                  </a:lnTo>
                  <a:lnTo>
                    <a:pt x="16" y="269"/>
                  </a:lnTo>
                  <a:close/>
                  <a:moveTo>
                    <a:pt x="328" y="286"/>
                  </a:moveTo>
                  <a:lnTo>
                    <a:pt x="0" y="286"/>
                  </a:lnTo>
                  <a:lnTo>
                    <a:pt x="0" y="0"/>
                  </a:lnTo>
                  <a:lnTo>
                    <a:pt x="328" y="0"/>
                  </a:lnTo>
                  <a:lnTo>
                    <a:pt x="328" y="2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2" name="Google Shape;42;p1"/>
            <p:cNvSpPr/>
            <p:nvPr/>
          </p:nvSpPr>
          <p:spPr>
            <a:xfrm>
              <a:off x="5334000" y="3181351"/>
              <a:ext cx="166688" cy="125413"/>
            </a:xfrm>
            <a:custGeom>
              <a:avLst/>
              <a:gdLst/>
              <a:ahLst/>
              <a:cxnLst/>
              <a:rect l="l" t="t" r="r" b="b"/>
              <a:pathLst>
                <a:path w="245" h="186" extrusionOk="0">
                  <a:moveTo>
                    <a:pt x="245" y="186"/>
                  </a:moveTo>
                  <a:lnTo>
                    <a:pt x="201" y="186"/>
                  </a:lnTo>
                  <a:lnTo>
                    <a:pt x="201" y="170"/>
                  </a:lnTo>
                  <a:lnTo>
                    <a:pt x="229" y="170"/>
                  </a:lnTo>
                  <a:lnTo>
                    <a:pt x="229" y="122"/>
                  </a:lnTo>
                  <a:cubicBezTo>
                    <a:pt x="229" y="64"/>
                    <a:pt x="181" y="16"/>
                    <a:pt x="123" y="16"/>
                  </a:cubicBezTo>
                  <a:cubicBezTo>
                    <a:pt x="65" y="16"/>
                    <a:pt x="17" y="64"/>
                    <a:pt x="17" y="122"/>
                  </a:cubicBezTo>
                  <a:lnTo>
                    <a:pt x="17" y="170"/>
                  </a:lnTo>
                  <a:lnTo>
                    <a:pt x="45" y="170"/>
                  </a:lnTo>
                  <a:lnTo>
                    <a:pt x="45" y="186"/>
                  </a:lnTo>
                  <a:lnTo>
                    <a:pt x="0" y="186"/>
                  </a:lnTo>
                  <a:lnTo>
                    <a:pt x="0" y="122"/>
                  </a:lnTo>
                  <a:cubicBezTo>
                    <a:pt x="0" y="55"/>
                    <a:pt x="55" y="0"/>
                    <a:pt x="123" y="0"/>
                  </a:cubicBezTo>
                  <a:cubicBezTo>
                    <a:pt x="190" y="0"/>
                    <a:pt x="245" y="55"/>
                    <a:pt x="245" y="122"/>
                  </a:cubicBezTo>
                  <a:lnTo>
                    <a:pt x="245" y="186"/>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 name="Google Shape;43;p1"/>
            <p:cNvSpPr/>
            <p:nvPr/>
          </p:nvSpPr>
          <p:spPr>
            <a:xfrm>
              <a:off x="5386388" y="3351213"/>
              <a:ext cx="61913" cy="61913"/>
            </a:xfrm>
            <a:custGeom>
              <a:avLst/>
              <a:gdLst/>
              <a:ahLst/>
              <a:cxnLst/>
              <a:rect l="l" t="t" r="r" b="b"/>
              <a:pathLst>
                <a:path w="91" h="91" extrusionOk="0">
                  <a:moveTo>
                    <a:pt x="46" y="17"/>
                  </a:moveTo>
                  <a:cubicBezTo>
                    <a:pt x="30" y="17"/>
                    <a:pt x="17" y="30"/>
                    <a:pt x="17" y="46"/>
                  </a:cubicBezTo>
                  <a:cubicBezTo>
                    <a:pt x="17" y="62"/>
                    <a:pt x="30" y="75"/>
                    <a:pt x="46" y="75"/>
                  </a:cubicBezTo>
                  <a:cubicBezTo>
                    <a:pt x="62" y="75"/>
                    <a:pt x="75" y="62"/>
                    <a:pt x="75" y="46"/>
                  </a:cubicBezTo>
                  <a:cubicBezTo>
                    <a:pt x="75" y="30"/>
                    <a:pt x="62" y="17"/>
                    <a:pt x="46" y="17"/>
                  </a:cubicBezTo>
                  <a:close/>
                  <a:moveTo>
                    <a:pt x="46" y="91"/>
                  </a:moveTo>
                  <a:cubicBezTo>
                    <a:pt x="21" y="91"/>
                    <a:pt x="0" y="71"/>
                    <a:pt x="0" y="46"/>
                  </a:cubicBezTo>
                  <a:cubicBezTo>
                    <a:pt x="0" y="21"/>
                    <a:pt x="21" y="0"/>
                    <a:pt x="46" y="0"/>
                  </a:cubicBezTo>
                  <a:cubicBezTo>
                    <a:pt x="71" y="0"/>
                    <a:pt x="91" y="21"/>
                    <a:pt x="91" y="46"/>
                  </a:cubicBezTo>
                  <a:cubicBezTo>
                    <a:pt x="91" y="71"/>
                    <a:pt x="71" y="91"/>
                    <a:pt x="46" y="91"/>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 name="Google Shape;44;p1"/>
            <p:cNvSpPr/>
            <p:nvPr/>
          </p:nvSpPr>
          <p:spPr>
            <a:xfrm>
              <a:off x="5411788" y="3408363"/>
              <a:ext cx="11113" cy="365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1"/>
            <p:cNvSpPr/>
            <p:nvPr/>
          </p:nvSpPr>
          <p:spPr>
            <a:xfrm>
              <a:off x="5556250" y="3276601"/>
              <a:ext cx="115888" cy="71438"/>
            </a:xfrm>
            <a:custGeom>
              <a:avLst/>
              <a:gdLst/>
              <a:ahLst/>
              <a:cxnLst/>
              <a:rect l="l" t="t" r="r" b="b"/>
              <a:pathLst>
                <a:path w="73" h="45" extrusionOk="0">
                  <a:moveTo>
                    <a:pt x="36" y="45"/>
                  </a:moveTo>
                  <a:lnTo>
                    <a:pt x="0" y="45"/>
                  </a:lnTo>
                  <a:lnTo>
                    <a:pt x="0" y="38"/>
                  </a:lnTo>
                  <a:lnTo>
                    <a:pt x="33" y="38"/>
                  </a:lnTo>
                  <a:lnTo>
                    <a:pt x="67" y="0"/>
                  </a:lnTo>
                  <a:lnTo>
                    <a:pt x="73" y="5"/>
                  </a:lnTo>
                  <a:lnTo>
                    <a:pt x="36"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1"/>
            <p:cNvSpPr/>
            <p:nvPr/>
          </p:nvSpPr>
          <p:spPr>
            <a:xfrm>
              <a:off x="56530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1"/>
            <p:cNvSpPr/>
            <p:nvPr/>
          </p:nvSpPr>
          <p:spPr>
            <a:xfrm>
              <a:off x="5675313"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5" y="62"/>
                    <a:pt x="75" y="46"/>
                  </a:cubicBezTo>
                  <a:cubicBezTo>
                    <a:pt x="75" y="30"/>
                    <a:pt x="62" y="17"/>
                    <a:pt x="46" y="17"/>
                  </a:cubicBezTo>
                  <a:close/>
                  <a:moveTo>
                    <a:pt x="46" y="92"/>
                  </a:moveTo>
                  <a:cubicBezTo>
                    <a:pt x="21" y="92"/>
                    <a:pt x="0" y="72"/>
                    <a:pt x="0" y="46"/>
                  </a:cubicBezTo>
                  <a:cubicBezTo>
                    <a:pt x="0" y="21"/>
                    <a:pt x="21" y="0"/>
                    <a:pt x="46" y="0"/>
                  </a:cubicBezTo>
                  <a:cubicBezTo>
                    <a:pt x="71" y="0"/>
                    <a:pt x="92" y="21"/>
                    <a:pt x="92" y="46"/>
                  </a:cubicBezTo>
                  <a:cubicBezTo>
                    <a:pt x="92" y="72"/>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 name="Google Shape;48;p1"/>
            <p:cNvSpPr/>
            <p:nvPr/>
          </p:nvSpPr>
          <p:spPr>
            <a:xfrm>
              <a:off x="5556250" y="3435351"/>
              <a:ext cx="115888" cy="71438"/>
            </a:xfrm>
            <a:custGeom>
              <a:avLst/>
              <a:gdLst/>
              <a:ahLst/>
              <a:cxnLst/>
              <a:rect l="l" t="t" r="r" b="b"/>
              <a:pathLst>
                <a:path w="73" h="45" extrusionOk="0">
                  <a:moveTo>
                    <a:pt x="67" y="45"/>
                  </a:moveTo>
                  <a:lnTo>
                    <a:pt x="33" y="7"/>
                  </a:lnTo>
                  <a:lnTo>
                    <a:pt x="0" y="7"/>
                  </a:lnTo>
                  <a:lnTo>
                    <a:pt x="0" y="0"/>
                  </a:lnTo>
                  <a:lnTo>
                    <a:pt x="36" y="0"/>
                  </a:lnTo>
                  <a:lnTo>
                    <a:pt x="73" y="40"/>
                  </a:lnTo>
                  <a:lnTo>
                    <a:pt x="67"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 name="Google Shape;49;p1"/>
            <p:cNvSpPr/>
            <p:nvPr/>
          </p:nvSpPr>
          <p:spPr>
            <a:xfrm>
              <a:off x="56530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 name="Google Shape;50;p1"/>
            <p:cNvSpPr/>
            <p:nvPr/>
          </p:nvSpPr>
          <p:spPr>
            <a:xfrm>
              <a:off x="5556250"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1"/>
            <p:cNvSpPr/>
            <p:nvPr/>
          </p:nvSpPr>
          <p:spPr>
            <a:xfrm>
              <a:off x="5162550" y="3435351"/>
              <a:ext cx="115888" cy="71438"/>
            </a:xfrm>
            <a:custGeom>
              <a:avLst/>
              <a:gdLst/>
              <a:ahLst/>
              <a:cxnLst/>
              <a:rect l="l" t="t" r="r" b="b"/>
              <a:pathLst>
                <a:path w="73" h="45" extrusionOk="0">
                  <a:moveTo>
                    <a:pt x="5" y="45"/>
                  </a:moveTo>
                  <a:lnTo>
                    <a:pt x="0" y="40"/>
                  </a:lnTo>
                  <a:lnTo>
                    <a:pt x="37" y="0"/>
                  </a:lnTo>
                  <a:lnTo>
                    <a:pt x="73" y="0"/>
                  </a:lnTo>
                  <a:lnTo>
                    <a:pt x="73" y="7"/>
                  </a:lnTo>
                  <a:lnTo>
                    <a:pt x="40" y="7"/>
                  </a:lnTo>
                  <a:lnTo>
                    <a:pt x="5"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 name="Google Shape;52;p1"/>
            <p:cNvSpPr/>
            <p:nvPr/>
          </p:nvSpPr>
          <p:spPr>
            <a:xfrm>
              <a:off x="5119688" y="3490913"/>
              <a:ext cx="61913" cy="61913"/>
            </a:xfrm>
            <a:custGeom>
              <a:avLst/>
              <a:gdLst/>
              <a:ahLst/>
              <a:cxnLst/>
              <a:rect l="l" t="t" r="r" b="b"/>
              <a:pathLst>
                <a:path w="92" h="92" extrusionOk="0">
                  <a:moveTo>
                    <a:pt x="46" y="17"/>
                  </a:moveTo>
                  <a:cubicBezTo>
                    <a:pt x="29" y="17"/>
                    <a:pt x="16" y="30"/>
                    <a:pt x="16" y="46"/>
                  </a:cubicBezTo>
                  <a:cubicBezTo>
                    <a:pt x="16" y="62"/>
                    <a:pt x="29" y="75"/>
                    <a:pt x="46" y="75"/>
                  </a:cubicBezTo>
                  <a:cubicBezTo>
                    <a:pt x="62" y="75"/>
                    <a:pt x="75" y="62"/>
                    <a:pt x="75" y="46"/>
                  </a:cubicBezTo>
                  <a:cubicBezTo>
                    <a:pt x="75" y="30"/>
                    <a:pt x="62" y="17"/>
                    <a:pt x="46" y="17"/>
                  </a:cubicBezTo>
                  <a:close/>
                  <a:moveTo>
                    <a:pt x="46" y="92"/>
                  </a:moveTo>
                  <a:cubicBezTo>
                    <a:pt x="20" y="92"/>
                    <a:pt x="0" y="71"/>
                    <a:pt x="0" y="46"/>
                  </a:cubicBezTo>
                  <a:cubicBezTo>
                    <a:pt x="0" y="21"/>
                    <a:pt x="20" y="0"/>
                    <a:pt x="46" y="0"/>
                  </a:cubicBezTo>
                  <a:cubicBezTo>
                    <a:pt x="71" y="0"/>
                    <a:pt x="92" y="21"/>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1"/>
            <p:cNvSpPr/>
            <p:nvPr/>
          </p:nvSpPr>
          <p:spPr>
            <a:xfrm>
              <a:off x="5095875" y="3360738"/>
              <a:ext cx="61913" cy="61913"/>
            </a:xfrm>
            <a:custGeom>
              <a:avLst/>
              <a:gdLst/>
              <a:ahLst/>
              <a:cxnLst/>
              <a:rect l="l" t="t" r="r" b="b"/>
              <a:pathLst>
                <a:path w="92" h="92" extrusionOk="0">
                  <a:moveTo>
                    <a:pt x="46" y="17"/>
                  </a:moveTo>
                  <a:cubicBezTo>
                    <a:pt x="30" y="17"/>
                    <a:pt x="17" y="30"/>
                    <a:pt x="17" y="46"/>
                  </a:cubicBezTo>
                  <a:cubicBezTo>
                    <a:pt x="17" y="62"/>
                    <a:pt x="30" y="76"/>
                    <a:pt x="46" y="76"/>
                  </a:cubicBezTo>
                  <a:cubicBezTo>
                    <a:pt x="62" y="76"/>
                    <a:pt x="76" y="62"/>
                    <a:pt x="76" y="46"/>
                  </a:cubicBezTo>
                  <a:cubicBezTo>
                    <a:pt x="76" y="30"/>
                    <a:pt x="62" y="17"/>
                    <a:pt x="46" y="17"/>
                  </a:cubicBezTo>
                  <a:close/>
                  <a:moveTo>
                    <a:pt x="46" y="92"/>
                  </a:moveTo>
                  <a:cubicBezTo>
                    <a:pt x="21" y="92"/>
                    <a:pt x="0" y="72"/>
                    <a:pt x="0" y="46"/>
                  </a:cubicBezTo>
                  <a:cubicBezTo>
                    <a:pt x="0" y="21"/>
                    <a:pt x="21" y="0"/>
                    <a:pt x="46" y="0"/>
                  </a:cubicBezTo>
                  <a:cubicBezTo>
                    <a:pt x="72" y="0"/>
                    <a:pt x="92" y="21"/>
                    <a:pt x="92" y="46"/>
                  </a:cubicBezTo>
                  <a:cubicBezTo>
                    <a:pt x="92" y="72"/>
                    <a:pt x="72"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1"/>
            <p:cNvSpPr/>
            <p:nvPr/>
          </p:nvSpPr>
          <p:spPr>
            <a:xfrm>
              <a:off x="5162550" y="3276601"/>
              <a:ext cx="115888" cy="71438"/>
            </a:xfrm>
            <a:custGeom>
              <a:avLst/>
              <a:gdLst/>
              <a:ahLst/>
              <a:cxnLst/>
              <a:rect l="l" t="t" r="r" b="b"/>
              <a:pathLst>
                <a:path w="73" h="45" extrusionOk="0">
                  <a:moveTo>
                    <a:pt x="73" y="45"/>
                  </a:moveTo>
                  <a:lnTo>
                    <a:pt x="37" y="45"/>
                  </a:lnTo>
                  <a:lnTo>
                    <a:pt x="0" y="5"/>
                  </a:lnTo>
                  <a:lnTo>
                    <a:pt x="5" y="0"/>
                  </a:lnTo>
                  <a:lnTo>
                    <a:pt x="40" y="38"/>
                  </a:lnTo>
                  <a:lnTo>
                    <a:pt x="73" y="38"/>
                  </a:lnTo>
                  <a:lnTo>
                    <a:pt x="73" y="45"/>
                  </a:ln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1"/>
            <p:cNvSpPr/>
            <p:nvPr/>
          </p:nvSpPr>
          <p:spPr>
            <a:xfrm>
              <a:off x="5119688" y="3230563"/>
              <a:ext cx="61913" cy="61913"/>
            </a:xfrm>
            <a:custGeom>
              <a:avLst/>
              <a:gdLst/>
              <a:ahLst/>
              <a:cxnLst/>
              <a:rect l="l" t="t" r="r" b="b"/>
              <a:pathLst>
                <a:path w="92" h="92" extrusionOk="0">
                  <a:moveTo>
                    <a:pt x="46" y="16"/>
                  </a:moveTo>
                  <a:cubicBezTo>
                    <a:pt x="29" y="16"/>
                    <a:pt x="16" y="29"/>
                    <a:pt x="16" y="46"/>
                  </a:cubicBezTo>
                  <a:cubicBezTo>
                    <a:pt x="16" y="62"/>
                    <a:pt x="29" y="75"/>
                    <a:pt x="46" y="75"/>
                  </a:cubicBezTo>
                  <a:cubicBezTo>
                    <a:pt x="62" y="75"/>
                    <a:pt x="75" y="62"/>
                    <a:pt x="75" y="46"/>
                  </a:cubicBezTo>
                  <a:cubicBezTo>
                    <a:pt x="75" y="29"/>
                    <a:pt x="62" y="16"/>
                    <a:pt x="46" y="16"/>
                  </a:cubicBezTo>
                  <a:close/>
                  <a:moveTo>
                    <a:pt x="46" y="92"/>
                  </a:moveTo>
                  <a:cubicBezTo>
                    <a:pt x="20" y="92"/>
                    <a:pt x="0" y="71"/>
                    <a:pt x="0" y="46"/>
                  </a:cubicBezTo>
                  <a:cubicBezTo>
                    <a:pt x="0" y="20"/>
                    <a:pt x="20" y="0"/>
                    <a:pt x="46" y="0"/>
                  </a:cubicBezTo>
                  <a:cubicBezTo>
                    <a:pt x="71" y="0"/>
                    <a:pt x="92" y="20"/>
                    <a:pt x="92" y="46"/>
                  </a:cubicBezTo>
                  <a:cubicBezTo>
                    <a:pt x="92" y="71"/>
                    <a:pt x="71" y="92"/>
                    <a:pt x="46" y="92"/>
                  </a:cubicBezTo>
                  <a:close/>
                </a:path>
              </a:pathLst>
            </a:cu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 name="Google Shape;56;p1"/>
            <p:cNvSpPr/>
            <p:nvPr/>
          </p:nvSpPr>
          <p:spPr>
            <a:xfrm>
              <a:off x="5153025" y="3386138"/>
              <a:ext cx="125413" cy="11113"/>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7" name="Google Shape;57;p1" descr="{&quot;Key&quot;:&quot;POWER_USER_SHAPE_ICON&quot;,&quot;Value&quot;:&quot;POWER_USER_SHAPE_ICON_STYLE_1&quot;}"/>
          <p:cNvGrpSpPr/>
          <p:nvPr/>
        </p:nvGrpSpPr>
        <p:grpSpPr>
          <a:xfrm>
            <a:off x="2786644" y="1809909"/>
            <a:ext cx="473141" cy="473142"/>
            <a:chOff x="1333500" y="2614613"/>
            <a:chExt cx="638175" cy="638176"/>
          </a:xfrm>
        </p:grpSpPr>
        <p:sp>
          <p:nvSpPr>
            <p:cNvPr id="58" name="Google Shape;58;p1"/>
            <p:cNvSpPr/>
            <p:nvPr/>
          </p:nvSpPr>
          <p:spPr>
            <a:xfrm>
              <a:off x="1643063" y="2614613"/>
              <a:ext cx="19050" cy="201613"/>
            </a:xfrm>
            <a:custGeom>
              <a:avLst/>
              <a:gdLst/>
              <a:ahLst/>
              <a:cxnLst/>
              <a:rect l="l" t="t" r="r" b="b"/>
              <a:pathLst>
                <a:path w="33" h="337" extrusionOk="0">
                  <a:moveTo>
                    <a:pt x="17" y="337"/>
                  </a:moveTo>
                  <a:cubicBezTo>
                    <a:pt x="26" y="337"/>
                    <a:pt x="33" y="330"/>
                    <a:pt x="33" y="321"/>
                  </a:cubicBezTo>
                  <a:lnTo>
                    <a:pt x="33" y="17"/>
                  </a:lnTo>
                  <a:cubicBezTo>
                    <a:pt x="33" y="8"/>
                    <a:pt x="26" y="0"/>
                    <a:pt x="17" y="0"/>
                  </a:cubicBezTo>
                  <a:cubicBezTo>
                    <a:pt x="7" y="0"/>
                    <a:pt x="0" y="8"/>
                    <a:pt x="0" y="17"/>
                  </a:cubicBezTo>
                  <a:lnTo>
                    <a:pt x="0" y="321"/>
                  </a:lnTo>
                  <a:cubicBezTo>
                    <a:pt x="0" y="330"/>
                    <a:pt x="7" y="337"/>
                    <a:pt x="17" y="33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9" name="Google Shape;59;p1"/>
            <p:cNvSpPr/>
            <p:nvPr/>
          </p:nvSpPr>
          <p:spPr>
            <a:xfrm>
              <a:off x="1333500" y="2919413"/>
              <a:ext cx="206375" cy="20638"/>
            </a:xfrm>
            <a:custGeom>
              <a:avLst/>
              <a:gdLst/>
              <a:ahLst/>
              <a:cxnLst/>
              <a:rect l="l" t="t" r="r" b="b"/>
              <a:pathLst>
                <a:path w="345" h="34" extrusionOk="0">
                  <a:moveTo>
                    <a:pt x="345" y="17"/>
                  </a:moveTo>
                  <a:cubicBezTo>
                    <a:pt x="345" y="8"/>
                    <a:pt x="338" y="0"/>
                    <a:pt x="329" y="0"/>
                  </a:cubicBezTo>
                  <a:lnTo>
                    <a:pt x="17" y="0"/>
                  </a:lnTo>
                  <a:cubicBezTo>
                    <a:pt x="8" y="0"/>
                    <a:pt x="0" y="8"/>
                    <a:pt x="0" y="17"/>
                  </a:cubicBezTo>
                  <a:cubicBezTo>
                    <a:pt x="0" y="26"/>
                    <a:pt x="8" y="34"/>
                    <a:pt x="17" y="34"/>
                  </a:cubicBezTo>
                  <a:lnTo>
                    <a:pt x="329" y="34"/>
                  </a:lnTo>
                  <a:cubicBezTo>
                    <a:pt x="338" y="34"/>
                    <a:pt x="345" y="26"/>
                    <a:pt x="345"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1"/>
            <p:cNvSpPr/>
            <p:nvPr/>
          </p:nvSpPr>
          <p:spPr>
            <a:xfrm>
              <a:off x="1765300" y="2919413"/>
              <a:ext cx="206375" cy="20638"/>
            </a:xfrm>
            <a:custGeom>
              <a:avLst/>
              <a:gdLst/>
              <a:ahLst/>
              <a:cxnLst/>
              <a:rect l="l" t="t" r="r" b="b"/>
              <a:pathLst>
                <a:path w="344" h="34" extrusionOk="0">
                  <a:moveTo>
                    <a:pt x="327" y="0"/>
                  </a:moveTo>
                  <a:lnTo>
                    <a:pt x="16" y="0"/>
                  </a:lnTo>
                  <a:cubicBezTo>
                    <a:pt x="7" y="0"/>
                    <a:pt x="0" y="8"/>
                    <a:pt x="0" y="17"/>
                  </a:cubicBezTo>
                  <a:cubicBezTo>
                    <a:pt x="0" y="26"/>
                    <a:pt x="7" y="34"/>
                    <a:pt x="16" y="34"/>
                  </a:cubicBezTo>
                  <a:lnTo>
                    <a:pt x="327" y="34"/>
                  </a:lnTo>
                  <a:cubicBezTo>
                    <a:pt x="337" y="34"/>
                    <a:pt x="344" y="26"/>
                    <a:pt x="344" y="17"/>
                  </a:cubicBezTo>
                  <a:cubicBezTo>
                    <a:pt x="344" y="8"/>
                    <a:pt x="337" y="0"/>
                    <a:pt x="32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1"/>
            <p:cNvSpPr/>
            <p:nvPr/>
          </p:nvSpPr>
          <p:spPr>
            <a:xfrm>
              <a:off x="1352550" y="2959101"/>
              <a:ext cx="117475" cy="198438"/>
            </a:xfrm>
            <a:custGeom>
              <a:avLst/>
              <a:gdLst/>
              <a:ahLst/>
              <a:cxnLst/>
              <a:rect l="l" t="t" r="r" b="b"/>
              <a:pathLst>
                <a:path w="196" h="333" extrusionOk="0">
                  <a:moveTo>
                    <a:pt x="34" y="15"/>
                  </a:moveTo>
                  <a:cubicBezTo>
                    <a:pt x="33" y="6"/>
                    <a:pt x="25" y="0"/>
                    <a:pt x="16" y="1"/>
                  </a:cubicBezTo>
                  <a:cubicBezTo>
                    <a:pt x="7" y="2"/>
                    <a:pt x="0" y="11"/>
                    <a:pt x="1" y="20"/>
                  </a:cubicBezTo>
                  <a:cubicBezTo>
                    <a:pt x="18" y="139"/>
                    <a:pt x="76" y="248"/>
                    <a:pt x="167" y="329"/>
                  </a:cubicBezTo>
                  <a:cubicBezTo>
                    <a:pt x="170" y="332"/>
                    <a:pt x="174" y="333"/>
                    <a:pt x="178" y="333"/>
                  </a:cubicBezTo>
                  <a:cubicBezTo>
                    <a:pt x="182" y="333"/>
                    <a:pt x="187" y="331"/>
                    <a:pt x="190" y="327"/>
                  </a:cubicBezTo>
                  <a:cubicBezTo>
                    <a:pt x="196" y="320"/>
                    <a:pt x="196" y="310"/>
                    <a:pt x="189" y="304"/>
                  </a:cubicBezTo>
                  <a:cubicBezTo>
                    <a:pt x="104" y="229"/>
                    <a:pt x="49" y="126"/>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1"/>
            <p:cNvSpPr/>
            <p:nvPr/>
          </p:nvSpPr>
          <p:spPr>
            <a:xfrm>
              <a:off x="1835150" y="2959101"/>
              <a:ext cx="117475" cy="198438"/>
            </a:xfrm>
            <a:custGeom>
              <a:avLst/>
              <a:gdLst/>
              <a:ahLst/>
              <a:cxnLst/>
              <a:rect l="l" t="t" r="r" b="b"/>
              <a:pathLst>
                <a:path w="196" h="333" extrusionOk="0">
                  <a:moveTo>
                    <a:pt x="180" y="1"/>
                  </a:moveTo>
                  <a:cubicBezTo>
                    <a:pt x="171" y="0"/>
                    <a:pt x="163" y="6"/>
                    <a:pt x="161" y="15"/>
                  </a:cubicBezTo>
                  <a:cubicBezTo>
                    <a:pt x="146" y="126"/>
                    <a:pt x="92" y="229"/>
                    <a:pt x="7" y="304"/>
                  </a:cubicBezTo>
                  <a:cubicBezTo>
                    <a:pt x="0" y="310"/>
                    <a:pt x="0" y="320"/>
                    <a:pt x="6" y="327"/>
                  </a:cubicBezTo>
                  <a:cubicBezTo>
                    <a:pt x="9" y="331"/>
                    <a:pt x="14" y="333"/>
                    <a:pt x="18" y="333"/>
                  </a:cubicBezTo>
                  <a:cubicBezTo>
                    <a:pt x="22" y="333"/>
                    <a:pt x="26" y="332"/>
                    <a:pt x="29" y="329"/>
                  </a:cubicBezTo>
                  <a:cubicBezTo>
                    <a:pt x="120" y="248"/>
                    <a:pt x="178" y="139"/>
                    <a:pt x="194" y="20"/>
                  </a:cubicBezTo>
                  <a:cubicBezTo>
                    <a:pt x="196" y="11"/>
                    <a:pt x="189" y="2"/>
                    <a:pt x="180" y="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3" name="Google Shape;63;p1"/>
            <p:cNvSpPr/>
            <p:nvPr/>
          </p:nvSpPr>
          <p:spPr>
            <a:xfrm>
              <a:off x="1682750" y="2628901"/>
              <a:ext cx="269875" cy="269875"/>
            </a:xfrm>
            <a:custGeom>
              <a:avLst/>
              <a:gdLst/>
              <a:ahLst/>
              <a:cxnLst/>
              <a:rect l="l" t="t" r="r" b="b"/>
              <a:pathLst>
                <a:path w="453" h="452" extrusionOk="0">
                  <a:moveTo>
                    <a:pt x="15" y="35"/>
                  </a:moveTo>
                  <a:cubicBezTo>
                    <a:pt x="224" y="63"/>
                    <a:pt x="390" y="229"/>
                    <a:pt x="418" y="438"/>
                  </a:cubicBezTo>
                  <a:cubicBezTo>
                    <a:pt x="420" y="446"/>
                    <a:pt x="427" y="452"/>
                    <a:pt x="435" y="452"/>
                  </a:cubicBezTo>
                  <a:cubicBezTo>
                    <a:pt x="436" y="452"/>
                    <a:pt x="436" y="452"/>
                    <a:pt x="437" y="452"/>
                  </a:cubicBezTo>
                  <a:cubicBezTo>
                    <a:pt x="446" y="451"/>
                    <a:pt x="453" y="442"/>
                    <a:pt x="451" y="433"/>
                  </a:cubicBezTo>
                  <a:cubicBezTo>
                    <a:pt x="421" y="209"/>
                    <a:pt x="243" y="32"/>
                    <a:pt x="20" y="2"/>
                  </a:cubicBezTo>
                  <a:cubicBezTo>
                    <a:pt x="10" y="0"/>
                    <a:pt x="2" y="7"/>
                    <a:pt x="1" y="16"/>
                  </a:cubicBezTo>
                  <a:cubicBezTo>
                    <a:pt x="0" y="25"/>
                    <a:pt x="6" y="33"/>
                    <a:pt x="15"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 name="Google Shape;64;p1"/>
            <p:cNvSpPr/>
            <p:nvPr/>
          </p:nvSpPr>
          <p:spPr>
            <a:xfrm>
              <a:off x="1352550" y="2628901"/>
              <a:ext cx="271463" cy="269875"/>
            </a:xfrm>
            <a:custGeom>
              <a:avLst/>
              <a:gdLst/>
              <a:ahLst/>
              <a:cxnLst/>
              <a:rect l="l" t="t" r="r" b="b"/>
              <a:pathLst>
                <a:path w="453" h="452" extrusionOk="0">
                  <a:moveTo>
                    <a:pt x="16" y="452"/>
                  </a:moveTo>
                  <a:cubicBezTo>
                    <a:pt x="16" y="452"/>
                    <a:pt x="17" y="452"/>
                    <a:pt x="18" y="452"/>
                  </a:cubicBezTo>
                  <a:cubicBezTo>
                    <a:pt x="26" y="452"/>
                    <a:pt x="33" y="446"/>
                    <a:pt x="34" y="438"/>
                  </a:cubicBezTo>
                  <a:cubicBezTo>
                    <a:pt x="63" y="229"/>
                    <a:pt x="229" y="63"/>
                    <a:pt x="437" y="35"/>
                  </a:cubicBezTo>
                  <a:cubicBezTo>
                    <a:pt x="446" y="33"/>
                    <a:pt x="453" y="25"/>
                    <a:pt x="451" y="16"/>
                  </a:cubicBezTo>
                  <a:cubicBezTo>
                    <a:pt x="450" y="7"/>
                    <a:pt x="442" y="0"/>
                    <a:pt x="433" y="2"/>
                  </a:cubicBezTo>
                  <a:cubicBezTo>
                    <a:pt x="209" y="32"/>
                    <a:pt x="32" y="210"/>
                    <a:pt x="1" y="433"/>
                  </a:cubicBezTo>
                  <a:cubicBezTo>
                    <a:pt x="0" y="442"/>
                    <a:pt x="7" y="451"/>
                    <a:pt x="16" y="4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 name="Google Shape;65;p1"/>
            <p:cNvSpPr/>
            <p:nvPr/>
          </p:nvSpPr>
          <p:spPr>
            <a:xfrm>
              <a:off x="1817688" y="2959101"/>
              <a:ext cx="65088" cy="115888"/>
            </a:xfrm>
            <a:custGeom>
              <a:avLst/>
              <a:gdLst/>
              <a:ahLst/>
              <a:cxnLst/>
              <a:rect l="l" t="t" r="r" b="b"/>
              <a:pathLst>
                <a:path w="107" h="193" extrusionOk="0">
                  <a:moveTo>
                    <a:pt x="105" y="21"/>
                  </a:moveTo>
                  <a:cubicBezTo>
                    <a:pt x="107" y="12"/>
                    <a:pt x="101" y="3"/>
                    <a:pt x="92" y="1"/>
                  </a:cubicBezTo>
                  <a:cubicBezTo>
                    <a:pt x="83" y="0"/>
                    <a:pt x="74" y="6"/>
                    <a:pt x="72" y="15"/>
                  </a:cubicBezTo>
                  <a:cubicBezTo>
                    <a:pt x="62" y="70"/>
                    <a:pt x="39" y="122"/>
                    <a:pt x="5" y="166"/>
                  </a:cubicBezTo>
                  <a:cubicBezTo>
                    <a:pt x="0" y="173"/>
                    <a:pt x="1" y="184"/>
                    <a:pt x="8" y="189"/>
                  </a:cubicBezTo>
                  <a:cubicBezTo>
                    <a:pt x="11" y="192"/>
                    <a:pt x="15" y="193"/>
                    <a:pt x="19" y="193"/>
                  </a:cubicBezTo>
                  <a:cubicBezTo>
                    <a:pt x="24" y="193"/>
                    <a:pt x="29" y="191"/>
                    <a:pt x="32" y="186"/>
                  </a:cubicBezTo>
                  <a:cubicBezTo>
                    <a:pt x="69" y="138"/>
                    <a:pt x="94" y="81"/>
                    <a:pt x="105" y="21"/>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1"/>
            <p:cNvSpPr/>
            <p:nvPr/>
          </p:nvSpPr>
          <p:spPr>
            <a:xfrm>
              <a:off x="1423988" y="2959101"/>
              <a:ext cx="63500" cy="115888"/>
            </a:xfrm>
            <a:custGeom>
              <a:avLst/>
              <a:gdLst/>
              <a:ahLst/>
              <a:cxnLst/>
              <a:rect l="l" t="t" r="r" b="b"/>
              <a:pathLst>
                <a:path w="107" h="193" extrusionOk="0">
                  <a:moveTo>
                    <a:pt x="34" y="15"/>
                  </a:moveTo>
                  <a:cubicBezTo>
                    <a:pt x="33" y="6"/>
                    <a:pt x="24" y="0"/>
                    <a:pt x="15" y="1"/>
                  </a:cubicBezTo>
                  <a:cubicBezTo>
                    <a:pt x="6" y="3"/>
                    <a:pt x="0" y="12"/>
                    <a:pt x="2" y="21"/>
                  </a:cubicBezTo>
                  <a:cubicBezTo>
                    <a:pt x="13" y="81"/>
                    <a:pt x="38" y="138"/>
                    <a:pt x="75" y="186"/>
                  </a:cubicBezTo>
                  <a:cubicBezTo>
                    <a:pt x="78" y="191"/>
                    <a:pt x="83" y="193"/>
                    <a:pt x="88" y="193"/>
                  </a:cubicBezTo>
                  <a:cubicBezTo>
                    <a:pt x="92" y="193"/>
                    <a:pt x="95" y="192"/>
                    <a:pt x="98" y="189"/>
                  </a:cubicBezTo>
                  <a:cubicBezTo>
                    <a:pt x="106" y="184"/>
                    <a:pt x="107" y="173"/>
                    <a:pt x="102" y="166"/>
                  </a:cubicBezTo>
                  <a:cubicBezTo>
                    <a:pt x="68" y="122"/>
                    <a:pt x="44" y="70"/>
                    <a:pt x="34" y="1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1"/>
            <p:cNvSpPr/>
            <p:nvPr/>
          </p:nvSpPr>
          <p:spPr>
            <a:xfrm>
              <a:off x="1681163" y="2700338"/>
              <a:ext cx="201613" cy="198438"/>
            </a:xfrm>
            <a:custGeom>
              <a:avLst/>
              <a:gdLst/>
              <a:ahLst/>
              <a:cxnLst/>
              <a:rect l="l" t="t" r="r" b="b"/>
              <a:pathLst>
                <a:path w="336" h="334" extrusionOk="0">
                  <a:moveTo>
                    <a:pt x="21" y="2"/>
                  </a:moveTo>
                  <a:cubicBezTo>
                    <a:pt x="12" y="0"/>
                    <a:pt x="4" y="6"/>
                    <a:pt x="2" y="15"/>
                  </a:cubicBezTo>
                  <a:cubicBezTo>
                    <a:pt x="0" y="24"/>
                    <a:pt x="6" y="33"/>
                    <a:pt x="15" y="34"/>
                  </a:cubicBezTo>
                  <a:cubicBezTo>
                    <a:pt x="160" y="61"/>
                    <a:pt x="275" y="176"/>
                    <a:pt x="302" y="320"/>
                  </a:cubicBezTo>
                  <a:cubicBezTo>
                    <a:pt x="303" y="328"/>
                    <a:pt x="310" y="334"/>
                    <a:pt x="318" y="334"/>
                  </a:cubicBezTo>
                  <a:cubicBezTo>
                    <a:pt x="319" y="334"/>
                    <a:pt x="320" y="334"/>
                    <a:pt x="321" y="334"/>
                  </a:cubicBezTo>
                  <a:cubicBezTo>
                    <a:pt x="330" y="332"/>
                    <a:pt x="336" y="323"/>
                    <a:pt x="334" y="314"/>
                  </a:cubicBezTo>
                  <a:cubicBezTo>
                    <a:pt x="306" y="156"/>
                    <a:pt x="180" y="30"/>
                    <a:pt x="21" y="2"/>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1"/>
            <p:cNvSpPr/>
            <p:nvPr/>
          </p:nvSpPr>
          <p:spPr>
            <a:xfrm>
              <a:off x="1423988" y="2700338"/>
              <a:ext cx="200025" cy="198438"/>
            </a:xfrm>
            <a:custGeom>
              <a:avLst/>
              <a:gdLst/>
              <a:ahLst/>
              <a:cxnLst/>
              <a:rect l="l" t="t" r="r" b="b"/>
              <a:pathLst>
                <a:path w="335" h="334" extrusionOk="0">
                  <a:moveTo>
                    <a:pt x="320" y="35"/>
                  </a:moveTo>
                  <a:cubicBezTo>
                    <a:pt x="329" y="33"/>
                    <a:pt x="335" y="24"/>
                    <a:pt x="333" y="15"/>
                  </a:cubicBezTo>
                  <a:cubicBezTo>
                    <a:pt x="332" y="6"/>
                    <a:pt x="323" y="0"/>
                    <a:pt x="314" y="2"/>
                  </a:cubicBezTo>
                  <a:cubicBezTo>
                    <a:pt x="156" y="31"/>
                    <a:pt x="30" y="156"/>
                    <a:pt x="2" y="314"/>
                  </a:cubicBezTo>
                  <a:cubicBezTo>
                    <a:pt x="0" y="323"/>
                    <a:pt x="6" y="332"/>
                    <a:pt x="15" y="334"/>
                  </a:cubicBezTo>
                  <a:cubicBezTo>
                    <a:pt x="16" y="334"/>
                    <a:pt x="17" y="334"/>
                    <a:pt x="18" y="334"/>
                  </a:cubicBezTo>
                  <a:cubicBezTo>
                    <a:pt x="26" y="334"/>
                    <a:pt x="33" y="328"/>
                    <a:pt x="35" y="320"/>
                  </a:cubicBezTo>
                  <a:cubicBezTo>
                    <a:pt x="61" y="176"/>
                    <a:pt x="175" y="61"/>
                    <a:pt x="320" y="35"/>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 name="Google Shape;69;p1"/>
            <p:cNvSpPr/>
            <p:nvPr/>
          </p:nvSpPr>
          <p:spPr>
            <a:xfrm>
              <a:off x="1771650" y="2957513"/>
              <a:ext cx="39688" cy="60325"/>
            </a:xfrm>
            <a:custGeom>
              <a:avLst/>
              <a:gdLst/>
              <a:ahLst/>
              <a:cxnLst/>
              <a:rect l="l" t="t" r="r" b="b"/>
              <a:pathLst>
                <a:path w="65" h="100" extrusionOk="0">
                  <a:moveTo>
                    <a:pt x="19" y="100"/>
                  </a:moveTo>
                  <a:cubicBezTo>
                    <a:pt x="25" y="100"/>
                    <a:pt x="30" y="97"/>
                    <a:pt x="33" y="91"/>
                  </a:cubicBezTo>
                  <a:cubicBezTo>
                    <a:pt x="46" y="70"/>
                    <a:pt x="56" y="47"/>
                    <a:pt x="63" y="23"/>
                  </a:cubicBezTo>
                  <a:cubicBezTo>
                    <a:pt x="65" y="14"/>
                    <a:pt x="60" y="5"/>
                    <a:pt x="51" y="3"/>
                  </a:cubicBezTo>
                  <a:cubicBezTo>
                    <a:pt x="42" y="0"/>
                    <a:pt x="33" y="5"/>
                    <a:pt x="30" y="14"/>
                  </a:cubicBezTo>
                  <a:cubicBezTo>
                    <a:pt x="25" y="35"/>
                    <a:pt x="16" y="55"/>
                    <a:pt x="5" y="74"/>
                  </a:cubicBezTo>
                  <a:cubicBezTo>
                    <a:pt x="0" y="82"/>
                    <a:pt x="3" y="92"/>
                    <a:pt x="11" y="97"/>
                  </a:cubicBezTo>
                  <a:cubicBezTo>
                    <a:pt x="13" y="99"/>
                    <a:pt x="16" y="100"/>
                    <a:pt x="19" y="10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 name="Google Shape;70;p1"/>
            <p:cNvSpPr/>
            <p:nvPr/>
          </p:nvSpPr>
          <p:spPr>
            <a:xfrm>
              <a:off x="1495425" y="2957513"/>
              <a:ext cx="38100" cy="60325"/>
            </a:xfrm>
            <a:custGeom>
              <a:avLst/>
              <a:gdLst/>
              <a:ahLst/>
              <a:cxnLst/>
              <a:rect l="l" t="t" r="r" b="b"/>
              <a:pathLst>
                <a:path w="65" h="100" extrusionOk="0">
                  <a:moveTo>
                    <a:pt x="14" y="3"/>
                  </a:moveTo>
                  <a:cubicBezTo>
                    <a:pt x="5" y="5"/>
                    <a:pt x="0" y="14"/>
                    <a:pt x="2" y="23"/>
                  </a:cubicBezTo>
                  <a:cubicBezTo>
                    <a:pt x="9" y="47"/>
                    <a:pt x="19" y="70"/>
                    <a:pt x="31" y="91"/>
                  </a:cubicBezTo>
                  <a:cubicBezTo>
                    <a:pt x="35" y="97"/>
                    <a:pt x="40" y="100"/>
                    <a:pt x="46" y="100"/>
                  </a:cubicBezTo>
                  <a:cubicBezTo>
                    <a:pt x="49" y="100"/>
                    <a:pt x="52" y="99"/>
                    <a:pt x="54" y="97"/>
                  </a:cubicBezTo>
                  <a:cubicBezTo>
                    <a:pt x="62" y="92"/>
                    <a:pt x="65" y="82"/>
                    <a:pt x="60" y="74"/>
                  </a:cubicBezTo>
                  <a:cubicBezTo>
                    <a:pt x="49" y="55"/>
                    <a:pt x="40" y="35"/>
                    <a:pt x="35" y="14"/>
                  </a:cubicBezTo>
                  <a:cubicBezTo>
                    <a:pt x="32" y="5"/>
                    <a:pt x="23" y="0"/>
                    <a:pt x="1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 name="Google Shape;71;p1"/>
            <p:cNvSpPr/>
            <p:nvPr/>
          </p:nvSpPr>
          <p:spPr>
            <a:xfrm>
              <a:off x="1681163" y="2770188"/>
              <a:ext cx="130175" cy="128588"/>
            </a:xfrm>
            <a:custGeom>
              <a:avLst/>
              <a:gdLst/>
              <a:ahLst/>
              <a:cxnLst/>
              <a:rect l="l" t="t" r="r" b="b"/>
              <a:pathLst>
                <a:path w="217" h="215" extrusionOk="0">
                  <a:moveTo>
                    <a:pt x="14" y="34"/>
                  </a:moveTo>
                  <a:cubicBezTo>
                    <a:pt x="96" y="56"/>
                    <a:pt x="160" y="121"/>
                    <a:pt x="182" y="203"/>
                  </a:cubicBezTo>
                  <a:cubicBezTo>
                    <a:pt x="184" y="210"/>
                    <a:pt x="191" y="215"/>
                    <a:pt x="198" y="215"/>
                  </a:cubicBezTo>
                  <a:cubicBezTo>
                    <a:pt x="200" y="215"/>
                    <a:pt x="201" y="215"/>
                    <a:pt x="203" y="214"/>
                  </a:cubicBezTo>
                  <a:cubicBezTo>
                    <a:pt x="212" y="212"/>
                    <a:pt x="217" y="203"/>
                    <a:pt x="215" y="194"/>
                  </a:cubicBezTo>
                  <a:cubicBezTo>
                    <a:pt x="189" y="101"/>
                    <a:pt x="116" y="27"/>
                    <a:pt x="23" y="2"/>
                  </a:cubicBezTo>
                  <a:cubicBezTo>
                    <a:pt x="14" y="0"/>
                    <a:pt x="5" y="5"/>
                    <a:pt x="2" y="14"/>
                  </a:cubicBezTo>
                  <a:cubicBezTo>
                    <a:pt x="0" y="23"/>
                    <a:pt x="5" y="32"/>
                    <a:pt x="14" y="34"/>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 name="Google Shape;72;p1"/>
            <p:cNvSpPr/>
            <p:nvPr/>
          </p:nvSpPr>
          <p:spPr>
            <a:xfrm>
              <a:off x="1495425" y="2770188"/>
              <a:ext cx="128588" cy="128588"/>
            </a:xfrm>
            <a:custGeom>
              <a:avLst/>
              <a:gdLst/>
              <a:ahLst/>
              <a:cxnLst/>
              <a:rect l="l" t="t" r="r" b="b"/>
              <a:pathLst>
                <a:path w="216" h="215" extrusionOk="0">
                  <a:moveTo>
                    <a:pt x="194" y="3"/>
                  </a:moveTo>
                  <a:cubicBezTo>
                    <a:pt x="101" y="28"/>
                    <a:pt x="28" y="101"/>
                    <a:pt x="2" y="194"/>
                  </a:cubicBezTo>
                  <a:cubicBezTo>
                    <a:pt x="0" y="203"/>
                    <a:pt x="5" y="212"/>
                    <a:pt x="14" y="214"/>
                  </a:cubicBezTo>
                  <a:cubicBezTo>
                    <a:pt x="16" y="215"/>
                    <a:pt x="17" y="215"/>
                    <a:pt x="18" y="215"/>
                  </a:cubicBezTo>
                  <a:cubicBezTo>
                    <a:pt x="26" y="215"/>
                    <a:pt x="33" y="210"/>
                    <a:pt x="35" y="203"/>
                  </a:cubicBezTo>
                  <a:cubicBezTo>
                    <a:pt x="57" y="121"/>
                    <a:pt x="121" y="57"/>
                    <a:pt x="202" y="35"/>
                  </a:cubicBezTo>
                  <a:cubicBezTo>
                    <a:pt x="211" y="32"/>
                    <a:pt x="216" y="23"/>
                    <a:pt x="214" y="14"/>
                  </a:cubicBezTo>
                  <a:cubicBezTo>
                    <a:pt x="212" y="5"/>
                    <a:pt x="203" y="0"/>
                    <a:pt x="194" y="3"/>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 name="Google Shape;73;p1"/>
            <p:cNvSpPr/>
            <p:nvPr/>
          </p:nvSpPr>
          <p:spPr>
            <a:xfrm>
              <a:off x="1560513" y="2836863"/>
              <a:ext cx="185738" cy="185738"/>
            </a:xfrm>
            <a:custGeom>
              <a:avLst/>
              <a:gdLst/>
              <a:ahLst/>
              <a:cxnLst/>
              <a:rect l="l" t="t" r="r" b="b"/>
              <a:pathLst>
                <a:path w="310" h="310" extrusionOk="0">
                  <a:moveTo>
                    <a:pt x="277" y="155"/>
                  </a:moveTo>
                  <a:cubicBezTo>
                    <a:pt x="277" y="222"/>
                    <a:pt x="222" y="277"/>
                    <a:pt x="155" y="277"/>
                  </a:cubicBezTo>
                  <a:cubicBezTo>
                    <a:pt x="88" y="277"/>
                    <a:pt x="33" y="222"/>
                    <a:pt x="33" y="155"/>
                  </a:cubicBezTo>
                  <a:cubicBezTo>
                    <a:pt x="33" y="88"/>
                    <a:pt x="88" y="33"/>
                    <a:pt x="155" y="33"/>
                  </a:cubicBezTo>
                  <a:cubicBezTo>
                    <a:pt x="222" y="33"/>
                    <a:pt x="277" y="88"/>
                    <a:pt x="277" y="155"/>
                  </a:cubicBezTo>
                  <a:close/>
                  <a:moveTo>
                    <a:pt x="0" y="155"/>
                  </a:moveTo>
                  <a:cubicBezTo>
                    <a:pt x="0" y="241"/>
                    <a:pt x="69" y="310"/>
                    <a:pt x="155" y="310"/>
                  </a:cubicBezTo>
                  <a:cubicBezTo>
                    <a:pt x="241" y="310"/>
                    <a:pt x="310" y="241"/>
                    <a:pt x="310" y="155"/>
                  </a:cubicBezTo>
                  <a:cubicBezTo>
                    <a:pt x="310" y="69"/>
                    <a:pt x="241" y="0"/>
                    <a:pt x="155" y="0"/>
                  </a:cubicBezTo>
                  <a:cubicBezTo>
                    <a:pt x="69" y="0"/>
                    <a:pt x="0" y="69"/>
                    <a:pt x="0" y="15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1"/>
            <p:cNvSpPr/>
            <p:nvPr/>
          </p:nvSpPr>
          <p:spPr>
            <a:xfrm>
              <a:off x="1493838" y="3038476"/>
              <a:ext cx="319088" cy="214313"/>
            </a:xfrm>
            <a:custGeom>
              <a:avLst/>
              <a:gdLst/>
              <a:ahLst/>
              <a:cxnLst/>
              <a:rect l="l" t="t" r="r" b="b"/>
              <a:pathLst>
                <a:path w="534" h="360" extrusionOk="0">
                  <a:moveTo>
                    <a:pt x="501" y="194"/>
                  </a:moveTo>
                  <a:lnTo>
                    <a:pt x="501" y="327"/>
                  </a:lnTo>
                  <a:lnTo>
                    <a:pt x="438" y="327"/>
                  </a:lnTo>
                  <a:lnTo>
                    <a:pt x="438" y="193"/>
                  </a:lnTo>
                  <a:cubicBezTo>
                    <a:pt x="438" y="184"/>
                    <a:pt x="430" y="177"/>
                    <a:pt x="421" y="177"/>
                  </a:cubicBezTo>
                  <a:cubicBezTo>
                    <a:pt x="412" y="177"/>
                    <a:pt x="405" y="184"/>
                    <a:pt x="405" y="193"/>
                  </a:cubicBezTo>
                  <a:lnTo>
                    <a:pt x="405" y="327"/>
                  </a:lnTo>
                  <a:lnTo>
                    <a:pt x="129" y="327"/>
                  </a:lnTo>
                  <a:lnTo>
                    <a:pt x="129" y="192"/>
                  </a:lnTo>
                  <a:cubicBezTo>
                    <a:pt x="129" y="183"/>
                    <a:pt x="121" y="176"/>
                    <a:pt x="112" y="176"/>
                  </a:cubicBezTo>
                  <a:cubicBezTo>
                    <a:pt x="103" y="176"/>
                    <a:pt x="95" y="183"/>
                    <a:pt x="95" y="192"/>
                  </a:cubicBezTo>
                  <a:lnTo>
                    <a:pt x="95" y="327"/>
                  </a:lnTo>
                  <a:lnTo>
                    <a:pt x="33" y="327"/>
                  </a:lnTo>
                  <a:lnTo>
                    <a:pt x="33" y="194"/>
                  </a:lnTo>
                  <a:cubicBezTo>
                    <a:pt x="33" y="193"/>
                    <a:pt x="33" y="193"/>
                    <a:pt x="33" y="193"/>
                  </a:cubicBezTo>
                  <a:cubicBezTo>
                    <a:pt x="33" y="163"/>
                    <a:pt x="42" y="136"/>
                    <a:pt x="59" y="113"/>
                  </a:cubicBezTo>
                  <a:cubicBezTo>
                    <a:pt x="97" y="62"/>
                    <a:pt x="172" y="33"/>
                    <a:pt x="267" y="33"/>
                  </a:cubicBezTo>
                  <a:cubicBezTo>
                    <a:pt x="362" y="33"/>
                    <a:pt x="438" y="62"/>
                    <a:pt x="475" y="113"/>
                  </a:cubicBezTo>
                  <a:cubicBezTo>
                    <a:pt x="492" y="136"/>
                    <a:pt x="501" y="163"/>
                    <a:pt x="501" y="193"/>
                  </a:cubicBezTo>
                  <a:cubicBezTo>
                    <a:pt x="501" y="193"/>
                    <a:pt x="501" y="194"/>
                    <a:pt x="501" y="194"/>
                  </a:cubicBezTo>
                  <a:close/>
                  <a:moveTo>
                    <a:pt x="267" y="0"/>
                  </a:moveTo>
                  <a:cubicBezTo>
                    <a:pt x="161" y="0"/>
                    <a:pt x="76" y="34"/>
                    <a:pt x="33" y="93"/>
                  </a:cubicBezTo>
                  <a:cubicBezTo>
                    <a:pt x="11" y="123"/>
                    <a:pt x="0" y="156"/>
                    <a:pt x="0" y="194"/>
                  </a:cubicBezTo>
                  <a:cubicBezTo>
                    <a:pt x="0" y="194"/>
                    <a:pt x="0" y="195"/>
                    <a:pt x="0" y="195"/>
                  </a:cubicBezTo>
                  <a:lnTo>
                    <a:pt x="0" y="343"/>
                  </a:lnTo>
                  <a:cubicBezTo>
                    <a:pt x="0" y="353"/>
                    <a:pt x="7" y="360"/>
                    <a:pt x="16" y="360"/>
                  </a:cubicBezTo>
                  <a:lnTo>
                    <a:pt x="517" y="360"/>
                  </a:lnTo>
                  <a:cubicBezTo>
                    <a:pt x="527" y="360"/>
                    <a:pt x="534" y="353"/>
                    <a:pt x="534" y="343"/>
                  </a:cubicBezTo>
                  <a:lnTo>
                    <a:pt x="534" y="195"/>
                  </a:lnTo>
                  <a:cubicBezTo>
                    <a:pt x="534" y="195"/>
                    <a:pt x="534" y="194"/>
                    <a:pt x="534" y="194"/>
                  </a:cubicBezTo>
                  <a:cubicBezTo>
                    <a:pt x="534" y="156"/>
                    <a:pt x="523" y="122"/>
                    <a:pt x="502" y="93"/>
                  </a:cubicBezTo>
                  <a:cubicBezTo>
                    <a:pt x="458" y="33"/>
                    <a:pt x="375" y="0"/>
                    <a:pt x="267" y="0"/>
                  </a:cubicBezTo>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5" name="Google Shape;75;p1" descr="{&quot;Key&quot;:&quot;POWER_USER_SHAPE_ICON&quot;,&quot;Value&quot;:&quot;POWER_USER_SHAPE_ICON_STYLE_1&quot;}"/>
          <p:cNvGrpSpPr/>
          <p:nvPr/>
        </p:nvGrpSpPr>
        <p:grpSpPr>
          <a:xfrm>
            <a:off x="7860269" y="1830927"/>
            <a:ext cx="619222" cy="430331"/>
            <a:chOff x="25" y="92"/>
            <a:chExt cx="436" cy="303"/>
          </a:xfrm>
        </p:grpSpPr>
        <p:sp>
          <p:nvSpPr>
            <p:cNvPr id="76" name="Google Shape;76;p1"/>
            <p:cNvSpPr/>
            <p:nvPr/>
          </p:nvSpPr>
          <p:spPr>
            <a:xfrm>
              <a:off x="70" y="144"/>
              <a:ext cx="30" cy="3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 name="Google Shape;77;p1"/>
            <p:cNvSpPr/>
            <p:nvPr/>
          </p:nvSpPr>
          <p:spPr>
            <a:xfrm>
              <a:off x="150" y="139"/>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 name="Google Shape;78;p1"/>
            <p:cNvSpPr/>
            <p:nvPr/>
          </p:nvSpPr>
          <p:spPr>
            <a:xfrm>
              <a:off x="74" y="21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 name="Google Shape;79;p1"/>
            <p:cNvSpPr/>
            <p:nvPr/>
          </p:nvSpPr>
          <p:spPr>
            <a:xfrm>
              <a:off x="154" y="213"/>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 name="Google Shape;80;p1"/>
            <p:cNvSpPr/>
            <p:nvPr/>
          </p:nvSpPr>
          <p:spPr>
            <a:xfrm>
              <a:off x="297" y="208"/>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 name="Google Shape;81;p1"/>
            <p:cNvSpPr/>
            <p:nvPr/>
          </p:nvSpPr>
          <p:spPr>
            <a:xfrm>
              <a:off x="326" y="261"/>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 name="Google Shape;82;p1"/>
            <p:cNvSpPr/>
            <p:nvPr/>
          </p:nvSpPr>
          <p:spPr>
            <a:xfrm>
              <a:off x="356" y="315"/>
              <a:ext cx="31" cy="31"/>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 name="Google Shape;83;p1"/>
            <p:cNvSpPr/>
            <p:nvPr/>
          </p:nvSpPr>
          <p:spPr>
            <a:xfrm>
              <a:off x="25" y="92"/>
              <a:ext cx="205" cy="204"/>
            </a:xfrm>
            <a:custGeom>
              <a:avLst/>
              <a:gdLst/>
              <a:ahLst/>
              <a:cxnLst/>
              <a:rect l="l" t="t" r="r" b="b"/>
              <a:pathLst>
                <a:path w="545" h="543" extrusionOk="0">
                  <a:moveTo>
                    <a:pt x="544" y="494"/>
                  </a:moveTo>
                  <a:lnTo>
                    <a:pt x="515" y="18"/>
                  </a:lnTo>
                  <a:cubicBezTo>
                    <a:pt x="515" y="13"/>
                    <a:pt x="513" y="8"/>
                    <a:pt x="509" y="5"/>
                  </a:cubicBezTo>
                  <a:cubicBezTo>
                    <a:pt x="505" y="2"/>
                    <a:pt x="500" y="0"/>
                    <a:pt x="495" y="0"/>
                  </a:cubicBezTo>
                  <a:lnTo>
                    <a:pt x="19" y="29"/>
                  </a:lnTo>
                  <a:cubicBezTo>
                    <a:pt x="9" y="29"/>
                    <a:pt x="0" y="39"/>
                    <a:pt x="1" y="49"/>
                  </a:cubicBezTo>
                  <a:lnTo>
                    <a:pt x="30" y="526"/>
                  </a:lnTo>
                  <a:cubicBezTo>
                    <a:pt x="30" y="531"/>
                    <a:pt x="33" y="535"/>
                    <a:pt x="36" y="538"/>
                  </a:cubicBezTo>
                  <a:cubicBezTo>
                    <a:pt x="40" y="541"/>
                    <a:pt x="44" y="543"/>
                    <a:pt x="49" y="543"/>
                  </a:cubicBezTo>
                  <a:lnTo>
                    <a:pt x="50" y="543"/>
                  </a:lnTo>
                  <a:lnTo>
                    <a:pt x="526" y="514"/>
                  </a:lnTo>
                  <a:cubicBezTo>
                    <a:pt x="536" y="513"/>
                    <a:pt x="545" y="504"/>
                    <a:pt x="544" y="494"/>
                  </a:cubicBezTo>
                  <a:close/>
                  <a:moveTo>
                    <a:pt x="66" y="504"/>
                  </a:moveTo>
                  <a:lnTo>
                    <a:pt x="40" y="66"/>
                  </a:lnTo>
                  <a:lnTo>
                    <a:pt x="479" y="39"/>
                  </a:lnTo>
                  <a:lnTo>
                    <a:pt x="505" y="478"/>
                  </a:lnTo>
                  <a:lnTo>
                    <a:pt x="66" y="5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 name="Google Shape;84;p1"/>
            <p:cNvSpPr/>
            <p:nvPr/>
          </p:nvSpPr>
          <p:spPr>
            <a:xfrm>
              <a:off x="224" y="158"/>
              <a:ext cx="237" cy="237"/>
            </a:xfrm>
            <a:custGeom>
              <a:avLst/>
              <a:gdLst/>
              <a:ahLst/>
              <a:cxnLst/>
              <a:rect l="l" t="t" r="r" b="b"/>
              <a:pathLst>
                <a:path w="631" h="631" extrusionOk="0">
                  <a:moveTo>
                    <a:pt x="616" y="135"/>
                  </a:moveTo>
                  <a:lnTo>
                    <a:pt x="157" y="2"/>
                  </a:lnTo>
                  <a:cubicBezTo>
                    <a:pt x="147" y="0"/>
                    <a:pt x="137" y="5"/>
                    <a:pt x="134" y="15"/>
                  </a:cubicBezTo>
                  <a:lnTo>
                    <a:pt x="2" y="473"/>
                  </a:lnTo>
                  <a:cubicBezTo>
                    <a:pt x="0" y="483"/>
                    <a:pt x="5" y="493"/>
                    <a:pt x="15" y="497"/>
                  </a:cubicBezTo>
                  <a:lnTo>
                    <a:pt x="474" y="630"/>
                  </a:lnTo>
                  <a:cubicBezTo>
                    <a:pt x="475" y="630"/>
                    <a:pt x="477" y="631"/>
                    <a:pt x="479" y="631"/>
                  </a:cubicBezTo>
                  <a:cubicBezTo>
                    <a:pt x="482" y="631"/>
                    <a:pt x="485" y="630"/>
                    <a:pt x="487" y="628"/>
                  </a:cubicBezTo>
                  <a:cubicBezTo>
                    <a:pt x="491" y="626"/>
                    <a:pt x="495" y="622"/>
                    <a:pt x="496" y="617"/>
                  </a:cubicBezTo>
                  <a:lnTo>
                    <a:pt x="629" y="158"/>
                  </a:lnTo>
                  <a:cubicBezTo>
                    <a:pt x="631" y="148"/>
                    <a:pt x="626" y="138"/>
                    <a:pt x="616" y="135"/>
                  </a:cubicBezTo>
                  <a:close/>
                  <a:moveTo>
                    <a:pt x="465" y="588"/>
                  </a:moveTo>
                  <a:lnTo>
                    <a:pt x="42" y="466"/>
                  </a:lnTo>
                  <a:lnTo>
                    <a:pt x="165" y="43"/>
                  </a:lnTo>
                  <a:lnTo>
                    <a:pt x="587" y="166"/>
                  </a:lnTo>
                  <a:lnTo>
                    <a:pt x="465" y="58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B5E3C1D2-F5EF-F5AA-EB22-8601DF6C92B4}"/>
              </a:ext>
            </a:extLst>
          </p:cNvPr>
          <p:cNvSpPr txBox="1"/>
          <p:nvPr/>
        </p:nvSpPr>
        <p:spPr>
          <a:xfrm>
            <a:off x="0" y="660048"/>
            <a:ext cx="12059920" cy="1384995"/>
          </a:xfrm>
          <a:prstGeom prst="rect">
            <a:avLst/>
          </a:prstGeom>
          <a:noFill/>
        </p:spPr>
        <p:txBody>
          <a:bodyPr wrap="square" rtlCol="0">
            <a:spAutoFit/>
          </a:bodyPr>
          <a:lstStyle/>
          <a:p>
            <a:pPr marL="342900" indent="-342900">
              <a:buFont typeface="Arial" panose="020B0604020202020204" pitchFamily="34" charset="0"/>
              <a:buChar char="•"/>
            </a:pPr>
            <a:r>
              <a:rPr lang="en-IN">
                <a:solidFill>
                  <a:schemeClr val="bg2"/>
                </a:solidFill>
                <a:hlinkClick r:id="rId3">
                  <a:extLst>
                    <a:ext uri="{A12FA001-AC4F-418D-AE19-62706E023703}">
                      <ahyp:hlinkClr xmlns:ahyp="http://schemas.microsoft.com/office/drawing/2018/hyperlinkcolor" val="tx"/>
                    </a:ext>
                  </a:extLst>
                </a:hlinkClick>
              </a:rPr>
              <a:t>https://mnre.gov.in/bio-energy/current-status</a:t>
            </a:r>
            <a:endParaRPr lang="en-IN">
              <a:solidFill>
                <a:schemeClr val="bg2"/>
              </a:solidFill>
            </a:endParaRPr>
          </a:p>
          <a:p>
            <a:pPr marL="342900" indent="-342900">
              <a:buFont typeface="Arial" panose="020B0604020202020204" pitchFamily="34" charset="0"/>
              <a:buChar char="•"/>
            </a:pPr>
            <a:r>
              <a:rPr lang="en-IN">
                <a:solidFill>
                  <a:schemeClr val="bg2"/>
                </a:solidFill>
                <a:hlinkClick r:id="rId4">
                  <a:extLst>
                    <a:ext uri="{A12FA001-AC4F-418D-AE19-62706E023703}">
                      <ahyp:hlinkClr xmlns:ahyp="http://schemas.microsoft.com/office/drawing/2018/hyperlinkcolor" val="tx"/>
                    </a:ext>
                  </a:extLst>
                </a:hlinkClick>
              </a:rPr>
              <a:t>https://www.ceew.in/sites/default/files/CEEW-Ex-situ-Crop-Residue-Management-24Dec20_0.pdf</a:t>
            </a:r>
            <a:endParaRPr lang="en-IN">
              <a:solidFill>
                <a:schemeClr val="bg2"/>
              </a:solidFill>
            </a:endParaRPr>
          </a:p>
          <a:p>
            <a:pPr marL="342900" indent="-342900">
              <a:buFont typeface="Arial" panose="020B0604020202020204" pitchFamily="34" charset="0"/>
              <a:buChar char="•"/>
            </a:pPr>
            <a:r>
              <a:rPr lang="en-IN">
                <a:solidFill>
                  <a:schemeClr val="bg2"/>
                </a:solidFill>
                <a:hlinkClick r:id="rId5">
                  <a:extLst>
                    <a:ext uri="{A12FA001-AC4F-418D-AE19-62706E023703}">
                      <ahyp:hlinkClr xmlns:ahyp="http://schemas.microsoft.com/office/drawing/2018/hyperlinkcolor" val="tx"/>
                    </a:ext>
                  </a:extLst>
                </a:hlinkClick>
              </a:rPr>
              <a:t>https://www.irri.org/rice-straw-management</a:t>
            </a:r>
            <a:endParaRPr lang="en-IN">
              <a:solidFill>
                <a:schemeClr val="bg2"/>
              </a:solidFill>
            </a:endParaRPr>
          </a:p>
          <a:p>
            <a:pPr marL="342900" indent="-342900">
              <a:buFont typeface="Arial" panose="020B0604020202020204" pitchFamily="34" charset="0"/>
              <a:buChar char="•"/>
            </a:pPr>
            <a:r>
              <a:rPr lang="en-IN">
                <a:solidFill>
                  <a:schemeClr val="bg2"/>
                </a:solidFill>
                <a:hlinkClick r:id="rId6">
                  <a:extLst>
                    <a:ext uri="{A12FA001-AC4F-418D-AE19-62706E023703}">
                      <ahyp:hlinkClr xmlns:ahyp="http://schemas.microsoft.com/office/drawing/2018/hyperlinkcolor" val="tx"/>
                    </a:ext>
                  </a:extLst>
                </a:hlinkClick>
              </a:rPr>
              <a:t>https://www.peda.gov.in/biomass-power-projects</a:t>
            </a:r>
            <a:endParaRPr lang="en-IN">
              <a:solidFill>
                <a:schemeClr val="bg2"/>
              </a:solidFill>
            </a:endParaRPr>
          </a:p>
          <a:p>
            <a:pPr marL="342900" indent="-342900">
              <a:buFont typeface="Arial" panose="020B0604020202020204" pitchFamily="34" charset="0"/>
              <a:buChar char="•"/>
            </a:pPr>
            <a:r>
              <a:rPr lang="en-IN">
                <a:solidFill>
                  <a:schemeClr val="bg2"/>
                </a:solidFill>
                <a:hlinkClick r:id="rId7">
                  <a:extLst>
                    <a:ext uri="{A12FA001-AC4F-418D-AE19-62706E023703}">
                      <ahyp:hlinkClr xmlns:ahyp="http://schemas.microsoft.com/office/drawing/2018/hyperlinkcolor" val="tx"/>
                    </a:ext>
                  </a:extLst>
                </a:hlinkClick>
              </a:rPr>
              <a:t>https://icar.org.in/sites/default/files/2022-09/ICAR-AR-21-22%E2%80%93E.pdf</a:t>
            </a:r>
            <a:r>
              <a:rPr lang="en-IN">
                <a:solidFill>
                  <a:schemeClr val="bg2"/>
                </a:solidFill>
              </a:rPr>
              <a:t> (ICAR annual report)</a:t>
            </a:r>
          </a:p>
          <a:p>
            <a:pPr marL="342900" indent="-342900">
              <a:buFont typeface="Arial" panose="020B0604020202020204" pitchFamily="34" charset="0"/>
              <a:buChar char="•"/>
            </a:pPr>
            <a:r>
              <a:rPr lang="en-US">
                <a:solidFill>
                  <a:schemeClr val="bg2"/>
                </a:solidFill>
              </a:rPr>
              <a:t>Agricultural Statistics at a Glance, 2021, Ministry of Agriculture and Farmers Welfare, Government of India.</a:t>
            </a:r>
          </a:p>
        </p:txBody>
      </p:sp>
      <p:pic>
        <p:nvPicPr>
          <p:cNvPr id="1026" name="Picture 2">
            <a:extLst>
              <a:ext uri="{FF2B5EF4-FFF2-40B4-BE49-F238E27FC236}">
                <a16:creationId xmlns:a16="http://schemas.microsoft.com/office/drawing/2014/main" id="{3AEA2584-2368-FD3E-7EB7-4F5B314F67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345" y="3501458"/>
            <a:ext cx="7139674" cy="24805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8F7BFAD-708D-351B-146E-956602F326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4759" y="3385269"/>
            <a:ext cx="5607394" cy="2812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105855"/>
      </p:ext>
    </p:extLst>
  </p:cSld>
  <p:clrMapOvr>
    <a:masterClrMapping/>
  </p:clrMapOvr>
</p:sld>
</file>

<file path=ppt/theme/theme1.xml><?xml version="1.0" encoding="utf-8"?>
<a:theme xmlns:a="http://schemas.openxmlformats.org/drawingml/2006/main" name="2_prelim">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4397</Words>
  <Application>Microsoft Office PowerPoint</Application>
  <PresentationFormat>Widescreen</PresentationFormat>
  <Paragraphs>699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Roboto</vt:lpstr>
      <vt:lpstr>Söhne</vt:lpstr>
      <vt:lpstr>2_prelim</vt:lpstr>
      <vt:lpstr>Introduction</vt:lpstr>
      <vt:lpstr>Industrial analysis reveals the high potential for stubble monetization, but short timelines is a concern.</vt:lpstr>
      <vt:lpstr>Optimized supply chain &amp; gaining trust of farmers early is vital to the longetivity of business.</vt:lpstr>
      <vt:lpstr>Building hypothesis for ensuring robust procurement system</vt:lpstr>
      <vt:lpstr>PowerPoint Presentation</vt:lpstr>
      <vt:lpstr>Procurement should focus on Superior Channels in the short term, while exploring other optimal options. </vt:lpstr>
      <vt:lpstr>Short distance transportation &amp; robust storage solutions are crucial to current business model.</vt:lpstr>
      <vt:lpstr>New plants should be set-up in areas with high paddy availability &amp; minimal overlap with existing plants.</vt:lpstr>
      <vt:lpstr>Economic Unit Value is crucial for profit estimation &amp; model optimization.</vt:lpstr>
      <vt:lpstr>Thank You!</vt:lpstr>
      <vt:lpstr>Annexure 1 : News articles capturing the impact of stubble burning</vt:lpstr>
      <vt:lpstr>Annexure 2 : Paddy Stubble Type Analysis</vt:lpstr>
      <vt:lpstr>Annexure 3 : Business Model Analysis</vt:lpstr>
      <vt:lpstr>Annexure 3 : Business Model Analysis</vt:lpstr>
      <vt:lpstr>Annexure 4 : Key Questions &amp; Assumptions of Model</vt:lpstr>
      <vt:lpstr>Annexure 5 :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Kamal Karan</dc:creator>
  <cp:lastModifiedBy>Shivam Pathak</cp:lastModifiedBy>
  <cp:revision>1</cp:revision>
  <dcterms:created xsi:type="dcterms:W3CDTF">2016-11-28T10:45:13Z</dcterms:created>
  <dcterms:modified xsi:type="dcterms:W3CDTF">2023-08-15T18:19:05Z</dcterms:modified>
</cp:coreProperties>
</file>