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147468597" r:id="rId2"/>
    <p:sldId id="2147468624" r:id="rId3"/>
    <p:sldId id="2147468598" r:id="rId4"/>
    <p:sldId id="2147468622" r:id="rId5"/>
    <p:sldId id="2147468614" r:id="rId6"/>
    <p:sldId id="2147468625" r:id="rId7"/>
    <p:sldId id="2147468630" r:id="rId8"/>
    <p:sldId id="2147468599" r:id="rId9"/>
    <p:sldId id="2147468627" r:id="rId10"/>
    <p:sldId id="2147468629" r:id="rId11"/>
    <p:sldId id="2147468611" r:id="rId12"/>
    <p:sldId id="2147468632" r:id="rId13"/>
    <p:sldId id="2147468609" r:id="rId14"/>
    <p:sldId id="21474686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FBF425-4A7C-12AD-7681-8F89BE5A75D6}" name="PGP37490@iiml.ac.in" initials="P" userId="PGP37490@iiml.ac.i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GP37493@iiml.ac.in" initials="P" lastIdx="1" clrIdx="0">
    <p:extLst>
      <p:ext uri="{19B8F6BF-5375-455C-9EA6-DF929625EA0E}">
        <p15:presenceInfo xmlns:p15="http://schemas.microsoft.com/office/powerpoint/2012/main" userId="PGP37493@iiml.ac.in" providerId="None"/>
      </p:ext>
    </p:extLst>
  </p:cmAuthor>
  <p:cmAuthor id="2" name="SULAIMAN QIZILBASH" initials="SQ" lastIdx="1" clrIdx="1">
    <p:extLst>
      <p:ext uri="{19B8F6BF-5375-455C-9EA6-DF929625EA0E}">
        <p15:presenceInfo xmlns:p15="http://schemas.microsoft.com/office/powerpoint/2012/main" userId="S::pgp37494@iiml.ac.in::cd285c89-c88d-4035-86ec-3394cdafe9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0993"/>
    <a:srgbClr val="9900CC"/>
    <a:srgbClr val="6B0894"/>
    <a:srgbClr val="CC00CC"/>
    <a:srgbClr val="665EB8"/>
    <a:srgbClr val="990099"/>
    <a:srgbClr val="FC66FF"/>
    <a:srgbClr val="AF38AF"/>
    <a:srgbClr val="FFFFFF"/>
    <a:srgbClr val="5100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F8272-9186-B047-AF62-D4820A5E3D1E}" v="9636" dt="2022-09-01T17:21:46.481"/>
    <p1510:client id="{371035A5-E5B0-8EF1-4B94-8E9E92DC5AEF}" v="19" dt="2022-08-31T22:34:43.238"/>
    <p1510:client id="{4028EF51-339C-0166-7270-8A05CDBE329B}" v="16" dt="2022-09-01T17:05:57.085"/>
    <p1510:client id="{40D59BA1-8E79-29A3-9B06-E3DC27DFA0C5}" v="15" dt="2022-09-01T08:07:37.971"/>
    <p1510:client id="{4298CA31-7F40-4E66-8291-661A791D9013}" v="10580" dt="2022-09-01T17:23:10.692"/>
    <p1510:client id="{45C9CC7D-386D-4E4F-3809-52718ACE2EAE}" v="1" dt="2022-09-01T00:01:45.193"/>
    <p1510:client id="{4A0AC0A3-3FCC-CE86-0C52-F768DFE3FD3F}" v="9" dt="2022-09-01T10:21:30.047"/>
    <p1510:client id="{4B3B394C-6DAD-B804-A0D9-5C6D1F41FB58}" v="2" dt="2022-09-01T16:05:50.482"/>
    <p1510:client id="{7CF1C186-436C-253B-8F76-C597D4BB7A5D}" v="221" dt="2022-09-01T09:12:59.034"/>
    <p1510:client id="{8348EE67-040A-6536-267B-742DC62B9155}" v="1" dt="2022-09-01T14:35:45.257"/>
    <p1510:client id="{8445BFDA-2635-692D-D0C8-7626E98ECD41}" v="16" dt="2022-08-31T22:02:00.515"/>
    <p1510:client id="{A03460F9-4FA5-3CE2-F2E0-F4815F7335D2}" v="70" dt="2022-09-01T08:27:29.313"/>
    <p1510:client id="{C5E881FB-675A-F5E2-6B68-65F99CE4A774}" v="8" dt="2022-09-01T05:56:13.838"/>
    <p1510:client id="{CCC95616-BA00-0753-AA56-BD42B318DB7A}" v="1" dt="2022-09-01T00:14:21.602"/>
    <p1510:client id="{D15D59B5-91A9-EC77-8996-0A7C05C9C820}" v="1" dt="2022-09-01T17:17:37.332"/>
    <p1510:client id="{D40723E9-49E7-5D57-4D6E-34877E442C76}" v="45" dt="2022-09-01T08:06:59.915"/>
    <p1510:client id="{DEC53F79-BF94-9C8E-3D69-5041D4FE11FF}" v="43" dt="2022-09-01T17:11:29.195"/>
    <p1510:client id="{E4587A27-7B06-B89F-0240-F32E1A06C8B0}" v="76" dt="2022-08-31T20:06:27.647"/>
    <p1510:client id="{E7207FD7-8CFD-49FF-8860-AD3C46AFE23C}" v="741" dt="2022-08-31T23:56:33.846"/>
    <p1510:client id="{F70A3A4F-D86F-0CBC-6A01-36AA6E3E7DCB}" v="104" dt="2022-09-01T17:03:14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est%20Bafna\Downloads\Market%20Sizing%20Estima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est%20Bafna\Downloads\Market%20Sizing%20Estima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est%20Bafna\Downloads\Market%20Sizing%20Estima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4E_933AB09B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4E_933AB09B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46_F667C0BB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1_128E930C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3_CC9C8FDA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3_CC9C8FDA2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3_CC9C8FDA3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8_8103F65D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8_8103F65D4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C558_8103F65D5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1200" b="1"/>
              <a:t>TAM (E-Commerce)</a:t>
            </a:r>
            <a:endParaRPr lang="en-IN" sz="1200" b="1" baseline="0"/>
          </a:p>
          <a:p>
            <a:pPr>
              <a:defRPr/>
            </a:pPr>
            <a:r>
              <a:rPr lang="en-IN" sz="1200" baseline="0"/>
              <a:t>(Fig. in INR Cr.)</a:t>
            </a:r>
            <a:endParaRPr lang="en-IN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1939005015868974E-2"/>
          <c:y val="0.3055495359463874"/>
          <c:w val="0.916121989968262"/>
          <c:h val="0.52282286270863776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Sheet6!$B$3:$B$6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Sheet6!$C$3:$C$6</c:f>
              <c:numCache>
                <c:formatCode>General</c:formatCode>
                <c:ptCount val="4"/>
                <c:pt idx="0">
                  <c:v>12550</c:v>
                </c:pt>
                <c:pt idx="1">
                  <c:v>17068</c:v>
                </c:pt>
                <c:pt idx="2">
                  <c:v>23212</c:v>
                </c:pt>
                <c:pt idx="3">
                  <c:v>31568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30-4085-A5F3-4FF8EE2C45E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493665824"/>
        <c:axId val="1493666240"/>
      </c:barChart>
      <c:catAx>
        <c:axId val="1493665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666240"/>
        <c:crosses val="autoZero"/>
        <c:auto val="1"/>
        <c:lblAlgn val="ctr"/>
        <c:lblOffset val="100"/>
        <c:noMultiLvlLbl val="0"/>
      </c:catAx>
      <c:valAx>
        <c:axId val="14936662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93665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1200" b="1" i="0" baseline="0">
                <a:effectLst/>
              </a:rPr>
              <a:t>TAM (E-Commerce)</a:t>
            </a:r>
            <a:endParaRPr lang="en-IN" sz="1200">
              <a:effectLst/>
            </a:endParaRPr>
          </a:p>
          <a:p>
            <a:pPr>
              <a:defRPr/>
            </a:pPr>
            <a:r>
              <a:rPr lang="en-IN" sz="1200" baseline="0"/>
              <a:t>(Fig. in INR Cr.)</a:t>
            </a:r>
            <a:endParaRPr lang="en-IN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Sheet6!$J$3:$J$6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Sheet6!$K$3:$K$6</c:f>
              <c:numCache>
                <c:formatCode>General</c:formatCode>
                <c:ptCount val="4"/>
                <c:pt idx="0">
                  <c:v>12550</c:v>
                </c:pt>
                <c:pt idx="1">
                  <c:v>15688</c:v>
                </c:pt>
                <c:pt idx="2">
                  <c:v>19610</c:v>
                </c:pt>
                <c:pt idx="3">
                  <c:v>24513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3-43CF-9A10-2F063B3B4A6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492948960"/>
        <c:axId val="1492946464"/>
      </c:barChart>
      <c:catAx>
        <c:axId val="149294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2946464"/>
        <c:crosses val="autoZero"/>
        <c:auto val="1"/>
        <c:lblAlgn val="ctr"/>
        <c:lblOffset val="100"/>
        <c:noMultiLvlLbl val="0"/>
      </c:catAx>
      <c:valAx>
        <c:axId val="149294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92948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1200" b="1" i="0" baseline="0">
                <a:effectLst/>
              </a:rPr>
              <a:t>TAM (E-Commerce)</a:t>
            </a:r>
            <a:endParaRPr lang="en-IN" sz="120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pPr>
            <a:r>
              <a:rPr lang="en-IN" sz="1200" baseline="0"/>
              <a:t>(Fig. in INR Cr.)</a:t>
            </a:r>
            <a:endParaRPr lang="en-IN" sz="1200"/>
          </a:p>
        </c:rich>
      </c:tx>
      <c:layout>
        <c:manualLayout>
          <c:xMode val="edge"/>
          <c:yMode val="edge"/>
          <c:x val="0.30680408570567408"/>
          <c:y val="4.28865942247178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b="0" i="0" u="none" strike="noStrike" kern="1200" baseline="0">
              <a:solidFill>
                <a:prstClr val="black">
                  <a:lumMod val="65000"/>
                  <a:lumOff val="35000"/>
                </a:prst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Sheet6!$F$3:$F$6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Sheet6!$G$3:$G$6</c:f>
              <c:numCache>
                <c:formatCode>General</c:formatCode>
                <c:ptCount val="4"/>
                <c:pt idx="0">
                  <c:v>12550</c:v>
                </c:pt>
                <c:pt idx="1">
                  <c:v>14809</c:v>
                </c:pt>
                <c:pt idx="2">
                  <c:v>17475</c:v>
                </c:pt>
                <c:pt idx="3">
                  <c:v>20621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D-4EC1-B792-9EC22C4EE50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319747584"/>
        <c:axId val="1319742592"/>
      </c:barChart>
      <c:catAx>
        <c:axId val="131974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9742592"/>
        <c:crosses val="autoZero"/>
        <c:auto val="1"/>
        <c:lblAlgn val="ctr"/>
        <c:lblOffset val="100"/>
        <c:noMultiLvlLbl val="0"/>
      </c:catAx>
      <c:valAx>
        <c:axId val="13197425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1974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119758183711262E-2"/>
          <c:y val="3.6695774857003684E-2"/>
          <c:w val="0.87746033249739697"/>
          <c:h val="0.8190572281479211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Myntra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AE-4287-A8E9-89B1BF38F3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AE-4287-A8E9-89B1BF38F3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Flipkart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AE-4287-A8E9-89B1BF38F31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D2C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AE-4287-A8E9-89B1BF38F31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AE-4287-A8E9-89B1BF38F31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71851679"/>
        <c:axId val="1571849599"/>
      </c:barChart>
      <c:catAx>
        <c:axId val="15718516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71849599"/>
        <c:crosses val="autoZero"/>
        <c:auto val="1"/>
        <c:lblAlgn val="ctr"/>
        <c:lblOffset val="100"/>
        <c:noMultiLvlLbl val="0"/>
      </c:catAx>
      <c:valAx>
        <c:axId val="157184959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71851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1269833751301489E-2"/>
          <c:y val="5.5273276300702452E-2"/>
          <c:w val="0.87746033249739697"/>
          <c:h val="0.8004796944895273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Myntra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25-4938-8804-791AB4891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925-4938-8804-791AB4891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Flipkart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25-4938-8804-791AB4891F1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D2C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925-4938-8804-791AB4891F1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0%</c:formatCode>
                <c:ptCount val="1"/>
                <c:pt idx="0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25-4938-8804-791AB4891F1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71851679"/>
        <c:axId val="1571849599"/>
      </c:barChart>
      <c:catAx>
        <c:axId val="15718516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71849599"/>
        <c:crosses val="autoZero"/>
        <c:auto val="1"/>
        <c:lblAlgn val="ctr"/>
        <c:lblOffset val="100"/>
        <c:noMultiLvlLbl val="0"/>
      </c:catAx>
      <c:valAx>
        <c:axId val="157184959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571851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3971246904858"/>
          <c:y val="2.8686095762667556E-2"/>
          <c:w val="0.74537954497129488"/>
          <c:h val="0.7487320186084012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Present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4-4B8A-A546-4F74EBF87A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Amazon + Flipkart</c:v>
                </c:pt>
              </c:strCache>
            </c:strRef>
          </c:tx>
          <c:spPr>
            <a:solidFill>
              <a:srgbClr val="E05CE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Present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14-4B8A-A546-4F74EBF87A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Myntra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Present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14-4B8A-A546-4F74EBF87A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General Ads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7F-4FED-B314-0019C931AF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Present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8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14-4B8A-A546-4F74EBF87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4093503"/>
        <c:axId val="964094335"/>
      </c:barChart>
      <c:catAx>
        <c:axId val="964093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094335"/>
        <c:crosses val="autoZero"/>
        <c:auto val="1"/>
        <c:lblAlgn val="ctr"/>
        <c:lblOffset val="100"/>
        <c:noMultiLvlLbl val="0"/>
      </c:catAx>
      <c:valAx>
        <c:axId val="96409433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64093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5879747390199177E-2"/>
          <c:y val="0.6656789434848035"/>
          <c:w val="0.71127779354347109"/>
          <c:h val="0.31587387355981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0070C0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0070C0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286798821384979E-2"/>
          <c:y val="0.2637325629271387"/>
          <c:w val="0.9227787520321693"/>
          <c:h val="0.7003478888483668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0-9B49-8C70-F42E88EAFC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COGS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110-9B49-8C70-F42E88EAFC23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0-9B49-8C70-F42E88EAFC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Supply Chain &amp; Delivery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10-9B49-8C70-F42E88EAFC2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A&amp;P / Marketing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E110-9B49-8C70-F42E88EAFC23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10-9B49-8C70-F42E88EAFC2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G&amp;A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110-9B49-8C70-F42E88EAFC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34"/>
        <c:overlap val="100"/>
        <c:axId val="79559168"/>
        <c:axId val="345065200"/>
      </c:barChart>
      <c:catAx>
        <c:axId val="79559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45065200"/>
        <c:crosses val="autoZero"/>
        <c:auto val="1"/>
        <c:lblAlgn val="ctr"/>
        <c:lblOffset val="100"/>
        <c:noMultiLvlLbl val="0"/>
      </c:catAx>
      <c:valAx>
        <c:axId val="345065200"/>
        <c:scaling>
          <c:orientation val="minMax"/>
          <c:max val="100"/>
        </c:scaling>
        <c:delete val="1"/>
        <c:axPos val="l"/>
        <c:numFmt formatCode="General" sourceLinked="1"/>
        <c:majorTickMark val="none"/>
        <c:minorTickMark val="none"/>
        <c:tickLblPos val="nextTo"/>
        <c:crossAx val="795591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 market share by platform for bed &amp; bath category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821938715936472E-3"/>
                  <c:y val="-2.5362320046517558E-2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3939"/>
                        <a:gd name="adj2" fmla="val 128593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4-F80F-0E40-9730-CE1864AA8E0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Myntra</c:v>
                </c:pt>
                <c:pt idx="1">
                  <c:v>Flipkart</c:v>
                </c:pt>
                <c:pt idx="2">
                  <c:v>Amazon 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0.11</c:v>
                </c:pt>
                <c:pt idx="1">
                  <c:v>0.32</c:v>
                </c:pt>
                <c:pt idx="2">
                  <c:v>0.37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F-0E40-9730-CE1864AA8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449952"/>
        <c:axId val="284776560"/>
      </c:barChart>
      <c:catAx>
        <c:axId val="794499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84776560"/>
        <c:crosses val="autoZero"/>
        <c:auto val="1"/>
        <c:lblAlgn val="ctr"/>
        <c:lblOffset val="100"/>
        <c:noMultiLvlLbl val="0"/>
      </c:catAx>
      <c:valAx>
        <c:axId val="284776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4995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0813085334270381E-2"/>
          <c:y val="0.78383162135849249"/>
          <c:w val="0.95545512982122627"/>
          <c:h val="0.184478233403326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200">
                <a:solidFill>
                  <a:schemeClr val="bg1"/>
                </a:solidFill>
              </a:rPr>
              <a:t>% Contribution of difference channels to ABC's E-commerce Sales</a:t>
            </a:r>
          </a:p>
        </c:rich>
      </c:tx>
      <c:layout>
        <c:manualLayout>
          <c:xMode val="edge"/>
          <c:yMode val="edge"/>
          <c:x val="0.18286968284135505"/>
          <c:y val="0.100352126587574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Contribution of difference channels to ABC's E-commerce Sales</c:v>
                </c:pt>
              </c:strCache>
            </c:strRef>
          </c:tx>
          <c:dPt>
            <c:idx val="0"/>
            <c:bubble3D val="0"/>
            <c:explosion val="1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019-9544-8382-A6C53210D2C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7A-44C0-88E1-BAB114F819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7A-44C0-88E1-BAB114F819A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7A-44C0-88E1-BAB114F819A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7A-44C0-88E1-BAB114F819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Myntra</c:v>
                </c:pt>
                <c:pt idx="1">
                  <c:v>Amazon</c:v>
                </c:pt>
                <c:pt idx="2">
                  <c:v>Flipkart</c:v>
                </c:pt>
                <c:pt idx="3">
                  <c:v>Brand.com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0.64</c:v>
                </c:pt>
                <c:pt idx="1">
                  <c:v>0.12</c:v>
                </c:pt>
                <c:pt idx="2">
                  <c:v>0.1</c:v>
                </c:pt>
                <c:pt idx="3">
                  <c:v>0.08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19-9544-8382-A6C53210D2C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504655274954403"/>
          <c:y val="0.32489964076703376"/>
          <c:w val="0.17508631390276186"/>
          <c:h val="0.541333805774343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Bedsheet</c:v>
                </c:pt>
                <c:pt idx="1">
                  <c:v>Towels</c:v>
                </c:pt>
                <c:pt idx="2">
                  <c:v>Curtains</c:v>
                </c:pt>
                <c:pt idx="3">
                  <c:v>Rugs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0.375</c:v>
                </c:pt>
                <c:pt idx="1">
                  <c:v>0.32500000000000001</c:v>
                </c:pt>
                <c:pt idx="2">
                  <c:v>0.47499999999999998</c:v>
                </c:pt>
                <c:pt idx="3">
                  <c:v>0.32500000000000001</c:v>
                </c:pt>
                <c:pt idx="4">
                  <c:v>0.27500000000000002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21-CD45-889E-C2EC011FC5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Flipkart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dLbl>
              <c:idx val="2"/>
              <c:layout>
                <c:manualLayout>
                  <c:x val="0"/>
                  <c:y val="0.187680107539598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D8B-460D-BFFD-CEB76D1173FE}"/>
                </c:ext>
              </c:extLst>
            </c:dLbl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Bedsheet</c:v>
                </c:pt>
                <c:pt idx="1">
                  <c:v>Towels</c:v>
                </c:pt>
                <c:pt idx="2">
                  <c:v>Curtains</c:v>
                </c:pt>
                <c:pt idx="3">
                  <c:v>Rugs</c:v>
                </c:pt>
                <c:pt idx="4">
                  <c:v>Others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0.32500000000000001</c:v>
                </c:pt>
                <c:pt idx="1">
                  <c:v>0.22500000000000001</c:v>
                </c:pt>
                <c:pt idx="2">
                  <c:v>0.42499999999999999</c:v>
                </c:pt>
                <c:pt idx="3">
                  <c:v>0.22500000000000001</c:v>
                </c:pt>
                <c:pt idx="4">
                  <c:v>0.22500000000000001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21-CD45-889E-C2EC011FC5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Myntra</c:v>
                </c:pt>
              </c:strCache>
            </c:strRef>
          </c:tx>
          <c:spPr>
            <a:pattFill prst="narHorz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3"/>
              </a:innerShdw>
            </a:effectLst>
          </c:spPr>
          <c:invertIfNegative val="0"/>
          <c:dLbls>
            <c:dLbl>
              <c:idx val="2"/>
              <c:layout>
                <c:manualLayout>
                  <c:x val="2.4547026532752626E-2"/>
                  <c:y val="0.1091141920465383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8B-460D-BFFD-CEB76D1173FE}"/>
                </c:ext>
              </c:extLst>
            </c:dLbl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Bedsheet</c:v>
                </c:pt>
                <c:pt idx="1">
                  <c:v>Towels</c:v>
                </c:pt>
                <c:pt idx="2">
                  <c:v>Curtains</c:v>
                </c:pt>
                <c:pt idx="3">
                  <c:v>Rugs</c:v>
                </c:pt>
                <c:pt idx="4">
                  <c:v>Others</c:v>
                </c:pt>
              </c:strCache>
            </c:strRef>
          </c:cat>
          <c:val>
            <c:numRef>
              <c:f>Sheet1!$D$2:$D$6</c:f>
              <c:numCache>
                <c:formatCode>0.00%</c:formatCode>
                <c:ptCount val="5"/>
                <c:pt idx="0">
                  <c:v>0.47499999999999998</c:v>
                </c:pt>
                <c:pt idx="1">
                  <c:v>0.375</c:v>
                </c:pt>
                <c:pt idx="2">
                  <c:v>0.42499999999999999</c:v>
                </c:pt>
                <c:pt idx="3">
                  <c:v>0.32500000000000001</c:v>
                </c:pt>
                <c:pt idx="4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21-CD45-889E-C2EC011FC53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676081136"/>
        <c:axId val="538777552"/>
      </c:barChart>
      <c:catAx>
        <c:axId val="676081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777552"/>
        <c:crosses val="autoZero"/>
        <c:auto val="1"/>
        <c:lblAlgn val="ctr"/>
        <c:lblOffset val="100"/>
        <c:noMultiLvlLbl val="0"/>
      </c:catAx>
      <c:valAx>
        <c:axId val="538777552"/>
        <c:scaling>
          <c:orientation val="minMax"/>
          <c:max val="0.47500000000000003"/>
          <c:min val="0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081136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C00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4CC-4649-A2FE-24D92D69A478}"/>
              </c:ext>
            </c:extLst>
          </c:dPt>
          <c:dPt>
            <c:idx val="1"/>
            <c:bubble3D val="0"/>
            <c:spPr>
              <a:solidFill>
                <a:srgbClr val="9900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4CC-4649-A2FE-24D92D69A478}"/>
              </c:ext>
            </c:extLst>
          </c:dPt>
          <c:dPt>
            <c:idx val="2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4CC-4649-A2FE-24D92D69A47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311-4CA8-83C6-64D23DC5CF7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311-4CA8-83C6-64D23DC5CF7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Offline</c:v>
                </c:pt>
                <c:pt idx="1">
                  <c:v>Amazon</c:v>
                </c:pt>
                <c:pt idx="2">
                  <c:v>Myntra</c:v>
                </c:pt>
                <c:pt idx="3">
                  <c:v>Google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36</c:v>
                </c:pt>
                <c:pt idx="2">
                  <c:v>4</c:v>
                </c:pt>
                <c:pt idx="3">
                  <c:v>21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CC-4649-A2FE-24D92D69A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8659126984127"/>
          <c:y val="0.71177662037037037"/>
          <c:w val="0.65716587301587293"/>
          <c:h val="0.222582561728395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C00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00-4D3A-9497-8AE469EE6E75}"/>
              </c:ext>
            </c:extLst>
          </c:dPt>
          <c:dPt>
            <c:idx val="1"/>
            <c:bubble3D val="0"/>
            <c:spPr>
              <a:solidFill>
                <a:srgbClr val="9900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500-4D3A-9497-8AE469EE6E75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500-4D3A-9497-8AE469EE6E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500-4D3A-9497-8AE469EE6E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Offline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27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00-4D3A-9497-8AE469EE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8659126984127"/>
          <c:y val="0.71177662037037037"/>
          <c:w val="0.65716587301587293"/>
          <c:h val="0.222582561728395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Recall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BD</c:v>
                </c:pt>
                <c:pt idx="1">
                  <c:v>D'Décor</c:v>
                </c:pt>
                <c:pt idx="2">
                  <c:v>Fab India</c:v>
                </c:pt>
                <c:pt idx="3">
                  <c:v>Spaces</c:v>
                </c:pt>
                <c:pt idx="4">
                  <c:v>Welspun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15</c:v>
                </c:pt>
                <c:pt idx="2">
                  <c:v>14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8-44C3-A177-6BC864EC4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7255791"/>
        <c:axId val="1127272847"/>
      </c:barChart>
      <c:catAx>
        <c:axId val="1127255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7272847"/>
        <c:crosses val="autoZero"/>
        <c:auto val="1"/>
        <c:lblAlgn val="ctr"/>
        <c:lblOffset val="100"/>
        <c:noMultiLvlLbl val="0"/>
      </c:catAx>
      <c:valAx>
        <c:axId val="112727284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27255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399224706697817"/>
          <c:y val="7.6584876543209876E-2"/>
          <c:w val="0.37634976201723169"/>
          <c:h val="0.103537885714399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4" Type="http://schemas.openxmlformats.org/officeDocument/2006/relationships/image" Target="../media/image88.sv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0.42157</cdr:x>
      <cdr:y>0.30144</cdr:y>
    </cdr:from>
    <cdr:to>
      <cdr:x>0.59368</cdr:x>
      <cdr:y>0.35102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D490F84-2A4D-0FD5-455C-ED7563C933AB}"/>
            </a:ext>
          </a:extLst>
        </cdr:cNvPr>
        <cdr:cNvSpPr txBox="1"/>
      </cdr:nvSpPr>
      <cdr:spPr>
        <a:xfrm xmlns:a="http://schemas.openxmlformats.org/drawingml/2006/main">
          <a:off x="4212773" y="1926189"/>
          <a:ext cx="1719942" cy="31685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1400" dirty="0">
              <a:solidFill>
                <a:schemeClr val="tx1"/>
              </a:solidFill>
            </a:rPr>
            <a:t>Revenue</a:t>
          </a:r>
        </a:p>
      </cdr:txBody>
    </cdr:sp>
  </cdr:relSizeAnchor>
  <cdr:relSizeAnchor xmlns:cdr="http://schemas.openxmlformats.org/drawingml/2006/chartDrawing">
    <cdr:from>
      <cdr:x>0.42266</cdr:x>
      <cdr:y>0.44296</cdr:y>
    </cdr:from>
    <cdr:to>
      <cdr:x>0.59259</cdr:x>
      <cdr:y>0.49254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BB7BA8AD-D382-F9E3-9DC8-D58746195C65}"/>
            </a:ext>
          </a:extLst>
        </cdr:cNvPr>
        <cdr:cNvSpPr txBox="1"/>
      </cdr:nvSpPr>
      <cdr:spPr>
        <a:xfrm xmlns:a="http://schemas.openxmlformats.org/drawingml/2006/main">
          <a:off x="4223657" y="2830517"/>
          <a:ext cx="1698171" cy="316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400" dirty="0">
              <a:solidFill>
                <a:schemeClr val="tx1"/>
              </a:solidFill>
            </a:rPr>
            <a:t>COGS</a:t>
          </a:r>
        </a:p>
      </cdr:txBody>
    </cdr:sp>
  </cdr:relSizeAnchor>
  <cdr:relSizeAnchor xmlns:cdr="http://schemas.openxmlformats.org/drawingml/2006/chartDrawing">
    <cdr:from>
      <cdr:x>0.42736</cdr:x>
      <cdr:y>0.57562</cdr:y>
    </cdr:from>
    <cdr:to>
      <cdr:x>0.5915</cdr:x>
      <cdr:y>0.62521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22086DA1-AE3A-69CA-241F-EC8F779B93AB}"/>
            </a:ext>
          </a:extLst>
        </cdr:cNvPr>
        <cdr:cNvSpPr txBox="1"/>
      </cdr:nvSpPr>
      <cdr:spPr>
        <a:xfrm xmlns:a="http://schemas.openxmlformats.org/drawingml/2006/main">
          <a:off x="4270673" y="3678261"/>
          <a:ext cx="1640270" cy="316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400" dirty="0">
              <a:solidFill>
                <a:schemeClr val="tx1"/>
              </a:solidFill>
            </a:rPr>
            <a:t>Supply Chain &amp; Delivery</a:t>
          </a:r>
        </a:p>
      </cdr:txBody>
    </cdr:sp>
  </cdr:relSizeAnchor>
  <cdr:relSizeAnchor xmlns:cdr="http://schemas.openxmlformats.org/drawingml/2006/chartDrawing">
    <cdr:from>
      <cdr:x>0.41056</cdr:x>
      <cdr:y>0.7322</cdr:y>
    </cdr:from>
    <cdr:to>
      <cdr:x>0.6109</cdr:x>
      <cdr:y>0.83971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4DB83853-2264-84D8-CF37-3557DD31F0A2}"/>
            </a:ext>
          </a:extLst>
        </cdr:cNvPr>
        <cdr:cNvSpPr txBox="1"/>
      </cdr:nvSpPr>
      <cdr:spPr>
        <a:xfrm xmlns:a="http://schemas.openxmlformats.org/drawingml/2006/main">
          <a:off x="4102768" y="4678820"/>
          <a:ext cx="2002015" cy="6869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1400" dirty="0">
              <a:solidFill>
                <a:schemeClr val="tx1"/>
              </a:solidFill>
            </a:rPr>
            <a:t>A&amp;P / Marketing</a:t>
          </a:r>
          <a:endParaRPr lang="en-US" sz="11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0.43903</cdr:x>
      <cdr:y>0.4389</cdr:y>
    </cdr:from>
    <cdr:to>
      <cdr:x>0.48019</cdr:x>
      <cdr:y>0.50326</cdr:y>
    </cdr:to>
    <cdr:pic>
      <cdr:nvPicPr>
        <cdr:cNvPr id="7" name="Graphic 6" descr="Coins">
          <a:extLst xmlns:a="http://schemas.openxmlformats.org/drawingml/2006/main">
            <a:ext uri="{FF2B5EF4-FFF2-40B4-BE49-F238E27FC236}">
              <a16:creationId xmlns:a16="http://schemas.microsoft.com/office/drawing/2014/main" id="{84C6BB01-565D-4A88-15F3-829036F9E29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4387294" y="2804606"/>
          <a:ext cx="411257" cy="411257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0.43465</cdr:x>
      <cdr:y>0.86044</cdr:y>
    </cdr:from>
    <cdr:to>
      <cdr:x>0.48041</cdr:x>
      <cdr:y>0.93198</cdr:y>
    </cdr:to>
    <cdr:pic>
      <cdr:nvPicPr>
        <cdr:cNvPr id="9" name="Graphic 8" descr="Hierarchy">
          <a:extLst xmlns:a="http://schemas.openxmlformats.org/drawingml/2006/main">
            <a:ext uri="{FF2B5EF4-FFF2-40B4-BE49-F238E27FC236}">
              <a16:creationId xmlns:a16="http://schemas.microsoft.com/office/drawing/2014/main" id="{F743AEF8-DDE5-5357-CFED-DE675253B66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>
          <a:extLst>
            <a:ext uri="{96DAC541-7B7A-43D3-8B79-37D633B846F1}">
              <asvg:svgBlip xmlns:asvg="http://schemas.microsoft.com/office/drawing/2016/SVG/main" r:embed="rId4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4343530" y="5498226"/>
          <a:ext cx="457201" cy="457201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BAD3A-8502-4565-AC5F-1AA22C5584C6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277CE-3867-4B15-928E-9A92F7643F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277CE-3867-4B15-928E-9A92F7643F4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73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277CE-3867-4B15-928E-9A92F7643F4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356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277CE-3867-4B15-928E-9A92F7643F4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84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59F1-D4E4-D3EA-C071-A846881FD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6D23-2B3C-5536-E2AB-23620EC64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C1CB5-5F61-51DE-CE30-4E96FBFB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7CBFE-1054-D713-9B68-3A945E25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32FE-9A3B-0B89-5A58-E1EFCADD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6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1F6E-0CFB-BAA7-2274-DF02217B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4641-0859-FE2D-51D7-9C27D7C60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5419-B053-659F-7546-04ADDE53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5DD6-25CF-3BBA-44A5-94295752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FF2B-DC4B-D47E-9AEA-080AFAA0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1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A06C-162D-4202-4391-6768748E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E8714-24F2-D7DD-3C1E-18D21DD74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692C5-268F-C8CB-DBAA-76AAAD21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FA6D-6B22-223C-3120-9EEC098B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687FE-9189-3B20-8E5A-EEF59504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8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DBA3-2AC7-794D-95B0-156903F6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B1022-0894-4341-D4D7-63EA740B4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E901F-10B6-AB62-3F4C-A7FD4BE28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6035B-153A-BC3D-3834-C011FBA7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D876A-A00A-D742-523E-4CF6D2F4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350B-3607-B733-AA0C-8C0E7BFD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7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1B0E-12F7-6746-6903-AD556660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E1E8E-0687-62EB-CF6C-FC2CC3208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9BAD8-6DA7-65B5-AA08-2B1E52020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78E91-C4A7-FB6F-E640-0E2076032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B33FC-9257-EA6E-21D7-09A59244C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CC9CE-2800-3DA9-28F3-E581C027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55CCB-C091-2A65-1124-49FF6950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6C0A5-0704-DC46-0037-8DAB2FB5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4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4673-ED8F-C16D-DD9D-E3B2303C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A46DE-934A-B9E7-4F9F-CD2F8129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29060-A1E1-2003-CD9A-84FDD2D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715A2-5CA5-673A-5960-36A25FE2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5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06C37-430B-EEE6-6AA4-AAFF2501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11AEC-C381-54CF-54A1-5ACA4EF0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8A1DE-70EA-C98D-BDA2-09EABFB5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9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C6CE-2CEA-9DEB-CDE6-A79EA9E0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783F-FB90-F688-2A7E-027A359ED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81A83-DA21-31F6-3E76-C6978C239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B2D15-F596-6577-5307-91D92477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558A0-17B5-E9E7-8D7F-15BADA8E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13195-87E9-0A82-748A-BBE965A9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7EC2-99B9-6C6C-D896-2C6CB8A9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C9755-5D92-C9CD-35DB-7903545F4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F763A-6179-2312-FE7C-90BBADED3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D7BD5-03CA-E293-46D9-C61321A23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705A8-B1FC-1C25-E720-E2AAAC96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8F510-8B98-069E-5617-33452AAD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7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25A1-E685-6465-0DF9-2204312C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7D075-7E92-721F-6635-6FF357702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8856B-D9C5-CCF8-8BB0-8A534D80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F6688-8A73-62FC-B095-46E82F5B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9AEA6-E010-B6D1-57EF-D47E0AF8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7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88B8F-F00D-B5EB-FB6A-A9139EE2F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9CE0B-86A8-C9AB-8BAC-39B0A08D0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FCAED-C04F-4755-72D0-A846D471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B789B-A962-E0F3-1571-49299D1E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C340-BACE-2CE3-4522-E5F720C0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93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skyline at night&#10;&#10;Description automatically generated with low confidence">
            <a:extLst>
              <a:ext uri="{FF2B5EF4-FFF2-40B4-BE49-F238E27FC236}">
                <a16:creationId xmlns:a16="http://schemas.microsoft.com/office/drawing/2014/main" id="{CEC421B1-DA5A-787E-79B3-D22F9C8AF8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07" y="4132750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Team members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1A059A3-99AF-82A8-75D3-67F692FB30D3}"/>
              </a:ext>
            </a:extLst>
          </p:cNvPr>
          <p:cNvSpPr txBox="1"/>
          <p:nvPr userDrawn="1"/>
        </p:nvSpPr>
        <p:spPr>
          <a:xfrm>
            <a:off x="279807" y="5694604"/>
            <a:ext cx="23182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Accenture B-School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Next-Horizon Strategy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Challenge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5097151-112E-4372-9CB9-6113667910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9807" y="1701921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Case Topic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A1B0CBE-CE23-4422-94E8-BBC562A7C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9807" y="2934675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882460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B9124D07-1463-DF1A-9DED-E59CF2A7DE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1429171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C4986B-0CF1-4791-AE40-063D1C0DC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936" y="859347"/>
            <a:ext cx="10906125" cy="393954"/>
          </a:xfrm>
        </p:spPr>
        <p:txBody>
          <a:bodyPr wrap="square" anchor="t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</p:spTree>
    <p:extLst>
      <p:ext uri="{BB962C8B-B14F-4D97-AF65-F5344CB8AC3E}">
        <p14:creationId xmlns:p14="http://schemas.microsoft.com/office/powerpoint/2010/main" val="2242034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502030-B187-FE51-4FE0-32C86C0F5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99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38164-5479-A0BE-CC01-A59CDF65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9592C-8502-F185-C1F2-EB8460A3D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1A890-BE30-801C-E3CB-AF884610B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DA1CF-4995-A64C-81D1-97A4A4B4E041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13750-5B69-9B2C-2480-9D5C4EAE5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7B239-6E0F-69B3-5E31-3308D9DFA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FE8C6-2C1A-004D-9693-E9AB4595E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7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10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slide" Target="slide11.xml"/><Relationship Id="rId21" Type="http://schemas.openxmlformats.org/officeDocument/2006/relationships/image" Target="../media/image24.sv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28.svg"/><Relationship Id="rId33" Type="http://schemas.openxmlformats.org/officeDocument/2006/relationships/image" Target="../media/image36.svg"/><Relationship Id="rId38" Type="http://schemas.openxmlformats.org/officeDocument/2006/relationships/slide" Target="slide13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sv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31" Type="http://schemas.openxmlformats.org/officeDocument/2006/relationships/image" Target="../media/image34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svg"/><Relationship Id="rId30" Type="http://schemas.openxmlformats.org/officeDocument/2006/relationships/image" Target="../media/image33.png"/><Relationship Id="rId35" Type="http://schemas.openxmlformats.org/officeDocument/2006/relationships/image" Target="../media/image38.svg"/><Relationship Id="rId8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sv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21" Type="http://schemas.openxmlformats.org/officeDocument/2006/relationships/image" Target="../media/image54.png"/><Relationship Id="rId34" Type="http://schemas.openxmlformats.org/officeDocument/2006/relationships/image" Target="../media/image66.png"/><Relationship Id="rId7" Type="http://schemas.openxmlformats.org/officeDocument/2006/relationships/image" Target="../media/image17.pn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5" Type="http://schemas.openxmlformats.org/officeDocument/2006/relationships/image" Target="../media/image58.png"/><Relationship Id="rId33" Type="http://schemas.openxmlformats.org/officeDocument/2006/relationships/image" Target="../media/image65.svg"/><Relationship Id="rId38" Type="http://schemas.openxmlformats.org/officeDocument/2006/relationships/slide" Target="slide9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44.svg"/><Relationship Id="rId24" Type="http://schemas.openxmlformats.org/officeDocument/2006/relationships/image" Target="../media/image57.png"/><Relationship Id="rId32" Type="http://schemas.openxmlformats.org/officeDocument/2006/relationships/image" Target="../media/image64.png"/><Relationship Id="rId37" Type="http://schemas.openxmlformats.org/officeDocument/2006/relationships/image" Target="../media/image69.png"/><Relationship Id="rId5" Type="http://schemas.openxmlformats.org/officeDocument/2006/relationships/image" Target="../media/image15.png"/><Relationship Id="rId15" Type="http://schemas.openxmlformats.org/officeDocument/2006/relationships/image" Target="../media/image48.svg"/><Relationship Id="rId23" Type="http://schemas.openxmlformats.org/officeDocument/2006/relationships/image" Target="../media/image56.png"/><Relationship Id="rId28" Type="http://schemas.openxmlformats.org/officeDocument/2006/relationships/slide" Target="slide14.xml"/><Relationship Id="rId36" Type="http://schemas.openxmlformats.org/officeDocument/2006/relationships/image" Target="../media/image68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3.png"/><Relationship Id="rId4" Type="http://schemas.openxmlformats.org/officeDocument/2006/relationships/chart" Target="../charts/chart5.xml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svg"/><Relationship Id="rId30" Type="http://schemas.openxmlformats.org/officeDocument/2006/relationships/image" Target="../media/image62.png"/><Relationship Id="rId35" Type="http://schemas.openxmlformats.org/officeDocument/2006/relationships/image" Target="../media/image67.svg"/><Relationship Id="rId8" Type="http://schemas.openxmlformats.org/officeDocument/2006/relationships/image" Target="../media/image41.png"/><Relationship Id="rId3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chart" Target="../charts/chart6.xml"/><Relationship Id="rId21" Type="http://schemas.openxmlformats.org/officeDocument/2006/relationships/image" Target="../media/image10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2.png"/><Relationship Id="rId20" Type="http://schemas.openxmlformats.org/officeDocument/2006/relationships/slide" Target="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hyperlink" Target="https://forms.gle/SKiaVxJc1wHgyPW36" TargetMode="External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iimlucknow-my.sharepoint.com/:x:/g/personal/pgp37490_iiml_ac_in/EX2YZx48ZahBuebxoCNF7R4ButRxVroIjs-teagcoWYB7A?e=LyOdb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hyperlink" Target="https://forms.gle/SKiaVxJc1wHgyPW36" TargetMode="External"/><Relationship Id="rId7" Type="http://schemas.openxmlformats.org/officeDocument/2006/relationships/image" Target="../media/image79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chart" Target="../charts/chart13.xml"/><Relationship Id="rId10" Type="http://schemas.openxmlformats.org/officeDocument/2006/relationships/image" Target="../media/image81.png"/><Relationship Id="rId4" Type="http://schemas.openxmlformats.org/officeDocument/2006/relationships/chart" Target="../charts/chart12.xml"/><Relationship Id="rId9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svg"/><Relationship Id="rId18" Type="http://schemas.openxmlformats.org/officeDocument/2006/relationships/image" Target="../media/image115.png"/><Relationship Id="rId26" Type="http://schemas.openxmlformats.org/officeDocument/2006/relationships/image" Target="../media/image123.png"/><Relationship Id="rId3" Type="http://schemas.openxmlformats.org/officeDocument/2006/relationships/hyperlink" Target="https://commons.wikimedia.org/wiki/File:Welspun_Group.svg" TargetMode="External"/><Relationship Id="rId21" Type="http://schemas.openxmlformats.org/officeDocument/2006/relationships/image" Target="../media/image118.svg"/><Relationship Id="rId7" Type="http://schemas.openxmlformats.org/officeDocument/2006/relationships/image" Target="../media/image104.svg"/><Relationship Id="rId12" Type="http://schemas.openxmlformats.org/officeDocument/2006/relationships/image" Target="../media/image109.png"/><Relationship Id="rId17" Type="http://schemas.openxmlformats.org/officeDocument/2006/relationships/image" Target="../media/image114.svg"/><Relationship Id="rId25" Type="http://schemas.openxmlformats.org/officeDocument/2006/relationships/image" Target="../media/image122.jpeg"/><Relationship Id="rId2" Type="http://schemas.openxmlformats.org/officeDocument/2006/relationships/image" Target="../media/image100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24" Type="http://schemas.openxmlformats.org/officeDocument/2006/relationships/image" Target="../media/image121.png"/><Relationship Id="rId5" Type="http://schemas.openxmlformats.org/officeDocument/2006/relationships/image" Target="../media/image102.svg"/><Relationship Id="rId15" Type="http://schemas.openxmlformats.org/officeDocument/2006/relationships/image" Target="../media/image112.svg"/><Relationship Id="rId23" Type="http://schemas.openxmlformats.org/officeDocument/2006/relationships/image" Target="../media/image120.png"/><Relationship Id="rId28" Type="http://schemas.openxmlformats.org/officeDocument/2006/relationships/image" Target="../media/image125.png"/><Relationship Id="rId10" Type="http://schemas.openxmlformats.org/officeDocument/2006/relationships/image" Target="../media/image107.png"/><Relationship Id="rId19" Type="http://schemas.openxmlformats.org/officeDocument/2006/relationships/image" Target="../media/image116.svg"/><Relationship Id="rId4" Type="http://schemas.openxmlformats.org/officeDocument/2006/relationships/image" Target="../media/image101.png"/><Relationship Id="rId9" Type="http://schemas.openxmlformats.org/officeDocument/2006/relationships/image" Target="../media/image106.svg"/><Relationship Id="rId14" Type="http://schemas.openxmlformats.org/officeDocument/2006/relationships/image" Target="../media/image111.png"/><Relationship Id="rId22" Type="http://schemas.openxmlformats.org/officeDocument/2006/relationships/image" Target="../media/image119.jpeg"/><Relationship Id="rId27" Type="http://schemas.openxmlformats.org/officeDocument/2006/relationships/image" Target="../media/image1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sv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3" Type="http://schemas.openxmlformats.org/officeDocument/2006/relationships/image" Target="../media/image128.svg"/><Relationship Id="rId21" Type="http://schemas.openxmlformats.org/officeDocument/2006/relationships/image" Target="../media/image146.svg"/><Relationship Id="rId7" Type="http://schemas.openxmlformats.org/officeDocument/2006/relationships/image" Target="../media/image132.svg"/><Relationship Id="rId12" Type="http://schemas.openxmlformats.org/officeDocument/2006/relationships/image" Target="../media/image137.png"/><Relationship Id="rId17" Type="http://schemas.openxmlformats.org/officeDocument/2006/relationships/image" Target="../media/image142.svg"/><Relationship Id="rId25" Type="http://schemas.openxmlformats.org/officeDocument/2006/relationships/image" Target="../media/image150.sv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4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1.png"/><Relationship Id="rId11" Type="http://schemas.openxmlformats.org/officeDocument/2006/relationships/image" Target="../media/image136.svg"/><Relationship Id="rId24" Type="http://schemas.openxmlformats.org/officeDocument/2006/relationships/image" Target="../media/image149.png"/><Relationship Id="rId5" Type="http://schemas.openxmlformats.org/officeDocument/2006/relationships/image" Target="../media/image130.svg"/><Relationship Id="rId15" Type="http://schemas.openxmlformats.org/officeDocument/2006/relationships/image" Target="../media/image140.svg"/><Relationship Id="rId23" Type="http://schemas.openxmlformats.org/officeDocument/2006/relationships/image" Target="../media/image148.svg"/><Relationship Id="rId28" Type="http://schemas.openxmlformats.org/officeDocument/2006/relationships/image" Target="../media/image153.png"/><Relationship Id="rId10" Type="http://schemas.openxmlformats.org/officeDocument/2006/relationships/image" Target="../media/image135.png"/><Relationship Id="rId19" Type="http://schemas.openxmlformats.org/officeDocument/2006/relationships/image" Target="../media/image144.svg"/><Relationship Id="rId31" Type="http://schemas.openxmlformats.org/officeDocument/2006/relationships/image" Target="../media/image156.svg"/><Relationship Id="rId4" Type="http://schemas.openxmlformats.org/officeDocument/2006/relationships/image" Target="../media/image129.png"/><Relationship Id="rId9" Type="http://schemas.openxmlformats.org/officeDocument/2006/relationships/image" Target="../media/image134.sv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svg"/><Relationship Id="rId30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E6A4AB-D8EA-4F33-A556-7078CE135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9807" y="2934675"/>
            <a:ext cx="5715000" cy="164885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/>
              <a:t>Team Hustlers</a:t>
            </a:r>
          </a:p>
          <a:p>
            <a:r>
              <a:rPr lang="en-IN" sz="1600"/>
              <a:t>Sakshi Bhalla</a:t>
            </a:r>
            <a:endParaRPr lang="en-US" sz="1600" b="0"/>
          </a:p>
          <a:p>
            <a:r>
              <a:rPr lang="en-IN" sz="1600"/>
              <a:t>Shrija Paul</a:t>
            </a:r>
            <a:endParaRPr lang="en-US" sz="1600" b="0"/>
          </a:p>
          <a:p>
            <a:r>
              <a:rPr lang="en-IN" sz="1600" err="1"/>
              <a:t>Srest</a:t>
            </a:r>
            <a:r>
              <a:rPr lang="en-IN" sz="1600"/>
              <a:t> </a:t>
            </a:r>
            <a:r>
              <a:rPr lang="en-IN" sz="1600" err="1"/>
              <a:t>Bafna</a:t>
            </a:r>
            <a:endParaRPr lang="en-IN" sz="1600"/>
          </a:p>
          <a:p>
            <a:r>
              <a:rPr lang="en-IN" sz="1600" err="1"/>
              <a:t>Sulaiman</a:t>
            </a:r>
            <a:r>
              <a:rPr lang="en-IN" sz="1600"/>
              <a:t> </a:t>
            </a:r>
            <a:r>
              <a:rPr lang="en-IN" sz="1600" err="1"/>
              <a:t>Qizilbash</a:t>
            </a:r>
            <a:endParaRPr lang="en-IN" sz="1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AF1FB-1307-8302-D338-B4F892772B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3600"/>
              <a:t>Topic - E-Commerce</a:t>
            </a:r>
          </a:p>
        </p:txBody>
      </p:sp>
    </p:spTree>
    <p:extLst>
      <p:ext uri="{BB962C8B-B14F-4D97-AF65-F5344CB8AC3E}">
        <p14:creationId xmlns:p14="http://schemas.microsoft.com/office/powerpoint/2010/main" val="33944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A2244D-597A-FDB6-C195-1431A4B4BAD4}"/>
              </a:ext>
            </a:extLst>
          </p:cNvPr>
          <p:cNvSpPr/>
          <p:nvPr/>
        </p:nvSpPr>
        <p:spPr>
          <a:xfrm>
            <a:off x="752859" y="1123536"/>
            <a:ext cx="1774375" cy="43738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Urban Population - 50 Crores</a:t>
            </a:r>
            <a:endParaRPr lang="en-IN" sz="1400" b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FDC114-3834-9001-6757-EF45B10B6499}"/>
              </a:ext>
            </a:extLst>
          </p:cNvPr>
          <p:cNvSpPr/>
          <p:nvPr/>
        </p:nvSpPr>
        <p:spPr>
          <a:xfrm>
            <a:off x="2994149" y="1135352"/>
            <a:ext cx="2035051" cy="430628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Rural Population -</a:t>
            </a:r>
          </a:p>
          <a:p>
            <a:pPr algn="ctr"/>
            <a:r>
              <a:rPr lang="en-US" sz="1400" b="1"/>
              <a:t>90 Crores</a:t>
            </a:r>
            <a:endParaRPr lang="en-IN" sz="1400" b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B428A9-2FE3-56A1-5C86-48CD82A2AD33}"/>
              </a:ext>
            </a:extLst>
          </p:cNvPr>
          <p:cNvSpPr/>
          <p:nvPr/>
        </p:nvSpPr>
        <p:spPr>
          <a:xfrm>
            <a:off x="752859" y="1738779"/>
            <a:ext cx="4276341" cy="4663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Urban Internet Users - 30 Crores</a:t>
            </a:r>
          </a:p>
          <a:p>
            <a:pPr algn="ctr"/>
            <a:r>
              <a:rPr lang="en-US" sz="1400">
                <a:solidFill>
                  <a:schemeClr val="tx1"/>
                </a:solidFill>
              </a:rPr>
              <a:t>(Assumed Internet Penetration – 60%)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10F5C3-9B3E-DFBF-B158-F600637A243C}"/>
              </a:ext>
            </a:extLst>
          </p:cNvPr>
          <p:cNvSpPr txBox="1"/>
          <p:nvPr/>
        </p:nvSpPr>
        <p:spPr>
          <a:xfrm>
            <a:off x="770054" y="689309"/>
            <a:ext cx="427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rgbClr val="990099"/>
                </a:solidFill>
              </a:rPr>
              <a:t>India’s Population 140 Crores</a:t>
            </a:r>
            <a:endParaRPr lang="en-IN" sz="1800">
              <a:solidFill>
                <a:srgbClr val="990099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36710B3-60EF-61FC-3C7F-AA44EC816899}"/>
              </a:ext>
            </a:extLst>
          </p:cNvPr>
          <p:cNvSpPr/>
          <p:nvPr/>
        </p:nvSpPr>
        <p:spPr>
          <a:xfrm>
            <a:off x="752859" y="2413286"/>
            <a:ext cx="4276341" cy="4663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Urban E-Commerce Users - 18 Crores</a:t>
            </a:r>
          </a:p>
          <a:p>
            <a:pPr algn="ctr"/>
            <a:r>
              <a:rPr lang="en-US" sz="1400">
                <a:solidFill>
                  <a:schemeClr val="tx1"/>
                </a:solidFill>
              </a:rPr>
              <a:t>(Assumed E-Commerce Penetration – 60%)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3BBA6F6-CC40-659F-8CB2-59D9EC9FFE4F}"/>
              </a:ext>
            </a:extLst>
          </p:cNvPr>
          <p:cNvSpPr/>
          <p:nvPr/>
        </p:nvSpPr>
        <p:spPr>
          <a:xfrm>
            <a:off x="475279" y="3276458"/>
            <a:ext cx="1489596" cy="4682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Low Income</a:t>
            </a:r>
          </a:p>
          <a:p>
            <a:pPr algn="ctr"/>
            <a:r>
              <a:rPr lang="en-US" sz="1200"/>
              <a:t>7 Crores</a:t>
            </a:r>
            <a:endParaRPr lang="en-IN" sz="120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A7D9D84-B1BB-A07E-1885-AF1FB04E87A9}"/>
              </a:ext>
            </a:extLst>
          </p:cNvPr>
          <p:cNvSpPr/>
          <p:nvPr/>
        </p:nvSpPr>
        <p:spPr>
          <a:xfrm>
            <a:off x="3722844" y="3287626"/>
            <a:ext cx="1402506" cy="467997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High Income</a:t>
            </a:r>
          </a:p>
          <a:p>
            <a:pPr algn="ctr"/>
            <a:r>
              <a:rPr lang="en-US" sz="1200"/>
              <a:t>6 Crores</a:t>
            </a:r>
            <a:endParaRPr lang="en-IN" sz="120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1DCE30-8ECB-A59D-5DF6-561F9A8EC128}"/>
              </a:ext>
            </a:extLst>
          </p:cNvPr>
          <p:cNvSpPr/>
          <p:nvPr/>
        </p:nvSpPr>
        <p:spPr>
          <a:xfrm>
            <a:off x="2127184" y="3289159"/>
            <a:ext cx="1456831" cy="4682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Middle Income</a:t>
            </a:r>
          </a:p>
          <a:p>
            <a:pPr algn="ctr"/>
            <a:r>
              <a:rPr lang="en-US" sz="1200"/>
              <a:t>5 Crores</a:t>
            </a:r>
            <a:endParaRPr lang="en-IN" sz="120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4B2AA91-96C3-CF56-1DDA-7F22CCFCE1C9}"/>
              </a:ext>
            </a:extLst>
          </p:cNvPr>
          <p:cNvSpPr/>
          <p:nvPr/>
        </p:nvSpPr>
        <p:spPr>
          <a:xfrm>
            <a:off x="2116406" y="4083816"/>
            <a:ext cx="1456832" cy="4682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Avg. Annual Order (bed &amp; bath)</a:t>
            </a:r>
          </a:p>
          <a:p>
            <a:pPr algn="ctr"/>
            <a:r>
              <a:rPr lang="en-US" sz="1200"/>
              <a:t>INR 500</a:t>
            </a:r>
            <a:endParaRPr lang="en-IN" sz="12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4679E88-4557-C4C3-B094-62D4891D02CD}"/>
              </a:ext>
            </a:extLst>
          </p:cNvPr>
          <p:cNvSpPr/>
          <p:nvPr/>
        </p:nvSpPr>
        <p:spPr>
          <a:xfrm>
            <a:off x="3722844" y="4082140"/>
            <a:ext cx="1402506" cy="4899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Avg. Annual Order (bed &amp; bath)</a:t>
            </a:r>
          </a:p>
          <a:p>
            <a:pPr algn="ctr"/>
            <a:r>
              <a:rPr lang="en-US" sz="1200"/>
              <a:t>INR 1500</a:t>
            </a:r>
            <a:endParaRPr lang="en-IN" sz="12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0BBF69C-6660-168C-86C5-721A4BA0604A}"/>
              </a:ext>
            </a:extLst>
          </p:cNvPr>
          <p:cNvSpPr/>
          <p:nvPr/>
        </p:nvSpPr>
        <p:spPr>
          <a:xfrm>
            <a:off x="464387" y="4071115"/>
            <a:ext cx="1489597" cy="4682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Avg. Annual Order (bed &amp; bath)</a:t>
            </a:r>
          </a:p>
          <a:p>
            <a:pPr algn="ctr"/>
            <a:r>
              <a:rPr lang="en-US" sz="1200"/>
              <a:t>INR 150</a:t>
            </a:r>
            <a:endParaRPr lang="en-IN" sz="12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D343EDA-FAD5-96C1-6E68-45E68B1D93F6}"/>
              </a:ext>
            </a:extLst>
          </p:cNvPr>
          <p:cNvSpPr/>
          <p:nvPr/>
        </p:nvSpPr>
        <p:spPr>
          <a:xfrm>
            <a:off x="464389" y="4887541"/>
            <a:ext cx="1489597" cy="51167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Total Annual Order</a:t>
            </a:r>
          </a:p>
          <a:p>
            <a:pPr algn="ctr"/>
            <a:r>
              <a:rPr lang="en-US" sz="1200" b="1"/>
              <a:t>INR 1050 Crores</a:t>
            </a:r>
            <a:endParaRPr lang="en-IN" sz="1200" b="1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E5D1D83-9C89-6E1C-1024-AB2719079BE6}"/>
              </a:ext>
            </a:extLst>
          </p:cNvPr>
          <p:cNvSpPr/>
          <p:nvPr/>
        </p:nvSpPr>
        <p:spPr>
          <a:xfrm>
            <a:off x="2083643" y="4911123"/>
            <a:ext cx="1500373" cy="50079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Total Annual Order</a:t>
            </a:r>
          </a:p>
          <a:p>
            <a:pPr algn="ctr"/>
            <a:r>
              <a:rPr lang="en-US" sz="1200" b="1"/>
              <a:t>INR 2500 Crores</a:t>
            </a:r>
            <a:endParaRPr lang="en-IN" sz="1200" b="1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2C79E5A-138D-E3C6-BDEC-33834FB4828A}"/>
              </a:ext>
            </a:extLst>
          </p:cNvPr>
          <p:cNvSpPr/>
          <p:nvPr/>
        </p:nvSpPr>
        <p:spPr>
          <a:xfrm>
            <a:off x="3679304" y="4887541"/>
            <a:ext cx="1489597" cy="51167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Total Annual Order</a:t>
            </a:r>
          </a:p>
          <a:p>
            <a:pPr algn="ctr"/>
            <a:r>
              <a:rPr lang="en-US" sz="1200" b="1"/>
              <a:t>INR 9000 Crores</a:t>
            </a:r>
            <a:endParaRPr lang="en-IN" sz="1200" b="1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B815BBB1-7F0E-AA63-193A-C1F805945B78}"/>
              </a:ext>
            </a:extLst>
          </p:cNvPr>
          <p:cNvSpPr/>
          <p:nvPr/>
        </p:nvSpPr>
        <p:spPr>
          <a:xfrm>
            <a:off x="1120468" y="3731192"/>
            <a:ext cx="155665" cy="30474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Multiplication Sign 61">
            <a:extLst>
              <a:ext uri="{FF2B5EF4-FFF2-40B4-BE49-F238E27FC236}">
                <a16:creationId xmlns:a16="http://schemas.microsoft.com/office/drawing/2014/main" id="{D754EF49-847D-D441-0CF6-43E029220BB6}"/>
              </a:ext>
            </a:extLst>
          </p:cNvPr>
          <p:cNvSpPr/>
          <p:nvPr/>
        </p:nvSpPr>
        <p:spPr>
          <a:xfrm>
            <a:off x="2777984" y="3746411"/>
            <a:ext cx="155665" cy="30474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198C1642-2118-2FE4-46C6-EE769BE6C5F7}"/>
              </a:ext>
            </a:extLst>
          </p:cNvPr>
          <p:cNvSpPr/>
          <p:nvPr/>
        </p:nvSpPr>
        <p:spPr>
          <a:xfrm>
            <a:off x="4388939" y="3744736"/>
            <a:ext cx="155665" cy="30474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Equals 63">
            <a:extLst>
              <a:ext uri="{FF2B5EF4-FFF2-40B4-BE49-F238E27FC236}">
                <a16:creationId xmlns:a16="http://schemas.microsoft.com/office/drawing/2014/main" id="{4DDFB45C-D196-C1BC-6D1C-D69D35572C15}"/>
              </a:ext>
            </a:extLst>
          </p:cNvPr>
          <p:cNvSpPr/>
          <p:nvPr/>
        </p:nvSpPr>
        <p:spPr>
          <a:xfrm>
            <a:off x="1052816" y="4546484"/>
            <a:ext cx="261255" cy="326377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5" name="Equals 64">
            <a:extLst>
              <a:ext uri="{FF2B5EF4-FFF2-40B4-BE49-F238E27FC236}">
                <a16:creationId xmlns:a16="http://schemas.microsoft.com/office/drawing/2014/main" id="{C54EB48E-D0AC-398E-24BF-2BF428C1F1B6}"/>
              </a:ext>
            </a:extLst>
          </p:cNvPr>
          <p:cNvSpPr/>
          <p:nvPr/>
        </p:nvSpPr>
        <p:spPr>
          <a:xfrm>
            <a:off x="2710507" y="4562971"/>
            <a:ext cx="261255" cy="326377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Equals 65">
            <a:extLst>
              <a:ext uri="{FF2B5EF4-FFF2-40B4-BE49-F238E27FC236}">
                <a16:creationId xmlns:a16="http://schemas.microsoft.com/office/drawing/2014/main" id="{A7A7AB74-6FA6-EC2F-3814-2C18B41E88A8}"/>
              </a:ext>
            </a:extLst>
          </p:cNvPr>
          <p:cNvSpPr/>
          <p:nvPr/>
        </p:nvSpPr>
        <p:spPr>
          <a:xfrm>
            <a:off x="4320192" y="4572017"/>
            <a:ext cx="261255" cy="326377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05BC7CB-C45B-6DFB-B2FC-36FBBAC858F4}"/>
              </a:ext>
            </a:extLst>
          </p:cNvPr>
          <p:cNvGrpSpPr/>
          <p:nvPr/>
        </p:nvGrpSpPr>
        <p:grpSpPr>
          <a:xfrm>
            <a:off x="453503" y="6013872"/>
            <a:ext cx="10150751" cy="260372"/>
            <a:chOff x="1046431" y="15312"/>
            <a:chExt cx="10150751" cy="528238"/>
          </a:xfrm>
          <a:solidFill>
            <a:srgbClr val="FFEBFF"/>
          </a:solidFill>
        </p:grpSpPr>
        <p:sp>
          <p:nvSpPr>
            <p:cNvPr id="68" name="Arrow: Pentagon 67">
              <a:extLst>
                <a:ext uri="{FF2B5EF4-FFF2-40B4-BE49-F238E27FC236}">
                  <a16:creationId xmlns:a16="http://schemas.microsoft.com/office/drawing/2014/main" id="{58EC6DBB-C136-2FF0-65E1-B7E1E82260D5}"/>
                </a:ext>
              </a:extLst>
            </p:cNvPr>
            <p:cNvSpPr/>
            <p:nvPr/>
          </p:nvSpPr>
          <p:spPr>
            <a:xfrm>
              <a:off x="3076893" y="45095"/>
              <a:ext cx="2029681" cy="468673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cs typeface="Times New Roman" panose="02020603050405020304" pitchFamily="18" charset="0"/>
                </a:rPr>
                <a:t>Competitive landscape</a:t>
              </a:r>
            </a:p>
          </p:txBody>
        </p:sp>
        <p:sp>
          <p:nvSpPr>
            <p:cNvPr id="69" name="Arrow: Pentagon 68">
              <a:extLst>
                <a:ext uri="{FF2B5EF4-FFF2-40B4-BE49-F238E27FC236}">
                  <a16:creationId xmlns:a16="http://schemas.microsoft.com/office/drawing/2014/main" id="{38044BBA-5120-80E6-B95B-18C61D9DCCA2}"/>
                </a:ext>
              </a:extLst>
            </p:cNvPr>
            <p:cNvSpPr/>
            <p:nvPr/>
          </p:nvSpPr>
          <p:spPr>
            <a:xfrm>
              <a:off x="1046431" y="15312"/>
              <a:ext cx="2029681" cy="468673"/>
            </a:xfrm>
            <a:prstGeom prst="homePlate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Market potential</a:t>
              </a:r>
            </a:p>
          </p:txBody>
        </p:sp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24D04023-75F7-A940-1284-77320814318C}"/>
                </a:ext>
              </a:extLst>
            </p:cNvPr>
            <p:cNvSpPr/>
            <p:nvPr/>
          </p:nvSpPr>
          <p:spPr>
            <a:xfrm>
              <a:off x="5108136" y="74878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cs typeface="Times New Roman" panose="02020603050405020304" pitchFamily="18" charset="0"/>
                </a:rPr>
                <a:t>Channel strategy</a:t>
              </a:r>
            </a:p>
          </p:txBody>
        </p:sp>
        <p:sp>
          <p:nvSpPr>
            <p:cNvPr id="71" name="Arrow: Pentagon 70">
              <a:extLst>
                <a:ext uri="{FF2B5EF4-FFF2-40B4-BE49-F238E27FC236}">
                  <a16:creationId xmlns:a16="http://schemas.microsoft.com/office/drawing/2014/main" id="{DFA3CCF7-5700-500B-3EAF-4C6117F35E19}"/>
                </a:ext>
              </a:extLst>
            </p:cNvPr>
            <p:cNvSpPr/>
            <p:nvPr/>
          </p:nvSpPr>
          <p:spPr>
            <a:xfrm>
              <a:off x="7137818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cs typeface="Times New Roman" panose="02020603050405020304" pitchFamily="18" charset="0"/>
                </a:rPr>
                <a:t>Marketing Strategy</a:t>
              </a:r>
            </a:p>
          </p:txBody>
        </p:sp>
        <p:sp>
          <p:nvSpPr>
            <p:cNvPr id="72" name="Arrow: Pentagon 71">
              <a:extLst>
                <a:ext uri="{FF2B5EF4-FFF2-40B4-BE49-F238E27FC236}">
                  <a16:creationId xmlns:a16="http://schemas.microsoft.com/office/drawing/2014/main" id="{2961680F-12DE-10DC-06CA-1D63490C7053}"/>
                </a:ext>
              </a:extLst>
            </p:cNvPr>
            <p:cNvSpPr/>
            <p:nvPr/>
          </p:nvSpPr>
          <p:spPr>
            <a:xfrm>
              <a:off x="9167501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cs typeface="Times New Roman" panose="02020603050405020304" pitchFamily="18" charset="0"/>
                </a:rPr>
                <a:t>Marketing &amp; KPI</a:t>
              </a:r>
            </a:p>
          </p:txBody>
        </p:sp>
      </p:grpSp>
      <p:sp>
        <p:nvSpPr>
          <p:cNvPr id="73" name="Arrow: Down 72">
            <a:extLst>
              <a:ext uri="{FF2B5EF4-FFF2-40B4-BE49-F238E27FC236}">
                <a16:creationId xmlns:a16="http://schemas.microsoft.com/office/drawing/2014/main" id="{B7111E34-2258-7245-91CE-0616F5EC5B59}"/>
              </a:ext>
            </a:extLst>
          </p:cNvPr>
          <p:cNvSpPr/>
          <p:nvPr/>
        </p:nvSpPr>
        <p:spPr>
          <a:xfrm>
            <a:off x="1155699" y="2941438"/>
            <a:ext cx="155665" cy="28630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7E907F8C-3D44-89E0-726B-5EDD9309B4DE}"/>
              </a:ext>
            </a:extLst>
          </p:cNvPr>
          <p:cNvSpPr/>
          <p:nvPr/>
        </p:nvSpPr>
        <p:spPr>
          <a:xfrm>
            <a:off x="2813045" y="2941438"/>
            <a:ext cx="155665" cy="28630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721DCEE6-4365-5A6A-575D-E5CF7F2C0BC0}"/>
              </a:ext>
            </a:extLst>
          </p:cNvPr>
          <p:cNvSpPr/>
          <p:nvPr/>
        </p:nvSpPr>
        <p:spPr>
          <a:xfrm>
            <a:off x="4388938" y="2934546"/>
            <a:ext cx="155665" cy="28630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2758A0D-81CC-8BF2-2CE8-C504D4292504}"/>
              </a:ext>
            </a:extLst>
          </p:cNvPr>
          <p:cNvSpPr/>
          <p:nvPr/>
        </p:nvSpPr>
        <p:spPr>
          <a:xfrm>
            <a:off x="453503" y="5573344"/>
            <a:ext cx="1489597" cy="259094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990099"/>
                </a:solidFill>
              </a:rPr>
              <a:t>“Cheap”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8D45524-195A-9CC6-B947-DDAC0EE761B8}"/>
              </a:ext>
            </a:extLst>
          </p:cNvPr>
          <p:cNvSpPr/>
          <p:nvPr/>
        </p:nvSpPr>
        <p:spPr>
          <a:xfrm>
            <a:off x="2083641" y="5575157"/>
            <a:ext cx="1489597" cy="259094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50" b="1">
                <a:solidFill>
                  <a:srgbClr val="990099"/>
                </a:solidFill>
              </a:rPr>
              <a:t>“Value for Money”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B840585-0A76-F87F-D160-4FCFCF445EB3}"/>
              </a:ext>
            </a:extLst>
          </p:cNvPr>
          <p:cNvSpPr/>
          <p:nvPr/>
        </p:nvSpPr>
        <p:spPr>
          <a:xfrm>
            <a:off x="3679298" y="5566851"/>
            <a:ext cx="1489597" cy="23101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990099"/>
                </a:solidFill>
              </a:rPr>
              <a:t>“Premium”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688D6-F5CA-23CE-C446-D066A6CF6117}"/>
              </a:ext>
            </a:extLst>
          </p:cNvPr>
          <p:cNvSpPr txBox="1"/>
          <p:nvPr/>
        </p:nvSpPr>
        <p:spPr>
          <a:xfrm>
            <a:off x="148328" y="125271"/>
            <a:ext cx="1276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Addressable Market Size &amp; Market Potential (e-commerce) for ABC in India is 11,500 Cr; with an increasing disposable income 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0C108B47-DFCF-8ADE-00C5-82A475390012}"/>
              </a:ext>
            </a:extLst>
          </p:cNvPr>
          <p:cNvSpPr/>
          <p:nvPr/>
        </p:nvSpPr>
        <p:spPr>
          <a:xfrm>
            <a:off x="2809605" y="2226842"/>
            <a:ext cx="172661" cy="17252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00F4C11-4C26-E937-9C51-024FDBFA21B3}"/>
              </a:ext>
            </a:extLst>
          </p:cNvPr>
          <p:cNvGrpSpPr/>
          <p:nvPr/>
        </p:nvGrpSpPr>
        <p:grpSpPr>
          <a:xfrm>
            <a:off x="5702759" y="1195325"/>
            <a:ext cx="2328840" cy="1567606"/>
            <a:chOff x="5905500" y="1250950"/>
            <a:chExt cx="2328840" cy="156760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51591D18-D77D-59BC-DF1A-F5D4EEE2C9C4}"/>
                </a:ext>
              </a:extLst>
            </p:cNvPr>
            <p:cNvSpPr/>
            <p:nvPr/>
          </p:nvSpPr>
          <p:spPr>
            <a:xfrm>
              <a:off x="5905500" y="1250950"/>
              <a:ext cx="2328840" cy="33342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E-Commerce TAM Funnel</a:t>
              </a:r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715E5C91-EFA6-B29A-C62F-F0C11827598C}"/>
                </a:ext>
              </a:extLst>
            </p:cNvPr>
            <p:cNvSpPr/>
            <p:nvPr/>
          </p:nvSpPr>
          <p:spPr>
            <a:xfrm rot="10800000">
              <a:off x="6390680" y="2402550"/>
              <a:ext cx="1392383" cy="387003"/>
            </a:xfrm>
            <a:prstGeom prst="trapezoid">
              <a:avLst/>
            </a:prstGeom>
            <a:noFill/>
            <a:ln w="25400">
              <a:solidFill>
                <a:srgbClr val="8D21B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8E4F700C-353C-5783-8B32-497D1AECD0FF}"/>
                </a:ext>
              </a:extLst>
            </p:cNvPr>
            <p:cNvSpPr/>
            <p:nvPr/>
          </p:nvSpPr>
          <p:spPr>
            <a:xfrm rot="10800000">
              <a:off x="6083790" y="1589484"/>
              <a:ext cx="2029682" cy="386008"/>
            </a:xfrm>
            <a:prstGeom prst="trapezoid">
              <a:avLst/>
            </a:prstGeom>
            <a:noFill/>
            <a:ln w="28575">
              <a:solidFill>
                <a:srgbClr val="720F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14FB6C-0011-3550-100E-55BF79D682C0}"/>
                </a:ext>
              </a:extLst>
            </p:cNvPr>
            <p:cNvSpPr txBox="1"/>
            <p:nvPr/>
          </p:nvSpPr>
          <p:spPr>
            <a:xfrm>
              <a:off x="6173765" y="1563264"/>
              <a:ext cx="187382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200">
                  <a:solidFill>
                    <a:srgbClr val="990099"/>
                  </a:solidFill>
                </a:rPr>
                <a:t>Total Addressable Market (2022) – INR 12550 Cr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AF3935-CF2E-EE1B-0646-BC185681322B}"/>
                </a:ext>
              </a:extLst>
            </p:cNvPr>
            <p:cNvSpPr txBox="1"/>
            <p:nvPr/>
          </p:nvSpPr>
          <p:spPr>
            <a:xfrm>
              <a:off x="6328898" y="2356891"/>
              <a:ext cx="151013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200">
                  <a:solidFill>
                    <a:srgbClr val="990099"/>
                  </a:solidFill>
                </a:rPr>
                <a:t>Target Market –</a:t>
              </a:r>
            </a:p>
            <a:p>
              <a:pPr algn="ctr"/>
              <a:r>
                <a:rPr lang="en-US" sz="1200">
                  <a:solidFill>
                    <a:srgbClr val="990099"/>
                  </a:solidFill>
                </a:rPr>
                <a:t>INR 11500 Cr</a:t>
              </a:r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E8825E79-3530-7C0F-FEA6-6690255244DF}"/>
                </a:ext>
              </a:extLst>
            </p:cNvPr>
            <p:cNvSpPr/>
            <p:nvPr/>
          </p:nvSpPr>
          <p:spPr>
            <a:xfrm>
              <a:off x="7038878" y="2070588"/>
              <a:ext cx="155665" cy="28630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82866E7A-2086-47ED-D3CE-175366C3CD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3319659"/>
              </p:ext>
            </p:extLst>
          </p:nvPr>
        </p:nvGraphicFramePr>
        <p:xfrm>
          <a:off x="8450943" y="602046"/>
          <a:ext cx="3331028" cy="1716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60B61ACC-DFA6-AC25-98CF-9004E5DFA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457494"/>
              </p:ext>
            </p:extLst>
          </p:nvPr>
        </p:nvGraphicFramePr>
        <p:xfrm>
          <a:off x="8461828" y="2394853"/>
          <a:ext cx="3331028" cy="1716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8CFD2421-5D16-4179-1711-FDD0C0A404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240145"/>
              </p:ext>
            </p:extLst>
          </p:nvPr>
        </p:nvGraphicFramePr>
        <p:xfrm>
          <a:off x="8461828" y="4210364"/>
          <a:ext cx="3331028" cy="1776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74302D7E-F0C0-312E-A01D-8DFF2CA5F188}"/>
              </a:ext>
            </a:extLst>
          </p:cNvPr>
          <p:cNvSpPr/>
          <p:nvPr/>
        </p:nvSpPr>
        <p:spPr>
          <a:xfrm>
            <a:off x="2007423" y="5522912"/>
            <a:ext cx="3250377" cy="332985"/>
          </a:xfrm>
          <a:prstGeom prst="rect">
            <a:avLst/>
          </a:prstGeom>
          <a:noFill/>
          <a:ln w="28575">
            <a:solidFill>
              <a:srgbClr val="1480D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417DF4-3D6B-D44B-35DC-D88CDF0D61FB}"/>
              </a:ext>
            </a:extLst>
          </p:cNvPr>
          <p:cNvGrpSpPr/>
          <p:nvPr/>
        </p:nvGrpSpPr>
        <p:grpSpPr>
          <a:xfrm>
            <a:off x="5917332" y="3171020"/>
            <a:ext cx="1884964" cy="1297589"/>
            <a:chOff x="5908082" y="3309925"/>
            <a:chExt cx="1884964" cy="1297589"/>
          </a:xfrm>
        </p:grpSpPr>
        <p:sp>
          <p:nvSpPr>
            <p:cNvPr id="98" name="Arrow: Down 97">
              <a:extLst>
                <a:ext uri="{FF2B5EF4-FFF2-40B4-BE49-F238E27FC236}">
                  <a16:creationId xmlns:a16="http://schemas.microsoft.com/office/drawing/2014/main" id="{98308A2F-2146-2CBC-2954-D33F1255E20F}"/>
                </a:ext>
              </a:extLst>
            </p:cNvPr>
            <p:cNvSpPr/>
            <p:nvPr/>
          </p:nvSpPr>
          <p:spPr>
            <a:xfrm>
              <a:off x="6771323" y="3531073"/>
              <a:ext cx="155665" cy="26329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0331AD5-4E96-B5C7-B954-9AD951F73582}"/>
                </a:ext>
              </a:extLst>
            </p:cNvPr>
            <p:cNvSpPr/>
            <p:nvPr/>
          </p:nvSpPr>
          <p:spPr>
            <a:xfrm>
              <a:off x="5914654" y="3309925"/>
              <a:ext cx="1873829" cy="340416"/>
            </a:xfrm>
            <a:prstGeom prst="roundRect">
              <a:avLst/>
            </a:prstGeom>
            <a:solidFill>
              <a:schemeClr val="tx1"/>
            </a:solidFill>
            <a:ln>
              <a:solidFill>
                <a:srgbClr val="8D21BA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D2F457-1A59-A0E7-48A0-D4C292D9C33E}"/>
                </a:ext>
              </a:extLst>
            </p:cNvPr>
            <p:cNvSpPr txBox="1"/>
            <p:nvPr/>
          </p:nvSpPr>
          <p:spPr>
            <a:xfrm>
              <a:off x="6013510" y="3333249"/>
              <a:ext cx="16503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>
                  <a:solidFill>
                    <a:srgbClr val="990099"/>
                  </a:solidFill>
                </a:rPr>
                <a:t>ABC’s offerings</a:t>
              </a:r>
              <a:endParaRPr lang="en-IN" sz="1400">
                <a:solidFill>
                  <a:srgbClr val="990099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BE9BB4F-BB0E-5476-6B51-A15E333E40BE}"/>
                </a:ext>
              </a:extLst>
            </p:cNvPr>
            <p:cNvSpPr/>
            <p:nvPr/>
          </p:nvSpPr>
          <p:spPr>
            <a:xfrm>
              <a:off x="5913649" y="3838283"/>
              <a:ext cx="936915" cy="340416"/>
            </a:xfrm>
            <a:prstGeom prst="roundRect">
              <a:avLst/>
            </a:prstGeom>
            <a:noFill/>
            <a:ln>
              <a:solidFill>
                <a:srgbClr val="8D21BA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707C24A-0BB3-C0A6-002B-019C59C984F1}"/>
                </a:ext>
              </a:extLst>
            </p:cNvPr>
            <p:cNvSpPr txBox="1"/>
            <p:nvPr/>
          </p:nvSpPr>
          <p:spPr>
            <a:xfrm>
              <a:off x="5949786" y="3876341"/>
              <a:ext cx="8686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rgbClr val="990099"/>
                  </a:solidFill>
                </a:rPr>
                <a:t>Bedsheets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E99A34D4-DCEB-3544-DDF0-80060C455EDF}"/>
                </a:ext>
              </a:extLst>
            </p:cNvPr>
            <p:cNvSpPr/>
            <p:nvPr/>
          </p:nvSpPr>
          <p:spPr>
            <a:xfrm>
              <a:off x="6856131" y="3838283"/>
              <a:ext cx="936915" cy="340416"/>
            </a:xfrm>
            <a:prstGeom prst="roundRect">
              <a:avLst/>
            </a:prstGeom>
            <a:noFill/>
            <a:ln>
              <a:solidFill>
                <a:srgbClr val="8D21BA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0539FED-A691-90D5-9CB7-F3D29E7A429E}"/>
                </a:ext>
              </a:extLst>
            </p:cNvPr>
            <p:cNvSpPr txBox="1"/>
            <p:nvPr/>
          </p:nvSpPr>
          <p:spPr>
            <a:xfrm>
              <a:off x="6892268" y="3876341"/>
              <a:ext cx="8686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rgbClr val="990099"/>
                  </a:solidFill>
                </a:rPr>
                <a:t>Towels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220EE97E-1640-03EC-9B08-CCE03BDA5B2E}"/>
                </a:ext>
              </a:extLst>
            </p:cNvPr>
            <p:cNvSpPr/>
            <p:nvPr/>
          </p:nvSpPr>
          <p:spPr>
            <a:xfrm>
              <a:off x="5908082" y="4267098"/>
              <a:ext cx="936915" cy="340416"/>
            </a:xfrm>
            <a:prstGeom prst="roundRect">
              <a:avLst/>
            </a:prstGeom>
            <a:noFill/>
            <a:ln>
              <a:solidFill>
                <a:srgbClr val="8D21BA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695E995-13DD-3328-2319-A0884C9B9450}"/>
                </a:ext>
              </a:extLst>
            </p:cNvPr>
            <p:cNvSpPr txBox="1"/>
            <p:nvPr/>
          </p:nvSpPr>
          <p:spPr>
            <a:xfrm>
              <a:off x="5944219" y="4305156"/>
              <a:ext cx="8686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rgbClr val="990099"/>
                  </a:solidFill>
                </a:rPr>
                <a:t>Top of Bed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5CEF3D05-1A57-8B40-3D79-FA77214E4873}"/>
                </a:ext>
              </a:extLst>
            </p:cNvPr>
            <p:cNvSpPr/>
            <p:nvPr/>
          </p:nvSpPr>
          <p:spPr>
            <a:xfrm>
              <a:off x="6850564" y="4267098"/>
              <a:ext cx="936915" cy="340416"/>
            </a:xfrm>
            <a:prstGeom prst="roundRect">
              <a:avLst/>
            </a:prstGeom>
            <a:noFill/>
            <a:ln>
              <a:solidFill>
                <a:srgbClr val="8D21BA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D1882B6-1079-1375-CDD3-33CB3EB5917A}"/>
                </a:ext>
              </a:extLst>
            </p:cNvPr>
            <p:cNvSpPr txBox="1"/>
            <p:nvPr/>
          </p:nvSpPr>
          <p:spPr>
            <a:xfrm>
              <a:off x="6886701" y="4305156"/>
              <a:ext cx="8686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rgbClr val="990099"/>
                  </a:solidFill>
                </a:rPr>
                <a:t>Rugs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9DEC6400-28AC-7672-E9B0-597CA69C0431}"/>
              </a:ext>
            </a:extLst>
          </p:cNvPr>
          <p:cNvSpPr txBox="1"/>
          <p:nvPr/>
        </p:nvSpPr>
        <p:spPr>
          <a:xfrm>
            <a:off x="5737716" y="4754070"/>
            <a:ext cx="2273829" cy="110799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>
                <a:solidFill>
                  <a:schemeClr val="accent5">
                    <a:lumMod val="75000"/>
                  </a:schemeClr>
                </a:solidFill>
              </a:rPr>
              <a:t>ABC playing in ‘Value for Money’ &amp; ‘Premium’ Segment with</a:t>
            </a:r>
          </a:p>
          <a:p>
            <a:pPr algn="ctr"/>
            <a:r>
              <a:rPr lang="en-US" sz="1200" u="sng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u="sng">
                <a:solidFill>
                  <a:schemeClr val="accent5">
                    <a:lumMod val="75000"/>
                  </a:schemeClr>
                </a:solidFill>
              </a:rPr>
              <a:t>Market Size: 11 Cr. </a:t>
            </a:r>
            <a:endParaRPr lang="en-US" sz="1400" b="1" u="sng">
              <a:solidFill>
                <a:schemeClr val="accent5">
                  <a:lumMod val="75000"/>
                </a:schemeClr>
              </a:solidFill>
              <a:cs typeface="Calibri"/>
            </a:endParaRPr>
          </a:p>
          <a:p>
            <a:pPr algn="ctr"/>
            <a:r>
              <a:rPr lang="en-US" sz="1400" b="1" u="sng">
                <a:solidFill>
                  <a:schemeClr val="accent5">
                    <a:lumMod val="75000"/>
                  </a:schemeClr>
                </a:solidFill>
              </a:rPr>
              <a:t> Market Potential: INR 11500 Cr</a:t>
            </a:r>
            <a:endParaRPr lang="en-US" sz="1400" b="1" u="sng">
              <a:solidFill>
                <a:schemeClr val="accent5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033EE5A-8735-636D-689E-67EFF0516805}"/>
              </a:ext>
            </a:extLst>
          </p:cNvPr>
          <p:cNvSpPr txBox="1"/>
          <p:nvPr/>
        </p:nvSpPr>
        <p:spPr>
          <a:xfrm>
            <a:off x="584611" y="643316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990099"/>
                </a:solidFill>
              </a:rPr>
              <a:t>Market Sizing &amp; Market Potential on Appendix 2: </a:t>
            </a:r>
            <a:r>
              <a:rPr lang="en-US" sz="1200">
                <a:solidFill>
                  <a:srgbClr val="990099"/>
                </a:solidFill>
                <a:hlinkClick r:id="rId5" action="ppaction://hlinksldjump"/>
              </a:rPr>
              <a:t>Calculation</a:t>
            </a:r>
            <a:endParaRPr lang="en-IN" sz="120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A52CF4D-B5DC-F6A7-B2FF-A943916231AA}"/>
              </a:ext>
            </a:extLst>
          </p:cNvPr>
          <p:cNvGrpSpPr/>
          <p:nvPr/>
        </p:nvGrpSpPr>
        <p:grpSpPr>
          <a:xfrm>
            <a:off x="5257800" y="2525749"/>
            <a:ext cx="868357" cy="3163656"/>
            <a:chOff x="5257800" y="2525749"/>
            <a:chExt cx="868357" cy="3163656"/>
          </a:xfrm>
        </p:grpSpPr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7955818C-D6F4-120D-A340-3208E0012E94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5257800" y="2525749"/>
              <a:ext cx="292100" cy="3163656"/>
            </a:xfrm>
            <a:prstGeom prst="bentConnector2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44AF4E7-8B34-D0D0-B42B-C580B2139FF8}"/>
                </a:ext>
              </a:extLst>
            </p:cNvPr>
            <p:cNvCxnSpPr>
              <a:cxnSpLocks/>
            </p:cNvCxnSpPr>
            <p:nvPr/>
          </p:nvCxnSpPr>
          <p:spPr>
            <a:xfrm>
              <a:off x="5549900" y="2532099"/>
              <a:ext cx="576257" cy="0"/>
            </a:xfrm>
            <a:prstGeom prst="line">
              <a:avLst/>
            </a:prstGeom>
            <a:ln w="19050">
              <a:solidFill>
                <a:schemeClr val="accent5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AD28032-BC4F-F2B7-BF05-8038ABDDF677}"/>
              </a:ext>
            </a:extLst>
          </p:cNvPr>
          <p:cNvSpPr txBox="1"/>
          <p:nvPr/>
        </p:nvSpPr>
        <p:spPr>
          <a:xfrm>
            <a:off x="8450943" y="570801"/>
            <a:ext cx="125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u="sng">
                <a:solidFill>
                  <a:srgbClr val="CC00CC"/>
                </a:solidFill>
              </a:rPr>
              <a:t>Optimistic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6FCA0B-6B62-58B8-B1E9-064646E35F8D}"/>
              </a:ext>
            </a:extLst>
          </p:cNvPr>
          <p:cNvSpPr txBox="1"/>
          <p:nvPr/>
        </p:nvSpPr>
        <p:spPr>
          <a:xfrm>
            <a:off x="8477792" y="2359054"/>
            <a:ext cx="125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u="sng">
                <a:solidFill>
                  <a:srgbClr val="CC00CC"/>
                </a:solidFill>
              </a:rPr>
              <a:t>Normal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804B8-1961-12DA-291B-2032A9E7A2D6}"/>
              </a:ext>
            </a:extLst>
          </p:cNvPr>
          <p:cNvSpPr txBox="1"/>
          <p:nvPr/>
        </p:nvSpPr>
        <p:spPr>
          <a:xfrm>
            <a:off x="8443666" y="4175876"/>
            <a:ext cx="125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u="sng">
                <a:solidFill>
                  <a:srgbClr val="CC00CC"/>
                </a:solidFill>
              </a:rPr>
              <a:t>Pessimistic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C069B-459E-9C0B-B75C-BC9317F02714}"/>
              </a:ext>
            </a:extLst>
          </p:cNvPr>
          <p:cNvSpPr txBox="1"/>
          <p:nvPr/>
        </p:nvSpPr>
        <p:spPr>
          <a:xfrm rot="16200000">
            <a:off x="5604214" y="3129772"/>
            <a:ext cx="5363230" cy="30777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u="sng">
                <a:solidFill>
                  <a:srgbClr val="CC00CC"/>
                </a:solidFill>
              </a:rPr>
              <a:t>Market potential in future for bed &amp; bath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60FB80-FF7C-E5A8-C2BF-B2F070D04FF9}"/>
              </a:ext>
            </a:extLst>
          </p:cNvPr>
          <p:cNvCxnSpPr/>
          <p:nvPr/>
        </p:nvCxnSpPr>
        <p:spPr>
          <a:xfrm flipV="1">
            <a:off x="8835775" y="1195325"/>
            <a:ext cx="2424701" cy="365597"/>
          </a:xfrm>
          <a:prstGeom prst="straightConnector1">
            <a:avLst/>
          </a:prstGeom>
          <a:ln w="127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92A421-C0A8-EC51-9C73-238AAE0A155C}"/>
              </a:ext>
            </a:extLst>
          </p:cNvPr>
          <p:cNvCxnSpPr/>
          <p:nvPr/>
        </p:nvCxnSpPr>
        <p:spPr>
          <a:xfrm flipV="1">
            <a:off x="8835774" y="2962957"/>
            <a:ext cx="2424701" cy="365597"/>
          </a:xfrm>
          <a:prstGeom prst="straightConnector1">
            <a:avLst/>
          </a:prstGeom>
          <a:ln w="127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4BF154-8192-BCFB-A2C9-F01D33D9146B}"/>
              </a:ext>
            </a:extLst>
          </p:cNvPr>
          <p:cNvCxnSpPr/>
          <p:nvPr/>
        </p:nvCxnSpPr>
        <p:spPr>
          <a:xfrm flipV="1">
            <a:off x="8904106" y="4820175"/>
            <a:ext cx="2424701" cy="365597"/>
          </a:xfrm>
          <a:prstGeom prst="straightConnector1">
            <a:avLst/>
          </a:prstGeom>
          <a:ln w="127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9E764E-EE7A-3B5D-E55B-E11674DFFE7C}"/>
              </a:ext>
            </a:extLst>
          </p:cNvPr>
          <p:cNvSpPr txBox="1"/>
          <p:nvPr/>
        </p:nvSpPr>
        <p:spPr>
          <a:xfrm>
            <a:off x="8791813" y="1203729"/>
            <a:ext cx="1526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rgbClr val="CC00CC"/>
                </a:solidFill>
              </a:rPr>
              <a:t>CAGR 36%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523C68-05C5-FBDA-CF9E-52F7F89BBCE7}"/>
              </a:ext>
            </a:extLst>
          </p:cNvPr>
          <p:cNvSpPr txBox="1"/>
          <p:nvPr/>
        </p:nvSpPr>
        <p:spPr>
          <a:xfrm>
            <a:off x="8817969" y="2916582"/>
            <a:ext cx="1526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rgbClr val="CC00CC"/>
                </a:solidFill>
              </a:rPr>
              <a:t>CAGR 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4DD036-0CE0-B7CC-A38A-9ADEBFFAC33B}"/>
              </a:ext>
            </a:extLst>
          </p:cNvPr>
          <p:cNvSpPr txBox="1"/>
          <p:nvPr/>
        </p:nvSpPr>
        <p:spPr>
          <a:xfrm>
            <a:off x="8855086" y="4764170"/>
            <a:ext cx="1526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rgbClr val="CC00CC"/>
                </a:solidFill>
              </a:rPr>
              <a:t>CAGR 18%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2E8C12C9-53A7-DE1B-496D-99C01D3371AC}"/>
              </a:ext>
            </a:extLst>
          </p:cNvPr>
          <p:cNvSpPr/>
          <p:nvPr/>
        </p:nvSpPr>
        <p:spPr>
          <a:xfrm>
            <a:off x="10583727" y="6024942"/>
            <a:ext cx="1209129" cy="231012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6851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901FC66F-0172-1CD1-1BF4-B965F9772B0F}"/>
              </a:ext>
            </a:extLst>
          </p:cNvPr>
          <p:cNvSpPr txBox="1"/>
          <p:nvPr/>
        </p:nvSpPr>
        <p:spPr>
          <a:xfrm>
            <a:off x="865317" y="6506470"/>
            <a:ext cx="4739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>
                <a:solidFill>
                  <a:schemeClr val="bg1"/>
                </a:solidFill>
              </a:rPr>
              <a:t>Source: Annual report, </a:t>
            </a:r>
            <a:r>
              <a:rPr lang="en-IN" sz="1050" err="1">
                <a:solidFill>
                  <a:schemeClr val="bg1"/>
                </a:solidFill>
              </a:rPr>
              <a:t>Ecomm</a:t>
            </a:r>
            <a:r>
              <a:rPr lang="en-IN" sz="1050">
                <a:solidFill>
                  <a:schemeClr val="bg1"/>
                </a:solidFill>
              </a:rPr>
              <a:t> sites etc 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C972BA75-2850-D881-4B95-007CF3A12D43}"/>
              </a:ext>
            </a:extLst>
          </p:cNvPr>
          <p:cNvGrpSpPr/>
          <p:nvPr/>
        </p:nvGrpSpPr>
        <p:grpSpPr>
          <a:xfrm>
            <a:off x="459482" y="6087121"/>
            <a:ext cx="10148411" cy="231014"/>
            <a:chOff x="1048771" y="74876"/>
            <a:chExt cx="10148411" cy="468677"/>
          </a:xfrm>
          <a:solidFill>
            <a:srgbClr val="FFEBFF"/>
          </a:solidFill>
        </p:grpSpPr>
        <p:sp>
          <p:nvSpPr>
            <p:cNvPr id="229" name="Arrow: Pentagon 228">
              <a:extLst>
                <a:ext uri="{FF2B5EF4-FFF2-40B4-BE49-F238E27FC236}">
                  <a16:creationId xmlns:a16="http://schemas.microsoft.com/office/drawing/2014/main" id="{B3C4F6EE-E57F-4AF7-33C8-12876C6FEE06}"/>
                </a:ext>
              </a:extLst>
            </p:cNvPr>
            <p:cNvSpPr/>
            <p:nvPr/>
          </p:nvSpPr>
          <p:spPr>
            <a:xfrm>
              <a:off x="1048771" y="74881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 potential</a:t>
              </a:r>
            </a:p>
          </p:txBody>
        </p:sp>
        <p:sp>
          <p:nvSpPr>
            <p:cNvPr id="230" name="Arrow: Pentagon 229">
              <a:extLst>
                <a:ext uri="{FF2B5EF4-FFF2-40B4-BE49-F238E27FC236}">
                  <a16:creationId xmlns:a16="http://schemas.microsoft.com/office/drawing/2014/main" id="{630FAA50-AA5E-FD8E-5DBA-AF6066FEADF4}"/>
                </a:ext>
              </a:extLst>
            </p:cNvPr>
            <p:cNvSpPr/>
            <p:nvPr/>
          </p:nvSpPr>
          <p:spPr>
            <a:xfrm>
              <a:off x="3078453" y="74876"/>
              <a:ext cx="2029681" cy="468673"/>
            </a:xfrm>
            <a:prstGeom prst="homePlate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Competitive landscape</a:t>
              </a:r>
            </a:p>
          </p:txBody>
        </p:sp>
        <p:sp>
          <p:nvSpPr>
            <p:cNvPr id="231" name="Arrow: Pentagon 230">
              <a:extLst>
                <a:ext uri="{FF2B5EF4-FFF2-40B4-BE49-F238E27FC236}">
                  <a16:creationId xmlns:a16="http://schemas.microsoft.com/office/drawing/2014/main" id="{19FA67F5-C876-A1E0-6C41-92D18550BC0B}"/>
                </a:ext>
              </a:extLst>
            </p:cNvPr>
            <p:cNvSpPr/>
            <p:nvPr/>
          </p:nvSpPr>
          <p:spPr>
            <a:xfrm>
              <a:off x="5108136" y="74878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Channel strategy</a:t>
              </a:r>
            </a:p>
          </p:txBody>
        </p:sp>
        <p:sp>
          <p:nvSpPr>
            <p:cNvPr id="232" name="Arrow: Pentagon 231">
              <a:extLst>
                <a:ext uri="{FF2B5EF4-FFF2-40B4-BE49-F238E27FC236}">
                  <a16:creationId xmlns:a16="http://schemas.microsoft.com/office/drawing/2014/main" id="{9E7F07AA-62DF-2AC9-2E4C-AB89707B074D}"/>
                </a:ext>
              </a:extLst>
            </p:cNvPr>
            <p:cNvSpPr/>
            <p:nvPr/>
          </p:nvSpPr>
          <p:spPr>
            <a:xfrm>
              <a:off x="7137818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Marketing Strategy</a:t>
              </a:r>
            </a:p>
          </p:txBody>
        </p:sp>
        <p:sp>
          <p:nvSpPr>
            <p:cNvPr id="233" name="Arrow: Pentagon 232">
              <a:extLst>
                <a:ext uri="{FF2B5EF4-FFF2-40B4-BE49-F238E27FC236}">
                  <a16:creationId xmlns:a16="http://schemas.microsoft.com/office/drawing/2014/main" id="{FFC44ADE-1B3A-3438-94C5-671C89456E17}"/>
                </a:ext>
              </a:extLst>
            </p:cNvPr>
            <p:cNvSpPr/>
            <p:nvPr/>
          </p:nvSpPr>
          <p:spPr>
            <a:xfrm>
              <a:off x="9167501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KPI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A1CBDAD9-A252-B66F-00E5-22AEFE22ED0E}"/>
              </a:ext>
            </a:extLst>
          </p:cNvPr>
          <p:cNvGrpSpPr/>
          <p:nvPr/>
        </p:nvGrpSpPr>
        <p:grpSpPr>
          <a:xfrm>
            <a:off x="1084083" y="4628063"/>
            <a:ext cx="10048447" cy="1032497"/>
            <a:chOff x="1083390" y="4560729"/>
            <a:chExt cx="10048447" cy="1032497"/>
          </a:xfrm>
        </p:grpSpPr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6D736ED-9272-6644-26D5-D6089E5B1D47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0" y="4850420"/>
              <a:ext cx="10025219" cy="0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2F8AF8BF-DDE5-B20C-B32C-31C46CE65DCC}"/>
                </a:ext>
              </a:extLst>
            </p:cNvPr>
            <p:cNvCxnSpPr>
              <a:cxnSpLocks/>
            </p:cNvCxnSpPr>
            <p:nvPr/>
          </p:nvCxnSpPr>
          <p:spPr>
            <a:xfrm>
              <a:off x="1106618" y="4560729"/>
              <a:ext cx="10025219" cy="0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5DEEED3-F193-4C8B-F204-945BD691D0FD}"/>
                </a:ext>
              </a:extLst>
            </p:cNvPr>
            <p:cNvSpPr txBox="1"/>
            <p:nvPr/>
          </p:nvSpPr>
          <p:spPr>
            <a:xfrm>
              <a:off x="1302875" y="5285449"/>
              <a:ext cx="1732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u="sng">
                  <a:solidFill>
                    <a:schemeClr val="bg1"/>
                  </a:solidFill>
                </a:rPr>
                <a:t>Target segment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6F43A77-DFEF-3F51-11B2-31DAEDB5761C}"/>
              </a:ext>
            </a:extLst>
          </p:cNvPr>
          <p:cNvGrpSpPr/>
          <p:nvPr/>
        </p:nvGrpSpPr>
        <p:grpSpPr>
          <a:xfrm>
            <a:off x="660655" y="841165"/>
            <a:ext cx="12331312" cy="4138508"/>
            <a:chOff x="698755" y="1111931"/>
            <a:chExt cx="12331312" cy="4138508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D91C0C7-1A00-DC2E-8CE6-ADF61D41111C}"/>
                </a:ext>
              </a:extLst>
            </p:cNvPr>
            <p:cNvSpPr/>
            <p:nvPr/>
          </p:nvSpPr>
          <p:spPr>
            <a:xfrm>
              <a:off x="2602781" y="1149850"/>
              <a:ext cx="1119185" cy="4079362"/>
            </a:xfrm>
            <a:prstGeom prst="rect">
              <a:avLst/>
            </a:prstGeom>
            <a:solidFill>
              <a:srgbClr val="FFE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D2F2B86-7739-AD25-6E50-4F2EDFEE2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4460" y="1433274"/>
              <a:ext cx="826150" cy="29321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C392D0-1402-C16F-1322-75C81677A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06366" y="1473488"/>
              <a:ext cx="820722" cy="32759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AB85CF-5236-1455-854A-E2BF09096A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-1" r="32692" b="-4334"/>
            <a:stretch/>
          </p:blipFill>
          <p:spPr>
            <a:xfrm>
              <a:off x="6481161" y="1417544"/>
              <a:ext cx="1054185" cy="30384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FFB998-9BD1-E22A-73F3-C26DCBD8A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2606" y="1470572"/>
              <a:ext cx="1101491" cy="26380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3351772-1AAA-7E0D-C4B7-77CA64BBA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17731" y="1418578"/>
              <a:ext cx="857294" cy="349268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EE2D4F0-C85D-846E-4302-F5A326969955}"/>
                </a:ext>
              </a:extLst>
            </p:cNvPr>
            <p:cNvSpPr/>
            <p:nvPr/>
          </p:nvSpPr>
          <p:spPr>
            <a:xfrm>
              <a:off x="3730219" y="1172893"/>
              <a:ext cx="1650249" cy="20615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“Cheap Alternative”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8BA073C-C827-4E82-C957-032E4A39F045}"/>
                </a:ext>
              </a:extLst>
            </p:cNvPr>
            <p:cNvSpPr/>
            <p:nvPr/>
          </p:nvSpPr>
          <p:spPr>
            <a:xfrm>
              <a:off x="5418315" y="1160125"/>
              <a:ext cx="3108891" cy="21195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“Value for money - Mass appeal”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C203D59-7384-2733-4C58-876B87E4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37193" y="1418578"/>
              <a:ext cx="1009760" cy="399466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4A1F1697-6B86-6DBD-AD8C-584CC32D9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18385" y="1483982"/>
              <a:ext cx="920299" cy="23007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DB302D8-5E3D-E410-87C6-6B89E84C5F62}"/>
                </a:ext>
              </a:extLst>
            </p:cNvPr>
            <p:cNvSpPr/>
            <p:nvPr/>
          </p:nvSpPr>
          <p:spPr>
            <a:xfrm>
              <a:off x="8723337" y="1166785"/>
              <a:ext cx="2774272" cy="23007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“Niche” 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35CF14B-635E-A8A7-EBF7-D581499E07A7}"/>
                </a:ext>
              </a:extLst>
            </p:cNvPr>
            <p:cNvSpPr/>
            <p:nvPr/>
          </p:nvSpPr>
          <p:spPr>
            <a:xfrm>
              <a:off x="8569606" y="1111931"/>
              <a:ext cx="3007501" cy="4125732"/>
            </a:xfrm>
            <a:prstGeom prst="rect">
              <a:avLst/>
            </a:prstGeom>
            <a:noFill/>
            <a:ln w="28575">
              <a:solidFill>
                <a:srgbClr val="CC00C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1DFFB04-CF04-5EC5-EFF1-B29333FBBA5D}"/>
                </a:ext>
              </a:extLst>
            </p:cNvPr>
            <p:cNvSpPr txBox="1"/>
            <p:nvPr/>
          </p:nvSpPr>
          <p:spPr>
            <a:xfrm>
              <a:off x="2666667" y="1453714"/>
              <a:ext cx="10105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>
                  <a:solidFill>
                    <a:schemeClr val="bg1"/>
                  </a:solidFill>
                </a:rPr>
                <a:t>ABC Co.</a:t>
              </a:r>
            </a:p>
          </p:txBody>
        </p: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1D7B358C-9C48-A481-130A-19C83D410D95}"/>
                </a:ext>
              </a:extLst>
            </p:cNvPr>
            <p:cNvGrpSpPr/>
            <p:nvPr/>
          </p:nvGrpSpPr>
          <p:grpSpPr>
            <a:xfrm>
              <a:off x="1007441" y="1841085"/>
              <a:ext cx="10435668" cy="3039944"/>
              <a:chOff x="992262" y="2180594"/>
              <a:chExt cx="10435668" cy="303994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155FFBE-2626-881A-BE68-40A6601BA9EE}"/>
                  </a:ext>
                </a:extLst>
              </p:cNvPr>
              <p:cNvGrpSpPr/>
              <p:nvPr/>
            </p:nvGrpSpPr>
            <p:grpSpPr>
              <a:xfrm>
                <a:off x="5939316" y="3615788"/>
                <a:ext cx="267128" cy="236305"/>
                <a:chOff x="5607625" y="3649894"/>
                <a:chExt cx="267128" cy="236305"/>
              </a:xfrm>
            </p:grpSpPr>
            <p:pic>
              <p:nvPicPr>
                <p:cNvPr id="49" name="Graphic 48" descr="Checkmark">
                  <a:extLst>
                    <a:ext uri="{FF2B5EF4-FFF2-40B4-BE49-F238E27FC236}">
                      <a16:creationId xmlns:a16="http://schemas.microsoft.com/office/drawing/2014/main" id="{D9C42DCD-E81A-50B2-5CC5-BFCFCDCAC4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1" y="3681423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F5BEA10-CF9D-D1FA-7EF6-D4357C8BC96B}"/>
                    </a:ext>
                  </a:extLst>
                </p:cNvPr>
                <p:cNvSpPr/>
                <p:nvPr/>
              </p:nvSpPr>
              <p:spPr>
                <a:xfrm>
                  <a:off x="5607625" y="3649894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B054706-A803-1127-0DF5-373AB64662C2}"/>
                  </a:ext>
                </a:extLst>
              </p:cNvPr>
              <p:cNvSpPr txBox="1"/>
              <p:nvPr/>
            </p:nvSpPr>
            <p:spPr>
              <a:xfrm>
                <a:off x="5434114" y="4018453"/>
                <a:ext cx="1914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Bed, towel, OTB</a:t>
                </a:r>
              </a:p>
            </p:txBody>
          </p:sp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AE3B3F50-C9E3-5D8D-5CE6-E97C403B1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52812" y="2617238"/>
                <a:ext cx="250540" cy="182686"/>
              </a:xfrm>
              <a:prstGeom prst="rect">
                <a:avLst/>
              </a:prstGeom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361F742-284C-05F0-5AA7-6B61C2726FCE}"/>
                  </a:ext>
                </a:extLst>
              </p:cNvPr>
              <p:cNvSpPr txBox="1"/>
              <p:nvPr/>
            </p:nvSpPr>
            <p:spPr>
              <a:xfrm>
                <a:off x="3867220" y="4005224"/>
                <a:ext cx="1914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Highly diversified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85A7DC9-6E8F-B654-A042-CE77A0DCEDEC}"/>
                  </a:ext>
                </a:extLst>
              </p:cNvPr>
              <p:cNvSpPr txBox="1"/>
              <p:nvPr/>
            </p:nvSpPr>
            <p:spPr>
              <a:xfrm>
                <a:off x="4182651" y="4281045"/>
                <a:ext cx="2034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‘s extension</a:t>
                </a:r>
              </a:p>
            </p:txBody>
          </p:sp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ED66AE13-0706-108C-64CC-A6CCA6487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02272" y="4339119"/>
                <a:ext cx="250540" cy="182686"/>
              </a:xfrm>
              <a:prstGeom prst="rect">
                <a:avLst/>
              </a:prstGeom>
            </p:spPr>
          </p:pic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02B05B7-65DE-6218-5D15-5C40329049C6}"/>
                  </a:ext>
                </a:extLst>
              </p:cNvPr>
              <p:cNvSpPr txBox="1"/>
              <p:nvPr/>
            </p:nvSpPr>
            <p:spPr>
              <a:xfrm>
                <a:off x="5572796" y="4315346"/>
                <a:ext cx="1102040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IN" sz="1200">
                  <a:solidFill>
                    <a:schemeClr val="bg1"/>
                  </a:solidFill>
                  <a:ea typeface="Calibri"/>
                  <a:cs typeface="Calibri"/>
                </a:endParaRPr>
              </a:p>
            </p:txBody>
          </p: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A6E4C810-D884-7523-0441-B69C09847FDD}"/>
                  </a:ext>
                </a:extLst>
              </p:cNvPr>
              <p:cNvGrpSpPr/>
              <p:nvPr/>
            </p:nvGrpSpPr>
            <p:grpSpPr>
              <a:xfrm>
                <a:off x="992262" y="2238473"/>
                <a:ext cx="2296603" cy="2982065"/>
                <a:chOff x="2364142" y="2111280"/>
                <a:chExt cx="2296603" cy="2982065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19DEE5B-D54F-06CA-7075-A6AFAC73B626}"/>
                    </a:ext>
                  </a:extLst>
                </p:cNvPr>
                <p:cNvSpPr txBox="1"/>
                <p:nvPr/>
              </p:nvSpPr>
              <p:spPr>
                <a:xfrm>
                  <a:off x="2392001" y="2720227"/>
                  <a:ext cx="226874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D2C? | ease of use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5B1419B-7C5B-A527-89E7-758DABD5F96B}"/>
                    </a:ext>
                  </a:extLst>
                </p:cNvPr>
                <p:cNvSpPr txBox="1"/>
                <p:nvPr/>
              </p:nvSpPr>
              <p:spPr>
                <a:xfrm>
                  <a:off x="2364142" y="2111280"/>
                  <a:ext cx="22300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Price of bedsheet </a:t>
                  </a:r>
                  <a:r>
                    <a:rPr lang="en-IN" sz="1200" b="1">
                      <a:solidFill>
                        <a:srgbClr val="9900CC"/>
                      </a:solidFill>
                    </a:rPr>
                    <a:t>()</a:t>
                  </a:r>
                  <a:endParaRPr lang="en-IN" sz="1400" b="1">
                    <a:solidFill>
                      <a:srgbClr val="9900CC"/>
                    </a:solidFill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F971A62-59D2-BEE8-D1ED-86C4B50D6AA8}"/>
                    </a:ext>
                  </a:extLst>
                </p:cNvPr>
                <p:cNvSpPr txBox="1"/>
                <p:nvPr/>
              </p:nvSpPr>
              <p:spPr>
                <a:xfrm>
                  <a:off x="2393493" y="2405236"/>
                  <a:ext cx="150550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Channel presence</a:t>
                  </a: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10FBF17-5011-F7EB-097F-70A2208BA34A}"/>
                    </a:ext>
                  </a:extLst>
                </p:cNvPr>
                <p:cNvSpPr txBox="1"/>
                <p:nvPr/>
              </p:nvSpPr>
              <p:spPr>
                <a:xfrm>
                  <a:off x="2391794" y="3053608"/>
                  <a:ext cx="160798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Brand awareness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45A82E2-9458-9BD9-B529-AB2C5F7FCEE9}"/>
                    </a:ext>
                  </a:extLst>
                </p:cNvPr>
                <p:cNvSpPr txBox="1"/>
                <p:nvPr/>
              </p:nvSpPr>
              <p:spPr>
                <a:xfrm>
                  <a:off x="2392404" y="3337661"/>
                  <a:ext cx="160798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Pure-play home textile?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785D2A6-9FCA-A9C9-7875-B7CA5D19C210}"/>
                    </a:ext>
                  </a:extLst>
                </p:cNvPr>
                <p:cNvSpPr txBox="1"/>
                <p:nvPr/>
              </p:nvSpPr>
              <p:spPr>
                <a:xfrm>
                  <a:off x="2393014" y="3840202"/>
                  <a:ext cx="160798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Product range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21430FE-727C-2D56-CF92-BFDA9FBA1916}"/>
                    </a:ext>
                  </a:extLst>
                </p:cNvPr>
                <p:cNvSpPr txBox="1"/>
                <p:nvPr/>
              </p:nvSpPr>
              <p:spPr>
                <a:xfrm>
                  <a:off x="2389398" y="4147976"/>
                  <a:ext cx="18711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USP </a:t>
                  </a:r>
                  <a:r>
                    <a:rPr lang="en-IN" sz="1200" b="1">
                      <a:solidFill>
                        <a:srgbClr val="9900CC"/>
                      </a:solidFill>
                    </a:rPr>
                    <a:t>(Consumer need)</a:t>
                  </a:r>
                  <a:endParaRPr lang="en-IN" sz="1400" b="1">
                    <a:solidFill>
                      <a:srgbClr val="9900CC"/>
                    </a:solidFill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D7F7B0B0-E306-0CCE-350E-D3EA9D1B4FFB}"/>
                    </a:ext>
                  </a:extLst>
                </p:cNvPr>
                <p:cNvSpPr txBox="1"/>
                <p:nvPr/>
              </p:nvSpPr>
              <p:spPr>
                <a:xfrm>
                  <a:off x="2389764" y="4785568"/>
                  <a:ext cx="160798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Penetration (Cities) </a:t>
                  </a: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D05D304-F03B-E353-A424-29D326C732BA}"/>
                    </a:ext>
                  </a:extLst>
                </p:cNvPr>
                <p:cNvSpPr txBox="1"/>
                <p:nvPr/>
              </p:nvSpPr>
              <p:spPr>
                <a:xfrm>
                  <a:off x="2389764" y="4484152"/>
                  <a:ext cx="160798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400" b="1">
                      <a:solidFill>
                        <a:srgbClr val="9900CC"/>
                      </a:solidFill>
                    </a:rPr>
                    <a:t>E-comm sales %</a:t>
                  </a:r>
                </a:p>
              </p:txBody>
            </p:sp>
          </p:grp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B4749DF-E3BF-AE6F-A218-1B5F40BD30C1}"/>
                  </a:ext>
                </a:extLst>
              </p:cNvPr>
              <p:cNvSpPr txBox="1"/>
              <p:nvPr/>
            </p:nvSpPr>
            <p:spPr>
              <a:xfrm>
                <a:off x="2544645" y="3994000"/>
                <a:ext cx="1914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Bed, bath, OTB</a:t>
                </a: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532D6D6B-6E6D-8EE5-8613-6DB789B0B931}"/>
                  </a:ext>
                </a:extLst>
              </p:cNvPr>
              <p:cNvGrpSpPr/>
              <p:nvPr/>
            </p:nvGrpSpPr>
            <p:grpSpPr>
              <a:xfrm>
                <a:off x="3029358" y="3626387"/>
                <a:ext cx="267128" cy="236305"/>
                <a:chOff x="5607625" y="3649894"/>
                <a:chExt cx="267128" cy="236305"/>
              </a:xfrm>
            </p:grpSpPr>
            <p:pic>
              <p:nvPicPr>
                <p:cNvPr id="177" name="Graphic 176" descr="Checkmark">
                  <a:extLst>
                    <a:ext uri="{FF2B5EF4-FFF2-40B4-BE49-F238E27FC236}">
                      <a16:creationId xmlns:a16="http://schemas.microsoft.com/office/drawing/2014/main" id="{2BFF17DC-04DB-F4CC-16C5-95D90830DD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1" y="3681423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B8BF10C1-8C2E-9B47-06AF-17414C6DCF89}"/>
                    </a:ext>
                  </a:extLst>
                </p:cNvPr>
                <p:cNvSpPr/>
                <p:nvPr/>
              </p:nvSpPr>
              <p:spPr>
                <a:xfrm>
                  <a:off x="5607625" y="3649894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16D81DB3-92A1-EC79-6172-23CBC7E1718C}"/>
                  </a:ext>
                </a:extLst>
              </p:cNvPr>
              <p:cNvGrpSpPr/>
              <p:nvPr/>
            </p:nvGrpSpPr>
            <p:grpSpPr>
              <a:xfrm>
                <a:off x="10944299" y="3625858"/>
                <a:ext cx="267128" cy="236305"/>
                <a:chOff x="5607625" y="3649894"/>
                <a:chExt cx="267128" cy="236305"/>
              </a:xfrm>
            </p:grpSpPr>
            <p:pic>
              <p:nvPicPr>
                <p:cNvPr id="180" name="Graphic 179" descr="Checkmark">
                  <a:extLst>
                    <a:ext uri="{FF2B5EF4-FFF2-40B4-BE49-F238E27FC236}">
                      <a16:creationId xmlns:a16="http://schemas.microsoft.com/office/drawing/2014/main" id="{2EFEBC8A-E878-C91C-C822-09502570B2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1" y="3681423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55EBDF72-D0BD-251D-030B-B1B4247E57C1}"/>
                    </a:ext>
                  </a:extLst>
                </p:cNvPr>
                <p:cNvSpPr/>
                <p:nvPr/>
              </p:nvSpPr>
              <p:spPr>
                <a:xfrm>
                  <a:off x="5607625" y="3649894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EA22A0BF-F3A6-D2BA-EDE0-AE39C42F18C9}"/>
                  </a:ext>
                </a:extLst>
              </p:cNvPr>
              <p:cNvGrpSpPr/>
              <p:nvPr/>
            </p:nvGrpSpPr>
            <p:grpSpPr>
              <a:xfrm>
                <a:off x="9889940" y="3625858"/>
                <a:ext cx="267128" cy="236305"/>
                <a:chOff x="4261529" y="2817926"/>
                <a:chExt cx="267128" cy="236305"/>
              </a:xfrm>
            </p:grpSpPr>
            <p:sp>
              <p:nvSpPr>
                <p:cNvPr id="186" name="Multiplication Sign 185">
                  <a:extLst>
                    <a:ext uri="{FF2B5EF4-FFF2-40B4-BE49-F238E27FC236}">
                      <a16:creationId xmlns:a16="http://schemas.microsoft.com/office/drawing/2014/main" id="{C927F653-0515-1B6F-674C-3AF18057636E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mathMultiply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B2CA9C0-A610-0C3C-280B-67D2BF7DF24D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0D21DCAD-BEA1-0978-92B2-5B1F9CF2FAC4}"/>
                  </a:ext>
                </a:extLst>
              </p:cNvPr>
              <p:cNvGrpSpPr/>
              <p:nvPr/>
            </p:nvGrpSpPr>
            <p:grpSpPr>
              <a:xfrm>
                <a:off x="10607473" y="2909213"/>
                <a:ext cx="267128" cy="236305"/>
                <a:chOff x="5270799" y="3649894"/>
                <a:chExt cx="267128" cy="236305"/>
              </a:xfrm>
            </p:grpSpPr>
            <p:pic>
              <p:nvPicPr>
                <p:cNvPr id="195" name="Graphic 194" descr="Checkmark">
                  <a:extLst>
                    <a:ext uri="{FF2B5EF4-FFF2-40B4-BE49-F238E27FC236}">
                      <a16:creationId xmlns:a16="http://schemas.microsoft.com/office/drawing/2014/main" id="{F780C49E-080B-8A72-00EE-427C854DD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85410" y="3670380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32A5DEDA-CE5F-248C-616B-760098F00650}"/>
                    </a:ext>
                  </a:extLst>
                </p:cNvPr>
                <p:cNvSpPr/>
                <p:nvPr/>
              </p:nvSpPr>
              <p:spPr>
                <a:xfrm>
                  <a:off x="5270799" y="3649894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6C22EB15-6E64-2384-0C14-4552E16D170A}"/>
                  </a:ext>
                </a:extLst>
              </p:cNvPr>
              <p:cNvGrpSpPr/>
              <p:nvPr/>
            </p:nvGrpSpPr>
            <p:grpSpPr>
              <a:xfrm>
                <a:off x="3060534" y="3255722"/>
                <a:ext cx="8100456" cy="192912"/>
                <a:chOff x="3067312" y="3314277"/>
                <a:chExt cx="8100456" cy="192912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B565ED01-6063-8467-507D-50C2115F0F45}"/>
                    </a:ext>
                  </a:extLst>
                </p:cNvPr>
                <p:cNvGrpSpPr/>
                <p:nvPr/>
              </p:nvGrpSpPr>
              <p:grpSpPr>
                <a:xfrm>
                  <a:off x="5620985" y="3341336"/>
                  <a:ext cx="793036" cy="154112"/>
                  <a:chOff x="4205921" y="3240176"/>
                  <a:chExt cx="793036" cy="154112"/>
                </a:xfrm>
              </p:grpSpPr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904D0403-171D-002C-0A29-806EFDEB011E}"/>
                      </a:ext>
                    </a:extLst>
                  </p:cNvPr>
                  <p:cNvSpPr/>
                  <p:nvPr/>
                </p:nvSpPr>
                <p:spPr>
                  <a:xfrm>
                    <a:off x="4205921" y="3240176"/>
                    <a:ext cx="174661" cy="154112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ABEFFA35-3FD3-4B0E-097E-B84FC4F01D74}"/>
                      </a:ext>
                    </a:extLst>
                  </p:cNvPr>
                  <p:cNvSpPr/>
                  <p:nvPr/>
                </p:nvSpPr>
                <p:spPr>
                  <a:xfrm>
                    <a:off x="4412046" y="3240176"/>
                    <a:ext cx="174661" cy="154112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2C9137CA-4990-0035-CD85-1FE13A2F5EC0}"/>
                      </a:ext>
                    </a:extLst>
                  </p:cNvPr>
                  <p:cNvSpPr/>
                  <p:nvPr/>
                </p:nvSpPr>
                <p:spPr>
                  <a:xfrm>
                    <a:off x="4618171" y="3240176"/>
                    <a:ext cx="174661" cy="154112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4AEB5B81-99C7-3296-624D-98A99B68E060}"/>
                      </a:ext>
                    </a:extLst>
                  </p:cNvPr>
                  <p:cNvSpPr/>
                  <p:nvPr/>
                </p:nvSpPr>
                <p:spPr>
                  <a:xfrm>
                    <a:off x="4824296" y="3240176"/>
                    <a:ext cx="174661" cy="154112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F4F6E343-6DE8-6D2B-7B96-45B6B3338C0F}"/>
                    </a:ext>
                  </a:extLst>
                </p:cNvPr>
                <p:cNvGrpSpPr/>
                <p:nvPr/>
              </p:nvGrpSpPr>
              <p:grpSpPr>
                <a:xfrm>
                  <a:off x="6951662" y="3329135"/>
                  <a:ext cx="380786" cy="154112"/>
                  <a:chOff x="4205921" y="3240176"/>
                  <a:chExt cx="380786" cy="154112"/>
                </a:xfrm>
                <a:solidFill>
                  <a:schemeClr val="accent4"/>
                </a:solidFill>
              </p:grpSpPr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2A0A8051-98D4-EC24-CD27-B888E8D3BFAE}"/>
                      </a:ext>
                    </a:extLst>
                  </p:cNvPr>
                  <p:cNvSpPr/>
                  <p:nvPr/>
                </p:nvSpPr>
                <p:spPr>
                  <a:xfrm>
                    <a:off x="4205921" y="3240176"/>
                    <a:ext cx="174661" cy="15411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96C7D16C-808F-1CAE-D7BB-499D06F3E694}"/>
                      </a:ext>
                    </a:extLst>
                  </p:cNvPr>
                  <p:cNvSpPr/>
                  <p:nvPr/>
                </p:nvSpPr>
                <p:spPr>
                  <a:xfrm>
                    <a:off x="4412046" y="3240176"/>
                    <a:ext cx="174661" cy="15411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5B5EECAC-73E9-6B0B-7B21-AA2412A7E66A}"/>
                    </a:ext>
                  </a:extLst>
                </p:cNvPr>
                <p:cNvGrpSpPr/>
                <p:nvPr/>
              </p:nvGrpSpPr>
              <p:grpSpPr>
                <a:xfrm>
                  <a:off x="7848585" y="3314277"/>
                  <a:ext cx="380786" cy="154112"/>
                  <a:chOff x="4205921" y="3240176"/>
                  <a:chExt cx="380786" cy="154112"/>
                </a:xfrm>
                <a:solidFill>
                  <a:schemeClr val="accent4"/>
                </a:solidFill>
              </p:grpSpPr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DFF5ECC3-A1AB-7829-643B-1BFACA05ABAF}"/>
                      </a:ext>
                    </a:extLst>
                  </p:cNvPr>
                  <p:cNvSpPr/>
                  <p:nvPr/>
                </p:nvSpPr>
                <p:spPr>
                  <a:xfrm>
                    <a:off x="4205921" y="3240176"/>
                    <a:ext cx="174661" cy="15411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00ED67F6-6639-037C-F46E-0DDF86F880F0}"/>
                      </a:ext>
                    </a:extLst>
                  </p:cNvPr>
                  <p:cNvSpPr/>
                  <p:nvPr/>
                </p:nvSpPr>
                <p:spPr>
                  <a:xfrm>
                    <a:off x="4412046" y="3240176"/>
                    <a:ext cx="174661" cy="15411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30253B6D-0BDA-691D-7362-CFFF359141DA}"/>
                    </a:ext>
                  </a:extLst>
                </p:cNvPr>
                <p:cNvSpPr/>
                <p:nvPr/>
              </p:nvSpPr>
              <p:spPr>
                <a:xfrm>
                  <a:off x="8932294" y="3341336"/>
                  <a:ext cx="174661" cy="154112"/>
                </a:xfrm>
                <a:prstGeom prst="ellipse">
                  <a:avLst/>
                </a:prstGeom>
                <a:solidFill>
                  <a:srgbClr val="FF434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C18EC880-B34F-3935-7E3E-0FA833607C22}"/>
                    </a:ext>
                  </a:extLst>
                </p:cNvPr>
                <p:cNvSpPr/>
                <p:nvPr/>
              </p:nvSpPr>
              <p:spPr>
                <a:xfrm>
                  <a:off x="10993107" y="3353077"/>
                  <a:ext cx="174661" cy="154112"/>
                </a:xfrm>
                <a:prstGeom prst="ellipse">
                  <a:avLst/>
                </a:prstGeom>
                <a:solidFill>
                  <a:srgbClr val="FF434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3AE4FF30-3B8D-158D-E691-E5289EDF8760}"/>
                    </a:ext>
                  </a:extLst>
                </p:cNvPr>
                <p:cNvSpPr/>
                <p:nvPr/>
              </p:nvSpPr>
              <p:spPr>
                <a:xfrm>
                  <a:off x="3067312" y="3315662"/>
                  <a:ext cx="174661" cy="154112"/>
                </a:xfrm>
                <a:prstGeom prst="ellipse">
                  <a:avLst/>
                </a:prstGeom>
                <a:solidFill>
                  <a:srgbClr val="FF434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275F240D-5622-0923-D39E-FDF93D347A70}"/>
                    </a:ext>
                  </a:extLst>
                </p:cNvPr>
                <p:cNvGrpSpPr/>
                <p:nvPr/>
              </p:nvGrpSpPr>
              <p:grpSpPr>
                <a:xfrm>
                  <a:off x="4141203" y="3329135"/>
                  <a:ext cx="586911" cy="155308"/>
                  <a:chOff x="4286532" y="5497093"/>
                  <a:chExt cx="586911" cy="155308"/>
                </a:xfrm>
              </p:grpSpPr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83BB0DE4-3375-6766-E20D-65F825EEA281}"/>
                      </a:ext>
                    </a:extLst>
                  </p:cNvPr>
                  <p:cNvSpPr/>
                  <p:nvPr/>
                </p:nvSpPr>
                <p:spPr>
                  <a:xfrm>
                    <a:off x="4286532" y="5497093"/>
                    <a:ext cx="174661" cy="154112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04" name="Oval 203">
                    <a:extLst>
                      <a:ext uri="{FF2B5EF4-FFF2-40B4-BE49-F238E27FC236}">
                        <a16:creationId xmlns:a16="http://schemas.microsoft.com/office/drawing/2014/main" id="{78870A79-3ED1-FC25-BCC6-A66BE31F727B}"/>
                      </a:ext>
                    </a:extLst>
                  </p:cNvPr>
                  <p:cNvSpPr/>
                  <p:nvPr/>
                </p:nvSpPr>
                <p:spPr>
                  <a:xfrm>
                    <a:off x="4492657" y="5497093"/>
                    <a:ext cx="174661" cy="154112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05" name="Oval 204">
                    <a:extLst>
                      <a:ext uri="{FF2B5EF4-FFF2-40B4-BE49-F238E27FC236}">
                        <a16:creationId xmlns:a16="http://schemas.microsoft.com/office/drawing/2014/main" id="{D625C3BF-9174-232E-565D-B4204C6BE3C2}"/>
                      </a:ext>
                    </a:extLst>
                  </p:cNvPr>
                  <p:cNvSpPr/>
                  <p:nvPr/>
                </p:nvSpPr>
                <p:spPr>
                  <a:xfrm>
                    <a:off x="4698782" y="5498289"/>
                    <a:ext cx="174661" cy="154112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1D4BCA91-69EE-E51F-7F72-2B99243B6593}"/>
                    </a:ext>
                  </a:extLst>
                </p:cNvPr>
                <p:cNvGrpSpPr/>
                <p:nvPr/>
              </p:nvGrpSpPr>
              <p:grpSpPr>
                <a:xfrm>
                  <a:off x="9758478" y="3339495"/>
                  <a:ext cx="586911" cy="155953"/>
                  <a:chOff x="4286532" y="5496448"/>
                  <a:chExt cx="586911" cy="155953"/>
                </a:xfrm>
              </p:grpSpPr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E60C5884-7031-EAE1-74ED-66C05CE37825}"/>
                      </a:ext>
                    </a:extLst>
                  </p:cNvPr>
                  <p:cNvSpPr/>
                  <p:nvPr/>
                </p:nvSpPr>
                <p:spPr>
                  <a:xfrm>
                    <a:off x="4286532" y="5497093"/>
                    <a:ext cx="174661" cy="154112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08" name="Oval 207">
                    <a:extLst>
                      <a:ext uri="{FF2B5EF4-FFF2-40B4-BE49-F238E27FC236}">
                        <a16:creationId xmlns:a16="http://schemas.microsoft.com/office/drawing/2014/main" id="{F8EC4D21-D6E0-F715-645E-06CCD9932E5E}"/>
                      </a:ext>
                    </a:extLst>
                  </p:cNvPr>
                  <p:cNvSpPr/>
                  <p:nvPr/>
                </p:nvSpPr>
                <p:spPr>
                  <a:xfrm>
                    <a:off x="4492168" y="5496448"/>
                    <a:ext cx="174661" cy="154112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09" name="Oval 208">
                    <a:extLst>
                      <a:ext uri="{FF2B5EF4-FFF2-40B4-BE49-F238E27FC236}">
                        <a16:creationId xmlns:a16="http://schemas.microsoft.com/office/drawing/2014/main" id="{8C937336-C07D-D746-16F4-38FEFA45F117}"/>
                      </a:ext>
                    </a:extLst>
                  </p:cNvPr>
                  <p:cNvSpPr/>
                  <p:nvPr/>
                </p:nvSpPr>
                <p:spPr>
                  <a:xfrm>
                    <a:off x="4698782" y="5498289"/>
                    <a:ext cx="174661" cy="154112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C27F6FF0-CB93-C4E5-338C-39F05800D91D}"/>
                  </a:ext>
                </a:extLst>
              </p:cNvPr>
              <p:cNvSpPr txBox="1"/>
              <p:nvPr/>
            </p:nvSpPr>
            <p:spPr>
              <a:xfrm>
                <a:off x="2612336" y="2180594"/>
                <a:ext cx="106223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>
                    <a:solidFill>
                      <a:schemeClr val="bg1"/>
                    </a:solidFill>
                  </a:rPr>
                  <a:t>600-1000+</a:t>
                </a:r>
              </a:p>
            </p:txBody>
          </p: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5F165BA6-9C54-493E-DD7A-38BBAFFA9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374" y="2512856"/>
                <a:ext cx="10025219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40E702F-02AF-56BC-29A6-91D93F894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772" y="2865731"/>
                <a:ext cx="10025219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F831EA86-FED9-202C-8867-DF3E48B2A6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7169" y="3180803"/>
                <a:ext cx="10025219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6F1B83A-AFE3-FDBC-4789-C81967572A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374" y="3507189"/>
                <a:ext cx="10025219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B45172ED-3057-EFC8-571A-1F7EE56847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7169" y="3987654"/>
                <a:ext cx="10025219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6434CD73-9521-2183-E083-3409FA60E1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7168" y="4272323"/>
                <a:ext cx="10025219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7A5A4902-EA1B-F457-3FA1-427AC4ADCEC3}"/>
                  </a:ext>
                </a:extLst>
              </p:cNvPr>
              <p:cNvGrpSpPr/>
              <p:nvPr/>
            </p:nvGrpSpPr>
            <p:grpSpPr>
              <a:xfrm>
                <a:off x="7882904" y="2906106"/>
                <a:ext cx="267128" cy="236305"/>
                <a:chOff x="4261529" y="2817926"/>
                <a:chExt cx="267128" cy="236305"/>
              </a:xfrm>
            </p:grpSpPr>
            <p:sp>
              <p:nvSpPr>
                <p:cNvPr id="242" name="Multiplication Sign 241">
                  <a:extLst>
                    <a:ext uri="{FF2B5EF4-FFF2-40B4-BE49-F238E27FC236}">
                      <a16:creationId xmlns:a16="http://schemas.microsoft.com/office/drawing/2014/main" id="{6202C3B8-4E60-D1E5-1F76-32A4FB850368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mathMultiply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0F18917B-8625-C8F1-2D78-ACBFF01E4622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4F80E3FE-3F8D-BA86-5B2F-B1E280F5DDE0}"/>
                  </a:ext>
                </a:extLst>
              </p:cNvPr>
              <p:cNvGrpSpPr/>
              <p:nvPr/>
            </p:nvGrpSpPr>
            <p:grpSpPr>
              <a:xfrm>
                <a:off x="5929477" y="2895820"/>
                <a:ext cx="267128" cy="236305"/>
                <a:chOff x="4261529" y="2817926"/>
                <a:chExt cx="267128" cy="236305"/>
              </a:xfrm>
            </p:grpSpPr>
            <p:sp>
              <p:nvSpPr>
                <p:cNvPr id="245" name="Multiplication Sign 244">
                  <a:extLst>
                    <a:ext uri="{FF2B5EF4-FFF2-40B4-BE49-F238E27FC236}">
                      <a16:creationId xmlns:a16="http://schemas.microsoft.com/office/drawing/2014/main" id="{5A4D7049-0046-0904-EBC8-96ED72EC1C6C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mathMultiply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906977A-DAAE-C5C8-FB28-CCCFB61D9B52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DA8FA599-97BD-0C7B-0F96-BE2CBF059D9E}"/>
                  </a:ext>
                </a:extLst>
              </p:cNvPr>
              <p:cNvGrpSpPr/>
              <p:nvPr/>
            </p:nvGrpSpPr>
            <p:grpSpPr>
              <a:xfrm>
                <a:off x="9654459" y="2897066"/>
                <a:ext cx="267128" cy="247347"/>
                <a:chOff x="5359147" y="3649895"/>
                <a:chExt cx="267128" cy="247347"/>
              </a:xfrm>
            </p:grpSpPr>
            <p:pic>
              <p:nvPicPr>
                <p:cNvPr id="248" name="Graphic 247" descr="Checkmark">
                  <a:extLst>
                    <a:ext uri="{FF2B5EF4-FFF2-40B4-BE49-F238E27FC236}">
                      <a16:creationId xmlns:a16="http://schemas.microsoft.com/office/drawing/2014/main" id="{E6E344D0-3DC7-3B55-DF9B-B3ADE36765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3759" y="3692466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EC0D9082-DDB6-8AA1-3980-01B9ED7708F0}"/>
                    </a:ext>
                  </a:extLst>
                </p:cNvPr>
                <p:cNvSpPr/>
                <p:nvPr/>
              </p:nvSpPr>
              <p:spPr>
                <a:xfrm>
                  <a:off x="5359147" y="3649895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5F88F75-C818-129E-162D-CAFBAAC2D397}"/>
                  </a:ext>
                </a:extLst>
              </p:cNvPr>
              <p:cNvGrpSpPr/>
              <p:nvPr/>
            </p:nvGrpSpPr>
            <p:grpSpPr>
              <a:xfrm>
                <a:off x="4257310" y="2895819"/>
                <a:ext cx="267128" cy="236305"/>
                <a:chOff x="4261529" y="2817926"/>
                <a:chExt cx="267128" cy="236305"/>
              </a:xfrm>
            </p:grpSpPr>
            <p:sp>
              <p:nvSpPr>
                <p:cNvPr id="3" name="Multiplication Sign 2">
                  <a:extLst>
                    <a:ext uri="{FF2B5EF4-FFF2-40B4-BE49-F238E27FC236}">
                      <a16:creationId xmlns:a16="http://schemas.microsoft.com/office/drawing/2014/main" id="{9255315A-0AE3-DBCF-D8F9-AA0CD1682E34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mathMultiply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46AA0F64-95FF-5D35-E8DE-ACE4DD717D0F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6A32DC4-1621-3231-7ABB-2398B08A8FF2}"/>
                  </a:ext>
                </a:extLst>
              </p:cNvPr>
              <p:cNvGrpSpPr/>
              <p:nvPr/>
            </p:nvGrpSpPr>
            <p:grpSpPr>
              <a:xfrm>
                <a:off x="4286676" y="3625858"/>
                <a:ext cx="267128" cy="236305"/>
                <a:chOff x="4261529" y="2817926"/>
                <a:chExt cx="267128" cy="236305"/>
              </a:xfrm>
            </p:grpSpPr>
            <p:sp>
              <p:nvSpPr>
                <p:cNvPr id="8" name="Multiplication Sign 7">
                  <a:extLst>
                    <a:ext uri="{FF2B5EF4-FFF2-40B4-BE49-F238E27FC236}">
                      <a16:creationId xmlns:a16="http://schemas.microsoft.com/office/drawing/2014/main" id="{BAC93561-B3CA-35B5-6D6B-D1BDCD14D44D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mathMultiply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66A40F2-F67C-36E6-B59A-FADA125213DE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FF01D08-DF50-6887-2C52-D2A7CFB3F1F5}"/>
                  </a:ext>
                </a:extLst>
              </p:cNvPr>
              <p:cNvGrpSpPr/>
              <p:nvPr/>
            </p:nvGrpSpPr>
            <p:grpSpPr>
              <a:xfrm>
                <a:off x="3029357" y="2896136"/>
                <a:ext cx="267128" cy="236305"/>
                <a:chOff x="5607625" y="3649894"/>
                <a:chExt cx="267128" cy="236305"/>
              </a:xfrm>
            </p:grpSpPr>
            <p:pic>
              <p:nvPicPr>
                <p:cNvPr id="14" name="Graphic 13" descr="Checkmark">
                  <a:extLst>
                    <a:ext uri="{FF2B5EF4-FFF2-40B4-BE49-F238E27FC236}">
                      <a16:creationId xmlns:a16="http://schemas.microsoft.com/office/drawing/2014/main" id="{33DC7240-CE9E-6EC2-DFA6-306A604652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1" y="3681423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185688F6-BB7C-5830-315C-A5948794C46F}"/>
                    </a:ext>
                  </a:extLst>
                </p:cNvPr>
                <p:cNvSpPr/>
                <p:nvPr/>
              </p:nvSpPr>
              <p:spPr>
                <a:xfrm>
                  <a:off x="5607625" y="3649894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094660BD-0883-FD7D-A65B-6AB030B41F68}"/>
                  </a:ext>
                </a:extLst>
              </p:cNvPr>
              <p:cNvSpPr txBox="1"/>
              <p:nvPr/>
            </p:nvSpPr>
            <p:spPr>
              <a:xfrm>
                <a:off x="2692520" y="4239862"/>
                <a:ext cx="10112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Discounts on e-comm 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0F897339-1BEC-A391-4C4D-4D7F6EF7E0E6}"/>
                  </a:ext>
                </a:extLst>
              </p:cNvPr>
              <p:cNvSpPr txBox="1"/>
              <p:nvPr/>
            </p:nvSpPr>
            <p:spPr>
              <a:xfrm>
                <a:off x="4181581" y="4280843"/>
                <a:ext cx="2034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‘s extension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C599AC40-793B-F4F1-A67A-BEBBAB15544F}"/>
                  </a:ext>
                </a:extLst>
              </p:cNvPr>
              <p:cNvSpPr txBox="1"/>
              <p:nvPr/>
            </p:nvSpPr>
            <p:spPr>
              <a:xfrm>
                <a:off x="2983569" y="4658063"/>
                <a:ext cx="20341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>
                    <a:solidFill>
                      <a:srgbClr val="B53ACE"/>
                    </a:solidFill>
                  </a:rPr>
                  <a:t>3%</a:t>
                </a: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4FA957C7-A68C-4B82-BEB7-84F61317C1B0}"/>
                  </a:ext>
                </a:extLst>
              </p:cNvPr>
              <p:cNvSpPr txBox="1"/>
              <p:nvPr/>
            </p:nvSpPr>
            <p:spPr>
              <a:xfrm>
                <a:off x="4214376" y="4619235"/>
                <a:ext cx="20341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>
                    <a:solidFill>
                      <a:srgbClr val="B53ACE"/>
                    </a:solidFill>
                  </a:rPr>
                  <a:t>100%</a:t>
                </a: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76272E98-6B36-8F86-EB10-3912C98FA280}"/>
                  </a:ext>
                </a:extLst>
              </p:cNvPr>
              <p:cNvGrpSpPr/>
              <p:nvPr/>
            </p:nvGrpSpPr>
            <p:grpSpPr>
              <a:xfrm>
                <a:off x="2632203" y="2582473"/>
                <a:ext cx="1049044" cy="217162"/>
                <a:chOff x="2632203" y="2582473"/>
                <a:chExt cx="1049044" cy="217162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B476173C-5AD3-613A-BF2B-337FE87BA4B8}"/>
                    </a:ext>
                  </a:extLst>
                </p:cNvPr>
                <p:cNvGrpSpPr/>
                <p:nvPr/>
              </p:nvGrpSpPr>
              <p:grpSpPr>
                <a:xfrm>
                  <a:off x="2632203" y="2595366"/>
                  <a:ext cx="791459" cy="204269"/>
                  <a:chOff x="4067064" y="2157303"/>
                  <a:chExt cx="944113" cy="223029"/>
                </a:xfrm>
              </p:grpSpPr>
              <p:pic>
                <p:nvPicPr>
                  <p:cNvPr id="136" name="Picture 135">
                    <a:extLst>
                      <a:ext uri="{FF2B5EF4-FFF2-40B4-BE49-F238E27FC236}">
                        <a16:creationId xmlns:a16="http://schemas.microsoft.com/office/drawing/2014/main" id="{A1D4D95C-2852-7428-29D8-D8A04B7B7C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4067064" y="2175556"/>
                    <a:ext cx="250540" cy="182686"/>
                  </a:xfrm>
                  <a:prstGeom prst="rect">
                    <a:avLst/>
                  </a:prstGeom>
                </p:spPr>
              </p:pic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9B9145C4-7103-0A19-5169-60F2AEF57C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380582" y="2157303"/>
                    <a:ext cx="237590" cy="207891"/>
                  </a:xfrm>
                  <a:prstGeom prst="rect">
                    <a:avLst/>
                  </a:prstGeom>
                </p:spPr>
              </p:pic>
              <p:pic>
                <p:nvPicPr>
                  <p:cNvPr id="138" name="Picture 137">
                    <a:extLst>
                      <a:ext uri="{FF2B5EF4-FFF2-40B4-BE49-F238E27FC236}">
                        <a16:creationId xmlns:a16="http://schemas.microsoft.com/office/drawing/2014/main" id="{E651E9ED-A2A7-4EA3-465D-A7DB0E8A9A0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681150" y="2175556"/>
                    <a:ext cx="330027" cy="20477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66" name="Picture 265">
                  <a:extLst>
                    <a:ext uri="{FF2B5EF4-FFF2-40B4-BE49-F238E27FC236}">
                      <a16:creationId xmlns:a16="http://schemas.microsoft.com/office/drawing/2014/main" id="{15039EEE-E068-FACA-6AF3-2BC62A6EF6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/>
                <a:srcRect l="6212" t="12208" r="14970" b="13906"/>
                <a:stretch/>
              </p:blipFill>
              <p:spPr>
                <a:xfrm>
                  <a:off x="3456319" y="2582473"/>
                  <a:ext cx="224928" cy="210858"/>
                </a:xfrm>
                <a:prstGeom prst="rect">
                  <a:avLst/>
                </a:prstGeom>
              </p:spPr>
            </p:pic>
          </p:grp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5C16C5AC-DF6B-0DF8-F749-4A54719E7CD5}"/>
                  </a:ext>
                </a:extLst>
              </p:cNvPr>
              <p:cNvGrpSpPr/>
              <p:nvPr/>
            </p:nvGrpSpPr>
            <p:grpSpPr>
              <a:xfrm>
                <a:off x="5468130" y="2571400"/>
                <a:ext cx="939115" cy="189250"/>
                <a:chOff x="2632203" y="2582473"/>
                <a:chExt cx="1049044" cy="217162"/>
              </a:xfrm>
            </p:grpSpPr>
            <p:grpSp>
              <p:nvGrpSpPr>
                <p:cNvPr id="271" name="Group 270">
                  <a:extLst>
                    <a:ext uri="{FF2B5EF4-FFF2-40B4-BE49-F238E27FC236}">
                      <a16:creationId xmlns:a16="http://schemas.microsoft.com/office/drawing/2014/main" id="{B3F621C5-D6EC-A109-A1CB-4E61C2C9ECA9}"/>
                    </a:ext>
                  </a:extLst>
                </p:cNvPr>
                <p:cNvGrpSpPr/>
                <p:nvPr/>
              </p:nvGrpSpPr>
              <p:grpSpPr>
                <a:xfrm>
                  <a:off x="2632203" y="2595366"/>
                  <a:ext cx="791459" cy="204269"/>
                  <a:chOff x="4067064" y="2157303"/>
                  <a:chExt cx="944113" cy="223029"/>
                </a:xfrm>
              </p:grpSpPr>
              <p:pic>
                <p:nvPicPr>
                  <p:cNvPr id="273" name="Picture 272">
                    <a:extLst>
                      <a:ext uri="{FF2B5EF4-FFF2-40B4-BE49-F238E27FC236}">
                        <a16:creationId xmlns:a16="http://schemas.microsoft.com/office/drawing/2014/main" id="{79D3E291-60FF-B1F0-7C71-334C722E60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4067064" y="2175556"/>
                    <a:ext cx="250540" cy="182686"/>
                  </a:xfrm>
                  <a:prstGeom prst="rect">
                    <a:avLst/>
                  </a:prstGeom>
                </p:spPr>
              </p:pic>
              <p:pic>
                <p:nvPicPr>
                  <p:cNvPr id="274" name="Picture 273">
                    <a:extLst>
                      <a:ext uri="{FF2B5EF4-FFF2-40B4-BE49-F238E27FC236}">
                        <a16:creationId xmlns:a16="http://schemas.microsoft.com/office/drawing/2014/main" id="{C25081BF-07D0-ADD4-465F-834711CDBC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380582" y="2157303"/>
                    <a:ext cx="237590" cy="207891"/>
                  </a:xfrm>
                  <a:prstGeom prst="rect">
                    <a:avLst/>
                  </a:prstGeom>
                </p:spPr>
              </p:pic>
              <p:pic>
                <p:nvPicPr>
                  <p:cNvPr id="275" name="Picture 274">
                    <a:extLst>
                      <a:ext uri="{FF2B5EF4-FFF2-40B4-BE49-F238E27FC236}">
                        <a16:creationId xmlns:a16="http://schemas.microsoft.com/office/drawing/2014/main" id="{B9FBD5CA-A5E7-79DF-9795-75F36C49EC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681150" y="2175556"/>
                    <a:ext cx="330027" cy="20477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72" name="Picture 271">
                  <a:extLst>
                    <a:ext uri="{FF2B5EF4-FFF2-40B4-BE49-F238E27FC236}">
                      <a16:creationId xmlns:a16="http://schemas.microsoft.com/office/drawing/2014/main" id="{C683DFD2-CA55-13D6-BA3A-D0932CE916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/>
                <a:srcRect l="6212" t="12208" r="14970" b="13906"/>
                <a:stretch/>
              </p:blipFill>
              <p:spPr>
                <a:xfrm>
                  <a:off x="3456319" y="2582473"/>
                  <a:ext cx="224928" cy="210858"/>
                </a:xfrm>
                <a:prstGeom prst="rect">
                  <a:avLst/>
                </a:prstGeom>
              </p:spPr>
            </p:pic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A3240ADC-DBF2-FC01-D8A0-461C0F9C9AE8}"/>
                  </a:ext>
                </a:extLst>
              </p:cNvPr>
              <p:cNvGrpSpPr/>
              <p:nvPr/>
            </p:nvGrpSpPr>
            <p:grpSpPr>
              <a:xfrm>
                <a:off x="6568151" y="2571093"/>
                <a:ext cx="939115" cy="189250"/>
                <a:chOff x="2632203" y="2582473"/>
                <a:chExt cx="1049044" cy="217162"/>
              </a:xfrm>
            </p:grpSpPr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7AF17D47-3457-754D-65E6-328AF7A71F56}"/>
                    </a:ext>
                  </a:extLst>
                </p:cNvPr>
                <p:cNvGrpSpPr/>
                <p:nvPr/>
              </p:nvGrpSpPr>
              <p:grpSpPr>
                <a:xfrm>
                  <a:off x="2632203" y="2595366"/>
                  <a:ext cx="791459" cy="204269"/>
                  <a:chOff x="4067064" y="2157303"/>
                  <a:chExt cx="944113" cy="223029"/>
                </a:xfrm>
              </p:grpSpPr>
              <p:pic>
                <p:nvPicPr>
                  <p:cNvPr id="309" name="Picture 308">
                    <a:extLst>
                      <a:ext uri="{FF2B5EF4-FFF2-40B4-BE49-F238E27FC236}">
                        <a16:creationId xmlns:a16="http://schemas.microsoft.com/office/drawing/2014/main" id="{36CFB877-E4E7-2C21-2636-93F8FCEE89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4067064" y="2175556"/>
                    <a:ext cx="250540" cy="182686"/>
                  </a:xfrm>
                  <a:prstGeom prst="rect">
                    <a:avLst/>
                  </a:prstGeom>
                </p:spPr>
              </p:pic>
              <p:pic>
                <p:nvPicPr>
                  <p:cNvPr id="310" name="Picture 309">
                    <a:extLst>
                      <a:ext uri="{FF2B5EF4-FFF2-40B4-BE49-F238E27FC236}">
                        <a16:creationId xmlns:a16="http://schemas.microsoft.com/office/drawing/2014/main" id="{9AF0DBAF-4264-0574-CA83-0A9999E357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380582" y="2157303"/>
                    <a:ext cx="237590" cy="207891"/>
                  </a:xfrm>
                  <a:prstGeom prst="rect">
                    <a:avLst/>
                  </a:prstGeom>
                </p:spPr>
              </p:pic>
              <p:pic>
                <p:nvPicPr>
                  <p:cNvPr id="311" name="Picture 310">
                    <a:extLst>
                      <a:ext uri="{FF2B5EF4-FFF2-40B4-BE49-F238E27FC236}">
                        <a16:creationId xmlns:a16="http://schemas.microsoft.com/office/drawing/2014/main" id="{F29F0E65-BA75-1AF8-2D09-126C154062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681150" y="2175556"/>
                    <a:ext cx="330027" cy="20477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08" name="Picture 307">
                  <a:extLst>
                    <a:ext uri="{FF2B5EF4-FFF2-40B4-BE49-F238E27FC236}">
                      <a16:creationId xmlns:a16="http://schemas.microsoft.com/office/drawing/2014/main" id="{DC10D569-48B3-1566-826B-65538C4531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/>
                <a:srcRect l="6212" t="12208" r="14970" b="13906"/>
                <a:stretch/>
              </p:blipFill>
              <p:spPr>
                <a:xfrm>
                  <a:off x="3456319" y="2582473"/>
                  <a:ext cx="224928" cy="210858"/>
                </a:xfrm>
                <a:prstGeom prst="rect">
                  <a:avLst/>
                </a:prstGeom>
              </p:spPr>
            </p:pic>
          </p:grp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80CC13DA-BCDF-137B-B5A7-37005B69EBD4}"/>
                  </a:ext>
                </a:extLst>
              </p:cNvPr>
              <p:cNvGrpSpPr/>
              <p:nvPr/>
            </p:nvGrpSpPr>
            <p:grpSpPr>
              <a:xfrm>
                <a:off x="7702706" y="2578118"/>
                <a:ext cx="708522" cy="178015"/>
                <a:chOff x="4067064" y="2157303"/>
                <a:chExt cx="944113" cy="223029"/>
              </a:xfrm>
            </p:grpSpPr>
            <p:pic>
              <p:nvPicPr>
                <p:cNvPr id="315" name="Picture 314">
                  <a:extLst>
                    <a:ext uri="{FF2B5EF4-FFF2-40B4-BE49-F238E27FC236}">
                      <a16:creationId xmlns:a16="http://schemas.microsoft.com/office/drawing/2014/main" id="{E5FE54F3-E44E-BE7E-9BFD-0E82ACD5B1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67064" y="2175556"/>
                  <a:ext cx="250540" cy="182686"/>
                </a:xfrm>
                <a:prstGeom prst="rect">
                  <a:avLst/>
                </a:prstGeom>
              </p:spPr>
            </p:pic>
            <p:pic>
              <p:nvPicPr>
                <p:cNvPr id="316" name="Picture 315">
                  <a:extLst>
                    <a:ext uri="{FF2B5EF4-FFF2-40B4-BE49-F238E27FC236}">
                      <a16:creationId xmlns:a16="http://schemas.microsoft.com/office/drawing/2014/main" id="{0087FE82-B73C-FA79-6E7E-409CBF2D30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80582" y="2157303"/>
                  <a:ext cx="237590" cy="207891"/>
                </a:xfrm>
                <a:prstGeom prst="rect">
                  <a:avLst/>
                </a:prstGeom>
              </p:spPr>
            </p:pic>
            <p:pic>
              <p:nvPicPr>
                <p:cNvPr id="317" name="Picture 316">
                  <a:extLst>
                    <a:ext uri="{FF2B5EF4-FFF2-40B4-BE49-F238E27FC236}">
                      <a16:creationId xmlns:a16="http://schemas.microsoft.com/office/drawing/2014/main" id="{13DAB4C9-6676-78E4-37C2-B0332DDB7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81150" y="2175556"/>
                  <a:ext cx="330027" cy="204776"/>
                </a:xfrm>
                <a:prstGeom prst="rect">
                  <a:avLst/>
                </a:prstGeom>
              </p:spPr>
            </p:pic>
          </p:grp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14E03E7E-0C99-317A-F482-9A551580486A}"/>
                  </a:ext>
                </a:extLst>
              </p:cNvPr>
              <p:cNvGrpSpPr/>
              <p:nvPr/>
            </p:nvGrpSpPr>
            <p:grpSpPr>
              <a:xfrm>
                <a:off x="6770633" y="2892206"/>
                <a:ext cx="267128" cy="236305"/>
                <a:chOff x="5392277" y="3638851"/>
                <a:chExt cx="267128" cy="236305"/>
              </a:xfrm>
            </p:grpSpPr>
            <p:pic>
              <p:nvPicPr>
                <p:cNvPr id="319" name="Graphic 318" descr="Checkmark">
                  <a:extLst>
                    <a:ext uri="{FF2B5EF4-FFF2-40B4-BE49-F238E27FC236}">
                      <a16:creationId xmlns:a16="http://schemas.microsoft.com/office/drawing/2014/main" id="{B057753B-349F-9C18-7CA3-92BA4282E2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23454" y="3670380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DE6B6025-E1EC-CF42-8E45-ED3BC6D1639B}"/>
                    </a:ext>
                  </a:extLst>
                </p:cNvPr>
                <p:cNvSpPr/>
                <p:nvPr/>
              </p:nvSpPr>
              <p:spPr>
                <a:xfrm>
                  <a:off x="5392277" y="3638851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DD53A6D7-F453-64C4-F685-AE082685C051}"/>
                  </a:ext>
                </a:extLst>
              </p:cNvPr>
              <p:cNvGrpSpPr/>
              <p:nvPr/>
            </p:nvGrpSpPr>
            <p:grpSpPr>
              <a:xfrm>
                <a:off x="6979193" y="3616142"/>
                <a:ext cx="267128" cy="242152"/>
                <a:chOff x="4261529" y="2812079"/>
                <a:chExt cx="267128" cy="242152"/>
              </a:xfrm>
            </p:grpSpPr>
            <p:sp>
              <p:nvSpPr>
                <p:cNvPr id="325" name="Multiplication Sign 324">
                  <a:extLst>
                    <a:ext uri="{FF2B5EF4-FFF2-40B4-BE49-F238E27FC236}">
                      <a16:creationId xmlns:a16="http://schemas.microsoft.com/office/drawing/2014/main" id="{4AE0CF56-E301-FC6F-87CA-10407F0B8D4E}"/>
                    </a:ext>
                  </a:extLst>
                </p:cNvPr>
                <p:cNvSpPr/>
                <p:nvPr/>
              </p:nvSpPr>
              <p:spPr>
                <a:xfrm>
                  <a:off x="4261529" y="2817926"/>
                  <a:ext cx="267128" cy="236305"/>
                </a:xfrm>
                <a:prstGeom prst="mathMultiply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86113CE2-7971-84EC-471F-81F353C0BC85}"/>
                    </a:ext>
                  </a:extLst>
                </p:cNvPr>
                <p:cNvSpPr/>
                <p:nvPr/>
              </p:nvSpPr>
              <p:spPr>
                <a:xfrm>
                  <a:off x="4261529" y="2812079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6F36F835-F088-0BFB-5CDA-C794F22D1023}"/>
                  </a:ext>
                </a:extLst>
              </p:cNvPr>
              <p:cNvSpPr txBox="1"/>
              <p:nvPr/>
            </p:nvSpPr>
            <p:spPr>
              <a:xfrm>
                <a:off x="6530131" y="4009373"/>
                <a:ext cx="13568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Bed, bath, yarn</a:t>
                </a:r>
              </a:p>
            </p:txBody>
          </p: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33476D83-45AE-3A8B-6DA1-47610178C220}"/>
                  </a:ext>
                </a:extLst>
              </p:cNvPr>
              <p:cNvGrpSpPr/>
              <p:nvPr/>
            </p:nvGrpSpPr>
            <p:grpSpPr>
              <a:xfrm>
                <a:off x="8649374" y="2585771"/>
                <a:ext cx="708522" cy="178015"/>
                <a:chOff x="4067064" y="2157303"/>
                <a:chExt cx="944113" cy="223029"/>
              </a:xfrm>
            </p:grpSpPr>
            <p:pic>
              <p:nvPicPr>
                <p:cNvPr id="329" name="Picture 328">
                  <a:extLst>
                    <a:ext uri="{FF2B5EF4-FFF2-40B4-BE49-F238E27FC236}">
                      <a16:creationId xmlns:a16="http://schemas.microsoft.com/office/drawing/2014/main" id="{019A0F95-DB63-1015-399F-FC8E990AF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67064" y="2175556"/>
                  <a:ext cx="250540" cy="182686"/>
                </a:xfrm>
                <a:prstGeom prst="rect">
                  <a:avLst/>
                </a:prstGeom>
              </p:spPr>
            </p:pic>
            <p:pic>
              <p:nvPicPr>
                <p:cNvPr id="330" name="Picture 329">
                  <a:extLst>
                    <a:ext uri="{FF2B5EF4-FFF2-40B4-BE49-F238E27FC236}">
                      <a16:creationId xmlns:a16="http://schemas.microsoft.com/office/drawing/2014/main" id="{0051EAF4-B250-0566-658B-943ACD7EFB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80582" y="2157303"/>
                  <a:ext cx="237590" cy="207891"/>
                </a:xfrm>
                <a:prstGeom prst="rect">
                  <a:avLst/>
                </a:prstGeom>
              </p:spPr>
            </p:pic>
            <p:pic>
              <p:nvPicPr>
                <p:cNvPr id="331" name="Picture 330">
                  <a:extLst>
                    <a:ext uri="{FF2B5EF4-FFF2-40B4-BE49-F238E27FC236}">
                      <a16:creationId xmlns:a16="http://schemas.microsoft.com/office/drawing/2014/main" id="{6A718DB5-620C-92C8-688B-1D7680A958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81150" y="2175556"/>
                  <a:ext cx="330027" cy="204776"/>
                </a:xfrm>
                <a:prstGeom prst="rect">
                  <a:avLst/>
                </a:prstGeom>
              </p:spPr>
            </p:pic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F33C86F6-6767-A89C-D4D6-E24DEC977A93}"/>
                  </a:ext>
                </a:extLst>
              </p:cNvPr>
              <p:cNvGrpSpPr/>
              <p:nvPr/>
            </p:nvGrpSpPr>
            <p:grpSpPr>
              <a:xfrm>
                <a:off x="10719408" y="2595119"/>
                <a:ext cx="708522" cy="178015"/>
                <a:chOff x="4067064" y="2157303"/>
                <a:chExt cx="944113" cy="223029"/>
              </a:xfrm>
            </p:grpSpPr>
            <p:pic>
              <p:nvPicPr>
                <p:cNvPr id="333" name="Picture 332">
                  <a:extLst>
                    <a:ext uri="{FF2B5EF4-FFF2-40B4-BE49-F238E27FC236}">
                      <a16:creationId xmlns:a16="http://schemas.microsoft.com/office/drawing/2014/main" id="{A1C64C60-B99B-7024-3F43-43E5CE3A3C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67064" y="2175556"/>
                  <a:ext cx="250540" cy="182686"/>
                </a:xfrm>
                <a:prstGeom prst="rect">
                  <a:avLst/>
                </a:prstGeom>
              </p:spPr>
            </p:pic>
            <p:pic>
              <p:nvPicPr>
                <p:cNvPr id="334" name="Picture 333">
                  <a:extLst>
                    <a:ext uri="{FF2B5EF4-FFF2-40B4-BE49-F238E27FC236}">
                      <a16:creationId xmlns:a16="http://schemas.microsoft.com/office/drawing/2014/main" id="{E931ACF2-C899-F252-F281-D5980C7CD6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80582" y="2157303"/>
                  <a:ext cx="237590" cy="207891"/>
                </a:xfrm>
                <a:prstGeom prst="rect">
                  <a:avLst/>
                </a:prstGeom>
              </p:spPr>
            </p:pic>
            <p:pic>
              <p:nvPicPr>
                <p:cNvPr id="335" name="Picture 334">
                  <a:extLst>
                    <a:ext uri="{FF2B5EF4-FFF2-40B4-BE49-F238E27FC236}">
                      <a16:creationId xmlns:a16="http://schemas.microsoft.com/office/drawing/2014/main" id="{FB3F8700-F4DF-8356-D196-936E9A815B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81150" y="2175556"/>
                  <a:ext cx="330027" cy="204776"/>
                </a:xfrm>
                <a:prstGeom prst="rect">
                  <a:avLst/>
                </a:prstGeom>
              </p:spPr>
            </p:pic>
          </p:grpSp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5A7C7F9A-AE09-177D-DA6D-2C2BA803392F}"/>
                  </a:ext>
                </a:extLst>
              </p:cNvPr>
              <p:cNvGrpSpPr/>
              <p:nvPr/>
            </p:nvGrpSpPr>
            <p:grpSpPr>
              <a:xfrm>
                <a:off x="8686867" y="2889439"/>
                <a:ext cx="267128" cy="236306"/>
                <a:chOff x="5441973" y="3633328"/>
                <a:chExt cx="267128" cy="236306"/>
              </a:xfrm>
            </p:grpSpPr>
            <p:pic>
              <p:nvPicPr>
                <p:cNvPr id="337" name="Graphic 336" descr="Checkmark">
                  <a:extLst>
                    <a:ext uri="{FF2B5EF4-FFF2-40B4-BE49-F238E27FC236}">
                      <a16:creationId xmlns:a16="http://schemas.microsoft.com/office/drawing/2014/main" id="{16AAE395-2EDB-486D-4E7C-364EEB5FF1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2105" y="3664858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8FC5DEE6-783C-E006-293F-B93454E19365}"/>
                    </a:ext>
                  </a:extLst>
                </p:cNvPr>
                <p:cNvSpPr/>
                <p:nvPr/>
              </p:nvSpPr>
              <p:spPr>
                <a:xfrm>
                  <a:off x="5441973" y="3633328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73209DFF-AE51-35B5-A41D-311289DF0B28}"/>
                  </a:ext>
                </a:extLst>
              </p:cNvPr>
              <p:cNvGrpSpPr/>
              <p:nvPr/>
            </p:nvGrpSpPr>
            <p:grpSpPr>
              <a:xfrm>
                <a:off x="9669253" y="2614218"/>
                <a:ext cx="708522" cy="178015"/>
                <a:chOff x="4067064" y="2157303"/>
                <a:chExt cx="944113" cy="223029"/>
              </a:xfrm>
            </p:grpSpPr>
            <p:pic>
              <p:nvPicPr>
                <p:cNvPr id="342" name="Picture 341">
                  <a:extLst>
                    <a:ext uri="{FF2B5EF4-FFF2-40B4-BE49-F238E27FC236}">
                      <a16:creationId xmlns:a16="http://schemas.microsoft.com/office/drawing/2014/main" id="{FB7D134F-6937-9497-BC0B-C429E75117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67064" y="2175556"/>
                  <a:ext cx="250540" cy="182686"/>
                </a:xfrm>
                <a:prstGeom prst="rect">
                  <a:avLst/>
                </a:prstGeom>
              </p:spPr>
            </p:pic>
            <p:pic>
              <p:nvPicPr>
                <p:cNvPr id="343" name="Picture 342">
                  <a:extLst>
                    <a:ext uri="{FF2B5EF4-FFF2-40B4-BE49-F238E27FC236}">
                      <a16:creationId xmlns:a16="http://schemas.microsoft.com/office/drawing/2014/main" id="{4C4A8D8D-5BF3-20BE-F3C0-528A0EC9F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80582" y="2157303"/>
                  <a:ext cx="237590" cy="207891"/>
                </a:xfrm>
                <a:prstGeom prst="rect">
                  <a:avLst/>
                </a:prstGeom>
              </p:spPr>
            </p:pic>
            <p:pic>
              <p:nvPicPr>
                <p:cNvPr id="344" name="Picture 343">
                  <a:extLst>
                    <a:ext uri="{FF2B5EF4-FFF2-40B4-BE49-F238E27FC236}">
                      <a16:creationId xmlns:a16="http://schemas.microsoft.com/office/drawing/2014/main" id="{0135040B-1170-D58F-820E-4DF3CA902A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81150" y="2175556"/>
                  <a:ext cx="330027" cy="204776"/>
                </a:xfrm>
                <a:prstGeom prst="rect">
                  <a:avLst/>
                </a:prstGeom>
              </p:spPr>
            </p:pic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B309279B-69F6-133F-4C19-2F9C81CE6F68}"/>
                  </a:ext>
                </a:extLst>
              </p:cNvPr>
              <p:cNvGrpSpPr/>
              <p:nvPr/>
            </p:nvGrpSpPr>
            <p:grpSpPr>
              <a:xfrm>
                <a:off x="8856015" y="3624490"/>
                <a:ext cx="267128" cy="236305"/>
                <a:chOff x="5607625" y="3649894"/>
                <a:chExt cx="267128" cy="236305"/>
              </a:xfrm>
            </p:grpSpPr>
            <p:pic>
              <p:nvPicPr>
                <p:cNvPr id="346" name="Graphic 345" descr="Checkmark">
                  <a:extLst>
                    <a:ext uri="{FF2B5EF4-FFF2-40B4-BE49-F238E27FC236}">
                      <a16:creationId xmlns:a16="http://schemas.microsoft.com/office/drawing/2014/main" id="{7ECFA42A-067A-1727-C82A-886A4D89A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1" y="3681423"/>
                  <a:ext cx="204776" cy="204776"/>
                </a:xfrm>
                <a:prstGeom prst="rect">
                  <a:avLst/>
                </a:prstGeom>
              </p:spPr>
            </p:pic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6D3AC212-3DF5-F7EE-96EF-26E293FAF6E7}"/>
                    </a:ext>
                  </a:extLst>
                </p:cNvPr>
                <p:cNvSpPr/>
                <p:nvPr/>
              </p:nvSpPr>
              <p:spPr>
                <a:xfrm>
                  <a:off x="5607625" y="3649894"/>
                  <a:ext cx="267128" cy="236305"/>
                </a:xfrm>
                <a:prstGeom prst="ellipse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AD04101C-7012-7C08-4883-8924D2E9FF3C}"/>
                  </a:ext>
                </a:extLst>
              </p:cNvPr>
              <p:cNvSpPr txBox="1"/>
              <p:nvPr/>
            </p:nvSpPr>
            <p:spPr>
              <a:xfrm>
                <a:off x="4214376" y="4619220"/>
                <a:ext cx="20341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>
                    <a:solidFill>
                      <a:srgbClr val="B53ACE"/>
                    </a:solidFill>
                  </a:rPr>
                  <a:t>100%</a:t>
                </a:r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11770444-F5EB-2728-5434-B68A4270E9F4}"/>
                  </a:ext>
                </a:extLst>
              </p:cNvPr>
              <p:cNvSpPr txBox="1"/>
              <p:nvPr/>
            </p:nvSpPr>
            <p:spPr>
              <a:xfrm>
                <a:off x="5799221" y="4620449"/>
                <a:ext cx="20341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>
                    <a:solidFill>
                      <a:srgbClr val="B53ACE"/>
                    </a:solidFill>
                  </a:rPr>
                  <a:t>20%</a:t>
                </a:r>
              </a:p>
            </p:txBody>
          </p:sp>
        </p:grp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8A37C302-6324-4F30-E6AB-8273BC5383DE}"/>
                </a:ext>
              </a:extLst>
            </p:cNvPr>
            <p:cNvSpPr txBox="1"/>
            <p:nvPr/>
          </p:nvSpPr>
          <p:spPr>
            <a:xfrm>
              <a:off x="1027838" y="4878891"/>
              <a:ext cx="16079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>
                  <a:solidFill>
                    <a:srgbClr val="9900CC"/>
                  </a:solidFill>
                </a:rPr>
                <a:t>Delivery time </a:t>
              </a:r>
            </a:p>
          </p:txBody>
        </p: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B906DE8E-B186-A602-346D-215FA3F81A13}"/>
                </a:ext>
              </a:extLst>
            </p:cNvPr>
            <p:cNvCxnSpPr>
              <a:cxnSpLocks/>
            </p:cNvCxnSpPr>
            <p:nvPr/>
          </p:nvCxnSpPr>
          <p:spPr>
            <a:xfrm>
              <a:off x="1177668" y="4289466"/>
              <a:ext cx="10025219" cy="0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3" name="Graphic 362" descr="Label">
              <a:extLst>
                <a:ext uri="{FF2B5EF4-FFF2-40B4-BE49-F238E27FC236}">
                  <a16:creationId xmlns:a16="http://schemas.microsoft.com/office/drawing/2014/main" id="{6D51935D-3DFB-8976-7B64-A0B5A87D5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8404" y="1862736"/>
              <a:ext cx="314380" cy="314380"/>
            </a:xfrm>
            <a:prstGeom prst="rect">
              <a:avLst/>
            </a:prstGeom>
          </p:spPr>
        </p:pic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D7381698-D49B-2488-9680-9E35606F096A}"/>
                </a:ext>
              </a:extLst>
            </p:cNvPr>
            <p:cNvSpPr txBox="1"/>
            <p:nvPr/>
          </p:nvSpPr>
          <p:spPr>
            <a:xfrm>
              <a:off x="3977946" y="1881886"/>
              <a:ext cx="10622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400-800+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042344C1-0EF0-AAA7-5A05-419A1EF74692}"/>
                </a:ext>
              </a:extLst>
            </p:cNvPr>
            <p:cNvSpPr txBox="1"/>
            <p:nvPr/>
          </p:nvSpPr>
          <p:spPr>
            <a:xfrm>
              <a:off x="5457046" y="1860849"/>
              <a:ext cx="10622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1000-2000+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A1AD5EB-37E0-9FED-B671-766D36367622}"/>
                </a:ext>
              </a:extLst>
            </p:cNvPr>
            <p:cNvSpPr txBox="1"/>
            <p:nvPr/>
          </p:nvSpPr>
          <p:spPr>
            <a:xfrm>
              <a:off x="6568081" y="1869488"/>
              <a:ext cx="10622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1000-1600+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970E72E5-795B-ED6F-23A7-AB7220ECE10C}"/>
                </a:ext>
              </a:extLst>
            </p:cNvPr>
            <p:cNvSpPr txBox="1"/>
            <p:nvPr/>
          </p:nvSpPr>
          <p:spPr>
            <a:xfrm>
              <a:off x="7545680" y="1869339"/>
              <a:ext cx="10622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600-1500+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14A56CDA-CAE8-B7B9-4791-1E1720F0057F}"/>
                </a:ext>
              </a:extLst>
            </p:cNvPr>
            <p:cNvSpPr txBox="1"/>
            <p:nvPr/>
          </p:nvSpPr>
          <p:spPr>
            <a:xfrm>
              <a:off x="8543878" y="1898529"/>
              <a:ext cx="113649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800-10,000+</a:t>
              </a: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740C4DC-73D1-9168-7BCC-09974E6F91B0}"/>
                </a:ext>
              </a:extLst>
            </p:cNvPr>
            <p:cNvSpPr txBox="1"/>
            <p:nvPr/>
          </p:nvSpPr>
          <p:spPr>
            <a:xfrm>
              <a:off x="9558160" y="1895979"/>
              <a:ext cx="10622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500-4000+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4A0A0CD5-B623-F565-2A55-473235EE4FFE}"/>
                </a:ext>
              </a:extLst>
            </p:cNvPr>
            <p:cNvSpPr txBox="1"/>
            <p:nvPr/>
          </p:nvSpPr>
          <p:spPr>
            <a:xfrm>
              <a:off x="10513850" y="1912496"/>
              <a:ext cx="12646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700-10,000+</a:t>
              </a: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CFAFD752-AE65-6045-C607-080D88BF8066}"/>
                </a:ext>
              </a:extLst>
            </p:cNvPr>
            <p:cNvSpPr txBox="1"/>
            <p:nvPr/>
          </p:nvSpPr>
          <p:spPr>
            <a:xfrm>
              <a:off x="7606366" y="3670177"/>
              <a:ext cx="13568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Bed, flooring</a:t>
              </a: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70181389-4AFB-4726-19BC-226325B2417B}"/>
                </a:ext>
              </a:extLst>
            </p:cNvPr>
            <p:cNvSpPr txBox="1"/>
            <p:nvPr/>
          </p:nvSpPr>
          <p:spPr>
            <a:xfrm>
              <a:off x="4234021" y="4920373"/>
              <a:ext cx="16079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1 day 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DBFC702-2DCB-E4A9-F6A3-5BD7762F46F0}"/>
                </a:ext>
              </a:extLst>
            </p:cNvPr>
            <p:cNvSpPr txBox="1"/>
            <p:nvPr/>
          </p:nvSpPr>
          <p:spPr>
            <a:xfrm>
              <a:off x="8508683" y="3659909"/>
              <a:ext cx="13568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Bed, rugs, curtain</a:t>
              </a: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FC8A7FC1-725E-71D4-F3C0-DB0E69EB0EA9}"/>
                </a:ext>
              </a:extLst>
            </p:cNvPr>
            <p:cNvSpPr txBox="1"/>
            <p:nvPr/>
          </p:nvSpPr>
          <p:spPr>
            <a:xfrm>
              <a:off x="10789607" y="3666253"/>
              <a:ext cx="19146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Bed, bath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F3704247-08E8-1E84-675B-8DFC2CB08072}"/>
                </a:ext>
              </a:extLst>
            </p:cNvPr>
            <p:cNvSpPr txBox="1"/>
            <p:nvPr/>
          </p:nvSpPr>
          <p:spPr>
            <a:xfrm>
              <a:off x="3010794" y="4637356"/>
              <a:ext cx="5761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0BD9C6C7-55C2-864B-1F44-9AE17608F509}"/>
                </a:ext>
              </a:extLst>
            </p:cNvPr>
            <p:cNvSpPr txBox="1"/>
            <p:nvPr/>
          </p:nvSpPr>
          <p:spPr>
            <a:xfrm>
              <a:off x="10959630" y="4625079"/>
              <a:ext cx="5761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43B5971E-49CC-D623-2891-D8F655B6FC13}"/>
                </a:ext>
              </a:extLst>
            </p:cNvPr>
            <p:cNvSpPr txBox="1"/>
            <p:nvPr/>
          </p:nvSpPr>
          <p:spPr>
            <a:xfrm>
              <a:off x="9876716" y="4631623"/>
              <a:ext cx="5761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93EA7D5E-3CA3-BC95-2ADE-3FAE351E8620}"/>
                </a:ext>
              </a:extLst>
            </p:cNvPr>
            <p:cNvSpPr txBox="1"/>
            <p:nvPr/>
          </p:nvSpPr>
          <p:spPr>
            <a:xfrm>
              <a:off x="8846801" y="4629328"/>
              <a:ext cx="5761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078F989-B557-CA87-5B59-80B030ED3347}"/>
                </a:ext>
              </a:extLst>
            </p:cNvPr>
            <p:cNvSpPr txBox="1"/>
            <p:nvPr/>
          </p:nvSpPr>
          <p:spPr>
            <a:xfrm>
              <a:off x="4115113" y="4640753"/>
              <a:ext cx="8444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T1. T2, T3</a:t>
              </a: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B3B32087-91ED-8DCA-2E59-B328947A9AE2}"/>
                </a:ext>
              </a:extLst>
            </p:cNvPr>
            <p:cNvSpPr txBox="1"/>
            <p:nvPr/>
          </p:nvSpPr>
          <p:spPr>
            <a:xfrm>
              <a:off x="5625068" y="4639271"/>
              <a:ext cx="8444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T1. T2, T3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D7B876ED-AD13-F273-1B62-BEB8E0E996FA}"/>
                </a:ext>
              </a:extLst>
            </p:cNvPr>
            <p:cNvSpPr txBox="1"/>
            <p:nvPr/>
          </p:nvSpPr>
          <p:spPr>
            <a:xfrm>
              <a:off x="7816886" y="4648234"/>
              <a:ext cx="714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T1,  T2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70F5B9-90FA-AE0E-1861-E60C1E0D2D71}"/>
                </a:ext>
              </a:extLst>
            </p:cNvPr>
            <p:cNvSpPr txBox="1"/>
            <p:nvPr/>
          </p:nvSpPr>
          <p:spPr>
            <a:xfrm>
              <a:off x="5679372" y="4940310"/>
              <a:ext cx="1607980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2-3 days 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E40FDE-84CE-C4AD-654A-9BFCF6C4285D}"/>
                </a:ext>
              </a:extLst>
            </p:cNvPr>
            <p:cNvSpPr txBox="1"/>
            <p:nvPr/>
          </p:nvSpPr>
          <p:spPr>
            <a:xfrm>
              <a:off x="7799720" y="4973440"/>
              <a:ext cx="1607980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endParaRPr lang="en-IN" sz="120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E4A2609-0FA2-20F7-AC38-11A2CDF83517}"/>
                </a:ext>
              </a:extLst>
            </p:cNvPr>
            <p:cNvSpPr txBox="1"/>
            <p:nvPr/>
          </p:nvSpPr>
          <p:spPr>
            <a:xfrm>
              <a:off x="6759345" y="4939065"/>
              <a:ext cx="74106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5-7 days 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FFECDF-9687-0246-262B-3F5740858AFC}"/>
                </a:ext>
              </a:extLst>
            </p:cNvPr>
            <p:cNvSpPr txBox="1"/>
            <p:nvPr/>
          </p:nvSpPr>
          <p:spPr>
            <a:xfrm>
              <a:off x="8589328" y="4940311"/>
              <a:ext cx="74106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5-7 days 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A01D18-78C7-BD94-6ED9-DCD2D12C671B}"/>
                </a:ext>
              </a:extLst>
            </p:cNvPr>
            <p:cNvSpPr txBox="1"/>
            <p:nvPr/>
          </p:nvSpPr>
          <p:spPr>
            <a:xfrm>
              <a:off x="9737850" y="4940311"/>
              <a:ext cx="74106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5 days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5D7E56-EB0B-0988-71C5-A836F417FF0D}"/>
                </a:ext>
              </a:extLst>
            </p:cNvPr>
            <p:cNvSpPr txBox="1"/>
            <p:nvPr/>
          </p:nvSpPr>
          <p:spPr>
            <a:xfrm>
              <a:off x="10836676" y="4923746"/>
              <a:ext cx="74106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5-7 days 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815B0A-1E73-7186-6089-BAE298E0DA12}"/>
                </a:ext>
              </a:extLst>
            </p:cNvPr>
            <p:cNvSpPr txBox="1"/>
            <p:nvPr/>
          </p:nvSpPr>
          <p:spPr>
            <a:xfrm>
              <a:off x="7716893" y="4940310"/>
              <a:ext cx="74106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4-5 days 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5D30C91-B24B-7D2A-266C-6A97EB3635CA}"/>
                </a:ext>
              </a:extLst>
            </p:cNvPr>
            <p:cNvCxnSpPr/>
            <p:nvPr/>
          </p:nvCxnSpPr>
          <p:spPr>
            <a:xfrm>
              <a:off x="7102062" y="2563190"/>
              <a:ext cx="1" cy="231914"/>
            </a:xfrm>
            <a:prstGeom prst="straightConnector1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2605642-1CC0-6222-DD44-F4517C502D68}"/>
                </a:ext>
              </a:extLst>
            </p:cNvPr>
            <p:cNvCxnSpPr>
              <a:cxnSpLocks/>
            </p:cNvCxnSpPr>
            <p:nvPr/>
          </p:nvCxnSpPr>
          <p:spPr>
            <a:xfrm>
              <a:off x="8990496" y="2557668"/>
              <a:ext cx="2" cy="226393"/>
            </a:xfrm>
            <a:prstGeom prst="straightConnector1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ECF6947-7665-2CAD-D451-6F2E6CF0BBEF}"/>
                </a:ext>
              </a:extLst>
            </p:cNvPr>
            <p:cNvCxnSpPr>
              <a:cxnSpLocks/>
            </p:cNvCxnSpPr>
            <p:nvPr/>
          </p:nvCxnSpPr>
          <p:spPr>
            <a:xfrm>
              <a:off x="9967844" y="2574233"/>
              <a:ext cx="1" cy="231914"/>
            </a:xfrm>
            <a:prstGeom prst="straightConnector1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3071724-F0A0-BB28-E108-76B7E5E86374}"/>
                </a:ext>
              </a:extLst>
            </p:cNvPr>
            <p:cNvCxnSpPr>
              <a:cxnSpLocks/>
            </p:cNvCxnSpPr>
            <p:nvPr/>
          </p:nvCxnSpPr>
          <p:spPr>
            <a:xfrm>
              <a:off x="10912062" y="2579755"/>
              <a:ext cx="1" cy="231914"/>
            </a:xfrm>
            <a:prstGeom prst="straightConnector1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7" name="Star: 5 Points 36">
              <a:extLst>
                <a:ext uri="{FF2B5EF4-FFF2-40B4-BE49-F238E27FC236}">
                  <a16:creationId xmlns:a16="http://schemas.microsoft.com/office/drawing/2014/main" id="{9E14EBCA-8634-149A-D631-DABD7148F222}"/>
                </a:ext>
              </a:extLst>
            </p:cNvPr>
            <p:cNvSpPr/>
            <p:nvPr/>
          </p:nvSpPr>
          <p:spPr>
            <a:xfrm>
              <a:off x="7146235" y="2612887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tar: 5 Points 37">
              <a:extLst>
                <a:ext uri="{FF2B5EF4-FFF2-40B4-BE49-F238E27FC236}">
                  <a16:creationId xmlns:a16="http://schemas.microsoft.com/office/drawing/2014/main" id="{56201491-1058-5F6D-0DD3-D0671FF30EE6}"/>
                </a:ext>
              </a:extLst>
            </p:cNvPr>
            <p:cNvSpPr/>
            <p:nvPr/>
          </p:nvSpPr>
          <p:spPr>
            <a:xfrm>
              <a:off x="7284278" y="2612886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tar: 5 Points 38">
              <a:extLst>
                <a:ext uri="{FF2B5EF4-FFF2-40B4-BE49-F238E27FC236}">
                  <a16:creationId xmlns:a16="http://schemas.microsoft.com/office/drawing/2014/main" id="{334DAB0B-C0B2-635B-4BF6-0CD09BF4B89D}"/>
                </a:ext>
              </a:extLst>
            </p:cNvPr>
            <p:cNvSpPr/>
            <p:nvPr/>
          </p:nvSpPr>
          <p:spPr>
            <a:xfrm>
              <a:off x="7433365" y="2612887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tar: 5 Points 40">
              <a:extLst>
                <a:ext uri="{FF2B5EF4-FFF2-40B4-BE49-F238E27FC236}">
                  <a16:creationId xmlns:a16="http://schemas.microsoft.com/office/drawing/2014/main" id="{0F7B4D53-F9CF-F2DA-8AE6-3B2587DC52A4}"/>
                </a:ext>
              </a:extLst>
            </p:cNvPr>
            <p:cNvSpPr/>
            <p:nvPr/>
          </p:nvSpPr>
          <p:spPr>
            <a:xfrm>
              <a:off x="9007060" y="2612886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F79E6C37-3290-E447-BC7F-301D540F5CF6}"/>
                </a:ext>
              </a:extLst>
            </p:cNvPr>
            <p:cNvSpPr/>
            <p:nvPr/>
          </p:nvSpPr>
          <p:spPr>
            <a:xfrm>
              <a:off x="9145104" y="2612886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3F5847F7-506A-E287-7E5E-4C8F54658C10}"/>
                </a:ext>
              </a:extLst>
            </p:cNvPr>
            <p:cNvSpPr/>
            <p:nvPr/>
          </p:nvSpPr>
          <p:spPr>
            <a:xfrm>
              <a:off x="9283148" y="2612887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tar: 5 Points 43">
              <a:extLst>
                <a:ext uri="{FF2B5EF4-FFF2-40B4-BE49-F238E27FC236}">
                  <a16:creationId xmlns:a16="http://schemas.microsoft.com/office/drawing/2014/main" id="{CAA35CEC-3A15-6758-6BB1-B5FD77526A08}"/>
                </a:ext>
              </a:extLst>
            </p:cNvPr>
            <p:cNvSpPr/>
            <p:nvPr/>
          </p:nvSpPr>
          <p:spPr>
            <a:xfrm>
              <a:off x="9995451" y="2607364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tar: 5 Points 44">
              <a:extLst>
                <a:ext uri="{FF2B5EF4-FFF2-40B4-BE49-F238E27FC236}">
                  <a16:creationId xmlns:a16="http://schemas.microsoft.com/office/drawing/2014/main" id="{CEAE6120-2709-9F54-4C82-8E18437E76A0}"/>
                </a:ext>
              </a:extLst>
            </p:cNvPr>
            <p:cNvSpPr/>
            <p:nvPr/>
          </p:nvSpPr>
          <p:spPr>
            <a:xfrm>
              <a:off x="10133494" y="2563190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tar: 5 Points 45">
              <a:extLst>
                <a:ext uri="{FF2B5EF4-FFF2-40B4-BE49-F238E27FC236}">
                  <a16:creationId xmlns:a16="http://schemas.microsoft.com/office/drawing/2014/main" id="{D57298CA-AA86-9468-4EAA-59D7D39516CC}"/>
                </a:ext>
              </a:extLst>
            </p:cNvPr>
            <p:cNvSpPr/>
            <p:nvPr/>
          </p:nvSpPr>
          <p:spPr>
            <a:xfrm>
              <a:off x="10271538" y="2607364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tar: 5 Points 46">
              <a:extLst>
                <a:ext uri="{FF2B5EF4-FFF2-40B4-BE49-F238E27FC236}">
                  <a16:creationId xmlns:a16="http://schemas.microsoft.com/office/drawing/2014/main" id="{1D7B764E-0165-3161-5DE9-802A0833481E}"/>
                </a:ext>
              </a:extLst>
            </p:cNvPr>
            <p:cNvSpPr/>
            <p:nvPr/>
          </p:nvSpPr>
          <p:spPr>
            <a:xfrm>
              <a:off x="10133494" y="2690190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tar: 5 Points 47">
              <a:extLst>
                <a:ext uri="{FF2B5EF4-FFF2-40B4-BE49-F238E27FC236}">
                  <a16:creationId xmlns:a16="http://schemas.microsoft.com/office/drawing/2014/main" id="{AA3FF91D-8921-5CAC-1685-A5D36EB00059}"/>
                </a:ext>
              </a:extLst>
            </p:cNvPr>
            <p:cNvSpPr/>
            <p:nvPr/>
          </p:nvSpPr>
          <p:spPr>
            <a:xfrm>
              <a:off x="10983842" y="2563190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tar: 5 Points 51">
              <a:extLst>
                <a:ext uri="{FF2B5EF4-FFF2-40B4-BE49-F238E27FC236}">
                  <a16:creationId xmlns:a16="http://schemas.microsoft.com/office/drawing/2014/main" id="{6AA3502F-50A4-06A2-1E7A-928EA167DAF1}"/>
                </a:ext>
              </a:extLst>
            </p:cNvPr>
            <p:cNvSpPr/>
            <p:nvPr/>
          </p:nvSpPr>
          <p:spPr>
            <a:xfrm>
              <a:off x="11138450" y="2563190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tar: 5 Points 52">
              <a:extLst>
                <a:ext uri="{FF2B5EF4-FFF2-40B4-BE49-F238E27FC236}">
                  <a16:creationId xmlns:a16="http://schemas.microsoft.com/office/drawing/2014/main" id="{6E442E7A-F8C4-9C78-E90C-725693D07EFF}"/>
                </a:ext>
              </a:extLst>
            </p:cNvPr>
            <p:cNvSpPr/>
            <p:nvPr/>
          </p:nvSpPr>
          <p:spPr>
            <a:xfrm>
              <a:off x="11287537" y="2563189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tar: 5 Points 53">
              <a:extLst>
                <a:ext uri="{FF2B5EF4-FFF2-40B4-BE49-F238E27FC236}">
                  <a16:creationId xmlns:a16="http://schemas.microsoft.com/office/drawing/2014/main" id="{F36CA48D-03F1-C0E6-1724-F1E0812CA9FB}"/>
                </a:ext>
              </a:extLst>
            </p:cNvPr>
            <p:cNvSpPr/>
            <p:nvPr/>
          </p:nvSpPr>
          <p:spPr>
            <a:xfrm>
              <a:off x="11072189" y="2695711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tar: 5 Points 54">
              <a:extLst>
                <a:ext uri="{FF2B5EF4-FFF2-40B4-BE49-F238E27FC236}">
                  <a16:creationId xmlns:a16="http://schemas.microsoft.com/office/drawing/2014/main" id="{A726EB20-EA88-A60F-C1AB-5434EC58A4CD}"/>
                </a:ext>
              </a:extLst>
            </p:cNvPr>
            <p:cNvSpPr/>
            <p:nvPr/>
          </p:nvSpPr>
          <p:spPr>
            <a:xfrm>
              <a:off x="11215755" y="2695712"/>
              <a:ext cx="138043" cy="121477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Graphic 62" descr="Pie chart">
              <a:extLst>
                <a:ext uri="{FF2B5EF4-FFF2-40B4-BE49-F238E27FC236}">
                  <a16:creationId xmlns:a16="http://schemas.microsoft.com/office/drawing/2014/main" id="{080C6DF6-3AAF-E63C-7BFF-F7819EE04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29500" y="2232033"/>
              <a:ext cx="267824" cy="267824"/>
            </a:xfrm>
            <a:prstGeom prst="rect">
              <a:avLst/>
            </a:prstGeom>
          </p:spPr>
        </p:pic>
        <p:pic>
          <p:nvPicPr>
            <p:cNvPr id="65" name="Graphic 64" descr="Smart Phone">
              <a:extLst>
                <a:ext uri="{FF2B5EF4-FFF2-40B4-BE49-F238E27FC236}">
                  <a16:creationId xmlns:a16="http://schemas.microsoft.com/office/drawing/2014/main" id="{1D01BBBC-5E2A-4273-305A-E254738DA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37663" y="2563189"/>
              <a:ext cx="259661" cy="259661"/>
            </a:xfrm>
            <a:prstGeom prst="rect">
              <a:avLst/>
            </a:prstGeom>
          </p:spPr>
        </p:pic>
        <p:pic>
          <p:nvPicPr>
            <p:cNvPr id="72" name="Graphic 71" descr="Bed">
              <a:extLst>
                <a:ext uri="{FF2B5EF4-FFF2-40B4-BE49-F238E27FC236}">
                  <a16:creationId xmlns:a16="http://schemas.microsoft.com/office/drawing/2014/main" id="{73624B29-B154-16FD-B5F0-C3E979A14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720287" y="3189531"/>
              <a:ext cx="316140" cy="316140"/>
            </a:xfrm>
            <a:prstGeom prst="rect">
              <a:avLst/>
            </a:prstGeom>
          </p:spPr>
        </p:pic>
        <p:pic>
          <p:nvPicPr>
            <p:cNvPr id="81" name="Graphic 80" descr="Lightbulb">
              <a:extLst>
                <a:ext uri="{FF2B5EF4-FFF2-40B4-BE49-F238E27FC236}">
                  <a16:creationId xmlns:a16="http://schemas.microsoft.com/office/drawing/2014/main" id="{96A43B2C-08D0-ACE6-1109-8FF84B307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18896" y="2891663"/>
              <a:ext cx="307777" cy="307777"/>
            </a:xfrm>
            <a:prstGeom prst="rect">
              <a:avLst/>
            </a:prstGeom>
          </p:spPr>
        </p:pic>
        <p:pic>
          <p:nvPicPr>
            <p:cNvPr id="83" name="Graphic 82" descr="Box">
              <a:extLst>
                <a:ext uri="{FF2B5EF4-FFF2-40B4-BE49-F238E27FC236}">
                  <a16:creationId xmlns:a16="http://schemas.microsoft.com/office/drawing/2014/main" id="{01515170-0B5B-8C49-AEFC-97A796481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48086" y="3649807"/>
              <a:ext cx="250993" cy="250993"/>
            </a:xfrm>
            <a:prstGeom prst="rect">
              <a:avLst/>
            </a:prstGeom>
          </p:spPr>
        </p:pic>
        <p:pic>
          <p:nvPicPr>
            <p:cNvPr id="85" name="Graphic 84" descr="Wi Fi">
              <a:extLst>
                <a:ext uri="{FF2B5EF4-FFF2-40B4-BE49-F238E27FC236}">
                  <a16:creationId xmlns:a16="http://schemas.microsoft.com/office/drawing/2014/main" id="{856B14FA-3BCA-56BD-5BFA-E56997690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98755" y="4225800"/>
              <a:ext cx="385328" cy="385328"/>
            </a:xfrm>
            <a:prstGeom prst="rect">
              <a:avLst/>
            </a:prstGeom>
          </p:spPr>
        </p:pic>
        <p:pic>
          <p:nvPicPr>
            <p:cNvPr id="87" name="Graphic 86" descr="Stopwatch">
              <a:extLst>
                <a:ext uri="{FF2B5EF4-FFF2-40B4-BE49-F238E27FC236}">
                  <a16:creationId xmlns:a16="http://schemas.microsoft.com/office/drawing/2014/main" id="{96829921-5957-4A37-6B8A-5F0C21A84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07612" y="4847209"/>
              <a:ext cx="350103" cy="350103"/>
            </a:xfrm>
            <a:prstGeom prst="rect">
              <a:avLst/>
            </a:prstGeom>
          </p:spPr>
        </p:pic>
        <p:pic>
          <p:nvPicPr>
            <p:cNvPr id="89" name="Graphic 88" descr="Home">
              <a:extLst>
                <a:ext uri="{FF2B5EF4-FFF2-40B4-BE49-F238E27FC236}">
                  <a16:creationId xmlns:a16="http://schemas.microsoft.com/office/drawing/2014/main" id="{82E72FB0-2A06-2618-325C-F33B8C13F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48855" y="4573699"/>
              <a:ext cx="268261" cy="268261"/>
            </a:xfrm>
            <a:prstGeom prst="rect">
              <a:avLst/>
            </a:prstGeom>
          </p:spPr>
        </p:pic>
        <p:pic>
          <p:nvPicPr>
            <p:cNvPr id="91" name="Graphic 90" descr="Single gear">
              <a:extLst>
                <a:ext uri="{FF2B5EF4-FFF2-40B4-BE49-F238E27FC236}">
                  <a16:creationId xmlns:a16="http://schemas.microsoft.com/office/drawing/2014/main" id="{BA7ABF9F-3385-F536-17C1-E2D891FA3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25109" y="3958037"/>
              <a:ext cx="308208" cy="308208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CD0C229-D110-2830-A3C8-B26AB959E9B4}"/>
                </a:ext>
              </a:extLst>
            </p:cNvPr>
            <p:cNvSpPr txBox="1"/>
            <p:nvPr/>
          </p:nvSpPr>
          <p:spPr>
            <a:xfrm>
              <a:off x="7918068" y="4266245"/>
              <a:ext cx="2034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>
                  <a:solidFill>
                    <a:srgbClr val="B53ACE"/>
                  </a:solidFill>
                </a:rPr>
                <a:t>9%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191F592-B97A-265C-C8E6-4CA3E8455C60}"/>
                </a:ext>
              </a:extLst>
            </p:cNvPr>
            <p:cNvSpPr txBox="1"/>
            <p:nvPr/>
          </p:nvSpPr>
          <p:spPr>
            <a:xfrm>
              <a:off x="5426499" y="3979731"/>
              <a:ext cx="2034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Well established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15DB9C8-96EE-F916-DEAB-97301ACEAB78}"/>
                </a:ext>
              </a:extLst>
            </p:cNvPr>
            <p:cNvSpPr txBox="1"/>
            <p:nvPr/>
          </p:nvSpPr>
          <p:spPr>
            <a:xfrm>
              <a:off x="7462076" y="3969076"/>
              <a:ext cx="2034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Global footprint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7C95E78-9765-5810-0D65-59D659BC1B9E}"/>
                </a:ext>
              </a:extLst>
            </p:cNvPr>
            <p:cNvSpPr txBox="1"/>
            <p:nvPr/>
          </p:nvSpPr>
          <p:spPr>
            <a:xfrm>
              <a:off x="6768611" y="3984988"/>
              <a:ext cx="2034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Quality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FA9B42F-1A99-1859-F56F-E72B064C6F7D}"/>
                </a:ext>
              </a:extLst>
            </p:cNvPr>
            <p:cNvSpPr txBox="1"/>
            <p:nvPr/>
          </p:nvSpPr>
          <p:spPr>
            <a:xfrm>
              <a:off x="6805129" y="4648584"/>
              <a:ext cx="8444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T1, T2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99913EB-3CD0-1F91-4AEF-E66476DA39E3}"/>
                </a:ext>
              </a:extLst>
            </p:cNvPr>
            <p:cNvSpPr txBox="1"/>
            <p:nvPr/>
          </p:nvSpPr>
          <p:spPr>
            <a:xfrm>
              <a:off x="8553111" y="3963705"/>
              <a:ext cx="1396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Premium brand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6D2D806-8DB6-DD70-A64C-3A435B6246DB}"/>
                </a:ext>
              </a:extLst>
            </p:cNvPr>
            <p:cNvSpPr txBox="1"/>
            <p:nvPr/>
          </p:nvSpPr>
          <p:spPr>
            <a:xfrm>
              <a:off x="9767237" y="3951686"/>
              <a:ext cx="8151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Quality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87786EA-E180-47B4-A009-1E700539A642}"/>
                </a:ext>
              </a:extLst>
            </p:cNvPr>
            <p:cNvSpPr txBox="1"/>
            <p:nvPr/>
          </p:nvSpPr>
          <p:spPr>
            <a:xfrm>
              <a:off x="10706019" y="3960569"/>
              <a:ext cx="11041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Eco-friendly </a:t>
              </a:r>
            </a:p>
          </p:txBody>
        </p:sp>
        <p:sp>
          <p:nvSpPr>
            <p:cNvPr id="113" name="Multiplication Sign 112">
              <a:extLst>
                <a:ext uri="{FF2B5EF4-FFF2-40B4-BE49-F238E27FC236}">
                  <a16:creationId xmlns:a16="http://schemas.microsoft.com/office/drawing/2014/main" id="{EA32B369-3C6E-0BA0-D0CA-0D1AAAA268E8}"/>
                </a:ext>
              </a:extLst>
            </p:cNvPr>
            <p:cNvSpPr/>
            <p:nvPr/>
          </p:nvSpPr>
          <p:spPr>
            <a:xfrm>
              <a:off x="7906544" y="3277351"/>
              <a:ext cx="267128" cy="236305"/>
            </a:xfrm>
            <a:prstGeom prst="mathMultiply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F57232C-5DC9-947D-71DE-B81BA05F9A4E}"/>
                </a:ext>
              </a:extLst>
            </p:cNvPr>
            <p:cNvSpPr/>
            <p:nvPr/>
          </p:nvSpPr>
          <p:spPr>
            <a:xfrm>
              <a:off x="7906544" y="3280478"/>
              <a:ext cx="267128" cy="23630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2F00937-6EC4-DC57-48E4-B14AC44E6741}"/>
                </a:ext>
              </a:extLst>
            </p:cNvPr>
            <p:cNvSpPr txBox="1"/>
            <p:nvPr/>
          </p:nvSpPr>
          <p:spPr>
            <a:xfrm>
              <a:off x="1007441" y="1501041"/>
              <a:ext cx="1445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u="sng">
                  <a:solidFill>
                    <a:srgbClr val="9900CC"/>
                  </a:solidFill>
                </a:rPr>
                <a:t>Company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B82DE65-1898-9B76-F5EC-89B069BBECA6}"/>
                </a:ext>
              </a:extLst>
            </p:cNvPr>
            <p:cNvSpPr txBox="1"/>
            <p:nvPr/>
          </p:nvSpPr>
          <p:spPr>
            <a:xfrm>
              <a:off x="1007441" y="1151250"/>
              <a:ext cx="1445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u="sng">
                  <a:solidFill>
                    <a:srgbClr val="9900CC"/>
                  </a:solidFill>
                </a:rPr>
                <a:t>Segment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9744C7BC-5B79-929B-832F-3AC5627E085F}"/>
                </a:ext>
              </a:extLst>
            </p:cNvPr>
            <p:cNvSpPr/>
            <p:nvPr/>
          </p:nvSpPr>
          <p:spPr>
            <a:xfrm>
              <a:off x="2634168" y="1163349"/>
              <a:ext cx="1062233" cy="20491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>
                  <a:solidFill>
                    <a:schemeClr val="bg1"/>
                  </a:solidFill>
                </a:rPr>
                <a:t>“Niche”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5899BA9-7627-BC63-FC4E-22582C35A134}"/>
                </a:ext>
              </a:extLst>
            </p:cNvPr>
            <p:cNvSpPr txBox="1"/>
            <p:nvPr/>
          </p:nvSpPr>
          <p:spPr>
            <a:xfrm>
              <a:off x="9689518" y="3658417"/>
              <a:ext cx="11409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Home, Apparel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A255D7F-3E15-DE41-4C54-A1475485AAB5}"/>
                </a:ext>
              </a:extLst>
            </p:cNvPr>
            <p:cNvSpPr txBox="1"/>
            <p:nvPr/>
          </p:nvSpPr>
          <p:spPr>
            <a:xfrm>
              <a:off x="6905607" y="4294857"/>
              <a:ext cx="2034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>
                  <a:solidFill>
                    <a:srgbClr val="B53ACE"/>
                  </a:solidFill>
                </a:rPr>
                <a:t>-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791F16D-91D2-D042-B57D-87A034099A53}"/>
                </a:ext>
              </a:extLst>
            </p:cNvPr>
            <p:cNvSpPr txBox="1"/>
            <p:nvPr/>
          </p:nvSpPr>
          <p:spPr>
            <a:xfrm>
              <a:off x="8865446" y="4252311"/>
              <a:ext cx="2034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>
                  <a:solidFill>
                    <a:srgbClr val="B53ACE"/>
                  </a:solidFill>
                </a:rPr>
                <a:t>-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9FBC6E2-2E86-91BE-DF50-D7831DAD2C71}"/>
                </a:ext>
              </a:extLst>
            </p:cNvPr>
            <p:cNvSpPr txBox="1"/>
            <p:nvPr/>
          </p:nvSpPr>
          <p:spPr>
            <a:xfrm>
              <a:off x="9922742" y="4261439"/>
              <a:ext cx="2034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>
                  <a:solidFill>
                    <a:srgbClr val="B53ACE"/>
                  </a:solidFill>
                </a:rPr>
                <a:t>-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4514281-5A30-7A2A-B0F6-82AD23E29D6F}"/>
                </a:ext>
              </a:extLst>
            </p:cNvPr>
            <p:cNvSpPr txBox="1"/>
            <p:nvPr/>
          </p:nvSpPr>
          <p:spPr>
            <a:xfrm>
              <a:off x="10995878" y="4260449"/>
              <a:ext cx="2034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>
                  <a:solidFill>
                    <a:srgbClr val="B53ACE"/>
                  </a:solidFill>
                </a:rPr>
                <a:t>-</a:t>
              </a:r>
            </a:p>
          </p:txBody>
        </p:sp>
      </p:grpSp>
      <p:sp>
        <p:nvSpPr>
          <p:cNvPr id="129" name="Arrow: Pentagon 128">
            <a:extLst>
              <a:ext uri="{FF2B5EF4-FFF2-40B4-BE49-F238E27FC236}">
                <a16:creationId xmlns:a16="http://schemas.microsoft.com/office/drawing/2014/main" id="{3F7A4AE0-EB51-BD2E-A3E4-1CD1EC3DF88C}"/>
              </a:ext>
            </a:extLst>
          </p:cNvPr>
          <p:cNvSpPr/>
          <p:nvPr/>
        </p:nvSpPr>
        <p:spPr>
          <a:xfrm>
            <a:off x="10571604" y="6063177"/>
            <a:ext cx="1209129" cy="231012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E513035-A6B9-3B59-0A1D-EC0C4CC0A1EC}"/>
              </a:ext>
            </a:extLst>
          </p:cNvPr>
          <p:cNvGrpSpPr/>
          <p:nvPr/>
        </p:nvGrpSpPr>
        <p:grpSpPr>
          <a:xfrm>
            <a:off x="1168931" y="4931901"/>
            <a:ext cx="11021614" cy="983635"/>
            <a:chOff x="1208553" y="5084851"/>
            <a:chExt cx="11021614" cy="98363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8679EA4-0E7D-9075-C614-F7929F8E271B}"/>
                </a:ext>
              </a:extLst>
            </p:cNvPr>
            <p:cNvSpPr/>
            <p:nvPr/>
          </p:nvSpPr>
          <p:spPr>
            <a:xfrm>
              <a:off x="1208553" y="5427954"/>
              <a:ext cx="10025219" cy="61649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61D040F-FC39-EB75-A687-09E0A7F4087B}"/>
                </a:ext>
              </a:extLst>
            </p:cNvPr>
            <p:cNvGrpSpPr/>
            <p:nvPr/>
          </p:nvGrpSpPr>
          <p:grpSpPr>
            <a:xfrm>
              <a:off x="1585732" y="5391485"/>
              <a:ext cx="9599851" cy="669256"/>
              <a:chOff x="958679" y="5306288"/>
              <a:chExt cx="9599851" cy="669256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27C5BF0-7989-BC73-2B29-81500CFD471D}"/>
                  </a:ext>
                </a:extLst>
              </p:cNvPr>
              <p:cNvGrpSpPr/>
              <p:nvPr/>
            </p:nvGrpSpPr>
            <p:grpSpPr>
              <a:xfrm>
                <a:off x="958679" y="5323073"/>
                <a:ext cx="7651005" cy="652471"/>
                <a:chOff x="958679" y="5323073"/>
                <a:chExt cx="7651005" cy="652471"/>
              </a:xfrm>
            </p:grpSpPr>
            <p:pic>
              <p:nvPicPr>
                <p:cNvPr id="236" name="Graphic 235" descr="Target">
                  <a:extLst>
                    <a:ext uri="{FF2B5EF4-FFF2-40B4-BE49-F238E27FC236}">
                      <a16:creationId xmlns:a16="http://schemas.microsoft.com/office/drawing/2014/main" id="{E46C41D6-9B64-2E23-703F-9DA4884862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>
                  <a:extLst>
                    <a:ext uri="{96DAC541-7B7A-43D3-8B79-37D633B846F1}">
                      <asvg:svgBlip xmlns:asvg="http://schemas.microsoft.com/office/drawing/2016/SVG/main" r:embed="rId3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8679" y="5459198"/>
                  <a:ext cx="461665" cy="461665"/>
                </a:xfrm>
                <a:prstGeom prst="rect">
                  <a:avLst/>
                </a:prstGeom>
              </p:spPr>
            </p:pic>
            <p:sp>
              <p:nvSpPr>
                <p:cNvPr id="350" name="TextBox 349">
                  <a:extLst>
                    <a:ext uri="{FF2B5EF4-FFF2-40B4-BE49-F238E27FC236}">
                      <a16:creationId xmlns:a16="http://schemas.microsoft.com/office/drawing/2014/main" id="{2CE72A32-9648-ED78-0A05-A74C8DFB2E81}"/>
                    </a:ext>
                  </a:extLst>
                </p:cNvPr>
                <p:cNvSpPr txBox="1"/>
                <p:nvPr/>
              </p:nvSpPr>
              <p:spPr>
                <a:xfrm>
                  <a:off x="5936397" y="5527580"/>
                  <a:ext cx="267328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>
                      <a:solidFill>
                        <a:srgbClr val="9900CC"/>
                      </a:solidFill>
                    </a:rPr>
                    <a:t>Metros via D2C</a:t>
                  </a:r>
                  <a:r>
                    <a:rPr lang="en-IN" sz="1200">
                      <a:solidFill>
                        <a:schemeClr val="bg1"/>
                      </a:solidFill>
                    </a:rPr>
                    <a:t>, e-comm &amp; stores</a:t>
                  </a:r>
                </a:p>
              </p:txBody>
            </p:sp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CC94521E-C88B-5239-93B1-627B9E577B2D}"/>
                    </a:ext>
                  </a:extLst>
                </p:cNvPr>
                <p:cNvSpPr txBox="1"/>
                <p:nvPr/>
              </p:nvSpPr>
              <p:spPr>
                <a:xfrm>
                  <a:off x="5950428" y="5697759"/>
                  <a:ext cx="218670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>
                      <a:solidFill>
                        <a:srgbClr val="9900CC"/>
                      </a:solidFill>
                    </a:rPr>
                    <a:t>T2 &amp; T3 cities</a:t>
                  </a:r>
                  <a:r>
                    <a:rPr lang="en-IN" sz="1200">
                      <a:solidFill>
                        <a:schemeClr val="bg1"/>
                      </a:solidFill>
                    </a:rPr>
                    <a:t> via e-commerce</a:t>
                  </a:r>
                </a:p>
              </p:txBody>
            </p:sp>
            <p:sp>
              <p:nvSpPr>
                <p:cNvPr id="352" name="TextBox 351">
                  <a:extLst>
                    <a:ext uri="{FF2B5EF4-FFF2-40B4-BE49-F238E27FC236}">
                      <a16:creationId xmlns:a16="http://schemas.microsoft.com/office/drawing/2014/main" id="{0658F649-0C67-CAAF-B436-BD12AFA4434A}"/>
                    </a:ext>
                  </a:extLst>
                </p:cNvPr>
                <p:cNvSpPr txBox="1"/>
                <p:nvPr/>
              </p:nvSpPr>
              <p:spPr>
                <a:xfrm>
                  <a:off x="1611531" y="5513879"/>
                  <a:ext cx="162240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>
                      <a:solidFill>
                        <a:srgbClr val="AF38AF"/>
                      </a:solidFill>
                    </a:rPr>
                    <a:t>Premiumize</a:t>
                  </a:r>
                  <a:r>
                    <a:rPr lang="en-IN" sz="1200">
                      <a:solidFill>
                        <a:schemeClr val="bg1"/>
                      </a:solidFill>
                    </a:rPr>
                    <a:t> – Display long tail product range </a:t>
                  </a:r>
                </a:p>
              </p:txBody>
            </p:sp>
            <p:sp>
              <p:nvSpPr>
                <p:cNvPr id="353" name="Isosceles Triangle 352">
                  <a:extLst>
                    <a:ext uri="{FF2B5EF4-FFF2-40B4-BE49-F238E27FC236}">
                      <a16:creationId xmlns:a16="http://schemas.microsoft.com/office/drawing/2014/main" id="{F8ED4355-A286-95B9-0D90-202809374F03}"/>
                    </a:ext>
                  </a:extLst>
                </p:cNvPr>
                <p:cNvSpPr/>
                <p:nvPr/>
              </p:nvSpPr>
              <p:spPr>
                <a:xfrm rot="5400000">
                  <a:off x="3195101" y="5671856"/>
                  <a:ext cx="180436" cy="119169"/>
                </a:xfrm>
                <a:prstGeom prst="triangle">
                  <a:avLst/>
                </a:prstGeom>
                <a:solidFill>
                  <a:srgbClr val="9900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4" name="Isosceles Triangle 353">
                  <a:extLst>
                    <a:ext uri="{FF2B5EF4-FFF2-40B4-BE49-F238E27FC236}">
                      <a16:creationId xmlns:a16="http://schemas.microsoft.com/office/drawing/2014/main" id="{635DBB16-0059-DFC7-364F-9AFCC448E267}"/>
                    </a:ext>
                  </a:extLst>
                </p:cNvPr>
                <p:cNvSpPr/>
                <p:nvPr/>
              </p:nvSpPr>
              <p:spPr>
                <a:xfrm rot="5400000">
                  <a:off x="5762905" y="5689229"/>
                  <a:ext cx="180436" cy="119169"/>
                </a:xfrm>
                <a:prstGeom prst="triangle">
                  <a:avLst/>
                </a:prstGeom>
                <a:solidFill>
                  <a:srgbClr val="9900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63CC70F7-EF4E-5934-9E8D-D9C39B4882B7}"/>
                    </a:ext>
                  </a:extLst>
                </p:cNvPr>
                <p:cNvSpPr txBox="1"/>
                <p:nvPr/>
              </p:nvSpPr>
              <p:spPr>
                <a:xfrm>
                  <a:off x="6725964" y="5325052"/>
                  <a:ext cx="139894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 i="1" u="sng">
                      <a:solidFill>
                        <a:schemeClr val="bg1"/>
                      </a:solidFill>
                    </a:rPr>
                    <a:t>Where</a:t>
                  </a:r>
                  <a:r>
                    <a:rPr lang="en-IN" sz="1200" b="1" i="1">
                      <a:solidFill>
                        <a:schemeClr val="bg1"/>
                      </a:solidFill>
                    </a:rPr>
                    <a:t>?</a:t>
                  </a:r>
                </a:p>
              </p:txBody>
            </p:sp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B6A799E5-AF07-7088-7FF6-6103B9A55AE9}"/>
                    </a:ext>
                  </a:extLst>
                </p:cNvPr>
                <p:cNvSpPr txBox="1"/>
                <p:nvPr/>
              </p:nvSpPr>
              <p:spPr>
                <a:xfrm>
                  <a:off x="4256457" y="5323073"/>
                  <a:ext cx="139894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 i="1" u="sng">
                      <a:solidFill>
                        <a:schemeClr val="bg1"/>
                      </a:solidFill>
                    </a:rPr>
                    <a:t>Who?</a:t>
                  </a:r>
                </a:p>
              </p:txBody>
            </p:sp>
            <p:sp>
              <p:nvSpPr>
                <p:cNvPr id="364" name="Isosceles Triangle 363">
                  <a:extLst>
                    <a:ext uri="{FF2B5EF4-FFF2-40B4-BE49-F238E27FC236}">
                      <a16:creationId xmlns:a16="http://schemas.microsoft.com/office/drawing/2014/main" id="{34E310D6-B4CD-739D-770C-5E1AEA27A0B5}"/>
                    </a:ext>
                  </a:extLst>
                </p:cNvPr>
                <p:cNvSpPr/>
                <p:nvPr/>
              </p:nvSpPr>
              <p:spPr>
                <a:xfrm rot="5400000">
                  <a:off x="8267168" y="5675509"/>
                  <a:ext cx="180436" cy="119169"/>
                </a:xfrm>
                <a:prstGeom prst="triangle">
                  <a:avLst/>
                </a:prstGeom>
                <a:solidFill>
                  <a:srgbClr val="9900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3D1BD5A2-2AE1-D126-D66A-317E55313B4E}"/>
                  </a:ext>
                </a:extLst>
              </p:cNvPr>
              <p:cNvSpPr txBox="1"/>
              <p:nvPr/>
            </p:nvSpPr>
            <p:spPr>
              <a:xfrm>
                <a:off x="9159585" y="5306288"/>
                <a:ext cx="13989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i="1" u="sng">
                    <a:solidFill>
                      <a:schemeClr val="bg1"/>
                    </a:solidFill>
                  </a:rPr>
                  <a:t>How?</a:t>
                </a:r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39338335-0835-5A6F-7261-7F4910299BA1}"/>
                  </a:ext>
                </a:extLst>
              </p:cNvPr>
              <p:cNvSpPr txBox="1"/>
              <p:nvPr/>
            </p:nvSpPr>
            <p:spPr>
              <a:xfrm>
                <a:off x="8559149" y="5513093"/>
                <a:ext cx="19348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>
                    <a:solidFill>
                      <a:schemeClr val="bg1"/>
                    </a:solidFill>
                  </a:rPr>
                  <a:t>Brand positioning as high quality aspirational product</a:t>
                </a:r>
              </a:p>
            </p:txBody>
          </p:sp>
        </p:grp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6A6AEF9-5781-92CA-3EA6-90472F515E63}"/>
                </a:ext>
              </a:extLst>
            </p:cNvPr>
            <p:cNvSpPr txBox="1"/>
            <p:nvPr/>
          </p:nvSpPr>
          <p:spPr>
            <a:xfrm>
              <a:off x="9471848" y="5084851"/>
              <a:ext cx="27583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i="1">
                  <a:solidFill>
                    <a:srgbClr val="B53ACE"/>
                  </a:solidFill>
                </a:rPr>
                <a:t>Direct competition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940350F-BE3B-46A6-5A32-F25CCE7A0E44}"/>
                </a:ext>
              </a:extLst>
            </p:cNvPr>
            <p:cNvSpPr txBox="1"/>
            <p:nvPr/>
          </p:nvSpPr>
          <p:spPr>
            <a:xfrm>
              <a:off x="4141984" y="5606821"/>
              <a:ext cx="2186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Urban, modern &amp; savvy quality seeker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3928151-B3A8-D2CB-5F9C-98C0541E365A}"/>
                </a:ext>
              </a:extLst>
            </p:cNvPr>
            <p:cNvSpPr txBox="1"/>
            <p:nvPr/>
          </p:nvSpPr>
          <p:spPr>
            <a:xfrm>
              <a:off x="2817686" y="5384552"/>
              <a:ext cx="13989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 u="sng">
                  <a:solidFill>
                    <a:schemeClr val="bg1"/>
                  </a:solidFill>
                </a:rPr>
                <a:t>What?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1B54B583-AB87-3A54-0E2D-E66FD0C89DCC}"/>
              </a:ext>
            </a:extLst>
          </p:cNvPr>
          <p:cNvSpPr txBox="1"/>
          <p:nvPr/>
        </p:nvSpPr>
        <p:spPr>
          <a:xfrm>
            <a:off x="322907" y="139675"/>
            <a:ext cx="1221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Competitor analysis across various segments reflect gap in premium-niche segment and low recall value of most brands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CC8DAA6-B9ED-DE58-CE58-88F9C2035AB5}"/>
              </a:ext>
            </a:extLst>
          </p:cNvPr>
          <p:cNvSpPr txBox="1"/>
          <p:nvPr/>
        </p:nvSpPr>
        <p:spPr>
          <a:xfrm>
            <a:off x="3559446" y="6505401"/>
            <a:ext cx="2959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Appendix 5: </a:t>
            </a:r>
            <a:r>
              <a:rPr lang="en-IN" sz="1200">
                <a:solidFill>
                  <a:schemeClr val="bg1"/>
                </a:solidFill>
                <a:hlinkClick r:id="rId38" action="ppaction://hlinksldjump"/>
              </a:rPr>
              <a:t>Case study Welspun</a:t>
            </a:r>
            <a:endParaRPr lang="en-IN" sz="1200">
              <a:solidFill>
                <a:schemeClr val="bg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191AEE2-C830-E0E6-B55C-7F5F61846429}"/>
              </a:ext>
            </a:extLst>
          </p:cNvPr>
          <p:cNvSpPr txBox="1"/>
          <p:nvPr/>
        </p:nvSpPr>
        <p:spPr>
          <a:xfrm>
            <a:off x="6230949" y="6478049"/>
            <a:ext cx="6513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Appendix 3: </a:t>
            </a:r>
            <a:r>
              <a:rPr lang="en-IN" sz="1200">
                <a:solidFill>
                  <a:schemeClr val="bg1"/>
                </a:solidFill>
                <a:hlinkClick r:id="rId39" action="ppaction://hlinksldjump"/>
              </a:rPr>
              <a:t>Consumer Persona</a:t>
            </a:r>
            <a:endParaRPr lang="en-IN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81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DB088211-A614-8E7B-FC2A-D4428EEAE220}"/>
              </a:ext>
            </a:extLst>
          </p:cNvPr>
          <p:cNvSpPr/>
          <p:nvPr/>
        </p:nvSpPr>
        <p:spPr>
          <a:xfrm rot="5400000">
            <a:off x="1922486" y="5197974"/>
            <a:ext cx="666380" cy="655986"/>
          </a:xfrm>
          <a:prstGeom prst="rect">
            <a:avLst/>
          </a:prstGeom>
          <a:noFill/>
          <a:ln>
            <a:solidFill>
              <a:srgbClr val="99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2832DE1-9401-11AB-DB93-9FFD29CADD80}"/>
              </a:ext>
            </a:extLst>
          </p:cNvPr>
          <p:cNvSpPr/>
          <p:nvPr/>
        </p:nvSpPr>
        <p:spPr>
          <a:xfrm>
            <a:off x="642024" y="3470841"/>
            <a:ext cx="3278241" cy="521609"/>
          </a:xfrm>
          <a:prstGeom prst="rect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F7E52DA-5851-2E01-76DC-05B46FD16458}"/>
              </a:ext>
            </a:extLst>
          </p:cNvPr>
          <p:cNvSpPr/>
          <p:nvPr/>
        </p:nvSpPr>
        <p:spPr>
          <a:xfrm>
            <a:off x="620543" y="4137561"/>
            <a:ext cx="3278241" cy="1875137"/>
          </a:xfrm>
          <a:prstGeom prst="rect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327E0-DD26-814B-911E-B6C05F7E262F}"/>
              </a:ext>
            </a:extLst>
          </p:cNvPr>
          <p:cNvSpPr txBox="1"/>
          <p:nvPr/>
        </p:nvSpPr>
        <p:spPr>
          <a:xfrm>
            <a:off x="499804" y="138062"/>
            <a:ext cx="1139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Channel strategy – Vision 2025 – D2C integrated into the comprehensive e-commerce ecosystem for synergies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E65B97-8344-4CBC-B308-156C4F20BE85}"/>
              </a:ext>
            </a:extLst>
          </p:cNvPr>
          <p:cNvCxnSpPr/>
          <p:nvPr/>
        </p:nvCxnSpPr>
        <p:spPr>
          <a:xfrm>
            <a:off x="2369521" y="904126"/>
            <a:ext cx="12020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96227702-52A4-3EB3-7EA3-575607B1D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880027"/>
              </p:ext>
            </p:extLst>
          </p:nvPr>
        </p:nvGraphicFramePr>
        <p:xfrm>
          <a:off x="1883870" y="1110212"/>
          <a:ext cx="2280078" cy="2734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80ED05D-444B-AE88-5250-58F312801B1C}"/>
              </a:ext>
            </a:extLst>
          </p:cNvPr>
          <p:cNvSpPr txBox="1"/>
          <p:nvPr/>
        </p:nvSpPr>
        <p:spPr>
          <a:xfrm>
            <a:off x="795975" y="582088"/>
            <a:ext cx="1952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solidFill>
                  <a:srgbClr val="CC00CC"/>
                </a:solidFill>
              </a:rPr>
              <a:t>Current mix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0BC5BC-600A-D813-20A1-7CEC05070CD9}"/>
              </a:ext>
            </a:extLst>
          </p:cNvPr>
          <p:cNvSpPr txBox="1"/>
          <p:nvPr/>
        </p:nvSpPr>
        <p:spPr>
          <a:xfrm>
            <a:off x="2405858" y="583355"/>
            <a:ext cx="1952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solidFill>
                  <a:srgbClr val="CC00CC"/>
                </a:solidFill>
              </a:rPr>
              <a:t>Target portfolio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3B5B73-A0DA-38BE-AC05-52DB8342CADE}"/>
              </a:ext>
            </a:extLst>
          </p:cNvPr>
          <p:cNvSpPr/>
          <p:nvPr/>
        </p:nvSpPr>
        <p:spPr>
          <a:xfrm>
            <a:off x="934208" y="3443968"/>
            <a:ext cx="2825393" cy="581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Over-indexation on Myntra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EBIT erosion due to high discounts on E-comm (5% of ABC compared to 10%)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E4F481-504C-6959-D9D9-7D3C913124F4}"/>
              </a:ext>
            </a:extLst>
          </p:cNvPr>
          <p:cNvGrpSpPr/>
          <p:nvPr/>
        </p:nvGrpSpPr>
        <p:grpSpPr>
          <a:xfrm>
            <a:off x="4240346" y="1065008"/>
            <a:ext cx="4282478" cy="3624588"/>
            <a:chOff x="4167042" y="624834"/>
            <a:chExt cx="4282478" cy="362458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3865F7-0E11-A6AC-B6BA-28998BEBF537}"/>
                </a:ext>
              </a:extLst>
            </p:cNvPr>
            <p:cNvSpPr txBox="1"/>
            <p:nvPr/>
          </p:nvSpPr>
          <p:spPr>
            <a:xfrm>
              <a:off x="4201132" y="2414385"/>
              <a:ext cx="17397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u="sng">
                  <a:solidFill>
                    <a:srgbClr val="CC00CC"/>
                  </a:solidFill>
                </a:rPr>
                <a:t>E-comm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B2E40B-D4EE-3F4C-D99E-398D0261ABCC}"/>
                </a:ext>
              </a:extLst>
            </p:cNvPr>
            <p:cNvSpPr txBox="1"/>
            <p:nvPr/>
          </p:nvSpPr>
          <p:spPr>
            <a:xfrm>
              <a:off x="5418643" y="821332"/>
              <a:ext cx="30308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Well-functioning platform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D448AB7-E0E9-A077-12B5-35A326CB4736}"/>
                </a:ext>
              </a:extLst>
            </p:cNvPr>
            <p:cNvSpPr txBox="1"/>
            <p:nvPr/>
          </p:nvSpPr>
          <p:spPr>
            <a:xfrm>
              <a:off x="5414451" y="996901"/>
              <a:ext cx="2195530" cy="276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High-quality customer service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63698B-D9D1-BCF8-FC31-1DD8C486E547}"/>
                </a:ext>
              </a:extLst>
            </p:cNvPr>
            <p:cNvSpPr txBox="1"/>
            <p:nvPr/>
          </p:nvSpPr>
          <p:spPr>
            <a:xfrm>
              <a:off x="5414348" y="1191791"/>
              <a:ext cx="2578017" cy="276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D2C alignment with business model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D65EE7-0DDC-E052-34C9-175B12A53D03}"/>
                </a:ext>
              </a:extLst>
            </p:cNvPr>
            <p:cNvSpPr txBox="1"/>
            <p:nvPr/>
          </p:nvSpPr>
          <p:spPr>
            <a:xfrm>
              <a:off x="4167042" y="624834"/>
              <a:ext cx="1102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u="sng">
                  <a:solidFill>
                    <a:srgbClr val="CC00CC"/>
                  </a:solidFill>
                </a:rPr>
                <a:t>D2C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9182D5A-BF70-4520-74E2-50C7B5C0ECE7}"/>
                </a:ext>
              </a:extLst>
            </p:cNvPr>
            <p:cNvSpPr txBox="1"/>
            <p:nvPr/>
          </p:nvSpPr>
          <p:spPr>
            <a:xfrm>
              <a:off x="4225928" y="3941645"/>
              <a:ext cx="17397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u="sng">
                  <a:solidFill>
                    <a:srgbClr val="CC00CC"/>
                  </a:solidFill>
                </a:rPr>
                <a:t>Offline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A85BAA72-318E-D763-B1DE-471BCD49B89A}"/>
              </a:ext>
            </a:extLst>
          </p:cNvPr>
          <p:cNvSpPr/>
          <p:nvPr/>
        </p:nvSpPr>
        <p:spPr>
          <a:xfrm>
            <a:off x="911899" y="4378078"/>
            <a:ext cx="3002432" cy="4424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Re-shape route to market </a:t>
            </a:r>
            <a:r>
              <a:rPr lang="en-IN" sz="1200">
                <a:solidFill>
                  <a:srgbClr val="CC00CC"/>
                </a:solidFill>
              </a:rPr>
              <a:t>from retailers to D2C </a:t>
            </a:r>
            <a:r>
              <a:rPr lang="en-IN" sz="1200">
                <a:solidFill>
                  <a:schemeClr val="bg1"/>
                </a:solidFill>
              </a:rPr>
              <a:t>and drive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E-commerce value erosion minimised as dependence on sales/discounts minimised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Pandemic has overall boosted D2C </a:t>
            </a:r>
          </a:p>
        </p:txBody>
      </p:sp>
      <p:sp>
        <p:nvSpPr>
          <p:cNvPr id="60" name="Arrow: Down 59">
            <a:extLst>
              <a:ext uri="{FF2B5EF4-FFF2-40B4-BE49-F238E27FC236}">
                <a16:creationId xmlns:a16="http://schemas.microsoft.com/office/drawing/2014/main" id="{BF9EC37D-2080-2710-DE23-4FFFB7FB3EFC}"/>
              </a:ext>
            </a:extLst>
          </p:cNvPr>
          <p:cNvSpPr/>
          <p:nvPr/>
        </p:nvSpPr>
        <p:spPr>
          <a:xfrm>
            <a:off x="2194957" y="4003470"/>
            <a:ext cx="276999" cy="165347"/>
          </a:xfrm>
          <a:prstGeom prst="down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F193CCA-134F-9DE2-E3F0-46C164B881ED}"/>
              </a:ext>
            </a:extLst>
          </p:cNvPr>
          <p:cNvGrpSpPr/>
          <p:nvPr/>
        </p:nvGrpSpPr>
        <p:grpSpPr>
          <a:xfrm>
            <a:off x="880619" y="5025842"/>
            <a:ext cx="3316816" cy="780581"/>
            <a:chOff x="750491" y="4842601"/>
            <a:chExt cx="3316816" cy="78058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1D213EE-E311-73CC-E212-BCF2E25A08D9}"/>
                </a:ext>
              </a:extLst>
            </p:cNvPr>
            <p:cNvGrpSpPr/>
            <p:nvPr/>
          </p:nvGrpSpPr>
          <p:grpSpPr>
            <a:xfrm>
              <a:off x="931908" y="4842601"/>
              <a:ext cx="2664902" cy="780581"/>
              <a:chOff x="852800" y="4397057"/>
              <a:chExt cx="2664902" cy="78058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14867A-1D35-403F-B428-8D9FE34C8F1A}"/>
                  </a:ext>
                </a:extLst>
              </p:cNvPr>
              <p:cNvSpPr txBox="1"/>
              <p:nvPr/>
            </p:nvSpPr>
            <p:spPr>
              <a:xfrm>
                <a:off x="852800" y="4397057"/>
                <a:ext cx="26649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i="1">
                    <a:solidFill>
                      <a:srgbClr val="B53ACE"/>
                    </a:solidFill>
                  </a:rPr>
                  <a:t>D2C’s impact on ABC’s business model  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4F43505-016B-0590-0875-C46C52C3BA79}"/>
                  </a:ext>
                </a:extLst>
              </p:cNvPr>
              <p:cNvSpPr/>
              <p:nvPr/>
            </p:nvSpPr>
            <p:spPr>
              <a:xfrm>
                <a:off x="863029" y="4808306"/>
                <a:ext cx="770562" cy="3693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>
                    <a:solidFill>
                      <a:schemeClr val="bg1"/>
                    </a:solidFill>
                  </a:rPr>
                  <a:t>Enhance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94326-1E80-D9B8-F8BF-0888C74D13BA}"/>
                  </a:ext>
                </a:extLst>
              </p:cNvPr>
              <p:cNvSpPr/>
              <p:nvPr/>
            </p:nvSpPr>
            <p:spPr>
              <a:xfrm>
                <a:off x="2578371" y="4808306"/>
                <a:ext cx="770562" cy="3693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>
                    <a:solidFill>
                      <a:schemeClr val="bg1"/>
                    </a:solidFill>
                  </a:rPr>
                  <a:t>Disrupt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A5995AF-EFE8-10CD-D157-61280A2FF34C}"/>
                  </a:ext>
                </a:extLst>
              </p:cNvPr>
              <p:cNvSpPr/>
              <p:nvPr/>
            </p:nvSpPr>
            <p:spPr>
              <a:xfrm>
                <a:off x="1720700" y="4805865"/>
                <a:ext cx="770562" cy="369332"/>
              </a:xfrm>
              <a:prstGeom prst="rect">
                <a:avLst/>
              </a:prstGeom>
              <a:ln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>
                    <a:solidFill>
                      <a:schemeClr val="tx1"/>
                    </a:solidFill>
                  </a:rPr>
                  <a:t>Scale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7C16BEB-1030-CF2D-8AE0-E9F21FACB3C6}"/>
                </a:ext>
              </a:extLst>
            </p:cNvPr>
            <p:cNvSpPr txBox="1"/>
            <p:nvPr/>
          </p:nvSpPr>
          <p:spPr>
            <a:xfrm>
              <a:off x="750491" y="4973811"/>
              <a:ext cx="9409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Low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9C47C31-4321-689C-73EE-0902969A535F}"/>
                </a:ext>
              </a:extLst>
            </p:cNvPr>
            <p:cNvSpPr txBox="1"/>
            <p:nvPr/>
          </p:nvSpPr>
          <p:spPr>
            <a:xfrm>
              <a:off x="3126313" y="5002893"/>
              <a:ext cx="9409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High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9E03BA9-7952-3C8D-BDCA-E1647FD2611E}"/>
                </a:ext>
              </a:extLst>
            </p:cNvPr>
            <p:cNvCxnSpPr>
              <a:endCxn id="65" idx="1"/>
            </p:cNvCxnSpPr>
            <p:nvPr/>
          </p:nvCxnSpPr>
          <p:spPr>
            <a:xfrm>
              <a:off x="1158376" y="5132327"/>
              <a:ext cx="1967937" cy="906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A233CAF-B452-8817-E5CB-E98A9D03EFA7}"/>
              </a:ext>
            </a:extLst>
          </p:cNvPr>
          <p:cNvGrpSpPr/>
          <p:nvPr/>
        </p:nvGrpSpPr>
        <p:grpSpPr>
          <a:xfrm>
            <a:off x="530023" y="5791777"/>
            <a:ext cx="10148411" cy="517119"/>
            <a:chOff x="1158376" y="5782380"/>
            <a:chExt cx="10148411" cy="5171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AC449F-B373-11C6-D043-9B738A965980}"/>
                </a:ext>
              </a:extLst>
            </p:cNvPr>
            <p:cNvGrpSpPr/>
            <p:nvPr/>
          </p:nvGrpSpPr>
          <p:grpSpPr>
            <a:xfrm>
              <a:off x="1158376" y="6068485"/>
              <a:ext cx="10148411" cy="231014"/>
              <a:chOff x="1048771" y="74876"/>
              <a:chExt cx="10148411" cy="468677"/>
            </a:xfrm>
            <a:solidFill>
              <a:srgbClr val="FFEBFF"/>
            </a:solidFill>
          </p:grpSpPr>
          <p:sp>
            <p:nvSpPr>
              <p:cNvPr id="10" name="Arrow: Pentagon 9">
                <a:extLst>
                  <a:ext uri="{FF2B5EF4-FFF2-40B4-BE49-F238E27FC236}">
                    <a16:creationId xmlns:a16="http://schemas.microsoft.com/office/drawing/2014/main" id="{7FA899DD-0034-E976-FEE4-56B203C7BBAF}"/>
                  </a:ext>
                </a:extLst>
              </p:cNvPr>
              <p:cNvSpPr/>
              <p:nvPr/>
            </p:nvSpPr>
            <p:spPr>
              <a:xfrm>
                <a:off x="1048771" y="74881"/>
                <a:ext cx="2029681" cy="468672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>
                    <a:solidFill>
                      <a:srgbClr val="990099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Market potential</a:t>
                </a:r>
              </a:p>
            </p:txBody>
          </p:sp>
          <p:sp>
            <p:nvSpPr>
              <p:cNvPr id="13" name="Arrow: Pentagon 12">
                <a:extLst>
                  <a:ext uri="{FF2B5EF4-FFF2-40B4-BE49-F238E27FC236}">
                    <a16:creationId xmlns:a16="http://schemas.microsoft.com/office/drawing/2014/main" id="{E06105CB-BA87-3E17-F6DD-0D6A7CD33B8A}"/>
                  </a:ext>
                </a:extLst>
              </p:cNvPr>
              <p:cNvSpPr/>
              <p:nvPr/>
            </p:nvSpPr>
            <p:spPr>
              <a:xfrm>
                <a:off x="7137818" y="74876"/>
                <a:ext cx="2029681" cy="468672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>
                    <a:solidFill>
                      <a:srgbClr val="990099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Marketing Strategy</a:t>
                </a:r>
              </a:p>
            </p:txBody>
          </p:sp>
          <p:sp>
            <p:nvSpPr>
              <p:cNvPr id="14" name="Arrow: Pentagon 13">
                <a:extLst>
                  <a:ext uri="{FF2B5EF4-FFF2-40B4-BE49-F238E27FC236}">
                    <a16:creationId xmlns:a16="http://schemas.microsoft.com/office/drawing/2014/main" id="{C9B5711B-0061-3F0C-32C8-529C62B99E17}"/>
                  </a:ext>
                </a:extLst>
              </p:cNvPr>
              <p:cNvSpPr/>
              <p:nvPr/>
            </p:nvSpPr>
            <p:spPr>
              <a:xfrm>
                <a:off x="9167501" y="74876"/>
                <a:ext cx="2029681" cy="468672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200">
                    <a:solidFill>
                      <a:srgbClr val="990099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KPI</a:t>
                </a:r>
              </a:p>
            </p:txBody>
          </p:sp>
        </p:grp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7A0C841E-E56A-6060-1C4C-D3CAB4D8B8A3}"/>
                </a:ext>
              </a:extLst>
            </p:cNvPr>
            <p:cNvSpPr/>
            <p:nvPr/>
          </p:nvSpPr>
          <p:spPr>
            <a:xfrm>
              <a:off x="3188057" y="6068487"/>
              <a:ext cx="2029681" cy="231012"/>
            </a:xfrm>
            <a:prstGeom prst="homePlate">
              <a:avLst/>
            </a:prstGeom>
            <a:solidFill>
              <a:srgbClr val="FFE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Competitive Landscape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F9F64BF0-C9BC-4BF6-99A6-77D23A79277C}"/>
                </a:ext>
              </a:extLst>
            </p:cNvPr>
            <p:cNvSpPr/>
            <p:nvPr/>
          </p:nvSpPr>
          <p:spPr>
            <a:xfrm>
              <a:off x="5217741" y="6068485"/>
              <a:ext cx="2029681" cy="231012"/>
            </a:xfrm>
            <a:prstGeom prst="homePlate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Channel strategy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56E8C89-060E-7193-E959-E5890C1CD2D6}"/>
                </a:ext>
              </a:extLst>
            </p:cNvPr>
            <p:cNvSpPr txBox="1"/>
            <p:nvPr/>
          </p:nvSpPr>
          <p:spPr>
            <a:xfrm>
              <a:off x="2657557" y="5782380"/>
              <a:ext cx="1010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>
                  <a:solidFill>
                    <a:schemeClr val="bg1"/>
                  </a:solidFill>
                </a:rPr>
                <a:t>ABC Co.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120BA74-C07B-BCAF-2524-161B4794DC2F}"/>
              </a:ext>
            </a:extLst>
          </p:cNvPr>
          <p:cNvSpPr txBox="1"/>
          <p:nvPr/>
        </p:nvSpPr>
        <p:spPr>
          <a:xfrm>
            <a:off x="2420237" y="909277"/>
            <a:ext cx="1500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chemeClr val="bg1"/>
                </a:solidFill>
              </a:rPr>
              <a:t>Online sales – 20%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F26CEFA-8A0E-2463-49C5-7416B76BA035}"/>
              </a:ext>
            </a:extLst>
          </p:cNvPr>
          <p:cNvGrpSpPr/>
          <p:nvPr/>
        </p:nvGrpSpPr>
        <p:grpSpPr>
          <a:xfrm>
            <a:off x="439851" y="845301"/>
            <a:ext cx="2216028" cy="2965151"/>
            <a:chOff x="580661" y="904126"/>
            <a:chExt cx="2280078" cy="2712573"/>
          </a:xfrm>
        </p:grpSpPr>
        <p:graphicFrame>
          <p:nvGraphicFramePr>
            <p:cNvPr id="24" name="Chart 23">
              <a:extLst>
                <a:ext uri="{FF2B5EF4-FFF2-40B4-BE49-F238E27FC236}">
                  <a16:creationId xmlns:a16="http://schemas.microsoft.com/office/drawing/2014/main" id="{CA23705A-E1E5-5AA3-087B-1649D8C965EC}"/>
                </a:ext>
              </a:extLst>
            </p:cNvPr>
            <p:cNvGraphicFramePr/>
            <p:nvPr/>
          </p:nvGraphicFramePr>
          <p:xfrm>
            <a:off x="580661" y="1089257"/>
            <a:ext cx="2280078" cy="25274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8F2A253-99C0-0892-EE58-840385F31DC7}"/>
                </a:ext>
              </a:extLst>
            </p:cNvPr>
            <p:cNvGrpSpPr/>
            <p:nvPr/>
          </p:nvGrpSpPr>
          <p:grpSpPr>
            <a:xfrm>
              <a:off x="863029" y="904126"/>
              <a:ext cx="1620143" cy="1720897"/>
              <a:chOff x="863029" y="904126"/>
              <a:chExt cx="1620143" cy="172089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8FCAD97-0CE5-C391-E6B6-0D3625FF6773}"/>
                  </a:ext>
                </a:extLst>
              </p:cNvPr>
              <p:cNvCxnSpPr/>
              <p:nvPr/>
            </p:nvCxnSpPr>
            <p:spPr>
              <a:xfrm>
                <a:off x="863029" y="904126"/>
                <a:ext cx="120207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A7A345E-8A0F-B8F9-3316-99E97F6C55C5}"/>
                  </a:ext>
                </a:extLst>
              </p:cNvPr>
              <p:cNvSpPr txBox="1"/>
              <p:nvPr/>
            </p:nvSpPr>
            <p:spPr>
              <a:xfrm>
                <a:off x="983144" y="943093"/>
                <a:ext cx="1500028" cy="253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chemeClr val="bg1"/>
                    </a:solidFill>
                  </a:rPr>
                  <a:t>Online sales – 3%</a:t>
                </a:r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AA79717-7BF6-E575-7345-F06BE2CE5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441" y="1959027"/>
                <a:ext cx="1149664" cy="0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6452927-1385-CA4B-EA43-D3E7BFED77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5441" y="1695324"/>
                <a:ext cx="1149664" cy="7896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3552C32-229A-4A9F-7907-D3011AA86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5441" y="1499667"/>
                <a:ext cx="1153826" cy="9833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A924B41-36DA-5FFD-FF74-D44D30BBF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149" y="1328102"/>
                <a:ext cx="1182119" cy="23024"/>
              </a:xfrm>
              <a:prstGeom prst="line">
                <a:avLst/>
              </a:prstGeom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62B21841-9B0D-3870-46FF-277B4246B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0355" y="1765133"/>
                <a:ext cx="188021" cy="145814"/>
              </a:xfrm>
              <a:prstGeom prst="rect">
                <a:avLst/>
              </a:prstGeom>
            </p:spPr>
          </p:pic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BE63D4CA-01D8-CCA2-86A0-05C09A42CB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6274" y="1527078"/>
                <a:ext cx="182101" cy="174083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07690CDA-34BE-30FB-E90A-097EA0FA76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3734" y="2437472"/>
                <a:ext cx="276665" cy="187551"/>
              </a:xfrm>
              <a:prstGeom prst="rect">
                <a:avLst/>
              </a:prstGeom>
            </p:spPr>
          </p:pic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674C2B4-E453-5E18-C7BA-F6E536A70364}"/>
              </a:ext>
            </a:extLst>
          </p:cNvPr>
          <p:cNvSpPr txBox="1"/>
          <p:nvPr/>
        </p:nvSpPr>
        <p:spPr>
          <a:xfrm>
            <a:off x="690872" y="1279162"/>
            <a:ext cx="145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chemeClr val="bg1"/>
                </a:solidFill>
              </a:rPr>
              <a:t>D2C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D10A45A-50CD-70A1-796C-F85F2905A236}"/>
              </a:ext>
            </a:extLst>
          </p:cNvPr>
          <p:cNvSpPr txBox="1"/>
          <p:nvPr/>
        </p:nvSpPr>
        <p:spPr>
          <a:xfrm>
            <a:off x="620544" y="1105127"/>
            <a:ext cx="145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Others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9B87478-0F52-BB2A-9E5C-FA4C5712510F}"/>
              </a:ext>
            </a:extLst>
          </p:cNvPr>
          <p:cNvCxnSpPr>
            <a:cxnSpLocks/>
          </p:cNvCxnSpPr>
          <p:nvPr/>
        </p:nvCxnSpPr>
        <p:spPr>
          <a:xfrm>
            <a:off x="766287" y="3437030"/>
            <a:ext cx="3132500" cy="26968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8081B80F-B524-2A6E-2994-5BA7202A7BC3}"/>
              </a:ext>
            </a:extLst>
          </p:cNvPr>
          <p:cNvSpPr/>
          <p:nvPr/>
        </p:nvSpPr>
        <p:spPr>
          <a:xfrm>
            <a:off x="2529671" y="1193986"/>
            <a:ext cx="1094604" cy="2270011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CEBAA2B-0FE7-D41E-D912-FC9AF904DD7E}"/>
              </a:ext>
            </a:extLst>
          </p:cNvPr>
          <p:cNvCxnSpPr>
            <a:cxnSpLocks/>
          </p:cNvCxnSpPr>
          <p:nvPr/>
        </p:nvCxnSpPr>
        <p:spPr>
          <a:xfrm flipV="1">
            <a:off x="4036696" y="560734"/>
            <a:ext cx="0" cy="5346395"/>
          </a:xfrm>
          <a:prstGeom prst="line">
            <a:avLst/>
          </a:prstGeom>
          <a:ln>
            <a:solidFill>
              <a:schemeClr val="tx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C4C807E-9F36-289C-1225-6C7762AE3528}"/>
              </a:ext>
            </a:extLst>
          </p:cNvPr>
          <p:cNvSpPr/>
          <p:nvPr/>
        </p:nvSpPr>
        <p:spPr>
          <a:xfrm rot="16200000">
            <a:off x="-296115" y="4956866"/>
            <a:ext cx="1975492" cy="189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bg2"/>
                </a:solidFill>
              </a:rPr>
              <a:t>After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9CA1371-4A26-2AC0-25AD-680B80EF6329}"/>
              </a:ext>
            </a:extLst>
          </p:cNvPr>
          <p:cNvSpPr/>
          <p:nvPr/>
        </p:nvSpPr>
        <p:spPr>
          <a:xfrm rot="16200000">
            <a:off x="338566" y="3634947"/>
            <a:ext cx="737084" cy="2207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bg2"/>
                </a:solidFill>
              </a:rPr>
              <a:t>Before</a:t>
            </a:r>
          </a:p>
        </p:txBody>
      </p:sp>
      <p:sp>
        <p:nvSpPr>
          <p:cNvPr id="108" name="Arrow: Down 107">
            <a:extLst>
              <a:ext uri="{FF2B5EF4-FFF2-40B4-BE49-F238E27FC236}">
                <a16:creationId xmlns:a16="http://schemas.microsoft.com/office/drawing/2014/main" id="{262324DB-3FCE-D6B6-6906-D7C8D5C4F479}"/>
              </a:ext>
            </a:extLst>
          </p:cNvPr>
          <p:cNvSpPr/>
          <p:nvPr/>
        </p:nvSpPr>
        <p:spPr>
          <a:xfrm rot="16200000">
            <a:off x="2102375" y="703521"/>
            <a:ext cx="276999" cy="165347"/>
          </a:xfrm>
          <a:prstGeom prst="downArrow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Arrow: Pentagon 113">
            <a:extLst>
              <a:ext uri="{FF2B5EF4-FFF2-40B4-BE49-F238E27FC236}">
                <a16:creationId xmlns:a16="http://schemas.microsoft.com/office/drawing/2014/main" id="{98782953-F734-2BC8-6B10-73775482121B}"/>
              </a:ext>
            </a:extLst>
          </p:cNvPr>
          <p:cNvSpPr/>
          <p:nvPr/>
        </p:nvSpPr>
        <p:spPr>
          <a:xfrm>
            <a:off x="10649843" y="6082991"/>
            <a:ext cx="1209129" cy="231012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19DE245-2DCE-2265-DBEB-13DFE8CD2DFA}"/>
              </a:ext>
            </a:extLst>
          </p:cNvPr>
          <p:cNvSpPr txBox="1"/>
          <p:nvPr/>
        </p:nvSpPr>
        <p:spPr>
          <a:xfrm>
            <a:off x="6635347" y="533454"/>
            <a:ext cx="122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>
                <a:solidFill>
                  <a:schemeClr val="bg1"/>
                </a:solidFill>
              </a:rPr>
              <a:t>Online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4DDD3B2-D3CF-5320-FE18-5C6B20241572}"/>
              </a:ext>
            </a:extLst>
          </p:cNvPr>
          <p:cNvSpPr txBox="1"/>
          <p:nvPr/>
        </p:nvSpPr>
        <p:spPr>
          <a:xfrm>
            <a:off x="9627492" y="559571"/>
            <a:ext cx="122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>
                <a:solidFill>
                  <a:schemeClr val="bg1"/>
                </a:solidFill>
              </a:rPr>
              <a:t>Offline</a:t>
            </a:r>
          </a:p>
        </p:txBody>
      </p:sp>
      <p:pic>
        <p:nvPicPr>
          <p:cNvPr id="132" name="Picture 131" descr="A picture containing icon&#10;&#10;Description automatically generated">
            <a:extLst>
              <a:ext uri="{FF2B5EF4-FFF2-40B4-BE49-F238E27FC236}">
                <a16:creationId xmlns:a16="http://schemas.microsoft.com/office/drawing/2014/main" id="{2E56E0D2-0310-05A8-5E72-68E25AD5352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6293" t="-9255" r="1198" b="-1591"/>
          <a:stretch/>
        </p:blipFill>
        <p:spPr>
          <a:xfrm>
            <a:off x="6398400" y="2065426"/>
            <a:ext cx="251823" cy="232051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F5736FC0-74CB-2897-CB4D-4C8D39D73A81}"/>
              </a:ext>
            </a:extLst>
          </p:cNvPr>
          <p:cNvSpPr txBox="1"/>
          <p:nvPr/>
        </p:nvSpPr>
        <p:spPr>
          <a:xfrm>
            <a:off x="5063887" y="2054265"/>
            <a:ext cx="90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chemeClr val="bg1"/>
                </a:solidFill>
              </a:rPr>
              <a:t>SEO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DADA565-7FD3-29A4-951C-BB62E701E7C6}"/>
              </a:ext>
            </a:extLst>
          </p:cNvPr>
          <p:cNvSpPr txBox="1"/>
          <p:nvPr/>
        </p:nvSpPr>
        <p:spPr>
          <a:xfrm>
            <a:off x="5063887" y="2265322"/>
            <a:ext cx="1689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rgbClr val="CC00CC"/>
                </a:solidFill>
              </a:rPr>
              <a:t>40%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A8A4019-5774-FE7F-BA81-D90130C13375}"/>
              </a:ext>
            </a:extLst>
          </p:cNvPr>
          <p:cNvSpPr txBox="1"/>
          <p:nvPr/>
        </p:nvSpPr>
        <p:spPr>
          <a:xfrm>
            <a:off x="4065556" y="1834097"/>
            <a:ext cx="3400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rgbClr val="9900CC"/>
                </a:solidFill>
              </a:rPr>
              <a:t>Customer acquisition to D2C – Abc.com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816037B-2009-5364-453A-22AFFC38D26F}"/>
              </a:ext>
            </a:extLst>
          </p:cNvPr>
          <p:cNvSpPr txBox="1"/>
          <p:nvPr/>
        </p:nvSpPr>
        <p:spPr>
          <a:xfrm>
            <a:off x="4055561" y="2244423"/>
            <a:ext cx="1013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>
                <a:solidFill>
                  <a:schemeClr val="bg1"/>
                </a:solidFill>
              </a:rPr>
              <a:t>Traffic driven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0389998-938D-ECD3-9A61-C5C338B3F530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5063887" y="2111096"/>
            <a:ext cx="0" cy="36000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ED6DF54-968A-0856-0B31-3340D5AE4B21}"/>
              </a:ext>
            </a:extLst>
          </p:cNvPr>
          <p:cNvSpPr txBox="1"/>
          <p:nvPr/>
        </p:nvSpPr>
        <p:spPr>
          <a:xfrm>
            <a:off x="5708242" y="2274070"/>
            <a:ext cx="385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rgbClr val="CC00CC"/>
                </a:solidFill>
              </a:rPr>
              <a:t>5%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C0AB4C1-AC5F-EBF9-56EB-ADFC8F0B86B6}"/>
              </a:ext>
            </a:extLst>
          </p:cNvPr>
          <p:cNvSpPr txBox="1"/>
          <p:nvPr/>
        </p:nvSpPr>
        <p:spPr>
          <a:xfrm>
            <a:off x="4088184" y="2039210"/>
            <a:ext cx="1013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>
                <a:solidFill>
                  <a:schemeClr val="bg1"/>
                </a:solidFill>
              </a:rPr>
              <a:t>Mode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9E6BC81-CB95-B702-27EE-D051625B92C1}"/>
              </a:ext>
            </a:extLst>
          </p:cNvPr>
          <p:cNvGrpSpPr/>
          <p:nvPr/>
        </p:nvGrpSpPr>
        <p:grpSpPr>
          <a:xfrm>
            <a:off x="6681201" y="2096312"/>
            <a:ext cx="1057285" cy="470417"/>
            <a:chOff x="6778782" y="2118750"/>
            <a:chExt cx="961112" cy="453245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1D5E08C8-7CFB-F610-182F-BBEF07ABD28B}"/>
                </a:ext>
              </a:extLst>
            </p:cNvPr>
            <p:cNvSpPr/>
            <p:nvPr/>
          </p:nvSpPr>
          <p:spPr>
            <a:xfrm>
              <a:off x="6839884" y="2150294"/>
              <a:ext cx="900010" cy="421701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>
                  <a:solidFill>
                    <a:schemeClr val="bg1"/>
                  </a:solidFill>
                </a:rPr>
                <a:t>Redirect from Insta to D2C</a:t>
              </a:r>
            </a:p>
          </p:txBody>
        </p:sp>
        <p:sp>
          <p:nvSpPr>
            <p:cNvPr id="149" name="Isosceles Triangle 148">
              <a:extLst>
                <a:ext uri="{FF2B5EF4-FFF2-40B4-BE49-F238E27FC236}">
                  <a16:creationId xmlns:a16="http://schemas.microsoft.com/office/drawing/2014/main" id="{23591A42-E5DA-A356-402F-2010F12D5D80}"/>
                </a:ext>
              </a:extLst>
            </p:cNvPr>
            <p:cNvSpPr/>
            <p:nvPr/>
          </p:nvSpPr>
          <p:spPr>
            <a:xfrm rot="18900000">
              <a:off x="6778782" y="2118750"/>
              <a:ext cx="159744" cy="10266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90836B5C-BF40-2582-5070-36EB1FFE58F3}"/>
              </a:ext>
            </a:extLst>
          </p:cNvPr>
          <p:cNvSpPr txBox="1"/>
          <p:nvPr/>
        </p:nvSpPr>
        <p:spPr>
          <a:xfrm>
            <a:off x="6331648" y="2272596"/>
            <a:ext cx="385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rgbClr val="CC00CC"/>
                </a:solidFill>
              </a:rPr>
              <a:t>5% </a:t>
            </a: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AA630F5-7885-0BBC-2377-F07918506496}"/>
              </a:ext>
            </a:extLst>
          </p:cNvPr>
          <p:cNvGrpSpPr/>
          <p:nvPr/>
        </p:nvGrpSpPr>
        <p:grpSpPr>
          <a:xfrm>
            <a:off x="4132874" y="580667"/>
            <a:ext cx="7641896" cy="687248"/>
            <a:chOff x="4132873" y="513102"/>
            <a:chExt cx="7641896" cy="68724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73D890C-E75F-463C-2C2D-02E3AF0A5991}"/>
                </a:ext>
              </a:extLst>
            </p:cNvPr>
            <p:cNvSpPr txBox="1"/>
            <p:nvPr/>
          </p:nvSpPr>
          <p:spPr>
            <a:xfrm>
              <a:off x="4132873" y="513102"/>
              <a:ext cx="27685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u="sng">
                  <a:solidFill>
                    <a:schemeClr val="accent1"/>
                  </a:solidFill>
                </a:rPr>
                <a:t>Omni-channel strategy: </a:t>
              </a:r>
            </a:p>
            <a:p>
              <a:r>
                <a:rPr lang="en-IN" sz="1600" b="1" u="sng">
                  <a:solidFill>
                    <a:schemeClr val="accent1"/>
                  </a:solidFill>
                </a:rPr>
                <a:t>New mix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F7B5F572-0619-53FB-5A45-9A187AAADD8F}"/>
                </a:ext>
              </a:extLst>
            </p:cNvPr>
            <p:cNvGrpSpPr/>
            <p:nvPr/>
          </p:nvGrpSpPr>
          <p:grpSpPr>
            <a:xfrm>
              <a:off x="6320383" y="814335"/>
              <a:ext cx="5454386" cy="215754"/>
              <a:chOff x="6248464" y="693910"/>
              <a:chExt cx="5454386" cy="21575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A8204E-F8E5-2843-9875-1AC48A351F41}"/>
                  </a:ext>
                </a:extLst>
              </p:cNvPr>
              <p:cNvSpPr/>
              <p:nvPr/>
            </p:nvSpPr>
            <p:spPr>
              <a:xfrm>
                <a:off x="6248464" y="700726"/>
                <a:ext cx="620658" cy="208938"/>
              </a:xfrm>
              <a:prstGeom prst="rect">
                <a:avLst/>
              </a:prstGeom>
              <a:solidFill>
                <a:srgbClr val="9900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/>
                  <a:t>3%</a:t>
                </a: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51C4685F-0987-9AF5-2CC6-3C0B2C07F85F}"/>
                  </a:ext>
                </a:extLst>
              </p:cNvPr>
              <p:cNvSpPr/>
              <p:nvPr/>
            </p:nvSpPr>
            <p:spPr>
              <a:xfrm>
                <a:off x="6896240" y="693910"/>
                <a:ext cx="1122833" cy="20893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/>
                  <a:t>17%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1E79AFDD-4B53-CEC8-010B-546ADE6BAA9A}"/>
                  </a:ext>
                </a:extLst>
              </p:cNvPr>
              <p:cNvSpPr/>
              <p:nvPr/>
            </p:nvSpPr>
            <p:spPr>
              <a:xfrm>
                <a:off x="8046191" y="694437"/>
                <a:ext cx="3656659" cy="19865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/>
                  <a:t>80%</a:t>
                </a:r>
              </a:p>
            </p:txBody>
          </p:sp>
        </p:grp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B4544B33-DE90-E423-F7FA-DF5E8AA5F983}"/>
                </a:ext>
              </a:extLst>
            </p:cNvPr>
            <p:cNvCxnSpPr>
              <a:cxnSpLocks/>
            </p:cNvCxnSpPr>
            <p:nvPr/>
          </p:nvCxnSpPr>
          <p:spPr>
            <a:xfrm>
              <a:off x="4739931" y="1186588"/>
              <a:ext cx="6621041" cy="1376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54CE08A-2501-307B-77E0-C3406E518622}"/>
              </a:ext>
            </a:extLst>
          </p:cNvPr>
          <p:cNvCxnSpPr>
            <a:cxnSpLocks/>
          </p:cNvCxnSpPr>
          <p:nvPr/>
        </p:nvCxnSpPr>
        <p:spPr>
          <a:xfrm flipV="1">
            <a:off x="5047455" y="3045298"/>
            <a:ext cx="2886597" cy="74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16DE9AE-01C6-159F-ACF3-E154FC020295}"/>
              </a:ext>
            </a:extLst>
          </p:cNvPr>
          <p:cNvCxnSpPr>
            <a:cxnSpLocks/>
          </p:cNvCxnSpPr>
          <p:nvPr/>
        </p:nvCxnSpPr>
        <p:spPr>
          <a:xfrm flipV="1">
            <a:off x="4977782" y="4555689"/>
            <a:ext cx="2941719" cy="833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156">
            <a:extLst>
              <a:ext uri="{FF2B5EF4-FFF2-40B4-BE49-F238E27FC236}">
                <a16:creationId xmlns:a16="http://schemas.microsoft.com/office/drawing/2014/main" id="{1C884FFC-FD88-46EB-5CF4-618BE1BF2A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7478" y="2111488"/>
            <a:ext cx="781749" cy="182747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7C23E56F-305E-B87D-BA1F-4B42DA39D136}"/>
              </a:ext>
            </a:extLst>
          </p:cNvPr>
          <p:cNvSpPr txBox="1"/>
          <p:nvPr/>
        </p:nvSpPr>
        <p:spPr>
          <a:xfrm>
            <a:off x="4902079" y="2572408"/>
            <a:ext cx="3326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Discounts on 1</a:t>
            </a:r>
            <a:r>
              <a:rPr lang="en-IN" sz="1200" baseline="30000">
                <a:solidFill>
                  <a:schemeClr val="bg1"/>
                </a:solidFill>
              </a:rPr>
              <a:t>st</a:t>
            </a:r>
            <a:r>
              <a:rPr lang="en-IN" sz="1200">
                <a:solidFill>
                  <a:schemeClr val="bg1"/>
                </a:solidFill>
              </a:rPr>
              <a:t> purchase/ bundle discounts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Virtual stores to enhance experience</a:t>
            </a:r>
          </a:p>
        </p:txBody>
      </p:sp>
      <p:pic>
        <p:nvPicPr>
          <p:cNvPr id="159" name="Graphic 158" descr="Smart Phone">
            <a:extLst>
              <a:ext uri="{FF2B5EF4-FFF2-40B4-BE49-F238E27FC236}">
                <a16:creationId xmlns:a16="http://schemas.microsoft.com/office/drawing/2014/main" id="{9A4E5235-AB78-1304-807D-F6038DF677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2474" y="1390571"/>
            <a:ext cx="259661" cy="259661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4040875E-E610-9999-ABF5-0B9C63829C55}"/>
              </a:ext>
            </a:extLst>
          </p:cNvPr>
          <p:cNvSpPr txBox="1"/>
          <p:nvPr/>
        </p:nvSpPr>
        <p:spPr>
          <a:xfrm>
            <a:off x="4117287" y="1605831"/>
            <a:ext cx="734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App</a:t>
            </a:r>
          </a:p>
        </p:txBody>
      </p:sp>
      <p:pic>
        <p:nvPicPr>
          <p:cNvPr id="161" name="Graphic 160" descr="Wi Fi">
            <a:extLst>
              <a:ext uri="{FF2B5EF4-FFF2-40B4-BE49-F238E27FC236}">
                <a16:creationId xmlns:a16="http://schemas.microsoft.com/office/drawing/2014/main" id="{80A39182-892D-AEF3-1EFD-8CFE96A0D4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22858" y="1328112"/>
            <a:ext cx="385328" cy="385328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C77B19D7-3AD8-1247-EC48-3E688059C233}"/>
              </a:ext>
            </a:extLst>
          </p:cNvPr>
          <p:cNvSpPr txBox="1"/>
          <p:nvPr/>
        </p:nvSpPr>
        <p:spPr>
          <a:xfrm>
            <a:off x="4479751" y="1620140"/>
            <a:ext cx="734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Website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5795A0B-E6C5-6ABF-FC13-0EAF03A62057}"/>
              </a:ext>
            </a:extLst>
          </p:cNvPr>
          <p:cNvSpPr/>
          <p:nvPr/>
        </p:nvSpPr>
        <p:spPr>
          <a:xfrm>
            <a:off x="4124549" y="1338035"/>
            <a:ext cx="961262" cy="5227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AA2EBF6-EC75-556F-150F-F71681DB56EA}"/>
              </a:ext>
            </a:extLst>
          </p:cNvPr>
          <p:cNvGrpSpPr/>
          <p:nvPr/>
        </p:nvGrpSpPr>
        <p:grpSpPr>
          <a:xfrm>
            <a:off x="4506835" y="1483835"/>
            <a:ext cx="130623" cy="130623"/>
            <a:chOff x="8222040" y="2004604"/>
            <a:chExt cx="130623" cy="130623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46D6EC15-7D66-F829-1EDB-E8C56B1132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87352" y="1999518"/>
              <a:ext cx="0" cy="1306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CA46478-4EC2-77A9-EBD6-5839F6A5854A}"/>
                </a:ext>
              </a:extLst>
            </p:cNvPr>
            <p:cNvCxnSpPr>
              <a:cxnSpLocks/>
            </p:cNvCxnSpPr>
            <p:nvPr/>
          </p:nvCxnSpPr>
          <p:spPr>
            <a:xfrm>
              <a:off x="8283119" y="2004604"/>
              <a:ext cx="0" cy="1306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4" name="Graphic 173" descr="Checkmark">
            <a:extLst>
              <a:ext uri="{FF2B5EF4-FFF2-40B4-BE49-F238E27FC236}">
                <a16:creationId xmlns:a16="http://schemas.microsoft.com/office/drawing/2014/main" id="{4AD96C73-CDF1-F233-2654-A433E94EB8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6056" y="1494113"/>
            <a:ext cx="151596" cy="151596"/>
          </a:xfrm>
          <a:prstGeom prst="rect">
            <a:avLst/>
          </a:prstGeom>
        </p:spPr>
      </p:pic>
      <p:pic>
        <p:nvPicPr>
          <p:cNvPr id="177" name="Graphic 176" descr="Single gear">
            <a:extLst>
              <a:ext uri="{FF2B5EF4-FFF2-40B4-BE49-F238E27FC236}">
                <a16:creationId xmlns:a16="http://schemas.microsoft.com/office/drawing/2014/main" id="{7A74B94F-A448-48F1-237A-8DF908CAB0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09668" y="1264285"/>
            <a:ext cx="244486" cy="244486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E8011075-4FC8-82B7-ED5C-53A3067A20DE}"/>
              </a:ext>
            </a:extLst>
          </p:cNvPr>
          <p:cNvSpPr txBox="1"/>
          <p:nvPr/>
        </p:nvSpPr>
        <p:spPr>
          <a:xfrm>
            <a:off x="4314891" y="4577645"/>
            <a:ext cx="3958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Focus on Branded &amp; </a:t>
            </a:r>
            <a:r>
              <a:rPr lang="en-IN" sz="1200">
                <a:solidFill>
                  <a:srgbClr val="9900CC"/>
                </a:solidFill>
              </a:rPr>
              <a:t>Multistore (1) in Metro cities (2) Prime locations in T2 cities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bg1"/>
                </a:solidFill>
              </a:rPr>
              <a:t>Premium stores in T3 &amp; below may be uneconomical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8B7C44-B482-1A04-FD81-4F65E5090E38}"/>
              </a:ext>
            </a:extLst>
          </p:cNvPr>
          <p:cNvGrpSpPr/>
          <p:nvPr/>
        </p:nvGrpSpPr>
        <p:grpSpPr>
          <a:xfrm>
            <a:off x="4216106" y="5120046"/>
            <a:ext cx="3313470" cy="859626"/>
            <a:chOff x="8277992" y="3826167"/>
            <a:chExt cx="3313470" cy="859626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060A894-6426-BE17-20FB-B34F61DD104B}"/>
                </a:ext>
              </a:extLst>
            </p:cNvPr>
            <p:cNvSpPr txBox="1"/>
            <p:nvPr/>
          </p:nvSpPr>
          <p:spPr>
            <a:xfrm>
              <a:off x="8277992" y="3826167"/>
              <a:ext cx="242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>
                  <a:solidFill>
                    <a:srgbClr val="AF38AF"/>
                  </a:solidFill>
                </a:rPr>
                <a:t>Offline partners for premium band</a:t>
              </a:r>
            </a:p>
          </p:txBody>
        </p:sp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26DEF3E3-5A9B-89C5-D202-CF410BD76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655833" y="4072689"/>
              <a:ext cx="1258101" cy="230393"/>
            </a:xfrm>
            <a:prstGeom prst="rect">
              <a:avLst/>
            </a:prstGeom>
          </p:spPr>
        </p:pic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AF62BAD9-255E-0ED4-260C-FCCB25A1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985269" y="4088191"/>
              <a:ext cx="899729" cy="214891"/>
            </a:xfrm>
            <a:prstGeom prst="rect">
              <a:avLst/>
            </a:prstGeom>
          </p:spPr>
        </p:pic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2493A0F2-2858-8CB7-5B6B-E9E14910D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43266" y="4351680"/>
              <a:ext cx="1086615" cy="332854"/>
            </a:xfrm>
            <a:prstGeom prst="rect">
              <a:avLst/>
            </a:prstGeom>
          </p:spPr>
        </p:pic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71C70D8A-7163-1360-E236-28148DF48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796507" y="4352939"/>
              <a:ext cx="678998" cy="332854"/>
            </a:xfrm>
            <a:prstGeom prst="rect">
              <a:avLst/>
            </a:prstGeom>
          </p:spPr>
        </p:pic>
        <p:pic>
          <p:nvPicPr>
            <p:cNvPr id="191" name="Picture 190">
              <a:extLst>
                <a:ext uri="{FF2B5EF4-FFF2-40B4-BE49-F238E27FC236}">
                  <a16:creationId xmlns:a16="http://schemas.microsoft.com/office/drawing/2014/main" id="{86E7DECC-D32F-E94D-79B4-9C36576C2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542131" y="4459381"/>
              <a:ext cx="1049331" cy="226412"/>
            </a:xfrm>
            <a:prstGeom prst="rect">
              <a:avLst/>
            </a:prstGeom>
          </p:spPr>
        </p:pic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35BBF181-2EE8-167C-506D-F7DB47C34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884998" y="4008920"/>
              <a:ext cx="680909" cy="445003"/>
            </a:xfrm>
            <a:prstGeom prst="rect">
              <a:avLst/>
            </a:prstGeom>
          </p:spPr>
        </p:pic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87338D7E-B023-0DB0-256A-0253301F2C8E}"/>
              </a:ext>
            </a:extLst>
          </p:cNvPr>
          <p:cNvSpPr txBox="1"/>
          <p:nvPr/>
        </p:nvSpPr>
        <p:spPr>
          <a:xfrm>
            <a:off x="4023027" y="3063583"/>
            <a:ext cx="3602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chemeClr val="bg1"/>
                </a:solidFill>
              </a:rPr>
              <a:t>Strategy  I </a:t>
            </a:r>
            <a:r>
              <a:rPr lang="en-IN" sz="1200">
                <a:solidFill>
                  <a:schemeClr val="bg1"/>
                </a:solidFill>
              </a:rPr>
              <a:t>-Focus on</a:t>
            </a:r>
          </a:p>
          <a:p>
            <a:endParaRPr lang="en-IN" sz="1200">
              <a:solidFill>
                <a:schemeClr val="bg1"/>
              </a:solidFill>
            </a:endParaRPr>
          </a:p>
          <a:p>
            <a:r>
              <a:rPr lang="en-IN" sz="1200" i="1">
                <a:solidFill>
                  <a:schemeClr val="bg1"/>
                </a:solidFill>
              </a:rPr>
              <a:t>Strategy II </a:t>
            </a:r>
            <a:r>
              <a:rPr lang="en-IN" sz="1200">
                <a:solidFill>
                  <a:schemeClr val="bg1"/>
                </a:solidFill>
              </a:rPr>
              <a:t>- Diverse marketplaces for brand visibility</a:t>
            </a:r>
          </a:p>
          <a:p>
            <a:endParaRPr lang="en-IN" sz="120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C99B2F-5360-76D2-FE46-FEAD212B0581}"/>
              </a:ext>
            </a:extLst>
          </p:cNvPr>
          <p:cNvCxnSpPr>
            <a:cxnSpLocks/>
          </p:cNvCxnSpPr>
          <p:nvPr/>
        </p:nvCxnSpPr>
        <p:spPr>
          <a:xfrm flipH="1" flipV="1">
            <a:off x="7919501" y="1274889"/>
            <a:ext cx="11749" cy="4764646"/>
          </a:xfrm>
          <a:prstGeom prst="line">
            <a:avLst/>
          </a:prstGeom>
          <a:ln>
            <a:solidFill>
              <a:schemeClr val="tx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E59A162-D69D-AED7-9023-F1EC90275390}"/>
              </a:ext>
            </a:extLst>
          </p:cNvPr>
          <p:cNvGrpSpPr/>
          <p:nvPr/>
        </p:nvGrpSpPr>
        <p:grpSpPr>
          <a:xfrm>
            <a:off x="8306078" y="1877645"/>
            <a:ext cx="2808879" cy="2306993"/>
            <a:chOff x="8320107" y="2155538"/>
            <a:chExt cx="2808879" cy="230699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2711FC6-119C-22C2-45AC-F7C6B5188B7D}"/>
                </a:ext>
              </a:extLst>
            </p:cNvPr>
            <p:cNvGrpSpPr/>
            <p:nvPr/>
          </p:nvGrpSpPr>
          <p:grpSpPr>
            <a:xfrm>
              <a:off x="8320107" y="2715696"/>
              <a:ext cx="839157" cy="748301"/>
              <a:chOff x="8253233" y="2581110"/>
              <a:chExt cx="839157" cy="74830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76397B6-CCC7-6AB6-3357-90F33DC7F9DA}"/>
                  </a:ext>
                </a:extLst>
              </p:cNvPr>
              <p:cNvSpPr/>
              <p:nvPr/>
            </p:nvSpPr>
            <p:spPr>
              <a:xfrm>
                <a:off x="8253233" y="2581110"/>
                <a:ext cx="839157" cy="748301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2399937-2490-66F2-7EBA-00CB1DD78087}"/>
                  </a:ext>
                </a:extLst>
              </p:cNvPr>
              <p:cNvGrpSpPr/>
              <p:nvPr/>
            </p:nvGrpSpPr>
            <p:grpSpPr>
              <a:xfrm>
                <a:off x="8303992" y="2629591"/>
                <a:ext cx="730421" cy="651338"/>
                <a:chOff x="8303992" y="2629591"/>
                <a:chExt cx="730421" cy="651338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D9E71708-F091-64C9-B2FD-675F449E2180}"/>
                    </a:ext>
                  </a:extLst>
                </p:cNvPr>
                <p:cNvSpPr/>
                <p:nvPr/>
              </p:nvSpPr>
              <p:spPr>
                <a:xfrm>
                  <a:off x="8303992" y="2629591"/>
                  <a:ext cx="730421" cy="651338"/>
                </a:xfrm>
                <a:prstGeom prst="ellipse">
                  <a:avLst/>
                </a:prstGeom>
                <a:solidFill>
                  <a:schemeClr val="tx1">
                    <a:lumMod val="9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445A7B04-7735-85E0-7D81-3AE6F9EB99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1667" y="2833576"/>
                  <a:ext cx="634207" cy="21965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8925CBE-DC44-D647-27D6-AF36F742DD40}"/>
                </a:ext>
              </a:extLst>
            </p:cNvPr>
            <p:cNvGrpSpPr/>
            <p:nvPr/>
          </p:nvGrpSpPr>
          <p:grpSpPr>
            <a:xfrm>
              <a:off x="9288106" y="2155538"/>
              <a:ext cx="839157" cy="748301"/>
              <a:chOff x="8253233" y="2581110"/>
              <a:chExt cx="839157" cy="748301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C015B0F-C2F7-DF2C-5F1E-C35770633263}"/>
                  </a:ext>
                </a:extLst>
              </p:cNvPr>
              <p:cNvSpPr/>
              <p:nvPr/>
            </p:nvSpPr>
            <p:spPr>
              <a:xfrm>
                <a:off x="8253233" y="2581110"/>
                <a:ext cx="839157" cy="748301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7A72893F-F387-DB17-76EF-4915064EBA2C}"/>
                  </a:ext>
                </a:extLst>
              </p:cNvPr>
              <p:cNvSpPr/>
              <p:nvPr/>
            </p:nvSpPr>
            <p:spPr>
              <a:xfrm>
                <a:off x="8303992" y="2629591"/>
                <a:ext cx="730421" cy="65133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CB09AD8-DDA7-5711-E331-31A11469842D}"/>
                </a:ext>
              </a:extLst>
            </p:cNvPr>
            <p:cNvGrpSpPr/>
            <p:nvPr/>
          </p:nvGrpSpPr>
          <p:grpSpPr>
            <a:xfrm>
              <a:off x="10289829" y="2746577"/>
              <a:ext cx="839157" cy="748301"/>
              <a:chOff x="8253233" y="2581110"/>
              <a:chExt cx="839157" cy="748301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BEC950B-F425-55D1-0172-729433D6B262}"/>
                  </a:ext>
                </a:extLst>
              </p:cNvPr>
              <p:cNvSpPr/>
              <p:nvPr/>
            </p:nvSpPr>
            <p:spPr>
              <a:xfrm>
                <a:off x="8253233" y="2581110"/>
                <a:ext cx="839157" cy="748301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463446F-13CC-D038-72D8-E2FBB68E81BD}"/>
                  </a:ext>
                </a:extLst>
              </p:cNvPr>
              <p:cNvSpPr/>
              <p:nvPr/>
            </p:nvSpPr>
            <p:spPr>
              <a:xfrm>
                <a:off x="8303992" y="2629591"/>
                <a:ext cx="730421" cy="65133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>
                    <a:solidFill>
                      <a:schemeClr val="bg1"/>
                    </a:solidFill>
                  </a:rPr>
                  <a:t>ABC.com</a:t>
                </a:r>
                <a:endParaRPr lang="en-IN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34B1B68-6988-F819-6E70-DEC2B88A22EF}"/>
                </a:ext>
              </a:extLst>
            </p:cNvPr>
            <p:cNvGrpSpPr/>
            <p:nvPr/>
          </p:nvGrpSpPr>
          <p:grpSpPr>
            <a:xfrm>
              <a:off x="9824715" y="3714230"/>
              <a:ext cx="839157" cy="748301"/>
              <a:chOff x="8253233" y="2581110"/>
              <a:chExt cx="839157" cy="748301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4FE0A57-8695-7BE7-9224-10E0280236DF}"/>
                  </a:ext>
                </a:extLst>
              </p:cNvPr>
              <p:cNvSpPr/>
              <p:nvPr/>
            </p:nvSpPr>
            <p:spPr>
              <a:xfrm>
                <a:off x="8253233" y="2581110"/>
                <a:ext cx="839157" cy="748301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0287385-FE11-731F-DBB4-0D7FE3633CB3}"/>
                  </a:ext>
                </a:extLst>
              </p:cNvPr>
              <p:cNvSpPr/>
              <p:nvPr/>
            </p:nvSpPr>
            <p:spPr>
              <a:xfrm>
                <a:off x="8303992" y="2629591"/>
                <a:ext cx="730421" cy="65133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F665000-6FBA-CF47-BE1A-CAD48E118E3B}"/>
                </a:ext>
              </a:extLst>
            </p:cNvPr>
            <p:cNvGrpSpPr/>
            <p:nvPr/>
          </p:nvGrpSpPr>
          <p:grpSpPr>
            <a:xfrm>
              <a:off x="8789902" y="3714230"/>
              <a:ext cx="839157" cy="748301"/>
              <a:chOff x="8253233" y="2581110"/>
              <a:chExt cx="839157" cy="748301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26DC784-5ADB-685D-CB21-45BD16E2FDDD}"/>
                  </a:ext>
                </a:extLst>
              </p:cNvPr>
              <p:cNvSpPr/>
              <p:nvPr/>
            </p:nvSpPr>
            <p:spPr>
              <a:xfrm>
                <a:off x="8253233" y="2581110"/>
                <a:ext cx="839157" cy="748301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233B657E-B817-E80B-3DD3-3E6BD06000DB}"/>
                  </a:ext>
                </a:extLst>
              </p:cNvPr>
              <p:cNvSpPr/>
              <p:nvPr/>
            </p:nvSpPr>
            <p:spPr>
              <a:xfrm>
                <a:off x="8303992" y="2629591"/>
                <a:ext cx="730421" cy="65133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488C114-49BC-44D9-63A9-178036019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391165" y="2438690"/>
              <a:ext cx="625820" cy="221810"/>
            </a:xfrm>
            <a:prstGeom prst="rect">
              <a:avLst/>
            </a:prstGeom>
          </p:spPr>
        </p:pic>
        <p:pic>
          <p:nvPicPr>
            <p:cNvPr id="100" name="Picture 18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C1E063C5-1173-4C36-11C9-808FCB071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72266" y="4015604"/>
              <a:ext cx="683487" cy="184716"/>
            </a:xfrm>
            <a:prstGeom prst="rect">
              <a:avLst/>
            </a:prstGeom>
          </p:spPr>
        </p:pic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8FE3AA1-1D30-B4EE-EDC7-012523BF019E}"/>
              </a:ext>
            </a:extLst>
          </p:cNvPr>
          <p:cNvSpPr txBox="1"/>
          <p:nvPr/>
        </p:nvSpPr>
        <p:spPr>
          <a:xfrm>
            <a:off x="7995900" y="1290313"/>
            <a:ext cx="3840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rgbClr val="9900CC"/>
                </a:solidFill>
              </a:rPr>
              <a:t>Integrating D2C in comprehensive channel ecosystem creates synergies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ED67C0D-66A8-8A20-70D2-01B31BF5BDD0}"/>
              </a:ext>
            </a:extLst>
          </p:cNvPr>
          <p:cNvSpPr txBox="1"/>
          <p:nvPr/>
        </p:nvSpPr>
        <p:spPr>
          <a:xfrm>
            <a:off x="10119358" y="1949430"/>
            <a:ext cx="1773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chemeClr val="accent6">
                    <a:lumMod val="75000"/>
                  </a:schemeClr>
                </a:solidFill>
              </a:rPr>
              <a:t>Increase search visibility on Google for D2C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947CAC-1F4A-569C-1730-3FBB6832570D}"/>
              </a:ext>
            </a:extLst>
          </p:cNvPr>
          <p:cNvSpPr txBox="1"/>
          <p:nvPr/>
        </p:nvSpPr>
        <p:spPr>
          <a:xfrm>
            <a:off x="7931250" y="1814434"/>
            <a:ext cx="1560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chemeClr val="accent6">
                    <a:lumMod val="75000"/>
                  </a:schemeClr>
                </a:solidFill>
              </a:rPr>
              <a:t>Optimised product description pages to be Amazon’s choice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B2EC02E-093D-C3A0-F20D-DCD28F4C99D8}"/>
              </a:ext>
            </a:extLst>
          </p:cNvPr>
          <p:cNvSpPr txBox="1"/>
          <p:nvPr/>
        </p:nvSpPr>
        <p:spPr>
          <a:xfrm>
            <a:off x="8603388" y="4237503"/>
            <a:ext cx="3176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chemeClr val="accent6">
                    <a:lumMod val="75000"/>
                  </a:schemeClr>
                </a:solidFill>
              </a:rPr>
              <a:t>Increased traffic on abc.com and Amazon further boost Google rank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30C9F80-934B-49F2-ABAD-0328B7302352}"/>
              </a:ext>
            </a:extLst>
          </p:cNvPr>
          <p:cNvCxnSpPr>
            <a:cxnSpLocks/>
          </p:cNvCxnSpPr>
          <p:nvPr/>
        </p:nvCxnSpPr>
        <p:spPr>
          <a:xfrm>
            <a:off x="9087258" y="2940050"/>
            <a:ext cx="944597" cy="523172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21DB71E-D381-EF30-0C21-BF518EF96939}"/>
              </a:ext>
            </a:extLst>
          </p:cNvPr>
          <p:cNvCxnSpPr>
            <a:cxnSpLocks/>
            <a:stCxn id="91" idx="0"/>
            <a:endCxn id="50" idx="5"/>
          </p:cNvCxnSpPr>
          <p:nvPr/>
        </p:nvCxnSpPr>
        <p:spPr>
          <a:xfrm flipV="1">
            <a:off x="9195452" y="2516360"/>
            <a:ext cx="794890" cy="919977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6F4E048-8318-CDA2-87FA-FD926E256747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9490963" y="2520104"/>
            <a:ext cx="739302" cy="916233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8DE853EE-1C93-A7E7-73C2-2D1574F24BBD}"/>
              </a:ext>
            </a:extLst>
          </p:cNvPr>
          <p:cNvCxnSpPr>
            <a:cxnSpLocks/>
            <a:endCxn id="91" idx="7"/>
          </p:cNvCxnSpPr>
          <p:nvPr/>
        </p:nvCxnSpPr>
        <p:spPr>
          <a:xfrm flipH="1">
            <a:off x="9492138" y="2836547"/>
            <a:ext cx="823449" cy="709376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94CC58D6-C54C-697E-819F-3854FCFF5046}"/>
              </a:ext>
            </a:extLst>
          </p:cNvPr>
          <p:cNvCxnSpPr>
            <a:cxnSpLocks/>
          </p:cNvCxnSpPr>
          <p:nvPr/>
        </p:nvCxnSpPr>
        <p:spPr>
          <a:xfrm flipH="1">
            <a:off x="10361954" y="3171260"/>
            <a:ext cx="194879" cy="351814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93574BF-CE90-0ACA-6950-5B9F6ECD8F85}"/>
              </a:ext>
            </a:extLst>
          </p:cNvPr>
          <p:cNvCxnSpPr>
            <a:cxnSpLocks/>
            <a:stCxn id="84" idx="3"/>
          </p:cNvCxnSpPr>
          <p:nvPr/>
        </p:nvCxnSpPr>
        <p:spPr>
          <a:xfrm flipH="1" flipV="1">
            <a:off x="9511263" y="4074740"/>
            <a:ext cx="422315" cy="312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5910AB4-D8EB-1AED-6CEA-FD14B2C5B0B7}"/>
              </a:ext>
            </a:extLst>
          </p:cNvPr>
          <p:cNvCxnSpPr>
            <a:cxnSpLocks/>
          </p:cNvCxnSpPr>
          <p:nvPr/>
        </p:nvCxnSpPr>
        <p:spPr>
          <a:xfrm rot="17100000" flipH="1">
            <a:off x="8830287" y="3151737"/>
            <a:ext cx="194879" cy="351814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069688B-9372-CEDC-300F-8719E89AF151}"/>
              </a:ext>
            </a:extLst>
          </p:cNvPr>
          <p:cNvCxnSpPr>
            <a:cxnSpLocks/>
          </p:cNvCxnSpPr>
          <p:nvPr/>
        </p:nvCxnSpPr>
        <p:spPr>
          <a:xfrm rot="900000" flipH="1">
            <a:off x="9126469" y="2369964"/>
            <a:ext cx="194879" cy="351814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4F7B51A0-E4F1-D509-8777-3412F0CD2672}"/>
              </a:ext>
            </a:extLst>
          </p:cNvPr>
          <p:cNvCxnSpPr>
            <a:cxnSpLocks/>
          </p:cNvCxnSpPr>
          <p:nvPr/>
        </p:nvCxnSpPr>
        <p:spPr>
          <a:xfrm rot="5400000" flipH="1">
            <a:off x="10183584" y="2300115"/>
            <a:ext cx="194879" cy="351814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6" name="Picture 165">
            <a:extLst>
              <a:ext uri="{FF2B5EF4-FFF2-40B4-BE49-F238E27FC236}">
                <a16:creationId xmlns:a16="http://schemas.microsoft.com/office/drawing/2014/main" id="{C1C2775C-4D08-60C8-FA06-50A4535945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2188" y="3702992"/>
            <a:ext cx="288933" cy="220294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0184B9D4-1E9D-8F67-D0C5-EC308952F6B3}"/>
              </a:ext>
            </a:extLst>
          </p:cNvPr>
          <p:cNvSpPr txBox="1"/>
          <p:nvPr/>
        </p:nvSpPr>
        <p:spPr>
          <a:xfrm>
            <a:off x="8421598" y="4736329"/>
            <a:ext cx="363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</a:rPr>
              <a:t>Boost sales through all channels </a:t>
            </a:r>
            <a:r>
              <a:rPr lang="en-IN" sz="1200">
                <a:solidFill>
                  <a:schemeClr val="bg1"/>
                </a:solidFill>
              </a:rPr>
              <a:t>to remove over-indexation on Myntra </a:t>
            </a:r>
          </a:p>
        </p:txBody>
      </p:sp>
      <p:pic>
        <p:nvPicPr>
          <p:cNvPr id="169" name="Graphic 168" descr="Upward trend">
            <a:extLst>
              <a:ext uri="{FF2B5EF4-FFF2-40B4-BE49-F238E27FC236}">
                <a16:creationId xmlns:a16="http://schemas.microsoft.com/office/drawing/2014/main" id="{27DFB927-1360-4D28-6547-BEBEAF34AC1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74278" y="4830056"/>
            <a:ext cx="289213" cy="289213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176DEA74-C47F-1726-B663-E5E0C1CEB87C}"/>
              </a:ext>
            </a:extLst>
          </p:cNvPr>
          <p:cNvSpPr txBox="1"/>
          <p:nvPr/>
        </p:nvSpPr>
        <p:spPr>
          <a:xfrm>
            <a:off x="6161479" y="3647813"/>
            <a:ext cx="1852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rgbClr val="9900CC"/>
                </a:solidFill>
              </a:rPr>
              <a:t>Microchannels (niche)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FDEF07B-90CE-1FF5-7F7B-F7856C003527}"/>
              </a:ext>
            </a:extLst>
          </p:cNvPr>
          <p:cNvSpPr txBox="1"/>
          <p:nvPr/>
        </p:nvSpPr>
        <p:spPr>
          <a:xfrm>
            <a:off x="775621" y="6472523"/>
            <a:ext cx="6513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Appendix 6: </a:t>
            </a:r>
            <a:r>
              <a:rPr lang="en-IN" sz="1400">
                <a:solidFill>
                  <a:schemeClr val="bg1"/>
                </a:solidFill>
                <a:hlinkClick r:id="rId28" action="ppaction://hlinksldjump"/>
              </a:rPr>
              <a:t>D2C alignment with business model      </a:t>
            </a:r>
            <a:endParaRPr lang="en-IN" sz="1200">
              <a:solidFill>
                <a:schemeClr val="bg1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3475FCC-5D2C-CAFD-33A8-6B7CC8B9D4A7}"/>
              </a:ext>
            </a:extLst>
          </p:cNvPr>
          <p:cNvSpPr txBox="1"/>
          <p:nvPr/>
        </p:nvSpPr>
        <p:spPr>
          <a:xfrm>
            <a:off x="8421599" y="5141498"/>
            <a:ext cx="322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</a:rPr>
              <a:t>Focus on high traffic touchpoint </a:t>
            </a:r>
            <a:r>
              <a:rPr lang="en-IN" sz="1200">
                <a:solidFill>
                  <a:schemeClr val="bg1"/>
                </a:solidFill>
              </a:rPr>
              <a:t>and let it seep into D2C - Drive traffic to brand’s Amazon translates to growth </a:t>
            </a: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54B9D04-8DA0-35B4-F456-594AA5CC5426}"/>
              </a:ext>
            </a:extLst>
          </p:cNvPr>
          <p:cNvGrpSpPr/>
          <p:nvPr/>
        </p:nvGrpSpPr>
        <p:grpSpPr>
          <a:xfrm>
            <a:off x="4253130" y="3624457"/>
            <a:ext cx="2481997" cy="992029"/>
            <a:chOff x="4246081" y="3377025"/>
            <a:chExt cx="2257387" cy="99202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1E699D5-1D7B-1ABC-FD8E-9F5E02AAF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246081" y="3605386"/>
              <a:ext cx="239026" cy="222593"/>
            </a:xfrm>
            <a:prstGeom prst="rect">
              <a:avLst/>
            </a:prstGeom>
          </p:spPr>
        </p:pic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7C20468-BC1B-E653-25E0-C046FFFED63C}"/>
                </a:ext>
              </a:extLst>
            </p:cNvPr>
            <p:cNvSpPr txBox="1"/>
            <p:nvPr/>
          </p:nvSpPr>
          <p:spPr>
            <a:xfrm>
              <a:off x="4473141" y="3538057"/>
              <a:ext cx="168165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>
                  <a:solidFill>
                    <a:schemeClr val="bg1"/>
                  </a:solidFill>
                </a:rPr>
                <a:t>E-commerce - Browse through ABC’s catalogue on WhatsApp &amp; order.</a:t>
              </a:r>
            </a:p>
          </p:txBody>
        </p:sp>
        <p:pic>
          <p:nvPicPr>
            <p:cNvPr id="188" name="Picture 187">
              <a:extLst>
                <a:ext uri="{FF2B5EF4-FFF2-40B4-BE49-F238E27FC236}">
                  <a16:creationId xmlns:a16="http://schemas.microsoft.com/office/drawing/2014/main" id="{D724BACD-CC19-CBEB-76BC-19C5358FD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093690" y="3643995"/>
              <a:ext cx="409778" cy="428986"/>
            </a:xfrm>
            <a:prstGeom prst="rect">
              <a:avLst/>
            </a:prstGeom>
          </p:spPr>
        </p:pic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A07FDDE5-9D4B-EA80-25A6-BD486839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9272" y="3508737"/>
              <a:ext cx="2795" cy="612669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A8641C89-45CA-FFE2-11FB-7F91F140F943}"/>
                </a:ext>
              </a:extLst>
            </p:cNvPr>
            <p:cNvSpPr txBox="1"/>
            <p:nvPr/>
          </p:nvSpPr>
          <p:spPr>
            <a:xfrm>
              <a:off x="4506438" y="3377025"/>
              <a:ext cx="1852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i="1">
                  <a:solidFill>
                    <a:srgbClr val="9900CC"/>
                  </a:solidFill>
                </a:rPr>
                <a:t>Bring to fingertips </a:t>
              </a:r>
            </a:p>
          </p:txBody>
        </p:sp>
      </p:grpSp>
      <p:pic>
        <p:nvPicPr>
          <p:cNvPr id="200" name="Picture 199">
            <a:extLst>
              <a:ext uri="{FF2B5EF4-FFF2-40B4-BE49-F238E27FC236}">
                <a16:creationId xmlns:a16="http://schemas.microsoft.com/office/drawing/2014/main" id="{076A7BF5-58E8-7568-868E-D10263474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455" y="3115238"/>
            <a:ext cx="178303" cy="165931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A30EDF45-3831-05BE-6FC7-11671BE43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457" y="3137527"/>
            <a:ext cx="188021" cy="14581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34C147C9-CA6A-3D7B-B38A-CEC07FF0B644}"/>
              </a:ext>
            </a:extLst>
          </p:cNvPr>
          <p:cNvSpPr txBox="1"/>
          <p:nvPr/>
        </p:nvSpPr>
        <p:spPr>
          <a:xfrm>
            <a:off x="5691669" y="3055318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- 69% of bed &amp; bath e-comm sales</a:t>
            </a:r>
            <a:endParaRPr lang="en-IN" sz="120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C8BFDB48-2851-18EA-A58F-79E5BA5516E3}"/>
              </a:ext>
            </a:extLst>
          </p:cNvPr>
          <p:cNvSpPr/>
          <p:nvPr/>
        </p:nvSpPr>
        <p:spPr>
          <a:xfrm>
            <a:off x="4078911" y="1132813"/>
            <a:ext cx="186078" cy="186078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5058F343-D93F-8426-860A-927A8F13F5E6}"/>
              </a:ext>
            </a:extLst>
          </p:cNvPr>
          <p:cNvSpPr/>
          <p:nvPr/>
        </p:nvSpPr>
        <p:spPr>
          <a:xfrm>
            <a:off x="4115769" y="2901932"/>
            <a:ext cx="186078" cy="186078"/>
          </a:xfrm>
          <a:prstGeom prst="ellipse">
            <a:avLst/>
          </a:prstGeom>
          <a:solidFill>
            <a:srgbClr val="9900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88522A-649A-77C3-2D62-D23ED1FA7D16}"/>
              </a:ext>
            </a:extLst>
          </p:cNvPr>
          <p:cNvSpPr/>
          <p:nvPr/>
        </p:nvSpPr>
        <p:spPr>
          <a:xfrm>
            <a:off x="4140938" y="4420992"/>
            <a:ext cx="186078" cy="18607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82965E58-0923-FE9B-52FD-6A6FB0FB7CD8}"/>
              </a:ext>
            </a:extLst>
          </p:cNvPr>
          <p:cNvSpPr txBox="1"/>
          <p:nvPr/>
        </p:nvSpPr>
        <p:spPr>
          <a:xfrm>
            <a:off x="4170595" y="2519367"/>
            <a:ext cx="113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>
                <a:solidFill>
                  <a:srgbClr val="9900CC"/>
                </a:solidFill>
              </a:rPr>
              <a:t>On-ground activation</a:t>
            </a:r>
          </a:p>
        </p:txBody>
      </p:sp>
      <p:pic>
        <p:nvPicPr>
          <p:cNvPr id="212" name="Picture 211">
            <a:extLst>
              <a:ext uri="{FF2B5EF4-FFF2-40B4-BE49-F238E27FC236}">
                <a16:creationId xmlns:a16="http://schemas.microsoft.com/office/drawing/2014/main" id="{BF37E46D-1366-6F0F-C922-F05BA83211D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32058" y="3301805"/>
            <a:ext cx="885221" cy="152042"/>
          </a:xfrm>
          <a:prstGeom prst="rect">
            <a:avLst/>
          </a:prstGeom>
        </p:spPr>
      </p:pic>
      <p:pic>
        <p:nvPicPr>
          <p:cNvPr id="214" name="Graphic 213" descr="Database">
            <a:extLst>
              <a:ext uri="{FF2B5EF4-FFF2-40B4-BE49-F238E27FC236}">
                <a16:creationId xmlns:a16="http://schemas.microsoft.com/office/drawing/2014/main" id="{AE594AC5-1CA6-543E-EC2A-7F035F2BB33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39164" y="1682669"/>
            <a:ext cx="185493" cy="185493"/>
          </a:xfrm>
          <a:prstGeom prst="rect">
            <a:avLst/>
          </a:prstGeom>
        </p:spPr>
      </p:pic>
      <p:pic>
        <p:nvPicPr>
          <p:cNvPr id="216" name="Graphic 215" descr="Cycle with people">
            <a:extLst>
              <a:ext uri="{FF2B5EF4-FFF2-40B4-BE49-F238E27FC236}">
                <a16:creationId xmlns:a16="http://schemas.microsoft.com/office/drawing/2014/main" id="{076D829C-FE53-801A-5C1C-D24D374EA63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45425" y="5249004"/>
            <a:ext cx="376174" cy="376174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1032FD42-DA10-2C92-4B93-46FF33952A5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58792" y="3270520"/>
            <a:ext cx="822535" cy="228926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710C52AA-93EC-B075-2A65-EFBE979F4025}"/>
              </a:ext>
            </a:extLst>
          </p:cNvPr>
          <p:cNvSpPr txBox="1"/>
          <p:nvPr/>
        </p:nvSpPr>
        <p:spPr>
          <a:xfrm>
            <a:off x="4187055" y="3238756"/>
            <a:ext cx="2260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Boost by integrating: </a:t>
            </a:r>
          </a:p>
        </p:txBody>
      </p:sp>
      <p:pic>
        <p:nvPicPr>
          <p:cNvPr id="221" name="Picture 220">
            <a:extLst>
              <a:ext uri="{FF2B5EF4-FFF2-40B4-BE49-F238E27FC236}">
                <a16:creationId xmlns:a16="http://schemas.microsoft.com/office/drawing/2014/main" id="{E4824EB1-85E9-9330-4912-09E3DECFB22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815742" y="3907429"/>
            <a:ext cx="815642" cy="469754"/>
          </a:xfrm>
          <a:prstGeom prst="rect">
            <a:avLst/>
          </a:prstGeom>
        </p:spPr>
      </p:pic>
      <p:sp>
        <p:nvSpPr>
          <p:cNvPr id="222" name="Rectangle 221">
            <a:extLst>
              <a:ext uri="{FF2B5EF4-FFF2-40B4-BE49-F238E27FC236}">
                <a16:creationId xmlns:a16="http://schemas.microsoft.com/office/drawing/2014/main" id="{0E04D675-409F-295C-DF48-DABFDA467254}"/>
              </a:ext>
            </a:extLst>
          </p:cNvPr>
          <p:cNvSpPr/>
          <p:nvPr/>
        </p:nvSpPr>
        <p:spPr>
          <a:xfrm rot="5400000">
            <a:off x="5600856" y="3835641"/>
            <a:ext cx="824178" cy="3503558"/>
          </a:xfrm>
          <a:prstGeom prst="rect">
            <a:avLst/>
          </a:prstGeom>
          <a:noFill/>
          <a:ln>
            <a:solidFill>
              <a:srgbClr val="99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6F429D7-B859-B8AB-EFF0-44FEC530221D}"/>
              </a:ext>
            </a:extLst>
          </p:cNvPr>
          <p:cNvCxnSpPr>
            <a:cxnSpLocks/>
          </p:cNvCxnSpPr>
          <p:nvPr/>
        </p:nvCxnSpPr>
        <p:spPr>
          <a:xfrm>
            <a:off x="2315217" y="2647577"/>
            <a:ext cx="111736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B6219D79-9222-72DB-A7AB-34F20731BD61}"/>
              </a:ext>
            </a:extLst>
          </p:cNvPr>
          <p:cNvCxnSpPr>
            <a:cxnSpLocks/>
          </p:cNvCxnSpPr>
          <p:nvPr/>
        </p:nvCxnSpPr>
        <p:spPr>
          <a:xfrm>
            <a:off x="2315217" y="2111096"/>
            <a:ext cx="111736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E9DA4A9-ED9D-85A1-B3DD-E1A686E6C7A5}"/>
              </a:ext>
            </a:extLst>
          </p:cNvPr>
          <p:cNvCxnSpPr>
            <a:cxnSpLocks/>
          </p:cNvCxnSpPr>
          <p:nvPr/>
        </p:nvCxnSpPr>
        <p:spPr>
          <a:xfrm>
            <a:off x="2321785" y="1674603"/>
            <a:ext cx="111736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638EF1C0-F0C6-A476-4933-874D88C3AB4A}"/>
              </a:ext>
            </a:extLst>
          </p:cNvPr>
          <p:cNvCxnSpPr>
            <a:cxnSpLocks/>
          </p:cNvCxnSpPr>
          <p:nvPr/>
        </p:nvCxnSpPr>
        <p:spPr>
          <a:xfrm>
            <a:off x="2332537" y="1320748"/>
            <a:ext cx="111736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7" name="Picture 226">
            <a:extLst>
              <a:ext uri="{FF2B5EF4-FFF2-40B4-BE49-F238E27FC236}">
                <a16:creationId xmlns:a16="http://schemas.microsoft.com/office/drawing/2014/main" id="{CAD647CD-4B2D-CE68-0DCA-B4991F73DB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8928" y="2934730"/>
            <a:ext cx="268893" cy="205015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1B7F4E6-C02B-B1F0-72FB-A21A9D13D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294" y="2324543"/>
            <a:ext cx="182739" cy="159391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1A5D8970-4B03-528D-C1C4-DA0439FA0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201" y="1813032"/>
            <a:ext cx="176986" cy="190293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8C8B2960-787D-0D69-CFA1-21052D1D3A1B}"/>
              </a:ext>
            </a:extLst>
          </p:cNvPr>
          <p:cNvSpPr txBox="1"/>
          <p:nvPr/>
        </p:nvSpPr>
        <p:spPr>
          <a:xfrm>
            <a:off x="2249307" y="1402531"/>
            <a:ext cx="145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chemeClr val="bg1"/>
                </a:solidFill>
              </a:rPr>
              <a:t>D2C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BD616103-D1CA-E11D-CFED-EA4074D2E1BC}"/>
              </a:ext>
            </a:extLst>
          </p:cNvPr>
          <p:cNvSpPr txBox="1"/>
          <p:nvPr/>
        </p:nvSpPr>
        <p:spPr>
          <a:xfrm>
            <a:off x="2177590" y="1122567"/>
            <a:ext cx="145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Others</a:t>
            </a: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28DABCE-EC24-6B65-DEE4-CB2D03870609}"/>
              </a:ext>
            </a:extLst>
          </p:cNvPr>
          <p:cNvCxnSpPr>
            <a:cxnSpLocks/>
          </p:cNvCxnSpPr>
          <p:nvPr/>
        </p:nvCxnSpPr>
        <p:spPr>
          <a:xfrm>
            <a:off x="1944040" y="2004580"/>
            <a:ext cx="384856" cy="636154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C0E90BA-6220-84F4-EF25-4FE59569E94D}"/>
              </a:ext>
            </a:extLst>
          </p:cNvPr>
          <p:cNvCxnSpPr>
            <a:cxnSpLocks/>
          </p:cNvCxnSpPr>
          <p:nvPr/>
        </p:nvCxnSpPr>
        <p:spPr>
          <a:xfrm>
            <a:off x="1934963" y="1735193"/>
            <a:ext cx="378275" cy="373132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9D937A41-C836-E50F-EDE8-1BBFDD2DCDB2}"/>
              </a:ext>
            </a:extLst>
          </p:cNvPr>
          <p:cNvCxnSpPr>
            <a:cxnSpLocks/>
          </p:cNvCxnSpPr>
          <p:nvPr/>
        </p:nvCxnSpPr>
        <p:spPr>
          <a:xfrm>
            <a:off x="1926307" y="1502765"/>
            <a:ext cx="404547" cy="1742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F553AD3-79E3-B53D-FE11-48FA92B3A5B1}"/>
              </a:ext>
            </a:extLst>
          </p:cNvPr>
          <p:cNvCxnSpPr>
            <a:cxnSpLocks/>
          </p:cNvCxnSpPr>
          <p:nvPr/>
        </p:nvCxnSpPr>
        <p:spPr>
          <a:xfrm flipV="1">
            <a:off x="1942553" y="1328107"/>
            <a:ext cx="379232" cy="8661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AB42C922-7CA9-CEB1-B34B-35C6E2B93E30}"/>
              </a:ext>
            </a:extLst>
          </p:cNvPr>
          <p:cNvSpPr txBox="1"/>
          <p:nvPr/>
        </p:nvSpPr>
        <p:spPr>
          <a:xfrm>
            <a:off x="6254695" y="642899"/>
            <a:ext cx="48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accent1"/>
                </a:solidFill>
              </a:rPr>
              <a:t>D2C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7189561C-D86B-D780-5935-A754F80194A5}"/>
              </a:ext>
            </a:extLst>
          </p:cNvPr>
          <p:cNvSpPr txBox="1"/>
          <p:nvPr/>
        </p:nvSpPr>
        <p:spPr>
          <a:xfrm>
            <a:off x="7163566" y="643432"/>
            <a:ext cx="1219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accent1"/>
                </a:solidFill>
              </a:rPr>
              <a:t>E-comm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9A3BC41-5D2E-49F0-7319-6447BF100025}"/>
              </a:ext>
            </a:extLst>
          </p:cNvPr>
          <p:cNvSpPr txBox="1"/>
          <p:nvPr/>
        </p:nvSpPr>
        <p:spPr>
          <a:xfrm>
            <a:off x="4847062" y="6460013"/>
            <a:ext cx="6513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Appendix 1: </a:t>
            </a:r>
            <a:r>
              <a:rPr lang="en-IN" sz="1200">
                <a:solidFill>
                  <a:schemeClr val="bg1"/>
                </a:solidFill>
                <a:hlinkClick r:id="rId38" action="ppaction://hlinksldjump"/>
              </a:rPr>
              <a:t>Case facts</a:t>
            </a:r>
            <a:r>
              <a:rPr lang="en-IN" sz="1400">
                <a:solidFill>
                  <a:schemeClr val="bg1"/>
                </a:solidFill>
                <a:hlinkClick r:id="rId38" action="ppaction://hlinksldjump"/>
              </a:rPr>
              <a:t>  </a:t>
            </a:r>
            <a:endParaRPr lang="en-IN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09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Chart 89">
            <a:extLst>
              <a:ext uri="{FF2B5EF4-FFF2-40B4-BE49-F238E27FC236}">
                <a16:creationId xmlns:a16="http://schemas.microsoft.com/office/drawing/2014/main" id="{A3E71E18-B548-A593-A022-8F461B1BB8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1491384"/>
              </p:ext>
            </p:extLst>
          </p:nvPr>
        </p:nvGraphicFramePr>
        <p:xfrm>
          <a:off x="669262" y="4029428"/>
          <a:ext cx="4609164" cy="137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5" name="Picture 114">
            <a:extLst>
              <a:ext uri="{FF2B5EF4-FFF2-40B4-BE49-F238E27FC236}">
                <a16:creationId xmlns:a16="http://schemas.microsoft.com/office/drawing/2014/main" id="{946E7078-FE98-1E7C-858F-D352D6030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949" y="4988875"/>
            <a:ext cx="158757" cy="155922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B753A841-2BBF-566C-2D16-E47DFC881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275" y="4980398"/>
            <a:ext cx="341163" cy="208489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479B15AB-28E3-EC73-04AE-CB7EC40BB1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507" y="4993346"/>
            <a:ext cx="152120" cy="15592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D099955-0E39-BAB6-4D18-20DFB851FF3E}"/>
              </a:ext>
            </a:extLst>
          </p:cNvPr>
          <p:cNvSpPr/>
          <p:nvPr/>
        </p:nvSpPr>
        <p:spPr>
          <a:xfrm>
            <a:off x="386749" y="79010"/>
            <a:ext cx="11259154" cy="464147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>
                <a:solidFill>
                  <a:schemeClr val="tx1"/>
                </a:solidFill>
              </a:rPr>
              <a:t>Digital marketing &amp; rebalancing E-commerce portfolio needed for ABC to boost lacking brand awareness, create a strong brand positioning in home textiles space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C7AD655-20A4-769B-E4E4-C5882B96C379}"/>
              </a:ext>
            </a:extLst>
          </p:cNvPr>
          <p:cNvGrpSpPr/>
          <p:nvPr/>
        </p:nvGrpSpPr>
        <p:grpSpPr>
          <a:xfrm>
            <a:off x="386749" y="6040777"/>
            <a:ext cx="10148411" cy="231014"/>
            <a:chOff x="1048771" y="74876"/>
            <a:chExt cx="10148411" cy="468677"/>
          </a:xfrm>
          <a:solidFill>
            <a:srgbClr val="FFEBFF"/>
          </a:solidFill>
          <a:effectLst/>
        </p:grpSpPr>
        <p:sp>
          <p:nvSpPr>
            <p:cNvPr id="36" name="Arrow: Pentagon 35">
              <a:extLst>
                <a:ext uri="{FF2B5EF4-FFF2-40B4-BE49-F238E27FC236}">
                  <a16:creationId xmlns:a16="http://schemas.microsoft.com/office/drawing/2014/main" id="{5BA718A1-19F2-0984-637A-329AC33F08F5}"/>
                </a:ext>
              </a:extLst>
            </p:cNvPr>
            <p:cNvSpPr/>
            <p:nvPr/>
          </p:nvSpPr>
          <p:spPr>
            <a:xfrm>
              <a:off x="1048771" y="74881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 potential</a:t>
              </a:r>
            </a:p>
          </p:txBody>
        </p:sp>
        <p:sp>
          <p:nvSpPr>
            <p:cNvPr id="37" name="Arrow: Pentagon 36">
              <a:extLst>
                <a:ext uri="{FF2B5EF4-FFF2-40B4-BE49-F238E27FC236}">
                  <a16:creationId xmlns:a16="http://schemas.microsoft.com/office/drawing/2014/main" id="{8BB940BD-2224-A181-5AE5-2463A44CABB1}"/>
                </a:ext>
              </a:extLst>
            </p:cNvPr>
            <p:cNvSpPr/>
            <p:nvPr/>
          </p:nvSpPr>
          <p:spPr>
            <a:xfrm>
              <a:off x="3078453" y="74876"/>
              <a:ext cx="2029681" cy="468673"/>
            </a:xfrm>
            <a:prstGeom prst="homePlate">
              <a:avLst/>
            </a:prstGeom>
            <a:solidFill>
              <a:srgbClr val="FFEB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AF34AF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Competitive landscape</a:t>
              </a:r>
            </a:p>
          </p:txBody>
        </p:sp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DE1049CE-35D2-E011-57DB-3257B2762634}"/>
                </a:ext>
              </a:extLst>
            </p:cNvPr>
            <p:cNvSpPr/>
            <p:nvPr/>
          </p:nvSpPr>
          <p:spPr>
            <a:xfrm>
              <a:off x="5108136" y="74878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Channel strategy</a:t>
              </a:r>
            </a:p>
          </p:txBody>
        </p:sp>
        <p:sp>
          <p:nvSpPr>
            <p:cNvPr id="39" name="Arrow: Pentagon 38">
              <a:extLst>
                <a:ext uri="{FF2B5EF4-FFF2-40B4-BE49-F238E27FC236}">
                  <a16:creationId xmlns:a16="http://schemas.microsoft.com/office/drawing/2014/main" id="{F29DE45B-8680-33F9-11B8-D3C8769E959C}"/>
                </a:ext>
              </a:extLst>
            </p:cNvPr>
            <p:cNvSpPr/>
            <p:nvPr/>
          </p:nvSpPr>
          <p:spPr>
            <a:xfrm>
              <a:off x="7137818" y="74876"/>
              <a:ext cx="2029681" cy="468673"/>
            </a:xfrm>
            <a:prstGeom prst="homePlate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Marketing Strategy</a:t>
              </a:r>
            </a:p>
          </p:txBody>
        </p:sp>
        <p:sp>
          <p:nvSpPr>
            <p:cNvPr id="41" name="Arrow: Pentagon 40">
              <a:extLst>
                <a:ext uri="{FF2B5EF4-FFF2-40B4-BE49-F238E27FC236}">
                  <a16:creationId xmlns:a16="http://schemas.microsoft.com/office/drawing/2014/main" id="{0010CA5D-5329-7E31-F19C-BCC3F7C9DD5E}"/>
                </a:ext>
              </a:extLst>
            </p:cNvPr>
            <p:cNvSpPr/>
            <p:nvPr/>
          </p:nvSpPr>
          <p:spPr>
            <a:xfrm>
              <a:off x="9167501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KPI</a:t>
              </a:r>
            </a:p>
          </p:txBody>
        </p:sp>
      </p:grpSp>
      <p:sp>
        <p:nvSpPr>
          <p:cNvPr id="5" name="AutoShape 28">
            <a:extLst>
              <a:ext uri="{FF2B5EF4-FFF2-40B4-BE49-F238E27FC236}">
                <a16:creationId xmlns:a16="http://schemas.microsoft.com/office/drawing/2014/main" id="{B49A520A-D30F-9CF6-6CA0-B11B689A8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9868" y="1511863"/>
            <a:ext cx="1565965" cy="285077"/>
          </a:xfrm>
          <a:prstGeom prst="chevron">
            <a:avLst>
              <a:gd name="adj" fmla="val 32358"/>
            </a:avLst>
          </a:prstGeom>
          <a:noFill/>
          <a:ln w="19050" algn="ctr">
            <a:solidFill>
              <a:srgbClr val="B53ACE"/>
            </a:solidFill>
            <a:miter lim="800000"/>
            <a:headEnd type="none" w="sm" len="sm"/>
            <a:tailEnd type="none" w="sm" len="sm"/>
          </a:ln>
        </p:spPr>
        <p:txBody>
          <a:bodyPr lIns="88900" tIns="88900" rIns="88900" bIns="88900" anchor="ctr"/>
          <a:lstStyle>
            <a:defPPr rtl="0">
              <a:defRPr lang="en-GB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b="1">
                <a:solidFill>
                  <a:srgbClr val="990099"/>
                </a:solidFill>
                <a:ea typeface="ＭＳ Ｐゴシック"/>
                <a:cs typeface="Calibri Light"/>
              </a:rPr>
              <a:t>Purchase</a:t>
            </a:r>
            <a:endParaRPr lang="en-US" sz="1200" b="1">
              <a:solidFill>
                <a:srgbClr val="990099"/>
              </a:solidFill>
              <a:ea typeface="ＭＳ Ｐゴシック"/>
            </a:endParaRP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D0872557-0DCA-27AF-6707-0C69F542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327" y="1502795"/>
            <a:ext cx="1937059" cy="289518"/>
          </a:xfrm>
          <a:prstGeom prst="homePlate">
            <a:avLst>
              <a:gd name="adj" fmla="val 31290"/>
            </a:avLst>
          </a:prstGeom>
          <a:noFill/>
          <a:ln w="19050" algn="ctr">
            <a:solidFill>
              <a:srgbClr val="B53ACE"/>
            </a:solidFill>
            <a:miter lim="800000"/>
            <a:headEnd type="none" w="sm" len="sm"/>
            <a:tailEnd type="none" w="sm" len="sm"/>
          </a:ln>
        </p:spPr>
        <p:txBody>
          <a:bodyPr lIns="88900" tIns="88900" rIns="88900" bIns="88900" anchor="ctr"/>
          <a:lstStyle>
            <a:defPPr rtl="0">
              <a:defRPr lang="en-GB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solidFill>
                  <a:srgbClr val="990099"/>
                </a:solidFill>
                <a:cs typeface="Calibri Light"/>
              </a:rPr>
              <a:t>Awareness</a:t>
            </a:r>
            <a:endParaRPr lang="en-US" sz="1200" b="1">
              <a:solidFill>
                <a:srgbClr val="990099"/>
              </a:solidFill>
            </a:endParaRPr>
          </a:p>
        </p:txBody>
      </p:sp>
      <p:sp>
        <p:nvSpPr>
          <p:cNvPr id="10" name="AutoShape 28">
            <a:extLst>
              <a:ext uri="{FF2B5EF4-FFF2-40B4-BE49-F238E27FC236}">
                <a16:creationId xmlns:a16="http://schemas.microsoft.com/office/drawing/2014/main" id="{2F77A42E-2D5C-9CB9-9AB4-16948CEE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228" y="1509670"/>
            <a:ext cx="1565965" cy="282971"/>
          </a:xfrm>
          <a:prstGeom prst="chevron">
            <a:avLst>
              <a:gd name="adj" fmla="val 32358"/>
            </a:avLst>
          </a:prstGeom>
          <a:noFill/>
          <a:ln w="19050" algn="ctr">
            <a:solidFill>
              <a:srgbClr val="B53ACE"/>
            </a:solidFill>
            <a:miter lim="800000"/>
            <a:headEnd type="none" w="sm" len="sm"/>
            <a:tailEnd type="none" w="sm" len="sm"/>
          </a:ln>
        </p:spPr>
        <p:txBody>
          <a:bodyPr lIns="88900" tIns="88900" rIns="88900" bIns="88900" anchor="ctr"/>
          <a:lstStyle>
            <a:defPPr rtl="0">
              <a:defRPr lang="en-GB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b="1">
                <a:solidFill>
                  <a:srgbClr val="990099"/>
                </a:solidFill>
                <a:ea typeface="ＭＳ Ｐゴシック"/>
                <a:cs typeface="Calibri Light"/>
              </a:rPr>
              <a:t>Consideration</a:t>
            </a:r>
            <a:endParaRPr lang="en-US" sz="1200" b="1">
              <a:solidFill>
                <a:srgbClr val="990099"/>
              </a:solidFill>
              <a:ea typeface="ＭＳ Ｐゴシック"/>
            </a:endParaRPr>
          </a:p>
        </p:txBody>
      </p:sp>
      <p:graphicFrame>
        <p:nvGraphicFramePr>
          <p:cNvPr id="14" name="Table 15">
            <a:extLst>
              <a:ext uri="{FF2B5EF4-FFF2-40B4-BE49-F238E27FC236}">
                <a16:creationId xmlns:a16="http://schemas.microsoft.com/office/drawing/2014/main" id="{69C912CC-F0BB-A7D3-B363-7376D28B2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919490"/>
              </p:ext>
            </p:extLst>
          </p:nvPr>
        </p:nvGraphicFramePr>
        <p:xfrm>
          <a:off x="4400799" y="1827710"/>
          <a:ext cx="7245104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925">
                  <a:extLst>
                    <a:ext uri="{9D8B030D-6E8A-4147-A177-3AD203B41FA5}">
                      <a16:colId xmlns:a16="http://schemas.microsoft.com/office/drawing/2014/main" val="528705606"/>
                    </a:ext>
                  </a:extLst>
                </a:gridCol>
                <a:gridCol w="2052975">
                  <a:extLst>
                    <a:ext uri="{9D8B030D-6E8A-4147-A177-3AD203B41FA5}">
                      <a16:colId xmlns:a16="http://schemas.microsoft.com/office/drawing/2014/main" val="2966736008"/>
                    </a:ext>
                  </a:extLst>
                </a:gridCol>
                <a:gridCol w="1866928">
                  <a:extLst>
                    <a:ext uri="{9D8B030D-6E8A-4147-A177-3AD203B41FA5}">
                      <a16:colId xmlns:a16="http://schemas.microsoft.com/office/drawing/2014/main" val="2306182321"/>
                    </a:ext>
                  </a:extLst>
                </a:gridCol>
                <a:gridCol w="1811276">
                  <a:extLst>
                    <a:ext uri="{9D8B030D-6E8A-4147-A177-3AD203B41FA5}">
                      <a16:colId xmlns:a16="http://schemas.microsoft.com/office/drawing/2014/main" val="2399054784"/>
                    </a:ext>
                  </a:extLst>
                </a:gridCol>
              </a:tblGrid>
              <a:tr h="326088">
                <a:tc>
                  <a:txBody>
                    <a:bodyPr/>
                    <a:lstStyle/>
                    <a:p>
                      <a:pPr algn="ctr"/>
                      <a:endParaRPr lang="en-IN" sz="1200">
                        <a:solidFill>
                          <a:srgbClr val="990099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990099"/>
                          </a:solidFill>
                          <a:latin typeface="+mn-lt"/>
                        </a:rPr>
                        <a:t>Need | Search | Attract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990099"/>
                          </a:solidFill>
                          <a:latin typeface="+mn-lt"/>
                        </a:rPr>
                        <a:t>Price | Reviews | Compare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990099"/>
                          </a:solidFill>
                          <a:latin typeface="+mn-lt"/>
                        </a:rPr>
                        <a:t>UX | D2C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74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300" b="1" kern="1200">
                          <a:solidFill>
                            <a:srgbClr val="990099"/>
                          </a:solidFill>
                          <a:latin typeface="+mn-lt"/>
                          <a:ea typeface="+mn-ea"/>
                          <a:cs typeface="+mn-cs"/>
                        </a:rPr>
                        <a:t>Goal</a:t>
                      </a:r>
                    </a:p>
                  </a:txBody>
                  <a:tcPr>
                    <a:solidFill>
                      <a:srgbClr val="EEE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solidFill>
                            <a:srgbClr val="990099"/>
                          </a:solidFill>
                          <a:latin typeface="+mn-lt"/>
                        </a:rPr>
                        <a:t>Awareness generation | Branding &amp; Positioning</a:t>
                      </a:r>
                      <a:endParaRPr lang="en-IN" sz="1300" b="0">
                        <a:solidFill>
                          <a:srgbClr val="990099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EEE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Value proposition communication</a:t>
                      </a:r>
                    </a:p>
                  </a:txBody>
                  <a:tcPr>
                    <a:solidFill>
                      <a:srgbClr val="EEE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Cart abandonment to Conversion</a:t>
                      </a:r>
                    </a:p>
                  </a:txBody>
                  <a:tcPr>
                    <a:solidFill>
                      <a:srgbClr val="EE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1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300" b="1" kern="1200">
                          <a:solidFill>
                            <a:srgbClr val="990099"/>
                          </a:solidFill>
                          <a:latin typeface="+mn-lt"/>
                          <a:ea typeface="+mn-ea"/>
                          <a:cs typeface="+mn-cs"/>
                        </a:rPr>
                        <a:t>Touchpoint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solidFill>
                            <a:srgbClr val="990099"/>
                          </a:solidFill>
                          <a:latin typeface="+mn-lt"/>
                        </a:rPr>
                        <a:t>Aspirational Positioning | Search Network | Ads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Online comparison | Reviews | Blogs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D2C | Ecomm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256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300" b="1" kern="1200">
                          <a:solidFill>
                            <a:srgbClr val="990099"/>
                          </a:solidFill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>
                    <a:solidFill>
                      <a:srgbClr val="EEE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990099"/>
                          </a:solidFill>
                          <a:latin typeface="+mn-lt"/>
                        </a:rPr>
                        <a:t>Influencer Marketing | Google AdWords |</a:t>
                      </a:r>
                    </a:p>
                    <a:p>
                      <a:pPr algn="ctr"/>
                      <a:r>
                        <a:rPr lang="en-US" sz="1300" b="0">
                          <a:solidFill>
                            <a:srgbClr val="990099"/>
                          </a:solidFill>
                          <a:latin typeface="+mn-lt"/>
                        </a:rPr>
                        <a:t>Targeted Ads | Bundling Recommendations| Programmatic Advertising ex-Bumper 6s ads &amp; Instream Ads</a:t>
                      </a:r>
                      <a:endParaRPr lang="en-IN" sz="1300">
                        <a:latin typeface="+mn-lt"/>
                      </a:endParaRPr>
                    </a:p>
                  </a:txBody>
                  <a:tcPr>
                    <a:solidFill>
                      <a:srgbClr val="EEE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Showcasing ‘</a:t>
                      </a:r>
                      <a:r>
                        <a:rPr lang="en-IN" sz="1300" i="1">
                          <a:solidFill>
                            <a:srgbClr val="990099"/>
                          </a:solidFill>
                          <a:latin typeface="+mn-lt"/>
                        </a:rPr>
                        <a:t>value for money</a:t>
                      </a:r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’ or ‘</a:t>
                      </a:r>
                      <a:r>
                        <a:rPr lang="en-IN" sz="1300" i="1">
                          <a:solidFill>
                            <a:srgbClr val="990099"/>
                          </a:solidFill>
                          <a:latin typeface="+mn-lt"/>
                        </a:rPr>
                        <a:t>premium quality</a:t>
                      </a:r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’ on marketplaces | Certification for quality | Feature on lifestyle blogs &amp; magazines</a:t>
                      </a:r>
                    </a:p>
                  </a:txBody>
                  <a:tcPr>
                    <a:solidFill>
                      <a:srgbClr val="EEE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Directing consumers to website | Improved landing page EX &amp; info availability | Sponsored posts ex - ‘Amazon’s Choice’</a:t>
                      </a:r>
                    </a:p>
                  </a:txBody>
                  <a:tcPr>
                    <a:solidFill>
                      <a:srgbClr val="EE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752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300" b="1" kern="1200">
                          <a:solidFill>
                            <a:srgbClr val="990099"/>
                          </a:solidFill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solidFill>
                          <a:srgbClr val="990099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solidFill>
                          <a:srgbClr val="990099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solidFill>
                          <a:srgbClr val="990099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0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300" b="1" kern="1200">
                          <a:solidFill>
                            <a:srgbClr val="990099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Paid Promotion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Earned Promotion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solidFill>
                            <a:srgbClr val="990099"/>
                          </a:solidFill>
                          <a:latin typeface="+mn-lt"/>
                        </a:rPr>
                        <a:t>Owned + Paid Promotion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891144"/>
                  </a:ext>
                </a:extLst>
              </a:tr>
            </a:tbl>
          </a:graphicData>
        </a:graphic>
      </p:graphicFrame>
      <p:grpSp>
        <p:nvGrpSpPr>
          <p:cNvPr id="65" name="Group 64">
            <a:extLst>
              <a:ext uri="{FF2B5EF4-FFF2-40B4-BE49-F238E27FC236}">
                <a16:creationId xmlns:a16="http://schemas.microsoft.com/office/drawing/2014/main" id="{73E7A730-BE81-F757-FF03-3842D06386FD}"/>
              </a:ext>
            </a:extLst>
          </p:cNvPr>
          <p:cNvGrpSpPr/>
          <p:nvPr/>
        </p:nvGrpSpPr>
        <p:grpSpPr>
          <a:xfrm>
            <a:off x="5993669" y="4855239"/>
            <a:ext cx="1895213" cy="304644"/>
            <a:chOff x="2173216" y="3778801"/>
            <a:chExt cx="1895213" cy="30464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BEAFC43-1ECA-EC36-086F-C78FF4123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73216" y="3822082"/>
              <a:ext cx="225379" cy="23101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C64C853-477B-878B-13D4-BA497C7AB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5145" y="3822081"/>
              <a:ext cx="235213" cy="23101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C26879F-2618-7EBA-EA6D-4EFA54565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46908" y="3791729"/>
              <a:ext cx="477353" cy="29171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783C806-8DBD-54CA-21AA-8DE89905E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30175" y="3822081"/>
              <a:ext cx="269516" cy="23101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9562266-383D-166A-20F7-BE8B89562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29201" y="3778801"/>
              <a:ext cx="239228" cy="280192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42BCEB-5ECA-AF18-2023-DADAA4083266}"/>
              </a:ext>
            </a:extLst>
          </p:cNvPr>
          <p:cNvGrpSpPr/>
          <p:nvPr/>
        </p:nvGrpSpPr>
        <p:grpSpPr>
          <a:xfrm>
            <a:off x="8172100" y="4926231"/>
            <a:ext cx="1499159" cy="231014"/>
            <a:chOff x="4351647" y="3822081"/>
            <a:chExt cx="1499159" cy="23101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21A9CB4D-0EEC-942A-4AAD-D7E406B0A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51647" y="3861807"/>
              <a:ext cx="754110" cy="191287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5D1C016-6E1D-CE85-B59E-2EC4334C1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5576" y="3822081"/>
              <a:ext cx="225379" cy="231013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75B5A58-BC57-D003-BDBD-9509B1490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90774" y="3861807"/>
              <a:ext cx="260032" cy="191288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611C045-804E-617B-7EC1-31A02B05AE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22999" y="4965958"/>
            <a:ext cx="260032" cy="19128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EEB5182-6B88-686E-D26B-D686F7B6AA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91261" y="4882952"/>
            <a:ext cx="317355" cy="27077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0403B64-95BD-D483-B016-DEF55ECFCF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0648266" y="4908810"/>
            <a:ext cx="335539" cy="265856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7B41BDE4-3A67-61FB-2B65-FE59341386AB}"/>
              </a:ext>
            </a:extLst>
          </p:cNvPr>
          <p:cNvSpPr/>
          <p:nvPr/>
        </p:nvSpPr>
        <p:spPr>
          <a:xfrm>
            <a:off x="9879817" y="4889032"/>
            <a:ext cx="705577" cy="293940"/>
          </a:xfrm>
          <a:prstGeom prst="rect">
            <a:avLst/>
          </a:prstGeom>
          <a:solidFill>
            <a:schemeClr val="tx1"/>
          </a:solidFill>
          <a:ln w="12700">
            <a:solidFill>
              <a:srgbClr val="720F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8D21BA"/>
                </a:solidFill>
              </a:rPr>
              <a:t>ABC Website</a:t>
            </a:r>
            <a:endParaRPr lang="en-IN" sz="1100" b="1">
              <a:solidFill>
                <a:srgbClr val="8D21BA"/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A097A64-9FE3-BC00-DA09-8C90A43276C1}"/>
              </a:ext>
            </a:extLst>
          </p:cNvPr>
          <p:cNvGrpSpPr/>
          <p:nvPr/>
        </p:nvGrpSpPr>
        <p:grpSpPr>
          <a:xfrm>
            <a:off x="538955" y="1223773"/>
            <a:ext cx="3461904" cy="1831162"/>
            <a:chOff x="8164985" y="920299"/>
            <a:chExt cx="3461904" cy="2305654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E4068B3-ED7B-9659-27A3-73E955BABB1F}"/>
                </a:ext>
              </a:extLst>
            </p:cNvPr>
            <p:cNvCxnSpPr/>
            <p:nvPr/>
          </p:nvCxnSpPr>
          <p:spPr>
            <a:xfrm>
              <a:off x="8424279" y="920299"/>
              <a:ext cx="0" cy="2058875"/>
            </a:xfrm>
            <a:prstGeom prst="line">
              <a:avLst/>
            </a:prstGeom>
            <a:ln w="19050">
              <a:solidFill>
                <a:srgbClr val="92278F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A5FFAC9-79BE-938D-AC71-42E3BDBA37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279" y="2979174"/>
              <a:ext cx="3202610" cy="0"/>
            </a:xfrm>
            <a:prstGeom prst="line">
              <a:avLst/>
            </a:prstGeom>
            <a:ln w="19050">
              <a:solidFill>
                <a:srgbClr val="92278F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E9D3878-E54C-DEA2-BBF7-6563F5235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781117" y="1120750"/>
              <a:ext cx="600096" cy="280192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B6BF30D-F52D-FA1C-27B7-742D40393478}"/>
                </a:ext>
              </a:extLst>
            </p:cNvPr>
            <p:cNvSpPr/>
            <p:nvPr/>
          </p:nvSpPr>
          <p:spPr>
            <a:xfrm rot="16200000">
              <a:off x="7686331" y="1766037"/>
              <a:ext cx="1188315" cy="231008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solidFill>
                    <a:srgbClr val="AF38AF"/>
                  </a:solidFill>
                </a:rPr>
                <a:t>Awareness</a:t>
              </a:r>
              <a:endParaRPr lang="en-IN" sz="1300">
                <a:solidFill>
                  <a:srgbClr val="AF38AF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2037E14-B4E9-1467-5A9F-300F8DC6F8B0}"/>
                </a:ext>
              </a:extLst>
            </p:cNvPr>
            <p:cNvSpPr/>
            <p:nvPr/>
          </p:nvSpPr>
          <p:spPr>
            <a:xfrm>
              <a:off x="9285988" y="3034439"/>
              <a:ext cx="1379171" cy="191514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solidFill>
                    <a:srgbClr val="AF38AF"/>
                  </a:solidFill>
                </a:rPr>
                <a:t>Price perception</a:t>
              </a:r>
              <a:endParaRPr lang="en-IN" sz="1300">
                <a:solidFill>
                  <a:srgbClr val="AF38AF"/>
                </a:soli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E445816-21E9-9CA2-1355-610A7ADBD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33486" y="2637030"/>
              <a:ext cx="588476" cy="166707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005DC59-9646-801C-4093-7A37AE824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613547" y="2613385"/>
              <a:ext cx="413233" cy="213996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ACC74D8-EBF7-DD9A-B77A-79AC897F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927169" y="2355469"/>
              <a:ext cx="587519" cy="235007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3C8184E-2037-DAFA-B8D0-3A959FE64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453804" y="2311922"/>
              <a:ext cx="477301" cy="197710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91682F6-1C68-906E-CD93-9252E9299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2723" y="2640433"/>
              <a:ext cx="623632" cy="231013"/>
            </a:xfrm>
            <a:prstGeom prst="rect">
              <a:avLst/>
            </a:prstGeom>
          </p:spPr>
        </p:pic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81A0FA7-64A8-BCD4-33A7-4935060DE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5160" y="1383965"/>
              <a:ext cx="0" cy="783036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71B03C3-D5DC-4EC8-A899-A67402D8A8D3}"/>
                </a:ext>
              </a:extLst>
            </p:cNvPr>
            <p:cNvSpPr/>
            <p:nvPr/>
          </p:nvSpPr>
          <p:spPr>
            <a:xfrm>
              <a:off x="10249665" y="1713067"/>
              <a:ext cx="587010" cy="236669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chemeClr val="accent5">
                      <a:lumMod val="75000"/>
                    </a:schemeClr>
                  </a:solidFill>
                  <a:latin typeface="Georgia" panose="02040502050405020303" pitchFamily="18" charset="0"/>
                </a:rPr>
                <a:t>GAP</a:t>
              </a: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B131B8AB-EFDB-5BB4-6B8D-AC93F27E5EC4}"/>
              </a:ext>
            </a:extLst>
          </p:cNvPr>
          <p:cNvSpPr/>
          <p:nvPr/>
        </p:nvSpPr>
        <p:spPr>
          <a:xfrm>
            <a:off x="820575" y="870994"/>
            <a:ext cx="3277120" cy="57160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rgbClr val="990099"/>
                </a:solidFill>
              </a:rPr>
              <a:t>Awareness gap assessment via Primary Research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E1644C-D19B-B2A8-FCBA-91E55FB8E1B6}"/>
              </a:ext>
            </a:extLst>
          </p:cNvPr>
          <p:cNvSpPr txBox="1"/>
          <p:nvPr/>
        </p:nvSpPr>
        <p:spPr>
          <a:xfrm>
            <a:off x="727212" y="6446860"/>
            <a:ext cx="7245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Link to Google Form for Primary Research: </a:t>
            </a:r>
            <a:r>
              <a:rPr lang="en-IN" sz="1200">
                <a:solidFill>
                  <a:schemeClr val="bg1"/>
                </a:solidFill>
                <a:hlinkClick r:id="rId19"/>
              </a:rPr>
              <a:t>https://forms.gle/SKiaVxJc1wHgyPW36</a:t>
            </a:r>
            <a:r>
              <a:rPr lang="en-IN" sz="1200">
                <a:solidFill>
                  <a:schemeClr val="bg1"/>
                </a:solidFill>
              </a:rPr>
              <a:t>, Result in </a:t>
            </a:r>
            <a:r>
              <a:rPr lang="en-IN" sz="1200">
                <a:solidFill>
                  <a:schemeClr val="bg1"/>
                </a:solidFill>
                <a:hlinkClick r:id="rId20" action="ppaction://hlinksldjump"/>
              </a:rPr>
              <a:t>Appendix</a:t>
            </a:r>
            <a:r>
              <a:rPr lang="en-IN" sz="1200">
                <a:solidFill>
                  <a:schemeClr val="bg1"/>
                </a:solidFill>
              </a:rPr>
              <a:t> 4</a:t>
            </a:r>
            <a:endParaRPr lang="en-IN" sz="120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695331B-484D-360A-B85C-406CA0950FDF}"/>
              </a:ext>
            </a:extLst>
          </p:cNvPr>
          <p:cNvSpPr/>
          <p:nvPr/>
        </p:nvSpPr>
        <p:spPr>
          <a:xfrm>
            <a:off x="484794" y="964468"/>
            <a:ext cx="262775" cy="262775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985320D-29C4-B596-49EA-566EFFD82A71}"/>
              </a:ext>
            </a:extLst>
          </p:cNvPr>
          <p:cNvSpPr/>
          <p:nvPr/>
        </p:nvSpPr>
        <p:spPr>
          <a:xfrm>
            <a:off x="4209597" y="1017983"/>
            <a:ext cx="7566485" cy="42634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990099"/>
                </a:solidFill>
              </a:rPr>
              <a:t>Aim: </a:t>
            </a:r>
            <a:r>
              <a:rPr lang="en-IN" sz="1400" b="1">
                <a:solidFill>
                  <a:srgbClr val="990099"/>
                </a:solidFill>
              </a:rPr>
              <a:t>Widening digital marketing funnel with Awareness &amp; bundling being growth drivers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0E5B3C4-26D9-0A53-D783-E960CBD3F91A}"/>
              </a:ext>
            </a:extLst>
          </p:cNvPr>
          <p:cNvSpPr/>
          <p:nvPr/>
        </p:nvSpPr>
        <p:spPr>
          <a:xfrm>
            <a:off x="5913262" y="1404536"/>
            <a:ext cx="2067636" cy="4322667"/>
          </a:xfrm>
          <a:prstGeom prst="rect">
            <a:avLst/>
          </a:prstGeom>
          <a:noFill/>
          <a:ln w="28575">
            <a:solidFill>
              <a:srgbClr val="1480D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AA6D994-869E-FF28-DA54-31E0DAD7C459}"/>
              </a:ext>
            </a:extLst>
          </p:cNvPr>
          <p:cNvSpPr/>
          <p:nvPr/>
        </p:nvSpPr>
        <p:spPr>
          <a:xfrm>
            <a:off x="517438" y="3214176"/>
            <a:ext cx="3692159" cy="339734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1480D1"/>
                </a:solidFill>
                <a:highlight>
                  <a:srgbClr val="FFFFFF"/>
                </a:highlight>
              </a:rPr>
              <a:t>&gt;90% </a:t>
            </a:r>
            <a:r>
              <a:rPr lang="en-IN" sz="1300">
                <a:solidFill>
                  <a:srgbClr val="1480D1"/>
                </a:solidFill>
                <a:highlight>
                  <a:srgbClr val="FFFFFF"/>
                </a:highlight>
              </a:rPr>
              <a:t>of </a:t>
            </a:r>
            <a:r>
              <a:rPr lang="en-IN" sz="1300">
                <a:solidFill>
                  <a:srgbClr val="1480D1"/>
                </a:solidFill>
              </a:rPr>
              <a:t>retail customers unaware of bed linen brands except Bombay Dyeing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66B18F1-3EDC-CA98-0926-B50B942623FE}"/>
              </a:ext>
            </a:extLst>
          </p:cNvPr>
          <p:cNvSpPr/>
          <p:nvPr/>
        </p:nvSpPr>
        <p:spPr>
          <a:xfrm>
            <a:off x="579385" y="5407847"/>
            <a:ext cx="3579092" cy="253093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500" b="1">
                <a:solidFill>
                  <a:srgbClr val="1480D1"/>
                </a:solidFill>
                <a:highlight>
                  <a:srgbClr val="FFFFFF"/>
                </a:highlight>
              </a:rPr>
              <a:t>&gt;80% </a:t>
            </a:r>
            <a:r>
              <a:rPr lang="en-IN" sz="1300">
                <a:solidFill>
                  <a:srgbClr val="1480D1"/>
                </a:solidFill>
                <a:highlight>
                  <a:srgbClr val="FFFFFF"/>
                </a:highlight>
              </a:rPr>
              <a:t>customers </a:t>
            </a:r>
            <a:r>
              <a:rPr lang="en-IN" sz="1300">
                <a:solidFill>
                  <a:srgbClr val="1480D1"/>
                </a:solidFill>
              </a:rPr>
              <a:t>start digital searches with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7BC3730F-2673-CDF3-C290-62AFEDF3F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863" y="5459526"/>
            <a:ext cx="170365" cy="167323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347A40EA-2B81-7C84-5791-351560A7DC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1544" y="5474356"/>
            <a:ext cx="227455" cy="167323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988C141A-5959-A89B-BAD7-0902C3536E64}"/>
              </a:ext>
            </a:extLst>
          </p:cNvPr>
          <p:cNvSpPr txBox="1"/>
          <p:nvPr/>
        </p:nvSpPr>
        <p:spPr>
          <a:xfrm>
            <a:off x="107216" y="5629863"/>
            <a:ext cx="5372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i="1">
                <a:solidFill>
                  <a:srgbClr val="990099"/>
                </a:solidFill>
              </a:rPr>
              <a:t>Assumption: </a:t>
            </a:r>
            <a:r>
              <a:rPr lang="en-IN" sz="1200" i="1">
                <a:solidFill>
                  <a:srgbClr val="990099"/>
                </a:solidFill>
              </a:rPr>
              <a:t>Digital Marketing Spendings proportional to digital sales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5B7004-5DF1-63FB-0FA2-A8216330C972}"/>
              </a:ext>
            </a:extLst>
          </p:cNvPr>
          <p:cNvCxnSpPr>
            <a:cxnSpLocks/>
          </p:cNvCxnSpPr>
          <p:nvPr/>
        </p:nvCxnSpPr>
        <p:spPr>
          <a:xfrm>
            <a:off x="812266" y="1605502"/>
            <a:ext cx="234282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590646-C2E6-D7A3-8B32-90ACF2BC65D6}"/>
              </a:ext>
            </a:extLst>
          </p:cNvPr>
          <p:cNvCxnSpPr>
            <a:cxnSpLocks/>
          </p:cNvCxnSpPr>
          <p:nvPr/>
        </p:nvCxnSpPr>
        <p:spPr>
          <a:xfrm>
            <a:off x="798249" y="2249601"/>
            <a:ext cx="234282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478F7D66-6EBF-B154-C3B5-F3083BAC3492}"/>
              </a:ext>
            </a:extLst>
          </p:cNvPr>
          <p:cNvSpPr/>
          <p:nvPr/>
        </p:nvSpPr>
        <p:spPr>
          <a:xfrm>
            <a:off x="491409" y="3780597"/>
            <a:ext cx="262775" cy="262775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EA10ED09-E489-BF22-FE07-23866B6DE2CF}"/>
              </a:ext>
            </a:extLst>
          </p:cNvPr>
          <p:cNvSpPr/>
          <p:nvPr/>
        </p:nvSpPr>
        <p:spPr>
          <a:xfrm>
            <a:off x="507293" y="667820"/>
            <a:ext cx="3806793" cy="25599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Market research</a:t>
            </a:r>
          </a:p>
        </p:txBody>
      </p:sp>
      <p:sp>
        <p:nvSpPr>
          <p:cNvPr id="45" name="Arrow: Pentagon 44">
            <a:extLst>
              <a:ext uri="{FF2B5EF4-FFF2-40B4-BE49-F238E27FC236}">
                <a16:creationId xmlns:a16="http://schemas.microsoft.com/office/drawing/2014/main" id="{A92C73DB-BCEF-5D74-E960-365573F781A1}"/>
              </a:ext>
            </a:extLst>
          </p:cNvPr>
          <p:cNvSpPr/>
          <p:nvPr/>
        </p:nvSpPr>
        <p:spPr>
          <a:xfrm>
            <a:off x="4400799" y="663352"/>
            <a:ext cx="7245104" cy="25889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Market strategy for ABC Co.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1FCC7F-11A6-68DF-A488-B0EF9DA421B0}"/>
              </a:ext>
            </a:extLst>
          </p:cNvPr>
          <p:cNvSpPr txBox="1"/>
          <p:nvPr/>
        </p:nvSpPr>
        <p:spPr>
          <a:xfrm>
            <a:off x="6356877" y="5727206"/>
            <a:ext cx="2585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ABC’s prime focus</a:t>
            </a:r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A9C61FDE-87FB-7F42-C822-4EAE7CB5FF01}"/>
              </a:ext>
            </a:extLst>
          </p:cNvPr>
          <p:cNvSpPr/>
          <p:nvPr/>
        </p:nvSpPr>
        <p:spPr>
          <a:xfrm>
            <a:off x="10565641" y="6015310"/>
            <a:ext cx="1209129" cy="231012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5F24D0C-8024-5B82-9C19-7556A83836EE}"/>
              </a:ext>
            </a:extLst>
          </p:cNvPr>
          <p:cNvSpPr/>
          <p:nvPr/>
        </p:nvSpPr>
        <p:spPr>
          <a:xfrm>
            <a:off x="785815" y="3830118"/>
            <a:ext cx="3613235" cy="242117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rgbClr val="990099"/>
                </a:solidFill>
              </a:rPr>
              <a:t>Digital Marketing Mix Target v. ABC Strategy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A6C3310-5708-12A9-D2BA-6919D8BF4DD2}"/>
              </a:ext>
            </a:extLst>
          </p:cNvPr>
          <p:cNvSpPr/>
          <p:nvPr/>
        </p:nvSpPr>
        <p:spPr>
          <a:xfrm>
            <a:off x="489660" y="3793949"/>
            <a:ext cx="262775" cy="262775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07D5D966-6788-78B8-A60E-C68D2995D7C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62904" y="2266551"/>
            <a:ext cx="539917" cy="21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9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0BF526B0-3F1D-349D-36DA-9636B13EB314}"/>
              </a:ext>
            </a:extLst>
          </p:cNvPr>
          <p:cNvSpPr/>
          <p:nvPr/>
        </p:nvSpPr>
        <p:spPr>
          <a:xfrm>
            <a:off x="8535958" y="6020360"/>
            <a:ext cx="1455065" cy="209305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KPIs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C5BE235-A872-14CE-951A-456FF15C8C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161338"/>
              </p:ext>
            </p:extLst>
          </p:nvPr>
        </p:nvGraphicFramePr>
        <p:xfrm>
          <a:off x="1099457" y="-492465"/>
          <a:ext cx="9993085" cy="6390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4DAAADD-4F31-7BE5-C469-191BD586622C}"/>
              </a:ext>
            </a:extLst>
          </p:cNvPr>
          <p:cNvSpPr/>
          <p:nvPr/>
        </p:nvSpPr>
        <p:spPr>
          <a:xfrm>
            <a:off x="386749" y="117536"/>
            <a:ext cx="8782651" cy="510643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We analysed important KPIs across the unit economics  of e-commerce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660161-00EE-FD4F-9CA4-01D430CCB2EB}"/>
              </a:ext>
            </a:extLst>
          </p:cNvPr>
          <p:cNvSpPr txBox="1"/>
          <p:nvPr/>
        </p:nvSpPr>
        <p:spPr>
          <a:xfrm>
            <a:off x="911337" y="3986755"/>
            <a:ext cx="368953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Referral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Subscriber Growth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Social Media Engagement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Bounce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Active User Engagement Metrics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Pageviews / Session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Traffic – Website &amp; Mobile 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Customer Retention Rate</a:t>
            </a:r>
          </a:p>
          <a:p>
            <a:endParaRPr lang="en-US" sz="13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30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0988F9-4997-FF80-B174-ADBAEA21DFB5}"/>
              </a:ext>
            </a:extLst>
          </p:cNvPr>
          <p:cNvSpPr txBox="1"/>
          <p:nvPr/>
        </p:nvSpPr>
        <p:spPr>
          <a:xfrm>
            <a:off x="8287412" y="4672633"/>
            <a:ext cx="314089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Customer Satisfaction 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Hit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Customer Service Email 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First Response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Average Resolution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30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9D49C0-8FD6-764A-1B36-9D4147B86948}"/>
              </a:ext>
            </a:extLst>
          </p:cNvPr>
          <p:cNvGrpSpPr/>
          <p:nvPr/>
        </p:nvGrpSpPr>
        <p:grpSpPr>
          <a:xfrm>
            <a:off x="417230" y="6020361"/>
            <a:ext cx="10148411" cy="231014"/>
            <a:chOff x="1048771" y="74876"/>
            <a:chExt cx="10148411" cy="468677"/>
          </a:xfrm>
          <a:solidFill>
            <a:srgbClr val="FFEBFF"/>
          </a:solidFill>
        </p:grpSpPr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6258BEAC-E4B4-18AB-B267-57DBD2FAD6AF}"/>
                </a:ext>
              </a:extLst>
            </p:cNvPr>
            <p:cNvSpPr/>
            <p:nvPr/>
          </p:nvSpPr>
          <p:spPr>
            <a:xfrm>
              <a:off x="1048771" y="74881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 potential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722D31BB-B4D1-F84F-FACE-DCDA860A0329}"/>
                </a:ext>
              </a:extLst>
            </p:cNvPr>
            <p:cNvSpPr/>
            <p:nvPr/>
          </p:nvSpPr>
          <p:spPr>
            <a:xfrm>
              <a:off x="9167501" y="74876"/>
              <a:ext cx="2029681" cy="468673"/>
            </a:xfrm>
            <a:prstGeom prst="homePlate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KPI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5B2B267D-39F7-310D-189A-1AC2AB72C82B}"/>
                </a:ext>
              </a:extLst>
            </p:cNvPr>
            <p:cNvSpPr/>
            <p:nvPr/>
          </p:nvSpPr>
          <p:spPr>
            <a:xfrm>
              <a:off x="5108136" y="74878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Channel strategy</a:t>
              </a:r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FBEE9A49-44EE-876D-97FB-A71764EF1FAA}"/>
                </a:ext>
              </a:extLst>
            </p:cNvPr>
            <p:cNvSpPr/>
            <p:nvPr/>
          </p:nvSpPr>
          <p:spPr>
            <a:xfrm>
              <a:off x="7137818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Marketing Strategy</a:t>
              </a:r>
            </a:p>
          </p:txBody>
        </p:sp>
        <p:sp>
          <p:nvSpPr>
            <p:cNvPr id="21" name="Arrow: Pentagon 20">
              <a:extLst>
                <a:ext uri="{FF2B5EF4-FFF2-40B4-BE49-F238E27FC236}">
                  <a16:creationId xmlns:a16="http://schemas.microsoft.com/office/drawing/2014/main" id="{C2B5EDB9-31F3-36B1-E933-49237330CC28}"/>
                </a:ext>
              </a:extLst>
            </p:cNvPr>
            <p:cNvSpPr/>
            <p:nvPr/>
          </p:nvSpPr>
          <p:spPr>
            <a:xfrm>
              <a:off x="3078454" y="74876"/>
              <a:ext cx="2029681" cy="468673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Competitive landscape</a:t>
              </a:r>
            </a:p>
          </p:txBody>
        </p:sp>
      </p:grp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0B72D43E-1A01-E46F-8964-3BC2A0D07E14}"/>
              </a:ext>
            </a:extLst>
          </p:cNvPr>
          <p:cNvSpPr/>
          <p:nvPr/>
        </p:nvSpPr>
        <p:spPr>
          <a:xfrm>
            <a:off x="10565641" y="6045345"/>
            <a:ext cx="1209129" cy="231012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997729-988B-E149-0CC2-198F50366686}"/>
              </a:ext>
            </a:extLst>
          </p:cNvPr>
          <p:cNvGrpSpPr/>
          <p:nvPr/>
        </p:nvGrpSpPr>
        <p:grpSpPr>
          <a:xfrm>
            <a:off x="498381" y="1213723"/>
            <a:ext cx="10941779" cy="4222200"/>
            <a:chOff x="504311" y="1368591"/>
            <a:chExt cx="10941779" cy="4222200"/>
          </a:xfrm>
        </p:grpSpPr>
        <p:sp>
          <p:nvSpPr>
            <p:cNvPr id="12" name="TextBox 1">
              <a:extLst>
                <a:ext uri="{FF2B5EF4-FFF2-40B4-BE49-F238E27FC236}">
                  <a16:creationId xmlns:a16="http://schemas.microsoft.com/office/drawing/2014/main" id="{5087705D-89A1-0035-059E-7751695C35C5}"/>
                </a:ext>
              </a:extLst>
            </p:cNvPr>
            <p:cNvSpPr txBox="1"/>
            <p:nvPr/>
          </p:nvSpPr>
          <p:spPr>
            <a:xfrm>
              <a:off x="5312230" y="5122705"/>
              <a:ext cx="1730828" cy="468086"/>
            </a:xfrm>
            <a:prstGeom prst="rect">
              <a:avLst/>
            </a:prstGeom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G&amp;A</a:t>
              </a:r>
              <a:endParaRPr lang="en-US" sz="110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CDB76-294A-DD66-97C3-62A6F043D7C1}"/>
                </a:ext>
              </a:extLst>
            </p:cNvPr>
            <p:cNvCxnSpPr/>
            <p:nvPr/>
          </p:nvCxnSpPr>
          <p:spPr>
            <a:xfrm flipH="1">
              <a:off x="892629" y="1611086"/>
              <a:ext cx="4419601" cy="0"/>
            </a:xfrm>
            <a:prstGeom prst="line">
              <a:avLst/>
            </a:prstGeom>
            <a:ln w="19050">
              <a:solidFill>
                <a:srgbClr val="46A5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335657-BB35-98EC-135B-07341715A5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8229" y="2514600"/>
              <a:ext cx="1524001" cy="1524000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1FAA72F-8918-FDFB-3F89-AB3C44A2FA27}"/>
                </a:ext>
              </a:extLst>
            </p:cNvPr>
            <p:cNvCxnSpPr/>
            <p:nvPr/>
          </p:nvCxnSpPr>
          <p:spPr>
            <a:xfrm flipH="1">
              <a:off x="892629" y="4038600"/>
              <a:ext cx="2895600" cy="0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4FB9A2A-0CA9-D54E-4C8E-C22CD8B00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3058" y="1507672"/>
              <a:ext cx="859971" cy="1918674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F94A26-CB74-FE2D-4E7E-F69B4750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3029" y="1507672"/>
              <a:ext cx="3543061" cy="0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1ABDBE-76FC-2387-B4CB-9006552B2D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3029" y="3237470"/>
              <a:ext cx="3543061" cy="0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D3FE030-B694-7CC7-DC47-48D7F646D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3058" y="3237470"/>
              <a:ext cx="859971" cy="1148213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8BFD216-7D7B-A662-5E8E-F95475BCD0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3058" y="4772895"/>
              <a:ext cx="859971" cy="510645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FB996E-BBA8-5D0B-345B-C049C7F9D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3029" y="4772895"/>
              <a:ext cx="3543061" cy="0"/>
            </a:xfrm>
            <a:prstGeom prst="line">
              <a:avLst/>
            </a:prstGeom>
            <a:ln w="19050">
              <a:solidFill>
                <a:srgbClr val="66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4AFE062-FB38-7234-A4CF-D6F2A18C9159}"/>
                </a:ext>
              </a:extLst>
            </p:cNvPr>
            <p:cNvSpPr txBox="1"/>
            <p:nvPr/>
          </p:nvSpPr>
          <p:spPr>
            <a:xfrm>
              <a:off x="892629" y="1778000"/>
              <a:ext cx="3140891" cy="2292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Average Order Value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Revenue / Visitor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Revenue / Click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Market Share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Product Affinity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New v/s Returning Customer Orders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Sales – Hourly / Daily / Weekly etc.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Customer Lifetime Value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Shopping Cart Abandonment Rate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Generic : Top-line revenue &amp; Profitability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300">
                <a:solidFill>
                  <a:schemeClr val="bg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F2247D4-39AA-C60D-669A-907344272DAF}"/>
                </a:ext>
              </a:extLst>
            </p:cNvPr>
            <p:cNvSpPr txBox="1"/>
            <p:nvPr/>
          </p:nvSpPr>
          <p:spPr>
            <a:xfrm>
              <a:off x="8289109" y="1544320"/>
              <a:ext cx="3140891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Net Promoter Score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Conversion Rate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Cost / Conversion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Churn Rate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Time between Purchases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Purchase Frequency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Cost / Click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300">
                <a:solidFill>
                  <a:schemeClr val="bg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300">
                <a:solidFill>
                  <a:schemeClr val="bg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6F0E35D-EDAC-98CC-74DD-D99742B039A0}"/>
                </a:ext>
              </a:extLst>
            </p:cNvPr>
            <p:cNvSpPr txBox="1"/>
            <p:nvPr/>
          </p:nvSpPr>
          <p:spPr>
            <a:xfrm>
              <a:off x="8273020" y="3320045"/>
              <a:ext cx="2976882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Cycle Time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Overall Equipment Effectiveness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Overall </a:t>
              </a:r>
              <a:r>
                <a:rPr lang="en-US" sz="1300" b="1" err="1">
                  <a:solidFill>
                    <a:schemeClr val="bg1"/>
                  </a:solidFill>
                </a:rPr>
                <a:t>Labour</a:t>
              </a:r>
              <a:r>
                <a:rPr lang="en-US" sz="1300" b="1">
                  <a:solidFill>
                    <a:schemeClr val="bg1"/>
                  </a:solidFill>
                </a:rPr>
                <a:t> Effectiveness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Inventory Levels &amp; Turnover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 b="1">
                  <a:solidFill>
                    <a:schemeClr val="bg1"/>
                  </a:solidFill>
                </a:rPr>
                <a:t>Lead Time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chemeClr val="bg1"/>
                  </a:solidFill>
                </a:rPr>
                <a:t>Refund &amp; Return Rate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300">
                <a:solidFill>
                  <a:schemeClr val="bg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300">
                <a:solidFill>
                  <a:schemeClr val="bg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300">
                <a:solidFill>
                  <a:schemeClr val="bg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3B1B43E-DDFF-B2DD-DBE2-98639D7E1F62}"/>
                </a:ext>
              </a:extLst>
            </p:cNvPr>
            <p:cNvSpPr/>
            <p:nvPr/>
          </p:nvSpPr>
          <p:spPr>
            <a:xfrm>
              <a:off x="568202" y="1412932"/>
              <a:ext cx="262775" cy="262775"/>
            </a:xfrm>
            <a:prstGeom prst="ellipse">
              <a:avLst/>
            </a:prstGeom>
            <a:solidFill>
              <a:srgbClr val="9900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C49816-FA0F-ECD7-1AB8-66401A2DCAE6}"/>
                </a:ext>
              </a:extLst>
            </p:cNvPr>
            <p:cNvSpPr/>
            <p:nvPr/>
          </p:nvSpPr>
          <p:spPr>
            <a:xfrm>
              <a:off x="504311" y="3814147"/>
              <a:ext cx="262775" cy="262775"/>
            </a:xfrm>
            <a:prstGeom prst="ellipse">
              <a:avLst/>
            </a:prstGeom>
            <a:solidFill>
              <a:srgbClr val="9900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E8248D-4AEB-20A3-734F-0BA99BA7B76B}"/>
                </a:ext>
              </a:extLst>
            </p:cNvPr>
            <p:cNvSpPr/>
            <p:nvPr/>
          </p:nvSpPr>
          <p:spPr>
            <a:xfrm>
              <a:off x="7667249" y="1368591"/>
              <a:ext cx="262775" cy="262775"/>
            </a:xfrm>
            <a:prstGeom prst="ellipse">
              <a:avLst/>
            </a:prstGeom>
            <a:solidFill>
              <a:srgbClr val="9900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A2D76E1-C6CB-AB73-F9B0-569CC23595AE}"/>
                </a:ext>
              </a:extLst>
            </p:cNvPr>
            <p:cNvSpPr/>
            <p:nvPr/>
          </p:nvSpPr>
          <p:spPr>
            <a:xfrm>
              <a:off x="7771641" y="3182152"/>
              <a:ext cx="262775" cy="262775"/>
            </a:xfrm>
            <a:prstGeom prst="ellipse">
              <a:avLst/>
            </a:prstGeom>
            <a:solidFill>
              <a:srgbClr val="9900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E36665-7E13-E01C-7105-65756F47A777}"/>
                </a:ext>
              </a:extLst>
            </p:cNvPr>
            <p:cNvSpPr/>
            <p:nvPr/>
          </p:nvSpPr>
          <p:spPr>
            <a:xfrm>
              <a:off x="7811528" y="4637497"/>
              <a:ext cx="262775" cy="262775"/>
            </a:xfrm>
            <a:prstGeom prst="ellipse">
              <a:avLst/>
            </a:prstGeom>
            <a:solidFill>
              <a:srgbClr val="9900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chemeClr val="tx1"/>
                  </a:solidFill>
                </a:rPr>
                <a:t>5</a:t>
              </a:r>
            </a:p>
          </p:txBody>
        </p:sp>
      </p:grpSp>
      <p:pic>
        <p:nvPicPr>
          <p:cNvPr id="30" name="Graphic 29" descr="Dollar">
            <a:extLst>
              <a:ext uri="{FF2B5EF4-FFF2-40B4-BE49-F238E27FC236}">
                <a16:creationId xmlns:a16="http://schemas.microsoft.com/office/drawing/2014/main" id="{26E16FB9-73E3-B303-641F-269906E83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300" y="1315864"/>
            <a:ext cx="614536" cy="61453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5F8D8FA-A564-FC6A-DC06-4941C46171EC}"/>
              </a:ext>
            </a:extLst>
          </p:cNvPr>
          <p:cNvSpPr txBox="1"/>
          <p:nvPr/>
        </p:nvSpPr>
        <p:spPr>
          <a:xfrm>
            <a:off x="4355025" y="726522"/>
            <a:ext cx="417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2"/>
                </a:solidFill>
              </a:rPr>
              <a:t>Unit-economics components (illustrative)</a:t>
            </a:r>
          </a:p>
        </p:txBody>
      </p:sp>
      <p:pic>
        <p:nvPicPr>
          <p:cNvPr id="35" name="Graphic 34" descr="Connected">
            <a:extLst>
              <a:ext uri="{FF2B5EF4-FFF2-40B4-BE49-F238E27FC236}">
                <a16:creationId xmlns:a16="http://schemas.microsoft.com/office/drawing/2014/main" id="{F485ACAA-E3E9-2CEC-0B3B-96F216B1AA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3230" y="3082602"/>
            <a:ext cx="654959" cy="654959"/>
          </a:xfrm>
          <a:prstGeom prst="rect">
            <a:avLst/>
          </a:prstGeom>
        </p:spPr>
      </p:pic>
      <p:pic>
        <p:nvPicPr>
          <p:cNvPr id="39" name="Graphic 38" descr="Presentation with pie chart">
            <a:extLst>
              <a:ext uri="{FF2B5EF4-FFF2-40B4-BE49-F238E27FC236}">
                <a16:creationId xmlns:a16="http://schemas.microsoft.com/office/drawing/2014/main" id="{DD948A31-0B98-093D-E94B-8CDD4B1427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9905" y="396858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73DF97-4DD1-A3FC-CAC9-BE07B12F576B}"/>
              </a:ext>
            </a:extLst>
          </p:cNvPr>
          <p:cNvGrpSpPr/>
          <p:nvPr/>
        </p:nvGrpSpPr>
        <p:grpSpPr>
          <a:xfrm>
            <a:off x="448053" y="5976943"/>
            <a:ext cx="11028860" cy="252722"/>
            <a:chOff x="1048771" y="30835"/>
            <a:chExt cx="11028860" cy="512718"/>
          </a:xfrm>
          <a:solidFill>
            <a:srgbClr val="FFEBFF"/>
          </a:solidFill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AFEE1E19-175A-DC79-4153-1074A4D5BA07}"/>
                </a:ext>
              </a:extLst>
            </p:cNvPr>
            <p:cNvSpPr/>
            <p:nvPr/>
          </p:nvSpPr>
          <p:spPr>
            <a:xfrm>
              <a:off x="1048771" y="74881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 potential</a:t>
              </a:r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F14E303C-DA5E-8CA7-AB09-A1A97AB66ED9}"/>
                </a:ext>
              </a:extLst>
            </p:cNvPr>
            <p:cNvSpPr/>
            <p:nvPr/>
          </p:nvSpPr>
          <p:spPr>
            <a:xfrm>
              <a:off x="10622565" y="30835"/>
              <a:ext cx="1455066" cy="468669"/>
            </a:xfrm>
            <a:prstGeom prst="homePlate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  <p:sp>
          <p:nvSpPr>
            <p:cNvPr id="7" name="Arrow: Pentagon 6">
              <a:extLst>
                <a:ext uri="{FF2B5EF4-FFF2-40B4-BE49-F238E27FC236}">
                  <a16:creationId xmlns:a16="http://schemas.microsoft.com/office/drawing/2014/main" id="{57D74A9C-5ECE-F4CE-8E8E-87C860F743F5}"/>
                </a:ext>
              </a:extLst>
            </p:cNvPr>
            <p:cNvSpPr/>
            <p:nvPr/>
          </p:nvSpPr>
          <p:spPr>
            <a:xfrm>
              <a:off x="5108136" y="74878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Channel strategy</a:t>
              </a:r>
            </a:p>
          </p:txBody>
        </p:sp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B5348815-D390-C41F-AF78-46FE5F019320}"/>
                </a:ext>
              </a:extLst>
            </p:cNvPr>
            <p:cNvSpPr/>
            <p:nvPr/>
          </p:nvSpPr>
          <p:spPr>
            <a:xfrm>
              <a:off x="7137818" y="74876"/>
              <a:ext cx="2029681" cy="46867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Marketing Strategy</a:t>
              </a:r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CF55268B-E6CC-53EE-F37D-A52EF8C1F7D8}"/>
                </a:ext>
              </a:extLst>
            </p:cNvPr>
            <p:cNvSpPr/>
            <p:nvPr/>
          </p:nvSpPr>
          <p:spPr>
            <a:xfrm>
              <a:off x="3078454" y="74876"/>
              <a:ext cx="2029681" cy="468673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990099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Competitive landscape</a:t>
              </a:r>
            </a:p>
          </p:txBody>
        </p:sp>
      </p:grp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3BB641F-879C-80D7-7C2B-56D29376E63A}"/>
              </a:ext>
            </a:extLst>
          </p:cNvPr>
          <p:cNvSpPr/>
          <p:nvPr/>
        </p:nvSpPr>
        <p:spPr>
          <a:xfrm>
            <a:off x="8566781" y="6009503"/>
            <a:ext cx="1455065" cy="209305"/>
          </a:xfrm>
          <a:prstGeom prst="homePlate">
            <a:avLst/>
          </a:prstGeom>
          <a:solidFill>
            <a:srgbClr val="FF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990099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KPIs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072E83-2E98-98E5-7F24-4FC7FEB8FC88}"/>
              </a:ext>
            </a:extLst>
          </p:cNvPr>
          <p:cNvSpPr/>
          <p:nvPr/>
        </p:nvSpPr>
        <p:spPr>
          <a:xfrm>
            <a:off x="417230" y="137953"/>
            <a:ext cx="5863473" cy="46867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Conclusion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4AEDDE-0F14-E17C-C0F5-A9E14AE65536}"/>
              </a:ext>
            </a:extLst>
          </p:cNvPr>
          <p:cNvSpPr/>
          <p:nvPr/>
        </p:nvSpPr>
        <p:spPr>
          <a:xfrm>
            <a:off x="933674" y="2085654"/>
            <a:ext cx="2568539" cy="34561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D49AE5-FE6C-54B8-5FEF-DDB5D187B1CB}"/>
              </a:ext>
            </a:extLst>
          </p:cNvPr>
          <p:cNvSpPr/>
          <p:nvPr/>
        </p:nvSpPr>
        <p:spPr>
          <a:xfrm>
            <a:off x="4577727" y="2085654"/>
            <a:ext cx="2568539" cy="34561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201C63F-F05B-A88A-4FD7-278DD04A6825}"/>
              </a:ext>
            </a:extLst>
          </p:cNvPr>
          <p:cNvSpPr/>
          <p:nvPr/>
        </p:nvSpPr>
        <p:spPr>
          <a:xfrm>
            <a:off x="8089774" y="2085654"/>
            <a:ext cx="2568539" cy="34561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FF41C99D-E599-9B54-64CC-8BDC94C78D09}"/>
              </a:ext>
            </a:extLst>
          </p:cNvPr>
          <p:cNvSpPr/>
          <p:nvPr/>
        </p:nvSpPr>
        <p:spPr>
          <a:xfrm>
            <a:off x="1175671" y="2352782"/>
            <a:ext cx="2091511" cy="729465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68C6C316-2767-4CF9-27AA-997E5014F674}"/>
              </a:ext>
            </a:extLst>
          </p:cNvPr>
          <p:cNvSpPr/>
          <p:nvPr/>
        </p:nvSpPr>
        <p:spPr>
          <a:xfrm>
            <a:off x="4816240" y="2376141"/>
            <a:ext cx="2091511" cy="729465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Terminator 26">
            <a:extLst>
              <a:ext uri="{FF2B5EF4-FFF2-40B4-BE49-F238E27FC236}">
                <a16:creationId xmlns:a16="http://schemas.microsoft.com/office/drawing/2014/main" id="{EE5E5C08-0A47-7D3D-2C85-3AF7A50439CD}"/>
              </a:ext>
            </a:extLst>
          </p:cNvPr>
          <p:cNvSpPr/>
          <p:nvPr/>
        </p:nvSpPr>
        <p:spPr>
          <a:xfrm>
            <a:off x="8342840" y="2363631"/>
            <a:ext cx="2091511" cy="729465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8EBAE-CC54-60F4-3C18-02F851FD7B71}"/>
              </a:ext>
            </a:extLst>
          </p:cNvPr>
          <p:cNvSpPr txBox="1"/>
          <p:nvPr/>
        </p:nvSpPr>
        <p:spPr>
          <a:xfrm>
            <a:off x="999465" y="2501895"/>
            <a:ext cx="234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Fill awareness gap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5A39CE-975B-205D-37EB-169DA364C471}"/>
              </a:ext>
            </a:extLst>
          </p:cNvPr>
          <p:cNvSpPr txBox="1"/>
          <p:nvPr/>
        </p:nvSpPr>
        <p:spPr>
          <a:xfrm>
            <a:off x="4687245" y="2434655"/>
            <a:ext cx="2349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Jump on the D2C</a:t>
            </a:r>
          </a:p>
          <a:p>
            <a:pPr algn="ctr"/>
            <a:r>
              <a:rPr lang="en-IN"/>
              <a:t> wave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49CA3-A8C1-B5CA-0A31-6CC88A5A76AA}"/>
              </a:ext>
            </a:extLst>
          </p:cNvPr>
          <p:cNvSpPr txBox="1"/>
          <p:nvPr/>
        </p:nvSpPr>
        <p:spPr>
          <a:xfrm>
            <a:off x="8248556" y="2376141"/>
            <a:ext cx="2349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Rebalancing e-commerce portfolio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F8B7230-5D58-4E37-3711-2671920EEB04}"/>
              </a:ext>
            </a:extLst>
          </p:cNvPr>
          <p:cNvSpPr/>
          <p:nvPr/>
        </p:nvSpPr>
        <p:spPr>
          <a:xfrm>
            <a:off x="894535" y="2085654"/>
            <a:ext cx="262775" cy="262775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E9DEE1C-E24D-C619-C6AE-B707D6A55234}"/>
              </a:ext>
            </a:extLst>
          </p:cNvPr>
          <p:cNvSpPr/>
          <p:nvPr/>
        </p:nvSpPr>
        <p:spPr>
          <a:xfrm>
            <a:off x="4550331" y="2092323"/>
            <a:ext cx="262775" cy="262775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0C88F5F-6CE4-B7FF-001D-318336B9A8AD}"/>
              </a:ext>
            </a:extLst>
          </p:cNvPr>
          <p:cNvSpPr/>
          <p:nvPr/>
        </p:nvSpPr>
        <p:spPr>
          <a:xfrm>
            <a:off x="7987490" y="2113366"/>
            <a:ext cx="262775" cy="262775"/>
          </a:xfrm>
          <a:prstGeom prst="ellipse">
            <a:avLst/>
          </a:prstGeom>
          <a:solidFill>
            <a:srgbClr val="9900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Georgia" panose="02040502050405020303" pitchFamily="18" charset="0"/>
              </a:rPr>
              <a:t>3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777608-367D-F318-538C-9F3617E5A7B9}"/>
              </a:ext>
            </a:extLst>
          </p:cNvPr>
          <p:cNvGrpSpPr/>
          <p:nvPr/>
        </p:nvGrpSpPr>
        <p:grpSpPr>
          <a:xfrm>
            <a:off x="1357162" y="1022237"/>
            <a:ext cx="9154191" cy="595730"/>
            <a:chOff x="1280160" y="1147052"/>
            <a:chExt cx="9154191" cy="595730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49C994B-D0FB-3042-9AD3-B572815371A9}"/>
                </a:ext>
              </a:extLst>
            </p:cNvPr>
            <p:cNvCxnSpPr/>
            <p:nvPr/>
          </p:nvCxnSpPr>
          <p:spPr>
            <a:xfrm flipV="1">
              <a:off x="1280160" y="1439439"/>
              <a:ext cx="9154191" cy="1095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5ACAD20-40C0-B239-1392-C29959C676C0}"/>
                </a:ext>
              </a:extLst>
            </p:cNvPr>
            <p:cNvGrpSpPr/>
            <p:nvPr/>
          </p:nvGrpSpPr>
          <p:grpSpPr>
            <a:xfrm>
              <a:off x="1433391" y="1147052"/>
              <a:ext cx="8711464" cy="595730"/>
              <a:chOff x="955470" y="1141641"/>
              <a:chExt cx="8711464" cy="59573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B86684-22D0-E3A4-9BCB-A5A89423C754}"/>
                  </a:ext>
                </a:extLst>
              </p:cNvPr>
              <p:cNvSpPr txBox="1"/>
              <p:nvPr/>
            </p:nvSpPr>
            <p:spPr>
              <a:xfrm>
                <a:off x="955470" y="1141765"/>
                <a:ext cx="1955503" cy="5847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>
                    <a:solidFill>
                      <a:schemeClr val="accent1"/>
                    </a:solidFill>
                  </a:rPr>
                  <a:t>Increase Awareness &amp; brand positioning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F6B0CC-F6F6-9A01-46D6-6B3DB2D06268}"/>
                  </a:ext>
                </a:extLst>
              </p:cNvPr>
              <p:cNvSpPr txBox="1"/>
              <p:nvPr/>
            </p:nvSpPr>
            <p:spPr>
              <a:xfrm>
                <a:off x="3177301" y="1141641"/>
                <a:ext cx="1955503" cy="5847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IN" sz="1600" b="1">
                    <a:solidFill>
                      <a:schemeClr val="accent1"/>
                    </a:solidFill>
                    <a:cs typeface="Calibri"/>
                  </a:rPr>
                  <a:t>Deploy D2C to build internal capabilities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8BC577-C422-19C5-2D5E-284E0CE80CEA}"/>
                  </a:ext>
                </a:extLst>
              </p:cNvPr>
              <p:cNvSpPr txBox="1"/>
              <p:nvPr/>
            </p:nvSpPr>
            <p:spPr>
              <a:xfrm>
                <a:off x="5402972" y="1143952"/>
                <a:ext cx="1955503" cy="5847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>
                    <a:solidFill>
                      <a:schemeClr val="accent1"/>
                    </a:solidFill>
                  </a:rPr>
                  <a:t>Rebalance E-commerce Portfolio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1B8E82C-7F21-4BA6-8DDB-66A9E5C7CF70}"/>
                  </a:ext>
                </a:extLst>
              </p:cNvPr>
              <p:cNvSpPr txBox="1"/>
              <p:nvPr/>
            </p:nvSpPr>
            <p:spPr>
              <a:xfrm>
                <a:off x="7711431" y="1152596"/>
                <a:ext cx="1955503" cy="5847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>
                    <a:solidFill>
                      <a:schemeClr val="accent1"/>
                    </a:solidFill>
                  </a:rPr>
                  <a:t>Monitor KPI’s to maintain dynamism</a:t>
                </a:r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12EFEAD-3EB9-C86A-4B53-AD04DCFF1FBA}"/>
              </a:ext>
            </a:extLst>
          </p:cNvPr>
          <p:cNvSpPr txBox="1"/>
          <p:nvPr/>
        </p:nvSpPr>
        <p:spPr>
          <a:xfrm>
            <a:off x="4813106" y="3320133"/>
            <a:ext cx="233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Reduce dependence on mainstream channels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FDF376-EDD2-9A81-D4A8-08E34CF21807}"/>
              </a:ext>
            </a:extLst>
          </p:cNvPr>
          <p:cNvSpPr txBox="1"/>
          <p:nvPr/>
        </p:nvSpPr>
        <p:spPr>
          <a:xfrm>
            <a:off x="4813106" y="3892056"/>
            <a:ext cx="23331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Align &amp; build capabilities for D2C creating a robust business model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44999FF-3921-EBE7-DA95-FB76F38EFEE2}"/>
              </a:ext>
            </a:extLst>
          </p:cNvPr>
          <p:cNvCxnSpPr/>
          <p:nvPr/>
        </p:nvCxnSpPr>
        <p:spPr>
          <a:xfrm>
            <a:off x="4813106" y="4828854"/>
            <a:ext cx="21225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265586D-F9C6-FD54-65B0-A5D812B76FB2}"/>
              </a:ext>
            </a:extLst>
          </p:cNvPr>
          <p:cNvSpPr txBox="1"/>
          <p:nvPr/>
        </p:nvSpPr>
        <p:spPr>
          <a:xfrm>
            <a:off x="4627309" y="4809821"/>
            <a:ext cx="2511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</a:rPr>
              <a:t>Improving Brand Image &amp; Presence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846D19-9967-119A-0BAB-2C0CF0D58659}"/>
              </a:ext>
            </a:extLst>
          </p:cNvPr>
          <p:cNvSpPr txBox="1"/>
          <p:nvPr/>
        </p:nvSpPr>
        <p:spPr>
          <a:xfrm>
            <a:off x="8362036" y="3285247"/>
            <a:ext cx="2195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Improve product visibility on Amazon/Flipkart (lion’s share of sales)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F3C705-4EA2-2C94-BAA0-76194055B6ED}"/>
              </a:ext>
            </a:extLst>
          </p:cNvPr>
          <p:cNvSpPr txBox="1"/>
          <p:nvPr/>
        </p:nvSpPr>
        <p:spPr>
          <a:xfrm>
            <a:off x="8427239" y="4821632"/>
            <a:ext cx="199213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</a:rPr>
              <a:t>Reducing current dependence on Myntra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5875FD-21FF-8C90-6B46-50BE8457927D}"/>
              </a:ext>
            </a:extLst>
          </p:cNvPr>
          <p:cNvCxnSpPr/>
          <p:nvPr/>
        </p:nvCxnSpPr>
        <p:spPr>
          <a:xfrm>
            <a:off x="8362036" y="4828854"/>
            <a:ext cx="21225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851C7F0-7F8E-0994-2F2D-A677F610D0D5}"/>
              </a:ext>
            </a:extLst>
          </p:cNvPr>
          <p:cNvCxnSpPr/>
          <p:nvPr/>
        </p:nvCxnSpPr>
        <p:spPr>
          <a:xfrm>
            <a:off x="1144642" y="4819008"/>
            <a:ext cx="21225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86E32C4-0184-D8D4-DCA5-592CD092FA8E}"/>
              </a:ext>
            </a:extLst>
          </p:cNvPr>
          <p:cNvSpPr txBox="1"/>
          <p:nvPr/>
        </p:nvSpPr>
        <p:spPr>
          <a:xfrm>
            <a:off x="1178148" y="4841785"/>
            <a:ext cx="199213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  <a:cs typeface="Calibri"/>
              </a:rPr>
              <a:t>Improving Engagement &amp; Conversion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E654F2-A6C3-1E4E-DB1F-842CA07F25CA}"/>
              </a:ext>
            </a:extLst>
          </p:cNvPr>
          <p:cNvSpPr txBox="1"/>
          <p:nvPr/>
        </p:nvSpPr>
        <p:spPr>
          <a:xfrm>
            <a:off x="1175671" y="3277472"/>
            <a:ext cx="2326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A holistic digital channel for increasing brand awareness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4DD06B-0082-134F-BE93-D755F8F74717}"/>
              </a:ext>
            </a:extLst>
          </p:cNvPr>
          <p:cNvSpPr txBox="1"/>
          <p:nvPr/>
        </p:nvSpPr>
        <p:spPr>
          <a:xfrm>
            <a:off x="1175671" y="3863450"/>
            <a:ext cx="2279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Accentuating brand image &amp; presence for better recall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CCE06A-CE14-3B02-25DE-7309BE8273F8}"/>
              </a:ext>
            </a:extLst>
          </p:cNvPr>
          <p:cNvSpPr txBox="1"/>
          <p:nvPr/>
        </p:nvSpPr>
        <p:spPr>
          <a:xfrm>
            <a:off x="8374909" y="4022218"/>
            <a:ext cx="2195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Integrating different channels to create comprehensive synergies</a:t>
            </a:r>
          </a:p>
        </p:txBody>
      </p:sp>
    </p:spTree>
    <p:extLst>
      <p:ext uri="{BB962C8B-B14F-4D97-AF65-F5344CB8AC3E}">
        <p14:creationId xmlns:p14="http://schemas.microsoft.com/office/powerpoint/2010/main" val="70337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511BF8-E872-41A1-9F7B-6E37EE45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3F0DB-2AF2-42D7-ACFE-66F97BE0E0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1000" y="6472238"/>
            <a:ext cx="381000" cy="207962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80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72EB94-49B4-5588-81FA-6591B42452A9}"/>
              </a:ext>
            </a:extLst>
          </p:cNvPr>
          <p:cNvSpPr txBox="1"/>
          <p:nvPr/>
        </p:nvSpPr>
        <p:spPr>
          <a:xfrm>
            <a:off x="410300" y="115420"/>
            <a:ext cx="509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Appendix 1: Case facts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59559F4-BBA7-500A-74EE-7F4707837C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399875"/>
              </p:ext>
            </p:extLst>
          </p:nvPr>
        </p:nvGraphicFramePr>
        <p:xfrm>
          <a:off x="1054202" y="993749"/>
          <a:ext cx="4351253" cy="2404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16A3527-25D7-FF8E-6FF1-183C5EE96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260653"/>
              </p:ext>
            </p:extLst>
          </p:nvPr>
        </p:nvGraphicFramePr>
        <p:xfrm>
          <a:off x="5895595" y="739251"/>
          <a:ext cx="5242203" cy="2404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E9406B-E74C-A4FF-E86B-6EAE961E5C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48740"/>
              </p:ext>
            </p:extLst>
          </p:nvPr>
        </p:nvGraphicFramePr>
        <p:xfrm>
          <a:off x="583555" y="3398282"/>
          <a:ext cx="5691117" cy="2748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3FF95E4-871B-3E56-91C0-F7621154A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69278"/>
              </p:ext>
            </p:extLst>
          </p:nvPr>
        </p:nvGraphicFramePr>
        <p:xfrm>
          <a:off x="6559688" y="3653368"/>
          <a:ext cx="5125764" cy="2560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252">
                  <a:extLst>
                    <a:ext uri="{9D8B030D-6E8A-4147-A177-3AD203B41FA5}">
                      <a16:colId xmlns:a16="http://schemas.microsoft.com/office/drawing/2014/main" val="1196973117"/>
                    </a:ext>
                  </a:extLst>
                </a:gridCol>
                <a:gridCol w="932775">
                  <a:extLst>
                    <a:ext uri="{9D8B030D-6E8A-4147-A177-3AD203B41FA5}">
                      <a16:colId xmlns:a16="http://schemas.microsoft.com/office/drawing/2014/main" val="429557383"/>
                    </a:ext>
                  </a:extLst>
                </a:gridCol>
                <a:gridCol w="531729">
                  <a:extLst>
                    <a:ext uri="{9D8B030D-6E8A-4147-A177-3AD203B41FA5}">
                      <a16:colId xmlns:a16="http://schemas.microsoft.com/office/drawing/2014/main" val="927608798"/>
                    </a:ext>
                  </a:extLst>
                </a:gridCol>
                <a:gridCol w="732252">
                  <a:extLst>
                    <a:ext uri="{9D8B030D-6E8A-4147-A177-3AD203B41FA5}">
                      <a16:colId xmlns:a16="http://schemas.microsoft.com/office/drawing/2014/main" val="2777497428"/>
                    </a:ext>
                  </a:extLst>
                </a:gridCol>
                <a:gridCol w="732252">
                  <a:extLst>
                    <a:ext uri="{9D8B030D-6E8A-4147-A177-3AD203B41FA5}">
                      <a16:colId xmlns:a16="http://schemas.microsoft.com/office/drawing/2014/main" val="920515129"/>
                    </a:ext>
                  </a:extLst>
                </a:gridCol>
                <a:gridCol w="732252">
                  <a:extLst>
                    <a:ext uri="{9D8B030D-6E8A-4147-A177-3AD203B41FA5}">
                      <a16:colId xmlns:a16="http://schemas.microsoft.com/office/drawing/2014/main" val="2216832468"/>
                    </a:ext>
                  </a:extLst>
                </a:gridCol>
                <a:gridCol w="732252">
                  <a:extLst>
                    <a:ext uri="{9D8B030D-6E8A-4147-A177-3AD203B41FA5}">
                      <a16:colId xmlns:a16="http://schemas.microsoft.com/office/drawing/2014/main" val="627569622"/>
                    </a:ext>
                  </a:extLst>
                </a:gridCol>
              </a:tblGrid>
              <a:tr h="567863">
                <a:tc>
                  <a:txBody>
                    <a:bodyPr/>
                    <a:lstStyle/>
                    <a:p>
                      <a:r>
                        <a:rPr lang="en-US" sz="1200"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INR &lt;400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INR 400-600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INR 600 –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INR 600 -800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INR 1000+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266072"/>
                  </a:ext>
                </a:extLst>
              </a:tr>
              <a:tr h="31154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Amazon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Bedsheets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121250"/>
                  </a:ext>
                </a:extLst>
              </a:tr>
              <a:tr h="311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Towels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515629"/>
                  </a:ext>
                </a:extLst>
              </a:tr>
              <a:tr h="357665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Flipkart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Bedsheets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41392"/>
                  </a:ext>
                </a:extLst>
              </a:tr>
              <a:tr h="3244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Towels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36646"/>
                  </a:ext>
                </a:extLst>
              </a:tr>
              <a:tr h="362746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Myntra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Bedsheets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32421"/>
                  </a:ext>
                </a:extLst>
              </a:tr>
              <a:tr h="3244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Towels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8235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9C2ED9-813F-3C19-DF4F-9C4F2F75D35D}"/>
              </a:ext>
            </a:extLst>
          </p:cNvPr>
          <p:cNvSpPr txBox="1"/>
          <p:nvPr/>
        </p:nvSpPr>
        <p:spPr>
          <a:xfrm>
            <a:off x="6426177" y="644270"/>
            <a:ext cx="941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Exhibit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88648-865C-8869-D2E1-0B9DC717F2D9}"/>
              </a:ext>
            </a:extLst>
          </p:cNvPr>
          <p:cNvSpPr txBox="1"/>
          <p:nvPr/>
        </p:nvSpPr>
        <p:spPr>
          <a:xfrm>
            <a:off x="6466923" y="3345591"/>
            <a:ext cx="941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Exhibit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7D575-9B81-7978-85B4-9A5B2540754E}"/>
              </a:ext>
            </a:extLst>
          </p:cNvPr>
          <p:cNvSpPr txBox="1"/>
          <p:nvPr/>
        </p:nvSpPr>
        <p:spPr>
          <a:xfrm>
            <a:off x="583555" y="3367283"/>
            <a:ext cx="941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Exhibit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5BAF9-E761-C69B-3EB6-5D03623EEF8B}"/>
              </a:ext>
            </a:extLst>
          </p:cNvPr>
          <p:cNvSpPr txBox="1"/>
          <p:nvPr/>
        </p:nvSpPr>
        <p:spPr>
          <a:xfrm>
            <a:off x="583555" y="3365174"/>
            <a:ext cx="941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Exhibit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13F5AD-330D-15C1-2AC0-39FB9372BE88}"/>
              </a:ext>
            </a:extLst>
          </p:cNvPr>
          <p:cNvSpPr txBox="1"/>
          <p:nvPr/>
        </p:nvSpPr>
        <p:spPr>
          <a:xfrm>
            <a:off x="583555" y="685972"/>
            <a:ext cx="941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Exhibit 1</a:t>
            </a:r>
          </a:p>
        </p:txBody>
      </p:sp>
    </p:spTree>
    <p:extLst>
      <p:ext uri="{BB962C8B-B14F-4D97-AF65-F5344CB8AC3E}">
        <p14:creationId xmlns:p14="http://schemas.microsoft.com/office/powerpoint/2010/main" val="343281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4688D6-F5CA-23CE-C446-D066A6CF6117}"/>
              </a:ext>
            </a:extLst>
          </p:cNvPr>
          <p:cNvSpPr txBox="1"/>
          <p:nvPr/>
        </p:nvSpPr>
        <p:spPr>
          <a:xfrm>
            <a:off x="482745" y="102570"/>
            <a:ext cx="1019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Appendix 2 – Market sizing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CD8E7-D8B0-A679-B7CE-06DCE1ADCE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t="1125" r="-1084" b="1125"/>
          <a:stretch/>
        </p:blipFill>
        <p:spPr>
          <a:xfrm>
            <a:off x="516000" y="1018309"/>
            <a:ext cx="5580000" cy="43636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3779C5-F641-6D1B-F0E1-AFD1C9B66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80532"/>
            <a:ext cx="5704667" cy="44750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6A03F3-F4BE-E10E-FE15-65A52E8722AC}"/>
              </a:ext>
            </a:extLst>
          </p:cNvPr>
          <p:cNvSpPr txBox="1"/>
          <p:nvPr/>
        </p:nvSpPr>
        <p:spPr>
          <a:xfrm>
            <a:off x="723900" y="711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accent1"/>
                </a:solidFill>
              </a:rPr>
              <a:t>Part I </a:t>
            </a:r>
            <a:r>
              <a:rPr lang="en-IN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65684-A5CA-C995-DFCC-210485F4DC2E}"/>
              </a:ext>
            </a:extLst>
          </p:cNvPr>
          <p:cNvSpPr txBox="1"/>
          <p:nvPr/>
        </p:nvSpPr>
        <p:spPr>
          <a:xfrm>
            <a:off x="6182570" y="735553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accent1"/>
                </a:solidFill>
              </a:rPr>
              <a:t>Part II </a:t>
            </a:r>
            <a:r>
              <a:rPr lang="en-IN"/>
              <a:t>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113DE6-7E64-DEC9-A6F9-BCF7E2CAA035}"/>
              </a:ext>
            </a:extLst>
          </p:cNvPr>
          <p:cNvCxnSpPr/>
          <p:nvPr/>
        </p:nvCxnSpPr>
        <p:spPr>
          <a:xfrm>
            <a:off x="6096000" y="711200"/>
            <a:ext cx="0" cy="5435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95DC92-8617-D169-E861-9F8746CD2E13}"/>
              </a:ext>
            </a:extLst>
          </p:cNvPr>
          <p:cNvSpPr txBox="1"/>
          <p:nvPr/>
        </p:nvSpPr>
        <p:spPr>
          <a:xfrm>
            <a:off x="516000" y="6429940"/>
            <a:ext cx="37615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hlinkClick r:id="rId4"/>
              </a:rPr>
              <a:t> Link to Excel Market Sizing Estimate.xlsx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625385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E7CB43C-432D-649E-FA29-D60A00C9D074}"/>
              </a:ext>
            </a:extLst>
          </p:cNvPr>
          <p:cNvGrpSpPr/>
          <p:nvPr/>
        </p:nvGrpSpPr>
        <p:grpSpPr>
          <a:xfrm>
            <a:off x="481990" y="1426355"/>
            <a:ext cx="3581245" cy="3442909"/>
            <a:chOff x="583899" y="2957229"/>
            <a:chExt cx="3798596" cy="251920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" name="Freeform 12">
              <a:extLst>
                <a:ext uri="{FF2B5EF4-FFF2-40B4-BE49-F238E27FC236}">
                  <a16:creationId xmlns:a16="http://schemas.microsoft.com/office/drawing/2014/main" id="{D8818E7F-B57C-41D3-03FE-1901F8A2CFE2}"/>
                </a:ext>
              </a:extLst>
            </p:cNvPr>
            <p:cNvSpPr/>
            <p:nvPr/>
          </p:nvSpPr>
          <p:spPr>
            <a:xfrm>
              <a:off x="695002" y="4793512"/>
              <a:ext cx="1130276" cy="229051"/>
            </a:xfrm>
            <a:custGeom>
              <a:avLst/>
              <a:gdLst/>
              <a:ahLst/>
              <a:cxnLst/>
              <a:rect l="l" t="t" r="r" b="b"/>
              <a:pathLst>
                <a:path w="447561" h="141818">
                  <a:moveTo>
                    <a:pt x="0" y="0"/>
                  </a:moveTo>
                  <a:lnTo>
                    <a:pt x="447561" y="0"/>
                  </a:lnTo>
                  <a:lnTo>
                    <a:pt x="447561" y="141818"/>
                  </a:lnTo>
                  <a:lnTo>
                    <a:pt x="0" y="141818"/>
                  </a:lnTo>
                  <a:close/>
                </a:path>
              </a:pathLst>
            </a:custGeom>
            <a:grpFill/>
          </p:spPr>
        </p:sp>
        <p:sp>
          <p:nvSpPr>
            <p:cNvPr id="48" name="TextBox 61">
              <a:extLst>
                <a:ext uri="{FF2B5EF4-FFF2-40B4-BE49-F238E27FC236}">
                  <a16:creationId xmlns:a16="http://schemas.microsoft.com/office/drawing/2014/main" id="{D64B567C-3992-6144-2185-248D36C17947}"/>
                </a:ext>
              </a:extLst>
            </p:cNvPr>
            <p:cNvSpPr txBox="1"/>
            <p:nvPr/>
          </p:nvSpPr>
          <p:spPr>
            <a:xfrm>
              <a:off x="685439" y="2957229"/>
              <a:ext cx="3697056" cy="170638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1400" b="1" i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 Persona 1</a:t>
              </a:r>
            </a:p>
          </p:txBody>
        </p:sp>
        <p:sp>
          <p:nvSpPr>
            <p:cNvPr id="49" name="TextBox 62">
              <a:extLst>
                <a:ext uri="{FF2B5EF4-FFF2-40B4-BE49-F238E27FC236}">
                  <a16:creationId xmlns:a16="http://schemas.microsoft.com/office/drawing/2014/main" id="{65A07EF2-B482-EFA7-8169-DA797F075FCD}"/>
                </a:ext>
              </a:extLst>
            </p:cNvPr>
            <p:cNvSpPr txBox="1"/>
            <p:nvPr/>
          </p:nvSpPr>
          <p:spPr>
            <a:xfrm>
              <a:off x="583899" y="4862605"/>
              <a:ext cx="1148378" cy="198714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5C3A9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Demography</a:t>
              </a:r>
            </a:p>
          </p:txBody>
        </p:sp>
        <p:sp>
          <p:nvSpPr>
            <p:cNvPr id="50" name="TextBox 63">
              <a:extLst>
                <a:ext uri="{FF2B5EF4-FFF2-40B4-BE49-F238E27FC236}">
                  <a16:creationId xmlns:a16="http://schemas.microsoft.com/office/drawing/2014/main" id="{F96882F6-FCE8-B7FC-708E-9F50DE3319F0}"/>
                </a:ext>
              </a:extLst>
            </p:cNvPr>
            <p:cNvSpPr txBox="1"/>
            <p:nvPr/>
          </p:nvSpPr>
          <p:spPr>
            <a:xfrm>
              <a:off x="1929682" y="4830091"/>
              <a:ext cx="2434827" cy="270244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Gender- Male | Age- 26yrs | From -Lucknow</a:t>
              </a:r>
            </a:p>
          </p:txBody>
        </p:sp>
        <p:sp>
          <p:nvSpPr>
            <p:cNvPr id="52" name="TextBox 65">
              <a:extLst>
                <a:ext uri="{FF2B5EF4-FFF2-40B4-BE49-F238E27FC236}">
                  <a16:creationId xmlns:a16="http://schemas.microsoft.com/office/drawing/2014/main" id="{F9598970-2E54-D19D-716F-1361CE30333D}"/>
                </a:ext>
              </a:extLst>
            </p:cNvPr>
            <p:cNvSpPr txBox="1"/>
            <p:nvPr/>
          </p:nvSpPr>
          <p:spPr>
            <a:xfrm>
              <a:off x="1931784" y="5188081"/>
              <a:ext cx="2432725" cy="288353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Style, Price, Sustainability, Room Aesthetics</a:t>
              </a:r>
            </a:p>
          </p:txBody>
        </p:sp>
        <p:sp>
          <p:nvSpPr>
            <p:cNvPr id="58" name="TextBox 74">
              <a:extLst>
                <a:ext uri="{FF2B5EF4-FFF2-40B4-BE49-F238E27FC236}">
                  <a16:creationId xmlns:a16="http://schemas.microsoft.com/office/drawing/2014/main" id="{C8E4E332-316E-02DA-5FF7-A48704187701}"/>
                </a:ext>
              </a:extLst>
            </p:cNvPr>
            <p:cNvSpPr txBox="1"/>
            <p:nvPr/>
          </p:nvSpPr>
          <p:spPr>
            <a:xfrm>
              <a:off x="652842" y="4428068"/>
              <a:ext cx="3697056" cy="270244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marL="172720" lvl="1"/>
              <a:r>
                <a:rPr lang="en-US" sz="1200" i="1">
                  <a:solidFill>
                    <a:schemeClr val="bg1"/>
                  </a:solidFill>
                  <a:latin typeface="Arial"/>
                  <a:cs typeface="Arial"/>
                </a:rPr>
                <a:t>“Focused on style, type and overall theme of the room”</a:t>
              </a:r>
            </a:p>
          </p:txBody>
        </p:sp>
        <p:sp>
          <p:nvSpPr>
            <p:cNvPr id="51" name="TextBox 64">
              <a:extLst>
                <a:ext uri="{FF2B5EF4-FFF2-40B4-BE49-F238E27FC236}">
                  <a16:creationId xmlns:a16="http://schemas.microsoft.com/office/drawing/2014/main" id="{A93BD77E-21B4-9BB1-D846-85BDD770F914}"/>
                </a:ext>
              </a:extLst>
            </p:cNvPr>
            <p:cNvSpPr txBox="1"/>
            <p:nvPr/>
          </p:nvSpPr>
          <p:spPr>
            <a:xfrm>
              <a:off x="652196" y="5198822"/>
              <a:ext cx="1148379" cy="2466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5C3A9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Focus</a:t>
              </a:r>
            </a:p>
          </p:txBody>
        </p:sp>
      </p:grpSp>
      <p:sp>
        <p:nvSpPr>
          <p:cNvPr id="159" name="TextBox 74">
            <a:extLst>
              <a:ext uri="{FF2B5EF4-FFF2-40B4-BE49-F238E27FC236}">
                <a16:creationId xmlns:a16="http://schemas.microsoft.com/office/drawing/2014/main" id="{01CADCBB-B86F-19C8-1F2E-A846E0785009}"/>
              </a:ext>
            </a:extLst>
          </p:cNvPr>
          <p:cNvSpPr txBox="1"/>
          <p:nvPr/>
        </p:nvSpPr>
        <p:spPr>
          <a:xfrm>
            <a:off x="1621558" y="3184520"/>
            <a:ext cx="1264029" cy="184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marL="172720" lvl="1"/>
            <a:r>
              <a:rPr lang="en-US" sz="1200" i="1">
                <a:solidFill>
                  <a:schemeClr val="bg1"/>
                </a:solidFill>
                <a:latin typeface="Arial"/>
                <a:cs typeface="Arial"/>
              </a:rPr>
              <a:t>Dev Banerjee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22D802-E3A6-3DAF-4AB9-7B954734CED3}"/>
              </a:ext>
            </a:extLst>
          </p:cNvPr>
          <p:cNvGrpSpPr/>
          <p:nvPr/>
        </p:nvGrpSpPr>
        <p:grpSpPr>
          <a:xfrm>
            <a:off x="509893" y="921057"/>
            <a:ext cx="11172214" cy="4528951"/>
            <a:chOff x="472717" y="1426352"/>
            <a:chExt cx="11172214" cy="4528951"/>
          </a:xfrm>
        </p:grpSpPr>
        <p:sp>
          <p:nvSpPr>
            <p:cNvPr id="80" name="Freeform 12">
              <a:extLst>
                <a:ext uri="{FF2B5EF4-FFF2-40B4-BE49-F238E27FC236}">
                  <a16:creationId xmlns:a16="http://schemas.microsoft.com/office/drawing/2014/main" id="{991F8ED6-FA2D-3886-BA7B-7EB4457C6A0B}"/>
                </a:ext>
              </a:extLst>
            </p:cNvPr>
            <p:cNvSpPr/>
            <p:nvPr/>
          </p:nvSpPr>
          <p:spPr>
            <a:xfrm>
              <a:off x="659958" y="3721041"/>
              <a:ext cx="1130276" cy="321717"/>
            </a:xfrm>
            <a:custGeom>
              <a:avLst/>
              <a:gdLst/>
              <a:ahLst/>
              <a:cxnLst/>
              <a:rect l="l" t="t" r="r" b="b"/>
              <a:pathLst>
                <a:path w="447561" h="141818">
                  <a:moveTo>
                    <a:pt x="0" y="0"/>
                  </a:moveTo>
                  <a:lnTo>
                    <a:pt x="447561" y="0"/>
                  </a:lnTo>
                  <a:lnTo>
                    <a:pt x="447561" y="141818"/>
                  </a:lnTo>
                  <a:lnTo>
                    <a:pt x="0" y="141818"/>
                  </a:ln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104057F0-8E23-940B-A715-DB15091FD250}"/>
                </a:ext>
              </a:extLst>
            </p:cNvPr>
            <p:cNvSpPr/>
            <p:nvPr/>
          </p:nvSpPr>
          <p:spPr>
            <a:xfrm>
              <a:off x="706097" y="3720344"/>
              <a:ext cx="1130276" cy="321717"/>
            </a:xfrm>
            <a:custGeom>
              <a:avLst/>
              <a:gdLst/>
              <a:ahLst/>
              <a:cxnLst/>
              <a:rect l="l" t="t" r="r" b="b"/>
              <a:pathLst>
                <a:path w="447561" h="141818">
                  <a:moveTo>
                    <a:pt x="0" y="0"/>
                  </a:moveTo>
                  <a:lnTo>
                    <a:pt x="447561" y="0"/>
                  </a:lnTo>
                  <a:lnTo>
                    <a:pt x="447561" y="141818"/>
                  </a:lnTo>
                  <a:lnTo>
                    <a:pt x="0" y="1418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grpSp>
          <p:nvGrpSpPr>
            <p:cNvPr id="10" name="Group 38">
              <a:extLst>
                <a:ext uri="{FF2B5EF4-FFF2-40B4-BE49-F238E27FC236}">
                  <a16:creationId xmlns:a16="http://schemas.microsoft.com/office/drawing/2014/main" id="{3E7CB43C-432D-649E-FA29-D60A00C9D074}"/>
                </a:ext>
              </a:extLst>
            </p:cNvPr>
            <p:cNvGrpSpPr/>
            <p:nvPr/>
          </p:nvGrpSpPr>
          <p:grpSpPr>
            <a:xfrm>
              <a:off x="472717" y="1426352"/>
              <a:ext cx="3630210" cy="4528951"/>
              <a:chOff x="574063" y="2957229"/>
              <a:chExt cx="3850532" cy="3313874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C8A1D63F-199C-A5CA-FB54-7349E5F27AC7}"/>
                  </a:ext>
                </a:extLst>
              </p:cNvPr>
              <p:cNvSpPr/>
              <p:nvPr/>
            </p:nvSpPr>
            <p:spPr>
              <a:xfrm>
                <a:off x="574063" y="2968007"/>
                <a:ext cx="3850532" cy="330309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9601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596012"/>
                    </a:lnTo>
                    <a:lnTo>
                      <a:pt x="0" y="59601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12">
                <a:extLst>
                  <a:ext uri="{FF2B5EF4-FFF2-40B4-BE49-F238E27FC236}">
                    <a16:creationId xmlns:a16="http://schemas.microsoft.com/office/drawing/2014/main" id="{D8818E7F-B57C-41D3-03FE-1901F8A2CFE2}"/>
                  </a:ext>
                </a:extLst>
              </p:cNvPr>
              <p:cNvSpPr/>
              <p:nvPr/>
            </p:nvSpPr>
            <p:spPr>
              <a:xfrm>
                <a:off x="695002" y="4793512"/>
                <a:ext cx="1130276" cy="229051"/>
              </a:xfrm>
              <a:custGeom>
                <a:avLst/>
                <a:gdLst/>
                <a:ahLst/>
                <a:cxnLst/>
                <a:rect l="l" t="t" r="r" b="b"/>
                <a:pathLst>
                  <a:path w="447561" h="141818">
                    <a:moveTo>
                      <a:pt x="0" y="0"/>
                    </a:moveTo>
                    <a:lnTo>
                      <a:pt x="447561" y="0"/>
                    </a:lnTo>
                    <a:lnTo>
                      <a:pt x="447561" y="141818"/>
                    </a:lnTo>
                    <a:lnTo>
                      <a:pt x="0" y="141818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2" name="TextBox 61">
                <a:extLst>
                  <a:ext uri="{FF2B5EF4-FFF2-40B4-BE49-F238E27FC236}">
                    <a16:creationId xmlns:a16="http://schemas.microsoft.com/office/drawing/2014/main" id="{D64B567C-3992-6144-2185-248D36C17947}"/>
                  </a:ext>
                </a:extLst>
              </p:cNvPr>
              <p:cNvSpPr txBox="1"/>
              <p:nvPr/>
            </p:nvSpPr>
            <p:spPr>
              <a:xfrm>
                <a:off x="685439" y="2957229"/>
                <a:ext cx="3697056" cy="170638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en-US" sz="1400" b="1" i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 Persona 1</a:t>
                </a:r>
              </a:p>
            </p:txBody>
          </p:sp>
          <p:sp>
            <p:nvSpPr>
              <p:cNvPr id="4" name="TextBox 62">
                <a:extLst>
                  <a:ext uri="{FF2B5EF4-FFF2-40B4-BE49-F238E27FC236}">
                    <a16:creationId xmlns:a16="http://schemas.microsoft.com/office/drawing/2014/main" id="{65A07EF2-B482-EFA7-8169-DA797F075FCD}"/>
                  </a:ext>
                </a:extLst>
              </p:cNvPr>
              <p:cNvSpPr txBox="1"/>
              <p:nvPr/>
            </p:nvSpPr>
            <p:spPr>
              <a:xfrm>
                <a:off x="583899" y="4862605"/>
                <a:ext cx="1148378" cy="19871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1200" b="1">
                    <a:solidFill>
                      <a:srgbClr val="5C3A9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Demography</a:t>
                </a:r>
              </a:p>
            </p:txBody>
          </p:sp>
          <p:sp>
            <p:nvSpPr>
              <p:cNvPr id="6" name="TextBox 63">
                <a:extLst>
                  <a:ext uri="{FF2B5EF4-FFF2-40B4-BE49-F238E27FC236}">
                    <a16:creationId xmlns:a16="http://schemas.microsoft.com/office/drawing/2014/main" id="{F96882F6-FCE8-B7FC-708E-9F50DE3319F0}"/>
                  </a:ext>
                </a:extLst>
              </p:cNvPr>
              <p:cNvSpPr txBox="1"/>
              <p:nvPr/>
            </p:nvSpPr>
            <p:spPr>
              <a:xfrm>
                <a:off x="1929682" y="4830091"/>
                <a:ext cx="2434827" cy="27024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1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Gender- Male | Age- 26yrs | From -Lucknow</a:t>
                </a:r>
              </a:p>
            </p:txBody>
          </p:sp>
          <p:sp>
            <p:nvSpPr>
              <p:cNvPr id="9" name="TextBox 65">
                <a:extLst>
                  <a:ext uri="{FF2B5EF4-FFF2-40B4-BE49-F238E27FC236}">
                    <a16:creationId xmlns:a16="http://schemas.microsoft.com/office/drawing/2014/main" id="{F9598970-2E54-D19D-716F-1361CE30333D}"/>
                  </a:ext>
                </a:extLst>
              </p:cNvPr>
              <p:cNvSpPr txBox="1"/>
              <p:nvPr/>
            </p:nvSpPr>
            <p:spPr>
              <a:xfrm>
                <a:off x="1947200" y="5162430"/>
                <a:ext cx="2432725" cy="288353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600"/>
                  </a:lnSpc>
                </a:pPr>
                <a:r>
                  <a:rPr lang="en-US" sz="1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Style, Price, Sustainability, Room Aesthetics</a:t>
                </a:r>
              </a:p>
            </p:txBody>
          </p:sp>
          <p:sp>
            <p:nvSpPr>
              <p:cNvPr id="7" name="TextBox 74">
                <a:extLst>
                  <a:ext uri="{FF2B5EF4-FFF2-40B4-BE49-F238E27FC236}">
                    <a16:creationId xmlns:a16="http://schemas.microsoft.com/office/drawing/2014/main" id="{C8E4E332-316E-02DA-5FF7-A48704187701}"/>
                  </a:ext>
                </a:extLst>
              </p:cNvPr>
              <p:cNvSpPr txBox="1"/>
              <p:nvPr/>
            </p:nvSpPr>
            <p:spPr>
              <a:xfrm>
                <a:off x="630797" y="4495205"/>
                <a:ext cx="3697056" cy="27024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72720" lvl="1"/>
                <a:r>
                  <a:rPr lang="en-US" sz="1200" i="1">
                    <a:solidFill>
                      <a:schemeClr val="bg1"/>
                    </a:solidFill>
                    <a:latin typeface="Arial"/>
                    <a:cs typeface="Arial"/>
                  </a:rPr>
                  <a:t>“Focused on style, type and overall theme of the room”</a:t>
                </a:r>
              </a:p>
            </p:txBody>
          </p:sp>
          <p:sp>
            <p:nvSpPr>
              <p:cNvPr id="8" name="TextBox 64">
                <a:extLst>
                  <a:ext uri="{FF2B5EF4-FFF2-40B4-BE49-F238E27FC236}">
                    <a16:creationId xmlns:a16="http://schemas.microsoft.com/office/drawing/2014/main" id="{A93BD77E-21B4-9BB1-D846-85BDD770F914}"/>
                  </a:ext>
                </a:extLst>
              </p:cNvPr>
              <p:cNvSpPr txBox="1"/>
              <p:nvPr/>
            </p:nvSpPr>
            <p:spPr>
              <a:xfrm>
                <a:off x="629575" y="5167859"/>
                <a:ext cx="1148379" cy="24667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1200" b="1">
                    <a:solidFill>
                      <a:srgbClr val="5C3A9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 Focus</a:t>
                </a:r>
              </a:p>
            </p:txBody>
          </p:sp>
        </p:grpSp>
        <p:sp>
          <p:nvSpPr>
            <p:cNvPr id="77" name="TextBox 64">
              <a:extLst>
                <a:ext uri="{FF2B5EF4-FFF2-40B4-BE49-F238E27FC236}">
                  <a16:creationId xmlns:a16="http://schemas.microsoft.com/office/drawing/2014/main" id="{D0BEFFCA-52AC-B106-9878-F3E4E1F6C0F6}"/>
                </a:ext>
              </a:extLst>
            </p:cNvPr>
            <p:cNvSpPr txBox="1"/>
            <p:nvPr/>
          </p:nvSpPr>
          <p:spPr>
            <a:xfrm>
              <a:off x="564135" y="5349467"/>
              <a:ext cx="1186634" cy="1846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>
                  <a:solidFill>
                    <a:srgbClr val="5C3A9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Channel Focus</a:t>
              </a:r>
            </a:p>
          </p:txBody>
        </p:sp>
        <p:sp>
          <p:nvSpPr>
            <p:cNvPr id="78" name="TextBox 65">
              <a:extLst>
                <a:ext uri="{FF2B5EF4-FFF2-40B4-BE49-F238E27FC236}">
                  <a16:creationId xmlns:a16="http://schemas.microsoft.com/office/drawing/2014/main" id="{03AFD559-8E84-222E-26DF-942BE31B2BD3}"/>
                </a:ext>
              </a:extLst>
            </p:cNvPr>
            <p:cNvSpPr txBox="1"/>
            <p:nvPr/>
          </p:nvSpPr>
          <p:spPr>
            <a:xfrm>
              <a:off x="1790234" y="5331924"/>
              <a:ext cx="3949526" cy="188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– Amazon &amp; </a:t>
              </a:r>
              <a:r>
                <a:rPr lang="en-US" sz="12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Pepperfry</a:t>
              </a:r>
              <a:endPara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2" name="Picture 81" descr="A person wearing sunglasses&#10;&#10;Description automatically generated with medium confidence">
              <a:extLst>
                <a:ext uri="{FF2B5EF4-FFF2-40B4-BE49-F238E27FC236}">
                  <a16:creationId xmlns:a16="http://schemas.microsoft.com/office/drawing/2014/main" id="{4B494E74-A97A-9B74-0CF4-96DE98F8A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2339" y="2093567"/>
              <a:ext cx="1233248" cy="1224113"/>
            </a:xfrm>
            <a:prstGeom prst="rect">
              <a:avLst/>
            </a:prstGeom>
            <a:effectLst>
              <a:softEdge rad="40294"/>
            </a:effectLst>
          </p:spPr>
        </p:pic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799290F1-BF67-AE63-6DAC-E8921F03B939}"/>
                </a:ext>
              </a:extLst>
            </p:cNvPr>
            <p:cNvGrpSpPr/>
            <p:nvPr/>
          </p:nvGrpSpPr>
          <p:grpSpPr>
            <a:xfrm>
              <a:off x="4232389" y="1426352"/>
              <a:ext cx="3630210" cy="4528951"/>
              <a:chOff x="574063" y="2957229"/>
              <a:chExt cx="3850532" cy="3313874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133" name="Freeform 4">
                <a:extLst>
                  <a:ext uri="{FF2B5EF4-FFF2-40B4-BE49-F238E27FC236}">
                    <a16:creationId xmlns:a16="http://schemas.microsoft.com/office/drawing/2014/main" id="{9ADD4FC3-D843-B70A-E711-8C414A2396E1}"/>
                  </a:ext>
                </a:extLst>
              </p:cNvPr>
              <p:cNvSpPr/>
              <p:nvPr/>
            </p:nvSpPr>
            <p:spPr>
              <a:xfrm>
                <a:off x="574063" y="2968007"/>
                <a:ext cx="3850532" cy="330309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9601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596012"/>
                    </a:lnTo>
                    <a:lnTo>
                      <a:pt x="0" y="59601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2">
                <a:extLst>
                  <a:ext uri="{FF2B5EF4-FFF2-40B4-BE49-F238E27FC236}">
                    <a16:creationId xmlns:a16="http://schemas.microsoft.com/office/drawing/2014/main" id="{64843801-730E-EF08-DBF4-B5AE8AFDE520}"/>
                  </a:ext>
                </a:extLst>
              </p:cNvPr>
              <p:cNvSpPr/>
              <p:nvPr/>
            </p:nvSpPr>
            <p:spPr>
              <a:xfrm>
                <a:off x="695002" y="4793512"/>
                <a:ext cx="1130276" cy="229051"/>
              </a:xfrm>
              <a:custGeom>
                <a:avLst/>
                <a:gdLst/>
                <a:ahLst/>
                <a:cxnLst/>
                <a:rect l="l" t="t" r="r" b="b"/>
                <a:pathLst>
                  <a:path w="447561" h="141818">
                    <a:moveTo>
                      <a:pt x="0" y="0"/>
                    </a:moveTo>
                    <a:lnTo>
                      <a:pt x="447561" y="0"/>
                    </a:lnTo>
                    <a:lnTo>
                      <a:pt x="447561" y="141818"/>
                    </a:lnTo>
                    <a:lnTo>
                      <a:pt x="0" y="141818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35" name="TextBox 61">
                <a:extLst>
                  <a:ext uri="{FF2B5EF4-FFF2-40B4-BE49-F238E27FC236}">
                    <a16:creationId xmlns:a16="http://schemas.microsoft.com/office/drawing/2014/main" id="{44D75B86-35AE-9E5F-EFF3-486FC39050BD}"/>
                  </a:ext>
                </a:extLst>
              </p:cNvPr>
              <p:cNvSpPr txBox="1"/>
              <p:nvPr/>
            </p:nvSpPr>
            <p:spPr>
              <a:xfrm>
                <a:off x="685439" y="2957229"/>
                <a:ext cx="3697056" cy="170638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en-US" sz="1400" b="1" i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 Persona 2</a:t>
                </a:r>
              </a:p>
            </p:txBody>
          </p:sp>
          <p:sp>
            <p:nvSpPr>
              <p:cNvPr id="136" name="TextBox 62">
                <a:extLst>
                  <a:ext uri="{FF2B5EF4-FFF2-40B4-BE49-F238E27FC236}">
                    <a16:creationId xmlns:a16="http://schemas.microsoft.com/office/drawing/2014/main" id="{5DA46A75-D88F-7366-6CEE-45E100CD3491}"/>
                  </a:ext>
                </a:extLst>
              </p:cNvPr>
              <p:cNvSpPr txBox="1"/>
              <p:nvPr/>
            </p:nvSpPr>
            <p:spPr>
              <a:xfrm>
                <a:off x="574063" y="4862605"/>
                <a:ext cx="1148378" cy="19871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1200" b="1">
                    <a:solidFill>
                      <a:srgbClr val="5C3A9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Demography</a:t>
                </a:r>
              </a:p>
            </p:txBody>
          </p:sp>
          <p:sp>
            <p:nvSpPr>
              <p:cNvPr id="137" name="TextBox 63">
                <a:extLst>
                  <a:ext uri="{FF2B5EF4-FFF2-40B4-BE49-F238E27FC236}">
                    <a16:creationId xmlns:a16="http://schemas.microsoft.com/office/drawing/2014/main" id="{61A1F1C8-F906-524E-84F9-78550B62CDAA}"/>
                  </a:ext>
                </a:extLst>
              </p:cNvPr>
              <p:cNvSpPr txBox="1"/>
              <p:nvPr/>
            </p:nvSpPr>
            <p:spPr>
              <a:xfrm>
                <a:off x="1929682" y="4830091"/>
                <a:ext cx="2434827" cy="27024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1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Gender- Female | Age- 25yrs | From - Mumbai</a:t>
                </a:r>
              </a:p>
            </p:txBody>
          </p:sp>
          <p:sp>
            <p:nvSpPr>
              <p:cNvPr id="138" name="TextBox 65">
                <a:extLst>
                  <a:ext uri="{FF2B5EF4-FFF2-40B4-BE49-F238E27FC236}">
                    <a16:creationId xmlns:a16="http://schemas.microsoft.com/office/drawing/2014/main" id="{7A43424A-6C9B-16DF-4F1B-0D7B29094640}"/>
                  </a:ext>
                </a:extLst>
              </p:cNvPr>
              <p:cNvSpPr txBox="1"/>
              <p:nvPr/>
            </p:nvSpPr>
            <p:spPr>
              <a:xfrm>
                <a:off x="1943881" y="5217702"/>
                <a:ext cx="2432725" cy="138218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600"/>
                  </a:lnSpc>
                </a:pPr>
                <a:r>
                  <a:rPr lang="en-US" sz="1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Comfort, Pattern, Delivery time </a:t>
                </a:r>
              </a:p>
            </p:txBody>
          </p:sp>
          <p:sp>
            <p:nvSpPr>
              <p:cNvPr id="139" name="TextBox 74">
                <a:extLst>
                  <a:ext uri="{FF2B5EF4-FFF2-40B4-BE49-F238E27FC236}">
                    <a16:creationId xmlns:a16="http://schemas.microsoft.com/office/drawing/2014/main" id="{ADFE344F-0E92-5B8C-69FF-52FCD2E79E72}"/>
                  </a:ext>
                </a:extLst>
              </p:cNvPr>
              <p:cNvSpPr txBox="1"/>
              <p:nvPr/>
            </p:nvSpPr>
            <p:spPr>
              <a:xfrm>
                <a:off x="611528" y="4474629"/>
                <a:ext cx="3697056" cy="27024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72720" lvl="1"/>
                <a:r>
                  <a:rPr lang="en-US" sz="1200" i="1">
                    <a:solidFill>
                      <a:schemeClr val="bg1"/>
                    </a:solidFill>
                    <a:latin typeface="Arial"/>
                    <a:cs typeface="Arial"/>
                  </a:rPr>
                  <a:t>“How does it look? How fast can it deliver? Do I trust the brand?”</a:t>
                </a:r>
              </a:p>
            </p:txBody>
          </p:sp>
          <p:sp>
            <p:nvSpPr>
              <p:cNvPr id="140" name="TextBox 64">
                <a:extLst>
                  <a:ext uri="{FF2B5EF4-FFF2-40B4-BE49-F238E27FC236}">
                    <a16:creationId xmlns:a16="http://schemas.microsoft.com/office/drawing/2014/main" id="{AC970CD7-E508-6649-926B-E0BB75AF08D2}"/>
                  </a:ext>
                </a:extLst>
              </p:cNvPr>
              <p:cNvSpPr txBox="1"/>
              <p:nvPr/>
            </p:nvSpPr>
            <p:spPr>
              <a:xfrm>
                <a:off x="634148" y="5167859"/>
                <a:ext cx="1148379" cy="24667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1200" b="1">
                    <a:solidFill>
                      <a:srgbClr val="5C3A9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 Focus</a:t>
                </a: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2B1AF44-E6F5-D5C3-8578-2A9C046C97D1}"/>
                </a:ext>
              </a:extLst>
            </p:cNvPr>
            <p:cNvGrpSpPr/>
            <p:nvPr/>
          </p:nvGrpSpPr>
          <p:grpSpPr>
            <a:xfrm>
              <a:off x="8014721" y="1426352"/>
              <a:ext cx="3630210" cy="4528951"/>
              <a:chOff x="574063" y="2957229"/>
              <a:chExt cx="3850532" cy="3313874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142" name="Freeform 4">
                <a:extLst>
                  <a:ext uri="{FF2B5EF4-FFF2-40B4-BE49-F238E27FC236}">
                    <a16:creationId xmlns:a16="http://schemas.microsoft.com/office/drawing/2014/main" id="{8DB9B87D-C204-7703-C5CA-18B62BC4C57C}"/>
                  </a:ext>
                </a:extLst>
              </p:cNvPr>
              <p:cNvSpPr/>
              <p:nvPr/>
            </p:nvSpPr>
            <p:spPr>
              <a:xfrm>
                <a:off x="574063" y="2968007"/>
                <a:ext cx="3850532" cy="330309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9601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596012"/>
                    </a:lnTo>
                    <a:lnTo>
                      <a:pt x="0" y="59601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2">
                <a:extLst>
                  <a:ext uri="{FF2B5EF4-FFF2-40B4-BE49-F238E27FC236}">
                    <a16:creationId xmlns:a16="http://schemas.microsoft.com/office/drawing/2014/main" id="{091E3961-C319-E8AF-5B46-79636890BEF5}"/>
                  </a:ext>
                </a:extLst>
              </p:cNvPr>
              <p:cNvSpPr/>
              <p:nvPr/>
            </p:nvSpPr>
            <p:spPr>
              <a:xfrm>
                <a:off x="695002" y="4793512"/>
                <a:ext cx="1130276" cy="229051"/>
              </a:xfrm>
              <a:custGeom>
                <a:avLst/>
                <a:gdLst/>
                <a:ahLst/>
                <a:cxnLst/>
                <a:rect l="l" t="t" r="r" b="b"/>
                <a:pathLst>
                  <a:path w="447561" h="141818">
                    <a:moveTo>
                      <a:pt x="0" y="0"/>
                    </a:moveTo>
                    <a:lnTo>
                      <a:pt x="447561" y="0"/>
                    </a:lnTo>
                    <a:lnTo>
                      <a:pt x="447561" y="141818"/>
                    </a:lnTo>
                    <a:lnTo>
                      <a:pt x="0" y="141818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44" name="TextBox 61">
                <a:extLst>
                  <a:ext uri="{FF2B5EF4-FFF2-40B4-BE49-F238E27FC236}">
                    <a16:creationId xmlns:a16="http://schemas.microsoft.com/office/drawing/2014/main" id="{59FE0A70-E987-F42D-B029-60FB49913FCC}"/>
                  </a:ext>
                </a:extLst>
              </p:cNvPr>
              <p:cNvSpPr txBox="1"/>
              <p:nvPr/>
            </p:nvSpPr>
            <p:spPr>
              <a:xfrm>
                <a:off x="685439" y="2957229"/>
                <a:ext cx="3697056" cy="170638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en-US" sz="1400" b="1" i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 Persona 3</a:t>
                </a:r>
              </a:p>
            </p:txBody>
          </p:sp>
          <p:sp>
            <p:nvSpPr>
              <p:cNvPr id="145" name="TextBox 62">
                <a:extLst>
                  <a:ext uri="{FF2B5EF4-FFF2-40B4-BE49-F238E27FC236}">
                    <a16:creationId xmlns:a16="http://schemas.microsoft.com/office/drawing/2014/main" id="{E4A82FF8-F7B5-3541-452C-92E1495966F1}"/>
                  </a:ext>
                </a:extLst>
              </p:cNvPr>
              <p:cNvSpPr txBox="1"/>
              <p:nvPr/>
            </p:nvSpPr>
            <p:spPr>
              <a:xfrm>
                <a:off x="583899" y="4862605"/>
                <a:ext cx="1148378" cy="19871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1200" b="1">
                    <a:solidFill>
                      <a:srgbClr val="5C3A9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Demography</a:t>
                </a:r>
              </a:p>
            </p:txBody>
          </p:sp>
          <p:sp>
            <p:nvSpPr>
              <p:cNvPr id="146" name="TextBox 63">
                <a:extLst>
                  <a:ext uri="{FF2B5EF4-FFF2-40B4-BE49-F238E27FC236}">
                    <a16:creationId xmlns:a16="http://schemas.microsoft.com/office/drawing/2014/main" id="{88AE30B8-0526-5C54-F673-21369F2514F1}"/>
                  </a:ext>
                </a:extLst>
              </p:cNvPr>
              <p:cNvSpPr txBox="1"/>
              <p:nvPr/>
            </p:nvSpPr>
            <p:spPr>
              <a:xfrm>
                <a:off x="1929682" y="4830091"/>
                <a:ext cx="2434827" cy="27024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1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Gender- Male | Age- 32yrs | From – Delhi </a:t>
                </a:r>
              </a:p>
            </p:txBody>
          </p:sp>
          <p:sp>
            <p:nvSpPr>
              <p:cNvPr id="147" name="TextBox 65">
                <a:extLst>
                  <a:ext uri="{FF2B5EF4-FFF2-40B4-BE49-F238E27FC236}">
                    <a16:creationId xmlns:a16="http://schemas.microsoft.com/office/drawing/2014/main" id="{E2D0CCC8-9A4C-7EAA-2A4F-4856880C1D39}"/>
                  </a:ext>
                </a:extLst>
              </p:cNvPr>
              <p:cNvSpPr txBox="1"/>
              <p:nvPr/>
            </p:nvSpPr>
            <p:spPr>
              <a:xfrm>
                <a:off x="1931784" y="5277766"/>
                <a:ext cx="2432725" cy="138218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600"/>
                  </a:lnSpc>
                </a:pPr>
                <a:r>
                  <a:rPr lang="en-US" sz="1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 feel, Premium Brand</a:t>
                </a:r>
              </a:p>
            </p:txBody>
          </p:sp>
          <p:sp>
            <p:nvSpPr>
              <p:cNvPr id="148" name="TextBox 74">
                <a:extLst>
                  <a:ext uri="{FF2B5EF4-FFF2-40B4-BE49-F238E27FC236}">
                    <a16:creationId xmlns:a16="http://schemas.microsoft.com/office/drawing/2014/main" id="{C56AB4BA-45AE-E565-32CD-9F7F9DC94D5B}"/>
                  </a:ext>
                </a:extLst>
              </p:cNvPr>
              <p:cNvSpPr txBox="1"/>
              <p:nvPr/>
            </p:nvSpPr>
            <p:spPr>
              <a:xfrm>
                <a:off x="650801" y="4470478"/>
                <a:ext cx="3697056" cy="270244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72720" lvl="1"/>
                <a:r>
                  <a:rPr lang="en-US" sz="1200" i="1">
                    <a:solidFill>
                      <a:schemeClr val="bg1"/>
                    </a:solidFill>
                    <a:latin typeface="Arial"/>
                    <a:cs typeface="Arial"/>
                  </a:rPr>
                  <a:t>“I generally focus on softness, look, is it fitted or not? Is it a good brand or not?”</a:t>
                </a:r>
              </a:p>
            </p:txBody>
          </p:sp>
          <p:sp>
            <p:nvSpPr>
              <p:cNvPr id="149" name="TextBox 64">
                <a:extLst>
                  <a:ext uri="{FF2B5EF4-FFF2-40B4-BE49-F238E27FC236}">
                    <a16:creationId xmlns:a16="http://schemas.microsoft.com/office/drawing/2014/main" id="{FCDE4AC8-3396-50AA-3C75-AF47C1986C79}"/>
                  </a:ext>
                </a:extLst>
              </p:cNvPr>
              <p:cNvSpPr txBox="1"/>
              <p:nvPr/>
            </p:nvSpPr>
            <p:spPr>
              <a:xfrm>
                <a:off x="652196" y="5229349"/>
                <a:ext cx="1148379" cy="24667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1200" b="1">
                    <a:solidFill>
                      <a:srgbClr val="5C3A9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 Focus</a:t>
                </a:r>
              </a:p>
            </p:txBody>
          </p:sp>
        </p:grpSp>
        <p:pic>
          <p:nvPicPr>
            <p:cNvPr id="151" name="Picture 150" descr="A picture containing grass, outdoor&#10;&#10;Description automatically generated">
              <a:extLst>
                <a:ext uri="{FF2B5EF4-FFF2-40B4-BE49-F238E27FC236}">
                  <a16:creationId xmlns:a16="http://schemas.microsoft.com/office/drawing/2014/main" id="{AFC2B6C9-FD5B-2B27-7E1C-27BB65276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2011" y="2050027"/>
              <a:ext cx="1314371" cy="1279038"/>
            </a:xfrm>
            <a:prstGeom prst="rect">
              <a:avLst/>
            </a:prstGeom>
            <a:effectLst>
              <a:softEdge rad="39889"/>
            </a:effectLst>
          </p:spPr>
        </p:pic>
        <p:sp>
          <p:nvSpPr>
            <p:cNvPr id="152" name="TextBox 64">
              <a:extLst>
                <a:ext uri="{FF2B5EF4-FFF2-40B4-BE49-F238E27FC236}">
                  <a16:creationId xmlns:a16="http://schemas.microsoft.com/office/drawing/2014/main" id="{97EE20F2-DC85-7947-E71B-771D6EBA8207}"/>
                </a:ext>
              </a:extLst>
            </p:cNvPr>
            <p:cNvSpPr txBox="1"/>
            <p:nvPr/>
          </p:nvSpPr>
          <p:spPr>
            <a:xfrm>
              <a:off x="4309048" y="5324585"/>
              <a:ext cx="1186634" cy="1846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>
                  <a:solidFill>
                    <a:srgbClr val="5C3A9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Channel Focus</a:t>
              </a:r>
            </a:p>
          </p:txBody>
        </p:sp>
        <p:sp>
          <p:nvSpPr>
            <p:cNvPr id="153" name="TextBox 65">
              <a:extLst>
                <a:ext uri="{FF2B5EF4-FFF2-40B4-BE49-F238E27FC236}">
                  <a16:creationId xmlns:a16="http://schemas.microsoft.com/office/drawing/2014/main" id="{1ABF127D-4555-FDDE-98C5-EF89F5731FD8}"/>
                </a:ext>
              </a:extLst>
            </p:cNvPr>
            <p:cNvSpPr txBox="1"/>
            <p:nvPr/>
          </p:nvSpPr>
          <p:spPr>
            <a:xfrm>
              <a:off x="5534033" y="5306815"/>
              <a:ext cx="3949526" cy="188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– Google &amp; Amazon</a:t>
              </a:r>
            </a:p>
          </p:txBody>
        </p:sp>
        <p:pic>
          <p:nvPicPr>
            <p:cNvPr id="155" name="Picture 154" descr="A person standing on a cliff by the water&#10;&#10;Description automatically generated with low confidence">
              <a:extLst>
                <a:ext uri="{FF2B5EF4-FFF2-40B4-BE49-F238E27FC236}">
                  <a16:creationId xmlns:a16="http://schemas.microsoft.com/office/drawing/2014/main" id="{1C855323-DA41-73BA-1552-5AE608D99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94343" y="2034256"/>
              <a:ext cx="1394844" cy="1295968"/>
            </a:xfrm>
            <a:prstGeom prst="rect">
              <a:avLst/>
            </a:prstGeom>
            <a:effectLst>
              <a:softEdge rad="78058"/>
            </a:effectLst>
          </p:spPr>
        </p:pic>
        <p:sp>
          <p:nvSpPr>
            <p:cNvPr id="156" name="TextBox 64">
              <a:extLst>
                <a:ext uri="{FF2B5EF4-FFF2-40B4-BE49-F238E27FC236}">
                  <a16:creationId xmlns:a16="http://schemas.microsoft.com/office/drawing/2014/main" id="{6A4E0127-4256-52FA-8654-32966E759818}"/>
                </a:ext>
              </a:extLst>
            </p:cNvPr>
            <p:cNvSpPr txBox="1"/>
            <p:nvPr/>
          </p:nvSpPr>
          <p:spPr>
            <a:xfrm>
              <a:off x="8088383" y="5299861"/>
              <a:ext cx="1186634" cy="1846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>
                  <a:solidFill>
                    <a:srgbClr val="5C3A9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Channel Focus</a:t>
              </a:r>
            </a:p>
          </p:txBody>
        </p:sp>
        <p:sp>
          <p:nvSpPr>
            <p:cNvPr id="157" name="TextBox 65">
              <a:extLst>
                <a:ext uri="{FF2B5EF4-FFF2-40B4-BE49-F238E27FC236}">
                  <a16:creationId xmlns:a16="http://schemas.microsoft.com/office/drawing/2014/main" id="{53EB16D9-8F6C-7DB7-0DDE-AFC1776D933B}"/>
                </a:ext>
              </a:extLst>
            </p:cNvPr>
            <p:cNvSpPr txBox="1"/>
            <p:nvPr/>
          </p:nvSpPr>
          <p:spPr>
            <a:xfrm>
              <a:off x="9311712" y="5204223"/>
              <a:ext cx="2293528" cy="3940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Offline Stores – Westside</a:t>
              </a:r>
            </a:p>
            <a:p>
              <a:pPr>
                <a:lnSpc>
                  <a:spcPts val="16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– Google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672EB94-49B4-5588-81FA-6591B42452A9}"/>
              </a:ext>
            </a:extLst>
          </p:cNvPr>
          <p:cNvSpPr txBox="1"/>
          <p:nvPr/>
        </p:nvSpPr>
        <p:spPr>
          <a:xfrm>
            <a:off x="583555" y="95605"/>
            <a:ext cx="811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Appendix 3: Primary Research | Customer persona in Bed &amp; Bath category</a:t>
            </a:r>
          </a:p>
        </p:txBody>
      </p:sp>
      <p:sp>
        <p:nvSpPr>
          <p:cNvPr id="160" name="TextBox 61">
            <a:extLst>
              <a:ext uri="{FF2B5EF4-FFF2-40B4-BE49-F238E27FC236}">
                <a16:creationId xmlns:a16="http://schemas.microsoft.com/office/drawing/2014/main" id="{EAB7FDCF-3B42-1E00-ADA6-23041B86EE97}"/>
              </a:ext>
            </a:extLst>
          </p:cNvPr>
          <p:cNvSpPr txBox="1"/>
          <p:nvPr/>
        </p:nvSpPr>
        <p:spPr>
          <a:xfrm>
            <a:off x="601311" y="1145590"/>
            <a:ext cx="3485516" cy="233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‘It should go with my room'</a:t>
            </a:r>
          </a:p>
        </p:txBody>
      </p:sp>
      <p:sp>
        <p:nvSpPr>
          <p:cNvPr id="161" name="TextBox 64">
            <a:extLst>
              <a:ext uri="{FF2B5EF4-FFF2-40B4-BE49-F238E27FC236}">
                <a16:creationId xmlns:a16="http://schemas.microsoft.com/office/drawing/2014/main" id="{5C5BE5B5-05B2-B0CE-D86F-E40F85DF7146}"/>
              </a:ext>
            </a:extLst>
          </p:cNvPr>
          <p:cNvSpPr txBox="1"/>
          <p:nvPr/>
        </p:nvSpPr>
        <p:spPr>
          <a:xfrm>
            <a:off x="569669" y="4373177"/>
            <a:ext cx="1082670" cy="2466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200" b="1">
                <a:solidFill>
                  <a:srgbClr val="5C3A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Range</a:t>
            </a:r>
          </a:p>
        </p:txBody>
      </p:sp>
      <p:sp>
        <p:nvSpPr>
          <p:cNvPr id="162" name="TextBox 65">
            <a:extLst>
              <a:ext uri="{FF2B5EF4-FFF2-40B4-BE49-F238E27FC236}">
                <a16:creationId xmlns:a16="http://schemas.microsoft.com/office/drawing/2014/main" id="{2DE9D6D2-0E72-47D9-9D06-4D6DBA717FE3}"/>
              </a:ext>
            </a:extLst>
          </p:cNvPr>
          <p:cNvSpPr txBox="1"/>
          <p:nvPr/>
        </p:nvSpPr>
        <p:spPr>
          <a:xfrm>
            <a:off x="1789927" y="4452442"/>
            <a:ext cx="2293528" cy="188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Rs. 500 – Rs. 1500</a:t>
            </a:r>
          </a:p>
        </p:txBody>
      </p:sp>
      <p:sp>
        <p:nvSpPr>
          <p:cNvPr id="163" name="TextBox 64">
            <a:extLst>
              <a:ext uri="{FF2B5EF4-FFF2-40B4-BE49-F238E27FC236}">
                <a16:creationId xmlns:a16="http://schemas.microsoft.com/office/drawing/2014/main" id="{26312547-FCFF-29CB-B720-97D58F43686F}"/>
              </a:ext>
            </a:extLst>
          </p:cNvPr>
          <p:cNvSpPr txBox="1"/>
          <p:nvPr/>
        </p:nvSpPr>
        <p:spPr>
          <a:xfrm>
            <a:off x="4326212" y="4367248"/>
            <a:ext cx="1082670" cy="2466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200" b="1">
                <a:solidFill>
                  <a:srgbClr val="5C3A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Range</a:t>
            </a:r>
          </a:p>
        </p:txBody>
      </p:sp>
      <p:sp>
        <p:nvSpPr>
          <p:cNvPr id="164" name="TextBox 65">
            <a:extLst>
              <a:ext uri="{FF2B5EF4-FFF2-40B4-BE49-F238E27FC236}">
                <a16:creationId xmlns:a16="http://schemas.microsoft.com/office/drawing/2014/main" id="{6C325D7F-1A27-487A-16F2-003F55A706FD}"/>
              </a:ext>
            </a:extLst>
          </p:cNvPr>
          <p:cNvSpPr txBox="1"/>
          <p:nvPr/>
        </p:nvSpPr>
        <p:spPr>
          <a:xfrm>
            <a:off x="5561004" y="4447920"/>
            <a:ext cx="2293528" cy="188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Rs. 400  –  Rs.1000 </a:t>
            </a:r>
          </a:p>
        </p:txBody>
      </p:sp>
      <p:sp>
        <p:nvSpPr>
          <p:cNvPr id="165" name="TextBox 64">
            <a:extLst>
              <a:ext uri="{FF2B5EF4-FFF2-40B4-BE49-F238E27FC236}">
                <a16:creationId xmlns:a16="http://schemas.microsoft.com/office/drawing/2014/main" id="{40D54725-8372-E2E9-0980-97EC7D5D0DC6}"/>
              </a:ext>
            </a:extLst>
          </p:cNvPr>
          <p:cNvSpPr txBox="1"/>
          <p:nvPr/>
        </p:nvSpPr>
        <p:spPr>
          <a:xfrm>
            <a:off x="8061170" y="4363397"/>
            <a:ext cx="1082670" cy="2466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200" b="1">
                <a:solidFill>
                  <a:srgbClr val="5C3A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Range</a:t>
            </a:r>
          </a:p>
        </p:txBody>
      </p:sp>
      <p:sp>
        <p:nvSpPr>
          <p:cNvPr id="166" name="TextBox 65">
            <a:extLst>
              <a:ext uri="{FF2B5EF4-FFF2-40B4-BE49-F238E27FC236}">
                <a16:creationId xmlns:a16="http://schemas.microsoft.com/office/drawing/2014/main" id="{6623B9DB-B7A5-4EAE-5E4B-2548357BDEB9}"/>
              </a:ext>
            </a:extLst>
          </p:cNvPr>
          <p:cNvSpPr txBox="1"/>
          <p:nvPr/>
        </p:nvSpPr>
        <p:spPr>
          <a:xfrm>
            <a:off x="9332121" y="4446050"/>
            <a:ext cx="2293528" cy="188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Rs. 1000+</a:t>
            </a:r>
          </a:p>
        </p:txBody>
      </p:sp>
      <p:sp>
        <p:nvSpPr>
          <p:cNvPr id="167" name="TextBox 61">
            <a:extLst>
              <a:ext uri="{FF2B5EF4-FFF2-40B4-BE49-F238E27FC236}">
                <a16:creationId xmlns:a16="http://schemas.microsoft.com/office/drawing/2014/main" id="{A2474C4E-45AD-07EE-2D6C-1042B0C9A7E1}"/>
              </a:ext>
            </a:extLst>
          </p:cNvPr>
          <p:cNvSpPr txBox="1"/>
          <p:nvPr/>
        </p:nvSpPr>
        <p:spPr>
          <a:xfrm>
            <a:off x="4341912" y="1132086"/>
            <a:ext cx="3485516" cy="233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‘I want value for money'</a:t>
            </a:r>
          </a:p>
        </p:txBody>
      </p:sp>
      <p:sp>
        <p:nvSpPr>
          <p:cNvPr id="168" name="TextBox 61">
            <a:extLst>
              <a:ext uri="{FF2B5EF4-FFF2-40B4-BE49-F238E27FC236}">
                <a16:creationId xmlns:a16="http://schemas.microsoft.com/office/drawing/2014/main" id="{A9DE1B7E-A179-3C0A-18F5-ECDFEADC1402}"/>
              </a:ext>
            </a:extLst>
          </p:cNvPr>
          <p:cNvSpPr txBox="1"/>
          <p:nvPr/>
        </p:nvSpPr>
        <p:spPr>
          <a:xfrm>
            <a:off x="8105173" y="1173551"/>
            <a:ext cx="3485516" cy="233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‘Maximum comfort consumer'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B7D6E0-D5E6-7656-7DFC-C89163AE7F3D}"/>
              </a:ext>
            </a:extLst>
          </p:cNvPr>
          <p:cNvSpPr txBox="1"/>
          <p:nvPr/>
        </p:nvSpPr>
        <p:spPr>
          <a:xfrm>
            <a:off x="601776" y="6415306"/>
            <a:ext cx="811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chemeClr val="bg1"/>
                </a:solidFill>
              </a:rPr>
              <a:t>Primary Survey conducted with 10+ people</a:t>
            </a:r>
          </a:p>
        </p:txBody>
      </p:sp>
    </p:spTree>
    <p:extLst>
      <p:ext uri="{BB962C8B-B14F-4D97-AF65-F5344CB8AC3E}">
        <p14:creationId xmlns:p14="http://schemas.microsoft.com/office/powerpoint/2010/main" val="2092272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451DDF5-0534-4263-2BE1-58AB38786D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2880173"/>
              </p:ext>
            </p:extLst>
          </p:nvPr>
        </p:nvGraphicFramePr>
        <p:xfrm>
          <a:off x="909285" y="1253260"/>
          <a:ext cx="25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72EB94-49B4-5588-81FA-6591B42452A9}"/>
              </a:ext>
            </a:extLst>
          </p:cNvPr>
          <p:cNvSpPr txBox="1"/>
          <p:nvPr/>
        </p:nvSpPr>
        <p:spPr>
          <a:xfrm>
            <a:off x="583555" y="95605"/>
            <a:ext cx="811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Appendix 4: Primary Research | Bed &amp; Bath| 110+ results via Google Form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B7D6E0-D5E6-7656-7DFC-C89163AE7F3D}"/>
              </a:ext>
            </a:extLst>
          </p:cNvPr>
          <p:cNvSpPr txBox="1"/>
          <p:nvPr/>
        </p:nvSpPr>
        <p:spPr>
          <a:xfrm>
            <a:off x="601776" y="6415306"/>
            <a:ext cx="811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Link to Google Form for Primary Research: </a:t>
            </a:r>
            <a:r>
              <a:rPr lang="en-IN" sz="1200">
                <a:solidFill>
                  <a:schemeClr val="bg1"/>
                </a:solidFill>
                <a:hlinkClick r:id="rId3"/>
              </a:rPr>
              <a:t>https://forms.gle/SKiaVxJc1wHgyPW36</a:t>
            </a:r>
            <a:r>
              <a:rPr lang="en-IN" sz="1200">
                <a:solidFill>
                  <a:schemeClr val="bg1"/>
                </a:solidFill>
              </a:rPr>
              <a:t>,</a:t>
            </a:r>
            <a:endParaRPr lang="en-IN" sz="1200" b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626209-9E96-4702-C439-26E9F2D2F879}"/>
              </a:ext>
            </a:extLst>
          </p:cNvPr>
          <p:cNvSpPr/>
          <p:nvPr/>
        </p:nvSpPr>
        <p:spPr>
          <a:xfrm>
            <a:off x="820575" y="1164424"/>
            <a:ext cx="2823377" cy="57160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990099"/>
                </a:solidFill>
                <a:latin typeface="Georgia" panose="02040502050405020303" pitchFamily="18" charset="0"/>
              </a:rPr>
              <a:t>Sources to gather information about bed linen (% split)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C020C32D-4C6A-A6E2-80DB-D8935607C1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601055"/>
              </p:ext>
            </p:extLst>
          </p:nvPr>
        </p:nvGraphicFramePr>
        <p:xfrm>
          <a:off x="4071016" y="1253260"/>
          <a:ext cx="25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FE63724-FED9-13FC-14E9-3118649AA3D3}"/>
              </a:ext>
            </a:extLst>
          </p:cNvPr>
          <p:cNvSpPr/>
          <p:nvPr/>
        </p:nvSpPr>
        <p:spPr>
          <a:xfrm>
            <a:off x="3982306" y="1164424"/>
            <a:ext cx="2823377" cy="57160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990099"/>
                </a:solidFill>
                <a:latin typeface="Georgia" panose="02040502050405020303" pitchFamily="18" charset="0"/>
              </a:rPr>
              <a:t>Sources of purchase of bed linen based on experience (% split)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23E5C9-4480-49E5-3406-D8706E680B8E}"/>
              </a:ext>
            </a:extLst>
          </p:cNvPr>
          <p:cNvSpPr txBox="1"/>
          <p:nvPr/>
        </p:nvSpPr>
        <p:spPr>
          <a:xfrm>
            <a:off x="895637" y="3844411"/>
            <a:ext cx="2673252" cy="49244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1300">
                <a:solidFill>
                  <a:schemeClr val="accent5">
                    <a:lumMod val="75000"/>
                  </a:schemeClr>
                </a:solidFill>
              </a:rPr>
              <a:t>After offline search, Google is primary  source for need-search</a:t>
            </a:r>
            <a:endParaRPr lang="en-US" sz="1300" b="1" u="sng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8F94F1-A88A-94D6-AF96-B8B3D9AE4278}"/>
              </a:ext>
            </a:extLst>
          </p:cNvPr>
          <p:cNvSpPr txBox="1"/>
          <p:nvPr/>
        </p:nvSpPr>
        <p:spPr>
          <a:xfrm>
            <a:off x="4057368" y="3844410"/>
            <a:ext cx="2673252" cy="49244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1300">
                <a:solidFill>
                  <a:schemeClr val="accent5">
                    <a:lumMod val="75000"/>
                  </a:schemeClr>
                </a:solidFill>
              </a:rPr>
              <a:t>After offline purchase, Amazon is primary source for purchase </a:t>
            </a:r>
            <a:endParaRPr lang="en-US" sz="1300" b="1" u="sng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86420941-4D16-A09C-9C72-9BFD3A0A1A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530865"/>
              </p:ext>
            </p:extLst>
          </p:nvPr>
        </p:nvGraphicFramePr>
        <p:xfrm>
          <a:off x="7447414" y="1611509"/>
          <a:ext cx="3730102" cy="2510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7D811DDD-AA15-B277-C618-D2FCEC6BE934}"/>
              </a:ext>
            </a:extLst>
          </p:cNvPr>
          <p:cNvSpPr/>
          <p:nvPr/>
        </p:nvSpPr>
        <p:spPr>
          <a:xfrm>
            <a:off x="7969727" y="1164424"/>
            <a:ext cx="2823377" cy="57160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990099"/>
                </a:solidFill>
                <a:latin typeface="Georgia" panose="02040502050405020303" pitchFamily="18" charset="0"/>
              </a:rPr>
              <a:t>Awareness of  bed linen brands in India (% 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2F22069-C8FF-AFE5-7D01-D1A55A956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663" y="3497314"/>
            <a:ext cx="539917" cy="21996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A17297A-EE4D-5A78-D053-C705711FE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2265" y="3471148"/>
            <a:ext cx="780100" cy="2892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2EE80A4-DC2C-5BC6-81A3-F8A8E20CF2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5841" y="3485141"/>
            <a:ext cx="742634" cy="24431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A1E36C3-6319-46F9-6CF8-65E771E553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5092" y="3519726"/>
            <a:ext cx="660177" cy="2097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0B39A7B-E548-D4BE-5AB6-7EE2716E6A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5269" y="3492621"/>
            <a:ext cx="641731" cy="26393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76B5312-9503-11E6-59F8-10E4D976EDEF}"/>
              </a:ext>
            </a:extLst>
          </p:cNvPr>
          <p:cNvSpPr txBox="1"/>
          <p:nvPr/>
        </p:nvSpPr>
        <p:spPr>
          <a:xfrm>
            <a:off x="7975839" y="3840557"/>
            <a:ext cx="2673252" cy="49244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1300">
                <a:solidFill>
                  <a:schemeClr val="accent5">
                    <a:lumMod val="75000"/>
                  </a:schemeClr>
                </a:solidFill>
              </a:rPr>
              <a:t>Bombay Dyeing being a clear winner in Top of the Mind Recall </a:t>
            </a:r>
            <a:endParaRPr lang="en-US" sz="1300" b="1" u="sng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439102-A313-F26D-17C4-BCCC35CB9F15}"/>
              </a:ext>
            </a:extLst>
          </p:cNvPr>
          <p:cNvSpPr txBox="1"/>
          <p:nvPr/>
        </p:nvSpPr>
        <p:spPr>
          <a:xfrm>
            <a:off x="820575" y="5231911"/>
            <a:ext cx="2673252" cy="49244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1300">
                <a:solidFill>
                  <a:schemeClr val="accent5">
                    <a:lumMod val="75000"/>
                  </a:schemeClr>
                </a:solidFill>
              </a:rPr>
              <a:t>Need for targeted Ads on search engines</a:t>
            </a:r>
            <a:endParaRPr lang="en-US" sz="1300" b="1" u="sng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1458A8-9BAC-8D5A-B3C0-938F141ED405}"/>
              </a:ext>
            </a:extLst>
          </p:cNvPr>
          <p:cNvSpPr txBox="1"/>
          <p:nvPr/>
        </p:nvSpPr>
        <p:spPr>
          <a:xfrm>
            <a:off x="7975839" y="5181338"/>
            <a:ext cx="2673252" cy="49244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1300">
                <a:solidFill>
                  <a:schemeClr val="accent5">
                    <a:lumMod val="75000"/>
                  </a:schemeClr>
                </a:solidFill>
              </a:rPr>
              <a:t>Need for increasing brand Awareness </a:t>
            </a:r>
            <a:endParaRPr lang="en-US" sz="1300" b="1" u="sng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03A952-E172-2879-EB30-25566CB296FF}"/>
              </a:ext>
            </a:extLst>
          </p:cNvPr>
          <p:cNvSpPr txBox="1"/>
          <p:nvPr/>
        </p:nvSpPr>
        <p:spPr>
          <a:xfrm>
            <a:off x="4057368" y="5231911"/>
            <a:ext cx="2673252" cy="49244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1300">
                <a:solidFill>
                  <a:schemeClr val="accent5">
                    <a:lumMod val="75000"/>
                  </a:schemeClr>
                </a:solidFill>
              </a:rPr>
              <a:t>Need for rebalancing Ecommerce Portfolio</a:t>
            </a:r>
            <a:endParaRPr lang="en-US" sz="1300" b="1" u="sng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51EDD50-A4A9-0ADD-C724-4715498A7FF3}"/>
              </a:ext>
            </a:extLst>
          </p:cNvPr>
          <p:cNvCxnSpPr>
            <a:stCxn id="25" idx="2"/>
          </p:cNvCxnSpPr>
          <p:nvPr/>
        </p:nvCxnSpPr>
        <p:spPr>
          <a:xfrm>
            <a:off x="2232263" y="4336854"/>
            <a:ext cx="0" cy="733289"/>
          </a:xfrm>
          <a:prstGeom prst="straightConnector1">
            <a:avLst/>
          </a:prstGeom>
          <a:ln w="412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E7C9AAF-AB42-98AE-4BAE-A9678105F19B}"/>
              </a:ext>
            </a:extLst>
          </p:cNvPr>
          <p:cNvCxnSpPr/>
          <p:nvPr/>
        </p:nvCxnSpPr>
        <p:spPr>
          <a:xfrm>
            <a:off x="5393994" y="4326548"/>
            <a:ext cx="0" cy="764067"/>
          </a:xfrm>
          <a:prstGeom prst="straightConnector1">
            <a:avLst/>
          </a:prstGeom>
          <a:ln w="412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F000C93-E3F2-B5FA-3B28-CBDFA367DBC7}"/>
              </a:ext>
            </a:extLst>
          </p:cNvPr>
          <p:cNvCxnSpPr/>
          <p:nvPr/>
        </p:nvCxnSpPr>
        <p:spPr>
          <a:xfrm>
            <a:off x="9312465" y="4319724"/>
            <a:ext cx="0" cy="764067"/>
          </a:xfrm>
          <a:prstGeom prst="straightConnector1">
            <a:avLst/>
          </a:prstGeom>
          <a:ln w="412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52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C083FDA-420D-77B2-2E95-BCDE6D8F75F2}"/>
              </a:ext>
            </a:extLst>
          </p:cNvPr>
          <p:cNvSpPr txBox="1"/>
          <p:nvPr/>
        </p:nvSpPr>
        <p:spPr>
          <a:xfrm>
            <a:off x="355859" y="155549"/>
            <a:ext cx="509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Appendix 5: Case in Point - Welspun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C55D8FD-4CFD-EF05-E63C-2D073783A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8391" y="725055"/>
            <a:ext cx="2032000" cy="116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A8EC2D-362B-8B09-5995-5F206F8C6139}"/>
              </a:ext>
            </a:extLst>
          </p:cNvPr>
          <p:cNvSpPr/>
          <p:nvPr/>
        </p:nvSpPr>
        <p:spPr>
          <a:xfrm>
            <a:off x="3006435" y="725055"/>
            <a:ext cx="8610601" cy="340894"/>
          </a:xfrm>
          <a:prstGeom prst="rect">
            <a:avLst/>
          </a:prstGeom>
          <a:solidFill>
            <a:srgbClr val="6B08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About the Brand</a:t>
            </a:r>
          </a:p>
        </p:txBody>
      </p:sp>
      <p:pic>
        <p:nvPicPr>
          <p:cNvPr id="16" name="Graphic 15" descr="Earth globe: Africa and Europe with solid fill">
            <a:extLst>
              <a:ext uri="{FF2B5EF4-FFF2-40B4-BE49-F238E27FC236}">
                <a16:creationId xmlns:a16="http://schemas.microsoft.com/office/drawing/2014/main" id="{9434D90B-7F38-E1E3-3E60-A1B32687B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6436" y="1092200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0CA2A2-0C09-2DE6-6685-F392DDF46FC6}"/>
              </a:ext>
            </a:extLst>
          </p:cNvPr>
          <p:cNvSpPr txBox="1"/>
          <p:nvPr/>
        </p:nvSpPr>
        <p:spPr>
          <a:xfrm>
            <a:off x="3920836" y="1253119"/>
            <a:ext cx="171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Global leader in home-textiles</a:t>
            </a:r>
          </a:p>
        </p:txBody>
      </p:sp>
      <p:pic>
        <p:nvPicPr>
          <p:cNvPr id="19" name="Graphic 18" descr="Towel with solid fill">
            <a:extLst>
              <a:ext uri="{FF2B5EF4-FFF2-40B4-BE49-F238E27FC236}">
                <a16:creationId xmlns:a16="http://schemas.microsoft.com/office/drawing/2014/main" id="{7EB44E83-FE82-623A-B032-2C57FEF7E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3491" y="1092200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1285EB7-495D-FB40-0FD9-E31FB98C2142}"/>
              </a:ext>
            </a:extLst>
          </p:cNvPr>
          <p:cNvSpPr txBox="1"/>
          <p:nvPr/>
        </p:nvSpPr>
        <p:spPr>
          <a:xfrm>
            <a:off x="6677891" y="1247124"/>
            <a:ext cx="1925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4</a:t>
            </a:r>
            <a:r>
              <a:rPr lang="en-US" baseline="30000">
                <a:solidFill>
                  <a:schemeClr val="bg1"/>
                </a:solidFill>
                <a:latin typeface="Garamond" panose="02020404030301010803" pitchFamily="18" charset="0"/>
              </a:rPr>
              <a:t>th </a:t>
            </a:r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&amp; 7</a:t>
            </a:r>
            <a:r>
              <a:rPr lang="en-US" baseline="30000">
                <a:solidFill>
                  <a:schemeClr val="bg1"/>
                </a:solidFill>
                <a:latin typeface="Garamond" panose="02020404030301010803" pitchFamily="18" charset="0"/>
              </a:rPr>
              <a:t>th </a:t>
            </a:r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in towel &amp; Sheets respectively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C110A7-519B-A93F-A2D2-A5B61C521228}"/>
              </a:ext>
            </a:extLst>
          </p:cNvPr>
          <p:cNvSpPr/>
          <p:nvPr/>
        </p:nvSpPr>
        <p:spPr>
          <a:xfrm>
            <a:off x="8728364" y="1117539"/>
            <a:ext cx="10668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4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#</a:t>
            </a:r>
            <a:r>
              <a:rPr lang="en-GB" sz="4000" b="0" cap="none" spc="0">
                <a:ln w="0"/>
                <a:solidFill>
                  <a:srgbClr val="6A09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11</a:t>
            </a:r>
            <a:endParaRPr lang="en-GB" sz="3600" b="0" cap="none" spc="0">
              <a:ln w="0"/>
              <a:solidFill>
                <a:srgbClr val="6A09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574658-D725-C8F5-9E65-45A01B1890B3}"/>
              </a:ext>
            </a:extLst>
          </p:cNvPr>
          <p:cNvSpPr txBox="1"/>
          <p:nvPr/>
        </p:nvSpPr>
        <p:spPr>
          <a:xfrm>
            <a:off x="9691255" y="1179094"/>
            <a:ext cx="1925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Brands under their portfolio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35176E-3435-61E1-B7D1-4E4FA837F6C3}"/>
              </a:ext>
            </a:extLst>
          </p:cNvPr>
          <p:cNvSpPr txBox="1"/>
          <p:nvPr/>
        </p:nvSpPr>
        <p:spPr>
          <a:xfrm>
            <a:off x="518389" y="2119568"/>
            <a:ext cx="248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>
                <a:solidFill>
                  <a:schemeClr val="bg1"/>
                </a:solidFill>
              </a:rPr>
              <a:t>Growth Drivers</a:t>
            </a:r>
          </a:p>
        </p:txBody>
      </p:sp>
      <p:pic>
        <p:nvPicPr>
          <p:cNvPr id="26" name="Graphic 25" descr="Badge Copyright with solid fill">
            <a:extLst>
              <a:ext uri="{FF2B5EF4-FFF2-40B4-BE49-F238E27FC236}">
                <a16:creationId xmlns:a16="http://schemas.microsoft.com/office/drawing/2014/main" id="{6CFEA762-1A40-A732-5639-877460234F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8391" y="2460892"/>
            <a:ext cx="520700" cy="5207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092812F-A870-EF57-B72F-2B8A22E1FC6C}"/>
              </a:ext>
            </a:extLst>
          </p:cNvPr>
          <p:cNvSpPr txBox="1"/>
          <p:nvPr/>
        </p:nvSpPr>
        <p:spPr>
          <a:xfrm>
            <a:off x="1039090" y="2536576"/>
            <a:ext cx="802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Brand</a:t>
            </a:r>
          </a:p>
        </p:txBody>
      </p:sp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BE874E64-4DED-0A97-A178-83107764BC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8389" y="3023436"/>
            <a:ext cx="520701" cy="5207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C87BDF3-7FAA-5767-61DB-9969A71654CF}"/>
              </a:ext>
            </a:extLst>
          </p:cNvPr>
          <p:cNvSpPr txBox="1"/>
          <p:nvPr/>
        </p:nvSpPr>
        <p:spPr>
          <a:xfrm>
            <a:off x="1039090" y="2960620"/>
            <a:ext cx="136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Emerging Businesses</a:t>
            </a:r>
          </a:p>
        </p:txBody>
      </p:sp>
      <p:pic>
        <p:nvPicPr>
          <p:cNvPr id="34" name="Graphic 33" descr="Ecommerce with solid fill">
            <a:extLst>
              <a:ext uri="{FF2B5EF4-FFF2-40B4-BE49-F238E27FC236}">
                <a16:creationId xmlns:a16="http://schemas.microsoft.com/office/drawing/2014/main" id="{5A0D507C-901B-60A7-74CD-AB54C03E61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8389" y="3657105"/>
            <a:ext cx="520700" cy="5207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B0F51D9-CD58-4F1D-7A5D-F87B1FA8102E}"/>
              </a:ext>
            </a:extLst>
          </p:cNvPr>
          <p:cNvSpPr txBox="1"/>
          <p:nvPr/>
        </p:nvSpPr>
        <p:spPr>
          <a:xfrm>
            <a:off x="1039090" y="3747513"/>
            <a:ext cx="151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E-Commerce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38EFBD-1E46-09C4-ECE9-0C84C620582E}"/>
              </a:ext>
            </a:extLst>
          </p:cNvPr>
          <p:cNvSpPr txBox="1"/>
          <p:nvPr/>
        </p:nvSpPr>
        <p:spPr>
          <a:xfrm>
            <a:off x="518389" y="4274784"/>
            <a:ext cx="248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>
                <a:solidFill>
                  <a:schemeClr val="bg1"/>
                </a:solidFill>
              </a:rPr>
              <a:t>Value Enablers</a:t>
            </a:r>
          </a:p>
        </p:txBody>
      </p:sp>
      <p:pic>
        <p:nvPicPr>
          <p:cNvPr id="39" name="Graphic 38" descr="Lightbulb with solid fill">
            <a:extLst>
              <a:ext uri="{FF2B5EF4-FFF2-40B4-BE49-F238E27FC236}">
                <a16:creationId xmlns:a16="http://schemas.microsoft.com/office/drawing/2014/main" id="{1A392D72-1676-A075-396A-D66E5DF2759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8389" y="5176068"/>
            <a:ext cx="520700" cy="5207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317A5A2-A289-3D72-BBAE-EBCA0C20EBAD}"/>
              </a:ext>
            </a:extLst>
          </p:cNvPr>
          <p:cNvSpPr txBox="1"/>
          <p:nvPr/>
        </p:nvSpPr>
        <p:spPr>
          <a:xfrm>
            <a:off x="1039089" y="5251752"/>
            <a:ext cx="136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Innovation</a:t>
            </a:r>
          </a:p>
        </p:txBody>
      </p:sp>
      <p:pic>
        <p:nvPicPr>
          <p:cNvPr id="43" name="Graphic 42" descr="Ui Ux with solid fill">
            <a:extLst>
              <a:ext uri="{FF2B5EF4-FFF2-40B4-BE49-F238E27FC236}">
                <a16:creationId xmlns:a16="http://schemas.microsoft.com/office/drawing/2014/main" id="{06AA05BF-7570-E866-EFEB-BF52C1950F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8389" y="4636109"/>
            <a:ext cx="520700" cy="5207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BFE3AC2-478E-CCC9-CCDF-6A0BD251141F}"/>
              </a:ext>
            </a:extLst>
          </p:cNvPr>
          <p:cNvSpPr txBox="1"/>
          <p:nvPr/>
        </p:nvSpPr>
        <p:spPr>
          <a:xfrm>
            <a:off x="1039088" y="4711793"/>
            <a:ext cx="136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Digitization</a:t>
            </a:r>
          </a:p>
        </p:txBody>
      </p:sp>
      <p:pic>
        <p:nvPicPr>
          <p:cNvPr id="46" name="Graphic 45" descr="Open hand with plant with solid fill">
            <a:extLst>
              <a:ext uri="{FF2B5EF4-FFF2-40B4-BE49-F238E27FC236}">
                <a16:creationId xmlns:a16="http://schemas.microsoft.com/office/drawing/2014/main" id="{92BE990A-A7A9-F165-703E-C529B5157C7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8389" y="5688761"/>
            <a:ext cx="539959" cy="53995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9F206EB-B50E-4631-985E-34F178BBA6D7}"/>
              </a:ext>
            </a:extLst>
          </p:cNvPr>
          <p:cNvSpPr txBox="1"/>
          <p:nvPr/>
        </p:nvSpPr>
        <p:spPr>
          <a:xfrm>
            <a:off x="1058348" y="5792222"/>
            <a:ext cx="136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ESG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E9BBE00-EBE8-FC97-1F2E-AD0D079CF52D}"/>
              </a:ext>
            </a:extLst>
          </p:cNvPr>
          <p:cNvCxnSpPr>
            <a:stCxn id="44" idx="3"/>
          </p:cNvCxnSpPr>
          <p:nvPr/>
        </p:nvCxnSpPr>
        <p:spPr>
          <a:xfrm flipV="1">
            <a:off x="2408957" y="2304234"/>
            <a:ext cx="494893" cy="2592225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3CD1C80-4F34-2EFD-153E-5BBF2DECCD36}"/>
              </a:ext>
            </a:extLst>
          </p:cNvPr>
          <p:cNvCxnSpPr>
            <a:stCxn id="35" idx="3"/>
          </p:cNvCxnSpPr>
          <p:nvPr/>
        </p:nvCxnSpPr>
        <p:spPr>
          <a:xfrm>
            <a:off x="2550391" y="3932179"/>
            <a:ext cx="3534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ACFEA1C-B4EF-B093-CE32-FAA7C927BBC2}"/>
              </a:ext>
            </a:extLst>
          </p:cNvPr>
          <p:cNvCxnSpPr>
            <a:cxnSpLocks/>
          </p:cNvCxnSpPr>
          <p:nvPr/>
        </p:nvCxnSpPr>
        <p:spPr>
          <a:xfrm>
            <a:off x="2885868" y="2300135"/>
            <a:ext cx="411514" cy="4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27BB71B5-C06D-3F82-6FE7-5648115279E6}"/>
              </a:ext>
            </a:extLst>
          </p:cNvPr>
          <p:cNvSpPr/>
          <p:nvPr/>
        </p:nvSpPr>
        <p:spPr>
          <a:xfrm>
            <a:off x="3326464" y="2231027"/>
            <a:ext cx="3990692" cy="3901907"/>
          </a:xfrm>
          <a:prstGeom prst="rect">
            <a:avLst/>
          </a:prstGeom>
          <a:ln w="28575"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9EFA48D-ACDB-33CE-40A1-A77B25398EA7}"/>
              </a:ext>
            </a:extLst>
          </p:cNvPr>
          <p:cNvSpPr/>
          <p:nvPr/>
        </p:nvSpPr>
        <p:spPr>
          <a:xfrm>
            <a:off x="3326463" y="2215159"/>
            <a:ext cx="3990693" cy="3214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Project WAVE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16CB76-3EEE-34C9-2FCC-7434D8BD8AB1}"/>
              </a:ext>
            </a:extLst>
          </p:cNvPr>
          <p:cNvSpPr txBox="1"/>
          <p:nvPr/>
        </p:nvSpPr>
        <p:spPr>
          <a:xfrm>
            <a:off x="3466988" y="2734120"/>
            <a:ext cx="37108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Learning Program supporting Change Transformation Business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Aided Scaling of E-Commerce Vertical.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Introduced a virtual showroom and revamped existing brands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Created a strong Technology Back-end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COE Org Model WAVE Academy Capability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1BE0CA-E6AD-8F86-8386-7BA07C1C0E5B}"/>
              </a:ext>
            </a:extLst>
          </p:cNvPr>
          <p:cNvSpPr/>
          <p:nvPr/>
        </p:nvSpPr>
        <p:spPr>
          <a:xfrm>
            <a:off x="7499719" y="2229459"/>
            <a:ext cx="3990693" cy="3214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Key Partnerships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6770D0F5-B4CA-66E9-72CC-FE9841B1F38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66483" y="2673143"/>
            <a:ext cx="1163261" cy="881423"/>
          </a:xfrm>
          <a:prstGeom prst="rect">
            <a:avLst/>
          </a:prstGeom>
        </p:spPr>
      </p:pic>
      <p:pic>
        <p:nvPicPr>
          <p:cNvPr id="69" name="Picture 68" descr="Logo&#10;&#10;Description automatically generated">
            <a:extLst>
              <a:ext uri="{FF2B5EF4-FFF2-40B4-BE49-F238E27FC236}">
                <a16:creationId xmlns:a16="http://schemas.microsoft.com/office/drawing/2014/main" id="{010D7BD6-84FB-76C3-D7F9-36332D32FFE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10241" y="2673143"/>
            <a:ext cx="1163262" cy="770157"/>
          </a:xfrm>
          <a:prstGeom prst="rect">
            <a:avLst/>
          </a:prstGeom>
        </p:spPr>
      </p:pic>
      <p:pic>
        <p:nvPicPr>
          <p:cNvPr id="71" name="Picture 7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BF87F88-D8E5-61EA-A12D-828704B2F15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56956" y="3554566"/>
            <a:ext cx="1095843" cy="1095843"/>
          </a:xfrm>
          <a:prstGeom prst="rect">
            <a:avLst/>
          </a:prstGeom>
        </p:spPr>
      </p:pic>
      <p:pic>
        <p:nvPicPr>
          <p:cNvPr id="73" name="Picture 72" descr="Logo, company name&#10;&#10;Description automatically generated">
            <a:extLst>
              <a:ext uri="{FF2B5EF4-FFF2-40B4-BE49-F238E27FC236}">
                <a16:creationId xmlns:a16="http://schemas.microsoft.com/office/drawing/2014/main" id="{B6943D8E-4154-B0E0-EC56-52A208651347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31693" r="-612" b="32001"/>
          <a:stretch/>
        </p:blipFill>
        <p:spPr>
          <a:xfrm>
            <a:off x="8943272" y="3719968"/>
            <a:ext cx="1415765" cy="765037"/>
          </a:xfrm>
          <a:prstGeom prst="rect">
            <a:avLst/>
          </a:prstGeom>
        </p:spPr>
      </p:pic>
      <p:pic>
        <p:nvPicPr>
          <p:cNvPr id="75" name="Picture 74" descr="Logo, company name&#10;&#10;Description automatically generated">
            <a:extLst>
              <a:ext uri="{FF2B5EF4-FFF2-40B4-BE49-F238E27FC236}">
                <a16:creationId xmlns:a16="http://schemas.microsoft.com/office/drawing/2014/main" id="{BA7C22E4-0881-B342-9420-8B9CBA22D0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14707" y="3489237"/>
            <a:ext cx="1302329" cy="975300"/>
          </a:xfrm>
          <a:prstGeom prst="rect">
            <a:avLst/>
          </a:prstGeom>
        </p:spPr>
      </p:pic>
      <p:pic>
        <p:nvPicPr>
          <p:cNvPr id="81" name="Picture 80" descr="Logo&#10;&#10;Description automatically generated">
            <a:extLst>
              <a:ext uri="{FF2B5EF4-FFF2-40B4-BE49-F238E27FC236}">
                <a16:creationId xmlns:a16="http://schemas.microsoft.com/office/drawing/2014/main" id="{DFE8439E-E6A7-6E01-D1FA-C3C91E5994C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9744" y="2655736"/>
            <a:ext cx="879088" cy="787564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0004A439-A820-1999-A8AA-391A02081322}"/>
              </a:ext>
            </a:extLst>
          </p:cNvPr>
          <p:cNvSpPr/>
          <p:nvPr/>
        </p:nvSpPr>
        <p:spPr>
          <a:xfrm>
            <a:off x="7499719" y="4546776"/>
            <a:ext cx="3990693" cy="3214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Key Affiliations</a:t>
            </a:r>
          </a:p>
        </p:txBody>
      </p:sp>
      <p:pic>
        <p:nvPicPr>
          <p:cNvPr id="86" name="Picture 85" descr="A picture containing logo&#10;&#10;Description automatically generated">
            <a:extLst>
              <a:ext uri="{FF2B5EF4-FFF2-40B4-BE49-F238E27FC236}">
                <a16:creationId xmlns:a16="http://schemas.microsoft.com/office/drawing/2014/main" id="{AE211E32-25B4-20DC-2B23-32A7764CECE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73403" y="5057051"/>
            <a:ext cx="1369869" cy="774832"/>
          </a:xfrm>
          <a:prstGeom prst="rect">
            <a:avLst/>
          </a:prstGeom>
        </p:spPr>
      </p:pic>
      <p:pic>
        <p:nvPicPr>
          <p:cNvPr id="88" name="Picture 87" descr="Logo&#10;&#10;Description automatically generated">
            <a:extLst>
              <a:ext uri="{FF2B5EF4-FFF2-40B4-BE49-F238E27FC236}">
                <a16:creationId xmlns:a16="http://schemas.microsoft.com/office/drawing/2014/main" id="{77F599F2-B631-CF39-8799-AFCD2E842EB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51240" y="5047058"/>
            <a:ext cx="876208" cy="887891"/>
          </a:xfrm>
          <a:prstGeom prst="rect">
            <a:avLst/>
          </a:prstGeom>
        </p:spPr>
      </p:pic>
      <p:pic>
        <p:nvPicPr>
          <p:cNvPr id="90" name="Picture 89" descr="Logo&#10;&#10;Description automatically generated with medium confidence">
            <a:extLst>
              <a:ext uri="{FF2B5EF4-FFF2-40B4-BE49-F238E27FC236}">
                <a16:creationId xmlns:a16="http://schemas.microsoft.com/office/drawing/2014/main" id="{C91AA723-D430-E35E-7AC3-C6627DD6461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05208" y="5001864"/>
            <a:ext cx="921326" cy="9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34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132B83-E872-AE19-62D9-A0AC6CBFCA03}"/>
              </a:ext>
            </a:extLst>
          </p:cNvPr>
          <p:cNvSpPr txBox="1"/>
          <p:nvPr/>
        </p:nvSpPr>
        <p:spPr>
          <a:xfrm>
            <a:off x="473659" y="118691"/>
            <a:ext cx="5095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Appendix 6: D2C alignment with business model</a:t>
            </a:r>
          </a:p>
          <a:p>
            <a:endParaRPr lang="en-IN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2C7E63-8F72-93D4-5FE7-A0966444DBE5}"/>
              </a:ext>
            </a:extLst>
          </p:cNvPr>
          <p:cNvSpPr/>
          <p:nvPr/>
        </p:nvSpPr>
        <p:spPr>
          <a:xfrm>
            <a:off x="846232" y="976874"/>
            <a:ext cx="228115" cy="1383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F764F-34F2-9524-517C-5BC109B365FC}"/>
              </a:ext>
            </a:extLst>
          </p:cNvPr>
          <p:cNvSpPr/>
          <p:nvPr/>
        </p:nvSpPr>
        <p:spPr>
          <a:xfrm>
            <a:off x="846232" y="2725355"/>
            <a:ext cx="228115" cy="1383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CA4F3D-915F-D434-833D-12890DF1FC0A}"/>
              </a:ext>
            </a:extLst>
          </p:cNvPr>
          <p:cNvSpPr/>
          <p:nvPr/>
        </p:nvSpPr>
        <p:spPr>
          <a:xfrm>
            <a:off x="846231" y="4473836"/>
            <a:ext cx="228115" cy="1383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Label with solid fill">
            <a:extLst>
              <a:ext uri="{FF2B5EF4-FFF2-40B4-BE49-F238E27FC236}">
                <a16:creationId xmlns:a16="http://schemas.microsoft.com/office/drawing/2014/main" id="{5B0332B8-3C04-AD88-74FC-E5301E65D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59698" y="148112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B70AA9-D085-C237-F4EA-63F6B068E71D}"/>
              </a:ext>
            </a:extLst>
          </p:cNvPr>
          <p:cNvSpPr txBox="1"/>
          <p:nvPr/>
        </p:nvSpPr>
        <p:spPr>
          <a:xfrm>
            <a:off x="1259698" y="976874"/>
            <a:ext cx="1512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Traditional Products</a:t>
            </a:r>
          </a:p>
        </p:txBody>
      </p:sp>
      <p:pic>
        <p:nvPicPr>
          <p:cNvPr id="11" name="Graphic 10" descr="Register with solid fill">
            <a:extLst>
              <a:ext uri="{FF2B5EF4-FFF2-40B4-BE49-F238E27FC236}">
                <a16:creationId xmlns:a16="http://schemas.microsoft.com/office/drawing/2014/main" id="{72195B3F-1B43-9EBE-A102-84CA6585D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9698" y="3351430"/>
            <a:ext cx="757881" cy="757881"/>
          </a:xfrm>
          <a:prstGeom prst="rect">
            <a:avLst/>
          </a:prstGeom>
        </p:spPr>
      </p:pic>
      <p:pic>
        <p:nvPicPr>
          <p:cNvPr id="13" name="Graphic 12" descr="Monitor with solid fill">
            <a:extLst>
              <a:ext uri="{FF2B5EF4-FFF2-40B4-BE49-F238E27FC236}">
                <a16:creationId xmlns:a16="http://schemas.microsoft.com/office/drawing/2014/main" id="{3CEB8F62-4DDA-6557-3074-9CEE8F46B9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3583" y="3351430"/>
            <a:ext cx="757881" cy="757881"/>
          </a:xfrm>
          <a:prstGeom prst="rect">
            <a:avLst/>
          </a:prstGeom>
        </p:spPr>
      </p:pic>
      <p:pic>
        <p:nvPicPr>
          <p:cNvPr id="15" name="Graphic 14" descr="Shopping cart with solid fill">
            <a:extLst>
              <a:ext uri="{FF2B5EF4-FFF2-40B4-BE49-F238E27FC236}">
                <a16:creationId xmlns:a16="http://schemas.microsoft.com/office/drawing/2014/main" id="{69AC0DDA-3476-B4AC-C035-9FA32ECA80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23726" y="3532478"/>
            <a:ext cx="297593" cy="2975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C7DBBE-440E-69A7-BF76-809AB89530F2}"/>
              </a:ext>
            </a:extLst>
          </p:cNvPr>
          <p:cNvSpPr txBox="1"/>
          <p:nvPr/>
        </p:nvSpPr>
        <p:spPr>
          <a:xfrm>
            <a:off x="1233976" y="3017183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Retailers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6CE3B-B7FB-B8D8-82AC-CCCC1FEB37F8}"/>
              </a:ext>
            </a:extLst>
          </p:cNvPr>
          <p:cNvSpPr txBox="1"/>
          <p:nvPr/>
        </p:nvSpPr>
        <p:spPr>
          <a:xfrm>
            <a:off x="2352674" y="3012031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E-tailers</a:t>
            </a:r>
          </a:p>
        </p:txBody>
      </p:sp>
      <p:pic>
        <p:nvPicPr>
          <p:cNvPr id="19" name="Graphic 18" descr="Dump truck with solid fill">
            <a:extLst>
              <a:ext uri="{FF2B5EF4-FFF2-40B4-BE49-F238E27FC236}">
                <a16:creationId xmlns:a16="http://schemas.microsoft.com/office/drawing/2014/main" id="{8238FCF1-1377-374A-FF44-51A4530D13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9698" y="5084785"/>
            <a:ext cx="914400" cy="914400"/>
          </a:xfrm>
          <a:prstGeom prst="rect">
            <a:avLst/>
          </a:prstGeom>
        </p:spPr>
      </p:pic>
      <p:pic>
        <p:nvPicPr>
          <p:cNvPr id="21" name="Graphic 20" descr="Factory with solid fill">
            <a:extLst>
              <a:ext uri="{FF2B5EF4-FFF2-40B4-BE49-F238E27FC236}">
                <a16:creationId xmlns:a16="http://schemas.microsoft.com/office/drawing/2014/main" id="{528C1454-29F7-5F3E-4309-D4A1F9E80B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53177" y="506631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EFC5DB-1825-0DAD-EEB1-9D16FA5B52BC}"/>
              </a:ext>
            </a:extLst>
          </p:cNvPr>
          <p:cNvSpPr txBox="1"/>
          <p:nvPr/>
        </p:nvSpPr>
        <p:spPr>
          <a:xfrm>
            <a:off x="1268708" y="4727758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To 3PLs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4BF50B-17D5-1B37-8A5E-25ACFD37499C}"/>
              </a:ext>
            </a:extLst>
          </p:cNvPr>
          <p:cNvSpPr txBox="1"/>
          <p:nvPr/>
        </p:nvSpPr>
        <p:spPr>
          <a:xfrm>
            <a:off x="2248123" y="4604647"/>
            <a:ext cx="1241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To warehouse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DF25D4-D645-4718-3F2A-3F42EE8AB39C}"/>
              </a:ext>
            </a:extLst>
          </p:cNvPr>
          <p:cNvCxnSpPr/>
          <p:nvPr/>
        </p:nvCxnSpPr>
        <p:spPr>
          <a:xfrm>
            <a:off x="3546298" y="988541"/>
            <a:ext cx="511352" cy="24404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84897D0-E1A8-71CC-F3D8-6F1A50F0700E}"/>
              </a:ext>
            </a:extLst>
          </p:cNvPr>
          <p:cNvCxnSpPr>
            <a:cxnSpLocks/>
          </p:cNvCxnSpPr>
          <p:nvPr/>
        </p:nvCxnSpPr>
        <p:spPr>
          <a:xfrm flipV="1">
            <a:off x="3546298" y="3429000"/>
            <a:ext cx="511352" cy="24404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Label with solid fill">
            <a:extLst>
              <a:ext uri="{FF2B5EF4-FFF2-40B4-BE49-F238E27FC236}">
                <a16:creationId xmlns:a16="http://schemas.microsoft.com/office/drawing/2014/main" id="{EFE5E9DA-5413-F9AD-86A3-208F90DF7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188849" y="1492789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B19B02F-6C10-925A-A3F1-5071B66AF67C}"/>
              </a:ext>
            </a:extLst>
          </p:cNvPr>
          <p:cNvSpPr txBox="1"/>
          <p:nvPr/>
        </p:nvSpPr>
        <p:spPr>
          <a:xfrm>
            <a:off x="4188849" y="988540"/>
            <a:ext cx="1512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Traditional Products</a:t>
            </a:r>
          </a:p>
        </p:txBody>
      </p:sp>
      <p:pic>
        <p:nvPicPr>
          <p:cNvPr id="30" name="Graphic 29" descr="Lightbulb with solid fill">
            <a:extLst>
              <a:ext uri="{FF2B5EF4-FFF2-40B4-BE49-F238E27FC236}">
                <a16:creationId xmlns:a16="http://schemas.microsoft.com/office/drawing/2014/main" id="{E1727525-631A-B863-8F8C-728950EBBE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38948" y="1522544"/>
            <a:ext cx="787851" cy="78785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4FD2665-6BE0-2269-D04B-FD25DDA90973}"/>
              </a:ext>
            </a:extLst>
          </p:cNvPr>
          <p:cNvSpPr txBox="1"/>
          <p:nvPr/>
        </p:nvSpPr>
        <p:spPr>
          <a:xfrm>
            <a:off x="5339587" y="976874"/>
            <a:ext cx="1150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New Products</a:t>
            </a:r>
          </a:p>
        </p:txBody>
      </p:sp>
      <p:pic>
        <p:nvPicPr>
          <p:cNvPr id="33" name="Graphic 32" descr="Monitor with solid fill">
            <a:extLst>
              <a:ext uri="{FF2B5EF4-FFF2-40B4-BE49-F238E27FC236}">
                <a16:creationId xmlns:a16="http://schemas.microsoft.com/office/drawing/2014/main" id="{A5B42285-E51E-C9A6-1907-9E8E615825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7974" y="1522543"/>
            <a:ext cx="787851" cy="7878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7C0E295-FA09-9A7B-EEB5-F13AF8D190F4}"/>
              </a:ext>
            </a:extLst>
          </p:cNvPr>
          <p:cNvSpPr txBox="1"/>
          <p:nvPr/>
        </p:nvSpPr>
        <p:spPr>
          <a:xfrm>
            <a:off x="6357536" y="986033"/>
            <a:ext cx="1512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Complementary access/ Devices</a:t>
            </a:r>
          </a:p>
        </p:txBody>
      </p:sp>
      <p:pic>
        <p:nvPicPr>
          <p:cNvPr id="36" name="Graphic 35" descr="Call centre with solid fill">
            <a:extLst>
              <a:ext uri="{FF2B5EF4-FFF2-40B4-BE49-F238E27FC236}">
                <a16:creationId xmlns:a16="http://schemas.microsoft.com/office/drawing/2014/main" id="{8E33A730-7AA9-97BD-C1E5-CFFFC7EDECF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00799" y="1492789"/>
            <a:ext cx="787851" cy="7878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C203742-7A3F-0672-2ADB-3A9BCF84AA3A}"/>
              </a:ext>
            </a:extLst>
          </p:cNvPr>
          <p:cNvSpPr txBox="1"/>
          <p:nvPr/>
        </p:nvSpPr>
        <p:spPr>
          <a:xfrm>
            <a:off x="7951165" y="986033"/>
            <a:ext cx="1512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Value-added services</a:t>
            </a:r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349AA7BD-3C88-D774-55BD-2AB14DB0186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9319088" y="1680519"/>
            <a:ext cx="1182692" cy="362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95A5117-B632-FF12-EA35-1027BFABB5D8}"/>
              </a:ext>
            </a:extLst>
          </p:cNvPr>
          <p:cNvSpPr txBox="1"/>
          <p:nvPr/>
        </p:nvSpPr>
        <p:spPr>
          <a:xfrm>
            <a:off x="9366816" y="976874"/>
            <a:ext cx="1512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Subscription models</a:t>
            </a:r>
          </a:p>
        </p:txBody>
      </p:sp>
      <p:pic>
        <p:nvPicPr>
          <p:cNvPr id="40" name="Graphic 39" descr="Register with solid fill">
            <a:extLst>
              <a:ext uri="{FF2B5EF4-FFF2-40B4-BE49-F238E27FC236}">
                <a16:creationId xmlns:a16="http://schemas.microsoft.com/office/drawing/2014/main" id="{DAF2959E-D022-7DE1-830E-5ADDEBA72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9579" y="3362252"/>
            <a:ext cx="757881" cy="757881"/>
          </a:xfrm>
          <a:prstGeom prst="rect">
            <a:avLst/>
          </a:prstGeom>
        </p:spPr>
      </p:pic>
      <p:pic>
        <p:nvPicPr>
          <p:cNvPr id="41" name="Graphic 40" descr="Monitor with solid fill">
            <a:extLst>
              <a:ext uri="{FF2B5EF4-FFF2-40B4-BE49-F238E27FC236}">
                <a16:creationId xmlns:a16="http://schemas.microsoft.com/office/drawing/2014/main" id="{3579D29E-0F5F-D9FE-C4DF-FF10F2B497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3464" y="3362252"/>
            <a:ext cx="757881" cy="757881"/>
          </a:xfrm>
          <a:prstGeom prst="rect">
            <a:avLst/>
          </a:prstGeom>
        </p:spPr>
      </p:pic>
      <p:pic>
        <p:nvPicPr>
          <p:cNvPr id="42" name="Graphic 41" descr="Shopping cart with solid fill">
            <a:extLst>
              <a:ext uri="{FF2B5EF4-FFF2-40B4-BE49-F238E27FC236}">
                <a16:creationId xmlns:a16="http://schemas.microsoft.com/office/drawing/2014/main" id="{4619908E-01CA-0909-F561-1B6A502A18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83607" y="3543300"/>
            <a:ext cx="297593" cy="29759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CB4F0BE-5F36-8952-28C1-32457CF12C3D}"/>
              </a:ext>
            </a:extLst>
          </p:cNvPr>
          <p:cNvSpPr txBox="1"/>
          <p:nvPr/>
        </p:nvSpPr>
        <p:spPr>
          <a:xfrm>
            <a:off x="4293857" y="3028005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Retailers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C237E2-74A2-4DE7-1F9B-170443A34721}"/>
              </a:ext>
            </a:extLst>
          </p:cNvPr>
          <p:cNvSpPr txBox="1"/>
          <p:nvPr/>
        </p:nvSpPr>
        <p:spPr>
          <a:xfrm>
            <a:off x="5412555" y="3022853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E-tailers</a:t>
            </a:r>
          </a:p>
        </p:txBody>
      </p:sp>
      <p:pic>
        <p:nvPicPr>
          <p:cNvPr id="46" name="Graphic 45" descr="Internet with solid fill">
            <a:extLst>
              <a:ext uri="{FF2B5EF4-FFF2-40B4-BE49-F238E27FC236}">
                <a16:creationId xmlns:a16="http://schemas.microsoft.com/office/drawing/2014/main" id="{2D63AF7A-A4DF-BD97-AAD6-B948868B42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57098" y="3298573"/>
            <a:ext cx="885237" cy="88523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24892C1-C430-ACD8-96D9-05131DC1AC1E}"/>
              </a:ext>
            </a:extLst>
          </p:cNvPr>
          <p:cNvSpPr txBox="1"/>
          <p:nvPr/>
        </p:nvSpPr>
        <p:spPr>
          <a:xfrm>
            <a:off x="6587349" y="2846904"/>
            <a:ext cx="1419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Owned Website</a:t>
            </a: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EC3BB425-A5A6-407E-BA5A-AA92F42B67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7959238" y="3446700"/>
            <a:ext cx="588981" cy="58898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840146F-60F5-29EC-2100-4BDF78562987}"/>
              </a:ext>
            </a:extLst>
          </p:cNvPr>
          <p:cNvSpPr txBox="1"/>
          <p:nvPr/>
        </p:nvSpPr>
        <p:spPr>
          <a:xfrm>
            <a:off x="7919725" y="3021635"/>
            <a:ext cx="787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Apps</a:t>
            </a:r>
          </a:p>
        </p:txBody>
      </p:sp>
      <p:pic>
        <p:nvPicPr>
          <p:cNvPr id="51" name="Graphic 50" descr="Shopping cart with solid fill">
            <a:extLst>
              <a:ext uri="{FF2B5EF4-FFF2-40B4-BE49-F238E27FC236}">
                <a16:creationId xmlns:a16="http://schemas.microsoft.com/office/drawing/2014/main" id="{92DF9393-8955-21D0-87D2-0732E32C8B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26800" y="3441391"/>
            <a:ext cx="588981" cy="58898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FA55EE2-3137-FA7C-F38E-82F29E8A9649}"/>
              </a:ext>
            </a:extLst>
          </p:cNvPr>
          <p:cNvSpPr txBox="1"/>
          <p:nvPr/>
        </p:nvSpPr>
        <p:spPr>
          <a:xfrm>
            <a:off x="9027364" y="2904894"/>
            <a:ext cx="944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Flagship stores</a:t>
            </a:r>
          </a:p>
        </p:txBody>
      </p:sp>
      <p:pic>
        <p:nvPicPr>
          <p:cNvPr id="54" name="Graphic 53" descr="Cycle with people outline">
            <a:extLst>
              <a:ext uri="{FF2B5EF4-FFF2-40B4-BE49-F238E27FC236}">
                <a16:creationId xmlns:a16="http://schemas.microsoft.com/office/drawing/2014/main" id="{04967E2D-B568-9C84-E8F7-DB21D9F2C8D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91820" y="3337888"/>
            <a:ext cx="813793" cy="81379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803CA3C-E2F3-D019-0E1D-91140601B90E}"/>
              </a:ext>
            </a:extLst>
          </p:cNvPr>
          <p:cNvSpPr txBox="1"/>
          <p:nvPr/>
        </p:nvSpPr>
        <p:spPr>
          <a:xfrm>
            <a:off x="10226381" y="2898524"/>
            <a:ext cx="944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Peer-to-peer</a:t>
            </a:r>
          </a:p>
        </p:txBody>
      </p:sp>
      <p:pic>
        <p:nvPicPr>
          <p:cNvPr id="56" name="Graphic 55" descr="Dump truck with solid fill">
            <a:extLst>
              <a:ext uri="{FF2B5EF4-FFF2-40B4-BE49-F238E27FC236}">
                <a16:creationId xmlns:a16="http://schemas.microsoft.com/office/drawing/2014/main" id="{1BE47F16-613F-350D-586A-6C76E3CCEC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18962" y="5096452"/>
            <a:ext cx="914400" cy="914400"/>
          </a:xfrm>
          <a:prstGeom prst="rect">
            <a:avLst/>
          </a:prstGeom>
        </p:spPr>
      </p:pic>
      <p:pic>
        <p:nvPicPr>
          <p:cNvPr id="57" name="Graphic 56" descr="Factory with solid fill">
            <a:extLst>
              <a:ext uri="{FF2B5EF4-FFF2-40B4-BE49-F238E27FC236}">
                <a16:creationId xmlns:a16="http://schemas.microsoft.com/office/drawing/2014/main" id="{86EA486B-FF3D-DE1A-F7EE-C1A76DA463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12441" y="5077979"/>
            <a:ext cx="914400" cy="9144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A2918AF-3642-786F-4355-FF2D0603C257}"/>
              </a:ext>
            </a:extLst>
          </p:cNvPr>
          <p:cNvSpPr txBox="1"/>
          <p:nvPr/>
        </p:nvSpPr>
        <p:spPr>
          <a:xfrm>
            <a:off x="4127972" y="4739425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To 3PLs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43E744-4171-AE5F-4DA2-8F7CE7C999B5}"/>
              </a:ext>
            </a:extLst>
          </p:cNvPr>
          <p:cNvSpPr txBox="1"/>
          <p:nvPr/>
        </p:nvSpPr>
        <p:spPr>
          <a:xfrm>
            <a:off x="5107387" y="4616314"/>
            <a:ext cx="1241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To warehouse</a:t>
            </a:r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680E10A4-DFE2-0F51-B55C-F49CDB3E455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6977802" y="5177481"/>
            <a:ext cx="639006" cy="62223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E6C9264-3C02-9DD6-C32B-AF1B517813A4}"/>
              </a:ext>
            </a:extLst>
          </p:cNvPr>
          <p:cNvSpPr txBox="1"/>
          <p:nvPr/>
        </p:nvSpPr>
        <p:spPr>
          <a:xfrm>
            <a:off x="6493213" y="4615830"/>
            <a:ext cx="1707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Last Mile Delivery to consumer</a:t>
            </a:r>
          </a:p>
        </p:txBody>
      </p:sp>
      <p:pic>
        <p:nvPicPr>
          <p:cNvPr id="63" name="Graphic 62" descr="Packing Box Open with solid fill">
            <a:extLst>
              <a:ext uri="{FF2B5EF4-FFF2-40B4-BE49-F238E27FC236}">
                <a16:creationId xmlns:a16="http://schemas.microsoft.com/office/drawing/2014/main" id="{AF26E711-1984-1CD7-0D60-0F4C652924E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398625" y="5077979"/>
            <a:ext cx="914400" cy="914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1199DEA3-D0B3-A8CB-45A6-0F45A6CEE0BC}"/>
              </a:ext>
            </a:extLst>
          </p:cNvPr>
          <p:cNvSpPr txBox="1"/>
          <p:nvPr/>
        </p:nvSpPr>
        <p:spPr>
          <a:xfrm>
            <a:off x="8173571" y="4577361"/>
            <a:ext cx="1707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Consumer Case return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6C79A818-6BD6-E307-86E8-CDFFB654E95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9753600" y="5180666"/>
            <a:ext cx="1589841" cy="62003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874C2FF-A313-8EBD-C6E4-E621C6ECACB6}"/>
              </a:ext>
            </a:extLst>
          </p:cNvPr>
          <p:cNvSpPr txBox="1"/>
          <p:nvPr/>
        </p:nvSpPr>
        <p:spPr>
          <a:xfrm>
            <a:off x="9853929" y="4573009"/>
            <a:ext cx="1707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Click n Collect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279B41-46DE-57D1-383C-C84AE875DDC2}"/>
              </a:ext>
            </a:extLst>
          </p:cNvPr>
          <p:cNvSpPr txBox="1"/>
          <p:nvPr/>
        </p:nvSpPr>
        <p:spPr>
          <a:xfrm>
            <a:off x="469939" y="279618"/>
            <a:ext cx="400110" cy="181588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Offerings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C08DAB-4258-8FEC-F7A5-6188CE6BD361}"/>
              </a:ext>
            </a:extLst>
          </p:cNvPr>
          <p:cNvCxnSpPr/>
          <p:nvPr/>
        </p:nvCxnSpPr>
        <p:spPr>
          <a:xfrm>
            <a:off x="654811" y="2540000"/>
            <a:ext cx="10744059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094198-5151-826F-44EB-553141163841}"/>
              </a:ext>
            </a:extLst>
          </p:cNvPr>
          <p:cNvCxnSpPr/>
          <p:nvPr/>
        </p:nvCxnSpPr>
        <p:spPr>
          <a:xfrm>
            <a:off x="654811" y="4318000"/>
            <a:ext cx="10744059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9222F7B-D506-54E5-AE64-230F87D4C3EB}"/>
              </a:ext>
            </a:extLst>
          </p:cNvPr>
          <p:cNvSpPr txBox="1"/>
          <p:nvPr/>
        </p:nvSpPr>
        <p:spPr>
          <a:xfrm>
            <a:off x="476077" y="1938975"/>
            <a:ext cx="400110" cy="181588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Channels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E5F3F6-5005-1331-0DB0-2D17F31E4A0D}"/>
              </a:ext>
            </a:extLst>
          </p:cNvPr>
          <p:cNvSpPr txBox="1"/>
          <p:nvPr/>
        </p:nvSpPr>
        <p:spPr>
          <a:xfrm>
            <a:off x="479183" y="3834345"/>
            <a:ext cx="400110" cy="181588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Fulfilment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3F49D8-D638-CA31-2C1A-822CFB3E14EA}"/>
              </a:ext>
            </a:extLst>
          </p:cNvPr>
          <p:cNvCxnSpPr/>
          <p:nvPr/>
        </p:nvCxnSpPr>
        <p:spPr>
          <a:xfrm>
            <a:off x="1420225" y="863600"/>
            <a:ext cx="19174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524F73-A8C1-27DB-08C2-932E7E0797D1}"/>
              </a:ext>
            </a:extLst>
          </p:cNvPr>
          <p:cNvCxnSpPr>
            <a:cxnSpLocks/>
          </p:cNvCxnSpPr>
          <p:nvPr/>
        </p:nvCxnSpPr>
        <p:spPr>
          <a:xfrm>
            <a:off x="3682082" y="863600"/>
            <a:ext cx="6947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9208ECC-7193-6E83-2D48-F60916AB9C20}"/>
              </a:ext>
            </a:extLst>
          </p:cNvPr>
          <p:cNvSpPr txBox="1"/>
          <p:nvPr/>
        </p:nvSpPr>
        <p:spPr>
          <a:xfrm>
            <a:off x="6424571" y="558130"/>
            <a:ext cx="216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With D2C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96DF87-A842-F6E3-C951-FF8A8CD1493B}"/>
              </a:ext>
            </a:extLst>
          </p:cNvPr>
          <p:cNvSpPr txBox="1"/>
          <p:nvPr/>
        </p:nvSpPr>
        <p:spPr>
          <a:xfrm>
            <a:off x="1808311" y="531453"/>
            <a:ext cx="216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71988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SULAIMAN QIZILBASH</dc:creator>
  <cp:revision>2</cp:revision>
  <cp:lastPrinted>2022-09-01T14:31:04Z</cp:lastPrinted>
  <dcterms:created xsi:type="dcterms:W3CDTF">2022-08-31T13:10:57Z</dcterms:created>
  <dcterms:modified xsi:type="dcterms:W3CDTF">2023-03-05T11:36:42Z</dcterms:modified>
</cp:coreProperties>
</file>