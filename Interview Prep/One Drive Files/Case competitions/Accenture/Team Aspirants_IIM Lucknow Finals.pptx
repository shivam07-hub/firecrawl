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Ex1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2.xml" ContentType="application/vnd.openxmlformats-officedocument.themeOverride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6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7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Ex2.xml" ContentType="application/vnd.ms-office.chartex+xml"/>
  <Override PartName="/ppt/charts/style9.xml" ContentType="application/vnd.ms-office.chartstyle+xml"/>
  <Override PartName="/ppt/charts/colors9.xml" ContentType="application/vnd.ms-office.chartcolorstyle+xml"/>
  <Override PartName="/ppt/charts/chartEx3.xml" ContentType="application/vnd.ms-office.chartex+xml"/>
  <Override PartName="/ppt/charts/style10.xml" ContentType="application/vnd.ms-office.chartstyle+xml"/>
  <Override PartName="/ppt/charts/colors10.xml" ContentType="application/vnd.ms-office.chartcolorstyle+xml"/>
  <Override PartName="/ppt/charts/chartEx4.xml" ContentType="application/vnd.ms-office.chartex+xml"/>
  <Override PartName="/ppt/charts/style11.xml" ContentType="application/vnd.ms-office.chartstyle+xml"/>
  <Override PartName="/ppt/charts/colors11.xml" ContentType="application/vnd.ms-office.chartcolorstyle+xml"/>
  <Override PartName="/ppt/charts/chart8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3.xml" ContentType="application/vnd.openxmlformats-officedocument.presentationml.notesSlide+xml"/>
  <Override PartName="/ppt/charts/chart9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0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1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2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theme/themeOverride3.xml" ContentType="application/vnd.openxmlformats-officedocument.themeOverr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8"/>
  </p:notesMasterIdLst>
  <p:sldIdLst>
    <p:sldId id="2147468597" r:id="rId5"/>
    <p:sldId id="2147468626" r:id="rId6"/>
    <p:sldId id="2147468620" r:id="rId7"/>
    <p:sldId id="2147468627" r:id="rId8"/>
    <p:sldId id="2147468632" r:id="rId9"/>
    <p:sldId id="2147468631" r:id="rId10"/>
    <p:sldId id="2147468628" r:id="rId11"/>
    <p:sldId id="2147468633" r:id="rId12"/>
    <p:sldId id="2147468619" r:id="rId13"/>
    <p:sldId id="2147468621" r:id="rId14"/>
    <p:sldId id="2147468618" r:id="rId15"/>
    <p:sldId id="2147468624" r:id="rId16"/>
    <p:sldId id="2147468625" r:id="rId17"/>
    <p:sldId id="2147468630" r:id="rId18"/>
    <p:sldId id="2147468623" r:id="rId19"/>
    <p:sldId id="2147468629" r:id="rId20"/>
    <p:sldId id="2147468607" r:id="rId21"/>
    <p:sldId id="2147468616" r:id="rId22"/>
    <p:sldId id="2147468600" r:id="rId23"/>
    <p:sldId id="2147468609" r:id="rId24"/>
    <p:sldId id="2147468605" r:id="rId25"/>
    <p:sldId id="2147468608" r:id="rId26"/>
    <p:sldId id="214746862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00C0"/>
    <a:srgbClr val="C766FF"/>
    <a:srgbClr val="51007F"/>
    <a:srgbClr val="7310A0"/>
    <a:srgbClr val="720C9C"/>
    <a:srgbClr val="7913A3"/>
    <a:srgbClr val="710C9A"/>
    <a:srgbClr val="5F02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6E5485-F032-4715-AAA9-B3D2715C35B0}" v="3295" dt="2022-09-01T16:51:12.372"/>
    <p1510:client id="{0F841302-1C78-2748-840A-C3A3435B3DB8}" v="2248" vWet="2252" dt="2022-09-01T16:45:02.923"/>
    <p1510:client id="{823CA4AF-654C-521D-5121-45713C680ED4}" v="8" dt="2022-09-01T10:13:56.522"/>
    <p1510:client id="{826B51E1-5EF4-FAC4-DB84-0662F58FF9A9}" v="4" dt="2022-09-01T10:24:35.481"/>
    <p1510:client id="{A6BBE94C-B9D3-EED6-1004-2691CF398AFB}" v="1" dt="2022-09-01T16:42:01.303"/>
    <p1510:client id="{D5089747-B5E7-C682-EF67-C0F5F27F8097}" v="1095" dt="2022-09-01T16:50:28.992"/>
  </p1510:revLst>
</p1510:revInfo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56"/>
    <p:restoredTop sz="94720"/>
  </p:normalViewPr>
  <p:slideViewPr>
    <p:cSldViewPr snapToGrid="0">
      <p:cViewPr varScale="1">
        <p:scale>
          <a:sx n="101" d="100"/>
          <a:sy n="101" d="100"/>
        </p:scale>
        <p:origin x="12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anyam/Downloads/donut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16.xml"/><Relationship Id="rId1" Type="http://schemas.microsoft.com/office/2011/relationships/chartStyle" Target="style16.xml"/><Relationship Id="rId4" Type="http://schemas.openxmlformats.org/officeDocument/2006/relationships/package" Target="../embeddings/Microsoft_Excel_Worksheet14.xlsx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Microsoft_Excel_Worksheet2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microsoft.com/office/2011/relationships/chartStyle" Target="style9.xml"/><Relationship Id="rId1" Type="http://schemas.openxmlformats.org/officeDocument/2006/relationships/package" Target="../embeddings/Microsoft_Excel_Worksheet8.xlsx"/></Relationships>
</file>

<file path=ppt/charts/_rels/chartEx3.xml.rels><?xml version="1.0" encoding="UTF-8" standalone="yes"?>
<Relationships xmlns="http://schemas.openxmlformats.org/package/2006/relationships"><Relationship Id="rId3" Type="http://schemas.microsoft.com/office/2011/relationships/chartColorStyle" Target="colors10.xml"/><Relationship Id="rId2" Type="http://schemas.microsoft.com/office/2011/relationships/chartStyle" Target="style10.xml"/><Relationship Id="rId1" Type="http://schemas.openxmlformats.org/officeDocument/2006/relationships/package" Target="../embeddings/Microsoft_Excel_Worksheet9.xlsx"/></Relationships>
</file>

<file path=ppt/charts/_rels/chartEx4.xml.rels><?xml version="1.0" encoding="UTF-8" standalone="yes"?>
<Relationships xmlns="http://schemas.openxmlformats.org/package/2006/relationships"><Relationship Id="rId3" Type="http://schemas.microsoft.com/office/2011/relationships/chartColorStyle" Target="colors11.xml"/><Relationship Id="rId2" Type="http://schemas.microsoft.com/office/2011/relationships/chartStyle" Target="style11.xml"/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bg1"/>
                </a:solidFill>
              </a:rPr>
              <a:t>TAM (Billion</a:t>
            </a:r>
            <a:r>
              <a:rPr lang="en-US" b="1" baseline="0">
                <a:solidFill>
                  <a:schemeClr val="bg1"/>
                </a:solidFill>
              </a:rPr>
              <a:t> USD)</a:t>
            </a:r>
            <a:endParaRPr lang="en-US" b="1">
              <a:solidFill>
                <a:schemeClr val="bg1"/>
              </a:solidFill>
            </a:endParaRPr>
          </a:p>
        </c:rich>
      </c:tx>
      <c:layout>
        <c:manualLayout>
          <c:xMode val="edge"/>
          <c:yMode val="edge"/>
          <c:x val="0.24126711383865415"/>
          <c:y val="2.608721551840124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917988594883548"/>
          <c:y val="0.21159248071959633"/>
          <c:w val="0.84580824490468687"/>
          <c:h val="0.5681473108689026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Bedsheets</c:v>
                </c:pt>
                <c:pt idx="1">
                  <c:v>Towels</c:v>
                </c:pt>
                <c:pt idx="2">
                  <c:v>Top of Bed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0.22</c:v>
                </c:pt>
                <c:pt idx="1">
                  <c:v>7.4999999999999997E-2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AA-EC4D-B19C-18A172FDD05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603773168"/>
        <c:axId val="1603766096"/>
      </c:barChart>
      <c:catAx>
        <c:axId val="1603773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3766096"/>
        <c:crosses val="autoZero"/>
        <c:auto val="1"/>
        <c:lblAlgn val="ctr"/>
        <c:lblOffset val="100"/>
        <c:noMultiLvlLbl val="0"/>
      </c:catAx>
      <c:valAx>
        <c:axId val="16037660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3773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>
      <a:gsLst>
        <a:gs pos="3000">
          <a:schemeClr val="accent1">
            <a:lumMod val="5000"/>
            <a:lumOff val="95000"/>
          </a:schemeClr>
        </a:gs>
        <a:gs pos="74000">
          <a:schemeClr val="accent1">
            <a:lumMod val="45000"/>
            <a:lumOff val="55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</a:gradFill>
    <a:ln>
      <a:solidFill>
        <a:schemeClr val="accent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 b="1" i="0" dirty="0">
                <a:solidFill>
                  <a:srgbClr val="710C9A"/>
                </a:solidFill>
                <a:latin typeface="Graphik" panose="020B0503030202060203" pitchFamily="34" charset="77"/>
              </a:rPr>
              <a:t>Channel Strategy</a:t>
            </a:r>
          </a:p>
        </c:rich>
      </c:tx>
      <c:overlay val="0"/>
      <c:spPr>
        <a:noFill/>
        <a:ln>
          <a:solidFill>
            <a:srgbClr val="A100FF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4456036745406818E-2"/>
          <c:y val="0.10627644856601984"/>
          <c:w val="0.88822442082367381"/>
          <c:h val="0.78225801766571257"/>
        </c:manualLayout>
      </c:layout>
      <c:lineChart>
        <c:grouping val="standard"/>
        <c:varyColors val="0"/>
        <c:ser>
          <c:idx val="0"/>
          <c:order val="0"/>
          <c:tx>
            <c:strRef>
              <c:f>Sheet1!$B$4</c:f>
              <c:strCache>
                <c:ptCount val="1"/>
                <c:pt idx="0">
                  <c:v> Bed &amp; Bath Industry Split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Sheet1!$C$3:$F$3</c:f>
              <c:strCache>
                <c:ptCount val="4"/>
                <c:pt idx="0">
                  <c:v>Flipkart</c:v>
                </c:pt>
                <c:pt idx="1">
                  <c:v>Amazon</c:v>
                </c:pt>
                <c:pt idx="2">
                  <c:v>Myntra</c:v>
                </c:pt>
                <c:pt idx="3">
                  <c:v>Others</c:v>
                </c:pt>
              </c:strCache>
            </c:strRef>
          </c:cat>
          <c:val>
            <c:numRef>
              <c:f>Sheet1!$C$4:$F$4</c:f>
              <c:numCache>
                <c:formatCode>0%</c:formatCode>
                <c:ptCount val="4"/>
                <c:pt idx="0">
                  <c:v>0.32</c:v>
                </c:pt>
                <c:pt idx="1">
                  <c:v>0.37</c:v>
                </c:pt>
                <c:pt idx="2">
                  <c:v>0.11</c:v>
                </c:pt>
                <c:pt idx="3">
                  <c:v>0.2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CE-604E-9DBA-7B0A4D64F69C}"/>
            </c:ext>
          </c:extLst>
        </c:ser>
        <c:ser>
          <c:idx val="1"/>
          <c:order val="1"/>
          <c:tx>
            <c:strRef>
              <c:f>Sheet1!$B$5</c:f>
              <c:strCache>
                <c:ptCount val="1"/>
                <c:pt idx="0">
                  <c:v> ABC Sales Split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Sheet1!$C$3:$F$3</c:f>
              <c:strCache>
                <c:ptCount val="4"/>
                <c:pt idx="0">
                  <c:v>Flipkart</c:v>
                </c:pt>
                <c:pt idx="1">
                  <c:v>Amazon</c:v>
                </c:pt>
                <c:pt idx="2">
                  <c:v>Myntra</c:v>
                </c:pt>
                <c:pt idx="3">
                  <c:v>Others</c:v>
                </c:pt>
              </c:strCache>
            </c:strRef>
          </c:cat>
          <c:val>
            <c:numRef>
              <c:f>Sheet1!$C$5:$F$5</c:f>
              <c:numCache>
                <c:formatCode>0%</c:formatCode>
                <c:ptCount val="4"/>
                <c:pt idx="0">
                  <c:v>0.1</c:v>
                </c:pt>
                <c:pt idx="1">
                  <c:v>0.12</c:v>
                </c:pt>
                <c:pt idx="2">
                  <c:v>0.64</c:v>
                </c:pt>
                <c:pt idx="3">
                  <c:v>0.14000000000000001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FCE-604E-9DBA-7B0A4D64F6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29501200"/>
        <c:axId val="729501616"/>
      </c:lineChart>
      <c:catAx>
        <c:axId val="729501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rgbClr val="720C9C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9501616"/>
        <c:crosses val="autoZero"/>
        <c:auto val="1"/>
        <c:lblAlgn val="ctr"/>
        <c:lblOffset val="100"/>
        <c:noMultiLvlLbl val="0"/>
      </c:catAx>
      <c:valAx>
        <c:axId val="729501616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95012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7816135220337617"/>
          <c:y val="0.77771730774340209"/>
          <c:w val="0.33603367771759807"/>
          <c:h val="0.1105078169576628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rgbClr val="7913A3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 b="1"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bg1"/>
                </a:solidFill>
              </a:rPr>
              <a:t>TAM (Billion</a:t>
            </a:r>
            <a:r>
              <a:rPr lang="en-US" b="1" baseline="0">
                <a:solidFill>
                  <a:schemeClr val="bg1"/>
                </a:solidFill>
              </a:rPr>
              <a:t> USD)</a:t>
            </a:r>
            <a:endParaRPr lang="en-US" b="1">
              <a:solidFill>
                <a:schemeClr val="bg1"/>
              </a:solidFill>
            </a:endParaRPr>
          </a:p>
        </c:rich>
      </c:tx>
      <c:layout>
        <c:manualLayout>
          <c:xMode val="edge"/>
          <c:yMode val="edge"/>
          <c:x val="0.24126711383865415"/>
          <c:y val="2.608721551840124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917988594883548"/>
          <c:y val="0.21159248071959633"/>
          <c:w val="0.84580824490468687"/>
          <c:h val="0.5681473108689026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Bedsheets</c:v>
                </c:pt>
                <c:pt idx="1">
                  <c:v>Towels</c:v>
                </c:pt>
                <c:pt idx="2">
                  <c:v>Top of Bed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0.22</c:v>
                </c:pt>
                <c:pt idx="1">
                  <c:v>7.4999999999999997E-2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AA-EC4D-B19C-18A172FDD05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603773168"/>
        <c:axId val="1603766096"/>
      </c:barChart>
      <c:catAx>
        <c:axId val="1603773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3766096"/>
        <c:crosses val="autoZero"/>
        <c:auto val="1"/>
        <c:lblAlgn val="ctr"/>
        <c:lblOffset val="100"/>
        <c:noMultiLvlLbl val="0"/>
      </c:catAx>
      <c:valAx>
        <c:axId val="16037660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3773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>
      <a:gsLst>
        <a:gs pos="3000">
          <a:schemeClr val="accent1">
            <a:lumMod val="5000"/>
            <a:lumOff val="95000"/>
          </a:schemeClr>
        </a:gs>
        <a:gs pos="74000">
          <a:schemeClr val="accent1">
            <a:lumMod val="45000"/>
            <a:lumOff val="55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</a:gradFill>
    <a:ln>
      <a:solidFill>
        <a:schemeClr val="accent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 b="1" i="0" dirty="0">
                <a:solidFill>
                  <a:srgbClr val="710C9A"/>
                </a:solidFill>
                <a:latin typeface="Graphik" panose="020B0503030202060203" pitchFamily="34" charset="77"/>
              </a:rPr>
              <a:t>Channel Strategy</a:t>
            </a:r>
          </a:p>
        </c:rich>
      </c:tx>
      <c:overlay val="0"/>
      <c:spPr>
        <a:noFill/>
        <a:ln>
          <a:solidFill>
            <a:srgbClr val="A100FF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4456036745406818E-2"/>
          <c:y val="0.10627644856601984"/>
          <c:w val="0.88822442082367381"/>
          <c:h val="0.78225801766571257"/>
        </c:manualLayout>
      </c:layout>
      <c:lineChart>
        <c:grouping val="standard"/>
        <c:varyColors val="0"/>
        <c:ser>
          <c:idx val="0"/>
          <c:order val="0"/>
          <c:tx>
            <c:strRef>
              <c:f>Sheet1!$B$4</c:f>
              <c:strCache>
                <c:ptCount val="1"/>
                <c:pt idx="0">
                  <c:v> Bed &amp; Bath Industry Split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Sheet1!$C$3:$F$3</c:f>
              <c:strCache>
                <c:ptCount val="4"/>
                <c:pt idx="0">
                  <c:v>Flipkart</c:v>
                </c:pt>
                <c:pt idx="1">
                  <c:v>Amazon</c:v>
                </c:pt>
                <c:pt idx="2">
                  <c:v>Myntra</c:v>
                </c:pt>
                <c:pt idx="3">
                  <c:v>Others</c:v>
                </c:pt>
              </c:strCache>
            </c:strRef>
          </c:cat>
          <c:val>
            <c:numRef>
              <c:f>Sheet1!$C$4:$F$4</c:f>
              <c:numCache>
                <c:formatCode>0%</c:formatCode>
                <c:ptCount val="4"/>
                <c:pt idx="0">
                  <c:v>0.32</c:v>
                </c:pt>
                <c:pt idx="1">
                  <c:v>0.37</c:v>
                </c:pt>
                <c:pt idx="2">
                  <c:v>0.11</c:v>
                </c:pt>
                <c:pt idx="3">
                  <c:v>0.2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541-864C-8BA0-EBEE23FEC7D9}"/>
            </c:ext>
          </c:extLst>
        </c:ser>
        <c:ser>
          <c:idx val="1"/>
          <c:order val="1"/>
          <c:tx>
            <c:strRef>
              <c:f>Sheet1!$B$5</c:f>
              <c:strCache>
                <c:ptCount val="1"/>
                <c:pt idx="0">
                  <c:v> ABC Sales Split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Sheet1!$C$3:$F$3</c:f>
              <c:strCache>
                <c:ptCount val="4"/>
                <c:pt idx="0">
                  <c:v>Flipkart</c:v>
                </c:pt>
                <c:pt idx="1">
                  <c:v>Amazon</c:v>
                </c:pt>
                <c:pt idx="2">
                  <c:v>Myntra</c:v>
                </c:pt>
                <c:pt idx="3">
                  <c:v>Others</c:v>
                </c:pt>
              </c:strCache>
            </c:strRef>
          </c:cat>
          <c:val>
            <c:numRef>
              <c:f>Sheet1!$C$5:$F$5</c:f>
              <c:numCache>
                <c:formatCode>0%</c:formatCode>
                <c:ptCount val="4"/>
                <c:pt idx="0">
                  <c:v>0.1</c:v>
                </c:pt>
                <c:pt idx="1">
                  <c:v>0.12</c:v>
                </c:pt>
                <c:pt idx="2">
                  <c:v>0.64</c:v>
                </c:pt>
                <c:pt idx="3">
                  <c:v>0.14000000000000001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541-864C-8BA0-EBEE23FEC7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29501200"/>
        <c:axId val="729501616"/>
      </c:lineChart>
      <c:catAx>
        <c:axId val="729501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rgbClr val="720C9C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9501616"/>
        <c:crosses val="autoZero"/>
        <c:auto val="1"/>
        <c:lblAlgn val="ctr"/>
        <c:lblOffset val="100"/>
        <c:noMultiLvlLbl val="0"/>
      </c:catAx>
      <c:valAx>
        <c:axId val="729501616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95012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7816135220337617"/>
          <c:y val="0.77771730774340209"/>
          <c:w val="0.33603367771759807"/>
          <c:h val="0.1105078169576628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rgbClr val="7913A3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 b="1"/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u="sng" dirty="0">
                <a:solidFill>
                  <a:schemeClr val="accent3"/>
                </a:solidFill>
              </a:rPr>
              <a:t>Expected Revenue &amp; Cost</a:t>
            </a:r>
          </a:p>
        </c:rich>
      </c:tx>
      <c:layout>
        <c:manualLayout>
          <c:xMode val="edge"/>
          <c:yMode val="edge"/>
          <c:x val="0.19696827973826045"/>
          <c:y val="7.492411154117217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9439394438858769E-2"/>
          <c:y val="9.3948301001605145E-2"/>
          <c:w val="0.86240786240786238"/>
          <c:h val="0.737479404594701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Recurring Cost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6</c:v>
                </c:pt>
                <c:pt idx="2">
                  <c:v>4</c:v>
                </c:pt>
                <c:pt idx="3">
                  <c:v>3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EA-D542-8C57-84D69B50D49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Incremental Revenue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</c:v>
                </c:pt>
                <c:pt idx="1">
                  <c:v>9</c:v>
                </c:pt>
                <c:pt idx="2">
                  <c:v>10</c:v>
                </c:pt>
                <c:pt idx="3">
                  <c:v>10.5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EA-D542-8C57-84D69B50D4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86521744"/>
        <c:axId val="486098272"/>
      </c:barChart>
      <c:catAx>
        <c:axId val="486521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098272"/>
        <c:crosses val="autoZero"/>
        <c:auto val="1"/>
        <c:lblAlgn val="ctr"/>
        <c:lblOffset val="100"/>
        <c:noMultiLvlLbl val="0"/>
      </c:catAx>
      <c:valAx>
        <c:axId val="4860982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5217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Total Cost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movingAvg"/>
            <c:period val="2"/>
            <c:dispRSqr val="0"/>
            <c:dispEq val="0"/>
          </c:trendline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4.5</c:v>
                </c:pt>
                <c:pt idx="1">
                  <c:v>4</c:v>
                </c:pt>
                <c:pt idx="2">
                  <c:v>3</c:v>
                </c:pt>
                <c:pt idx="3">
                  <c:v>3</c:v>
                </c:pt>
                <c:pt idx="4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61-1941-B522-2E31ACEF31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9291056"/>
        <c:axId val="766073728"/>
      </c:barChart>
      <c:catAx>
        <c:axId val="4992910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6073728"/>
        <c:crosses val="autoZero"/>
        <c:auto val="1"/>
        <c:lblAlgn val="ctr"/>
        <c:lblOffset val="100"/>
        <c:noMultiLvlLbl val="0"/>
      </c:catAx>
      <c:valAx>
        <c:axId val="7660737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92910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accent2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Total Revenue</a:t>
            </a:r>
          </a:p>
        </c:rich>
      </c:tx>
      <c:layout>
        <c:manualLayout>
          <c:xMode val="edge"/>
          <c:yMode val="edge"/>
          <c:x val="0.38780435822835835"/>
          <c:y val="2.52692437383669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accent2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exp"/>
            <c:dispRSqr val="0"/>
            <c:dispEq val="0"/>
          </c:trendline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5.5</c:v>
                </c:pt>
                <c:pt idx="2">
                  <c:v>6</c:v>
                </c:pt>
                <c:pt idx="3">
                  <c:v>7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03-9E41-B696-566A09D49D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17272272"/>
        <c:axId val="388863088"/>
      </c:barChart>
      <c:catAx>
        <c:axId val="617272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8863088"/>
        <c:crosses val="autoZero"/>
        <c:auto val="1"/>
        <c:lblAlgn val="ctr"/>
        <c:lblOffset val="100"/>
        <c:noMultiLvlLbl val="0"/>
      </c:catAx>
      <c:valAx>
        <c:axId val="388863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72722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accent1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/>
              <a:t>Estimated Incremental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5998099106164402"/>
          <c:y val="0.23813608405332312"/>
          <c:w val="0.4282126923616269"/>
          <c:h val="0.55251130842687213"/>
        </c:manualLayout>
      </c:layout>
      <c:doughnutChart>
        <c:varyColors val="1"/>
        <c:ser>
          <c:idx val="0"/>
          <c:order val="0"/>
          <c:tx>
            <c:strRef>
              <c:f>Sheet1!$B$16</c:f>
              <c:strCache>
                <c:ptCount val="1"/>
                <c:pt idx="0">
                  <c:v>Estimated Revenue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4E6-6446-AE43-7B62B6A96E8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4E6-6446-AE43-7B62B6A96E80}"/>
              </c:ext>
            </c:extLst>
          </c:dPt>
          <c:dPt>
            <c:idx val="2"/>
            <c:bubble3D val="0"/>
            <c:spPr>
              <a:solidFill>
                <a:schemeClr val="accent2">
                  <a:tint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4E6-6446-AE43-7B62B6A96E80}"/>
              </c:ext>
            </c:extLst>
          </c:dPt>
          <c:dLbls>
            <c:dLbl>
              <c:idx val="0"/>
              <c:layout>
                <c:manualLayout>
                  <c:x val="0.16444839248008433"/>
                  <c:y val="-6.944420511265879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669015207892641"/>
                      <c:h val="0.2185716679032142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4E6-6446-AE43-7B62B6A96E80}"/>
                </c:ext>
              </c:extLst>
            </c:dLbl>
            <c:dLbl>
              <c:idx val="1"/>
              <c:layout>
                <c:manualLayout>
                  <c:x val="0.23825073991661888"/>
                  <c:y val="4.54098556829332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7265012943439874"/>
                      <c:h val="0.2185716679032142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C4E6-6446-AE43-7B62B6A96E80}"/>
                </c:ext>
              </c:extLst>
            </c:dLbl>
            <c:dLbl>
              <c:idx val="2"/>
              <c:layout>
                <c:manualLayout>
                  <c:x val="-0.15748927686644848"/>
                  <c:y val="-7.55230596175478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082443294081336"/>
                      <c:h val="0.2185716679032142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C4E6-6446-AE43-7B62B6A96E8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Sheet1!$A$17:$A$19</c:f>
              <c:strCache>
                <c:ptCount val="3"/>
                <c:pt idx="0">
                  <c:v>Year 1 (INR)</c:v>
                </c:pt>
                <c:pt idx="1">
                  <c:v>Year 2 (INR)</c:v>
                </c:pt>
                <c:pt idx="2">
                  <c:v>Year 3 (INR)</c:v>
                </c:pt>
              </c:strCache>
            </c:strRef>
          </c:cat>
          <c:val>
            <c:numRef>
              <c:f>Sheet1!$B$17:$B$19</c:f>
              <c:numCache>
                <c:formatCode>_ * #,##0_ ;_ * \-#,##0_ ;_ * "-"??_ ;_ @_ </c:formatCode>
                <c:ptCount val="3"/>
                <c:pt idx="0">
                  <c:v>199750000</c:v>
                </c:pt>
                <c:pt idx="1">
                  <c:v>208250000</c:v>
                </c:pt>
                <c:pt idx="2">
                  <c:v>217175000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4E6-6446-AE43-7B62B6A96E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accent1"/>
      </a:solidFill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chemeClr val="bg1"/>
                </a:solidFill>
              </a:rPr>
              <a:t>TAM (Billion</a:t>
            </a:r>
            <a:r>
              <a:rPr lang="en-US" baseline="0">
                <a:solidFill>
                  <a:schemeClr val="bg1"/>
                </a:solidFill>
              </a:rPr>
              <a:t> USD)</a:t>
            </a:r>
            <a:endParaRPr lang="en-US">
              <a:solidFill>
                <a:schemeClr val="bg1"/>
              </a:solidFill>
            </a:endParaRPr>
          </a:p>
        </c:rich>
      </c:tx>
      <c:layout>
        <c:manualLayout>
          <c:xMode val="edge"/>
          <c:yMode val="edge"/>
          <c:x val="0.24126711383865415"/>
          <c:y val="2.608721551840124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917988594883548"/>
          <c:y val="0.21159248071959633"/>
          <c:w val="0.84580824490468687"/>
          <c:h val="0.5681473108689026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Bedsheets</c:v>
                </c:pt>
                <c:pt idx="1">
                  <c:v>Towels</c:v>
                </c:pt>
                <c:pt idx="2">
                  <c:v>Top of Bed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0.22</c:v>
                </c:pt>
                <c:pt idx="1">
                  <c:v>7.4999999999999997E-2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F6-4001-A84F-F60ADDF5F27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603773168"/>
        <c:axId val="1603766096"/>
      </c:barChart>
      <c:catAx>
        <c:axId val="1603773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3766096"/>
        <c:crosses val="autoZero"/>
        <c:auto val="1"/>
        <c:lblAlgn val="ctr"/>
        <c:lblOffset val="100"/>
        <c:noMultiLvlLbl val="0"/>
      </c:catAx>
      <c:valAx>
        <c:axId val="16037660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3773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>
      <a:gsLst>
        <a:gs pos="3000">
          <a:schemeClr val="accent1">
            <a:lumMod val="5000"/>
            <a:lumOff val="95000"/>
          </a:schemeClr>
        </a:gs>
        <a:gs pos="74000">
          <a:schemeClr val="accent1">
            <a:lumMod val="45000"/>
            <a:lumOff val="55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</a:gradFill>
    <a:ln>
      <a:solidFill>
        <a:schemeClr val="accent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8.9105980625030293E-2"/>
          <c:y val="9.2920174453137841E-2"/>
          <c:w val="0.82178803874993944"/>
          <c:h val="0.8141596510937243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price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65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hade val="65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shade val="65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Towels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A6-4516-8950-427CA5147B4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 price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Towels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45.2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BA6-4516-8950-427CA5147B4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Premium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65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tint val="65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tint val="65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Lbl>
              <c:idx val="0"/>
              <c:layout>
                <c:manualLayout>
                  <c:x val="0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BA6-4516-8950-427CA5147B4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Towels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44.3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BA6-4516-8950-427CA5147B4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267583615"/>
        <c:axId val="267601087"/>
      </c:barChart>
      <c:catAx>
        <c:axId val="26758361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67601087"/>
        <c:crosses val="autoZero"/>
        <c:auto val="1"/>
        <c:lblAlgn val="ctr"/>
        <c:lblOffset val="100"/>
        <c:noMultiLvlLbl val="0"/>
      </c:catAx>
      <c:valAx>
        <c:axId val="26760108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675836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Mid price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65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hade val="65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shade val="65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</c:f>
              <c:strCache>
                <c:ptCount val="1"/>
                <c:pt idx="0">
                  <c:v>Bedsheet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44.1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5B-4348-B935-193BEC5A06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Premium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</c:f>
              <c:strCache>
                <c:ptCount val="1"/>
                <c:pt idx="0">
                  <c:v>Bedsheet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41.4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45B-4348-B935-193BEC5A066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Premium2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65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tint val="65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tint val="65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</c:f>
              <c:strCache>
                <c:ptCount val="1"/>
                <c:pt idx="0">
                  <c:v>Bedsheet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45B-4348-B935-193BEC5A0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67583615"/>
        <c:axId val="267601087"/>
      </c:barChart>
      <c:catAx>
        <c:axId val="26758361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67601087"/>
        <c:crosses val="autoZero"/>
        <c:auto val="1"/>
        <c:lblAlgn val="ctr"/>
        <c:lblOffset val="100"/>
        <c:noMultiLvlLbl val="0"/>
      </c:catAx>
      <c:valAx>
        <c:axId val="26760108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675836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rgbClr val="FF0000"/>
          </a:solidFill>
        </a:defRPr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2000">
                <a:solidFill>
                  <a:srgbClr val="710C9A"/>
                </a:solidFill>
              </a:rPr>
              <a:t>Channel Strategy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4456036745406818E-2"/>
          <c:y val="0.10627644856601984"/>
          <c:w val="0.88822442082367381"/>
          <c:h val="0.78225801766571257"/>
        </c:manualLayout>
      </c:layout>
      <c:lineChart>
        <c:grouping val="standard"/>
        <c:varyColors val="0"/>
        <c:ser>
          <c:idx val="0"/>
          <c:order val="0"/>
          <c:tx>
            <c:strRef>
              <c:f>Sheet1!$B$4</c:f>
              <c:strCache>
                <c:ptCount val="1"/>
                <c:pt idx="0">
                  <c:v> Bed &amp; Bath Industry Split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Sheet1!$C$3:$F$3</c:f>
              <c:strCache>
                <c:ptCount val="4"/>
                <c:pt idx="0">
                  <c:v>Flipkart</c:v>
                </c:pt>
                <c:pt idx="1">
                  <c:v>Amazon</c:v>
                </c:pt>
                <c:pt idx="2">
                  <c:v>Myntra</c:v>
                </c:pt>
                <c:pt idx="3">
                  <c:v>Others</c:v>
                </c:pt>
              </c:strCache>
            </c:strRef>
          </c:cat>
          <c:val>
            <c:numRef>
              <c:f>Sheet1!$C$4:$F$4</c:f>
              <c:numCache>
                <c:formatCode>0%</c:formatCode>
                <c:ptCount val="4"/>
                <c:pt idx="0">
                  <c:v>0.32</c:v>
                </c:pt>
                <c:pt idx="1">
                  <c:v>0.37</c:v>
                </c:pt>
                <c:pt idx="2">
                  <c:v>0.11</c:v>
                </c:pt>
                <c:pt idx="3">
                  <c:v>0.2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80A-477E-BE77-2AEADE8BD9E1}"/>
            </c:ext>
          </c:extLst>
        </c:ser>
        <c:ser>
          <c:idx val="1"/>
          <c:order val="1"/>
          <c:tx>
            <c:strRef>
              <c:f>Sheet1!$B$5</c:f>
              <c:strCache>
                <c:ptCount val="1"/>
                <c:pt idx="0">
                  <c:v> ABC Sales Split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Sheet1!$C$3:$F$3</c:f>
              <c:strCache>
                <c:ptCount val="4"/>
                <c:pt idx="0">
                  <c:v>Flipkart</c:v>
                </c:pt>
                <c:pt idx="1">
                  <c:v>Amazon</c:v>
                </c:pt>
                <c:pt idx="2">
                  <c:v>Myntra</c:v>
                </c:pt>
                <c:pt idx="3">
                  <c:v>Others</c:v>
                </c:pt>
              </c:strCache>
            </c:strRef>
          </c:cat>
          <c:val>
            <c:numRef>
              <c:f>Sheet1!$C$5:$F$5</c:f>
              <c:numCache>
                <c:formatCode>0%</c:formatCode>
                <c:ptCount val="4"/>
                <c:pt idx="0">
                  <c:v>0.1</c:v>
                </c:pt>
                <c:pt idx="1">
                  <c:v>0.12</c:v>
                </c:pt>
                <c:pt idx="2">
                  <c:v>0.64</c:v>
                </c:pt>
                <c:pt idx="3">
                  <c:v>0.14000000000000001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80A-477E-BE77-2AEADE8BD9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29501200"/>
        <c:axId val="729501616"/>
      </c:lineChart>
      <c:catAx>
        <c:axId val="729501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rgbClr val="720C9C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9501616"/>
        <c:crosses val="autoZero"/>
        <c:auto val="1"/>
        <c:lblAlgn val="ctr"/>
        <c:lblOffset val="100"/>
        <c:noMultiLvlLbl val="0"/>
      </c:catAx>
      <c:valAx>
        <c:axId val="729501616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95012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7816135220337617"/>
          <c:y val="0.77771730774340209"/>
          <c:w val="0.33603367771759807"/>
          <c:h val="0.1105078169576628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rgbClr val="7913A3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 b="1"/>
      </a:pPr>
      <a:endParaRPr lang="en-US"/>
    </a:p>
  </c:txPr>
  <c:externalData r:id="rId4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Sheet1!$A$2:$A$9</cx:f>
        <cx:lvl ptCount="8">
          <cx:pt idx="0">Year 0</cx:pt>
          <cx:pt idx="1">Year 1</cx:pt>
          <cx:pt idx="2">Year 2</cx:pt>
          <cx:pt idx="3">Year 3</cx:pt>
          <cx:pt idx="4">Total</cx:pt>
        </cx:lvl>
      </cx:strDim>
      <cx:numDim type="val">
        <cx:f>Sheet1!$B$2:$B$9</cx:f>
        <cx:lvl ptCount="8" formatCode="General">
          <cx:pt idx="0">50</cx:pt>
          <cx:pt idx="1">7</cx:pt>
          <cx:pt idx="2">10</cx:pt>
          <cx:pt idx="3">13</cx:pt>
          <cx:pt idx="4">95</cx:pt>
        </cx:lvl>
      </cx:numDim>
    </cx:data>
  </cx:chartData>
  <cx:chart>
    <cx:plotArea>
      <cx:plotAreaRegion>
        <cx:series layoutId="waterfall" uniqueId="{3CA2206A-7754-EF43-86BC-480A2A5685B1}">
          <cx:tx>
            <cx:txData>
              <cx:f>Sheet1!$B$1</cx:f>
              <cx:v>Series1</cx:v>
            </cx:txData>
          </cx:tx>
          <cx:dataLabels pos="outEnd">
            <cx:txPr>
              <a:bodyPr vertOverflow="overflow" horzOverflow="overflow" wrap="square" lIns="0" tIns="0" rIns="0" bIns="0"/>
              <a:lstStyle/>
              <a:p>
                <a:pPr algn="ctr" rtl="0">
                  <a:defRPr sz="1197" b="0" i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Graphik" panose="020B0503030202060203" pitchFamily="34" charset="77"/>
                    <a:ea typeface="Graphik" panose="020B0503030202060203" pitchFamily="34" charset="77"/>
                    <a:cs typeface="Graphik" panose="020B0503030202060203" pitchFamily="34" charset="77"/>
                  </a:defRPr>
                </a:pPr>
                <a:endParaRPr lang="en-US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cx:txPr>
            <cx:visibility seriesName="0" categoryName="0" value="1"/>
            <cx:dataLabelHidden idx="4"/>
          </cx:dataLabels>
          <cx:dataId val="0"/>
          <cx:layoutPr>
            <cx:subtotals>
              <cx:idx val="0"/>
              <cx:idx val="4"/>
              <cx:idx val="7"/>
            </cx:subtotals>
          </cx:layoutPr>
        </cx:series>
      </cx:plotAreaRegion>
      <cx:axis id="0">
        <cx:catScaling gapWidth="0.5"/>
        <cx:tickLabels/>
        <cx:txPr>
          <a:bodyPr vertOverflow="overflow" horzOverflow="overflow" wrap="square" lIns="0" tIns="0" rIns="0" bIns="0"/>
          <a:lstStyle/>
          <a:p>
            <a:pPr algn="ctr" rtl="0">
              <a:defRPr sz="1197" b="0" i="0">
                <a:solidFill>
                  <a:schemeClr val="accent2">
                    <a:lumMod val="60000"/>
                    <a:lumOff val="40000"/>
                  </a:schemeClr>
                </a:solidFill>
                <a:latin typeface="Graphik" panose="020B0503030202060203" pitchFamily="34" charset="77"/>
                <a:ea typeface="Graphik" panose="020B0503030202060203" pitchFamily="34" charset="77"/>
                <a:cs typeface="Graphik" panose="020B0503030202060203" pitchFamily="34" charset="77"/>
              </a:defRPr>
            </a:pPr>
            <a:endParaRPr 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cx:txPr>
      </cx:axis>
      <cx:axis id="1" hidden="1">
        <cx:valScaling/>
        <cx:majorGridlines/>
        <cx:tickLabels/>
        <cx:txPr>
          <a:bodyPr vertOverflow="overflow" horzOverflow="overflow" wrap="square" lIns="0" tIns="0" rIns="0" bIns="0"/>
          <a:lstStyle/>
          <a:p>
            <a:pPr algn="ctr" rtl="0">
              <a:defRPr sz="1197" b="0" i="0">
                <a:solidFill>
                  <a:schemeClr val="accent2">
                    <a:lumMod val="60000"/>
                    <a:lumOff val="40000"/>
                  </a:schemeClr>
                </a:solidFill>
                <a:latin typeface="Graphik" panose="020B0503030202060203" pitchFamily="34" charset="77"/>
                <a:ea typeface="Graphik" panose="020B0503030202060203" pitchFamily="34" charset="77"/>
                <a:cs typeface="Graphik" panose="020B0503030202060203" pitchFamily="34" charset="77"/>
              </a:defRPr>
            </a:pPr>
            <a:endParaRPr 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cx:txPr>
      </cx:axis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Sheet1!$A$2:$A$9</cx:f>
        <cx:lvl ptCount="8">
          <cx:pt idx="0">Year 0</cx:pt>
          <cx:pt idx="1">Year 1</cx:pt>
          <cx:pt idx="2">Year 2</cx:pt>
          <cx:pt idx="3">Year 3</cx:pt>
          <cx:pt idx="4">Year 4</cx:pt>
        </cx:lvl>
      </cx:strDim>
      <cx:numDim type="val">
        <cx:f>Sheet1!$B$2:$B$9</cx:f>
        <cx:lvl ptCount="8" formatCode="General">
          <cx:pt idx="0">50</cx:pt>
          <cx:pt idx="1">7</cx:pt>
          <cx:pt idx="2">10</cx:pt>
          <cx:pt idx="3">13</cx:pt>
          <cx:pt idx="4">95</cx:pt>
        </cx:lvl>
      </cx:numDim>
    </cx:data>
  </cx:chartData>
  <cx:chart>
    <cx:plotArea>
      <cx:plotAreaRegion>
        <cx:series layoutId="waterfall" uniqueId="{3CA2206A-7754-EF43-86BC-480A2A5685B1}">
          <cx:tx>
            <cx:txData>
              <cx:f>Sheet1!$B$1</cx:f>
              <cx:v>Series1</cx:v>
            </cx:txData>
          </cx:tx>
          <cx:dataLabels pos="outEnd">
            <cx:txPr>
              <a:bodyPr vertOverflow="overflow" horzOverflow="overflow" wrap="square" lIns="0" tIns="0" rIns="0" bIns="0"/>
              <a:lstStyle/>
              <a:p>
                <a:pPr algn="ctr" rtl="0">
                  <a:defRPr sz="1197" b="0" i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Graphik" panose="020B0503030202060203" pitchFamily="34" charset="77"/>
                    <a:ea typeface="Graphik" panose="020B0503030202060203" pitchFamily="34" charset="77"/>
                    <a:cs typeface="Graphik" panose="020B0503030202060203" pitchFamily="34" charset="77"/>
                  </a:defRPr>
                </a:pPr>
                <a:endParaRPr lang="en-US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cx:txPr>
            <cx:visibility seriesName="0" categoryName="0" value="1"/>
          </cx:dataLabels>
          <cx:dataId val="0"/>
          <cx:layoutPr>
            <cx:subtotals>
              <cx:idx val="0"/>
              <cx:idx val="4"/>
              <cx:idx val="7"/>
            </cx:subtotals>
          </cx:layoutPr>
        </cx:series>
      </cx:plotAreaRegion>
      <cx:axis id="0">
        <cx:catScaling gapWidth="0.5"/>
        <cx:tickLabels/>
        <cx:txPr>
          <a:bodyPr vertOverflow="overflow" horzOverflow="overflow" wrap="square" lIns="0" tIns="0" rIns="0" bIns="0"/>
          <a:lstStyle/>
          <a:p>
            <a:pPr algn="ctr" rtl="0">
              <a:defRPr sz="1197" b="0" i="0">
                <a:solidFill>
                  <a:schemeClr val="accent2">
                    <a:lumMod val="60000"/>
                    <a:lumOff val="40000"/>
                  </a:schemeClr>
                </a:solidFill>
                <a:latin typeface="Graphik" panose="020B0503030202060203" pitchFamily="34" charset="77"/>
                <a:ea typeface="Graphik" panose="020B0503030202060203" pitchFamily="34" charset="77"/>
                <a:cs typeface="Graphik" panose="020B0503030202060203" pitchFamily="34" charset="77"/>
              </a:defRPr>
            </a:pPr>
            <a:endParaRPr 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cx:txPr>
      </cx:axis>
      <cx:axis id="1">
        <cx:valScaling/>
        <cx:majorGridlines/>
        <cx:tickLabels/>
        <cx:txPr>
          <a:bodyPr vertOverflow="overflow" horzOverflow="overflow" wrap="square" lIns="0" tIns="0" rIns="0" bIns="0"/>
          <a:lstStyle/>
          <a:p>
            <a:pPr algn="ctr" rtl="0">
              <a:defRPr sz="1197" b="0" i="0">
                <a:solidFill>
                  <a:schemeClr val="accent2">
                    <a:lumMod val="60000"/>
                    <a:lumOff val="40000"/>
                  </a:schemeClr>
                </a:solidFill>
                <a:latin typeface="Graphik" panose="020B0503030202060203" pitchFamily="34" charset="77"/>
                <a:ea typeface="Graphik" panose="020B0503030202060203" pitchFamily="34" charset="77"/>
                <a:cs typeface="Graphik" panose="020B0503030202060203" pitchFamily="34" charset="77"/>
              </a:defRPr>
            </a:pPr>
            <a:endParaRPr 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cx:txPr>
      </cx:axis>
    </cx:plotArea>
  </cx:chart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Sheet1!$A$2:$A$9</cx:f>
        <cx:lvl ptCount="8">
          <cx:pt idx="0">Year 0</cx:pt>
          <cx:pt idx="1">Year 1</cx:pt>
          <cx:pt idx="2">Year 2</cx:pt>
          <cx:pt idx="3">Year 3</cx:pt>
          <cx:pt idx="4">Year 4</cx:pt>
        </cx:lvl>
      </cx:strDim>
      <cx:numDim type="val">
        <cx:f>Sheet1!$B$2:$B$9</cx:f>
        <cx:lvl ptCount="8" formatCode="General">
          <cx:pt idx="0">50</cx:pt>
          <cx:pt idx="1">7</cx:pt>
          <cx:pt idx="2">10</cx:pt>
          <cx:pt idx="3">13</cx:pt>
          <cx:pt idx="4">95</cx:pt>
        </cx:lvl>
      </cx:numDim>
    </cx:data>
  </cx:chartData>
  <cx:chart>
    <cx:title pos="t" align="ctr" overlay="0">
      <cx:tx>
        <cx:txData>
          <cx:v>Yearly Revenue Growth</cx:v>
        </cx:txData>
      </cx:tx>
      <cx:txPr>
        <a:bodyPr vertOverflow="overflow" horzOverflow="overflow" wrap="square" lIns="0" tIns="0" rIns="0" bIns="0"/>
        <a:lstStyle/>
        <a:p>
          <a:pPr algn="ctr" rtl="0">
            <a:defRPr sz="1862" b="0" i="0">
              <a:solidFill>
                <a:schemeClr val="accent2">
                  <a:lumMod val="60000"/>
                  <a:lumOff val="40000"/>
                </a:schemeClr>
              </a:solidFill>
              <a:latin typeface="Graphik" panose="020B0503030202060203" pitchFamily="34" charset="77"/>
              <a:ea typeface="Graphik" panose="020B0503030202060203" pitchFamily="34" charset="77"/>
              <a:cs typeface="Graphik" panose="020B0503030202060203" pitchFamily="34" charset="77"/>
            </a:defRPr>
          </a:pPr>
          <a:r>
            <a:rPr lang="en-US" dirty="0">
              <a:solidFill>
                <a:schemeClr val="accent2">
                  <a:lumMod val="60000"/>
                  <a:lumOff val="40000"/>
                </a:schemeClr>
              </a:solidFill>
            </a:rPr>
            <a:t>Yearly Revenue Growth</a:t>
          </a:r>
        </a:p>
      </cx:txPr>
    </cx:title>
    <cx:plotArea>
      <cx:plotAreaRegion>
        <cx:series layoutId="waterfall" uniqueId="{3CA2206A-7754-EF43-86BC-480A2A5685B1}">
          <cx:tx>
            <cx:txData>
              <cx:f>Sheet1!$B$1</cx:f>
              <cx:v>Series1</cx:v>
            </cx:txData>
          </cx:tx>
          <cx:dataLabels pos="outEnd">
            <cx:txPr>
              <a:bodyPr vertOverflow="overflow" horzOverflow="overflow" wrap="square" lIns="0" tIns="0" rIns="0" bIns="0"/>
              <a:lstStyle/>
              <a:p>
                <a:pPr algn="ctr" rtl="0">
                  <a:defRPr sz="1197" b="0" i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Graphik" panose="020B0503030202060203" pitchFamily="34" charset="77"/>
                    <a:ea typeface="Graphik" panose="020B0503030202060203" pitchFamily="34" charset="77"/>
                    <a:cs typeface="Graphik" panose="020B0503030202060203" pitchFamily="34" charset="77"/>
                  </a:defRPr>
                </a:pPr>
                <a:endParaRPr lang="en-US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cx:txPr>
            <cx:visibility seriesName="0" categoryName="0" value="1"/>
          </cx:dataLabels>
          <cx:dataId val="0"/>
          <cx:layoutPr>
            <cx:subtotals>
              <cx:idx val="0"/>
              <cx:idx val="4"/>
              <cx:idx val="7"/>
            </cx:subtotals>
          </cx:layoutPr>
        </cx:series>
      </cx:plotAreaRegion>
      <cx:axis id="0">
        <cx:catScaling gapWidth="0.5"/>
        <cx:tickLabels/>
        <cx:txPr>
          <a:bodyPr vertOverflow="overflow" horzOverflow="overflow" wrap="square" lIns="0" tIns="0" rIns="0" bIns="0"/>
          <a:lstStyle/>
          <a:p>
            <a:pPr algn="ctr" rtl="0">
              <a:defRPr sz="1197" b="0" i="0">
                <a:solidFill>
                  <a:schemeClr val="accent2">
                    <a:lumMod val="60000"/>
                    <a:lumOff val="40000"/>
                  </a:schemeClr>
                </a:solidFill>
                <a:latin typeface="Graphik" panose="020B0503030202060203" pitchFamily="34" charset="77"/>
                <a:ea typeface="Graphik" panose="020B0503030202060203" pitchFamily="34" charset="77"/>
                <a:cs typeface="Graphik" panose="020B0503030202060203" pitchFamily="34" charset="77"/>
              </a:defRPr>
            </a:pPr>
            <a:endParaRPr 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cx:txPr>
      </cx:axis>
      <cx:axis id="1">
        <cx:valScaling/>
        <cx:majorGridlines/>
        <cx:tickLabels/>
        <cx:txPr>
          <a:bodyPr vertOverflow="overflow" horzOverflow="overflow" wrap="square" lIns="0" tIns="0" rIns="0" bIns="0"/>
          <a:lstStyle/>
          <a:p>
            <a:pPr algn="ctr" rtl="0">
              <a:defRPr sz="1197" b="0" i="0">
                <a:solidFill>
                  <a:schemeClr val="accent2">
                    <a:lumMod val="60000"/>
                    <a:lumOff val="40000"/>
                  </a:schemeClr>
                </a:solidFill>
                <a:latin typeface="Graphik" panose="020B0503030202060203" pitchFamily="34" charset="77"/>
                <a:ea typeface="Graphik" panose="020B0503030202060203" pitchFamily="34" charset="77"/>
                <a:cs typeface="Graphik" panose="020B0503030202060203" pitchFamily="34" charset="77"/>
              </a:defRPr>
            </a:pPr>
            <a:endParaRPr 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cx:txPr>
      </cx:axis>
    </cx:plotArea>
    <cx:legend pos="t" align="ctr" overlay="0">
      <cx:txPr>
        <a:bodyPr vertOverflow="overflow" horzOverflow="overflow" wrap="square" lIns="0" tIns="0" rIns="0" bIns="0"/>
        <a:lstStyle/>
        <a:p>
          <a:pPr algn="ctr" rtl="0">
            <a:defRPr sz="1197" b="0" i="0">
              <a:solidFill>
                <a:schemeClr val="accent2">
                  <a:lumMod val="60000"/>
                  <a:lumOff val="40000"/>
                </a:schemeClr>
              </a:solidFill>
              <a:latin typeface="Graphik" panose="020B0503030202060203" pitchFamily="34" charset="77"/>
              <a:ea typeface="Graphik" panose="020B0503030202060203" pitchFamily="34" charset="77"/>
              <a:cs typeface="Graphik" panose="020B0503030202060203" pitchFamily="34" charset="77"/>
            </a:defRPr>
          </a:pPr>
          <a:endParaRPr lang="en-US">
            <a:solidFill>
              <a:schemeClr val="accent2">
                <a:lumMod val="60000"/>
                <a:lumOff val="40000"/>
              </a:schemeClr>
            </a:solidFill>
          </a:endParaRPr>
        </a:p>
      </cx:txPr>
    </cx:legend>
  </cx:chart>
</cx:chartSpace>
</file>

<file path=ppt/charts/chartEx4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Sheet1!$A$2:$A$9</cx:f>
        <cx:lvl ptCount="8">
          <cx:pt idx="0">Year 0</cx:pt>
          <cx:pt idx="1">Year 1</cx:pt>
          <cx:pt idx="2">Year 2</cx:pt>
          <cx:pt idx="3">Year 3</cx:pt>
          <cx:pt idx="4">Year 4</cx:pt>
        </cx:lvl>
      </cx:strDim>
      <cx:numDim type="val">
        <cx:f>Sheet1!$B$2:$B$9</cx:f>
        <cx:lvl ptCount="8" formatCode="General">
          <cx:pt idx="0">50</cx:pt>
          <cx:pt idx="1">7</cx:pt>
          <cx:pt idx="2">10</cx:pt>
          <cx:pt idx="3">13</cx:pt>
          <cx:pt idx="4">95</cx:pt>
        </cx:lvl>
      </cx:numDim>
    </cx:data>
  </cx:chartData>
  <cx:chart>
    <cx:title pos="t" align="ctr" overlay="0">
      <cx:tx>
        <cx:txData>
          <cx:v>Yearly Revenue Growth</cx:v>
        </cx:txData>
      </cx:tx>
      <cx:txPr>
        <a:bodyPr vertOverflow="overflow" horzOverflow="overflow" wrap="square" lIns="0" tIns="0" rIns="0" bIns="0"/>
        <a:lstStyle/>
        <a:p>
          <a:pPr algn="ctr" rtl="0">
            <a:defRPr sz="1862" b="0" i="0">
              <a:solidFill>
                <a:schemeClr val="accent2">
                  <a:lumMod val="60000"/>
                  <a:lumOff val="40000"/>
                </a:schemeClr>
              </a:solidFill>
              <a:latin typeface="Graphik" panose="020B0503030202060203" pitchFamily="34" charset="77"/>
              <a:ea typeface="Graphik" panose="020B0503030202060203" pitchFamily="34" charset="77"/>
              <a:cs typeface="Graphik" panose="020B0503030202060203" pitchFamily="34" charset="77"/>
            </a:defRPr>
          </a:pPr>
          <a:r>
            <a:rPr lang="en-US" dirty="0">
              <a:solidFill>
                <a:schemeClr val="accent2">
                  <a:lumMod val="60000"/>
                  <a:lumOff val="40000"/>
                </a:schemeClr>
              </a:solidFill>
            </a:rPr>
            <a:t>Yearly Revenue Growth</a:t>
          </a:r>
        </a:p>
      </cx:txPr>
    </cx:title>
    <cx:plotArea>
      <cx:plotAreaRegion>
        <cx:series layoutId="waterfall" uniqueId="{3CA2206A-7754-EF43-86BC-480A2A5685B1}">
          <cx:tx>
            <cx:txData>
              <cx:f>Sheet1!$B$1</cx:f>
              <cx:v>Series1</cx:v>
            </cx:txData>
          </cx:tx>
          <cx:dataLabels pos="outEnd">
            <cx:txPr>
              <a:bodyPr vertOverflow="overflow" horzOverflow="overflow" wrap="square" lIns="0" tIns="0" rIns="0" bIns="0"/>
              <a:lstStyle/>
              <a:p>
                <a:pPr algn="ctr" rtl="0">
                  <a:defRPr sz="1197" b="0" i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Graphik" panose="020B0503030202060203" pitchFamily="34" charset="77"/>
                    <a:ea typeface="Graphik" panose="020B0503030202060203" pitchFamily="34" charset="77"/>
                    <a:cs typeface="Graphik" panose="020B0503030202060203" pitchFamily="34" charset="77"/>
                  </a:defRPr>
                </a:pPr>
                <a:endParaRPr lang="en-US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cx:txPr>
            <cx:visibility seriesName="0" categoryName="0" value="1"/>
          </cx:dataLabels>
          <cx:dataId val="0"/>
          <cx:layoutPr>
            <cx:subtotals>
              <cx:idx val="0"/>
              <cx:idx val="4"/>
              <cx:idx val="7"/>
            </cx:subtotals>
          </cx:layoutPr>
        </cx:series>
      </cx:plotAreaRegion>
      <cx:axis id="0">
        <cx:catScaling gapWidth="0.5"/>
        <cx:tickLabels/>
        <cx:txPr>
          <a:bodyPr vertOverflow="overflow" horzOverflow="overflow" wrap="square" lIns="0" tIns="0" rIns="0" bIns="0"/>
          <a:lstStyle/>
          <a:p>
            <a:pPr algn="ctr" rtl="0">
              <a:defRPr sz="1197" b="0" i="0">
                <a:solidFill>
                  <a:schemeClr val="accent2">
                    <a:lumMod val="60000"/>
                    <a:lumOff val="40000"/>
                  </a:schemeClr>
                </a:solidFill>
                <a:latin typeface="Graphik" panose="020B0503030202060203" pitchFamily="34" charset="77"/>
                <a:ea typeface="Graphik" panose="020B0503030202060203" pitchFamily="34" charset="77"/>
                <a:cs typeface="Graphik" panose="020B0503030202060203" pitchFamily="34" charset="77"/>
              </a:defRPr>
            </a:pPr>
            <a:endParaRPr 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cx:txPr>
      </cx:axis>
      <cx:axis id="1">
        <cx:valScaling/>
        <cx:majorGridlines/>
        <cx:tickLabels/>
        <cx:txPr>
          <a:bodyPr vertOverflow="overflow" horzOverflow="overflow" wrap="square" lIns="0" tIns="0" rIns="0" bIns="0"/>
          <a:lstStyle/>
          <a:p>
            <a:pPr algn="ctr" rtl="0">
              <a:defRPr sz="1197" b="0" i="0">
                <a:solidFill>
                  <a:schemeClr val="accent2">
                    <a:lumMod val="60000"/>
                    <a:lumOff val="40000"/>
                  </a:schemeClr>
                </a:solidFill>
                <a:latin typeface="Graphik" panose="020B0503030202060203" pitchFamily="34" charset="77"/>
                <a:ea typeface="Graphik" panose="020B0503030202060203" pitchFamily="34" charset="77"/>
                <a:cs typeface="Graphik" panose="020B0503030202060203" pitchFamily="34" charset="77"/>
              </a:defRPr>
            </a:pPr>
            <a:endParaRPr 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cx:txPr>
      </cx:axis>
    </cx:plotArea>
    <cx:legend pos="t" align="ctr" overlay="0">
      <cx:txPr>
        <a:bodyPr vertOverflow="overflow" horzOverflow="overflow" wrap="square" lIns="0" tIns="0" rIns="0" bIns="0"/>
        <a:lstStyle/>
        <a:p>
          <a:pPr algn="ctr" rtl="0">
            <a:defRPr sz="1197" b="0" i="0">
              <a:solidFill>
                <a:schemeClr val="accent2">
                  <a:lumMod val="60000"/>
                  <a:lumOff val="40000"/>
                </a:schemeClr>
              </a:solidFill>
              <a:latin typeface="Graphik" panose="020B0503030202060203" pitchFamily="34" charset="77"/>
              <a:ea typeface="Graphik" panose="020B0503030202060203" pitchFamily="34" charset="77"/>
              <a:cs typeface="Graphik" panose="020B0503030202060203" pitchFamily="34" charset="77"/>
            </a:defRPr>
          </a:pPr>
          <a:endParaRPr lang="en-US">
            <a:solidFill>
              <a:schemeClr val="accent2">
                <a:lumMod val="60000"/>
                <a:lumOff val="40000"/>
              </a:schemeClr>
            </a:solidFill>
          </a:endParaRPr>
        </a:p>
      </cx:txPr>
    </cx:legend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5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54E96A-2271-4AC7-BA66-51094D54C7F4}" type="datetimeFigureOut">
              <a:rPr lang="en-IN" smtClean="0"/>
              <a:t>28/09/22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D9BB6F-CED8-45A6-8576-5942191CF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717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9BB6F-CED8-45A6-8576-5942191CF01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730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9BB6F-CED8-45A6-8576-5942191CF01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454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9BB6F-CED8-45A6-8576-5942191CF01D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6831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D9BB6F-CED8-45A6-8576-5942191CF01D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5941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D9BB6F-CED8-45A6-8576-5942191CF01D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80940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9BB6F-CED8-45A6-8576-5942191CF01D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41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9.png"/><Relationship Id="rId4" Type="http://schemas.openxmlformats.org/officeDocument/2006/relationships/image" Target="../media/image6.jpeg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Slide - GT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pic>
        <p:nvPicPr>
          <p:cNvPr id="5" name="Picture 4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89528D09-D9F4-47CA-BBA9-7AF13078DF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60607" y="5376231"/>
            <a:ext cx="670786" cy="7102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dark or mid gradient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50978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Slide - Log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6B12DB67-2F55-4F91-ABD8-4E1201FEC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53884" y="5376231"/>
            <a:ext cx="1884233" cy="4980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dark or mid gradient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11442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+ Greater Than L Blan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Welcome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546AA4-146F-4349-A95C-2FE9F58C88E2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dark or mid gradient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2481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+ Greater Than L Blan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Welcome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546AA4-146F-4349-A95C-2FE9F58C88E2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dark or mid gradient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2481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+ Greater Than 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7AB52F34-4FE5-48B6-38F5-204C063496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08" y="130129"/>
            <a:ext cx="11920383" cy="65977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18919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Greetings + Greater Than 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03480952-D46F-8A15-415F-5BD167F1B4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08" y="130129"/>
            <a:ext cx="11920383" cy="659774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6" name="Big number">
            <a:extLst>
              <a:ext uri="{FF2B5EF4-FFF2-40B4-BE49-F238E27FC236}">
                <a16:creationId xmlns:a16="http://schemas.microsoft.com/office/drawing/2014/main" id="{AF875396-CEBE-1CA8-8B88-FC8618F5368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-1504393" y="1210514"/>
            <a:ext cx="7470218" cy="4411980"/>
          </a:xfrm>
        </p:spPr>
        <p:txBody>
          <a:bodyPr anchor="b"/>
          <a:lstStyle>
            <a:lvl1pPr marL="0" indent="0" algn="l" defTabSz="914034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kumimoji="0" lang="en-US" sz="35000" b="1" i="0" u="none" strike="noStrike" kern="1200" cap="none" spc="-300" normalizeH="0" baseline="0" dirty="0">
                <a:ln>
                  <a:noFill/>
                </a:ln>
                <a:solidFill>
                  <a:srgbClr val="FFFFFF">
                    <a:alpha val="10000"/>
                  </a:srgbClr>
                </a:solidFill>
                <a:effectLst/>
                <a:uLnTx/>
                <a:uFillTx/>
                <a:latin typeface="Graphik Bold" panose="020B0803030202060203" pitchFamily="34" charset="0"/>
                <a:ea typeface="Graphik" charset="0"/>
                <a:cs typeface="Graphik" charset="0"/>
              </a:defRPr>
            </a:lvl1pPr>
            <a:lvl2pPr marL="457017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034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051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4pPr>
            <a:lvl5pPr marL="182806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5pPr>
            <a:lvl6pPr marL="2285086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6pPr>
            <a:lvl7pPr marL="2742103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7pPr>
            <a:lvl8pPr marL="3199120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8pPr>
            <a:lvl9pPr marL="3656137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03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01</a:t>
            </a:r>
          </a:p>
        </p:txBody>
      </p:sp>
      <p:sp>
        <p:nvSpPr>
          <p:cNvPr id="7" name="Intro text">
            <a:extLst>
              <a:ext uri="{FF2B5EF4-FFF2-40B4-BE49-F238E27FC236}">
                <a16:creationId xmlns:a16="http://schemas.microsoft.com/office/drawing/2014/main" id="{D2B03D1E-353E-D768-6A30-AA55AE069D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5138" y="3428728"/>
            <a:ext cx="7535862" cy="2193766"/>
          </a:xfrm>
        </p:spPr>
        <p:txBody>
          <a:bodyPr lIns="0" anchor="b"/>
          <a:lstStyle>
            <a:lvl1pPr marL="0" indent="0">
              <a:lnSpc>
                <a:spcPct val="110000"/>
              </a:lnSpc>
              <a:buNone/>
              <a:defRPr kumimoji="0" lang="en-US" sz="44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Graphik Extralight" charset="0"/>
                <a:cs typeface="Graphik Extralight" charset="0"/>
              </a:defRPr>
            </a:lvl1pPr>
            <a:lvl2pPr marL="0" indent="0">
              <a:lnSpc>
                <a:spcPct val="110000"/>
              </a:lnSpc>
              <a:buFont typeface="Arial" panose="020B0604020202020204" pitchFamily="34" charset="0"/>
              <a:buNone/>
              <a:defRPr kumimoji="0" lang="en-US" sz="44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Graphik Extralight" charset="0"/>
                <a:cs typeface="Graphik Extralight" charset="0"/>
              </a:defRPr>
            </a:lvl2pPr>
            <a:lvl3pPr marL="0" indent="0">
              <a:buNone/>
              <a:defRPr sz="5400">
                <a:latin typeface="+mj-lt"/>
              </a:defRPr>
            </a:lvl3pPr>
          </a:lstStyle>
          <a:p>
            <a:pPr lvl="0"/>
            <a:r>
              <a:rPr lang="en-US"/>
              <a:t>Click to edit </a:t>
            </a:r>
            <a:r>
              <a:rPr lang="pl-PL"/>
              <a:t>m</a:t>
            </a:r>
            <a:r>
              <a:rPr lang="en-US"/>
              <a:t>aster text</a:t>
            </a:r>
            <a:endParaRPr lang="pl-PL"/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332399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+ Greater Than 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A1302B-6794-45FA-A428-AB50D28EF9A2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dark or mid gradient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5" name="Picture 4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E5FCD86B-B6A8-4016-9F0D-3FDC4C784D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0999" y="5376231"/>
            <a:ext cx="670786" cy="71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6863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Centered, GT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6A165409-AACC-4605-8892-1A883468FD7E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2" name="Picture 1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3C7C075D-013F-4D6D-8EA2-7E4465FC22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60607" y="5376231"/>
            <a:ext cx="670786" cy="7102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2FF000-7B73-46EF-AF03-BC821DE671E7}"/>
              </a:ext>
            </a:extLst>
          </p:cNvPr>
          <p:cNvSpPr txBox="1"/>
          <p:nvPr userDrawn="1"/>
        </p:nvSpPr>
        <p:spPr>
          <a:xfrm>
            <a:off x="8698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2F806-53EB-4AFB-B0F7-2A7BC4E5136F}" type="datetime2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Wednesday, September 28, 2022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39281521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Centered, Log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74C878-35E6-4631-95D1-AE66D6398682}" type="datetime2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Wednesday, September 28, 2022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5A7BBE-17FB-4B75-B79B-F6834CE3706C}"/>
              </a:ext>
            </a:extLst>
          </p:cNvPr>
          <p:cNvSpPr txBox="1"/>
          <p:nvPr userDrawn="1"/>
        </p:nvSpPr>
        <p:spPr>
          <a:xfrm>
            <a:off x="8698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165409-AACC-4605-8892-1A883468FD7E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5" name="Graphic 5">
            <a:extLst>
              <a:ext uri="{FF2B5EF4-FFF2-40B4-BE49-F238E27FC236}">
                <a16:creationId xmlns:a16="http://schemas.microsoft.com/office/drawing/2014/main" id="{AB0147B5-7C98-4E5D-8901-C96CE8A29E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53884" y="5376231"/>
            <a:ext cx="1884233" cy="49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2262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Large GT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F6557B-1FAD-4B21-979D-AF32AE2ABE3A}" type="datetime2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Wednesday, September 28, 2022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67DB53-62C4-4756-975D-61C7B1206CEF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D1A883-A380-48BD-9784-E5D4EAA2714C}"/>
              </a:ext>
            </a:extLst>
          </p:cNvPr>
          <p:cNvSpPr txBox="1"/>
          <p:nvPr userDrawn="1"/>
        </p:nvSpPr>
        <p:spPr>
          <a:xfrm>
            <a:off x="381000" y="6058209"/>
            <a:ext cx="3112110" cy="25369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19278376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Large GT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F6557B-1FAD-4B21-979D-AF32AE2ABE3A}" type="datetime2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Wednesday, September 28, 2022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67DB53-62C4-4756-975D-61C7B1206CEF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D1A883-A380-48BD-9784-E5D4EAA2714C}"/>
              </a:ext>
            </a:extLst>
          </p:cNvPr>
          <p:cNvSpPr txBox="1"/>
          <p:nvPr userDrawn="1"/>
        </p:nvSpPr>
        <p:spPr>
          <a:xfrm>
            <a:off x="381000" y="6058209"/>
            <a:ext cx="3112110" cy="25369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19278376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Image - Left-aligned, GT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6201D5A-B05B-463A-A39A-D6351436BF33}"/>
              </a:ext>
            </a:extLst>
          </p:cNvPr>
          <p:cNvSpPr/>
          <p:nvPr userDrawn="1"/>
        </p:nvSpPr>
        <p:spPr>
          <a:xfrm>
            <a:off x="0" y="0"/>
            <a:ext cx="7965831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48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097823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4C2CB2-4FB2-4965-A2E7-4A3640116F06}" type="datetime2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Wednesday, September 28, 2022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06A9A1-BB92-4DC6-893F-3C43599C724E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7" name="Picture 6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DF3CEA6A-1953-4DD5-B664-EEDED901A6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5601656"/>
            <a:ext cx="670786" cy="71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4363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Image - Left-aligned, Log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6345ECE-0A07-4C4B-9368-0CE4479DD27C}"/>
              </a:ext>
            </a:extLst>
          </p:cNvPr>
          <p:cNvSpPr/>
          <p:nvPr userDrawn="1"/>
        </p:nvSpPr>
        <p:spPr>
          <a:xfrm>
            <a:off x="0" y="0"/>
            <a:ext cx="7965831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48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525D8-8C3D-4FEA-A4F3-A7048ED97C11}" type="datetime2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Wednesday, September 28, 2022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66439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38692DE-6F51-4131-B2FE-C47AAD152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001" y="5813885"/>
            <a:ext cx="1884233" cy="4980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06A9A1-BB92-4DC6-893F-3C43599C724E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097823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39684168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ver Image - Left-aligned, GT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ity skyline at night&#10;&#10;Description automatically generated with low confidence">
            <a:extLst>
              <a:ext uri="{FF2B5EF4-FFF2-40B4-BE49-F238E27FC236}">
                <a16:creationId xmlns:a16="http://schemas.microsoft.com/office/drawing/2014/main" id="{CEC421B1-DA5A-787E-79B3-D22F9C8AF8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06A9A1-BB92-4DC6-893F-3C43599C724E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407A4A4-F42C-1A83-FEDA-0AFDFFFDDD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807" y="4132750"/>
            <a:ext cx="5715000" cy="763587"/>
          </a:xfrm>
        </p:spPr>
        <p:txBody>
          <a:bodyPr/>
          <a:lstStyle>
            <a:lvl1pPr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1pPr>
            <a:lvl2pPr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Team members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E1A059A3-99AF-82A8-75D3-67F692FB30D3}"/>
              </a:ext>
            </a:extLst>
          </p:cNvPr>
          <p:cNvSpPr txBox="1"/>
          <p:nvPr userDrawn="1"/>
        </p:nvSpPr>
        <p:spPr>
          <a:xfrm>
            <a:off x="279807" y="5694604"/>
            <a:ext cx="23182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Graphik Regular" panose="020B0503030202060203" pitchFamily="34" charset="77"/>
                <a:ea typeface="+mn-ea"/>
                <a:cs typeface="+mn-cs"/>
              </a:rPr>
              <a:t>Accenture B-School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Graphik Regular" panose="020B0503030202060203" pitchFamily="34" charset="77"/>
                <a:ea typeface="+mn-ea"/>
                <a:cs typeface="+mn-cs"/>
              </a:rPr>
              <a:t>Next-Horizon Strategy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Graphik Regular" panose="020B0503030202060203" pitchFamily="34" charset="77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Graphik Regular" panose="020B0503030202060203" pitchFamily="34" charset="77"/>
                <a:ea typeface="+mn-ea"/>
                <a:cs typeface="+mn-cs"/>
              </a:rPr>
              <a:t>Challenge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05097151-112E-4372-9CB9-6113667910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9807" y="1701921"/>
            <a:ext cx="5715000" cy="763587"/>
          </a:xfrm>
        </p:spPr>
        <p:txBody>
          <a:bodyPr/>
          <a:lstStyle>
            <a:lvl1pPr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1pPr>
            <a:lvl2pPr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Case Topic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2A1B0CBE-CE23-4422-94E8-BBC562A7C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9807" y="2934675"/>
            <a:ext cx="5715000" cy="763587"/>
          </a:xfrm>
        </p:spPr>
        <p:txBody>
          <a:bodyPr/>
          <a:lstStyle>
            <a:lvl1pPr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1pPr>
            <a:lvl2pPr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Team Name</a:t>
            </a:r>
          </a:p>
        </p:txBody>
      </p:sp>
    </p:spTree>
    <p:extLst>
      <p:ext uri="{BB962C8B-B14F-4D97-AF65-F5344CB8AC3E}">
        <p14:creationId xmlns:p14="http://schemas.microsoft.com/office/powerpoint/2010/main" val="4192443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ver Image - Left-aligned, GT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8D73DB1-391D-4EBC-A01D-D0A58B320E3F}"/>
              </a:ext>
            </a:extLst>
          </p:cNvPr>
          <p:cNvSpPr/>
          <p:nvPr/>
        </p:nvSpPr>
        <p:spPr>
          <a:xfrm>
            <a:off x="1200229" y="5941281"/>
            <a:ext cx="138591" cy="146687"/>
          </a:xfrm>
          <a:custGeom>
            <a:avLst/>
            <a:gdLst>
              <a:gd name="connsiteX0" fmla="*/ 0 w 138591"/>
              <a:gd name="connsiteY0" fmla="*/ 103534 h 146687"/>
              <a:gd name="connsiteX1" fmla="*/ 80967 w 138591"/>
              <a:gd name="connsiteY1" fmla="*/ 73473 h 146687"/>
              <a:gd name="connsiteX2" fmla="*/ 0 w 138591"/>
              <a:gd name="connsiteY2" fmla="*/ 41862 h 146687"/>
              <a:gd name="connsiteX3" fmla="*/ 0 w 138591"/>
              <a:gd name="connsiteY3" fmla="*/ 0 h 146687"/>
              <a:gd name="connsiteX4" fmla="*/ 138591 w 138591"/>
              <a:gd name="connsiteY4" fmla="*/ 55815 h 146687"/>
              <a:gd name="connsiteX5" fmla="*/ 138591 w 138591"/>
              <a:gd name="connsiteY5" fmla="*/ 90528 h 146687"/>
              <a:gd name="connsiteX6" fmla="*/ 0 w 138591"/>
              <a:gd name="connsiteY6" fmla="*/ 146688 h 146687"/>
              <a:gd name="connsiteX7" fmla="*/ 0 w 138591"/>
              <a:gd name="connsiteY7" fmla="*/ 103534 h 14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8591" h="146687">
                <a:moveTo>
                  <a:pt x="0" y="103534"/>
                </a:moveTo>
                <a:lnTo>
                  <a:pt x="80967" y="73473"/>
                </a:lnTo>
                <a:lnTo>
                  <a:pt x="0" y="41862"/>
                </a:lnTo>
                <a:lnTo>
                  <a:pt x="0" y="0"/>
                </a:lnTo>
                <a:lnTo>
                  <a:pt x="138591" y="55815"/>
                </a:lnTo>
                <a:lnTo>
                  <a:pt x="138591" y="90528"/>
                </a:lnTo>
                <a:lnTo>
                  <a:pt x="0" y="146688"/>
                </a:lnTo>
                <a:lnTo>
                  <a:pt x="0" y="103534"/>
                </a:lnTo>
                <a:close/>
              </a:path>
            </a:pathLst>
          </a:custGeom>
          <a:solidFill>
            <a:schemeClr val="tx1"/>
          </a:solidFill>
          <a:ln w="85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318377B-B7FD-47CD-A6A5-79A8C77C9B9A}"/>
              </a:ext>
            </a:extLst>
          </p:cNvPr>
          <p:cNvSpPr/>
          <p:nvPr/>
        </p:nvSpPr>
        <p:spPr>
          <a:xfrm>
            <a:off x="381000" y="6097185"/>
            <a:ext cx="1405550" cy="214715"/>
          </a:xfrm>
          <a:custGeom>
            <a:avLst/>
            <a:gdLst>
              <a:gd name="connsiteX0" fmla="*/ 53003 w 1405550"/>
              <a:gd name="connsiteY0" fmla="*/ 214364 h 214715"/>
              <a:gd name="connsiteX1" fmla="*/ -314 w 1405550"/>
              <a:gd name="connsiteY1" fmla="*/ 166559 h 214715"/>
              <a:gd name="connsiteX2" fmla="*/ -314 w 1405550"/>
              <a:gd name="connsiteY2" fmla="*/ 164750 h 214715"/>
              <a:gd name="connsiteX3" fmla="*/ 76259 w 1405550"/>
              <a:gd name="connsiteY3" fmla="*/ 111691 h 214715"/>
              <a:gd name="connsiteX4" fmla="*/ 96415 w 1405550"/>
              <a:gd name="connsiteY4" fmla="*/ 111691 h 214715"/>
              <a:gd name="connsiteX5" fmla="*/ 96415 w 1405550"/>
              <a:gd name="connsiteY5" fmla="*/ 103939 h 214715"/>
              <a:gd name="connsiteX6" fmla="*/ 72556 w 1405550"/>
              <a:gd name="connsiteY6" fmla="*/ 78098 h 214715"/>
              <a:gd name="connsiteX7" fmla="*/ 48093 w 1405550"/>
              <a:gd name="connsiteY7" fmla="*/ 98030 h 214715"/>
              <a:gd name="connsiteX8" fmla="*/ 48007 w 1405550"/>
              <a:gd name="connsiteY8" fmla="*/ 99201 h 214715"/>
              <a:gd name="connsiteX9" fmla="*/ 4940 w 1405550"/>
              <a:gd name="connsiteY9" fmla="*/ 99201 h 214715"/>
              <a:gd name="connsiteX10" fmla="*/ 75054 w 1405550"/>
              <a:gd name="connsiteY10" fmla="*/ 45539 h 214715"/>
              <a:gd name="connsiteX11" fmla="*/ 141980 w 1405550"/>
              <a:gd name="connsiteY11" fmla="*/ 102561 h 214715"/>
              <a:gd name="connsiteX12" fmla="*/ 141980 w 1405550"/>
              <a:gd name="connsiteY12" fmla="*/ 211091 h 214715"/>
              <a:gd name="connsiteX13" fmla="*/ 97707 w 1405550"/>
              <a:gd name="connsiteY13" fmla="*/ 211091 h 214715"/>
              <a:gd name="connsiteX14" fmla="*/ 97707 w 1405550"/>
              <a:gd name="connsiteY14" fmla="*/ 192744 h 214715"/>
              <a:gd name="connsiteX15" fmla="*/ 53003 w 1405550"/>
              <a:gd name="connsiteY15" fmla="*/ 214364 h 214715"/>
              <a:gd name="connsiteX16" fmla="*/ 96071 w 1405550"/>
              <a:gd name="connsiteY16" fmla="*/ 156998 h 214715"/>
              <a:gd name="connsiteX17" fmla="*/ 96071 w 1405550"/>
              <a:gd name="connsiteY17" fmla="*/ 141493 h 214715"/>
              <a:gd name="connsiteX18" fmla="*/ 78068 w 1405550"/>
              <a:gd name="connsiteY18" fmla="*/ 141493 h 214715"/>
              <a:gd name="connsiteX19" fmla="*/ 44303 w 1405550"/>
              <a:gd name="connsiteY19" fmla="*/ 162252 h 214715"/>
              <a:gd name="connsiteX20" fmla="*/ 44303 w 1405550"/>
              <a:gd name="connsiteY20" fmla="*/ 163803 h 214715"/>
              <a:gd name="connsiteX21" fmla="*/ 66268 w 1405550"/>
              <a:gd name="connsiteY21" fmla="*/ 182752 h 214715"/>
              <a:gd name="connsiteX22" fmla="*/ 96415 w 1405550"/>
              <a:gd name="connsiteY22" fmla="*/ 156998 h 214715"/>
              <a:gd name="connsiteX23" fmla="*/ 243964 w 1405550"/>
              <a:gd name="connsiteY23" fmla="*/ 214364 h 214715"/>
              <a:gd name="connsiteX24" fmla="*/ 166443 w 1405550"/>
              <a:gd name="connsiteY24" fmla="*/ 131588 h 214715"/>
              <a:gd name="connsiteX25" fmla="*/ 166443 w 1405550"/>
              <a:gd name="connsiteY25" fmla="*/ 129435 h 214715"/>
              <a:gd name="connsiteX26" fmla="*/ 243964 w 1405550"/>
              <a:gd name="connsiteY26" fmla="*/ 45367 h 214715"/>
              <a:gd name="connsiteX27" fmla="*/ 314940 w 1405550"/>
              <a:gd name="connsiteY27" fmla="*/ 106437 h 214715"/>
              <a:gd name="connsiteX28" fmla="*/ 271872 w 1405550"/>
              <a:gd name="connsiteY28" fmla="*/ 106437 h 214715"/>
              <a:gd name="connsiteX29" fmla="*/ 245170 w 1405550"/>
              <a:gd name="connsiteY29" fmla="*/ 80596 h 214715"/>
              <a:gd name="connsiteX30" fmla="*/ 212697 w 1405550"/>
              <a:gd name="connsiteY30" fmla="*/ 127712 h 214715"/>
              <a:gd name="connsiteX31" fmla="*/ 212697 w 1405550"/>
              <a:gd name="connsiteY31" fmla="*/ 132449 h 214715"/>
              <a:gd name="connsiteX32" fmla="*/ 245515 w 1405550"/>
              <a:gd name="connsiteY32" fmla="*/ 180168 h 214715"/>
              <a:gd name="connsiteX33" fmla="*/ 274973 w 1405550"/>
              <a:gd name="connsiteY33" fmla="*/ 150968 h 214715"/>
              <a:gd name="connsiteX34" fmla="*/ 316232 w 1405550"/>
              <a:gd name="connsiteY34" fmla="*/ 150968 h 214715"/>
              <a:gd name="connsiteX35" fmla="*/ 244309 w 1405550"/>
              <a:gd name="connsiteY35" fmla="*/ 214364 h 214715"/>
              <a:gd name="connsiteX36" fmla="*/ 412617 w 1405550"/>
              <a:gd name="connsiteY36" fmla="*/ 214364 h 214715"/>
              <a:gd name="connsiteX37" fmla="*/ 335095 w 1405550"/>
              <a:gd name="connsiteY37" fmla="*/ 131588 h 214715"/>
              <a:gd name="connsiteX38" fmla="*/ 335095 w 1405550"/>
              <a:gd name="connsiteY38" fmla="*/ 129435 h 214715"/>
              <a:gd name="connsiteX39" fmla="*/ 412617 w 1405550"/>
              <a:gd name="connsiteY39" fmla="*/ 45367 h 214715"/>
              <a:gd name="connsiteX40" fmla="*/ 483592 w 1405550"/>
              <a:gd name="connsiteY40" fmla="*/ 106437 h 214715"/>
              <a:gd name="connsiteX41" fmla="*/ 440524 w 1405550"/>
              <a:gd name="connsiteY41" fmla="*/ 106437 h 214715"/>
              <a:gd name="connsiteX42" fmla="*/ 413909 w 1405550"/>
              <a:gd name="connsiteY42" fmla="*/ 80596 h 214715"/>
              <a:gd name="connsiteX43" fmla="*/ 381350 w 1405550"/>
              <a:gd name="connsiteY43" fmla="*/ 127712 h 214715"/>
              <a:gd name="connsiteX44" fmla="*/ 381350 w 1405550"/>
              <a:gd name="connsiteY44" fmla="*/ 132449 h 214715"/>
              <a:gd name="connsiteX45" fmla="*/ 414167 w 1405550"/>
              <a:gd name="connsiteY45" fmla="*/ 180168 h 214715"/>
              <a:gd name="connsiteX46" fmla="*/ 443625 w 1405550"/>
              <a:gd name="connsiteY46" fmla="*/ 150968 h 214715"/>
              <a:gd name="connsiteX47" fmla="*/ 484884 w 1405550"/>
              <a:gd name="connsiteY47" fmla="*/ 150968 h 214715"/>
              <a:gd name="connsiteX48" fmla="*/ 412961 w 1405550"/>
              <a:gd name="connsiteY48" fmla="*/ 214364 h 214715"/>
              <a:gd name="connsiteX49" fmla="*/ 582561 w 1405550"/>
              <a:gd name="connsiteY49" fmla="*/ 214364 h 214715"/>
              <a:gd name="connsiteX50" fmla="*/ 503834 w 1405550"/>
              <a:gd name="connsiteY50" fmla="*/ 132536 h 214715"/>
              <a:gd name="connsiteX51" fmla="*/ 503834 w 1405550"/>
              <a:gd name="connsiteY51" fmla="*/ 129435 h 214715"/>
              <a:gd name="connsiteX52" fmla="*/ 581355 w 1405550"/>
              <a:gd name="connsiteY52" fmla="*/ 45367 h 214715"/>
              <a:gd name="connsiteX53" fmla="*/ 655517 w 1405550"/>
              <a:gd name="connsiteY53" fmla="*/ 121596 h 214715"/>
              <a:gd name="connsiteX54" fmla="*/ 655517 w 1405550"/>
              <a:gd name="connsiteY54" fmla="*/ 141063 h 214715"/>
              <a:gd name="connsiteX55" fmla="*/ 550088 w 1405550"/>
              <a:gd name="connsiteY55" fmla="*/ 141063 h 214715"/>
              <a:gd name="connsiteX56" fmla="*/ 583853 w 1405550"/>
              <a:gd name="connsiteY56" fmla="*/ 181374 h 214715"/>
              <a:gd name="connsiteX57" fmla="*/ 613656 w 1405550"/>
              <a:gd name="connsiteY57" fmla="*/ 160271 h 214715"/>
              <a:gd name="connsiteX58" fmla="*/ 655517 w 1405550"/>
              <a:gd name="connsiteY58" fmla="*/ 160271 h 214715"/>
              <a:gd name="connsiteX59" fmla="*/ 582905 w 1405550"/>
              <a:gd name="connsiteY59" fmla="*/ 214364 h 214715"/>
              <a:gd name="connsiteX60" fmla="*/ 550346 w 1405550"/>
              <a:gd name="connsiteY60" fmla="*/ 111002 h 214715"/>
              <a:gd name="connsiteX61" fmla="*/ 611072 w 1405550"/>
              <a:gd name="connsiteY61" fmla="*/ 111002 h 214715"/>
              <a:gd name="connsiteX62" fmla="*/ 581355 w 1405550"/>
              <a:gd name="connsiteY62" fmla="*/ 76548 h 214715"/>
              <a:gd name="connsiteX63" fmla="*/ 550691 w 1405550"/>
              <a:gd name="connsiteY63" fmla="*/ 111088 h 214715"/>
              <a:gd name="connsiteX64" fmla="*/ 683080 w 1405550"/>
              <a:gd name="connsiteY64" fmla="*/ 48726 h 214715"/>
              <a:gd name="connsiteX65" fmla="*/ 728301 w 1405550"/>
              <a:gd name="connsiteY65" fmla="*/ 48726 h 214715"/>
              <a:gd name="connsiteX66" fmla="*/ 728301 w 1405550"/>
              <a:gd name="connsiteY66" fmla="*/ 72844 h 214715"/>
              <a:gd name="connsiteX67" fmla="*/ 777312 w 1405550"/>
              <a:gd name="connsiteY67" fmla="*/ 45281 h 214715"/>
              <a:gd name="connsiteX68" fmla="*/ 826323 w 1405550"/>
              <a:gd name="connsiteY68" fmla="*/ 102302 h 214715"/>
              <a:gd name="connsiteX69" fmla="*/ 826323 w 1405550"/>
              <a:gd name="connsiteY69" fmla="*/ 210832 h 214715"/>
              <a:gd name="connsiteX70" fmla="*/ 781016 w 1405550"/>
              <a:gd name="connsiteY70" fmla="*/ 210832 h 214715"/>
              <a:gd name="connsiteX71" fmla="*/ 781016 w 1405550"/>
              <a:gd name="connsiteY71" fmla="*/ 109193 h 214715"/>
              <a:gd name="connsiteX72" fmla="*/ 756812 w 1405550"/>
              <a:gd name="connsiteY72" fmla="*/ 81888 h 214715"/>
              <a:gd name="connsiteX73" fmla="*/ 728181 w 1405550"/>
              <a:gd name="connsiteY73" fmla="*/ 107436 h 214715"/>
              <a:gd name="connsiteX74" fmla="*/ 728301 w 1405550"/>
              <a:gd name="connsiteY74" fmla="*/ 111949 h 214715"/>
              <a:gd name="connsiteX75" fmla="*/ 728301 w 1405550"/>
              <a:gd name="connsiteY75" fmla="*/ 210832 h 214715"/>
              <a:gd name="connsiteX76" fmla="*/ 683080 w 1405550"/>
              <a:gd name="connsiteY76" fmla="*/ 210832 h 214715"/>
              <a:gd name="connsiteX77" fmla="*/ 910993 w 1405550"/>
              <a:gd name="connsiteY77" fmla="*/ -284 h 214715"/>
              <a:gd name="connsiteX78" fmla="*/ 910993 w 1405550"/>
              <a:gd name="connsiteY78" fmla="*/ 48726 h 214715"/>
              <a:gd name="connsiteX79" fmla="*/ 942002 w 1405550"/>
              <a:gd name="connsiteY79" fmla="*/ 48726 h 214715"/>
              <a:gd name="connsiteX80" fmla="*/ 942002 w 1405550"/>
              <a:gd name="connsiteY80" fmla="*/ 82491 h 214715"/>
              <a:gd name="connsiteX81" fmla="*/ 910993 w 1405550"/>
              <a:gd name="connsiteY81" fmla="*/ 82491 h 214715"/>
              <a:gd name="connsiteX82" fmla="*/ 910993 w 1405550"/>
              <a:gd name="connsiteY82" fmla="*/ 159410 h 214715"/>
              <a:gd name="connsiteX83" fmla="*/ 927101 w 1405550"/>
              <a:gd name="connsiteY83" fmla="*/ 177067 h 214715"/>
              <a:gd name="connsiteX84" fmla="*/ 942864 w 1405550"/>
              <a:gd name="connsiteY84" fmla="*/ 174225 h 214715"/>
              <a:gd name="connsiteX85" fmla="*/ 942864 w 1405550"/>
              <a:gd name="connsiteY85" fmla="*/ 209971 h 214715"/>
              <a:gd name="connsiteX86" fmla="*/ 917454 w 1405550"/>
              <a:gd name="connsiteY86" fmla="*/ 213330 h 214715"/>
              <a:gd name="connsiteX87" fmla="*/ 865342 w 1405550"/>
              <a:gd name="connsiteY87" fmla="*/ 164405 h 214715"/>
              <a:gd name="connsiteX88" fmla="*/ 865342 w 1405550"/>
              <a:gd name="connsiteY88" fmla="*/ 82836 h 214715"/>
              <a:gd name="connsiteX89" fmla="*/ 846478 w 1405550"/>
              <a:gd name="connsiteY89" fmla="*/ 82836 h 214715"/>
              <a:gd name="connsiteX90" fmla="*/ 846478 w 1405550"/>
              <a:gd name="connsiteY90" fmla="*/ 49071 h 214715"/>
              <a:gd name="connsiteX91" fmla="*/ 866117 w 1405550"/>
              <a:gd name="connsiteY91" fmla="*/ 49071 h 214715"/>
              <a:gd name="connsiteX92" fmla="*/ 866117 w 1405550"/>
              <a:gd name="connsiteY92" fmla="*/ 18665 h 214715"/>
              <a:gd name="connsiteX93" fmla="*/ 1112549 w 1405550"/>
              <a:gd name="connsiteY93" fmla="*/ 210832 h 214715"/>
              <a:gd name="connsiteX94" fmla="*/ 1067242 w 1405550"/>
              <a:gd name="connsiteY94" fmla="*/ 210832 h 214715"/>
              <a:gd name="connsiteX95" fmla="*/ 1067242 w 1405550"/>
              <a:gd name="connsiteY95" fmla="*/ 186973 h 214715"/>
              <a:gd name="connsiteX96" fmla="*/ 1020127 w 1405550"/>
              <a:gd name="connsiteY96" fmla="*/ 214278 h 214715"/>
              <a:gd name="connsiteX97" fmla="*/ 969565 w 1405550"/>
              <a:gd name="connsiteY97" fmla="*/ 158462 h 214715"/>
              <a:gd name="connsiteX98" fmla="*/ 969565 w 1405550"/>
              <a:gd name="connsiteY98" fmla="*/ 48813 h 214715"/>
              <a:gd name="connsiteX99" fmla="*/ 1015131 w 1405550"/>
              <a:gd name="connsiteY99" fmla="*/ 48813 h 214715"/>
              <a:gd name="connsiteX100" fmla="*/ 1015131 w 1405550"/>
              <a:gd name="connsiteY100" fmla="*/ 151744 h 214715"/>
              <a:gd name="connsiteX101" fmla="*/ 1038732 w 1405550"/>
              <a:gd name="connsiteY101" fmla="*/ 178962 h 214715"/>
              <a:gd name="connsiteX102" fmla="*/ 1067354 w 1405550"/>
              <a:gd name="connsiteY102" fmla="*/ 153036 h 214715"/>
              <a:gd name="connsiteX103" fmla="*/ 1067242 w 1405550"/>
              <a:gd name="connsiteY103" fmla="*/ 148901 h 214715"/>
              <a:gd name="connsiteX104" fmla="*/ 1067242 w 1405550"/>
              <a:gd name="connsiteY104" fmla="*/ 48813 h 214715"/>
              <a:gd name="connsiteX105" fmla="*/ 1112549 w 1405550"/>
              <a:gd name="connsiteY105" fmla="*/ 48813 h 214715"/>
              <a:gd name="connsiteX106" fmla="*/ 1145367 w 1405550"/>
              <a:gd name="connsiteY106" fmla="*/ 48726 h 214715"/>
              <a:gd name="connsiteX107" fmla="*/ 1190674 w 1405550"/>
              <a:gd name="connsiteY107" fmla="*/ 48726 h 214715"/>
              <a:gd name="connsiteX108" fmla="*/ 1190674 w 1405550"/>
              <a:gd name="connsiteY108" fmla="*/ 78443 h 214715"/>
              <a:gd name="connsiteX109" fmla="*/ 1239340 w 1405550"/>
              <a:gd name="connsiteY109" fmla="*/ 46487 h 214715"/>
              <a:gd name="connsiteX110" fmla="*/ 1239340 w 1405550"/>
              <a:gd name="connsiteY110" fmla="*/ 91191 h 214715"/>
              <a:gd name="connsiteX111" fmla="*/ 1190674 w 1405550"/>
              <a:gd name="connsiteY111" fmla="*/ 127454 h 214715"/>
              <a:gd name="connsiteX112" fmla="*/ 1190674 w 1405550"/>
              <a:gd name="connsiteY112" fmla="*/ 210832 h 214715"/>
              <a:gd name="connsiteX113" fmla="*/ 1145367 w 1405550"/>
              <a:gd name="connsiteY113" fmla="*/ 210832 h 214715"/>
              <a:gd name="connsiteX114" fmla="*/ 1332366 w 1405550"/>
              <a:gd name="connsiteY114" fmla="*/ 214278 h 214715"/>
              <a:gd name="connsiteX115" fmla="*/ 1253638 w 1405550"/>
              <a:gd name="connsiteY115" fmla="*/ 132449 h 214715"/>
              <a:gd name="connsiteX116" fmla="*/ 1253638 w 1405550"/>
              <a:gd name="connsiteY116" fmla="*/ 129349 h 214715"/>
              <a:gd name="connsiteX117" fmla="*/ 1331160 w 1405550"/>
              <a:gd name="connsiteY117" fmla="*/ 45281 h 214715"/>
              <a:gd name="connsiteX118" fmla="*/ 1405236 w 1405550"/>
              <a:gd name="connsiteY118" fmla="*/ 121510 h 214715"/>
              <a:gd name="connsiteX119" fmla="*/ 1405236 w 1405550"/>
              <a:gd name="connsiteY119" fmla="*/ 141063 h 214715"/>
              <a:gd name="connsiteX120" fmla="*/ 1299807 w 1405550"/>
              <a:gd name="connsiteY120" fmla="*/ 141063 h 214715"/>
              <a:gd name="connsiteX121" fmla="*/ 1333658 w 1405550"/>
              <a:gd name="connsiteY121" fmla="*/ 181374 h 214715"/>
              <a:gd name="connsiteX122" fmla="*/ 1363375 w 1405550"/>
              <a:gd name="connsiteY122" fmla="*/ 160271 h 214715"/>
              <a:gd name="connsiteX123" fmla="*/ 1405236 w 1405550"/>
              <a:gd name="connsiteY123" fmla="*/ 160271 h 214715"/>
              <a:gd name="connsiteX124" fmla="*/ 1332711 w 1405550"/>
              <a:gd name="connsiteY124" fmla="*/ 214364 h 214715"/>
              <a:gd name="connsiteX125" fmla="*/ 1300152 w 1405550"/>
              <a:gd name="connsiteY125" fmla="*/ 110916 h 214715"/>
              <a:gd name="connsiteX126" fmla="*/ 1360877 w 1405550"/>
              <a:gd name="connsiteY126" fmla="*/ 110916 h 214715"/>
              <a:gd name="connsiteX127" fmla="*/ 1331074 w 1405550"/>
              <a:gd name="connsiteY127" fmla="*/ 76462 h 214715"/>
              <a:gd name="connsiteX128" fmla="*/ 1300496 w 1405550"/>
              <a:gd name="connsiteY128" fmla="*/ 111088 h 214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</a:cxnLst>
            <a:rect l="l" t="t" r="r" b="b"/>
            <a:pathLst>
              <a:path w="1405550" h="214715">
                <a:moveTo>
                  <a:pt x="53003" y="214364"/>
                </a:moveTo>
                <a:cubicBezTo>
                  <a:pt x="23889" y="214364"/>
                  <a:pt x="-314" y="199462"/>
                  <a:pt x="-314" y="166559"/>
                </a:cubicBezTo>
                <a:lnTo>
                  <a:pt x="-314" y="164750"/>
                </a:lnTo>
                <a:cubicBezTo>
                  <a:pt x="-314" y="124697"/>
                  <a:pt x="34140" y="111691"/>
                  <a:pt x="76259" y="111691"/>
                </a:cubicBezTo>
                <a:lnTo>
                  <a:pt x="96415" y="111691"/>
                </a:lnTo>
                <a:lnTo>
                  <a:pt x="96415" y="103939"/>
                </a:lnTo>
                <a:cubicBezTo>
                  <a:pt x="96415" y="87832"/>
                  <a:pt x="89266" y="78098"/>
                  <a:pt x="72556" y="78098"/>
                </a:cubicBezTo>
                <a:cubicBezTo>
                  <a:pt x="60299" y="76849"/>
                  <a:pt x="49351" y="85773"/>
                  <a:pt x="48093" y="98030"/>
                </a:cubicBezTo>
                <a:cubicBezTo>
                  <a:pt x="48059" y="98418"/>
                  <a:pt x="48025" y="98805"/>
                  <a:pt x="48007" y="99201"/>
                </a:cubicBezTo>
                <a:lnTo>
                  <a:pt x="4940" y="99201"/>
                </a:lnTo>
                <a:cubicBezTo>
                  <a:pt x="8041" y="63197"/>
                  <a:pt x="36551" y="45539"/>
                  <a:pt x="75054" y="45539"/>
                </a:cubicBezTo>
                <a:cubicBezTo>
                  <a:pt x="113556" y="45539"/>
                  <a:pt x="141980" y="62250"/>
                  <a:pt x="141980" y="102561"/>
                </a:cubicBezTo>
                <a:lnTo>
                  <a:pt x="141980" y="211091"/>
                </a:lnTo>
                <a:lnTo>
                  <a:pt x="97707" y="211091"/>
                </a:lnTo>
                <a:lnTo>
                  <a:pt x="97707" y="192744"/>
                </a:lnTo>
                <a:cubicBezTo>
                  <a:pt x="87474" y="207102"/>
                  <a:pt x="70618" y="215260"/>
                  <a:pt x="53003" y="214364"/>
                </a:cubicBezTo>
                <a:close/>
                <a:moveTo>
                  <a:pt x="96071" y="156998"/>
                </a:moveTo>
                <a:lnTo>
                  <a:pt x="96071" y="141493"/>
                </a:lnTo>
                <a:lnTo>
                  <a:pt x="78068" y="141493"/>
                </a:lnTo>
                <a:cubicBezTo>
                  <a:pt x="55760" y="141493"/>
                  <a:pt x="44303" y="147695"/>
                  <a:pt x="44303" y="162252"/>
                </a:cubicBezTo>
                <a:lnTo>
                  <a:pt x="44303" y="163803"/>
                </a:lnTo>
                <a:cubicBezTo>
                  <a:pt x="44303" y="175000"/>
                  <a:pt x="51108" y="182752"/>
                  <a:pt x="66268" y="182752"/>
                </a:cubicBezTo>
                <a:cubicBezTo>
                  <a:pt x="81428" y="182752"/>
                  <a:pt x="96415" y="174052"/>
                  <a:pt x="96415" y="156998"/>
                </a:cubicBezTo>
                <a:close/>
                <a:moveTo>
                  <a:pt x="243964" y="214364"/>
                </a:moveTo>
                <a:cubicBezTo>
                  <a:pt x="199002" y="214364"/>
                  <a:pt x="166443" y="186456"/>
                  <a:pt x="166443" y="131588"/>
                </a:cubicBezTo>
                <a:lnTo>
                  <a:pt x="166443" y="129435"/>
                </a:lnTo>
                <a:cubicBezTo>
                  <a:pt x="166443" y="74481"/>
                  <a:pt x="200897" y="45367"/>
                  <a:pt x="243964" y="45367"/>
                </a:cubicBezTo>
                <a:cubicBezTo>
                  <a:pt x="280830" y="45367"/>
                  <a:pt x="311236" y="63972"/>
                  <a:pt x="314940" y="106437"/>
                </a:cubicBezTo>
                <a:lnTo>
                  <a:pt x="271872" y="106437"/>
                </a:lnTo>
                <a:cubicBezTo>
                  <a:pt x="269116" y="90674"/>
                  <a:pt x="261019" y="80596"/>
                  <a:pt x="245170" y="80596"/>
                </a:cubicBezTo>
                <a:cubicBezTo>
                  <a:pt x="225962" y="80596"/>
                  <a:pt x="212697" y="95756"/>
                  <a:pt x="212697" y="127712"/>
                </a:cubicBezTo>
                <a:lnTo>
                  <a:pt x="212697" y="132449"/>
                </a:lnTo>
                <a:cubicBezTo>
                  <a:pt x="212697" y="165267"/>
                  <a:pt x="224412" y="180168"/>
                  <a:pt x="245515" y="180168"/>
                </a:cubicBezTo>
                <a:cubicBezTo>
                  <a:pt x="261019" y="180168"/>
                  <a:pt x="272475" y="168712"/>
                  <a:pt x="274973" y="150968"/>
                </a:cubicBezTo>
                <a:lnTo>
                  <a:pt x="316232" y="150968"/>
                </a:lnTo>
                <a:cubicBezTo>
                  <a:pt x="313475" y="188007"/>
                  <a:pt x="288324" y="214364"/>
                  <a:pt x="244309" y="214364"/>
                </a:cubicBezTo>
                <a:close/>
                <a:moveTo>
                  <a:pt x="412617" y="214364"/>
                </a:moveTo>
                <a:cubicBezTo>
                  <a:pt x="367740" y="214364"/>
                  <a:pt x="335095" y="186456"/>
                  <a:pt x="335095" y="131588"/>
                </a:cubicBezTo>
                <a:lnTo>
                  <a:pt x="335095" y="129435"/>
                </a:lnTo>
                <a:cubicBezTo>
                  <a:pt x="335095" y="74481"/>
                  <a:pt x="369549" y="45367"/>
                  <a:pt x="412617" y="45367"/>
                </a:cubicBezTo>
                <a:cubicBezTo>
                  <a:pt x="449482" y="45367"/>
                  <a:pt x="479888" y="63972"/>
                  <a:pt x="483592" y="106437"/>
                </a:cubicBezTo>
                <a:lnTo>
                  <a:pt x="440524" y="106437"/>
                </a:lnTo>
                <a:cubicBezTo>
                  <a:pt x="437768" y="90674"/>
                  <a:pt x="429671" y="80596"/>
                  <a:pt x="413909" y="80596"/>
                </a:cubicBezTo>
                <a:cubicBezTo>
                  <a:pt x="394700" y="80596"/>
                  <a:pt x="381350" y="95756"/>
                  <a:pt x="381350" y="127712"/>
                </a:cubicBezTo>
                <a:lnTo>
                  <a:pt x="381350" y="132449"/>
                </a:lnTo>
                <a:cubicBezTo>
                  <a:pt x="381350" y="165267"/>
                  <a:pt x="393150" y="180168"/>
                  <a:pt x="414167" y="180168"/>
                </a:cubicBezTo>
                <a:cubicBezTo>
                  <a:pt x="429671" y="180168"/>
                  <a:pt x="441214" y="168712"/>
                  <a:pt x="443625" y="150968"/>
                </a:cubicBezTo>
                <a:lnTo>
                  <a:pt x="484884" y="150968"/>
                </a:lnTo>
                <a:cubicBezTo>
                  <a:pt x="482128" y="188007"/>
                  <a:pt x="457062" y="214364"/>
                  <a:pt x="412961" y="214364"/>
                </a:cubicBezTo>
                <a:close/>
                <a:moveTo>
                  <a:pt x="582561" y="214364"/>
                </a:moveTo>
                <a:cubicBezTo>
                  <a:pt x="535790" y="214364"/>
                  <a:pt x="503834" y="186456"/>
                  <a:pt x="503834" y="132536"/>
                </a:cubicBezTo>
                <a:lnTo>
                  <a:pt x="503834" y="129435"/>
                </a:lnTo>
                <a:cubicBezTo>
                  <a:pt x="503834" y="75170"/>
                  <a:pt x="537598" y="45367"/>
                  <a:pt x="581355" y="45367"/>
                </a:cubicBezTo>
                <a:cubicBezTo>
                  <a:pt x="621666" y="45367"/>
                  <a:pt x="655517" y="68020"/>
                  <a:pt x="655517" y="121596"/>
                </a:cubicBezTo>
                <a:lnTo>
                  <a:pt x="655517" y="141063"/>
                </a:lnTo>
                <a:lnTo>
                  <a:pt x="550088" y="141063"/>
                </a:lnTo>
                <a:cubicBezTo>
                  <a:pt x="551897" y="170263"/>
                  <a:pt x="564300" y="181374"/>
                  <a:pt x="583853" y="181374"/>
                </a:cubicBezTo>
                <a:cubicBezTo>
                  <a:pt x="597643" y="182683"/>
                  <a:pt x="610305" y="173708"/>
                  <a:pt x="613656" y="160271"/>
                </a:cubicBezTo>
                <a:lnTo>
                  <a:pt x="655517" y="160271"/>
                </a:lnTo>
                <a:cubicBezTo>
                  <a:pt x="650780" y="191107"/>
                  <a:pt x="625370" y="214364"/>
                  <a:pt x="582905" y="214364"/>
                </a:cubicBezTo>
                <a:close/>
                <a:moveTo>
                  <a:pt x="550346" y="111002"/>
                </a:moveTo>
                <a:lnTo>
                  <a:pt x="611072" y="111002"/>
                </a:lnTo>
                <a:cubicBezTo>
                  <a:pt x="610210" y="87142"/>
                  <a:pt x="599357" y="76548"/>
                  <a:pt x="581355" y="76548"/>
                </a:cubicBezTo>
                <a:cubicBezTo>
                  <a:pt x="567401" y="76979"/>
                  <a:pt x="554395" y="84731"/>
                  <a:pt x="550691" y="111088"/>
                </a:cubicBezTo>
                <a:close/>
                <a:moveTo>
                  <a:pt x="683080" y="48726"/>
                </a:moveTo>
                <a:lnTo>
                  <a:pt x="728301" y="48726"/>
                </a:lnTo>
                <a:lnTo>
                  <a:pt x="728301" y="72844"/>
                </a:lnTo>
                <a:cubicBezTo>
                  <a:pt x="738000" y="55014"/>
                  <a:pt x="757036" y="44299"/>
                  <a:pt x="777312" y="45281"/>
                </a:cubicBezTo>
                <a:cubicBezTo>
                  <a:pt x="806770" y="45281"/>
                  <a:pt x="826323" y="62938"/>
                  <a:pt x="826323" y="102302"/>
                </a:cubicBezTo>
                <a:lnTo>
                  <a:pt x="826323" y="210832"/>
                </a:lnTo>
                <a:lnTo>
                  <a:pt x="781016" y="210832"/>
                </a:lnTo>
                <a:lnTo>
                  <a:pt x="781016" y="109193"/>
                </a:lnTo>
                <a:cubicBezTo>
                  <a:pt x="781016" y="90243"/>
                  <a:pt x="773264" y="81888"/>
                  <a:pt x="756812" y="81888"/>
                </a:cubicBezTo>
                <a:cubicBezTo>
                  <a:pt x="741850" y="81036"/>
                  <a:pt x="729033" y="92474"/>
                  <a:pt x="728181" y="107436"/>
                </a:cubicBezTo>
                <a:cubicBezTo>
                  <a:pt x="728095" y="108943"/>
                  <a:pt x="728138" y="110451"/>
                  <a:pt x="728301" y="111949"/>
                </a:cubicBezTo>
                <a:lnTo>
                  <a:pt x="728301" y="210832"/>
                </a:lnTo>
                <a:lnTo>
                  <a:pt x="683080" y="210832"/>
                </a:lnTo>
                <a:close/>
                <a:moveTo>
                  <a:pt x="910993" y="-284"/>
                </a:moveTo>
                <a:lnTo>
                  <a:pt x="910993" y="48726"/>
                </a:lnTo>
                <a:lnTo>
                  <a:pt x="942002" y="48726"/>
                </a:lnTo>
                <a:lnTo>
                  <a:pt x="942002" y="82491"/>
                </a:lnTo>
                <a:lnTo>
                  <a:pt x="910993" y="82491"/>
                </a:lnTo>
                <a:lnTo>
                  <a:pt x="910993" y="159410"/>
                </a:lnTo>
                <a:cubicBezTo>
                  <a:pt x="910993" y="171468"/>
                  <a:pt x="916506" y="177067"/>
                  <a:pt x="927101" y="177067"/>
                </a:cubicBezTo>
                <a:cubicBezTo>
                  <a:pt x="932493" y="177240"/>
                  <a:pt x="937868" y="176275"/>
                  <a:pt x="942864" y="174225"/>
                </a:cubicBezTo>
                <a:lnTo>
                  <a:pt x="942864" y="209971"/>
                </a:lnTo>
                <a:cubicBezTo>
                  <a:pt x="934595" y="212262"/>
                  <a:pt x="926041" y="213399"/>
                  <a:pt x="917454" y="213330"/>
                </a:cubicBezTo>
                <a:cubicBezTo>
                  <a:pt x="882138" y="213330"/>
                  <a:pt x="865342" y="197223"/>
                  <a:pt x="865342" y="164405"/>
                </a:cubicBezTo>
                <a:lnTo>
                  <a:pt x="865342" y="82836"/>
                </a:lnTo>
                <a:lnTo>
                  <a:pt x="846478" y="82836"/>
                </a:lnTo>
                <a:lnTo>
                  <a:pt x="846478" y="49071"/>
                </a:lnTo>
                <a:lnTo>
                  <a:pt x="866117" y="49071"/>
                </a:lnTo>
                <a:lnTo>
                  <a:pt x="866117" y="18665"/>
                </a:lnTo>
                <a:close/>
                <a:moveTo>
                  <a:pt x="1112549" y="210832"/>
                </a:moveTo>
                <a:lnTo>
                  <a:pt x="1067242" y="210832"/>
                </a:lnTo>
                <a:lnTo>
                  <a:pt x="1067242" y="186973"/>
                </a:lnTo>
                <a:cubicBezTo>
                  <a:pt x="1058431" y="204699"/>
                  <a:pt x="1039886" y="215449"/>
                  <a:pt x="1020127" y="214278"/>
                </a:cubicBezTo>
                <a:cubicBezTo>
                  <a:pt x="990927" y="214278"/>
                  <a:pt x="969565" y="196620"/>
                  <a:pt x="969565" y="158462"/>
                </a:cubicBezTo>
                <a:lnTo>
                  <a:pt x="969565" y="48813"/>
                </a:lnTo>
                <a:lnTo>
                  <a:pt x="1015131" y="48813"/>
                </a:lnTo>
                <a:lnTo>
                  <a:pt x="1015131" y="151744"/>
                </a:lnTo>
                <a:cubicBezTo>
                  <a:pt x="1015131" y="170349"/>
                  <a:pt x="1022625" y="178962"/>
                  <a:pt x="1038732" y="178962"/>
                </a:cubicBezTo>
                <a:cubicBezTo>
                  <a:pt x="1053797" y="179703"/>
                  <a:pt x="1066605" y="168101"/>
                  <a:pt x="1067354" y="153036"/>
                </a:cubicBezTo>
                <a:cubicBezTo>
                  <a:pt x="1067423" y="151658"/>
                  <a:pt x="1067380" y="150279"/>
                  <a:pt x="1067242" y="148901"/>
                </a:cubicBezTo>
                <a:lnTo>
                  <a:pt x="1067242" y="48813"/>
                </a:lnTo>
                <a:lnTo>
                  <a:pt x="1112549" y="48813"/>
                </a:lnTo>
                <a:close/>
                <a:moveTo>
                  <a:pt x="1145367" y="48726"/>
                </a:moveTo>
                <a:lnTo>
                  <a:pt x="1190674" y="48726"/>
                </a:lnTo>
                <a:lnTo>
                  <a:pt x="1190674" y="78443"/>
                </a:lnTo>
                <a:cubicBezTo>
                  <a:pt x="1197935" y="58115"/>
                  <a:pt x="1217798" y="45074"/>
                  <a:pt x="1239340" y="46487"/>
                </a:cubicBezTo>
                <a:lnTo>
                  <a:pt x="1239340" y="91191"/>
                </a:lnTo>
                <a:cubicBezTo>
                  <a:pt x="1208676" y="91191"/>
                  <a:pt x="1190674" y="100493"/>
                  <a:pt x="1190674" y="127454"/>
                </a:cubicBezTo>
                <a:lnTo>
                  <a:pt x="1190674" y="210832"/>
                </a:lnTo>
                <a:lnTo>
                  <a:pt x="1145367" y="210832"/>
                </a:lnTo>
                <a:close/>
                <a:moveTo>
                  <a:pt x="1332366" y="214278"/>
                </a:moveTo>
                <a:cubicBezTo>
                  <a:pt x="1285508" y="214278"/>
                  <a:pt x="1253638" y="186370"/>
                  <a:pt x="1253638" y="132449"/>
                </a:cubicBezTo>
                <a:lnTo>
                  <a:pt x="1253638" y="129349"/>
                </a:lnTo>
                <a:cubicBezTo>
                  <a:pt x="1253638" y="75084"/>
                  <a:pt x="1287403" y="45281"/>
                  <a:pt x="1331160" y="45281"/>
                </a:cubicBezTo>
                <a:cubicBezTo>
                  <a:pt x="1371471" y="45281"/>
                  <a:pt x="1405236" y="67934"/>
                  <a:pt x="1405236" y="121510"/>
                </a:cubicBezTo>
                <a:lnTo>
                  <a:pt x="1405236" y="141063"/>
                </a:lnTo>
                <a:lnTo>
                  <a:pt x="1299807" y="141063"/>
                </a:lnTo>
                <a:cubicBezTo>
                  <a:pt x="1301702" y="170263"/>
                  <a:pt x="1314105" y="181374"/>
                  <a:pt x="1333658" y="181374"/>
                </a:cubicBezTo>
                <a:cubicBezTo>
                  <a:pt x="1347414" y="182631"/>
                  <a:pt x="1360033" y="173674"/>
                  <a:pt x="1363375" y="160271"/>
                </a:cubicBezTo>
                <a:lnTo>
                  <a:pt x="1405236" y="160271"/>
                </a:lnTo>
                <a:cubicBezTo>
                  <a:pt x="1400154" y="191107"/>
                  <a:pt x="1375175" y="214364"/>
                  <a:pt x="1332711" y="214364"/>
                </a:cubicBezTo>
                <a:close/>
                <a:moveTo>
                  <a:pt x="1300152" y="110916"/>
                </a:moveTo>
                <a:lnTo>
                  <a:pt x="1360877" y="110916"/>
                </a:lnTo>
                <a:cubicBezTo>
                  <a:pt x="1359929" y="87056"/>
                  <a:pt x="1349076" y="76462"/>
                  <a:pt x="1331074" y="76462"/>
                </a:cubicBezTo>
                <a:cubicBezTo>
                  <a:pt x="1317206" y="76979"/>
                  <a:pt x="1304200" y="84731"/>
                  <a:pt x="1300496" y="111088"/>
                </a:cubicBezTo>
                <a:close/>
              </a:path>
            </a:pathLst>
          </a:custGeom>
          <a:solidFill>
            <a:schemeClr val="tx1"/>
          </a:solidFill>
          <a:ln w="85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600807"/>
            <a:ext cx="6246042" cy="2492990"/>
          </a:xfr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06A9A1-BB92-4DC6-893F-3C43599C724E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407A4A4-F42C-1A83-FEDA-0AFDFFFDDD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4224338"/>
            <a:ext cx="5715000" cy="763587"/>
          </a:xfrm>
        </p:spPr>
        <p:txBody>
          <a:bodyPr/>
          <a:lstStyle>
            <a:lvl1pPr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1pPr>
            <a:lvl2pPr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00196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Left-aligned, Log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525D8-8C3D-4FEA-A4F3-A7048ED97C11}" type="datetime2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Wednesday, September 28, 2022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38692DE-6F51-4131-B2FE-C47AAD152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001" y="5813885"/>
            <a:ext cx="1884233" cy="4980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06A9A1-BB92-4DC6-893F-3C43599C724E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097823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19406636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86957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in GT Sectra Fine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/>
          <a:p>
            <a:r>
              <a:rPr lang="en-GB"/>
              <a:t>Agenda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 userDrawn="1"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C4F5B-DE83-214A-95EA-68339F579CF1}"/>
              </a:ext>
            </a:extLst>
          </p:cNvPr>
          <p:cNvSpPr txBox="1"/>
          <p:nvPr userDrawn="1"/>
        </p:nvSpPr>
        <p:spPr>
          <a:xfrm>
            <a:off x="9290304" y="660196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9744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3A33DB62-CB79-01CF-0DF4-C353DADFA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62779"/>
          <a:stretch/>
        </p:blipFill>
        <p:spPr>
          <a:xfrm>
            <a:off x="1524" y="0"/>
            <a:ext cx="12188952" cy="25525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468" y="419100"/>
            <a:ext cx="11429532" cy="1136715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EE863A-38DC-4F4B-8B58-9CC36870A6E3}"/>
              </a:ext>
            </a:extLst>
          </p:cNvPr>
          <p:cNvSpPr/>
          <p:nvPr userDrawn="1"/>
        </p:nvSpPr>
        <p:spPr>
          <a:xfrm>
            <a:off x="381000" y="1828800"/>
            <a:ext cx="11430000" cy="4464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52400" dist="38100" dir="5400000" algn="t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637B6D-6853-48B0-A904-9D5297D9E3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2937" y="2554288"/>
            <a:ext cx="10906125" cy="3478212"/>
          </a:xfrm>
        </p:spPr>
        <p:txBody>
          <a:bodyPr/>
          <a:lstStyle>
            <a:lvl1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+mj-lt"/>
              </a:defRPr>
            </a:lvl2pPr>
            <a:lvl3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12" name="Picture 11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82241DB8-C3B3-46F2-630C-A8500C84313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79482"/>
            <a:ext cx="192024" cy="20232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89C4459-4FCF-36D1-7012-CD1D3645DE93}"/>
              </a:ext>
            </a:extLst>
          </p:cNvPr>
          <p:cNvSpPr txBox="1"/>
          <p:nvPr userDrawn="1"/>
        </p:nvSpPr>
        <p:spPr>
          <a:xfrm>
            <a:off x="8317890" y="6477321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/>
                </a:solidFill>
              </a:rPr>
              <a:t>Copyright © 2022 Accenture. All rights reserved.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08A999-4567-2B8E-A91C-3B1A267EBCD4}"/>
              </a:ext>
            </a:extLst>
          </p:cNvPr>
          <p:cNvSpPr txBox="1"/>
          <p:nvPr userDrawn="1"/>
        </p:nvSpPr>
        <p:spPr>
          <a:xfrm>
            <a:off x="11430000" y="6476035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439EE47E-6A8D-85A1-A7CD-451E65CFB1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472243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solidFill>
                  <a:schemeClr val="bg1"/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3171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Divider with Image - Gradi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B9124D07-1463-DF1A-9DED-E59CF2A7DE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62779"/>
          <a:stretch/>
        </p:blipFill>
        <p:spPr>
          <a:xfrm>
            <a:off x="1524" y="0"/>
            <a:ext cx="12188952" cy="255256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8EE863A-38DC-4F4B-8B58-9CC36870A6E3}"/>
              </a:ext>
            </a:extLst>
          </p:cNvPr>
          <p:cNvSpPr/>
          <p:nvPr userDrawn="1"/>
        </p:nvSpPr>
        <p:spPr>
          <a:xfrm>
            <a:off x="381000" y="578471"/>
            <a:ext cx="11430000" cy="573342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52400" dist="38100" dir="5400000" algn="t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637B6D-6853-48B0-A904-9D5297D9E3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2937" y="1429171"/>
            <a:ext cx="10906125" cy="3478212"/>
          </a:xfrm>
        </p:spPr>
        <p:txBody>
          <a:bodyPr/>
          <a:lstStyle>
            <a:lvl1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+mj-lt"/>
              </a:defRPr>
            </a:lvl2pPr>
            <a:lvl3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20" name="Picture 19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1DD33DB6-17D3-1D21-045A-180E4602B97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79482"/>
            <a:ext cx="192024" cy="20232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EEE450D-2C41-6015-13CA-9EA3F89E2D99}"/>
              </a:ext>
            </a:extLst>
          </p:cNvPr>
          <p:cNvSpPr txBox="1"/>
          <p:nvPr userDrawn="1"/>
        </p:nvSpPr>
        <p:spPr>
          <a:xfrm>
            <a:off x="8317890" y="6477321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/>
                </a:solidFill>
              </a:rPr>
              <a:t>Copyright © 2022 Accenture. All rights reserved.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3E56D5-513D-4066-1E23-D723C12F63C6}"/>
              </a:ext>
            </a:extLst>
          </p:cNvPr>
          <p:cNvSpPr txBox="1"/>
          <p:nvPr userDrawn="1"/>
        </p:nvSpPr>
        <p:spPr>
          <a:xfrm>
            <a:off x="11430000" y="6476035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23" name="Slide Number Placeholder 6">
            <a:extLst>
              <a:ext uri="{FF2B5EF4-FFF2-40B4-BE49-F238E27FC236}">
                <a16:creationId xmlns:a16="http://schemas.microsoft.com/office/drawing/2014/main" id="{FD0C551F-56AD-EFB0-9141-BC26B724B8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472243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solidFill>
                  <a:schemeClr val="bg1"/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‹#›</a:t>
            </a:fld>
            <a:endParaRPr lang="en-IN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EC4986B-0CF1-4791-AE40-063D1C0DC5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2936" y="859347"/>
            <a:ext cx="10906125" cy="393954"/>
          </a:xfrm>
        </p:spPr>
        <p:txBody>
          <a:bodyPr wrap="square" anchor="t">
            <a:sp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 32pt</a:t>
            </a:r>
          </a:p>
        </p:txBody>
      </p:sp>
    </p:spTree>
    <p:extLst>
      <p:ext uri="{BB962C8B-B14F-4D97-AF65-F5344CB8AC3E}">
        <p14:creationId xmlns:p14="http://schemas.microsoft.com/office/powerpoint/2010/main" val="809524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Section Divider with Image - Gradi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81EEA6CD-FE2B-3518-7363-CCD1F2D9BC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08" y="130129"/>
            <a:ext cx="11920383" cy="6597741"/>
          </a:xfrm>
          <a:prstGeom prst="rect">
            <a:avLst/>
          </a:prstGeom>
        </p:spPr>
      </p:pic>
      <p:pic>
        <p:nvPicPr>
          <p:cNvPr id="10" name="Picture 9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EA394997-029E-65F2-A4C5-F8AA26A410C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10736"/>
            <a:ext cx="192024" cy="2023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FE23304-5345-1EDA-115D-84317B6E5D67}"/>
              </a:ext>
            </a:extLst>
          </p:cNvPr>
          <p:cNvSpPr txBox="1"/>
          <p:nvPr userDrawn="1"/>
        </p:nvSpPr>
        <p:spPr>
          <a:xfrm>
            <a:off x="8317890" y="6208575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/>
                </a:solidFill>
              </a:rPr>
              <a:t>Copyright © 2022 Accenture. All rights reserved.</a:t>
            </a:r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A9937F-4EA5-9B8D-55F7-58793CF784A2}"/>
              </a:ext>
            </a:extLst>
          </p:cNvPr>
          <p:cNvSpPr txBox="1"/>
          <p:nvPr userDrawn="1"/>
        </p:nvSpPr>
        <p:spPr>
          <a:xfrm>
            <a:off x="11430000" y="6207289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86D91864-15A9-8B36-C349-D42D2ECAA2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203497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solidFill>
                  <a:schemeClr val="tx1"/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098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  <p15:guide id="3" orient="horz" pos="6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Section Divider with Image - Gradi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81EEA6CD-FE2B-3518-7363-CCD1F2D9BC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pic>
        <p:nvPicPr>
          <p:cNvPr id="10" name="Picture 9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EA394997-029E-65F2-A4C5-F8AA26A410C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10736"/>
            <a:ext cx="192024" cy="2023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FE23304-5345-1EDA-115D-84317B6E5D67}"/>
              </a:ext>
            </a:extLst>
          </p:cNvPr>
          <p:cNvSpPr txBox="1"/>
          <p:nvPr userDrawn="1"/>
        </p:nvSpPr>
        <p:spPr>
          <a:xfrm>
            <a:off x="8317890" y="6208575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/>
                </a:solidFill>
              </a:rPr>
              <a:t>Copyright © 2022 Accenture. All rights reserved.</a:t>
            </a:r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A9937F-4EA5-9B8D-55F7-58793CF784A2}"/>
              </a:ext>
            </a:extLst>
          </p:cNvPr>
          <p:cNvSpPr txBox="1"/>
          <p:nvPr userDrawn="1"/>
        </p:nvSpPr>
        <p:spPr>
          <a:xfrm>
            <a:off x="11430000" y="6207289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86D91864-15A9-8B36-C349-D42D2ECAA2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203497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solidFill>
                  <a:schemeClr val="tx1"/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355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  <p15:guide id="3" orient="horz" pos="6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Section Divider with Image - Gradi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1FEDEF5E-B65C-2B39-3CDB-C6C5E33B88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79482"/>
            <a:ext cx="192024" cy="2023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47D570-694E-0244-1B53-4703C3406F1E}"/>
              </a:ext>
            </a:extLst>
          </p:cNvPr>
          <p:cNvSpPr txBox="1"/>
          <p:nvPr userDrawn="1"/>
        </p:nvSpPr>
        <p:spPr>
          <a:xfrm>
            <a:off x="8317890" y="6477321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/>
                </a:solidFill>
              </a:rPr>
              <a:t>Copyright © 2022 Accenture. All rights reserved.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A52F56-61B4-78B0-9630-E2673BFB81EB}"/>
              </a:ext>
            </a:extLst>
          </p:cNvPr>
          <p:cNvSpPr txBox="1"/>
          <p:nvPr userDrawn="1"/>
        </p:nvSpPr>
        <p:spPr>
          <a:xfrm>
            <a:off x="11430000" y="6476035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7DDBC2DF-6E62-B90B-3875-CA1D1BA669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472243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solidFill>
                  <a:schemeClr val="bg1"/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3412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  <p15:guide id="3" orient="horz" pos="6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Background pattern&#10;&#10;Description automatically generated">
            <a:extLst>
              <a:ext uri="{FF2B5EF4-FFF2-40B4-BE49-F238E27FC236}">
                <a16:creationId xmlns:a16="http://schemas.microsoft.com/office/drawing/2014/main" id="{E1337FA5-A70C-9EE8-26C7-E9AADAA33D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08" y="130129"/>
            <a:ext cx="11920383" cy="6597741"/>
          </a:xfrm>
          <a:prstGeom prst="rect">
            <a:avLst/>
          </a:prstGeom>
        </p:spPr>
      </p:pic>
      <p:pic>
        <p:nvPicPr>
          <p:cNvPr id="25" name="Picture 24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540970C0-70D4-E2CC-0F29-AC1BFC4EC5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10736"/>
            <a:ext cx="192024" cy="20232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8685F17-2D51-6747-A26D-2D218FF8DD93}"/>
              </a:ext>
            </a:extLst>
          </p:cNvPr>
          <p:cNvSpPr txBox="1"/>
          <p:nvPr userDrawn="1"/>
        </p:nvSpPr>
        <p:spPr>
          <a:xfrm>
            <a:off x="8317890" y="6208575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/>
                </a:solidFill>
              </a:rPr>
              <a:t>Copyright © 2022 Accenture. All rights reserved.</a:t>
            </a:r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0A5AFE-18D4-247D-A86B-3C05EE1FD680}"/>
              </a:ext>
            </a:extLst>
          </p:cNvPr>
          <p:cNvSpPr txBox="1"/>
          <p:nvPr userDrawn="1"/>
        </p:nvSpPr>
        <p:spPr>
          <a:xfrm>
            <a:off x="11430000" y="6207289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28" name="Slide Number Placeholder 6">
            <a:extLst>
              <a:ext uri="{FF2B5EF4-FFF2-40B4-BE49-F238E27FC236}">
                <a16:creationId xmlns:a16="http://schemas.microsoft.com/office/drawing/2014/main" id="{8B637B5E-A052-73DA-AC74-FCF7E65323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203497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solidFill>
                  <a:schemeClr val="tx1"/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381AE8-13A8-F06B-24ED-D14AD53C3643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143000" y="2321473"/>
            <a:ext cx="1620000" cy="1620000"/>
          </a:xfrm>
          <a:prstGeom prst="flowChartConnector">
            <a:avLst/>
          </a:prstGeom>
          <a:solidFill>
            <a:schemeClr val="tx1"/>
          </a:solidFill>
          <a:effectLst/>
        </p:spPr>
        <p:txBody>
          <a:bodyPr/>
          <a:lstStyle/>
          <a:p>
            <a:endParaRPr lang="en-I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8EF06B3-1844-84A8-E661-FFA40975D9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42999" y="4172498"/>
            <a:ext cx="1994067" cy="490537"/>
          </a:xfrm>
        </p:spPr>
        <p:txBody>
          <a:bodyPr/>
          <a:lstStyle>
            <a:lvl1pPr>
              <a:defRPr sz="1600" b="1">
                <a:solidFill>
                  <a:schemeClr val="tx1"/>
                </a:solidFill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07D271E0-0BA0-0A2F-910F-1206DDD058E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43000" y="4894810"/>
            <a:ext cx="1800000" cy="711200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D463BDEB-F525-C5BB-5BA2-F4E661D66AAD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3847933" y="2321473"/>
            <a:ext cx="1620000" cy="1620000"/>
          </a:xfrm>
          <a:prstGeom prst="flowChartConnector">
            <a:avLst/>
          </a:prstGeom>
          <a:solidFill>
            <a:schemeClr val="tx1"/>
          </a:solidFill>
          <a:effectLst/>
        </p:spPr>
        <p:txBody>
          <a:bodyPr/>
          <a:lstStyle/>
          <a:p>
            <a:endParaRPr lang="en-IN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93906B97-A8D1-ADD7-E91D-BC19A4D04F7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47932" y="4172498"/>
            <a:ext cx="1994067" cy="490537"/>
          </a:xfrm>
        </p:spPr>
        <p:txBody>
          <a:bodyPr/>
          <a:lstStyle>
            <a:lvl1pPr>
              <a:defRPr sz="1600" b="1">
                <a:solidFill>
                  <a:schemeClr val="tx1"/>
                </a:solidFill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8923D737-C362-01DF-05E2-7DEBCD04F0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47933" y="4894810"/>
            <a:ext cx="1800000" cy="711200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95C1AAF7-B406-4998-037D-03AA2962D382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552866" y="2321473"/>
            <a:ext cx="1620000" cy="1620000"/>
          </a:xfrm>
          <a:prstGeom prst="flowChartConnector">
            <a:avLst/>
          </a:prstGeom>
          <a:solidFill>
            <a:schemeClr val="tx1"/>
          </a:solidFill>
          <a:effectLst/>
        </p:spPr>
        <p:txBody>
          <a:bodyPr/>
          <a:lstStyle/>
          <a:p>
            <a:endParaRPr lang="en-IN"/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528D6CD2-2F8C-2351-691E-BBA769EAF35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52865" y="4172498"/>
            <a:ext cx="1994067" cy="490537"/>
          </a:xfrm>
        </p:spPr>
        <p:txBody>
          <a:bodyPr/>
          <a:lstStyle>
            <a:lvl1pPr>
              <a:defRPr sz="1600" b="1">
                <a:solidFill>
                  <a:schemeClr val="tx1"/>
                </a:solidFill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8A8762DD-0FEA-B4A3-3374-C4785A9D494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52866" y="4894810"/>
            <a:ext cx="1800000" cy="711200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7" name="Picture Placeholder 3">
            <a:extLst>
              <a:ext uri="{FF2B5EF4-FFF2-40B4-BE49-F238E27FC236}">
                <a16:creationId xmlns:a16="http://schemas.microsoft.com/office/drawing/2014/main" id="{AE1DE6DE-E888-B10E-D254-D373731EBBE7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9257800" y="2321473"/>
            <a:ext cx="1620000" cy="1620000"/>
          </a:xfrm>
          <a:prstGeom prst="flowChartConnector">
            <a:avLst/>
          </a:prstGeom>
          <a:solidFill>
            <a:schemeClr val="tx1"/>
          </a:solidFill>
          <a:effectLst/>
        </p:spPr>
        <p:txBody>
          <a:bodyPr/>
          <a:lstStyle/>
          <a:p>
            <a:endParaRPr lang="en-IN"/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89180913-74D9-8A36-616A-4AAB1AC6400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257799" y="4172498"/>
            <a:ext cx="1994067" cy="490537"/>
          </a:xfrm>
        </p:spPr>
        <p:txBody>
          <a:bodyPr/>
          <a:lstStyle>
            <a:lvl1pPr>
              <a:defRPr sz="1600" b="1">
                <a:solidFill>
                  <a:schemeClr val="tx1"/>
                </a:solidFill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9" name="Text Placeholder 29">
            <a:extLst>
              <a:ext uri="{FF2B5EF4-FFF2-40B4-BE49-F238E27FC236}">
                <a16:creationId xmlns:a16="http://schemas.microsoft.com/office/drawing/2014/main" id="{F314B5EF-FDA2-EC49-B4E7-063614D4DD8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57800" y="4894810"/>
            <a:ext cx="1800000" cy="711200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59D22BA0-2421-D65E-1FB8-6C2F8E84B5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356740"/>
            <a:ext cx="10286998" cy="443198"/>
          </a:xfrm>
        </p:spPr>
        <p:txBody>
          <a:bodyPr wrap="square" anchor="t">
            <a:sp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32pt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068C2A61-8D65-EA48-3357-A98833890D0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3000" y="933002"/>
            <a:ext cx="10287000" cy="292100"/>
          </a:xfrm>
        </p:spPr>
        <p:txBody>
          <a:bodyPr/>
          <a:lstStyle>
            <a:lvl1pPr>
              <a:defRPr sz="2000" b="1">
                <a:solidFill>
                  <a:schemeClr val="tx1"/>
                </a:solidFill>
              </a:defRPr>
            </a:lvl1pPr>
            <a:lvl2pPr>
              <a:defRPr sz="2000" b="1">
                <a:solidFill>
                  <a:schemeClr val="accent1"/>
                </a:solidFill>
              </a:defRPr>
            </a:lvl2pPr>
            <a:lvl3pPr>
              <a:defRPr sz="2000" b="1">
                <a:solidFill>
                  <a:schemeClr val="accent1"/>
                </a:solidFill>
              </a:defRPr>
            </a:lvl3pPr>
            <a:lvl4pPr>
              <a:defRPr sz="2000" b="1">
                <a:solidFill>
                  <a:schemeClr val="accent1"/>
                </a:solidFill>
              </a:defRPr>
            </a:lvl4pPr>
            <a:lvl5pPr>
              <a:defRPr sz="20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87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7" b="62784"/>
          <a:stretch/>
        </p:blipFill>
        <p:spPr>
          <a:xfrm>
            <a:off x="1185" y="0"/>
            <a:ext cx="12189630" cy="255300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8EE863A-38DC-4F4B-8B58-9CC36870A6E3}"/>
              </a:ext>
            </a:extLst>
          </p:cNvPr>
          <p:cNvSpPr/>
          <p:nvPr userDrawn="1"/>
        </p:nvSpPr>
        <p:spPr>
          <a:xfrm>
            <a:off x="381000" y="578471"/>
            <a:ext cx="11430000" cy="573342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52400" dist="38100" dir="5400000" algn="t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20" name="Picture 19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1DD33DB6-17D3-1D21-045A-180E4602B97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79482"/>
            <a:ext cx="192024" cy="20232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EEE450D-2C41-6015-13CA-9EA3F89E2D99}"/>
              </a:ext>
            </a:extLst>
          </p:cNvPr>
          <p:cNvSpPr txBox="1"/>
          <p:nvPr userDrawn="1"/>
        </p:nvSpPr>
        <p:spPr>
          <a:xfrm>
            <a:off x="8317890" y="6477321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/>
                </a:solidFill>
              </a:rPr>
              <a:t>Copyright © 2022 Accenture. All rights reserved.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3E56D5-513D-4066-1E23-D723C12F63C6}"/>
              </a:ext>
            </a:extLst>
          </p:cNvPr>
          <p:cNvSpPr txBox="1"/>
          <p:nvPr userDrawn="1"/>
        </p:nvSpPr>
        <p:spPr>
          <a:xfrm>
            <a:off x="11430000" y="6476035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23" name="Slide Number Placeholder 6">
            <a:extLst>
              <a:ext uri="{FF2B5EF4-FFF2-40B4-BE49-F238E27FC236}">
                <a16:creationId xmlns:a16="http://schemas.microsoft.com/office/drawing/2014/main" id="{FD0C551F-56AD-EFB0-9141-BC26B724B8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472243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solidFill>
                  <a:schemeClr val="bg1"/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381AE8-13A8-F06B-24ED-D14AD53C3643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143000" y="2321473"/>
            <a:ext cx="1620000" cy="1620000"/>
          </a:xfrm>
          <a:prstGeom prst="flowChartConnector">
            <a:avLst/>
          </a:prstGeom>
          <a:solidFill>
            <a:schemeClr val="tx1"/>
          </a:solidFill>
          <a:effectLst>
            <a:outerShdw dist="76200" dir="2700000" algn="tl" rotWithShape="0">
              <a:schemeClr val="accent3"/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8EF06B3-1844-84A8-E661-FFA40975D9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43000" y="4172498"/>
            <a:ext cx="1968500" cy="490537"/>
          </a:xfrm>
        </p:spPr>
        <p:txBody>
          <a:bodyPr/>
          <a:lstStyle>
            <a:lvl1pPr>
              <a:defRPr sz="1600" b="1">
                <a:solidFill>
                  <a:schemeClr val="accent1"/>
                </a:solidFill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07D271E0-0BA0-0A2F-910F-1206DDD058E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43000" y="4894810"/>
            <a:ext cx="1800000" cy="711200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D463BDEB-F525-C5BB-5BA2-F4E661D66AAD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3847933" y="2321473"/>
            <a:ext cx="1620000" cy="1620000"/>
          </a:xfrm>
          <a:prstGeom prst="flowChartConnector">
            <a:avLst/>
          </a:prstGeom>
          <a:solidFill>
            <a:schemeClr val="tx1"/>
          </a:solidFill>
          <a:effectLst>
            <a:outerShdw dist="76200" dir="2700000" algn="tl" rotWithShape="0">
              <a:schemeClr val="accent3"/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93906B97-A8D1-ADD7-E91D-BC19A4D04F7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47933" y="4172498"/>
            <a:ext cx="1968500" cy="490537"/>
          </a:xfrm>
        </p:spPr>
        <p:txBody>
          <a:bodyPr/>
          <a:lstStyle>
            <a:lvl1pPr>
              <a:defRPr sz="1600" b="1">
                <a:solidFill>
                  <a:schemeClr val="accent1"/>
                </a:solidFill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8923D737-C362-01DF-05E2-7DEBCD04F0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47933" y="4894810"/>
            <a:ext cx="1800000" cy="711200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95C1AAF7-B406-4998-037D-03AA2962D382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552866" y="2321473"/>
            <a:ext cx="1620000" cy="1620000"/>
          </a:xfrm>
          <a:prstGeom prst="flowChartConnector">
            <a:avLst/>
          </a:prstGeom>
          <a:solidFill>
            <a:schemeClr val="tx1"/>
          </a:solidFill>
          <a:effectLst>
            <a:outerShdw dist="76200" dir="2700000" algn="tl" rotWithShape="0">
              <a:schemeClr val="accent3"/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528D6CD2-2F8C-2351-691E-BBA769EAF35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52866" y="4172498"/>
            <a:ext cx="1968500" cy="490537"/>
          </a:xfrm>
        </p:spPr>
        <p:txBody>
          <a:bodyPr/>
          <a:lstStyle>
            <a:lvl1pPr>
              <a:defRPr sz="1600" b="1">
                <a:solidFill>
                  <a:schemeClr val="accent1"/>
                </a:solidFill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8A8762DD-0FEA-B4A3-3374-C4785A9D494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52866" y="4894810"/>
            <a:ext cx="1800000" cy="711200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7" name="Picture Placeholder 3">
            <a:extLst>
              <a:ext uri="{FF2B5EF4-FFF2-40B4-BE49-F238E27FC236}">
                <a16:creationId xmlns:a16="http://schemas.microsoft.com/office/drawing/2014/main" id="{AE1DE6DE-E888-B10E-D254-D373731EBBE7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9257800" y="2321473"/>
            <a:ext cx="1620000" cy="1620000"/>
          </a:xfrm>
          <a:prstGeom prst="flowChartConnector">
            <a:avLst/>
          </a:prstGeom>
          <a:solidFill>
            <a:schemeClr val="tx1"/>
          </a:solidFill>
          <a:effectLst>
            <a:outerShdw dist="76200" dir="2700000" algn="tl" rotWithShape="0">
              <a:schemeClr val="accent3"/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89180913-74D9-8A36-616A-4AAB1AC6400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257800" y="4172498"/>
            <a:ext cx="1968500" cy="490537"/>
          </a:xfrm>
        </p:spPr>
        <p:txBody>
          <a:bodyPr/>
          <a:lstStyle>
            <a:lvl1pPr>
              <a:defRPr sz="1600" b="1">
                <a:solidFill>
                  <a:schemeClr val="accent1"/>
                </a:solidFill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9" name="Text Placeholder 29">
            <a:extLst>
              <a:ext uri="{FF2B5EF4-FFF2-40B4-BE49-F238E27FC236}">
                <a16:creationId xmlns:a16="http://schemas.microsoft.com/office/drawing/2014/main" id="{F314B5EF-FDA2-EC49-B4E7-063614D4DD8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57800" y="4894810"/>
            <a:ext cx="1800000" cy="711200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59D22BA0-2421-D65E-1FB8-6C2F8E84B5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356740"/>
            <a:ext cx="10286998" cy="443198"/>
          </a:xfrm>
        </p:spPr>
        <p:txBody>
          <a:bodyPr wrap="square" anchor="t">
            <a:sp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 32pt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068C2A61-8D65-EA48-3357-A98833890D0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3000" y="933002"/>
            <a:ext cx="10287000" cy="292100"/>
          </a:xfrm>
        </p:spPr>
        <p:txBody>
          <a:bodyPr/>
          <a:lstStyle>
            <a:lvl1pPr>
              <a:defRPr sz="2000" b="1">
                <a:solidFill>
                  <a:schemeClr val="accent1"/>
                </a:solidFill>
              </a:defRPr>
            </a:lvl1pPr>
            <a:lvl2pPr>
              <a:defRPr sz="2000" b="1">
                <a:solidFill>
                  <a:schemeClr val="accent1"/>
                </a:solidFill>
              </a:defRPr>
            </a:lvl2pPr>
            <a:lvl3pPr>
              <a:defRPr sz="2000" b="1">
                <a:solidFill>
                  <a:schemeClr val="accent1"/>
                </a:solidFill>
              </a:defRPr>
            </a:lvl3pPr>
            <a:lvl4pPr>
              <a:defRPr sz="2000" b="1">
                <a:solidFill>
                  <a:schemeClr val="accent1"/>
                </a:solidFill>
              </a:defRPr>
            </a:lvl4pPr>
            <a:lvl5pPr>
              <a:defRPr sz="20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69034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Divider with Image - Gradi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7AF0885-2F0A-4AA6-A875-A37E3A1C3DC0}"/>
              </a:ext>
            </a:extLst>
          </p:cNvPr>
          <p:cNvSpPr>
            <a:spLocks/>
          </p:cNvSpPr>
          <p:nvPr userDrawn="1"/>
        </p:nvSpPr>
        <p:spPr>
          <a:xfrm>
            <a:off x="135809" y="130130"/>
            <a:ext cx="11920383" cy="65977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491169"/>
            <a:ext cx="11430000" cy="443198"/>
          </a:xfrm>
        </p:spPr>
        <p:txBody>
          <a:bodyPr wrap="square" anchor="t">
            <a:sp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637B6D-6853-48B0-A904-9D5297D9E3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0" y="1640116"/>
            <a:ext cx="11430000" cy="4172994"/>
          </a:xfrm>
        </p:spPr>
        <p:txBody>
          <a:bodyPr/>
          <a:lstStyle>
            <a:lvl1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Graphik-Light" panose="020B0403030202060203" pitchFamily="34" charset="0"/>
              </a:defRPr>
            </a:lvl1pPr>
            <a:lvl2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Graphik-Light" panose="020B0403030202060203" pitchFamily="34" charset="0"/>
              </a:defRPr>
            </a:lvl2pPr>
            <a:lvl3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Graphik-Light" panose="020B0403030202060203" pitchFamily="34" charset="0"/>
              </a:defRPr>
            </a:lvl3pPr>
            <a:lvl4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Graphik-Light" panose="020B0403030202060203" pitchFamily="34" charset="0"/>
              </a:defRPr>
            </a:lvl4pPr>
            <a:lvl5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Graphik-Light" panose="020B04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20" name="Picture 19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362AA138-A236-01B2-4E67-64D86396BB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7830"/>
            <a:ext cx="192024" cy="20232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E55FE47-B848-29AC-D68B-7EAFEFADEB09}"/>
              </a:ext>
            </a:extLst>
          </p:cNvPr>
          <p:cNvSpPr txBox="1"/>
          <p:nvPr userDrawn="1"/>
        </p:nvSpPr>
        <p:spPr>
          <a:xfrm>
            <a:off x="8317890" y="648566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/>
                </a:solidFill>
              </a:rPr>
              <a:t>Copyright © 2022 Accenture. All rights reserved.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25" name="Slide Number Placeholder 6">
            <a:extLst>
              <a:ext uri="{FF2B5EF4-FFF2-40B4-BE49-F238E27FC236}">
                <a16:creationId xmlns:a16="http://schemas.microsoft.com/office/drawing/2014/main" id="{EB162B84-EDA1-71B2-3E4E-0D08EF99C8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480591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solidFill>
                  <a:schemeClr val="bg1"/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‹#›</a:t>
            </a:fld>
            <a:endParaRPr lang="en-IN"/>
          </a:p>
        </p:txBody>
      </p:sp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FC5BC2E7-671D-3179-6C33-F1505C34EF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8952" cy="6858000"/>
          </a:xfrm>
          <a:custGeom>
            <a:avLst/>
            <a:gdLst>
              <a:gd name="connsiteX0" fmla="*/ 134676 w 12188952"/>
              <a:gd name="connsiteY0" fmla="*/ 129600 h 6858000"/>
              <a:gd name="connsiteX1" fmla="*/ 134676 w 12188952"/>
              <a:gd name="connsiteY1" fmla="*/ 6728400 h 6858000"/>
              <a:gd name="connsiteX2" fmla="*/ 12054276 w 12188952"/>
              <a:gd name="connsiteY2" fmla="*/ 6728400 h 6858000"/>
              <a:gd name="connsiteX3" fmla="*/ 12054276 w 12188952"/>
              <a:gd name="connsiteY3" fmla="*/ 129600 h 6858000"/>
              <a:gd name="connsiteX4" fmla="*/ 0 w 12188952"/>
              <a:gd name="connsiteY4" fmla="*/ 0 h 6858000"/>
              <a:gd name="connsiteX5" fmla="*/ 12188952 w 12188952"/>
              <a:gd name="connsiteY5" fmla="*/ 0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134676" y="129600"/>
                </a:moveTo>
                <a:lnTo>
                  <a:pt x="134676" y="6728400"/>
                </a:lnTo>
                <a:lnTo>
                  <a:pt x="12054276" y="6728400"/>
                </a:lnTo>
                <a:lnTo>
                  <a:pt x="12054276" y="129600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951335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Divider with Image - Gradi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Background pattern&#10;&#10;Description automatically generated">
            <a:extLst>
              <a:ext uri="{FF2B5EF4-FFF2-40B4-BE49-F238E27FC236}">
                <a16:creationId xmlns:a16="http://schemas.microsoft.com/office/drawing/2014/main" id="{CFBD7941-757D-854B-5D47-68C5EC6014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063" b="39063"/>
          <a:stretch/>
        </p:blipFill>
        <p:spPr>
          <a:xfrm>
            <a:off x="135808" y="130129"/>
            <a:ext cx="11920384" cy="6597741"/>
          </a:xfrm>
          <a:prstGeom prst="rect">
            <a:avLst/>
          </a:prstGeom>
        </p:spPr>
      </p:pic>
      <p:pic>
        <p:nvPicPr>
          <p:cNvPr id="4" name="Picture 3" descr="Background pattern&#10;&#10;Description automatically generated" hidden="1">
            <a:extLst>
              <a:ext uri="{FF2B5EF4-FFF2-40B4-BE49-F238E27FC236}">
                <a16:creationId xmlns:a16="http://schemas.microsoft.com/office/drawing/2014/main" id="{73CACFE1-4B7E-E853-BFF8-C72A658865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08" y="130129"/>
            <a:ext cx="11920384" cy="6597741"/>
          </a:xfrm>
          <a:prstGeom prst="rect">
            <a:avLst/>
          </a:prstGeom>
        </p:spPr>
      </p:pic>
      <p:pic>
        <p:nvPicPr>
          <p:cNvPr id="9" name="Picture 8" descr="Background pattern&#10;&#10;Description automatically generated" hidden="1">
            <a:extLst>
              <a:ext uri="{FF2B5EF4-FFF2-40B4-BE49-F238E27FC236}">
                <a16:creationId xmlns:a16="http://schemas.microsoft.com/office/drawing/2014/main" id="{970F20F0-E09F-1E58-30DC-4AA2145D164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08" y="130129"/>
            <a:ext cx="11920383" cy="65977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489600"/>
            <a:ext cx="11430000" cy="443198"/>
          </a:xfrm>
        </p:spPr>
        <p:txBody>
          <a:bodyPr wrap="square" anchor="t">
            <a:sp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637B6D-6853-48B0-A904-9D5297D9E3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0" y="1640116"/>
            <a:ext cx="11430000" cy="4172994"/>
          </a:xfrm>
        </p:spPr>
        <p:txBody>
          <a:bodyPr/>
          <a:lstStyle>
            <a:lvl1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tx1"/>
                </a:solidFill>
                <a:latin typeface="+mj-lt"/>
              </a:defRPr>
            </a:lvl1pPr>
            <a:lvl2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tx1"/>
                </a:solidFill>
                <a:latin typeface="+mj-lt"/>
              </a:defRPr>
            </a:lvl2pPr>
            <a:lvl3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tx1"/>
                </a:solidFill>
                <a:latin typeface="+mj-lt"/>
              </a:defRPr>
            </a:lvl3pPr>
            <a:lvl4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tx1"/>
                </a:solidFill>
                <a:latin typeface="+mj-lt"/>
              </a:defRPr>
            </a:lvl4pPr>
            <a:lvl5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17" name="Picture 16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64E9254B-10DC-3AD1-3C58-C99FF6BCC90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10736"/>
            <a:ext cx="192024" cy="20232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A16F227-2C46-3C4B-D93F-9C0FF9A8C94A}"/>
              </a:ext>
            </a:extLst>
          </p:cNvPr>
          <p:cNvSpPr txBox="1"/>
          <p:nvPr userDrawn="1"/>
        </p:nvSpPr>
        <p:spPr>
          <a:xfrm>
            <a:off x="8317890" y="6208575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/>
                </a:solidFill>
              </a:rPr>
              <a:t>Copyright © 2022 Accenture. All rights reserved.</a:t>
            </a:r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614923-AC2D-B8B1-F69B-9B16B1793A4A}"/>
              </a:ext>
            </a:extLst>
          </p:cNvPr>
          <p:cNvSpPr txBox="1"/>
          <p:nvPr userDrawn="1"/>
        </p:nvSpPr>
        <p:spPr>
          <a:xfrm>
            <a:off x="11430000" y="6207289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20" name="Slide Number Placeholder 6">
            <a:extLst>
              <a:ext uri="{FF2B5EF4-FFF2-40B4-BE49-F238E27FC236}">
                <a16:creationId xmlns:a16="http://schemas.microsoft.com/office/drawing/2014/main" id="{39A36242-074A-F5DE-9C6A-3A6D211F08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203497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solidFill>
                  <a:schemeClr val="tx1"/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903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59F547C-24AC-4360-A79B-5A655D445C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8857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Greetings + Greater Than 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09502030-B187-FE51-4FE0-32C86C0F52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4740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Greetings + Greater Than 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09502030-B187-FE51-4FE0-32C86C0F52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4740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_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93166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CDE1A5-7B8C-446C-B047-DEF343C830D4}" type="datetime2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Wednesday, September 28, 2022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5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6" name="Picture 5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E306151F-579E-4A3E-8949-882557B1D7B1}"/>
              </a:ext>
            </a:extLst>
          </p:cNvPr>
          <p:cNvPicPr>
            <a:picLocks noChangeAspect="1"/>
          </p:cNvPicPr>
          <p:nvPr userDrawn="1"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06473"/>
            <a:ext cx="192024" cy="2023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18E1FC7-2070-C6D2-9539-8A395D566A2E}"/>
              </a:ext>
            </a:extLst>
          </p:cNvPr>
          <p:cNvSpPr txBox="1"/>
          <p:nvPr userDrawn="1"/>
        </p:nvSpPr>
        <p:spPr>
          <a:xfrm>
            <a:off x="8317890" y="6204312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2022 Accenture. All rights reserved.</a:t>
            </a:r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F91400-851B-BCD8-B484-8AD24764356F}"/>
              </a:ext>
            </a:extLst>
          </p:cNvPr>
          <p:cNvSpPr txBox="1"/>
          <p:nvPr userDrawn="1"/>
        </p:nvSpPr>
        <p:spPr>
          <a:xfrm>
            <a:off x="11430000" y="6203026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F61F0E23-B742-F8E2-EAD8-F20E434290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199234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noFill/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algn="r"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333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90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91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92" r:id="rId28"/>
    <p:sldLayoutId id="2147483686" r:id="rId29"/>
    <p:sldLayoutId id="2147483687" r:id="rId30"/>
  </p:sldLayoutIdLst>
  <p:hf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5ACBF0"/>
          </p15:clr>
        </p15:guide>
        <p15:guide id="2" orient="horz" pos="3976">
          <p15:clr>
            <a:srgbClr val="5ACBF0"/>
          </p15:clr>
        </p15:guide>
        <p15:guide id="3" pos="240">
          <p15:clr>
            <a:srgbClr val="5ACBF0"/>
          </p15:clr>
        </p15:guide>
        <p15:guide id="4" pos="7440">
          <p15:clr>
            <a:srgbClr val="5ACBF0"/>
          </p15:clr>
        </p15:guide>
        <p15:guide id="5" orient="horz" pos="4148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svg"/><Relationship Id="rId3" Type="http://schemas.openxmlformats.org/officeDocument/2006/relationships/image" Target="../media/image19.jpg"/><Relationship Id="rId7" Type="http://schemas.openxmlformats.org/officeDocument/2006/relationships/image" Target="../media/image22.svg"/><Relationship Id="rId12" Type="http://schemas.openxmlformats.org/officeDocument/2006/relationships/image" Target="../media/image27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1.png"/><Relationship Id="rId11" Type="http://schemas.openxmlformats.org/officeDocument/2006/relationships/image" Target="../media/image26.svg"/><Relationship Id="rId5" Type="http://schemas.microsoft.com/office/2007/relationships/hdphoto" Target="../media/hdphoto2.wdp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7.png"/><Relationship Id="rId3" Type="http://schemas.openxmlformats.org/officeDocument/2006/relationships/slideLayout" Target="../slideLayouts/slideLayout25.xml"/><Relationship Id="rId7" Type="http://schemas.openxmlformats.org/officeDocument/2006/relationships/image" Target="../media/image32.png"/><Relationship Id="rId12" Type="http://schemas.openxmlformats.org/officeDocument/2006/relationships/image" Target="../media/image36.png"/><Relationship Id="rId17" Type="http://schemas.openxmlformats.org/officeDocument/2006/relationships/image" Target="../media/image41.svg"/><Relationship Id="rId2" Type="http://schemas.openxmlformats.org/officeDocument/2006/relationships/tags" Target="../tags/tag2.xml"/><Relationship Id="rId16" Type="http://schemas.openxmlformats.org/officeDocument/2006/relationships/image" Target="../media/image40.png"/><Relationship Id="rId1" Type="http://schemas.openxmlformats.org/officeDocument/2006/relationships/tags" Target="../tags/tag1.xml"/><Relationship Id="rId6" Type="http://schemas.openxmlformats.org/officeDocument/2006/relationships/image" Target="../media/image31.png"/><Relationship Id="rId11" Type="http://schemas.microsoft.com/office/2007/relationships/hdphoto" Target="../media/hdphoto3.wdp"/><Relationship Id="rId5" Type="http://schemas.openxmlformats.org/officeDocument/2006/relationships/image" Target="../media/image30.png"/><Relationship Id="rId15" Type="http://schemas.openxmlformats.org/officeDocument/2006/relationships/image" Target="../media/image39.sv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8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13" Type="http://schemas.openxmlformats.org/officeDocument/2006/relationships/image" Target="../media/image50.png"/><Relationship Id="rId3" Type="http://schemas.openxmlformats.org/officeDocument/2006/relationships/image" Target="../media/image43.png"/><Relationship Id="rId7" Type="http://schemas.openxmlformats.org/officeDocument/2006/relationships/image" Target="../media/image45.png"/><Relationship Id="rId12" Type="http://schemas.openxmlformats.org/officeDocument/2006/relationships/image" Target="../media/image49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5.xml"/><Relationship Id="rId6" Type="http://schemas.microsoft.com/office/2007/relationships/hdphoto" Target="../media/hdphoto5.wdp"/><Relationship Id="rId11" Type="http://schemas.openxmlformats.org/officeDocument/2006/relationships/image" Target="../media/image48.png"/><Relationship Id="rId5" Type="http://schemas.openxmlformats.org/officeDocument/2006/relationships/image" Target="../media/image44.png"/><Relationship Id="rId15" Type="http://schemas.openxmlformats.org/officeDocument/2006/relationships/chart" Target="../charts/chart2.xml"/><Relationship Id="rId10" Type="http://schemas.openxmlformats.org/officeDocument/2006/relationships/image" Target="../media/image47.svg"/><Relationship Id="rId4" Type="http://schemas.microsoft.com/office/2007/relationships/hdphoto" Target="../media/hdphoto4.wdp"/><Relationship Id="rId9" Type="http://schemas.openxmlformats.org/officeDocument/2006/relationships/image" Target="../media/image46.png"/><Relationship Id="rId14" Type="http://schemas.openxmlformats.org/officeDocument/2006/relationships/image" Target="../media/image5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3" Type="http://schemas.openxmlformats.org/officeDocument/2006/relationships/image" Target="../media/image53.png"/><Relationship Id="rId21" Type="http://schemas.openxmlformats.org/officeDocument/2006/relationships/image" Target="../media/image71.sv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17" Type="http://schemas.openxmlformats.org/officeDocument/2006/relationships/image" Target="../media/image67.jpeg"/><Relationship Id="rId2" Type="http://schemas.openxmlformats.org/officeDocument/2006/relationships/image" Target="../media/image52.png"/><Relationship Id="rId16" Type="http://schemas.openxmlformats.org/officeDocument/2006/relationships/image" Target="../media/image66.png"/><Relationship Id="rId20" Type="http://schemas.openxmlformats.org/officeDocument/2006/relationships/image" Target="../media/image70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5" Type="http://schemas.openxmlformats.org/officeDocument/2006/relationships/image" Target="../media/image65.png"/><Relationship Id="rId10" Type="http://schemas.openxmlformats.org/officeDocument/2006/relationships/image" Target="../media/image60.png"/><Relationship Id="rId19" Type="http://schemas.openxmlformats.org/officeDocument/2006/relationships/image" Target="../media/image69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jpeg"/><Relationship Id="rId3" Type="http://schemas.openxmlformats.org/officeDocument/2006/relationships/image" Target="../media/image72.jpeg"/><Relationship Id="rId7" Type="http://schemas.openxmlformats.org/officeDocument/2006/relationships/image" Target="../media/image76.jpeg"/><Relationship Id="rId12" Type="http://schemas.openxmlformats.org/officeDocument/2006/relationships/image" Target="../media/image8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sv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7" Type="http://schemas.openxmlformats.org/officeDocument/2006/relationships/image" Target="../media/image8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Relationship Id="rId6" Type="http://schemas.microsoft.com/office/2014/relationships/chartEx" Target="../charts/chartEx1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8.png"/><Relationship Id="rId18" Type="http://schemas.openxmlformats.org/officeDocument/2006/relationships/image" Target="../media/image63.png"/><Relationship Id="rId3" Type="http://schemas.openxmlformats.org/officeDocument/2006/relationships/image" Target="../media/image53.png"/><Relationship Id="rId21" Type="http://schemas.openxmlformats.org/officeDocument/2006/relationships/image" Target="../media/image66.png"/><Relationship Id="rId7" Type="http://schemas.openxmlformats.org/officeDocument/2006/relationships/image" Target="../media/image57.png"/><Relationship Id="rId12" Type="http://schemas.openxmlformats.org/officeDocument/2006/relationships/image" Target="../media/image67.jpeg"/><Relationship Id="rId17" Type="http://schemas.openxmlformats.org/officeDocument/2006/relationships/image" Target="../media/image62.png"/><Relationship Id="rId2" Type="http://schemas.openxmlformats.org/officeDocument/2006/relationships/image" Target="../media/image52.png"/><Relationship Id="rId16" Type="http://schemas.openxmlformats.org/officeDocument/2006/relationships/image" Target="../media/image71.svg"/><Relationship Id="rId20" Type="http://schemas.openxmlformats.org/officeDocument/2006/relationships/image" Target="../media/image65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5" Type="http://schemas.openxmlformats.org/officeDocument/2006/relationships/image" Target="../media/image70.png"/><Relationship Id="rId10" Type="http://schemas.openxmlformats.org/officeDocument/2006/relationships/image" Target="../media/image60.png"/><Relationship Id="rId19" Type="http://schemas.openxmlformats.org/officeDocument/2006/relationships/image" Target="../media/image64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49.svg"/><Relationship Id="rId3" Type="http://schemas.openxmlformats.org/officeDocument/2006/relationships/image" Target="../media/image42.png"/><Relationship Id="rId7" Type="http://schemas.microsoft.com/office/2007/relationships/hdphoto" Target="../media/hdphoto5.wdp"/><Relationship Id="rId12" Type="http://schemas.openxmlformats.org/officeDocument/2006/relationships/image" Target="../media/image48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44.png"/><Relationship Id="rId11" Type="http://schemas.openxmlformats.org/officeDocument/2006/relationships/image" Target="../media/image47.svg"/><Relationship Id="rId5" Type="http://schemas.microsoft.com/office/2007/relationships/hdphoto" Target="../media/hdphoto4.wdp"/><Relationship Id="rId15" Type="http://schemas.openxmlformats.org/officeDocument/2006/relationships/image" Target="../media/image51.svg"/><Relationship Id="rId10" Type="http://schemas.openxmlformats.org/officeDocument/2006/relationships/image" Target="../media/image46.png"/><Relationship Id="rId4" Type="http://schemas.openxmlformats.org/officeDocument/2006/relationships/image" Target="../media/image43.png"/><Relationship Id="rId9" Type="http://schemas.microsoft.com/office/2007/relationships/hdphoto" Target="../media/hdphoto6.wdp"/><Relationship Id="rId14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87.png"/><Relationship Id="rId7" Type="http://schemas.openxmlformats.org/officeDocument/2006/relationships/image" Target="../media/image65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64.png"/><Relationship Id="rId11" Type="http://schemas.openxmlformats.org/officeDocument/2006/relationships/image" Target="../media/image54.png"/><Relationship Id="rId5" Type="http://schemas.openxmlformats.org/officeDocument/2006/relationships/image" Target="../media/image63.png"/><Relationship Id="rId10" Type="http://schemas.openxmlformats.org/officeDocument/2006/relationships/image" Target="../media/image53.png"/><Relationship Id="rId4" Type="http://schemas.openxmlformats.org/officeDocument/2006/relationships/image" Target="../media/image62.png"/><Relationship Id="rId9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chart" Target="../charts/chart5.xml"/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76.jpeg"/><Relationship Id="rId5" Type="http://schemas.openxmlformats.org/officeDocument/2006/relationships/image" Target="../media/image75.png"/><Relationship Id="rId4" Type="http://schemas.openxmlformats.org/officeDocument/2006/relationships/image" Target="../media/image74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3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12" Type="http://schemas.openxmlformats.org/officeDocument/2006/relationships/image" Target="../media/image95.png"/><Relationship Id="rId2" Type="http://schemas.openxmlformats.org/officeDocument/2006/relationships/image" Target="../media/image77.jpeg"/><Relationship Id="rId16" Type="http://schemas.openxmlformats.org/officeDocument/2006/relationships/image" Target="../media/image19.jp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91.png"/><Relationship Id="rId11" Type="http://schemas.openxmlformats.org/officeDocument/2006/relationships/image" Target="../media/image94.png"/><Relationship Id="rId5" Type="http://schemas.openxmlformats.org/officeDocument/2006/relationships/image" Target="../media/image90.png"/><Relationship Id="rId15" Type="http://schemas.openxmlformats.org/officeDocument/2006/relationships/image" Target="../media/image96.png"/><Relationship Id="rId10" Type="http://schemas.openxmlformats.org/officeDocument/2006/relationships/image" Target="../media/image93.png"/><Relationship Id="rId4" Type="http://schemas.openxmlformats.org/officeDocument/2006/relationships/image" Target="../media/image89.png"/><Relationship Id="rId9" Type="http://schemas.openxmlformats.org/officeDocument/2006/relationships/image" Target="../media/image82.png"/><Relationship Id="rId14" Type="http://schemas.openxmlformats.org/officeDocument/2006/relationships/image" Target="../media/image8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5.xml"/><Relationship Id="rId6" Type="http://schemas.openxmlformats.org/officeDocument/2006/relationships/chart" Target="../charts/chart7.xml"/><Relationship Id="rId5" Type="http://schemas.openxmlformats.org/officeDocument/2006/relationships/chart" Target="../charts/chart6.xml"/><Relationship Id="rId4" Type="http://schemas.openxmlformats.org/officeDocument/2006/relationships/image" Target="../media/image8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microsoft.com/office/2014/relationships/chartEx" Target="../charts/chartEx2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98.png"/><Relationship Id="rId4" Type="http://schemas.microsoft.com/office/2014/relationships/chartEx" Target="../charts/chartEx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microsoft.com/office/2014/relationships/chartEx" Target="../charts/chartEx4.xml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chart" Target="../charts/chart8.xml"/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75.png"/><Relationship Id="rId5" Type="http://schemas.openxmlformats.org/officeDocument/2006/relationships/image" Target="../media/image76.jpeg"/><Relationship Id="rId4" Type="http://schemas.openxmlformats.org/officeDocument/2006/relationships/image" Target="../media/image7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chart" Target="../charts/chart10.xml"/><Relationship Id="rId3" Type="http://schemas.openxmlformats.org/officeDocument/2006/relationships/slideLayout" Target="../slideLayouts/slideLayout19.xml"/><Relationship Id="rId7" Type="http://schemas.microsoft.com/office/2007/relationships/hdphoto" Target="../media/hdphoto3.wdp"/><Relationship Id="rId12" Type="http://schemas.openxmlformats.org/officeDocument/2006/relationships/image" Target="../media/image101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35.png"/><Relationship Id="rId11" Type="http://schemas.openxmlformats.org/officeDocument/2006/relationships/image" Target="../media/image100.png"/><Relationship Id="rId5" Type="http://schemas.openxmlformats.org/officeDocument/2006/relationships/image" Target="../media/image34.png"/><Relationship Id="rId10" Type="http://schemas.openxmlformats.org/officeDocument/2006/relationships/image" Target="../media/image99.png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37.png"/><Relationship Id="rId14" Type="http://schemas.openxmlformats.org/officeDocument/2006/relationships/chart" Target="../charts/chart1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chart" Target="../charts/chart12.xml"/><Relationship Id="rId7" Type="http://schemas.microsoft.com/office/2007/relationships/hdphoto" Target="../media/hdphoto5.wd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4.png"/><Relationship Id="rId5" Type="http://schemas.microsoft.com/office/2007/relationships/hdphoto" Target="../media/hdphoto4.wdp"/><Relationship Id="rId4" Type="http://schemas.openxmlformats.org/officeDocument/2006/relationships/image" Target="../media/image43.png"/><Relationship Id="rId9" Type="http://schemas.microsoft.com/office/2007/relationships/hdphoto" Target="../media/hdphoto6.wdp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13" Type="http://schemas.openxmlformats.org/officeDocument/2006/relationships/image" Target="../media/image50.png"/><Relationship Id="rId3" Type="http://schemas.openxmlformats.org/officeDocument/2006/relationships/image" Target="../media/image43.png"/><Relationship Id="rId7" Type="http://schemas.openxmlformats.org/officeDocument/2006/relationships/image" Target="../media/image45.png"/><Relationship Id="rId12" Type="http://schemas.openxmlformats.org/officeDocument/2006/relationships/image" Target="../media/image49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9.xml"/><Relationship Id="rId6" Type="http://schemas.microsoft.com/office/2007/relationships/hdphoto" Target="../media/hdphoto5.wdp"/><Relationship Id="rId11" Type="http://schemas.openxmlformats.org/officeDocument/2006/relationships/image" Target="../media/image48.png"/><Relationship Id="rId5" Type="http://schemas.openxmlformats.org/officeDocument/2006/relationships/image" Target="../media/image44.png"/><Relationship Id="rId10" Type="http://schemas.openxmlformats.org/officeDocument/2006/relationships/image" Target="../media/image47.svg"/><Relationship Id="rId4" Type="http://schemas.microsoft.com/office/2007/relationships/hdphoto" Target="../media/hdphoto4.wdp"/><Relationship Id="rId9" Type="http://schemas.openxmlformats.org/officeDocument/2006/relationships/image" Target="../media/image46.png"/><Relationship Id="rId14" Type="http://schemas.openxmlformats.org/officeDocument/2006/relationships/image" Target="../media/image51.svg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13" Type="http://schemas.openxmlformats.org/officeDocument/2006/relationships/image" Target="../media/image50.png"/><Relationship Id="rId3" Type="http://schemas.openxmlformats.org/officeDocument/2006/relationships/image" Target="../media/image43.png"/><Relationship Id="rId7" Type="http://schemas.openxmlformats.org/officeDocument/2006/relationships/image" Target="../media/image45.png"/><Relationship Id="rId12" Type="http://schemas.openxmlformats.org/officeDocument/2006/relationships/image" Target="../media/image49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9.xml"/><Relationship Id="rId6" Type="http://schemas.microsoft.com/office/2007/relationships/hdphoto" Target="../media/hdphoto5.wdp"/><Relationship Id="rId11" Type="http://schemas.openxmlformats.org/officeDocument/2006/relationships/image" Target="../media/image48.png"/><Relationship Id="rId5" Type="http://schemas.openxmlformats.org/officeDocument/2006/relationships/image" Target="../media/image44.png"/><Relationship Id="rId10" Type="http://schemas.openxmlformats.org/officeDocument/2006/relationships/image" Target="../media/image47.svg"/><Relationship Id="rId4" Type="http://schemas.microsoft.com/office/2007/relationships/hdphoto" Target="../media/hdphoto4.wdp"/><Relationship Id="rId9" Type="http://schemas.openxmlformats.org/officeDocument/2006/relationships/image" Target="../media/image46.png"/><Relationship Id="rId14" Type="http://schemas.openxmlformats.org/officeDocument/2006/relationships/image" Target="../media/image5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AB09F7-1491-4ED5-99A6-E747AE954B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0239" y="1269539"/>
            <a:ext cx="5715000" cy="763587"/>
          </a:xfrm>
        </p:spPr>
        <p:txBody>
          <a:bodyPr/>
          <a:lstStyle/>
          <a:p>
            <a:r>
              <a:rPr lang="en-IN" sz="1800" dirty="0"/>
              <a:t>E-Commerce Strategy</a:t>
            </a:r>
          </a:p>
          <a:p>
            <a:r>
              <a:rPr lang="en-IN" sz="1300" b="0" i="1" dirty="0"/>
              <a:t>- Designing Digital Strategy for a Home Textiles Brand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9E6A4AB-D8EA-4F33-A556-7078CE135B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9807" y="2316093"/>
            <a:ext cx="5715000" cy="763587"/>
          </a:xfrm>
        </p:spPr>
        <p:txBody>
          <a:bodyPr/>
          <a:lstStyle/>
          <a:p>
            <a:r>
              <a:rPr lang="en-IN" sz="1600"/>
              <a:t>Team Aspirants</a:t>
            </a:r>
          </a:p>
        </p:txBody>
      </p:sp>
      <p:pic>
        <p:nvPicPr>
          <p:cNvPr id="2050" name="Picture 2" descr="Indian Institute of Management Lucknow - Wikipedia">
            <a:extLst>
              <a:ext uri="{FF2B5EF4-FFF2-40B4-BE49-F238E27FC236}">
                <a16:creationId xmlns:a16="http://schemas.microsoft.com/office/drawing/2014/main" id="{8A23970B-BC5C-3A93-E451-E93152758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254" y="159304"/>
            <a:ext cx="565938" cy="509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person in a suit&#10;&#10;Description automatically generated with low confidence">
            <a:extLst>
              <a:ext uri="{FF2B5EF4-FFF2-40B4-BE49-F238E27FC236}">
                <a16:creationId xmlns:a16="http://schemas.microsoft.com/office/drawing/2014/main" id="{78A0C5A4-3046-B0A0-4726-D2FBC6CA16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807" y="2697886"/>
            <a:ext cx="866142" cy="960089"/>
          </a:xfrm>
          <a:prstGeom prst="ellipse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859696-B090-D32A-C204-BB205B7B4C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239" y="4131127"/>
            <a:ext cx="905710" cy="960090"/>
          </a:xfrm>
          <a:prstGeom prst="ellipse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90FB7F5-02AB-854B-2208-3F48C5B22C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7994" y="4131127"/>
            <a:ext cx="859406" cy="960090"/>
          </a:xfrm>
          <a:prstGeom prst="ellipse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B53CE4-F419-86E9-41DA-6D5CDA7A689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1708" b="12195"/>
          <a:stretch/>
        </p:blipFill>
        <p:spPr>
          <a:xfrm>
            <a:off x="1667358" y="2700810"/>
            <a:ext cx="850042" cy="960091"/>
          </a:xfrm>
          <a:prstGeom prst="ellipse">
            <a:avLst/>
          </a:prstGeom>
          <a:ln>
            <a:solidFill>
              <a:schemeClr val="accent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0D3BA0F-CD76-DDFE-040C-540BCBD1D3B1}"/>
              </a:ext>
            </a:extLst>
          </p:cNvPr>
          <p:cNvSpPr txBox="1"/>
          <p:nvPr/>
        </p:nvSpPr>
        <p:spPr>
          <a:xfrm>
            <a:off x="240239" y="3657975"/>
            <a:ext cx="1086756" cy="2285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IN" sz="1200" i="1" dirty="0" err="1"/>
              <a:t>Archit</a:t>
            </a:r>
            <a:r>
              <a:rPr lang="en-IN" sz="1200" i="1" dirty="0"/>
              <a:t> Kapoor</a:t>
            </a:r>
            <a:endParaRPr lang="en-US" sz="1200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7C5DE9-CCE6-E65E-041F-4D54ED33F2DB}"/>
              </a:ext>
            </a:extLst>
          </p:cNvPr>
          <p:cNvSpPr txBox="1"/>
          <p:nvPr/>
        </p:nvSpPr>
        <p:spPr>
          <a:xfrm>
            <a:off x="1492647" y="3657975"/>
            <a:ext cx="1264018" cy="2285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IN" sz="1200" i="1"/>
              <a:t>Deeksha Verma</a:t>
            </a:r>
            <a:endParaRPr lang="en-US" sz="1200" noProof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2C2636-D72E-7F10-EE06-81E2BDF3FF2C}"/>
              </a:ext>
            </a:extLst>
          </p:cNvPr>
          <p:cNvSpPr txBox="1"/>
          <p:nvPr/>
        </p:nvSpPr>
        <p:spPr>
          <a:xfrm>
            <a:off x="266029" y="5139420"/>
            <a:ext cx="1264018" cy="2285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IN" sz="1200" i="1" err="1"/>
              <a:t>Hensi</a:t>
            </a:r>
            <a:r>
              <a:rPr lang="en-IN" sz="1200" i="1"/>
              <a:t> </a:t>
            </a:r>
            <a:r>
              <a:rPr lang="en-IN" sz="1200" i="1" err="1"/>
              <a:t>Sheth</a:t>
            </a:r>
            <a:endParaRPr lang="en-US" sz="1200" noProof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181D79-A3D0-4D30-26CD-1B17FA4E405F}"/>
              </a:ext>
            </a:extLst>
          </p:cNvPr>
          <p:cNvSpPr txBox="1"/>
          <p:nvPr/>
        </p:nvSpPr>
        <p:spPr>
          <a:xfrm>
            <a:off x="1565814" y="5155128"/>
            <a:ext cx="1264018" cy="2285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IN" sz="1200" i="1" err="1"/>
              <a:t>Sanyam</a:t>
            </a:r>
            <a:r>
              <a:rPr lang="en-IN" sz="1200" i="1"/>
              <a:t> Gupta</a:t>
            </a:r>
            <a:endParaRPr lang="en-US" sz="1200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7654E4-7D95-ACEE-BB66-C3E6003168A2}"/>
              </a:ext>
            </a:extLst>
          </p:cNvPr>
          <p:cNvSpPr txBox="1"/>
          <p:nvPr/>
        </p:nvSpPr>
        <p:spPr>
          <a:xfrm>
            <a:off x="65528" y="3863218"/>
            <a:ext cx="1427119" cy="2541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IN" sz="1200" i="1" dirty="0"/>
              <a:t>Procurement Lead</a:t>
            </a:r>
            <a:endParaRPr lang="en-US" sz="1200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FB1C71-8466-A699-628C-23BB920A01EC}"/>
              </a:ext>
            </a:extLst>
          </p:cNvPr>
          <p:cNvSpPr txBox="1"/>
          <p:nvPr/>
        </p:nvSpPr>
        <p:spPr>
          <a:xfrm>
            <a:off x="1492647" y="3863218"/>
            <a:ext cx="1427119" cy="2541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IN" sz="1200" i="1" dirty="0"/>
              <a:t>Marketing Lead</a:t>
            </a:r>
            <a:endParaRPr lang="en-US" sz="12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0A0BCD-1DD1-E7D4-E77A-CC1ABA12FDC6}"/>
              </a:ext>
            </a:extLst>
          </p:cNvPr>
          <p:cNvSpPr txBox="1"/>
          <p:nvPr/>
        </p:nvSpPr>
        <p:spPr>
          <a:xfrm>
            <a:off x="255888" y="5383663"/>
            <a:ext cx="977304" cy="2541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IN" sz="1200" i="1" dirty="0"/>
              <a:t>Digital Lead</a:t>
            </a:r>
            <a:endParaRPr lang="en-US" sz="1200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2BF2D2-4F2C-27E6-FDA8-540464FA9B61}"/>
              </a:ext>
            </a:extLst>
          </p:cNvPr>
          <p:cNvSpPr txBox="1"/>
          <p:nvPr/>
        </p:nvSpPr>
        <p:spPr>
          <a:xfrm>
            <a:off x="1431663" y="5383662"/>
            <a:ext cx="1427119" cy="2541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IN" sz="1200" i="1" dirty="0"/>
              <a:t>Supply Chain Lead</a:t>
            </a:r>
            <a:endParaRPr lang="en-US" sz="1200" noProof="0" dirty="0"/>
          </a:p>
        </p:txBody>
      </p:sp>
    </p:spTree>
    <p:extLst>
      <p:ext uri="{BB962C8B-B14F-4D97-AF65-F5344CB8AC3E}">
        <p14:creationId xmlns:p14="http://schemas.microsoft.com/office/powerpoint/2010/main" val="3394416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4978B147-D06D-EE55-0EDE-E20471EF9479}"/>
              </a:ext>
            </a:extLst>
          </p:cNvPr>
          <p:cNvSpPr/>
          <p:nvPr/>
        </p:nvSpPr>
        <p:spPr>
          <a:xfrm>
            <a:off x="5270500" y="1431090"/>
            <a:ext cx="6667500" cy="820921"/>
          </a:xfrm>
          <a:prstGeom prst="roundRect">
            <a:avLst/>
          </a:prstGeom>
          <a:solidFill>
            <a:schemeClr val="accent6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223E8-4B99-01C3-52EF-99289341D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91169"/>
            <a:ext cx="11430000" cy="344710"/>
          </a:xfrm>
        </p:spPr>
        <p:txBody>
          <a:bodyPr/>
          <a:lstStyle/>
          <a:p>
            <a:r>
              <a:rPr lang="en-IN" sz="2800" dirty="0"/>
              <a:t>Ushering a new era of Home Textiles...</a:t>
            </a: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099A9-1681-A3A4-4AEE-1348F483A3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2</a:t>
            </a:fld>
            <a:endParaRPr lang="en-IN" dirty="0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3701DB28-9C7B-9E43-4735-CEC448289847}"/>
              </a:ext>
            </a:extLst>
          </p:cNvPr>
          <p:cNvGraphicFramePr/>
          <p:nvPr/>
        </p:nvGraphicFramePr>
        <p:xfrm>
          <a:off x="635072" y="4124303"/>
          <a:ext cx="3603099" cy="21945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EB5A7F-C288-CA21-35F5-FEEE6E464D69}"/>
              </a:ext>
            </a:extLst>
          </p:cNvPr>
          <p:cNvCxnSpPr>
            <a:cxnSpLocks/>
          </p:cNvCxnSpPr>
          <p:nvPr/>
        </p:nvCxnSpPr>
        <p:spPr>
          <a:xfrm>
            <a:off x="308140" y="3959335"/>
            <a:ext cx="4256962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0B7D8D7-9C10-A2CA-60C1-1D750AE00BBD}"/>
              </a:ext>
            </a:extLst>
          </p:cNvPr>
          <p:cNvGrpSpPr/>
          <p:nvPr/>
        </p:nvGrpSpPr>
        <p:grpSpPr>
          <a:xfrm>
            <a:off x="606052" y="1015817"/>
            <a:ext cx="4543389" cy="2815954"/>
            <a:chOff x="1070501" y="1015817"/>
            <a:chExt cx="4543389" cy="281595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6CC0AF4-144F-A9B5-2BB5-96E650EB9C42}"/>
                </a:ext>
              </a:extLst>
            </p:cNvPr>
            <p:cNvGrpSpPr/>
            <p:nvPr/>
          </p:nvGrpSpPr>
          <p:grpSpPr>
            <a:xfrm>
              <a:off x="1070501" y="1015817"/>
              <a:ext cx="2935442" cy="2815954"/>
              <a:chOff x="7371869" y="3646627"/>
              <a:chExt cx="2910840" cy="2936207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8F1DD6B5-BFA2-7174-61CA-FB1A58BC01AB}"/>
                  </a:ext>
                </a:extLst>
              </p:cNvPr>
              <p:cNvGrpSpPr/>
              <p:nvPr/>
            </p:nvGrpSpPr>
            <p:grpSpPr>
              <a:xfrm>
                <a:off x="7371869" y="3646627"/>
                <a:ext cx="2910840" cy="2936207"/>
                <a:chOff x="7371869" y="3646627"/>
                <a:chExt cx="2910840" cy="2936207"/>
              </a:xfrm>
            </p:grpSpPr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23D487A9-57A8-8A96-2DD2-7A86C6D139D7}"/>
                    </a:ext>
                  </a:extLst>
                </p:cNvPr>
                <p:cNvSpPr/>
                <p:nvPr/>
              </p:nvSpPr>
              <p:spPr>
                <a:xfrm>
                  <a:off x="7371869" y="3646627"/>
                  <a:ext cx="2910840" cy="2936207"/>
                </a:xfrm>
                <a:prstGeom prst="ellipse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2387BDE8-6776-2428-C856-83D57AA8EA36}"/>
                    </a:ext>
                  </a:extLst>
                </p:cNvPr>
                <p:cNvSpPr/>
                <p:nvPr/>
              </p:nvSpPr>
              <p:spPr>
                <a:xfrm>
                  <a:off x="7655639" y="4247823"/>
                  <a:ext cx="2303700" cy="2331721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95E9D787-F439-4916-31AA-5B388F384FE6}"/>
                    </a:ext>
                  </a:extLst>
                </p:cNvPr>
                <p:cNvSpPr/>
                <p:nvPr/>
              </p:nvSpPr>
              <p:spPr>
                <a:xfrm>
                  <a:off x="7956018" y="4922232"/>
                  <a:ext cx="1726483" cy="164669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4AD7D5-1945-9D22-E1B1-7B6586E21015}"/>
                  </a:ext>
                </a:extLst>
              </p:cNvPr>
              <p:cNvSpPr txBox="1"/>
              <p:nvPr/>
            </p:nvSpPr>
            <p:spPr>
              <a:xfrm>
                <a:off x="8190161" y="3768386"/>
                <a:ext cx="1234655" cy="385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TAM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CF3D04-D59F-B77E-D477-532C22AE8BBF}"/>
                  </a:ext>
                </a:extLst>
              </p:cNvPr>
              <p:cNvSpPr txBox="1"/>
              <p:nvPr/>
            </p:nvSpPr>
            <p:spPr>
              <a:xfrm>
                <a:off x="8000880" y="4484439"/>
                <a:ext cx="1613216" cy="385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SAM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ECF47E-7F3B-7915-DCD9-54158F8C0081}"/>
                  </a:ext>
                </a:extLst>
              </p:cNvPr>
              <p:cNvSpPr txBox="1"/>
              <p:nvPr/>
            </p:nvSpPr>
            <p:spPr>
              <a:xfrm>
                <a:off x="8232201" y="5334128"/>
                <a:ext cx="1221617" cy="385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SOM</a:t>
                </a:r>
              </a:p>
            </p:txBody>
          </p:sp>
        </p:grp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E1FD669-B958-D5DA-8CF2-089E251D5EC7}"/>
                </a:ext>
              </a:extLst>
            </p:cNvPr>
            <p:cNvCxnSpPr>
              <a:cxnSpLocks/>
              <a:stCxn id="10" idx="7"/>
            </p:cNvCxnSpPr>
            <p:nvPr/>
          </p:nvCxnSpPr>
          <p:spPr>
            <a:xfrm flipV="1">
              <a:off x="3576057" y="1407886"/>
              <a:ext cx="792743" cy="2031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154293D-5838-5055-B381-E0678F929658}"/>
                </a:ext>
              </a:extLst>
            </p:cNvPr>
            <p:cNvCxnSpPr>
              <a:cxnSpLocks/>
            </p:cNvCxnSpPr>
            <p:nvPr/>
          </p:nvCxnSpPr>
          <p:spPr>
            <a:xfrm>
              <a:off x="3451584" y="2074211"/>
              <a:ext cx="917216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2A430E8-C8B1-63F1-D672-E6D9A800E484}"/>
                </a:ext>
              </a:extLst>
            </p:cNvPr>
            <p:cNvCxnSpPr>
              <a:cxnSpLocks/>
            </p:cNvCxnSpPr>
            <p:nvPr/>
          </p:nvCxnSpPr>
          <p:spPr>
            <a:xfrm>
              <a:off x="3400784" y="2710502"/>
              <a:ext cx="968016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12D24-D952-342D-2957-9A547E3C49F2}"/>
                </a:ext>
              </a:extLst>
            </p:cNvPr>
            <p:cNvSpPr txBox="1"/>
            <p:nvPr/>
          </p:nvSpPr>
          <p:spPr>
            <a:xfrm>
              <a:off x="4368800" y="1213402"/>
              <a:ext cx="12450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b="1" dirty="0">
                  <a:solidFill>
                    <a:srgbClr val="51007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$0.49 Bn 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E78A99E-210B-3F45-A515-93E2A537A3E9}"/>
                </a:ext>
              </a:extLst>
            </p:cNvPr>
            <p:cNvSpPr txBox="1"/>
            <p:nvPr/>
          </p:nvSpPr>
          <p:spPr>
            <a:xfrm>
              <a:off x="4368800" y="1889545"/>
              <a:ext cx="12450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b="1" dirty="0">
                  <a:solidFill>
                    <a:srgbClr val="780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$0.31 Bn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1CD0282-892F-EAB4-CEA1-1D7FB19D43A5}"/>
                </a:ext>
              </a:extLst>
            </p:cNvPr>
            <p:cNvSpPr txBox="1"/>
            <p:nvPr/>
          </p:nvSpPr>
          <p:spPr>
            <a:xfrm>
              <a:off x="4368800" y="2520917"/>
              <a:ext cx="12450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b="1" dirty="0">
                  <a:solidFill>
                    <a:srgbClr val="C766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$0.05 Bn 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1F116DCE-0981-2C48-EA89-1F3363E59BA7}"/>
              </a:ext>
            </a:extLst>
          </p:cNvPr>
          <p:cNvSpPr txBox="1"/>
          <p:nvPr/>
        </p:nvSpPr>
        <p:spPr>
          <a:xfrm>
            <a:off x="731277" y="6294854"/>
            <a:ext cx="34106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dirty="0">
                <a:solidFill>
                  <a:schemeClr val="bg1"/>
                </a:solidFill>
              </a:rPr>
              <a:t>Total Addressable Market (By Top Category)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EBB61E-56C1-0050-A59F-99A160254955}"/>
              </a:ext>
            </a:extLst>
          </p:cNvPr>
          <p:cNvSpPr txBox="1"/>
          <p:nvPr/>
        </p:nvSpPr>
        <p:spPr>
          <a:xfrm>
            <a:off x="7620000" y="601072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B86FFC-5F94-28DD-D4F2-43E2D5684808}"/>
              </a:ext>
            </a:extLst>
          </p:cNvPr>
          <p:cNvSpPr txBox="1"/>
          <p:nvPr/>
        </p:nvSpPr>
        <p:spPr>
          <a:xfrm>
            <a:off x="6705600" y="428352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29961E-F566-C51E-C2FE-BA121188188B}"/>
              </a:ext>
            </a:extLst>
          </p:cNvPr>
          <p:cNvSpPr txBox="1"/>
          <p:nvPr/>
        </p:nvSpPr>
        <p:spPr>
          <a:xfrm>
            <a:off x="5718629" y="423998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3A2403-1C0A-1CAD-9CA7-8B0CB8232AAD}"/>
              </a:ext>
            </a:extLst>
          </p:cNvPr>
          <p:cNvSpPr txBox="1"/>
          <p:nvPr/>
        </p:nvSpPr>
        <p:spPr>
          <a:xfrm>
            <a:off x="6352307" y="4581349"/>
            <a:ext cx="5077690" cy="6368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43FF72-E1DB-D21A-340F-4750B55224ED}"/>
              </a:ext>
            </a:extLst>
          </p:cNvPr>
          <p:cNvSpPr txBox="1"/>
          <p:nvPr/>
        </p:nvSpPr>
        <p:spPr>
          <a:xfrm>
            <a:off x="6193476" y="5233554"/>
            <a:ext cx="1066800" cy="44427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u="sng" dirty="0">
                <a:solidFill>
                  <a:schemeClr val="bg1"/>
                </a:solidFill>
              </a:rPr>
              <a:t>Climate</a:t>
            </a:r>
            <a:endParaRPr lang="en-US" u="sng" noProof="0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EADCED2-A630-39C1-FC9F-FA4F1BA97225}"/>
              </a:ext>
            </a:extLst>
          </p:cNvPr>
          <p:cNvSpPr txBox="1"/>
          <p:nvPr/>
        </p:nvSpPr>
        <p:spPr>
          <a:xfrm>
            <a:off x="7930965" y="5237281"/>
            <a:ext cx="1507197" cy="44427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u="sng" dirty="0">
                <a:solidFill>
                  <a:schemeClr val="bg1"/>
                </a:solidFill>
              </a:rPr>
              <a:t>Innovation</a:t>
            </a:r>
            <a:endParaRPr lang="en-US" u="sng" noProof="0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18A2D7-47B3-43D0-A6E3-4C0F39E8FFB7}"/>
              </a:ext>
            </a:extLst>
          </p:cNvPr>
          <p:cNvSpPr txBox="1"/>
          <p:nvPr/>
        </p:nvSpPr>
        <p:spPr>
          <a:xfrm>
            <a:off x="10169242" y="5233554"/>
            <a:ext cx="1177638" cy="4442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u="sng" noProof="0" dirty="0">
                <a:solidFill>
                  <a:schemeClr val="bg1"/>
                </a:solidFill>
              </a:rPr>
              <a:t>Customer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8843DFD-EB10-74C7-2FAA-E5F70D406E1D}"/>
              </a:ext>
            </a:extLst>
          </p:cNvPr>
          <p:cNvSpPr txBox="1"/>
          <p:nvPr/>
        </p:nvSpPr>
        <p:spPr>
          <a:xfrm>
            <a:off x="6111008" y="2188572"/>
            <a:ext cx="1496291" cy="3447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D0EA60-F2A6-CE8D-3BBB-D69D65DB8E09}"/>
              </a:ext>
            </a:extLst>
          </p:cNvPr>
          <p:cNvSpPr txBox="1"/>
          <p:nvPr/>
        </p:nvSpPr>
        <p:spPr>
          <a:xfrm>
            <a:off x="7863277" y="936152"/>
            <a:ext cx="1856511" cy="465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9484F8-413B-0676-682E-1DB1DE2EF171}"/>
              </a:ext>
            </a:extLst>
          </p:cNvPr>
          <p:cNvSpPr txBox="1"/>
          <p:nvPr/>
        </p:nvSpPr>
        <p:spPr>
          <a:xfrm>
            <a:off x="130807" y="6533798"/>
            <a:ext cx="341068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00" dirty="0">
                <a:solidFill>
                  <a:schemeClr val="bg1"/>
                </a:solidFill>
              </a:rPr>
              <a:t>SAM – Serviceable Addressable Market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0519908-F909-2584-651C-378F789417E1}"/>
              </a:ext>
            </a:extLst>
          </p:cNvPr>
          <p:cNvSpPr txBox="1"/>
          <p:nvPr/>
        </p:nvSpPr>
        <p:spPr>
          <a:xfrm>
            <a:off x="4613564" y="-16764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939B2F7-9891-DD04-7184-F56AEC2796D7}"/>
              </a:ext>
            </a:extLst>
          </p:cNvPr>
          <p:cNvSpPr txBox="1"/>
          <p:nvPr/>
        </p:nvSpPr>
        <p:spPr>
          <a:xfrm>
            <a:off x="2587959" y="6533798"/>
            <a:ext cx="341068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00" dirty="0">
                <a:solidFill>
                  <a:schemeClr val="bg1"/>
                </a:solidFill>
              </a:rPr>
              <a:t>SOM – Serviceable Obtainable Market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82CA30A-2E24-F0F1-250E-EFCFC20DD8FF}"/>
              </a:ext>
            </a:extLst>
          </p:cNvPr>
          <p:cNvSpPr txBox="1"/>
          <p:nvPr/>
        </p:nvSpPr>
        <p:spPr>
          <a:xfrm>
            <a:off x="9478488" y="2188572"/>
            <a:ext cx="1496291" cy="37407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endParaRPr lang="en-US" noProof="0" dirty="0">
              <a:solidFill>
                <a:schemeClr val="bg1"/>
              </a:solidFill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EA22D89-3D4E-57DA-CC72-5E6B077A766C}"/>
              </a:ext>
            </a:extLst>
          </p:cNvPr>
          <p:cNvCxnSpPr>
            <a:cxnSpLocks/>
          </p:cNvCxnSpPr>
          <p:nvPr/>
        </p:nvCxnSpPr>
        <p:spPr>
          <a:xfrm flipV="1">
            <a:off x="5149441" y="1015817"/>
            <a:ext cx="0" cy="5648325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DBBB9E05-D4E5-77C8-B11F-81ECAB6F8C8E}"/>
              </a:ext>
            </a:extLst>
          </p:cNvPr>
          <p:cNvSpPr txBox="1"/>
          <p:nvPr/>
        </p:nvSpPr>
        <p:spPr>
          <a:xfrm>
            <a:off x="7622974" y="810594"/>
            <a:ext cx="1941092" cy="33689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b="1" noProof="0" dirty="0">
                <a:solidFill>
                  <a:srgbClr val="7800C0"/>
                </a:solidFill>
              </a:rPr>
              <a:t>Vision 2030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14C8068-C947-3F55-228B-8B60763F805E}"/>
              </a:ext>
            </a:extLst>
          </p:cNvPr>
          <p:cNvSpPr txBox="1"/>
          <p:nvPr/>
        </p:nvSpPr>
        <p:spPr>
          <a:xfrm>
            <a:off x="9344889" y="3089386"/>
            <a:ext cx="2096647" cy="122317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600" i="1" noProof="0" dirty="0">
                <a:solidFill>
                  <a:schemeClr val="bg1"/>
                </a:solidFill>
              </a:rPr>
              <a:t>Serve Customers across the country</a:t>
            </a:r>
          </a:p>
          <a:p>
            <a:pPr algn="ctr" defTabSz="228600">
              <a:spcAft>
                <a:spcPts val="1200"/>
              </a:spcAft>
            </a:pPr>
            <a:r>
              <a:rPr lang="en-US" sz="1600" i="1" dirty="0">
                <a:solidFill>
                  <a:schemeClr val="bg1"/>
                </a:solidFill>
              </a:rPr>
              <a:t>Innovate &amp; deliver most sustainable products </a:t>
            </a:r>
            <a:endParaRPr lang="en-US" sz="1600" i="1" noProof="0" dirty="0">
              <a:solidFill>
                <a:schemeClr val="bg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C76D782-6354-0C6B-5D30-E105AB1AFBFB}"/>
              </a:ext>
            </a:extLst>
          </p:cNvPr>
          <p:cNvSpPr/>
          <p:nvPr/>
        </p:nvSpPr>
        <p:spPr>
          <a:xfrm>
            <a:off x="9180423" y="2348438"/>
            <a:ext cx="2405525" cy="313632"/>
          </a:xfrm>
          <a:prstGeom prst="rect">
            <a:avLst/>
          </a:prstGeom>
          <a:solidFill>
            <a:srgbClr val="B455AA"/>
          </a:solidFill>
          <a:ln w="12700" cap="flat" cmpd="sng" algn="ctr">
            <a:solidFill>
              <a:srgbClr val="B455AA"/>
            </a:solidFill>
            <a:prstDash val="solid"/>
            <a:miter lim="800000"/>
          </a:ln>
          <a:effectLst/>
        </p:spPr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Mission Statements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3BD3C52-8737-7939-DF78-D53501542059}"/>
              </a:ext>
            </a:extLst>
          </p:cNvPr>
          <p:cNvSpPr/>
          <p:nvPr/>
        </p:nvSpPr>
        <p:spPr>
          <a:xfrm>
            <a:off x="9355796" y="2739454"/>
            <a:ext cx="2085741" cy="1885124"/>
          </a:xfrm>
          <a:prstGeom prst="ellipse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4BAF7E8-23BC-8F4B-38D1-189DB2564FC3}"/>
              </a:ext>
            </a:extLst>
          </p:cNvPr>
          <p:cNvCxnSpPr>
            <a:cxnSpLocks/>
          </p:cNvCxnSpPr>
          <p:nvPr/>
        </p:nvCxnSpPr>
        <p:spPr>
          <a:xfrm>
            <a:off x="9833803" y="3661463"/>
            <a:ext cx="1120992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7B81AFDC-03F2-723D-D520-A986FFEFCDBD}"/>
              </a:ext>
            </a:extLst>
          </p:cNvPr>
          <p:cNvSpPr txBox="1"/>
          <p:nvPr/>
        </p:nvSpPr>
        <p:spPr>
          <a:xfrm>
            <a:off x="5691556" y="4799040"/>
            <a:ext cx="5980244" cy="33689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noProof="0" dirty="0">
                <a:solidFill>
                  <a:srgbClr val="7800C0"/>
                </a:solidFill>
              </a:rPr>
              <a:t>Our Core Values are based on the 3 pillars of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DB83967-D3AD-0530-76A0-48F5AD42DA81}"/>
              </a:ext>
            </a:extLst>
          </p:cNvPr>
          <p:cNvSpPr txBox="1"/>
          <p:nvPr/>
        </p:nvSpPr>
        <p:spPr>
          <a:xfrm>
            <a:off x="11707091" y="471054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grpSp>
        <p:nvGrpSpPr>
          <p:cNvPr id="129" name="Group 114">
            <a:extLst>
              <a:ext uri="{FF2B5EF4-FFF2-40B4-BE49-F238E27FC236}">
                <a16:creationId xmlns:a16="http://schemas.microsoft.com/office/drawing/2014/main" id="{1093F07F-F775-FA2E-18A5-6A2C08D4860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359996" y="5661105"/>
            <a:ext cx="654372" cy="611536"/>
            <a:chOff x="516" y="1949"/>
            <a:chExt cx="443" cy="414"/>
          </a:xfrm>
          <a:solidFill>
            <a:srgbClr val="A100FF"/>
          </a:solidFill>
        </p:grpSpPr>
        <p:sp>
          <p:nvSpPr>
            <p:cNvPr id="130" name="Freeform 115">
              <a:extLst>
                <a:ext uri="{FF2B5EF4-FFF2-40B4-BE49-F238E27FC236}">
                  <a16:creationId xmlns:a16="http://schemas.microsoft.com/office/drawing/2014/main" id="{4586078D-C395-8431-B0B7-87A5350327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" y="2184"/>
              <a:ext cx="111" cy="179"/>
            </a:xfrm>
            <a:custGeom>
              <a:avLst/>
              <a:gdLst>
                <a:gd name="T0" fmla="*/ 54 w 72"/>
                <a:gd name="T1" fmla="*/ 120 h 120"/>
                <a:gd name="T2" fmla="*/ 18 w 72"/>
                <a:gd name="T3" fmla="*/ 120 h 120"/>
                <a:gd name="T4" fmla="*/ 12 w 72"/>
                <a:gd name="T5" fmla="*/ 114 h 120"/>
                <a:gd name="T6" fmla="*/ 12 w 72"/>
                <a:gd name="T7" fmla="*/ 65 h 120"/>
                <a:gd name="T8" fmla="*/ 0 w 72"/>
                <a:gd name="T9" fmla="*/ 42 h 120"/>
                <a:gd name="T10" fmla="*/ 0 w 72"/>
                <a:gd name="T11" fmla="*/ 6 h 120"/>
                <a:gd name="T12" fmla="*/ 6 w 72"/>
                <a:gd name="T13" fmla="*/ 0 h 120"/>
                <a:gd name="T14" fmla="*/ 66 w 72"/>
                <a:gd name="T15" fmla="*/ 0 h 120"/>
                <a:gd name="T16" fmla="*/ 72 w 72"/>
                <a:gd name="T17" fmla="*/ 6 h 120"/>
                <a:gd name="T18" fmla="*/ 72 w 72"/>
                <a:gd name="T19" fmla="*/ 42 h 120"/>
                <a:gd name="T20" fmla="*/ 60 w 72"/>
                <a:gd name="T21" fmla="*/ 65 h 120"/>
                <a:gd name="T22" fmla="*/ 60 w 72"/>
                <a:gd name="T23" fmla="*/ 114 h 120"/>
                <a:gd name="T24" fmla="*/ 54 w 72"/>
                <a:gd name="T25" fmla="*/ 120 h 120"/>
                <a:gd name="T26" fmla="*/ 24 w 72"/>
                <a:gd name="T27" fmla="*/ 108 h 120"/>
                <a:gd name="T28" fmla="*/ 48 w 72"/>
                <a:gd name="T29" fmla="*/ 108 h 120"/>
                <a:gd name="T30" fmla="*/ 48 w 72"/>
                <a:gd name="T31" fmla="*/ 60 h 120"/>
                <a:gd name="T32" fmla="*/ 54 w 72"/>
                <a:gd name="T33" fmla="*/ 54 h 120"/>
                <a:gd name="T34" fmla="*/ 60 w 72"/>
                <a:gd name="T35" fmla="*/ 42 h 120"/>
                <a:gd name="T36" fmla="*/ 60 w 72"/>
                <a:gd name="T37" fmla="*/ 12 h 120"/>
                <a:gd name="T38" fmla="*/ 12 w 72"/>
                <a:gd name="T39" fmla="*/ 12 h 120"/>
                <a:gd name="T40" fmla="*/ 12 w 72"/>
                <a:gd name="T41" fmla="*/ 42 h 120"/>
                <a:gd name="T42" fmla="*/ 18 w 72"/>
                <a:gd name="T43" fmla="*/ 54 h 120"/>
                <a:gd name="T44" fmla="*/ 24 w 72"/>
                <a:gd name="T45" fmla="*/ 60 h 120"/>
                <a:gd name="T46" fmla="*/ 24 w 72"/>
                <a:gd name="T47" fmla="*/ 10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2" h="120">
                  <a:moveTo>
                    <a:pt x="54" y="120"/>
                  </a:moveTo>
                  <a:cubicBezTo>
                    <a:pt x="18" y="120"/>
                    <a:pt x="18" y="120"/>
                    <a:pt x="18" y="120"/>
                  </a:cubicBezTo>
                  <a:cubicBezTo>
                    <a:pt x="14" y="120"/>
                    <a:pt x="12" y="117"/>
                    <a:pt x="12" y="114"/>
                  </a:cubicBezTo>
                  <a:cubicBezTo>
                    <a:pt x="12" y="65"/>
                    <a:pt x="12" y="65"/>
                    <a:pt x="12" y="65"/>
                  </a:cubicBezTo>
                  <a:cubicBezTo>
                    <a:pt x="4" y="62"/>
                    <a:pt x="0" y="5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9" y="0"/>
                    <a:pt x="72" y="2"/>
                    <a:pt x="72" y="6"/>
                  </a:cubicBezTo>
                  <a:cubicBezTo>
                    <a:pt x="72" y="42"/>
                    <a:pt x="72" y="42"/>
                    <a:pt x="72" y="42"/>
                  </a:cubicBezTo>
                  <a:cubicBezTo>
                    <a:pt x="72" y="55"/>
                    <a:pt x="68" y="62"/>
                    <a:pt x="60" y="65"/>
                  </a:cubicBezTo>
                  <a:cubicBezTo>
                    <a:pt x="60" y="114"/>
                    <a:pt x="60" y="114"/>
                    <a:pt x="60" y="114"/>
                  </a:cubicBezTo>
                  <a:cubicBezTo>
                    <a:pt x="60" y="117"/>
                    <a:pt x="57" y="120"/>
                    <a:pt x="54" y="120"/>
                  </a:cubicBezTo>
                  <a:close/>
                  <a:moveTo>
                    <a:pt x="24" y="108"/>
                  </a:moveTo>
                  <a:cubicBezTo>
                    <a:pt x="48" y="108"/>
                    <a:pt x="48" y="108"/>
                    <a:pt x="48" y="108"/>
                  </a:cubicBezTo>
                  <a:cubicBezTo>
                    <a:pt x="48" y="60"/>
                    <a:pt x="48" y="60"/>
                    <a:pt x="48" y="60"/>
                  </a:cubicBezTo>
                  <a:cubicBezTo>
                    <a:pt x="48" y="56"/>
                    <a:pt x="50" y="54"/>
                    <a:pt x="54" y="54"/>
                  </a:cubicBezTo>
                  <a:cubicBezTo>
                    <a:pt x="56" y="54"/>
                    <a:pt x="60" y="54"/>
                    <a:pt x="60" y="4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54"/>
                    <a:pt x="15" y="54"/>
                    <a:pt x="18" y="54"/>
                  </a:cubicBezTo>
                  <a:cubicBezTo>
                    <a:pt x="21" y="54"/>
                    <a:pt x="24" y="56"/>
                    <a:pt x="24" y="60"/>
                  </a:cubicBezTo>
                  <a:lnTo>
                    <a:pt x="24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131" name="Freeform 116">
              <a:extLst>
                <a:ext uri="{FF2B5EF4-FFF2-40B4-BE49-F238E27FC236}">
                  <a16:creationId xmlns:a16="http://schemas.microsoft.com/office/drawing/2014/main" id="{02CB50BA-EBA9-2C8C-D6FB-56B83DAF11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" y="2094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0" y="48"/>
                    <a:pt x="0" y="37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37" y="0"/>
                    <a:pt x="48" y="10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7"/>
                    <a:pt x="12" y="24"/>
                  </a:cubicBezTo>
                  <a:cubicBezTo>
                    <a:pt x="12" y="30"/>
                    <a:pt x="17" y="36"/>
                    <a:pt x="24" y="36"/>
                  </a:cubicBezTo>
                  <a:cubicBezTo>
                    <a:pt x="30" y="36"/>
                    <a:pt x="36" y="30"/>
                    <a:pt x="36" y="24"/>
                  </a:cubicBezTo>
                  <a:cubicBezTo>
                    <a:pt x="36" y="17"/>
                    <a:pt x="30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132" name="Freeform 117">
              <a:extLst>
                <a:ext uri="{FF2B5EF4-FFF2-40B4-BE49-F238E27FC236}">
                  <a16:creationId xmlns:a16="http://schemas.microsoft.com/office/drawing/2014/main" id="{2974EDFA-6DE0-E34C-192E-E9F62D87B1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6" y="2184"/>
              <a:ext cx="111" cy="179"/>
            </a:xfrm>
            <a:custGeom>
              <a:avLst/>
              <a:gdLst>
                <a:gd name="T0" fmla="*/ 54 w 72"/>
                <a:gd name="T1" fmla="*/ 120 h 120"/>
                <a:gd name="T2" fmla="*/ 18 w 72"/>
                <a:gd name="T3" fmla="*/ 120 h 120"/>
                <a:gd name="T4" fmla="*/ 12 w 72"/>
                <a:gd name="T5" fmla="*/ 114 h 120"/>
                <a:gd name="T6" fmla="*/ 12 w 72"/>
                <a:gd name="T7" fmla="*/ 65 h 120"/>
                <a:gd name="T8" fmla="*/ 0 w 72"/>
                <a:gd name="T9" fmla="*/ 42 h 120"/>
                <a:gd name="T10" fmla="*/ 0 w 72"/>
                <a:gd name="T11" fmla="*/ 6 h 120"/>
                <a:gd name="T12" fmla="*/ 6 w 72"/>
                <a:gd name="T13" fmla="*/ 0 h 120"/>
                <a:gd name="T14" fmla="*/ 66 w 72"/>
                <a:gd name="T15" fmla="*/ 0 h 120"/>
                <a:gd name="T16" fmla="*/ 72 w 72"/>
                <a:gd name="T17" fmla="*/ 6 h 120"/>
                <a:gd name="T18" fmla="*/ 72 w 72"/>
                <a:gd name="T19" fmla="*/ 42 h 120"/>
                <a:gd name="T20" fmla="*/ 60 w 72"/>
                <a:gd name="T21" fmla="*/ 65 h 120"/>
                <a:gd name="T22" fmla="*/ 60 w 72"/>
                <a:gd name="T23" fmla="*/ 114 h 120"/>
                <a:gd name="T24" fmla="*/ 54 w 72"/>
                <a:gd name="T25" fmla="*/ 120 h 120"/>
                <a:gd name="T26" fmla="*/ 24 w 72"/>
                <a:gd name="T27" fmla="*/ 108 h 120"/>
                <a:gd name="T28" fmla="*/ 48 w 72"/>
                <a:gd name="T29" fmla="*/ 108 h 120"/>
                <a:gd name="T30" fmla="*/ 48 w 72"/>
                <a:gd name="T31" fmla="*/ 60 h 120"/>
                <a:gd name="T32" fmla="*/ 54 w 72"/>
                <a:gd name="T33" fmla="*/ 54 h 120"/>
                <a:gd name="T34" fmla="*/ 60 w 72"/>
                <a:gd name="T35" fmla="*/ 42 h 120"/>
                <a:gd name="T36" fmla="*/ 60 w 72"/>
                <a:gd name="T37" fmla="*/ 12 h 120"/>
                <a:gd name="T38" fmla="*/ 12 w 72"/>
                <a:gd name="T39" fmla="*/ 12 h 120"/>
                <a:gd name="T40" fmla="*/ 12 w 72"/>
                <a:gd name="T41" fmla="*/ 42 h 120"/>
                <a:gd name="T42" fmla="*/ 18 w 72"/>
                <a:gd name="T43" fmla="*/ 54 h 120"/>
                <a:gd name="T44" fmla="*/ 24 w 72"/>
                <a:gd name="T45" fmla="*/ 60 h 120"/>
                <a:gd name="T46" fmla="*/ 24 w 72"/>
                <a:gd name="T47" fmla="*/ 10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2" h="120">
                  <a:moveTo>
                    <a:pt x="54" y="120"/>
                  </a:moveTo>
                  <a:cubicBezTo>
                    <a:pt x="18" y="120"/>
                    <a:pt x="18" y="120"/>
                    <a:pt x="18" y="120"/>
                  </a:cubicBezTo>
                  <a:cubicBezTo>
                    <a:pt x="14" y="120"/>
                    <a:pt x="12" y="117"/>
                    <a:pt x="12" y="114"/>
                  </a:cubicBezTo>
                  <a:cubicBezTo>
                    <a:pt x="12" y="65"/>
                    <a:pt x="12" y="65"/>
                    <a:pt x="12" y="65"/>
                  </a:cubicBezTo>
                  <a:cubicBezTo>
                    <a:pt x="4" y="62"/>
                    <a:pt x="0" y="5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9" y="0"/>
                    <a:pt x="72" y="2"/>
                    <a:pt x="72" y="6"/>
                  </a:cubicBezTo>
                  <a:cubicBezTo>
                    <a:pt x="72" y="42"/>
                    <a:pt x="72" y="42"/>
                    <a:pt x="72" y="42"/>
                  </a:cubicBezTo>
                  <a:cubicBezTo>
                    <a:pt x="72" y="55"/>
                    <a:pt x="68" y="62"/>
                    <a:pt x="60" y="65"/>
                  </a:cubicBezTo>
                  <a:cubicBezTo>
                    <a:pt x="60" y="114"/>
                    <a:pt x="60" y="114"/>
                    <a:pt x="60" y="114"/>
                  </a:cubicBezTo>
                  <a:cubicBezTo>
                    <a:pt x="60" y="117"/>
                    <a:pt x="57" y="120"/>
                    <a:pt x="54" y="120"/>
                  </a:cubicBezTo>
                  <a:close/>
                  <a:moveTo>
                    <a:pt x="24" y="108"/>
                  </a:moveTo>
                  <a:cubicBezTo>
                    <a:pt x="48" y="108"/>
                    <a:pt x="48" y="108"/>
                    <a:pt x="48" y="108"/>
                  </a:cubicBezTo>
                  <a:cubicBezTo>
                    <a:pt x="48" y="60"/>
                    <a:pt x="48" y="60"/>
                    <a:pt x="48" y="60"/>
                  </a:cubicBezTo>
                  <a:cubicBezTo>
                    <a:pt x="48" y="56"/>
                    <a:pt x="50" y="54"/>
                    <a:pt x="54" y="54"/>
                  </a:cubicBezTo>
                  <a:cubicBezTo>
                    <a:pt x="56" y="54"/>
                    <a:pt x="60" y="54"/>
                    <a:pt x="60" y="4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54"/>
                    <a:pt x="15" y="54"/>
                    <a:pt x="18" y="54"/>
                  </a:cubicBezTo>
                  <a:cubicBezTo>
                    <a:pt x="21" y="54"/>
                    <a:pt x="24" y="56"/>
                    <a:pt x="24" y="60"/>
                  </a:cubicBezTo>
                  <a:lnTo>
                    <a:pt x="24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133" name="Freeform 118">
              <a:extLst>
                <a:ext uri="{FF2B5EF4-FFF2-40B4-BE49-F238E27FC236}">
                  <a16:creationId xmlns:a16="http://schemas.microsoft.com/office/drawing/2014/main" id="{7A46296F-EF6E-82FA-6269-5C6D691BBD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5" y="2094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0" y="48"/>
                    <a:pt x="0" y="37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37" y="0"/>
                    <a:pt x="48" y="10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7"/>
                    <a:pt x="12" y="24"/>
                  </a:cubicBezTo>
                  <a:cubicBezTo>
                    <a:pt x="12" y="30"/>
                    <a:pt x="17" y="36"/>
                    <a:pt x="24" y="36"/>
                  </a:cubicBezTo>
                  <a:cubicBezTo>
                    <a:pt x="30" y="36"/>
                    <a:pt x="36" y="30"/>
                    <a:pt x="36" y="24"/>
                  </a:cubicBezTo>
                  <a:cubicBezTo>
                    <a:pt x="36" y="17"/>
                    <a:pt x="30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134" name="Freeform 119">
              <a:extLst>
                <a:ext uri="{FF2B5EF4-FFF2-40B4-BE49-F238E27FC236}">
                  <a16:creationId xmlns:a16="http://schemas.microsoft.com/office/drawing/2014/main" id="{4E1511AD-AADE-DC1A-B5DB-AC67520679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" y="2148"/>
              <a:ext cx="19" cy="215"/>
            </a:xfrm>
            <a:custGeom>
              <a:avLst/>
              <a:gdLst>
                <a:gd name="T0" fmla="*/ 6 w 12"/>
                <a:gd name="T1" fmla="*/ 144 h 144"/>
                <a:gd name="T2" fmla="*/ 0 w 12"/>
                <a:gd name="T3" fmla="*/ 138 h 144"/>
                <a:gd name="T4" fmla="*/ 0 w 12"/>
                <a:gd name="T5" fmla="*/ 6 h 144"/>
                <a:gd name="T6" fmla="*/ 6 w 12"/>
                <a:gd name="T7" fmla="*/ 0 h 144"/>
                <a:gd name="T8" fmla="*/ 12 w 12"/>
                <a:gd name="T9" fmla="*/ 6 h 144"/>
                <a:gd name="T10" fmla="*/ 12 w 12"/>
                <a:gd name="T11" fmla="*/ 138 h 144"/>
                <a:gd name="T12" fmla="*/ 6 w 12"/>
                <a:gd name="T13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44">
                  <a:moveTo>
                    <a:pt x="6" y="144"/>
                  </a:moveTo>
                  <a:cubicBezTo>
                    <a:pt x="2" y="144"/>
                    <a:pt x="0" y="141"/>
                    <a:pt x="0" y="13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138"/>
                    <a:pt x="12" y="138"/>
                    <a:pt x="12" y="138"/>
                  </a:cubicBezTo>
                  <a:cubicBezTo>
                    <a:pt x="12" y="141"/>
                    <a:pt x="9" y="144"/>
                    <a:pt x="6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135" name="Freeform 120">
              <a:extLst>
                <a:ext uri="{FF2B5EF4-FFF2-40B4-BE49-F238E27FC236}">
                  <a16:creationId xmlns:a16="http://schemas.microsoft.com/office/drawing/2014/main" id="{7A87BB18-2A00-97B8-86EA-956EB1696C20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" y="2148"/>
              <a:ext cx="19" cy="215"/>
            </a:xfrm>
            <a:custGeom>
              <a:avLst/>
              <a:gdLst>
                <a:gd name="T0" fmla="*/ 6 w 12"/>
                <a:gd name="T1" fmla="*/ 144 h 144"/>
                <a:gd name="T2" fmla="*/ 0 w 12"/>
                <a:gd name="T3" fmla="*/ 138 h 144"/>
                <a:gd name="T4" fmla="*/ 0 w 12"/>
                <a:gd name="T5" fmla="*/ 6 h 144"/>
                <a:gd name="T6" fmla="*/ 6 w 12"/>
                <a:gd name="T7" fmla="*/ 0 h 144"/>
                <a:gd name="T8" fmla="*/ 12 w 12"/>
                <a:gd name="T9" fmla="*/ 6 h 144"/>
                <a:gd name="T10" fmla="*/ 12 w 12"/>
                <a:gd name="T11" fmla="*/ 138 h 144"/>
                <a:gd name="T12" fmla="*/ 6 w 12"/>
                <a:gd name="T13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44">
                  <a:moveTo>
                    <a:pt x="6" y="144"/>
                  </a:moveTo>
                  <a:cubicBezTo>
                    <a:pt x="2" y="144"/>
                    <a:pt x="0" y="141"/>
                    <a:pt x="0" y="13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138"/>
                    <a:pt x="12" y="138"/>
                    <a:pt x="12" y="138"/>
                  </a:cubicBezTo>
                  <a:cubicBezTo>
                    <a:pt x="12" y="141"/>
                    <a:pt x="9" y="144"/>
                    <a:pt x="6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136" name="Freeform 121">
              <a:extLst>
                <a:ext uri="{FF2B5EF4-FFF2-40B4-BE49-F238E27FC236}">
                  <a16:creationId xmlns:a16="http://schemas.microsoft.com/office/drawing/2014/main" id="{DFB9C7C5-96A4-D0C3-4068-D203FB2C4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" y="1949"/>
              <a:ext cx="443" cy="208"/>
            </a:xfrm>
            <a:custGeom>
              <a:avLst/>
              <a:gdLst>
                <a:gd name="T0" fmla="*/ 283 w 289"/>
                <a:gd name="T1" fmla="*/ 139 h 139"/>
                <a:gd name="T2" fmla="*/ 279 w 289"/>
                <a:gd name="T3" fmla="*/ 137 h 139"/>
                <a:gd name="T4" fmla="*/ 145 w 289"/>
                <a:gd name="T5" fmla="*/ 15 h 139"/>
                <a:gd name="T6" fmla="*/ 11 w 289"/>
                <a:gd name="T7" fmla="*/ 137 h 139"/>
                <a:gd name="T8" fmla="*/ 2 w 289"/>
                <a:gd name="T9" fmla="*/ 137 h 139"/>
                <a:gd name="T10" fmla="*/ 3 w 289"/>
                <a:gd name="T11" fmla="*/ 128 h 139"/>
                <a:gd name="T12" fmla="*/ 141 w 289"/>
                <a:gd name="T13" fmla="*/ 2 h 139"/>
                <a:gd name="T14" fmla="*/ 149 w 289"/>
                <a:gd name="T15" fmla="*/ 2 h 139"/>
                <a:gd name="T16" fmla="*/ 287 w 289"/>
                <a:gd name="T17" fmla="*/ 128 h 139"/>
                <a:gd name="T18" fmla="*/ 287 w 289"/>
                <a:gd name="T19" fmla="*/ 137 h 139"/>
                <a:gd name="T20" fmla="*/ 283 w 289"/>
                <a:gd name="T21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9" h="139">
                  <a:moveTo>
                    <a:pt x="283" y="139"/>
                  </a:moveTo>
                  <a:cubicBezTo>
                    <a:pt x="281" y="139"/>
                    <a:pt x="280" y="138"/>
                    <a:pt x="279" y="137"/>
                  </a:cubicBezTo>
                  <a:cubicBezTo>
                    <a:pt x="145" y="15"/>
                    <a:pt x="145" y="15"/>
                    <a:pt x="145" y="15"/>
                  </a:cubicBezTo>
                  <a:cubicBezTo>
                    <a:pt x="11" y="137"/>
                    <a:pt x="11" y="137"/>
                    <a:pt x="11" y="137"/>
                  </a:cubicBezTo>
                  <a:cubicBezTo>
                    <a:pt x="8" y="139"/>
                    <a:pt x="4" y="139"/>
                    <a:pt x="2" y="137"/>
                  </a:cubicBezTo>
                  <a:cubicBezTo>
                    <a:pt x="0" y="134"/>
                    <a:pt x="0" y="130"/>
                    <a:pt x="3" y="128"/>
                  </a:cubicBezTo>
                  <a:cubicBezTo>
                    <a:pt x="141" y="2"/>
                    <a:pt x="141" y="2"/>
                    <a:pt x="141" y="2"/>
                  </a:cubicBezTo>
                  <a:cubicBezTo>
                    <a:pt x="143" y="0"/>
                    <a:pt x="146" y="0"/>
                    <a:pt x="149" y="2"/>
                  </a:cubicBezTo>
                  <a:cubicBezTo>
                    <a:pt x="287" y="128"/>
                    <a:pt x="287" y="128"/>
                    <a:pt x="287" y="128"/>
                  </a:cubicBezTo>
                  <a:cubicBezTo>
                    <a:pt x="289" y="130"/>
                    <a:pt x="289" y="134"/>
                    <a:pt x="287" y="137"/>
                  </a:cubicBezTo>
                  <a:cubicBezTo>
                    <a:pt x="286" y="138"/>
                    <a:pt x="284" y="139"/>
                    <a:pt x="283" y="1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</p:grpSp>
      <p:grpSp>
        <p:nvGrpSpPr>
          <p:cNvPr id="137" name="Group 110">
            <a:extLst>
              <a:ext uri="{FF2B5EF4-FFF2-40B4-BE49-F238E27FC236}">
                <a16:creationId xmlns:a16="http://schemas.microsoft.com/office/drawing/2014/main" id="{16CC8A6A-12A9-B863-ACCE-4509C353402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447531" y="5654305"/>
            <a:ext cx="607189" cy="601502"/>
            <a:chOff x="5689" y="1887"/>
            <a:chExt cx="427" cy="423"/>
          </a:xfrm>
          <a:solidFill>
            <a:srgbClr val="A100FF"/>
          </a:solidFill>
        </p:grpSpPr>
        <p:sp>
          <p:nvSpPr>
            <p:cNvPr id="138" name="Freeform 111">
              <a:extLst>
                <a:ext uri="{FF2B5EF4-FFF2-40B4-BE49-F238E27FC236}">
                  <a16:creationId xmlns:a16="http://schemas.microsoft.com/office/drawing/2014/main" id="{0D824340-A8BD-0C7F-DC01-3B46FA04D7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23" y="1887"/>
              <a:ext cx="159" cy="237"/>
            </a:xfrm>
            <a:custGeom>
              <a:avLst/>
              <a:gdLst>
                <a:gd name="T0" fmla="*/ 54 w 108"/>
                <a:gd name="T1" fmla="*/ 160 h 160"/>
                <a:gd name="T2" fmla="*/ 0 w 108"/>
                <a:gd name="T3" fmla="*/ 110 h 160"/>
                <a:gd name="T4" fmla="*/ 49 w 108"/>
                <a:gd name="T5" fmla="*/ 3 h 160"/>
                <a:gd name="T6" fmla="*/ 54 w 108"/>
                <a:gd name="T7" fmla="*/ 0 h 160"/>
                <a:gd name="T8" fmla="*/ 59 w 108"/>
                <a:gd name="T9" fmla="*/ 3 h 160"/>
                <a:gd name="T10" fmla="*/ 108 w 108"/>
                <a:gd name="T11" fmla="*/ 110 h 160"/>
                <a:gd name="T12" fmla="*/ 54 w 108"/>
                <a:gd name="T13" fmla="*/ 160 h 160"/>
                <a:gd name="T14" fmla="*/ 54 w 108"/>
                <a:gd name="T15" fmla="*/ 18 h 160"/>
                <a:gd name="T16" fmla="*/ 12 w 108"/>
                <a:gd name="T17" fmla="*/ 110 h 160"/>
                <a:gd name="T18" fmla="*/ 54 w 108"/>
                <a:gd name="T19" fmla="*/ 148 h 160"/>
                <a:gd name="T20" fmla="*/ 96 w 108"/>
                <a:gd name="T21" fmla="*/ 110 h 160"/>
                <a:gd name="T22" fmla="*/ 54 w 108"/>
                <a:gd name="T23" fmla="*/ 18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8" h="160">
                  <a:moveTo>
                    <a:pt x="54" y="160"/>
                  </a:moveTo>
                  <a:cubicBezTo>
                    <a:pt x="23" y="160"/>
                    <a:pt x="0" y="138"/>
                    <a:pt x="0" y="110"/>
                  </a:cubicBezTo>
                  <a:cubicBezTo>
                    <a:pt x="0" y="82"/>
                    <a:pt x="44" y="11"/>
                    <a:pt x="49" y="3"/>
                  </a:cubicBezTo>
                  <a:cubicBezTo>
                    <a:pt x="50" y="1"/>
                    <a:pt x="52" y="0"/>
                    <a:pt x="54" y="0"/>
                  </a:cubicBezTo>
                  <a:cubicBezTo>
                    <a:pt x="56" y="0"/>
                    <a:pt x="58" y="1"/>
                    <a:pt x="59" y="3"/>
                  </a:cubicBezTo>
                  <a:cubicBezTo>
                    <a:pt x="64" y="11"/>
                    <a:pt x="108" y="82"/>
                    <a:pt x="108" y="110"/>
                  </a:cubicBezTo>
                  <a:cubicBezTo>
                    <a:pt x="108" y="138"/>
                    <a:pt x="85" y="160"/>
                    <a:pt x="54" y="160"/>
                  </a:cubicBezTo>
                  <a:close/>
                  <a:moveTo>
                    <a:pt x="54" y="18"/>
                  </a:moveTo>
                  <a:cubicBezTo>
                    <a:pt x="39" y="43"/>
                    <a:pt x="12" y="92"/>
                    <a:pt x="12" y="110"/>
                  </a:cubicBezTo>
                  <a:cubicBezTo>
                    <a:pt x="12" y="132"/>
                    <a:pt x="29" y="148"/>
                    <a:pt x="54" y="148"/>
                  </a:cubicBezTo>
                  <a:cubicBezTo>
                    <a:pt x="78" y="148"/>
                    <a:pt x="96" y="132"/>
                    <a:pt x="96" y="110"/>
                  </a:cubicBezTo>
                  <a:cubicBezTo>
                    <a:pt x="96" y="91"/>
                    <a:pt x="69" y="43"/>
                    <a:pt x="54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39" name="Freeform 112">
              <a:extLst>
                <a:ext uri="{FF2B5EF4-FFF2-40B4-BE49-F238E27FC236}">
                  <a16:creationId xmlns:a16="http://schemas.microsoft.com/office/drawing/2014/main" id="{634E07D6-6E65-53C6-7103-06DFF67060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8" y="2038"/>
              <a:ext cx="53" cy="50"/>
            </a:xfrm>
            <a:custGeom>
              <a:avLst/>
              <a:gdLst>
                <a:gd name="T0" fmla="*/ 30 w 36"/>
                <a:gd name="T1" fmla="*/ 34 h 34"/>
                <a:gd name="T2" fmla="*/ 0 w 36"/>
                <a:gd name="T3" fmla="*/ 6 h 34"/>
                <a:gd name="T4" fmla="*/ 6 w 36"/>
                <a:gd name="T5" fmla="*/ 0 h 34"/>
                <a:gd name="T6" fmla="*/ 12 w 36"/>
                <a:gd name="T7" fmla="*/ 6 h 34"/>
                <a:gd name="T8" fmla="*/ 30 w 36"/>
                <a:gd name="T9" fmla="*/ 22 h 34"/>
                <a:gd name="T10" fmla="*/ 36 w 36"/>
                <a:gd name="T11" fmla="*/ 28 h 34"/>
                <a:gd name="T12" fmla="*/ 30 w 36"/>
                <a:gd name="T13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34">
                  <a:moveTo>
                    <a:pt x="30" y="34"/>
                  </a:moveTo>
                  <a:cubicBezTo>
                    <a:pt x="13" y="34"/>
                    <a:pt x="0" y="22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6"/>
                    <a:pt x="21" y="22"/>
                    <a:pt x="30" y="22"/>
                  </a:cubicBezTo>
                  <a:cubicBezTo>
                    <a:pt x="33" y="22"/>
                    <a:pt x="36" y="24"/>
                    <a:pt x="36" y="28"/>
                  </a:cubicBezTo>
                  <a:cubicBezTo>
                    <a:pt x="36" y="31"/>
                    <a:pt x="33" y="34"/>
                    <a:pt x="30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40" name="Freeform 113">
              <a:extLst>
                <a:ext uri="{FF2B5EF4-FFF2-40B4-BE49-F238E27FC236}">
                  <a16:creationId xmlns:a16="http://schemas.microsoft.com/office/drawing/2014/main" id="{533DADF8-8749-B2D4-16E8-3216683DAE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38" y="2239"/>
              <a:ext cx="124" cy="71"/>
            </a:xfrm>
            <a:custGeom>
              <a:avLst/>
              <a:gdLst>
                <a:gd name="T0" fmla="*/ 78 w 84"/>
                <a:gd name="T1" fmla="*/ 48 h 48"/>
                <a:gd name="T2" fmla="*/ 6 w 84"/>
                <a:gd name="T3" fmla="*/ 48 h 48"/>
                <a:gd name="T4" fmla="*/ 0 w 84"/>
                <a:gd name="T5" fmla="*/ 42 h 48"/>
                <a:gd name="T6" fmla="*/ 0 w 84"/>
                <a:gd name="T7" fmla="*/ 6 h 48"/>
                <a:gd name="T8" fmla="*/ 6 w 84"/>
                <a:gd name="T9" fmla="*/ 0 h 48"/>
                <a:gd name="T10" fmla="*/ 78 w 84"/>
                <a:gd name="T11" fmla="*/ 0 h 48"/>
                <a:gd name="T12" fmla="*/ 84 w 84"/>
                <a:gd name="T13" fmla="*/ 6 h 48"/>
                <a:gd name="T14" fmla="*/ 84 w 84"/>
                <a:gd name="T15" fmla="*/ 42 h 48"/>
                <a:gd name="T16" fmla="*/ 78 w 84"/>
                <a:gd name="T17" fmla="*/ 48 h 48"/>
                <a:gd name="T18" fmla="*/ 12 w 84"/>
                <a:gd name="T19" fmla="*/ 36 h 48"/>
                <a:gd name="T20" fmla="*/ 72 w 84"/>
                <a:gd name="T21" fmla="*/ 36 h 48"/>
                <a:gd name="T22" fmla="*/ 72 w 84"/>
                <a:gd name="T23" fmla="*/ 12 h 48"/>
                <a:gd name="T24" fmla="*/ 12 w 84"/>
                <a:gd name="T25" fmla="*/ 12 h 48"/>
                <a:gd name="T26" fmla="*/ 12 w 84"/>
                <a:gd name="T27" fmla="*/ 3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48">
                  <a:moveTo>
                    <a:pt x="78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2"/>
                    <a:pt x="84" y="6"/>
                  </a:cubicBezTo>
                  <a:cubicBezTo>
                    <a:pt x="84" y="42"/>
                    <a:pt x="84" y="42"/>
                    <a:pt x="84" y="42"/>
                  </a:cubicBezTo>
                  <a:cubicBezTo>
                    <a:pt x="84" y="45"/>
                    <a:pt x="81" y="48"/>
                    <a:pt x="78" y="48"/>
                  </a:cubicBezTo>
                  <a:close/>
                  <a:moveTo>
                    <a:pt x="12" y="36"/>
                  </a:moveTo>
                  <a:cubicBezTo>
                    <a:pt x="72" y="36"/>
                    <a:pt x="72" y="36"/>
                    <a:pt x="72" y="36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41" name="Freeform 114">
              <a:extLst>
                <a:ext uri="{FF2B5EF4-FFF2-40B4-BE49-F238E27FC236}">
                  <a16:creationId xmlns:a16="http://schemas.microsoft.com/office/drawing/2014/main" id="{F9F48B64-7A02-67ED-04E1-254DFB21EF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6" y="1993"/>
              <a:ext cx="160" cy="264"/>
            </a:xfrm>
            <a:custGeom>
              <a:avLst/>
              <a:gdLst>
                <a:gd name="T0" fmla="*/ 54 w 108"/>
                <a:gd name="T1" fmla="*/ 178 h 178"/>
                <a:gd name="T2" fmla="*/ 48 w 108"/>
                <a:gd name="T3" fmla="*/ 172 h 178"/>
                <a:gd name="T4" fmla="*/ 48 w 108"/>
                <a:gd name="T5" fmla="*/ 153 h 178"/>
                <a:gd name="T6" fmla="*/ 50 w 108"/>
                <a:gd name="T7" fmla="*/ 149 h 178"/>
                <a:gd name="T8" fmla="*/ 96 w 108"/>
                <a:gd name="T9" fmla="*/ 103 h 178"/>
                <a:gd name="T10" fmla="*/ 96 w 108"/>
                <a:gd name="T11" fmla="*/ 15 h 178"/>
                <a:gd name="T12" fmla="*/ 93 w 108"/>
                <a:gd name="T13" fmla="*/ 17 h 178"/>
                <a:gd name="T14" fmla="*/ 78 w 108"/>
                <a:gd name="T15" fmla="*/ 82 h 178"/>
                <a:gd name="T16" fmla="*/ 76 w 108"/>
                <a:gd name="T17" fmla="*/ 86 h 178"/>
                <a:gd name="T18" fmla="*/ 40 w 108"/>
                <a:gd name="T19" fmla="*/ 122 h 178"/>
                <a:gd name="T20" fmla="*/ 33 w 108"/>
                <a:gd name="T21" fmla="*/ 123 h 178"/>
                <a:gd name="T22" fmla="*/ 30 w 108"/>
                <a:gd name="T23" fmla="*/ 116 h 178"/>
                <a:gd name="T24" fmla="*/ 39 w 108"/>
                <a:gd name="T25" fmla="*/ 80 h 178"/>
                <a:gd name="T26" fmla="*/ 36 w 108"/>
                <a:gd name="T27" fmla="*/ 70 h 178"/>
                <a:gd name="T28" fmla="*/ 29 w 108"/>
                <a:gd name="T29" fmla="*/ 73 h 178"/>
                <a:gd name="T30" fmla="*/ 12 w 108"/>
                <a:gd name="T31" fmla="*/ 119 h 178"/>
                <a:gd name="T32" fmla="*/ 12 w 108"/>
                <a:gd name="T33" fmla="*/ 172 h 178"/>
                <a:gd name="T34" fmla="*/ 6 w 108"/>
                <a:gd name="T35" fmla="*/ 178 h 178"/>
                <a:gd name="T36" fmla="*/ 0 w 108"/>
                <a:gd name="T37" fmla="*/ 172 h 178"/>
                <a:gd name="T38" fmla="*/ 0 w 108"/>
                <a:gd name="T39" fmla="*/ 118 h 178"/>
                <a:gd name="T40" fmla="*/ 0 w 108"/>
                <a:gd name="T41" fmla="*/ 116 h 178"/>
                <a:gd name="T42" fmla="*/ 19 w 108"/>
                <a:gd name="T43" fmla="*/ 67 h 178"/>
                <a:gd name="T44" fmla="*/ 41 w 108"/>
                <a:gd name="T45" fmla="*/ 58 h 178"/>
                <a:gd name="T46" fmla="*/ 50 w 108"/>
                <a:gd name="T47" fmla="*/ 83 h 178"/>
                <a:gd name="T48" fmla="*/ 47 w 108"/>
                <a:gd name="T49" fmla="*/ 98 h 178"/>
                <a:gd name="T50" fmla="*/ 66 w 108"/>
                <a:gd name="T51" fmla="*/ 79 h 178"/>
                <a:gd name="T52" fmla="*/ 86 w 108"/>
                <a:gd name="T53" fmla="*/ 7 h 178"/>
                <a:gd name="T54" fmla="*/ 104 w 108"/>
                <a:gd name="T55" fmla="*/ 3 h 178"/>
                <a:gd name="T56" fmla="*/ 108 w 108"/>
                <a:gd name="T57" fmla="*/ 9 h 178"/>
                <a:gd name="T58" fmla="*/ 108 w 108"/>
                <a:gd name="T59" fmla="*/ 106 h 178"/>
                <a:gd name="T60" fmla="*/ 106 w 108"/>
                <a:gd name="T61" fmla="*/ 110 h 178"/>
                <a:gd name="T62" fmla="*/ 60 w 108"/>
                <a:gd name="T63" fmla="*/ 156 h 178"/>
                <a:gd name="T64" fmla="*/ 60 w 108"/>
                <a:gd name="T65" fmla="*/ 172 h 178"/>
                <a:gd name="T66" fmla="*/ 54 w 108"/>
                <a:gd name="T67" fmla="*/ 17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8" h="178">
                  <a:moveTo>
                    <a:pt x="54" y="178"/>
                  </a:moveTo>
                  <a:cubicBezTo>
                    <a:pt x="51" y="178"/>
                    <a:pt x="48" y="175"/>
                    <a:pt x="48" y="172"/>
                  </a:cubicBezTo>
                  <a:cubicBezTo>
                    <a:pt x="48" y="153"/>
                    <a:pt x="48" y="153"/>
                    <a:pt x="48" y="153"/>
                  </a:cubicBezTo>
                  <a:cubicBezTo>
                    <a:pt x="48" y="152"/>
                    <a:pt x="48" y="150"/>
                    <a:pt x="50" y="149"/>
                  </a:cubicBezTo>
                  <a:cubicBezTo>
                    <a:pt x="50" y="149"/>
                    <a:pt x="84" y="115"/>
                    <a:pt x="96" y="103"/>
                  </a:cubicBezTo>
                  <a:cubicBezTo>
                    <a:pt x="96" y="15"/>
                    <a:pt x="96" y="15"/>
                    <a:pt x="96" y="15"/>
                  </a:cubicBezTo>
                  <a:cubicBezTo>
                    <a:pt x="95" y="15"/>
                    <a:pt x="94" y="16"/>
                    <a:pt x="93" y="17"/>
                  </a:cubicBezTo>
                  <a:cubicBezTo>
                    <a:pt x="87" y="21"/>
                    <a:pt x="78" y="35"/>
                    <a:pt x="78" y="82"/>
                  </a:cubicBezTo>
                  <a:cubicBezTo>
                    <a:pt x="78" y="83"/>
                    <a:pt x="77" y="85"/>
                    <a:pt x="76" y="86"/>
                  </a:cubicBezTo>
                  <a:cubicBezTo>
                    <a:pt x="40" y="122"/>
                    <a:pt x="40" y="122"/>
                    <a:pt x="40" y="122"/>
                  </a:cubicBezTo>
                  <a:cubicBezTo>
                    <a:pt x="39" y="124"/>
                    <a:pt x="36" y="124"/>
                    <a:pt x="33" y="123"/>
                  </a:cubicBezTo>
                  <a:cubicBezTo>
                    <a:pt x="31" y="121"/>
                    <a:pt x="30" y="119"/>
                    <a:pt x="30" y="116"/>
                  </a:cubicBezTo>
                  <a:cubicBezTo>
                    <a:pt x="39" y="80"/>
                    <a:pt x="39" y="80"/>
                    <a:pt x="39" y="80"/>
                  </a:cubicBezTo>
                  <a:cubicBezTo>
                    <a:pt x="40" y="74"/>
                    <a:pt x="38" y="70"/>
                    <a:pt x="36" y="70"/>
                  </a:cubicBezTo>
                  <a:cubicBezTo>
                    <a:pt x="34" y="69"/>
                    <a:pt x="31" y="70"/>
                    <a:pt x="29" y="73"/>
                  </a:cubicBezTo>
                  <a:cubicBezTo>
                    <a:pt x="23" y="83"/>
                    <a:pt x="15" y="108"/>
                    <a:pt x="12" y="119"/>
                  </a:cubicBezTo>
                  <a:cubicBezTo>
                    <a:pt x="12" y="172"/>
                    <a:pt x="12" y="172"/>
                    <a:pt x="12" y="172"/>
                  </a:cubicBezTo>
                  <a:cubicBezTo>
                    <a:pt x="12" y="175"/>
                    <a:pt x="9" y="178"/>
                    <a:pt x="6" y="178"/>
                  </a:cubicBezTo>
                  <a:cubicBezTo>
                    <a:pt x="3" y="178"/>
                    <a:pt x="0" y="175"/>
                    <a:pt x="0" y="172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17"/>
                    <a:pt x="0" y="117"/>
                    <a:pt x="0" y="116"/>
                  </a:cubicBezTo>
                  <a:cubicBezTo>
                    <a:pt x="1" y="115"/>
                    <a:pt x="11" y="80"/>
                    <a:pt x="19" y="67"/>
                  </a:cubicBezTo>
                  <a:cubicBezTo>
                    <a:pt x="25" y="57"/>
                    <a:pt x="34" y="56"/>
                    <a:pt x="41" y="58"/>
                  </a:cubicBezTo>
                  <a:cubicBezTo>
                    <a:pt x="48" y="61"/>
                    <a:pt x="53" y="70"/>
                    <a:pt x="50" y="83"/>
                  </a:cubicBezTo>
                  <a:cubicBezTo>
                    <a:pt x="47" y="98"/>
                    <a:pt x="47" y="98"/>
                    <a:pt x="47" y="98"/>
                  </a:cubicBezTo>
                  <a:cubicBezTo>
                    <a:pt x="66" y="79"/>
                    <a:pt x="66" y="79"/>
                    <a:pt x="66" y="79"/>
                  </a:cubicBezTo>
                  <a:cubicBezTo>
                    <a:pt x="66" y="40"/>
                    <a:pt x="73" y="16"/>
                    <a:pt x="86" y="7"/>
                  </a:cubicBezTo>
                  <a:cubicBezTo>
                    <a:pt x="95" y="0"/>
                    <a:pt x="103" y="3"/>
                    <a:pt x="104" y="3"/>
                  </a:cubicBezTo>
                  <a:cubicBezTo>
                    <a:pt x="106" y="4"/>
                    <a:pt x="108" y="7"/>
                    <a:pt x="108" y="9"/>
                  </a:cubicBezTo>
                  <a:cubicBezTo>
                    <a:pt x="108" y="106"/>
                    <a:pt x="108" y="106"/>
                    <a:pt x="108" y="106"/>
                  </a:cubicBezTo>
                  <a:cubicBezTo>
                    <a:pt x="108" y="107"/>
                    <a:pt x="107" y="109"/>
                    <a:pt x="106" y="110"/>
                  </a:cubicBezTo>
                  <a:cubicBezTo>
                    <a:pt x="98" y="119"/>
                    <a:pt x="67" y="148"/>
                    <a:pt x="60" y="156"/>
                  </a:cubicBezTo>
                  <a:cubicBezTo>
                    <a:pt x="60" y="172"/>
                    <a:pt x="60" y="172"/>
                    <a:pt x="60" y="172"/>
                  </a:cubicBezTo>
                  <a:cubicBezTo>
                    <a:pt x="60" y="175"/>
                    <a:pt x="57" y="178"/>
                    <a:pt x="54" y="1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42" name="Freeform 115">
              <a:extLst>
                <a:ext uri="{FF2B5EF4-FFF2-40B4-BE49-F238E27FC236}">
                  <a16:creationId xmlns:a16="http://schemas.microsoft.com/office/drawing/2014/main" id="{622E5462-3A32-45A2-E4A7-9FEDBDB826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43" y="2239"/>
              <a:ext cx="124" cy="71"/>
            </a:xfrm>
            <a:custGeom>
              <a:avLst/>
              <a:gdLst>
                <a:gd name="T0" fmla="*/ 78 w 84"/>
                <a:gd name="T1" fmla="*/ 48 h 48"/>
                <a:gd name="T2" fmla="*/ 6 w 84"/>
                <a:gd name="T3" fmla="*/ 48 h 48"/>
                <a:gd name="T4" fmla="*/ 0 w 84"/>
                <a:gd name="T5" fmla="*/ 42 h 48"/>
                <a:gd name="T6" fmla="*/ 0 w 84"/>
                <a:gd name="T7" fmla="*/ 6 h 48"/>
                <a:gd name="T8" fmla="*/ 6 w 84"/>
                <a:gd name="T9" fmla="*/ 0 h 48"/>
                <a:gd name="T10" fmla="*/ 78 w 84"/>
                <a:gd name="T11" fmla="*/ 0 h 48"/>
                <a:gd name="T12" fmla="*/ 84 w 84"/>
                <a:gd name="T13" fmla="*/ 6 h 48"/>
                <a:gd name="T14" fmla="*/ 84 w 84"/>
                <a:gd name="T15" fmla="*/ 42 h 48"/>
                <a:gd name="T16" fmla="*/ 78 w 84"/>
                <a:gd name="T17" fmla="*/ 48 h 48"/>
                <a:gd name="T18" fmla="*/ 12 w 84"/>
                <a:gd name="T19" fmla="*/ 36 h 48"/>
                <a:gd name="T20" fmla="*/ 72 w 84"/>
                <a:gd name="T21" fmla="*/ 36 h 48"/>
                <a:gd name="T22" fmla="*/ 72 w 84"/>
                <a:gd name="T23" fmla="*/ 12 h 48"/>
                <a:gd name="T24" fmla="*/ 12 w 84"/>
                <a:gd name="T25" fmla="*/ 12 h 48"/>
                <a:gd name="T26" fmla="*/ 12 w 84"/>
                <a:gd name="T27" fmla="*/ 3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48">
                  <a:moveTo>
                    <a:pt x="78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2"/>
                    <a:pt x="84" y="6"/>
                  </a:cubicBezTo>
                  <a:cubicBezTo>
                    <a:pt x="84" y="42"/>
                    <a:pt x="84" y="42"/>
                    <a:pt x="84" y="42"/>
                  </a:cubicBezTo>
                  <a:cubicBezTo>
                    <a:pt x="84" y="45"/>
                    <a:pt x="81" y="48"/>
                    <a:pt x="78" y="48"/>
                  </a:cubicBezTo>
                  <a:close/>
                  <a:moveTo>
                    <a:pt x="12" y="36"/>
                  </a:moveTo>
                  <a:cubicBezTo>
                    <a:pt x="72" y="36"/>
                    <a:pt x="72" y="36"/>
                    <a:pt x="72" y="36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43" name="Freeform 116">
              <a:extLst>
                <a:ext uri="{FF2B5EF4-FFF2-40B4-BE49-F238E27FC236}">
                  <a16:creationId xmlns:a16="http://schemas.microsoft.com/office/drawing/2014/main" id="{934BB3D0-A482-0967-4719-56B33ECB5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" y="1993"/>
              <a:ext cx="160" cy="264"/>
            </a:xfrm>
            <a:custGeom>
              <a:avLst/>
              <a:gdLst>
                <a:gd name="T0" fmla="*/ 102 w 108"/>
                <a:gd name="T1" fmla="*/ 178 h 178"/>
                <a:gd name="T2" fmla="*/ 96 w 108"/>
                <a:gd name="T3" fmla="*/ 172 h 178"/>
                <a:gd name="T4" fmla="*/ 96 w 108"/>
                <a:gd name="T5" fmla="*/ 119 h 178"/>
                <a:gd name="T6" fmla="*/ 78 w 108"/>
                <a:gd name="T7" fmla="*/ 73 h 178"/>
                <a:gd name="T8" fmla="*/ 72 w 108"/>
                <a:gd name="T9" fmla="*/ 70 h 178"/>
                <a:gd name="T10" fmla="*/ 69 w 108"/>
                <a:gd name="T11" fmla="*/ 80 h 178"/>
                <a:gd name="T12" fmla="*/ 77 w 108"/>
                <a:gd name="T13" fmla="*/ 116 h 178"/>
                <a:gd name="T14" fmla="*/ 74 w 108"/>
                <a:gd name="T15" fmla="*/ 123 h 178"/>
                <a:gd name="T16" fmla="*/ 67 w 108"/>
                <a:gd name="T17" fmla="*/ 122 h 178"/>
                <a:gd name="T18" fmla="*/ 32 w 108"/>
                <a:gd name="T19" fmla="*/ 86 h 178"/>
                <a:gd name="T20" fmla="*/ 30 w 108"/>
                <a:gd name="T21" fmla="*/ 82 h 178"/>
                <a:gd name="T22" fmla="*/ 15 w 108"/>
                <a:gd name="T23" fmla="*/ 17 h 178"/>
                <a:gd name="T24" fmla="*/ 12 w 108"/>
                <a:gd name="T25" fmla="*/ 15 h 178"/>
                <a:gd name="T26" fmla="*/ 12 w 108"/>
                <a:gd name="T27" fmla="*/ 103 h 178"/>
                <a:gd name="T28" fmla="*/ 58 w 108"/>
                <a:gd name="T29" fmla="*/ 149 h 178"/>
                <a:gd name="T30" fmla="*/ 60 w 108"/>
                <a:gd name="T31" fmla="*/ 153 h 178"/>
                <a:gd name="T32" fmla="*/ 60 w 108"/>
                <a:gd name="T33" fmla="*/ 172 h 178"/>
                <a:gd name="T34" fmla="*/ 54 w 108"/>
                <a:gd name="T35" fmla="*/ 178 h 178"/>
                <a:gd name="T36" fmla="*/ 48 w 108"/>
                <a:gd name="T37" fmla="*/ 172 h 178"/>
                <a:gd name="T38" fmla="*/ 48 w 108"/>
                <a:gd name="T39" fmla="*/ 156 h 178"/>
                <a:gd name="T40" fmla="*/ 2 w 108"/>
                <a:gd name="T41" fmla="*/ 110 h 178"/>
                <a:gd name="T42" fmla="*/ 0 w 108"/>
                <a:gd name="T43" fmla="*/ 106 h 178"/>
                <a:gd name="T44" fmla="*/ 0 w 108"/>
                <a:gd name="T45" fmla="*/ 9 h 178"/>
                <a:gd name="T46" fmla="*/ 4 w 108"/>
                <a:gd name="T47" fmla="*/ 3 h 178"/>
                <a:gd name="T48" fmla="*/ 21 w 108"/>
                <a:gd name="T49" fmla="*/ 7 h 178"/>
                <a:gd name="T50" fmla="*/ 42 w 108"/>
                <a:gd name="T51" fmla="*/ 79 h 178"/>
                <a:gd name="T52" fmla="*/ 61 w 108"/>
                <a:gd name="T53" fmla="*/ 98 h 178"/>
                <a:gd name="T54" fmla="*/ 57 w 108"/>
                <a:gd name="T55" fmla="*/ 83 h 178"/>
                <a:gd name="T56" fmla="*/ 67 w 108"/>
                <a:gd name="T57" fmla="*/ 58 h 178"/>
                <a:gd name="T58" fmla="*/ 89 w 108"/>
                <a:gd name="T59" fmla="*/ 67 h 178"/>
                <a:gd name="T60" fmla="*/ 108 w 108"/>
                <a:gd name="T61" fmla="*/ 116 h 178"/>
                <a:gd name="T62" fmla="*/ 108 w 108"/>
                <a:gd name="T63" fmla="*/ 118 h 178"/>
                <a:gd name="T64" fmla="*/ 108 w 108"/>
                <a:gd name="T65" fmla="*/ 172 h 178"/>
                <a:gd name="T66" fmla="*/ 102 w 108"/>
                <a:gd name="T67" fmla="*/ 17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8" h="178">
                  <a:moveTo>
                    <a:pt x="102" y="178"/>
                  </a:moveTo>
                  <a:cubicBezTo>
                    <a:pt x="99" y="178"/>
                    <a:pt x="96" y="175"/>
                    <a:pt x="96" y="172"/>
                  </a:cubicBezTo>
                  <a:cubicBezTo>
                    <a:pt x="96" y="119"/>
                    <a:pt x="96" y="119"/>
                    <a:pt x="96" y="119"/>
                  </a:cubicBezTo>
                  <a:cubicBezTo>
                    <a:pt x="93" y="108"/>
                    <a:pt x="84" y="83"/>
                    <a:pt x="78" y="73"/>
                  </a:cubicBezTo>
                  <a:cubicBezTo>
                    <a:pt x="76" y="70"/>
                    <a:pt x="74" y="69"/>
                    <a:pt x="72" y="70"/>
                  </a:cubicBezTo>
                  <a:cubicBezTo>
                    <a:pt x="69" y="70"/>
                    <a:pt x="68" y="74"/>
                    <a:pt x="69" y="80"/>
                  </a:cubicBezTo>
                  <a:cubicBezTo>
                    <a:pt x="77" y="116"/>
                    <a:pt x="77" y="116"/>
                    <a:pt x="77" y="116"/>
                  </a:cubicBezTo>
                  <a:cubicBezTo>
                    <a:pt x="78" y="119"/>
                    <a:pt x="77" y="121"/>
                    <a:pt x="74" y="123"/>
                  </a:cubicBezTo>
                  <a:cubicBezTo>
                    <a:pt x="72" y="124"/>
                    <a:pt x="69" y="124"/>
                    <a:pt x="67" y="122"/>
                  </a:cubicBezTo>
                  <a:cubicBezTo>
                    <a:pt x="32" y="86"/>
                    <a:pt x="32" y="86"/>
                    <a:pt x="32" y="86"/>
                  </a:cubicBezTo>
                  <a:cubicBezTo>
                    <a:pt x="30" y="85"/>
                    <a:pt x="30" y="83"/>
                    <a:pt x="30" y="82"/>
                  </a:cubicBezTo>
                  <a:cubicBezTo>
                    <a:pt x="30" y="35"/>
                    <a:pt x="20" y="21"/>
                    <a:pt x="15" y="17"/>
                  </a:cubicBezTo>
                  <a:cubicBezTo>
                    <a:pt x="14" y="16"/>
                    <a:pt x="13" y="15"/>
                    <a:pt x="12" y="15"/>
                  </a:cubicBezTo>
                  <a:cubicBezTo>
                    <a:pt x="12" y="103"/>
                    <a:pt x="12" y="103"/>
                    <a:pt x="12" y="103"/>
                  </a:cubicBezTo>
                  <a:cubicBezTo>
                    <a:pt x="26" y="115"/>
                    <a:pt x="57" y="148"/>
                    <a:pt x="58" y="149"/>
                  </a:cubicBezTo>
                  <a:cubicBezTo>
                    <a:pt x="59" y="150"/>
                    <a:pt x="60" y="152"/>
                    <a:pt x="60" y="153"/>
                  </a:cubicBezTo>
                  <a:cubicBezTo>
                    <a:pt x="60" y="172"/>
                    <a:pt x="60" y="172"/>
                    <a:pt x="60" y="172"/>
                  </a:cubicBezTo>
                  <a:cubicBezTo>
                    <a:pt x="60" y="175"/>
                    <a:pt x="57" y="178"/>
                    <a:pt x="54" y="178"/>
                  </a:cubicBezTo>
                  <a:cubicBezTo>
                    <a:pt x="51" y="178"/>
                    <a:pt x="48" y="175"/>
                    <a:pt x="48" y="172"/>
                  </a:cubicBezTo>
                  <a:cubicBezTo>
                    <a:pt x="48" y="156"/>
                    <a:pt x="48" y="156"/>
                    <a:pt x="48" y="156"/>
                  </a:cubicBezTo>
                  <a:cubicBezTo>
                    <a:pt x="41" y="148"/>
                    <a:pt x="12" y="119"/>
                    <a:pt x="2" y="110"/>
                  </a:cubicBezTo>
                  <a:cubicBezTo>
                    <a:pt x="1" y="109"/>
                    <a:pt x="0" y="108"/>
                    <a:pt x="0" y="10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4"/>
                    <a:pt x="4" y="3"/>
                  </a:cubicBezTo>
                  <a:cubicBezTo>
                    <a:pt x="5" y="3"/>
                    <a:pt x="13" y="0"/>
                    <a:pt x="21" y="7"/>
                  </a:cubicBezTo>
                  <a:cubicBezTo>
                    <a:pt x="35" y="16"/>
                    <a:pt x="42" y="40"/>
                    <a:pt x="42" y="79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57" y="83"/>
                    <a:pt x="57" y="83"/>
                    <a:pt x="57" y="83"/>
                  </a:cubicBezTo>
                  <a:cubicBezTo>
                    <a:pt x="54" y="70"/>
                    <a:pt x="60" y="61"/>
                    <a:pt x="67" y="58"/>
                  </a:cubicBezTo>
                  <a:cubicBezTo>
                    <a:pt x="73" y="56"/>
                    <a:pt x="82" y="57"/>
                    <a:pt x="89" y="67"/>
                  </a:cubicBezTo>
                  <a:cubicBezTo>
                    <a:pt x="97" y="80"/>
                    <a:pt x="107" y="115"/>
                    <a:pt x="108" y="116"/>
                  </a:cubicBezTo>
                  <a:cubicBezTo>
                    <a:pt x="108" y="117"/>
                    <a:pt x="108" y="117"/>
                    <a:pt x="108" y="118"/>
                  </a:cubicBezTo>
                  <a:cubicBezTo>
                    <a:pt x="108" y="172"/>
                    <a:pt x="108" y="172"/>
                    <a:pt x="108" y="172"/>
                  </a:cubicBezTo>
                  <a:cubicBezTo>
                    <a:pt x="108" y="175"/>
                    <a:pt x="105" y="178"/>
                    <a:pt x="102" y="1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</p:grpSp>
      <p:grpSp>
        <p:nvGrpSpPr>
          <p:cNvPr id="144" name="Group 17">
            <a:extLst>
              <a:ext uri="{FF2B5EF4-FFF2-40B4-BE49-F238E27FC236}">
                <a16:creationId xmlns:a16="http://schemas.microsoft.com/office/drawing/2014/main" id="{A8EA10AC-B73B-F9E1-4F6F-5665E6A2C63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415195" y="5675876"/>
            <a:ext cx="584325" cy="611536"/>
            <a:chOff x="1569" y="598"/>
            <a:chExt cx="408" cy="427"/>
          </a:xfrm>
          <a:solidFill>
            <a:srgbClr val="A100FF"/>
          </a:solidFill>
        </p:grpSpPr>
        <p:sp>
          <p:nvSpPr>
            <p:cNvPr id="145" name="Freeform 18">
              <a:extLst>
                <a:ext uri="{FF2B5EF4-FFF2-40B4-BE49-F238E27FC236}">
                  <a16:creationId xmlns:a16="http://schemas.microsoft.com/office/drawing/2014/main" id="{A9C80436-39AD-0748-6B06-7FC08BAB0E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83" y="811"/>
              <a:ext cx="179" cy="178"/>
            </a:xfrm>
            <a:custGeom>
              <a:avLst/>
              <a:gdLst>
                <a:gd name="T0" fmla="*/ 61 w 121"/>
                <a:gd name="T1" fmla="*/ 120 h 120"/>
                <a:gd name="T2" fmla="*/ 57 w 121"/>
                <a:gd name="T3" fmla="*/ 118 h 120"/>
                <a:gd name="T4" fmla="*/ 3 w 121"/>
                <a:gd name="T5" fmla="*/ 70 h 120"/>
                <a:gd name="T6" fmla="*/ 1 w 121"/>
                <a:gd name="T7" fmla="*/ 64 h 120"/>
                <a:gd name="T8" fmla="*/ 7 w 121"/>
                <a:gd name="T9" fmla="*/ 60 h 120"/>
                <a:gd name="T10" fmla="*/ 31 w 121"/>
                <a:gd name="T11" fmla="*/ 60 h 120"/>
                <a:gd name="T12" fmla="*/ 31 w 121"/>
                <a:gd name="T13" fmla="*/ 6 h 120"/>
                <a:gd name="T14" fmla="*/ 37 w 121"/>
                <a:gd name="T15" fmla="*/ 0 h 120"/>
                <a:gd name="T16" fmla="*/ 85 w 121"/>
                <a:gd name="T17" fmla="*/ 0 h 120"/>
                <a:gd name="T18" fmla="*/ 91 w 121"/>
                <a:gd name="T19" fmla="*/ 6 h 120"/>
                <a:gd name="T20" fmla="*/ 91 w 121"/>
                <a:gd name="T21" fmla="*/ 60 h 120"/>
                <a:gd name="T22" fmla="*/ 115 w 121"/>
                <a:gd name="T23" fmla="*/ 60 h 120"/>
                <a:gd name="T24" fmla="*/ 120 w 121"/>
                <a:gd name="T25" fmla="*/ 64 h 120"/>
                <a:gd name="T26" fmla="*/ 119 w 121"/>
                <a:gd name="T27" fmla="*/ 70 h 120"/>
                <a:gd name="T28" fmla="*/ 65 w 121"/>
                <a:gd name="T29" fmla="*/ 118 h 120"/>
                <a:gd name="T30" fmla="*/ 61 w 121"/>
                <a:gd name="T31" fmla="*/ 120 h 120"/>
                <a:gd name="T32" fmla="*/ 22 w 121"/>
                <a:gd name="T33" fmla="*/ 72 h 120"/>
                <a:gd name="T34" fmla="*/ 61 w 121"/>
                <a:gd name="T35" fmla="*/ 106 h 120"/>
                <a:gd name="T36" fmla="*/ 99 w 121"/>
                <a:gd name="T37" fmla="*/ 72 h 120"/>
                <a:gd name="T38" fmla="*/ 85 w 121"/>
                <a:gd name="T39" fmla="*/ 72 h 120"/>
                <a:gd name="T40" fmla="*/ 79 w 121"/>
                <a:gd name="T41" fmla="*/ 66 h 120"/>
                <a:gd name="T42" fmla="*/ 79 w 121"/>
                <a:gd name="T43" fmla="*/ 12 h 120"/>
                <a:gd name="T44" fmla="*/ 43 w 121"/>
                <a:gd name="T45" fmla="*/ 12 h 120"/>
                <a:gd name="T46" fmla="*/ 43 w 121"/>
                <a:gd name="T47" fmla="*/ 66 h 120"/>
                <a:gd name="T48" fmla="*/ 37 w 121"/>
                <a:gd name="T49" fmla="*/ 72 h 120"/>
                <a:gd name="T50" fmla="*/ 22 w 121"/>
                <a:gd name="T51" fmla="*/ 7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1" h="120">
                  <a:moveTo>
                    <a:pt x="61" y="120"/>
                  </a:moveTo>
                  <a:cubicBezTo>
                    <a:pt x="59" y="120"/>
                    <a:pt x="58" y="119"/>
                    <a:pt x="57" y="118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1" y="69"/>
                    <a:pt x="0" y="66"/>
                    <a:pt x="1" y="64"/>
                  </a:cubicBezTo>
                  <a:cubicBezTo>
                    <a:pt x="2" y="61"/>
                    <a:pt x="4" y="60"/>
                    <a:pt x="7" y="60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"/>
                    <a:pt x="31" y="6"/>
                    <a:pt x="31" y="6"/>
                  </a:cubicBezTo>
                  <a:cubicBezTo>
                    <a:pt x="31" y="3"/>
                    <a:pt x="33" y="0"/>
                    <a:pt x="37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8" y="0"/>
                    <a:pt x="91" y="3"/>
                    <a:pt x="91" y="6"/>
                  </a:cubicBezTo>
                  <a:cubicBezTo>
                    <a:pt x="91" y="60"/>
                    <a:pt x="91" y="60"/>
                    <a:pt x="91" y="60"/>
                  </a:cubicBezTo>
                  <a:cubicBezTo>
                    <a:pt x="115" y="60"/>
                    <a:pt x="115" y="60"/>
                    <a:pt x="115" y="60"/>
                  </a:cubicBezTo>
                  <a:cubicBezTo>
                    <a:pt x="117" y="60"/>
                    <a:pt x="119" y="61"/>
                    <a:pt x="120" y="64"/>
                  </a:cubicBezTo>
                  <a:cubicBezTo>
                    <a:pt x="121" y="66"/>
                    <a:pt x="121" y="69"/>
                    <a:pt x="119" y="70"/>
                  </a:cubicBezTo>
                  <a:cubicBezTo>
                    <a:pt x="65" y="118"/>
                    <a:pt x="65" y="118"/>
                    <a:pt x="65" y="118"/>
                  </a:cubicBezTo>
                  <a:cubicBezTo>
                    <a:pt x="63" y="119"/>
                    <a:pt x="62" y="120"/>
                    <a:pt x="61" y="120"/>
                  </a:cubicBezTo>
                  <a:close/>
                  <a:moveTo>
                    <a:pt x="22" y="72"/>
                  </a:moveTo>
                  <a:cubicBezTo>
                    <a:pt x="61" y="106"/>
                    <a:pt x="61" y="106"/>
                    <a:pt x="61" y="106"/>
                  </a:cubicBezTo>
                  <a:cubicBezTo>
                    <a:pt x="99" y="72"/>
                    <a:pt x="99" y="72"/>
                    <a:pt x="99" y="72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1" y="72"/>
                    <a:pt x="79" y="69"/>
                    <a:pt x="79" y="66"/>
                  </a:cubicBezTo>
                  <a:cubicBezTo>
                    <a:pt x="79" y="12"/>
                    <a:pt x="79" y="12"/>
                    <a:pt x="79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9"/>
                    <a:pt x="40" y="72"/>
                    <a:pt x="37" y="72"/>
                  </a:cubicBezTo>
                  <a:lnTo>
                    <a:pt x="22" y="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146" name="Freeform 19">
              <a:extLst>
                <a:ext uri="{FF2B5EF4-FFF2-40B4-BE49-F238E27FC236}">
                  <a16:creationId xmlns:a16="http://schemas.microsoft.com/office/drawing/2014/main" id="{E62D452A-444E-DF38-F554-472B796D9E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0" y="669"/>
              <a:ext cx="266" cy="206"/>
            </a:xfrm>
            <a:custGeom>
              <a:avLst/>
              <a:gdLst>
                <a:gd name="T0" fmla="*/ 17 w 180"/>
                <a:gd name="T1" fmla="*/ 138 h 139"/>
                <a:gd name="T2" fmla="*/ 12 w 180"/>
                <a:gd name="T3" fmla="*/ 135 h 139"/>
                <a:gd name="T4" fmla="*/ 0 w 180"/>
                <a:gd name="T5" fmla="*/ 90 h 139"/>
                <a:gd name="T6" fmla="*/ 90 w 180"/>
                <a:gd name="T7" fmla="*/ 0 h 139"/>
                <a:gd name="T8" fmla="*/ 180 w 180"/>
                <a:gd name="T9" fmla="*/ 90 h 139"/>
                <a:gd name="T10" fmla="*/ 168 w 180"/>
                <a:gd name="T11" fmla="*/ 135 h 139"/>
                <a:gd name="T12" fmla="*/ 160 w 180"/>
                <a:gd name="T13" fmla="*/ 137 h 139"/>
                <a:gd name="T14" fmla="*/ 157 w 180"/>
                <a:gd name="T15" fmla="*/ 129 h 139"/>
                <a:gd name="T16" fmla="*/ 168 w 180"/>
                <a:gd name="T17" fmla="*/ 90 h 139"/>
                <a:gd name="T18" fmla="*/ 90 w 180"/>
                <a:gd name="T19" fmla="*/ 12 h 139"/>
                <a:gd name="T20" fmla="*/ 12 w 180"/>
                <a:gd name="T21" fmla="*/ 90 h 139"/>
                <a:gd name="T22" fmla="*/ 22 w 180"/>
                <a:gd name="T23" fmla="*/ 129 h 139"/>
                <a:gd name="T24" fmla="*/ 20 w 180"/>
                <a:gd name="T25" fmla="*/ 137 h 139"/>
                <a:gd name="T26" fmla="*/ 17 w 180"/>
                <a:gd name="T27" fmla="*/ 138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0" h="139">
                  <a:moveTo>
                    <a:pt x="17" y="138"/>
                  </a:moveTo>
                  <a:cubicBezTo>
                    <a:pt x="15" y="138"/>
                    <a:pt x="13" y="137"/>
                    <a:pt x="12" y="135"/>
                  </a:cubicBezTo>
                  <a:cubicBezTo>
                    <a:pt x="4" y="121"/>
                    <a:pt x="0" y="106"/>
                    <a:pt x="0" y="90"/>
                  </a:cubicBezTo>
                  <a:cubicBezTo>
                    <a:pt x="0" y="40"/>
                    <a:pt x="40" y="0"/>
                    <a:pt x="90" y="0"/>
                  </a:cubicBezTo>
                  <a:cubicBezTo>
                    <a:pt x="139" y="0"/>
                    <a:pt x="180" y="40"/>
                    <a:pt x="180" y="90"/>
                  </a:cubicBezTo>
                  <a:cubicBezTo>
                    <a:pt x="180" y="106"/>
                    <a:pt x="176" y="121"/>
                    <a:pt x="168" y="135"/>
                  </a:cubicBezTo>
                  <a:cubicBezTo>
                    <a:pt x="166" y="138"/>
                    <a:pt x="162" y="139"/>
                    <a:pt x="160" y="137"/>
                  </a:cubicBezTo>
                  <a:cubicBezTo>
                    <a:pt x="157" y="135"/>
                    <a:pt x="156" y="132"/>
                    <a:pt x="157" y="129"/>
                  </a:cubicBezTo>
                  <a:cubicBezTo>
                    <a:pt x="164" y="117"/>
                    <a:pt x="168" y="104"/>
                    <a:pt x="168" y="90"/>
                  </a:cubicBezTo>
                  <a:cubicBezTo>
                    <a:pt x="168" y="47"/>
                    <a:pt x="133" y="12"/>
                    <a:pt x="90" y="12"/>
                  </a:cubicBezTo>
                  <a:cubicBezTo>
                    <a:pt x="47" y="12"/>
                    <a:pt x="12" y="47"/>
                    <a:pt x="12" y="90"/>
                  </a:cubicBezTo>
                  <a:cubicBezTo>
                    <a:pt x="12" y="104"/>
                    <a:pt x="15" y="117"/>
                    <a:pt x="22" y="129"/>
                  </a:cubicBezTo>
                  <a:cubicBezTo>
                    <a:pt x="24" y="132"/>
                    <a:pt x="23" y="135"/>
                    <a:pt x="20" y="137"/>
                  </a:cubicBezTo>
                  <a:cubicBezTo>
                    <a:pt x="19" y="138"/>
                    <a:pt x="18" y="138"/>
                    <a:pt x="17" y="1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147" name="Freeform 20">
              <a:extLst>
                <a:ext uri="{FF2B5EF4-FFF2-40B4-BE49-F238E27FC236}">
                  <a16:creationId xmlns:a16="http://schemas.microsoft.com/office/drawing/2014/main" id="{06FAB633-57E8-6814-1F11-02B334895F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4" y="598"/>
              <a:ext cx="18" cy="54"/>
            </a:xfrm>
            <a:custGeom>
              <a:avLst/>
              <a:gdLst>
                <a:gd name="T0" fmla="*/ 6 w 12"/>
                <a:gd name="T1" fmla="*/ 36 h 36"/>
                <a:gd name="T2" fmla="*/ 0 w 12"/>
                <a:gd name="T3" fmla="*/ 30 h 36"/>
                <a:gd name="T4" fmla="*/ 0 w 12"/>
                <a:gd name="T5" fmla="*/ 6 h 36"/>
                <a:gd name="T6" fmla="*/ 6 w 12"/>
                <a:gd name="T7" fmla="*/ 0 h 36"/>
                <a:gd name="T8" fmla="*/ 12 w 12"/>
                <a:gd name="T9" fmla="*/ 6 h 36"/>
                <a:gd name="T10" fmla="*/ 12 w 12"/>
                <a:gd name="T11" fmla="*/ 30 h 36"/>
                <a:gd name="T12" fmla="*/ 6 w 12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36">
                  <a:moveTo>
                    <a:pt x="6" y="36"/>
                  </a:moveTo>
                  <a:cubicBezTo>
                    <a:pt x="2" y="36"/>
                    <a:pt x="0" y="33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33"/>
                    <a:pt x="9" y="36"/>
                    <a:pt x="6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148" name="Freeform 21">
              <a:extLst>
                <a:ext uri="{FF2B5EF4-FFF2-40B4-BE49-F238E27FC236}">
                  <a16:creationId xmlns:a16="http://schemas.microsoft.com/office/drawing/2014/main" id="{0FA65616-5669-8D3A-694E-D748D254A5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655"/>
              <a:ext cx="43" cy="42"/>
            </a:xfrm>
            <a:custGeom>
              <a:avLst/>
              <a:gdLst>
                <a:gd name="T0" fmla="*/ 6 w 29"/>
                <a:gd name="T1" fmla="*/ 29 h 29"/>
                <a:gd name="T2" fmla="*/ 2 w 29"/>
                <a:gd name="T3" fmla="*/ 28 h 29"/>
                <a:gd name="T4" fmla="*/ 2 w 29"/>
                <a:gd name="T5" fmla="*/ 19 h 29"/>
                <a:gd name="T6" fmla="*/ 19 w 29"/>
                <a:gd name="T7" fmla="*/ 2 h 29"/>
                <a:gd name="T8" fmla="*/ 27 w 29"/>
                <a:gd name="T9" fmla="*/ 2 h 29"/>
                <a:gd name="T10" fmla="*/ 27 w 29"/>
                <a:gd name="T11" fmla="*/ 11 h 29"/>
                <a:gd name="T12" fmla="*/ 10 w 29"/>
                <a:gd name="T13" fmla="*/ 28 h 29"/>
                <a:gd name="T14" fmla="*/ 6 w 29"/>
                <a:gd name="T1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" h="29">
                  <a:moveTo>
                    <a:pt x="6" y="29"/>
                  </a:moveTo>
                  <a:cubicBezTo>
                    <a:pt x="5" y="29"/>
                    <a:pt x="3" y="29"/>
                    <a:pt x="2" y="28"/>
                  </a:cubicBezTo>
                  <a:cubicBezTo>
                    <a:pt x="0" y="25"/>
                    <a:pt x="0" y="22"/>
                    <a:pt x="2" y="19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21" y="0"/>
                    <a:pt x="25" y="0"/>
                    <a:pt x="27" y="2"/>
                  </a:cubicBezTo>
                  <a:cubicBezTo>
                    <a:pt x="29" y="5"/>
                    <a:pt x="29" y="9"/>
                    <a:pt x="27" y="11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9" y="29"/>
                    <a:pt x="8" y="29"/>
                    <a:pt x="6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149" name="Freeform 22">
              <a:extLst>
                <a:ext uri="{FF2B5EF4-FFF2-40B4-BE49-F238E27FC236}">
                  <a16:creationId xmlns:a16="http://schemas.microsoft.com/office/drawing/2014/main" id="{44F2179F-8B84-A4EF-4AD0-436E04BB6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" y="794"/>
              <a:ext cx="53" cy="17"/>
            </a:xfrm>
            <a:custGeom>
              <a:avLst/>
              <a:gdLst>
                <a:gd name="T0" fmla="*/ 30 w 36"/>
                <a:gd name="T1" fmla="*/ 12 h 12"/>
                <a:gd name="T2" fmla="*/ 6 w 36"/>
                <a:gd name="T3" fmla="*/ 12 h 12"/>
                <a:gd name="T4" fmla="*/ 0 w 36"/>
                <a:gd name="T5" fmla="*/ 6 h 12"/>
                <a:gd name="T6" fmla="*/ 6 w 36"/>
                <a:gd name="T7" fmla="*/ 0 h 12"/>
                <a:gd name="T8" fmla="*/ 30 w 36"/>
                <a:gd name="T9" fmla="*/ 0 h 12"/>
                <a:gd name="T10" fmla="*/ 36 w 36"/>
                <a:gd name="T11" fmla="*/ 6 h 12"/>
                <a:gd name="T12" fmla="*/ 30 w 3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6" y="3"/>
                    <a:pt x="36" y="6"/>
                  </a:cubicBezTo>
                  <a:cubicBezTo>
                    <a:pt x="36" y="9"/>
                    <a:pt x="33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150" name="Freeform 23">
              <a:extLst>
                <a:ext uri="{FF2B5EF4-FFF2-40B4-BE49-F238E27FC236}">
                  <a16:creationId xmlns:a16="http://schemas.microsoft.com/office/drawing/2014/main" id="{4B499F29-B694-68D9-8727-C3D26808D6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906"/>
              <a:ext cx="44" cy="43"/>
            </a:xfrm>
            <a:custGeom>
              <a:avLst/>
              <a:gdLst>
                <a:gd name="T0" fmla="*/ 23 w 30"/>
                <a:gd name="T1" fmla="*/ 29 h 29"/>
                <a:gd name="T2" fmla="*/ 19 w 30"/>
                <a:gd name="T3" fmla="*/ 28 h 29"/>
                <a:gd name="T4" fmla="*/ 2 w 30"/>
                <a:gd name="T5" fmla="*/ 11 h 29"/>
                <a:gd name="T6" fmla="*/ 2 w 30"/>
                <a:gd name="T7" fmla="*/ 2 h 29"/>
                <a:gd name="T8" fmla="*/ 10 w 30"/>
                <a:gd name="T9" fmla="*/ 2 h 29"/>
                <a:gd name="T10" fmla="*/ 27 w 30"/>
                <a:gd name="T11" fmla="*/ 19 h 29"/>
                <a:gd name="T12" fmla="*/ 27 w 30"/>
                <a:gd name="T13" fmla="*/ 28 h 29"/>
                <a:gd name="T14" fmla="*/ 23 w 30"/>
                <a:gd name="T1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29">
                  <a:moveTo>
                    <a:pt x="23" y="29"/>
                  </a:moveTo>
                  <a:cubicBezTo>
                    <a:pt x="21" y="29"/>
                    <a:pt x="20" y="29"/>
                    <a:pt x="19" y="28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8"/>
                    <a:pt x="0" y="5"/>
                    <a:pt x="2" y="2"/>
                  </a:cubicBezTo>
                  <a:cubicBezTo>
                    <a:pt x="4" y="0"/>
                    <a:pt x="8" y="0"/>
                    <a:pt x="10" y="2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30" y="21"/>
                    <a:pt x="30" y="25"/>
                    <a:pt x="27" y="28"/>
                  </a:cubicBezTo>
                  <a:cubicBezTo>
                    <a:pt x="26" y="29"/>
                    <a:pt x="24" y="29"/>
                    <a:pt x="23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151" name="Freeform 24">
              <a:extLst>
                <a:ext uri="{FF2B5EF4-FFF2-40B4-BE49-F238E27FC236}">
                  <a16:creationId xmlns:a16="http://schemas.microsoft.com/office/drawing/2014/main" id="{495DB302-340B-0823-276D-426D9072A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5" y="906"/>
              <a:ext cx="44" cy="43"/>
            </a:xfrm>
            <a:custGeom>
              <a:avLst/>
              <a:gdLst>
                <a:gd name="T0" fmla="*/ 6 w 30"/>
                <a:gd name="T1" fmla="*/ 29 h 29"/>
                <a:gd name="T2" fmla="*/ 2 w 30"/>
                <a:gd name="T3" fmla="*/ 28 h 29"/>
                <a:gd name="T4" fmla="*/ 2 w 30"/>
                <a:gd name="T5" fmla="*/ 19 h 29"/>
                <a:gd name="T6" fmla="*/ 19 w 30"/>
                <a:gd name="T7" fmla="*/ 2 h 29"/>
                <a:gd name="T8" fmla="*/ 27 w 30"/>
                <a:gd name="T9" fmla="*/ 2 h 29"/>
                <a:gd name="T10" fmla="*/ 27 w 30"/>
                <a:gd name="T11" fmla="*/ 11 h 29"/>
                <a:gd name="T12" fmla="*/ 11 w 30"/>
                <a:gd name="T13" fmla="*/ 28 h 29"/>
                <a:gd name="T14" fmla="*/ 6 w 30"/>
                <a:gd name="T1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29">
                  <a:moveTo>
                    <a:pt x="6" y="29"/>
                  </a:moveTo>
                  <a:cubicBezTo>
                    <a:pt x="5" y="29"/>
                    <a:pt x="3" y="29"/>
                    <a:pt x="2" y="28"/>
                  </a:cubicBezTo>
                  <a:cubicBezTo>
                    <a:pt x="0" y="25"/>
                    <a:pt x="0" y="21"/>
                    <a:pt x="2" y="19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21" y="0"/>
                    <a:pt x="25" y="0"/>
                    <a:pt x="27" y="2"/>
                  </a:cubicBezTo>
                  <a:cubicBezTo>
                    <a:pt x="30" y="5"/>
                    <a:pt x="30" y="9"/>
                    <a:pt x="27" y="11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9" y="29"/>
                    <a:pt x="8" y="29"/>
                    <a:pt x="6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152" name="Freeform 25">
              <a:extLst>
                <a:ext uri="{FF2B5EF4-FFF2-40B4-BE49-F238E27FC236}">
                  <a16:creationId xmlns:a16="http://schemas.microsoft.com/office/drawing/2014/main" id="{057B41F3-999C-A3B6-34D7-6DB5D8527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9" y="794"/>
              <a:ext cx="52" cy="17"/>
            </a:xfrm>
            <a:custGeom>
              <a:avLst/>
              <a:gdLst>
                <a:gd name="T0" fmla="*/ 29 w 35"/>
                <a:gd name="T1" fmla="*/ 12 h 12"/>
                <a:gd name="T2" fmla="*/ 6 w 35"/>
                <a:gd name="T3" fmla="*/ 12 h 12"/>
                <a:gd name="T4" fmla="*/ 0 w 35"/>
                <a:gd name="T5" fmla="*/ 6 h 12"/>
                <a:gd name="T6" fmla="*/ 6 w 35"/>
                <a:gd name="T7" fmla="*/ 0 h 12"/>
                <a:gd name="T8" fmla="*/ 29 w 35"/>
                <a:gd name="T9" fmla="*/ 0 h 12"/>
                <a:gd name="T10" fmla="*/ 35 w 35"/>
                <a:gd name="T11" fmla="*/ 6 h 12"/>
                <a:gd name="T12" fmla="*/ 29 w 35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12">
                  <a:moveTo>
                    <a:pt x="29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33" y="0"/>
                    <a:pt x="35" y="3"/>
                    <a:pt x="35" y="6"/>
                  </a:cubicBezTo>
                  <a:cubicBezTo>
                    <a:pt x="35" y="9"/>
                    <a:pt x="33" y="12"/>
                    <a:pt x="29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153" name="Freeform 26">
              <a:extLst>
                <a:ext uri="{FF2B5EF4-FFF2-40B4-BE49-F238E27FC236}">
                  <a16:creationId xmlns:a16="http://schemas.microsoft.com/office/drawing/2014/main" id="{27B5FA4B-5D48-6504-5059-3FA0B25B7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5" y="655"/>
              <a:ext cx="44" cy="44"/>
            </a:xfrm>
            <a:custGeom>
              <a:avLst/>
              <a:gdLst>
                <a:gd name="T0" fmla="*/ 23 w 30"/>
                <a:gd name="T1" fmla="*/ 30 h 30"/>
                <a:gd name="T2" fmla="*/ 19 w 30"/>
                <a:gd name="T3" fmla="*/ 28 h 30"/>
                <a:gd name="T4" fmla="*/ 2 w 30"/>
                <a:gd name="T5" fmla="*/ 11 h 30"/>
                <a:gd name="T6" fmla="*/ 2 w 30"/>
                <a:gd name="T7" fmla="*/ 3 h 30"/>
                <a:gd name="T8" fmla="*/ 11 w 30"/>
                <a:gd name="T9" fmla="*/ 3 h 30"/>
                <a:gd name="T10" fmla="*/ 27 w 30"/>
                <a:gd name="T11" fmla="*/ 19 h 30"/>
                <a:gd name="T12" fmla="*/ 27 w 30"/>
                <a:gd name="T13" fmla="*/ 28 h 30"/>
                <a:gd name="T14" fmla="*/ 23 w 30"/>
                <a:gd name="T1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30">
                  <a:moveTo>
                    <a:pt x="23" y="30"/>
                  </a:moveTo>
                  <a:cubicBezTo>
                    <a:pt x="21" y="30"/>
                    <a:pt x="20" y="29"/>
                    <a:pt x="19" y="28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9"/>
                    <a:pt x="0" y="5"/>
                    <a:pt x="2" y="3"/>
                  </a:cubicBezTo>
                  <a:cubicBezTo>
                    <a:pt x="4" y="0"/>
                    <a:pt x="8" y="0"/>
                    <a:pt x="11" y="3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30" y="22"/>
                    <a:pt x="30" y="25"/>
                    <a:pt x="27" y="28"/>
                  </a:cubicBezTo>
                  <a:cubicBezTo>
                    <a:pt x="26" y="29"/>
                    <a:pt x="25" y="30"/>
                    <a:pt x="23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154" name="Freeform 27">
              <a:extLst>
                <a:ext uri="{FF2B5EF4-FFF2-40B4-BE49-F238E27FC236}">
                  <a16:creationId xmlns:a16="http://schemas.microsoft.com/office/drawing/2014/main" id="{32FDA2B1-430A-CBC2-C390-3300A470A6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9" y="1007"/>
              <a:ext cx="408" cy="18"/>
            </a:xfrm>
            <a:custGeom>
              <a:avLst/>
              <a:gdLst>
                <a:gd name="T0" fmla="*/ 270 w 276"/>
                <a:gd name="T1" fmla="*/ 12 h 12"/>
                <a:gd name="T2" fmla="*/ 6 w 276"/>
                <a:gd name="T3" fmla="*/ 12 h 12"/>
                <a:gd name="T4" fmla="*/ 0 w 276"/>
                <a:gd name="T5" fmla="*/ 6 h 12"/>
                <a:gd name="T6" fmla="*/ 6 w 276"/>
                <a:gd name="T7" fmla="*/ 0 h 12"/>
                <a:gd name="T8" fmla="*/ 270 w 276"/>
                <a:gd name="T9" fmla="*/ 0 h 12"/>
                <a:gd name="T10" fmla="*/ 276 w 276"/>
                <a:gd name="T11" fmla="*/ 6 h 12"/>
                <a:gd name="T12" fmla="*/ 270 w 27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6" h="12">
                  <a:moveTo>
                    <a:pt x="27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270" y="0"/>
                    <a:pt x="270" y="0"/>
                    <a:pt x="270" y="0"/>
                  </a:cubicBezTo>
                  <a:cubicBezTo>
                    <a:pt x="273" y="0"/>
                    <a:pt x="276" y="3"/>
                    <a:pt x="276" y="6"/>
                  </a:cubicBezTo>
                  <a:cubicBezTo>
                    <a:pt x="276" y="9"/>
                    <a:pt x="273" y="12"/>
                    <a:pt x="27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</p:grpSp>
      <p:sp>
        <p:nvSpPr>
          <p:cNvPr id="18" name="object 4">
            <a:extLst>
              <a:ext uri="{FF2B5EF4-FFF2-40B4-BE49-F238E27FC236}">
                <a16:creationId xmlns:a16="http://schemas.microsoft.com/office/drawing/2014/main" id="{FD0B37C5-A0BF-A692-F7C4-047224B32257}"/>
              </a:ext>
            </a:extLst>
          </p:cNvPr>
          <p:cNvSpPr/>
          <p:nvPr/>
        </p:nvSpPr>
        <p:spPr>
          <a:xfrm>
            <a:off x="5395056" y="1431090"/>
            <a:ext cx="6398247" cy="798233"/>
          </a:xfrm>
          <a:custGeom>
            <a:avLst/>
            <a:gdLst/>
            <a:ahLst/>
            <a:cxnLst/>
            <a:rect l="l" t="t" r="r" b="b"/>
            <a:pathLst>
              <a:path w="11467465" h="1031239">
                <a:moveTo>
                  <a:pt x="11295228" y="0"/>
                </a:moveTo>
                <a:lnTo>
                  <a:pt x="171792" y="0"/>
                </a:lnTo>
                <a:lnTo>
                  <a:pt x="126122" y="6136"/>
                </a:lnTo>
                <a:lnTo>
                  <a:pt x="85085" y="23454"/>
                </a:lnTo>
                <a:lnTo>
                  <a:pt x="50316" y="50317"/>
                </a:lnTo>
                <a:lnTo>
                  <a:pt x="23454" y="85086"/>
                </a:lnTo>
                <a:lnTo>
                  <a:pt x="6136" y="126124"/>
                </a:lnTo>
                <a:lnTo>
                  <a:pt x="0" y="171794"/>
                </a:lnTo>
                <a:lnTo>
                  <a:pt x="0" y="858946"/>
                </a:lnTo>
                <a:lnTo>
                  <a:pt x="6136" y="904616"/>
                </a:lnTo>
                <a:lnTo>
                  <a:pt x="23454" y="945654"/>
                </a:lnTo>
                <a:lnTo>
                  <a:pt x="50316" y="980423"/>
                </a:lnTo>
                <a:lnTo>
                  <a:pt x="85085" y="1007285"/>
                </a:lnTo>
                <a:lnTo>
                  <a:pt x="126122" y="1024604"/>
                </a:lnTo>
                <a:lnTo>
                  <a:pt x="171792" y="1030740"/>
                </a:lnTo>
                <a:lnTo>
                  <a:pt x="11295228" y="1030740"/>
                </a:lnTo>
                <a:lnTo>
                  <a:pt x="11340897" y="1024604"/>
                </a:lnTo>
                <a:lnTo>
                  <a:pt x="11381935" y="1007285"/>
                </a:lnTo>
                <a:lnTo>
                  <a:pt x="11416703" y="980423"/>
                </a:lnTo>
                <a:lnTo>
                  <a:pt x="11443565" y="945654"/>
                </a:lnTo>
                <a:lnTo>
                  <a:pt x="11460883" y="904616"/>
                </a:lnTo>
                <a:lnTo>
                  <a:pt x="11467020" y="858946"/>
                </a:lnTo>
                <a:lnTo>
                  <a:pt x="11467020" y="171794"/>
                </a:lnTo>
                <a:lnTo>
                  <a:pt x="11460883" y="126124"/>
                </a:lnTo>
                <a:lnTo>
                  <a:pt x="11443565" y="85086"/>
                </a:lnTo>
                <a:lnTo>
                  <a:pt x="11416703" y="50317"/>
                </a:lnTo>
                <a:lnTo>
                  <a:pt x="11381935" y="23454"/>
                </a:lnTo>
                <a:lnTo>
                  <a:pt x="11340897" y="6136"/>
                </a:lnTo>
                <a:lnTo>
                  <a:pt x="11295228" y="0"/>
                </a:lnTo>
                <a:close/>
              </a:path>
            </a:pathLst>
          </a:custGeom>
          <a:solidFill>
            <a:srgbClr val="E7E6E6">
              <a:alpha val="0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69">
            <a:extLst>
              <a:ext uri="{FF2B5EF4-FFF2-40B4-BE49-F238E27FC236}">
                <a16:creationId xmlns:a16="http://schemas.microsoft.com/office/drawing/2014/main" id="{1242E561-8523-927A-B140-61ABB4BBAA21}"/>
              </a:ext>
            </a:extLst>
          </p:cNvPr>
          <p:cNvSpPr txBox="1"/>
          <p:nvPr/>
        </p:nvSpPr>
        <p:spPr>
          <a:xfrm>
            <a:off x="6261259" y="1351975"/>
            <a:ext cx="2255210" cy="860428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49213" algn="ctr">
              <a:lnSpc>
                <a:spcPct val="100000"/>
              </a:lnSpc>
              <a:spcBef>
                <a:spcPts val="645"/>
              </a:spcBef>
            </a:pPr>
            <a:r>
              <a:rPr lang="en-US" sz="1350" b="1" spc="-15" dirty="0">
                <a:solidFill>
                  <a:schemeClr val="bg1"/>
                </a:solidFill>
                <a:latin typeface="+mj-lt"/>
                <a:cs typeface="Arial MT"/>
              </a:rPr>
              <a:t>200,000</a:t>
            </a:r>
            <a:r>
              <a:rPr lang="en-US" sz="1350" b="1" spc="45" dirty="0">
                <a:solidFill>
                  <a:schemeClr val="bg1"/>
                </a:solidFill>
                <a:latin typeface="+mj-lt"/>
                <a:cs typeface="Arial MT"/>
              </a:rPr>
              <a:t> </a:t>
            </a:r>
            <a:r>
              <a:rPr lang="en-US" sz="1350" b="1" spc="95" dirty="0">
                <a:solidFill>
                  <a:schemeClr val="bg1"/>
                </a:solidFill>
                <a:latin typeface="+mj-lt"/>
                <a:cs typeface="Arial MT"/>
              </a:rPr>
              <a:t>MT</a:t>
            </a:r>
          </a:p>
          <a:p>
            <a:pPr marL="49213" algn="ctr">
              <a:lnSpc>
                <a:spcPct val="100000"/>
              </a:lnSpc>
              <a:spcBef>
                <a:spcPts val="645"/>
              </a:spcBef>
            </a:pPr>
            <a:r>
              <a:rPr lang="en-US" sz="400" spc="95" dirty="0">
                <a:solidFill>
                  <a:schemeClr val="bg2">
                    <a:lumMod val="75000"/>
                  </a:schemeClr>
                </a:solidFill>
                <a:latin typeface="+mj-lt"/>
                <a:cs typeface="Arial MT"/>
              </a:rPr>
              <a:t>.</a:t>
            </a:r>
            <a:endParaRPr lang="en-US" sz="1200" dirty="0">
              <a:solidFill>
                <a:schemeClr val="bg2">
                  <a:lumMod val="75000"/>
                </a:schemeClr>
              </a:solidFill>
              <a:latin typeface="+mj-lt"/>
              <a:cs typeface="Arial MT"/>
            </a:endParaRPr>
          </a:p>
          <a:p>
            <a:pPr marL="12700" marR="5080" indent="-1270" algn="ctr">
              <a:lnSpc>
                <a:spcPct val="101800"/>
              </a:lnSpc>
              <a:spcBef>
                <a:spcPts val="405"/>
              </a:spcBef>
            </a:pPr>
            <a:r>
              <a:rPr lang="en-US" sz="1200" b="1" spc="30" dirty="0">
                <a:solidFill>
                  <a:schemeClr val="accent3"/>
                </a:solidFill>
                <a:latin typeface="+mj-lt"/>
                <a:cs typeface="Arial MT"/>
              </a:rPr>
              <a:t>Recurring offtake through various channels</a:t>
            </a:r>
            <a:endParaRPr lang="en-US" sz="1100" b="1" dirty="0">
              <a:solidFill>
                <a:schemeClr val="accent3"/>
              </a:solidFill>
              <a:latin typeface="+mj-lt"/>
              <a:cs typeface="Arial MT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BF06021-9474-D1EC-C8A2-752E792ED5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70" y="1486319"/>
            <a:ext cx="597161" cy="6641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7" name="object 69">
            <a:extLst>
              <a:ext uri="{FF2B5EF4-FFF2-40B4-BE49-F238E27FC236}">
                <a16:creationId xmlns:a16="http://schemas.microsoft.com/office/drawing/2014/main" id="{74F77074-C275-148B-A851-B0D6B6D0A7EC}"/>
              </a:ext>
            </a:extLst>
          </p:cNvPr>
          <p:cNvSpPr txBox="1"/>
          <p:nvPr/>
        </p:nvSpPr>
        <p:spPr>
          <a:xfrm>
            <a:off x="9593782" y="1364319"/>
            <a:ext cx="2255210" cy="838371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49213" algn="ctr">
              <a:lnSpc>
                <a:spcPct val="100000"/>
              </a:lnSpc>
              <a:spcBef>
                <a:spcPts val="645"/>
              </a:spcBef>
            </a:pPr>
            <a:r>
              <a:rPr lang="en-US" sz="1350" b="1" spc="-15" dirty="0">
                <a:solidFill>
                  <a:schemeClr val="bg1"/>
                </a:solidFill>
                <a:latin typeface="+mj-lt"/>
                <a:cs typeface="Arial MT"/>
              </a:rPr>
              <a:t>50%</a:t>
            </a:r>
            <a:endParaRPr lang="en-US" sz="1350" b="1" spc="95" dirty="0">
              <a:solidFill>
                <a:schemeClr val="bg1"/>
              </a:solidFill>
              <a:latin typeface="+mj-lt"/>
              <a:cs typeface="Arial MT"/>
            </a:endParaRPr>
          </a:p>
          <a:p>
            <a:pPr marL="49213" algn="ctr">
              <a:lnSpc>
                <a:spcPct val="100000"/>
              </a:lnSpc>
              <a:spcBef>
                <a:spcPts val="645"/>
              </a:spcBef>
            </a:pPr>
            <a:r>
              <a:rPr lang="en-US" sz="400" spc="95" dirty="0">
                <a:solidFill>
                  <a:schemeClr val="bg2">
                    <a:lumMod val="75000"/>
                  </a:schemeClr>
                </a:solidFill>
                <a:latin typeface="+mj-lt"/>
                <a:cs typeface="Arial MT"/>
              </a:rPr>
              <a:t>.</a:t>
            </a:r>
            <a:endParaRPr lang="en-US" sz="1200" dirty="0">
              <a:solidFill>
                <a:schemeClr val="bg2">
                  <a:lumMod val="75000"/>
                </a:schemeClr>
              </a:solidFill>
              <a:latin typeface="+mj-lt"/>
              <a:cs typeface="Arial MT"/>
            </a:endParaRPr>
          </a:p>
          <a:p>
            <a:pPr marL="12700" marR="5080" indent="-1270" algn="ctr">
              <a:lnSpc>
                <a:spcPct val="101800"/>
              </a:lnSpc>
              <a:spcBef>
                <a:spcPts val="405"/>
              </a:spcBef>
            </a:pPr>
            <a:r>
              <a:rPr lang="en-US" sz="1200" b="1" spc="30" dirty="0">
                <a:solidFill>
                  <a:schemeClr val="accent3"/>
                </a:solidFill>
                <a:latin typeface="+mj-lt"/>
                <a:cs typeface="Arial MT"/>
              </a:rPr>
              <a:t>Decrease in Carbon Emissions</a:t>
            </a:r>
            <a:endParaRPr lang="en-US" sz="1100" b="1" dirty="0">
              <a:solidFill>
                <a:schemeClr val="accent3"/>
              </a:solidFill>
              <a:latin typeface="+mj-lt"/>
              <a:cs typeface="Arial M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F1ED7C7-1F58-B7B1-7FC6-BF8496CE69B1}"/>
              </a:ext>
            </a:extLst>
          </p:cNvPr>
          <p:cNvSpPr/>
          <p:nvPr/>
        </p:nvSpPr>
        <p:spPr>
          <a:xfrm>
            <a:off x="6099078" y="2348438"/>
            <a:ext cx="2405525" cy="313632"/>
          </a:xfrm>
          <a:prstGeom prst="rect">
            <a:avLst/>
          </a:prstGeom>
          <a:solidFill>
            <a:srgbClr val="B455AA"/>
          </a:solidFill>
          <a:ln w="12700" cap="flat" cmpd="sng" algn="ctr">
            <a:solidFill>
              <a:srgbClr val="B455AA"/>
            </a:solidFill>
            <a:prstDash val="solid"/>
            <a:miter lim="800000"/>
          </a:ln>
          <a:effectLst/>
        </p:spPr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Core Values</a:t>
            </a:r>
          </a:p>
        </p:txBody>
      </p:sp>
      <p:sp>
        <p:nvSpPr>
          <p:cNvPr id="40" name="object 73">
            <a:extLst>
              <a:ext uri="{FF2B5EF4-FFF2-40B4-BE49-F238E27FC236}">
                <a16:creationId xmlns:a16="http://schemas.microsoft.com/office/drawing/2014/main" id="{6F2D95E8-C6B7-2F1A-1839-D3914FC0329D}"/>
              </a:ext>
            </a:extLst>
          </p:cNvPr>
          <p:cNvSpPr/>
          <p:nvPr/>
        </p:nvSpPr>
        <p:spPr>
          <a:xfrm>
            <a:off x="9574710" y="997174"/>
            <a:ext cx="1747096" cy="404570"/>
          </a:xfrm>
          <a:custGeom>
            <a:avLst/>
            <a:gdLst/>
            <a:ahLst/>
            <a:cxnLst/>
            <a:rect l="l" t="t" r="r" b="b"/>
            <a:pathLst>
              <a:path w="3246754" h="508000">
                <a:moveTo>
                  <a:pt x="3201709" y="431802"/>
                </a:moveTo>
                <a:lnTo>
                  <a:pt x="3169959" y="431802"/>
                </a:lnTo>
                <a:lnTo>
                  <a:pt x="3208059" y="508002"/>
                </a:lnTo>
                <a:lnTo>
                  <a:pt x="3239809" y="444502"/>
                </a:lnTo>
                <a:lnTo>
                  <a:pt x="3201709" y="444502"/>
                </a:lnTo>
                <a:lnTo>
                  <a:pt x="3201709" y="431802"/>
                </a:lnTo>
                <a:close/>
              </a:path>
              <a:path w="3246754" h="508000">
                <a:moveTo>
                  <a:pt x="3201709" y="6350"/>
                </a:moveTo>
                <a:lnTo>
                  <a:pt x="3201709" y="444502"/>
                </a:lnTo>
                <a:lnTo>
                  <a:pt x="3214409" y="444502"/>
                </a:lnTo>
                <a:lnTo>
                  <a:pt x="3214409" y="12700"/>
                </a:lnTo>
                <a:lnTo>
                  <a:pt x="3208059" y="12700"/>
                </a:lnTo>
                <a:lnTo>
                  <a:pt x="3201709" y="6350"/>
                </a:lnTo>
                <a:close/>
              </a:path>
              <a:path w="3246754" h="508000">
                <a:moveTo>
                  <a:pt x="3246159" y="431802"/>
                </a:moveTo>
                <a:lnTo>
                  <a:pt x="3214409" y="431802"/>
                </a:lnTo>
                <a:lnTo>
                  <a:pt x="3214409" y="444502"/>
                </a:lnTo>
                <a:lnTo>
                  <a:pt x="3239809" y="444502"/>
                </a:lnTo>
                <a:lnTo>
                  <a:pt x="3246159" y="431802"/>
                </a:lnTo>
                <a:close/>
              </a:path>
              <a:path w="3246754" h="508000">
                <a:moveTo>
                  <a:pt x="3214409" y="0"/>
                </a:moveTo>
                <a:lnTo>
                  <a:pt x="0" y="0"/>
                </a:lnTo>
                <a:lnTo>
                  <a:pt x="0" y="12700"/>
                </a:lnTo>
                <a:lnTo>
                  <a:pt x="3201709" y="12700"/>
                </a:lnTo>
                <a:lnTo>
                  <a:pt x="3201709" y="6350"/>
                </a:lnTo>
                <a:lnTo>
                  <a:pt x="3214409" y="6350"/>
                </a:lnTo>
                <a:lnTo>
                  <a:pt x="3214409" y="0"/>
                </a:lnTo>
                <a:close/>
              </a:path>
              <a:path w="3246754" h="508000">
                <a:moveTo>
                  <a:pt x="3214409" y="6350"/>
                </a:moveTo>
                <a:lnTo>
                  <a:pt x="3201709" y="6350"/>
                </a:lnTo>
                <a:lnTo>
                  <a:pt x="3208059" y="12700"/>
                </a:lnTo>
                <a:lnTo>
                  <a:pt x="3214409" y="12700"/>
                </a:lnTo>
                <a:lnTo>
                  <a:pt x="3214409" y="635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>
            <a:endParaRPr dirty="0">
              <a:solidFill>
                <a:schemeClr val="accent1"/>
              </a:solidFill>
            </a:endParaRPr>
          </a:p>
        </p:txBody>
      </p:sp>
      <p:sp>
        <p:nvSpPr>
          <p:cNvPr id="41" name="object 72">
            <a:extLst>
              <a:ext uri="{FF2B5EF4-FFF2-40B4-BE49-F238E27FC236}">
                <a16:creationId xmlns:a16="http://schemas.microsoft.com/office/drawing/2014/main" id="{E97D71A6-C7C6-D728-DB9C-DBD8BF2F4897}"/>
              </a:ext>
            </a:extLst>
          </p:cNvPr>
          <p:cNvSpPr/>
          <p:nvPr/>
        </p:nvSpPr>
        <p:spPr>
          <a:xfrm>
            <a:off x="5946722" y="971895"/>
            <a:ext cx="1660577" cy="420448"/>
          </a:xfrm>
          <a:custGeom>
            <a:avLst/>
            <a:gdLst/>
            <a:ahLst/>
            <a:cxnLst/>
            <a:rect l="l" t="t" r="r" b="b"/>
            <a:pathLst>
              <a:path w="2670810" h="489585">
                <a:moveTo>
                  <a:pt x="28575" y="413080"/>
                </a:moveTo>
                <a:lnTo>
                  <a:pt x="0" y="413080"/>
                </a:lnTo>
                <a:lnTo>
                  <a:pt x="38100" y="489280"/>
                </a:lnTo>
                <a:lnTo>
                  <a:pt x="69850" y="425780"/>
                </a:lnTo>
                <a:lnTo>
                  <a:pt x="28575" y="425780"/>
                </a:lnTo>
                <a:lnTo>
                  <a:pt x="28575" y="413080"/>
                </a:lnTo>
                <a:close/>
              </a:path>
              <a:path w="2670810" h="489585">
                <a:moveTo>
                  <a:pt x="2670667" y="0"/>
                </a:moveTo>
                <a:lnTo>
                  <a:pt x="28575" y="0"/>
                </a:lnTo>
                <a:lnTo>
                  <a:pt x="28575" y="425780"/>
                </a:lnTo>
                <a:lnTo>
                  <a:pt x="47625" y="425780"/>
                </a:lnTo>
                <a:lnTo>
                  <a:pt x="47625" y="19050"/>
                </a:lnTo>
                <a:lnTo>
                  <a:pt x="38100" y="19050"/>
                </a:lnTo>
                <a:lnTo>
                  <a:pt x="47625" y="9525"/>
                </a:lnTo>
                <a:lnTo>
                  <a:pt x="2670667" y="9525"/>
                </a:lnTo>
                <a:lnTo>
                  <a:pt x="2670667" y="0"/>
                </a:lnTo>
                <a:close/>
              </a:path>
              <a:path w="2670810" h="489585">
                <a:moveTo>
                  <a:pt x="76200" y="413080"/>
                </a:moveTo>
                <a:lnTo>
                  <a:pt x="47625" y="413080"/>
                </a:lnTo>
                <a:lnTo>
                  <a:pt x="47625" y="425780"/>
                </a:lnTo>
                <a:lnTo>
                  <a:pt x="69850" y="425780"/>
                </a:lnTo>
                <a:lnTo>
                  <a:pt x="76200" y="413080"/>
                </a:lnTo>
                <a:close/>
              </a:path>
              <a:path w="2670810" h="489585">
                <a:moveTo>
                  <a:pt x="47625" y="9525"/>
                </a:moveTo>
                <a:lnTo>
                  <a:pt x="38100" y="19050"/>
                </a:lnTo>
                <a:lnTo>
                  <a:pt x="47625" y="19050"/>
                </a:lnTo>
                <a:lnTo>
                  <a:pt x="47625" y="9525"/>
                </a:lnTo>
                <a:close/>
              </a:path>
              <a:path w="2670810" h="489585">
                <a:moveTo>
                  <a:pt x="2670667" y="9525"/>
                </a:moveTo>
                <a:lnTo>
                  <a:pt x="47625" y="9525"/>
                </a:lnTo>
                <a:lnTo>
                  <a:pt x="47625" y="19050"/>
                </a:lnTo>
                <a:lnTo>
                  <a:pt x="2670667" y="19050"/>
                </a:lnTo>
                <a:lnTo>
                  <a:pt x="2670667" y="9525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26" name="Picture 2" descr="photography of white smoke">
            <a:extLst>
              <a:ext uri="{FF2B5EF4-FFF2-40B4-BE49-F238E27FC236}">
                <a16:creationId xmlns:a16="http://schemas.microsoft.com/office/drawing/2014/main" id="{BBBEDB1E-1AEE-FA88-7957-6504AD8FD9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Cutou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1939" t="26409" r="22163"/>
          <a:stretch/>
        </p:blipFill>
        <p:spPr bwMode="auto">
          <a:xfrm>
            <a:off x="9068436" y="1475747"/>
            <a:ext cx="667334" cy="6974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4559BAD8-34E5-04F6-792C-50E8BEF1018C}"/>
              </a:ext>
            </a:extLst>
          </p:cNvPr>
          <p:cNvSpPr/>
          <p:nvPr/>
        </p:nvSpPr>
        <p:spPr>
          <a:xfrm>
            <a:off x="5876762" y="3073647"/>
            <a:ext cx="1161681" cy="412080"/>
          </a:xfrm>
          <a:prstGeom prst="roundRect">
            <a:avLst/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200" dirty="0">
                <a:ln>
                  <a:solidFill>
                    <a:sysClr val="windowText" lastClr="000000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</a:rPr>
              <a:t>Customer Centricity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931B4CF-8CB8-6C52-A474-EE8D975F07B2}"/>
              </a:ext>
            </a:extLst>
          </p:cNvPr>
          <p:cNvSpPr/>
          <p:nvPr/>
        </p:nvSpPr>
        <p:spPr>
          <a:xfrm>
            <a:off x="7631608" y="3072982"/>
            <a:ext cx="1161681" cy="425462"/>
          </a:xfrm>
          <a:prstGeom prst="roundRect">
            <a:avLst/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200" dirty="0">
                <a:ln>
                  <a:solidFill>
                    <a:sysClr val="windowText" lastClr="000000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</a:rPr>
              <a:t>Inclusive Growth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FFDB3962-E701-9D71-B0FE-F4A5E6AA6CB4}"/>
              </a:ext>
            </a:extLst>
          </p:cNvPr>
          <p:cNvSpPr/>
          <p:nvPr/>
        </p:nvSpPr>
        <p:spPr>
          <a:xfrm>
            <a:off x="5876762" y="3820807"/>
            <a:ext cx="1161681" cy="425462"/>
          </a:xfrm>
          <a:prstGeom prst="roundRect">
            <a:avLst/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200" dirty="0">
                <a:ln>
                  <a:solidFill>
                    <a:sysClr val="windowText" lastClr="000000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</a:rPr>
              <a:t>Digital First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7306DB2A-0812-513E-F70F-A8E051C3BD72}"/>
              </a:ext>
            </a:extLst>
          </p:cNvPr>
          <p:cNvSpPr/>
          <p:nvPr/>
        </p:nvSpPr>
        <p:spPr>
          <a:xfrm>
            <a:off x="7631608" y="3820807"/>
            <a:ext cx="1161681" cy="425462"/>
          </a:xfrm>
          <a:prstGeom prst="roundRect">
            <a:avLst/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200" dirty="0">
                <a:ln>
                  <a:solidFill>
                    <a:sysClr val="windowText" lastClr="000000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</a:rPr>
              <a:t>Endless Resilience</a:t>
            </a:r>
          </a:p>
        </p:txBody>
      </p:sp>
      <p:pic>
        <p:nvPicPr>
          <p:cNvPr id="63" name="Graphic 62" descr="Handshake outline">
            <a:extLst>
              <a:ext uri="{FF2B5EF4-FFF2-40B4-BE49-F238E27FC236}">
                <a16:creationId xmlns:a16="http://schemas.microsoft.com/office/drawing/2014/main" id="{7B6A8089-588C-CB40-F112-F41503E640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1344" y="3028803"/>
            <a:ext cx="531281" cy="531281"/>
          </a:xfrm>
          <a:prstGeom prst="rect">
            <a:avLst/>
          </a:prstGeom>
        </p:spPr>
      </p:pic>
      <p:pic>
        <p:nvPicPr>
          <p:cNvPr id="155" name="Graphic 154" descr="Sprouting Seed outline">
            <a:extLst>
              <a:ext uri="{FF2B5EF4-FFF2-40B4-BE49-F238E27FC236}">
                <a16:creationId xmlns:a16="http://schemas.microsoft.com/office/drawing/2014/main" id="{847AE59A-7344-B432-DA9B-ED89B560C4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90686" y="3013140"/>
            <a:ext cx="531281" cy="531281"/>
          </a:xfrm>
          <a:prstGeom prst="rect">
            <a:avLst/>
          </a:prstGeom>
        </p:spPr>
      </p:pic>
      <p:pic>
        <p:nvPicPr>
          <p:cNvPr id="157" name="Graphic 156" descr="Robot Hand outline">
            <a:extLst>
              <a:ext uri="{FF2B5EF4-FFF2-40B4-BE49-F238E27FC236}">
                <a16:creationId xmlns:a16="http://schemas.microsoft.com/office/drawing/2014/main" id="{132FFDEC-137C-BC7A-451A-78288F0D2F2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50149" y="3812765"/>
            <a:ext cx="461997" cy="461997"/>
          </a:xfrm>
          <a:prstGeom prst="rect">
            <a:avLst/>
          </a:prstGeom>
        </p:spPr>
      </p:pic>
      <p:pic>
        <p:nvPicPr>
          <p:cNvPr id="159" name="Graphic 158" descr="Artificial Intelligence outline">
            <a:extLst>
              <a:ext uri="{FF2B5EF4-FFF2-40B4-BE49-F238E27FC236}">
                <a16:creationId xmlns:a16="http://schemas.microsoft.com/office/drawing/2014/main" id="{0218AC5E-2CBF-4C2B-D131-841ED637229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368988" y="3802932"/>
            <a:ext cx="425462" cy="42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824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786372B6-06D8-C352-8A78-0D31D6A92C65}"/>
              </a:ext>
            </a:extLst>
          </p:cNvPr>
          <p:cNvGrpSpPr/>
          <p:nvPr/>
        </p:nvGrpSpPr>
        <p:grpSpPr>
          <a:xfrm>
            <a:off x="511025" y="2738526"/>
            <a:ext cx="6324705" cy="3780378"/>
            <a:chOff x="447744" y="627993"/>
            <a:chExt cx="6324705" cy="3780378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EED16837-45FB-3435-C514-EC6008E4BE61}"/>
                </a:ext>
              </a:extLst>
            </p:cNvPr>
            <p:cNvGrpSpPr/>
            <p:nvPr/>
          </p:nvGrpSpPr>
          <p:grpSpPr>
            <a:xfrm>
              <a:off x="447744" y="627993"/>
              <a:ext cx="6324705" cy="3780378"/>
              <a:chOff x="447744" y="627993"/>
              <a:chExt cx="6324705" cy="3780378"/>
            </a:xfrm>
          </p:grpSpPr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361D0780-E72E-6F38-ACFF-B86EB0327408}"/>
                  </a:ext>
                </a:extLst>
              </p:cNvPr>
              <p:cNvGrpSpPr/>
              <p:nvPr/>
            </p:nvGrpSpPr>
            <p:grpSpPr>
              <a:xfrm>
                <a:off x="447744" y="1373608"/>
                <a:ext cx="6309672" cy="3034763"/>
                <a:chOff x="114714" y="1765072"/>
                <a:chExt cx="4530617" cy="2973370"/>
              </a:xfrm>
            </p:grpSpPr>
            <p:graphicFrame>
              <p:nvGraphicFramePr>
                <p:cNvPr id="75" name="Table 11">
                  <a:extLst>
                    <a:ext uri="{FF2B5EF4-FFF2-40B4-BE49-F238E27FC236}">
                      <a16:creationId xmlns:a16="http://schemas.microsoft.com/office/drawing/2014/main" id="{3DA932AF-ABCF-78DF-8256-567979D8D242}"/>
                    </a:ext>
                  </a:extLst>
                </p:cNvPr>
                <p:cNvGraphicFramePr>
                  <a:graphicFrameLocks/>
                </p:cNvGraphicFramePr>
                <p:nvPr/>
              </p:nvGraphicFramePr>
              <p:xfrm>
                <a:off x="114714" y="1765072"/>
                <a:ext cx="4530617" cy="2973370"/>
              </p:xfrm>
              <a:graphic>
                <a:graphicData uri="http://schemas.openxmlformats.org/drawingml/2006/table">
                  <a:tbl>
                    <a:tblPr firstRow="1" bandRow="1"/>
                    <a:tblGrid>
                      <a:gridCol w="1051612">
                        <a:extLst>
                          <a:ext uri="{9D8B030D-6E8A-4147-A177-3AD203B41FA5}">
                            <a16:colId xmlns:a16="http://schemas.microsoft.com/office/drawing/2014/main" val="3050072784"/>
                          </a:ext>
                        </a:extLst>
                      </a:gridCol>
                      <a:gridCol w="1051612">
                        <a:extLst>
                          <a:ext uri="{9D8B030D-6E8A-4147-A177-3AD203B41FA5}">
                            <a16:colId xmlns:a16="http://schemas.microsoft.com/office/drawing/2014/main" val="2012927551"/>
                          </a:ext>
                        </a:extLst>
                      </a:gridCol>
                      <a:gridCol w="1051612">
                        <a:extLst>
                          <a:ext uri="{9D8B030D-6E8A-4147-A177-3AD203B41FA5}">
                            <a16:colId xmlns:a16="http://schemas.microsoft.com/office/drawing/2014/main" val="495890647"/>
                          </a:ext>
                        </a:extLst>
                      </a:gridCol>
                      <a:gridCol w="1051612">
                        <a:extLst>
                          <a:ext uri="{9D8B030D-6E8A-4147-A177-3AD203B41FA5}">
                            <a16:colId xmlns:a16="http://schemas.microsoft.com/office/drawing/2014/main" val="1548761734"/>
                          </a:ext>
                        </a:extLst>
                      </a:gridCol>
                      <a:gridCol w="1079096">
                        <a:extLst>
                          <a:ext uri="{9D8B030D-6E8A-4147-A177-3AD203B41FA5}">
                            <a16:colId xmlns:a16="http://schemas.microsoft.com/office/drawing/2014/main" val="3771332836"/>
                          </a:ext>
                        </a:extLst>
                      </a:gridCol>
                      <a:gridCol w="1024128">
                        <a:extLst>
                          <a:ext uri="{9D8B030D-6E8A-4147-A177-3AD203B41FA5}">
                            <a16:colId xmlns:a16="http://schemas.microsoft.com/office/drawing/2014/main" val="3572802092"/>
                          </a:ext>
                        </a:extLst>
                      </a:gridCol>
                    </a:tblGrid>
                    <a:tr h="454531"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pPr algn="ctr"/>
                            <a:r>
                              <a:rPr lang="en-IN" sz="1200"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Category of Products</a:t>
                            </a: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/>
                          </a:solidFill>
                        </a:tcPr>
                      </a:tc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pPr algn="ctr"/>
                            <a:r>
                              <a:rPr lang="en-IN" sz="1200" b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Bed Linen, Bath Linen, Flooring</a:t>
                            </a: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pPr algn="ctr"/>
                            <a:r>
                              <a:rPr lang="en-IN" sz="1200" b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Bed Linen, Bath Linen</a:t>
                            </a: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pPr algn="ctr"/>
                            <a:r>
                              <a:rPr lang="en-IN" sz="1200" b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Bed Linen, Bath Linen</a:t>
                            </a: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IN" sz="1200" b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Bed Linen, Bath Linen, Flooring, Others</a:t>
                            </a: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IN" sz="1200" b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Bed Linen, Bath Linen, Flooring</a:t>
                            </a: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834200168"/>
                        </a:ext>
                      </a:extLst>
                    </a:tr>
                    <a:tr h="454531"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pPr algn="ctr"/>
                            <a:r>
                              <a:rPr lang="en-IN" sz="1200"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Consumer Needs</a:t>
                            </a: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/>
                          </a:solidFill>
                        </a:tcPr>
                      </a:tc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pPr algn="ctr"/>
                            <a:r>
                              <a:rPr lang="en-IN" sz="1200" b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Essential</a:t>
                            </a: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pPr algn="ctr"/>
                            <a:r>
                              <a:rPr lang="en-IN" sz="1200" b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Luxury, Essential, Design, Gifting</a:t>
                            </a: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pPr marL="0" marR="0" lvl="0" indent="0" algn="ctr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lang="en-IN" sz="1200" b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 Essential, Design, Gifting</a:t>
                            </a: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IN" sz="1200" b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Luxury, Design, Gifting</a:t>
                            </a: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IN" sz="1200" b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Grey area</a:t>
                            </a: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663745327"/>
                        </a:ext>
                      </a:extLst>
                    </a:tr>
                    <a:tr h="713711"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pPr algn="ctr"/>
                            <a:r>
                              <a:rPr lang="en-IN" sz="1200"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Price</a:t>
                            </a:r>
                          </a:p>
                          <a:p>
                            <a:pPr algn="ctr"/>
                            <a:r>
                              <a:rPr lang="en-IN" sz="1200"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Segment</a:t>
                            </a: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/>
                          </a:solidFill>
                        </a:tcPr>
                      </a:tc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endParaRPr lang="en-IN" sz="1400" b="0">
                              <a:solidFill>
                                <a:schemeClr val="bg1"/>
                              </a:solidFill>
                            </a:endParaRP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endParaRPr lang="en-IN" sz="1400" b="0">
                              <a:solidFill>
                                <a:schemeClr val="bg1"/>
                              </a:solidFill>
                            </a:endParaRP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endParaRPr lang="en-IN" sz="1400" b="0">
                              <a:solidFill>
                                <a:schemeClr val="bg1"/>
                              </a:solidFill>
                            </a:endParaRP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IN" sz="1400" b="0">
                              <a:solidFill>
                                <a:schemeClr val="bg1"/>
                              </a:solidFill>
                            </a:endParaRP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IN" sz="1400" b="0">
                              <a:solidFill>
                                <a:schemeClr val="bg1"/>
                              </a:solidFill>
                            </a:endParaRP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12231252"/>
                        </a:ext>
                      </a:extLst>
                    </a:tr>
                    <a:tr h="675132"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pPr algn="ctr"/>
                            <a:r>
                              <a:rPr lang="en-IN" sz="1200"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Willingness to act sustainably</a:t>
                            </a: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/>
                          </a:solidFill>
                        </a:tcPr>
                      </a:tc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endParaRPr lang="en-IN" sz="1400" b="0">
                              <a:solidFill>
                                <a:schemeClr val="bg1"/>
                              </a:solidFill>
                            </a:endParaRP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endParaRPr lang="en-IN" sz="1400" b="0">
                              <a:solidFill>
                                <a:schemeClr val="bg1"/>
                              </a:solidFill>
                            </a:endParaRP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endParaRPr lang="en-IN" sz="1400" b="0">
                              <a:solidFill>
                                <a:schemeClr val="bg1"/>
                              </a:solidFill>
                            </a:endParaRP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IN" sz="1400" b="0">
                              <a:solidFill>
                                <a:schemeClr val="bg1"/>
                              </a:solidFill>
                            </a:endParaRP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IN" sz="1400" b="0">
                              <a:solidFill>
                                <a:schemeClr val="bg1"/>
                              </a:solidFill>
                            </a:endParaRP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3169291331"/>
                        </a:ext>
                      </a:extLst>
                    </a:tr>
                  </a:tbl>
                </a:graphicData>
              </a:graphic>
            </p:graphicFrame>
            <p:graphicFrame>
              <p:nvGraphicFramePr>
                <p:cNvPr id="76" name="Table 27">
                  <a:extLst>
                    <a:ext uri="{FF2B5EF4-FFF2-40B4-BE49-F238E27FC236}">
                      <a16:creationId xmlns:a16="http://schemas.microsoft.com/office/drawing/2014/main" id="{019343C0-A943-E6B6-96AF-81317FE73B49}"/>
                    </a:ext>
                  </a:extLst>
                </p:cNvPr>
                <p:cNvGraphicFramePr>
                  <a:graphicFrameLocks/>
                </p:cNvGraphicFramePr>
                <p:nvPr/>
              </p:nvGraphicFramePr>
              <p:xfrm>
                <a:off x="882008" y="3581533"/>
                <a:ext cx="733559" cy="295729"/>
              </p:xfrm>
              <a:graphic>
                <a:graphicData uri="http://schemas.openxmlformats.org/drawingml/2006/table">
                  <a:tbl>
                    <a:tblPr firstRow="1" bandRow="1"/>
                    <a:tblGrid>
                      <a:gridCol w="170268">
                        <a:extLst>
                          <a:ext uri="{9D8B030D-6E8A-4147-A177-3AD203B41FA5}">
                            <a16:colId xmlns:a16="http://schemas.microsoft.com/office/drawing/2014/main" val="4144800204"/>
                          </a:ext>
                        </a:extLst>
                      </a:gridCol>
                      <a:gridCol w="170268">
                        <a:extLst>
                          <a:ext uri="{9D8B030D-6E8A-4147-A177-3AD203B41FA5}">
                            <a16:colId xmlns:a16="http://schemas.microsoft.com/office/drawing/2014/main" val="2667686244"/>
                          </a:ext>
                        </a:extLst>
                      </a:gridCol>
                      <a:gridCol w="170268">
                        <a:extLst>
                          <a:ext uri="{9D8B030D-6E8A-4147-A177-3AD203B41FA5}">
                            <a16:colId xmlns:a16="http://schemas.microsoft.com/office/drawing/2014/main" val="1186997789"/>
                          </a:ext>
                        </a:extLst>
                      </a:gridCol>
                      <a:gridCol w="170268">
                        <a:extLst>
                          <a:ext uri="{9D8B030D-6E8A-4147-A177-3AD203B41FA5}">
                            <a16:colId xmlns:a16="http://schemas.microsoft.com/office/drawing/2014/main" val="322609687"/>
                          </a:ext>
                        </a:extLst>
                      </a:gridCol>
                      <a:gridCol w="170268">
                        <a:extLst>
                          <a:ext uri="{9D8B030D-6E8A-4147-A177-3AD203B41FA5}">
                            <a16:colId xmlns:a16="http://schemas.microsoft.com/office/drawing/2014/main" val="4231428382"/>
                          </a:ext>
                        </a:extLst>
                      </a:gridCol>
                      <a:gridCol w="170268">
                        <a:extLst>
                          <a:ext uri="{9D8B030D-6E8A-4147-A177-3AD203B41FA5}">
                            <a16:colId xmlns:a16="http://schemas.microsoft.com/office/drawing/2014/main" val="3989598063"/>
                          </a:ext>
                        </a:extLst>
                      </a:gridCol>
                    </a:tblGrid>
                    <a:tr h="301835"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endParaRPr lang="en-IN" sz="1400"/>
                          </a:p>
                        </a:txBody>
                        <a:tcPr marL="71147" marR="71147" marT="35573" marB="35573">
                          <a:lnL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endParaRPr lang="en-IN" sz="1400"/>
                          </a:p>
                        </a:txBody>
                        <a:tcPr marL="71147" marR="71147" marT="35573" marB="35573">
                          <a:lnL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endParaRPr lang="en-IN" sz="1400"/>
                          </a:p>
                        </a:txBody>
                        <a:tcPr marL="71147" marR="71147" marT="35573" marB="35573">
                          <a:lnL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endParaRPr lang="en-IN" sz="1400"/>
                          </a:p>
                        </a:txBody>
                        <a:tcPr marL="71147" marR="71147" marT="35573" marB="35573">
                          <a:lnL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endParaRPr lang="en-IN" sz="1400"/>
                          </a:p>
                        </a:txBody>
                        <a:tcPr marL="71147" marR="71147" marT="35573" marB="35573">
                          <a:lnL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endParaRPr lang="en-IN" sz="1400"/>
                          </a:p>
                        </a:txBody>
                        <a:tcPr marL="71147" marR="71147" marT="35573" marB="35573">
                          <a:lnL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768319533"/>
                        </a:ext>
                      </a:extLst>
                    </a:tr>
                  </a:tbl>
                </a:graphicData>
              </a:graphic>
            </p:graphicFrame>
          </p:grpSp>
          <p:pic>
            <p:nvPicPr>
              <p:cNvPr id="70" name="Picture 69">
                <a:extLst>
                  <a:ext uri="{FF2B5EF4-FFF2-40B4-BE49-F238E27FC236}">
                    <a16:creationId xmlns:a16="http://schemas.microsoft.com/office/drawing/2014/main" id="{37A7D554-F9BD-F2FD-883F-E4DB936998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33537" y="710055"/>
                <a:ext cx="1190792" cy="636082"/>
              </a:xfrm>
              <a:prstGeom prst="rect">
                <a:avLst/>
              </a:prstGeom>
            </p:spPr>
          </p:pic>
          <p:pic>
            <p:nvPicPr>
              <p:cNvPr id="71" name="Picture 70">
                <a:extLst>
                  <a:ext uri="{FF2B5EF4-FFF2-40B4-BE49-F238E27FC236}">
                    <a16:creationId xmlns:a16="http://schemas.microsoft.com/office/drawing/2014/main" id="{3568B6DE-620D-2188-7D67-73D0FE317E9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t="2003" r="74252"/>
              <a:stretch/>
            </p:blipFill>
            <p:spPr>
              <a:xfrm>
                <a:off x="2708367" y="627993"/>
                <a:ext cx="758951" cy="718143"/>
              </a:xfrm>
              <a:prstGeom prst="rect">
                <a:avLst/>
              </a:prstGeom>
            </p:spPr>
          </p:pic>
          <p:pic>
            <p:nvPicPr>
              <p:cNvPr id="72" name="Picture 71">
                <a:extLst>
                  <a:ext uri="{FF2B5EF4-FFF2-40B4-BE49-F238E27FC236}">
                    <a16:creationId xmlns:a16="http://schemas.microsoft.com/office/drawing/2014/main" id="{6E124B8E-7F39-A748-AA7A-B5E537E9A3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98507" y="640079"/>
                <a:ext cx="862953" cy="686728"/>
              </a:xfrm>
              <a:prstGeom prst="rect">
                <a:avLst/>
              </a:prstGeom>
            </p:spPr>
          </p:pic>
          <p:pic>
            <p:nvPicPr>
              <p:cNvPr id="73" name="Picture 72">
                <a:extLst>
                  <a:ext uri="{FF2B5EF4-FFF2-40B4-BE49-F238E27FC236}">
                    <a16:creationId xmlns:a16="http://schemas.microsoft.com/office/drawing/2014/main" id="{5B807304-8EF7-40A2-DD7D-73FD90006B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80563" y="627994"/>
                <a:ext cx="1023956" cy="686728"/>
              </a:xfrm>
              <a:prstGeom prst="rect">
                <a:avLst/>
              </a:prstGeom>
            </p:spPr>
          </p:pic>
          <p:pic>
            <p:nvPicPr>
              <p:cNvPr id="74" name="Picture 73">
                <a:extLst>
                  <a:ext uri="{FF2B5EF4-FFF2-40B4-BE49-F238E27FC236}">
                    <a16:creationId xmlns:a16="http://schemas.microsoft.com/office/drawing/2014/main" id="{A5EADC12-BD8F-1482-CD4F-0DEE3EBE47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30306" y="756009"/>
                <a:ext cx="1042143" cy="507344"/>
              </a:xfrm>
              <a:prstGeom prst="rect">
                <a:avLst/>
              </a:prstGeom>
            </p:spPr>
          </p:pic>
        </p:grpSp>
        <p:graphicFrame>
          <p:nvGraphicFramePr>
            <p:cNvPr id="48" name="Table 27">
              <a:extLst>
                <a:ext uri="{FF2B5EF4-FFF2-40B4-BE49-F238E27FC236}">
                  <a16:creationId xmlns:a16="http://schemas.microsoft.com/office/drawing/2014/main" id="{30A50F40-8F64-C8B8-E806-438B5C854B1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576292" y="3227575"/>
            <a:ext cx="1021608" cy="301835"/>
          </p:xfrm>
          <a:graphic>
            <a:graphicData uri="http://schemas.openxmlformats.org/drawingml/2006/table">
              <a:tbl>
                <a:tblPr firstRow="1" bandRow="1"/>
                <a:tblGrid>
                  <a:gridCol w="170268">
                    <a:extLst>
                      <a:ext uri="{9D8B030D-6E8A-4147-A177-3AD203B41FA5}">
                        <a16:colId xmlns:a16="http://schemas.microsoft.com/office/drawing/2014/main" val="414480020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266768624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1186997789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22609687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4231428382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989598063"/>
                      </a:ext>
                    </a:extLst>
                  </a:gridCol>
                </a:tblGrid>
                <a:tr h="301835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768319533"/>
                    </a:ext>
                  </a:extLst>
                </a:tr>
              </a:tbl>
            </a:graphicData>
          </a:graphic>
        </p:graphicFrame>
        <p:graphicFrame>
          <p:nvGraphicFramePr>
            <p:cNvPr id="49" name="Table 27">
              <a:extLst>
                <a:ext uri="{FF2B5EF4-FFF2-40B4-BE49-F238E27FC236}">
                  <a16:creationId xmlns:a16="http://schemas.microsoft.com/office/drawing/2014/main" id="{36678D62-F7AC-1162-2670-9A4AD490C77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628324" y="3231914"/>
            <a:ext cx="1021608" cy="301835"/>
          </p:xfrm>
          <a:graphic>
            <a:graphicData uri="http://schemas.openxmlformats.org/drawingml/2006/table">
              <a:tbl>
                <a:tblPr firstRow="1" bandRow="1"/>
                <a:tblGrid>
                  <a:gridCol w="170268">
                    <a:extLst>
                      <a:ext uri="{9D8B030D-6E8A-4147-A177-3AD203B41FA5}">
                        <a16:colId xmlns:a16="http://schemas.microsoft.com/office/drawing/2014/main" val="414480020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266768624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1186997789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22609687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4231428382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989598063"/>
                      </a:ext>
                    </a:extLst>
                  </a:gridCol>
                </a:tblGrid>
                <a:tr h="301835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768319533"/>
                    </a:ext>
                  </a:extLst>
                </a:tr>
              </a:tbl>
            </a:graphicData>
          </a:graphic>
        </p:graphicFrame>
        <p:graphicFrame>
          <p:nvGraphicFramePr>
            <p:cNvPr id="50" name="Table 27">
              <a:extLst>
                <a:ext uri="{FF2B5EF4-FFF2-40B4-BE49-F238E27FC236}">
                  <a16:creationId xmlns:a16="http://schemas.microsoft.com/office/drawing/2014/main" id="{9C5A9CD7-A6B3-BE9F-B2AE-13375D99F9F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680741" y="3227575"/>
            <a:ext cx="1021608" cy="301835"/>
          </p:xfrm>
          <a:graphic>
            <a:graphicData uri="http://schemas.openxmlformats.org/drawingml/2006/table">
              <a:tbl>
                <a:tblPr firstRow="1" bandRow="1"/>
                <a:tblGrid>
                  <a:gridCol w="170268">
                    <a:extLst>
                      <a:ext uri="{9D8B030D-6E8A-4147-A177-3AD203B41FA5}">
                        <a16:colId xmlns:a16="http://schemas.microsoft.com/office/drawing/2014/main" val="414480020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266768624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1186997789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22609687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4231428382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989598063"/>
                      </a:ext>
                    </a:extLst>
                  </a:gridCol>
                </a:tblGrid>
                <a:tr h="301835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768319533"/>
                    </a:ext>
                  </a:extLst>
                </a:tr>
              </a:tbl>
            </a:graphicData>
          </a:graphic>
        </p:graphicFrame>
        <p:graphicFrame>
          <p:nvGraphicFramePr>
            <p:cNvPr id="51" name="Table 27">
              <a:extLst>
                <a:ext uri="{FF2B5EF4-FFF2-40B4-BE49-F238E27FC236}">
                  <a16:creationId xmlns:a16="http://schemas.microsoft.com/office/drawing/2014/main" id="{BE5A0A3E-07E9-C618-1B74-EF200018CF3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728670" y="3224527"/>
            <a:ext cx="1021608" cy="301835"/>
          </p:xfrm>
          <a:graphic>
            <a:graphicData uri="http://schemas.openxmlformats.org/drawingml/2006/table">
              <a:tbl>
                <a:tblPr firstRow="1" bandRow="1"/>
                <a:tblGrid>
                  <a:gridCol w="170268">
                    <a:extLst>
                      <a:ext uri="{9D8B030D-6E8A-4147-A177-3AD203B41FA5}">
                        <a16:colId xmlns:a16="http://schemas.microsoft.com/office/drawing/2014/main" val="414480020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266768624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1186997789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22609687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4231428382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989598063"/>
                      </a:ext>
                    </a:extLst>
                  </a:gridCol>
                </a:tblGrid>
                <a:tr h="301835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768319533"/>
                    </a:ext>
                  </a:extLst>
                </a:tr>
              </a:tbl>
            </a:graphicData>
          </a:graphic>
        </p:graphicFrame>
        <p:graphicFrame>
          <p:nvGraphicFramePr>
            <p:cNvPr id="52" name="Table 27">
              <a:extLst>
                <a:ext uri="{FF2B5EF4-FFF2-40B4-BE49-F238E27FC236}">
                  <a16:creationId xmlns:a16="http://schemas.microsoft.com/office/drawing/2014/main" id="{50E991FF-DBFE-10AD-0E4C-1D00C41546E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518162" y="3923569"/>
            <a:ext cx="1021608" cy="301835"/>
          </p:xfrm>
          <a:graphic>
            <a:graphicData uri="http://schemas.openxmlformats.org/drawingml/2006/table">
              <a:tbl>
                <a:tblPr firstRow="1" bandRow="1"/>
                <a:tblGrid>
                  <a:gridCol w="170268">
                    <a:extLst>
                      <a:ext uri="{9D8B030D-6E8A-4147-A177-3AD203B41FA5}">
                        <a16:colId xmlns:a16="http://schemas.microsoft.com/office/drawing/2014/main" val="414480020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266768624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1186997789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22609687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4231428382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989598063"/>
                      </a:ext>
                    </a:extLst>
                  </a:gridCol>
                </a:tblGrid>
                <a:tr h="301835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768319533"/>
                    </a:ext>
                  </a:extLst>
                </a:tr>
              </a:tbl>
            </a:graphicData>
          </a:graphic>
        </p:graphicFrame>
        <p:graphicFrame>
          <p:nvGraphicFramePr>
            <p:cNvPr id="53" name="Table 27">
              <a:extLst>
                <a:ext uri="{FF2B5EF4-FFF2-40B4-BE49-F238E27FC236}">
                  <a16:creationId xmlns:a16="http://schemas.microsoft.com/office/drawing/2014/main" id="{CA1F840F-55DB-3BD5-C4F6-93813D8D2D6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583437" y="3921405"/>
            <a:ext cx="1021608" cy="301835"/>
          </p:xfrm>
          <a:graphic>
            <a:graphicData uri="http://schemas.openxmlformats.org/drawingml/2006/table">
              <a:tbl>
                <a:tblPr firstRow="1" bandRow="1"/>
                <a:tblGrid>
                  <a:gridCol w="170268">
                    <a:extLst>
                      <a:ext uri="{9D8B030D-6E8A-4147-A177-3AD203B41FA5}">
                        <a16:colId xmlns:a16="http://schemas.microsoft.com/office/drawing/2014/main" val="414480020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266768624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1186997789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22609687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4231428382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989598063"/>
                      </a:ext>
                    </a:extLst>
                  </a:gridCol>
                </a:tblGrid>
                <a:tr h="301835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768319533"/>
                    </a:ext>
                  </a:extLst>
                </a:tr>
              </a:tbl>
            </a:graphicData>
          </a:graphic>
        </p:graphicFrame>
        <p:graphicFrame>
          <p:nvGraphicFramePr>
            <p:cNvPr id="54" name="Table 27">
              <a:extLst>
                <a:ext uri="{FF2B5EF4-FFF2-40B4-BE49-F238E27FC236}">
                  <a16:creationId xmlns:a16="http://schemas.microsoft.com/office/drawing/2014/main" id="{7AA4767E-7D9C-5989-6794-EC35CD607AA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640412" y="3918967"/>
            <a:ext cx="1021608" cy="301835"/>
          </p:xfrm>
          <a:graphic>
            <a:graphicData uri="http://schemas.openxmlformats.org/drawingml/2006/table">
              <a:tbl>
                <a:tblPr firstRow="1" bandRow="1"/>
                <a:tblGrid>
                  <a:gridCol w="170268">
                    <a:extLst>
                      <a:ext uri="{9D8B030D-6E8A-4147-A177-3AD203B41FA5}">
                        <a16:colId xmlns:a16="http://schemas.microsoft.com/office/drawing/2014/main" val="414480020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266768624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1186997789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22609687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4231428382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989598063"/>
                      </a:ext>
                    </a:extLst>
                  </a:gridCol>
                </a:tblGrid>
                <a:tr h="301835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768319533"/>
                    </a:ext>
                  </a:extLst>
                </a:tr>
              </a:tbl>
            </a:graphicData>
          </a:graphic>
        </p:graphicFrame>
        <p:graphicFrame>
          <p:nvGraphicFramePr>
            <p:cNvPr id="55" name="Table 27">
              <a:extLst>
                <a:ext uri="{FF2B5EF4-FFF2-40B4-BE49-F238E27FC236}">
                  <a16:creationId xmlns:a16="http://schemas.microsoft.com/office/drawing/2014/main" id="{AAA8F1B3-4002-0A6C-4F9B-1A025DA0285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688774" y="3918978"/>
            <a:ext cx="1021608" cy="301835"/>
          </p:xfrm>
          <a:graphic>
            <a:graphicData uri="http://schemas.openxmlformats.org/drawingml/2006/table">
              <a:tbl>
                <a:tblPr firstRow="1" bandRow="1"/>
                <a:tblGrid>
                  <a:gridCol w="170268">
                    <a:extLst>
                      <a:ext uri="{9D8B030D-6E8A-4147-A177-3AD203B41FA5}">
                        <a16:colId xmlns:a16="http://schemas.microsoft.com/office/drawing/2014/main" val="414480020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266768624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1186997789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22609687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4231428382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989598063"/>
                      </a:ext>
                    </a:extLst>
                  </a:gridCol>
                </a:tblGrid>
                <a:tr h="301835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768319533"/>
                    </a:ext>
                  </a:extLst>
                </a:tr>
              </a:tbl>
            </a:graphicData>
          </a:graphic>
        </p:graphicFrame>
        <p:graphicFrame>
          <p:nvGraphicFramePr>
            <p:cNvPr id="56" name="Table 27">
              <a:extLst>
                <a:ext uri="{FF2B5EF4-FFF2-40B4-BE49-F238E27FC236}">
                  <a16:creationId xmlns:a16="http://schemas.microsoft.com/office/drawing/2014/main" id="{1DBAB300-FE2B-2BCF-9AFC-C17468C07375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750528" y="3924329"/>
            <a:ext cx="1021608" cy="301835"/>
          </p:xfrm>
          <a:graphic>
            <a:graphicData uri="http://schemas.openxmlformats.org/drawingml/2006/table">
              <a:tbl>
                <a:tblPr firstRow="1" bandRow="1"/>
                <a:tblGrid>
                  <a:gridCol w="170268">
                    <a:extLst>
                      <a:ext uri="{9D8B030D-6E8A-4147-A177-3AD203B41FA5}">
                        <a16:colId xmlns:a16="http://schemas.microsoft.com/office/drawing/2014/main" val="414480020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266768624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1186997789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22609687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4231428382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989598063"/>
                      </a:ext>
                    </a:extLst>
                  </a:gridCol>
                </a:tblGrid>
                <a:tr h="301835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768319533"/>
                    </a:ext>
                  </a:extLst>
                </a:tr>
              </a:tbl>
            </a:graphicData>
          </a:graphic>
        </p:graphicFrame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71A11D5-0A3F-A781-8765-500C50C3E2E3}"/>
                </a:ext>
              </a:extLst>
            </p:cNvPr>
            <p:cNvSpPr/>
            <p:nvPr/>
          </p:nvSpPr>
          <p:spPr>
            <a:xfrm>
              <a:off x="2036282" y="3072082"/>
              <a:ext cx="158278" cy="596652"/>
            </a:xfrm>
            <a:prstGeom prst="rect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C526B6D-2DD3-CB91-086E-C5C29905B8C9}"/>
                </a:ext>
              </a:extLst>
            </p:cNvPr>
            <p:cNvSpPr/>
            <p:nvPr/>
          </p:nvSpPr>
          <p:spPr>
            <a:xfrm>
              <a:off x="2673284" y="3069316"/>
              <a:ext cx="158278" cy="596652"/>
            </a:xfrm>
            <a:prstGeom prst="rect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009EAEC-1318-B9C4-1BF4-F1213F7A71F9}"/>
                </a:ext>
              </a:extLst>
            </p:cNvPr>
            <p:cNvSpPr/>
            <p:nvPr/>
          </p:nvSpPr>
          <p:spPr>
            <a:xfrm>
              <a:off x="4026816" y="3076329"/>
              <a:ext cx="158278" cy="596652"/>
            </a:xfrm>
            <a:prstGeom prst="rect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ACEAFB56-FC54-08D5-10E7-54D954AD4946}"/>
                </a:ext>
              </a:extLst>
            </p:cNvPr>
            <p:cNvSpPr/>
            <p:nvPr/>
          </p:nvSpPr>
          <p:spPr>
            <a:xfrm>
              <a:off x="4717745" y="3076329"/>
              <a:ext cx="158278" cy="596652"/>
            </a:xfrm>
            <a:prstGeom prst="rect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A4F49401-D03D-92AF-317A-8B419BF95F6D}"/>
                </a:ext>
              </a:extLst>
            </p:cNvPr>
            <p:cNvSpPr/>
            <p:nvPr/>
          </p:nvSpPr>
          <p:spPr>
            <a:xfrm>
              <a:off x="6004789" y="3084505"/>
              <a:ext cx="158278" cy="596652"/>
            </a:xfrm>
            <a:prstGeom prst="rect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A1059F88-E762-88C8-366E-5B995C6B0838}"/>
                </a:ext>
              </a:extLst>
            </p:cNvPr>
            <p:cNvSpPr/>
            <p:nvPr/>
          </p:nvSpPr>
          <p:spPr>
            <a:xfrm>
              <a:off x="1618617" y="3790377"/>
              <a:ext cx="158278" cy="596652"/>
            </a:xfrm>
            <a:prstGeom prst="rect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934CFB9-BB08-283A-70D2-4CF2D323DE54}"/>
                </a:ext>
              </a:extLst>
            </p:cNvPr>
            <p:cNvSpPr/>
            <p:nvPr/>
          </p:nvSpPr>
          <p:spPr>
            <a:xfrm>
              <a:off x="2781485" y="3776160"/>
              <a:ext cx="158278" cy="596652"/>
            </a:xfrm>
            <a:prstGeom prst="rect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744BB0CD-A774-19CE-0433-5C4A999E479F}"/>
                </a:ext>
              </a:extLst>
            </p:cNvPr>
            <p:cNvSpPr/>
            <p:nvPr/>
          </p:nvSpPr>
          <p:spPr>
            <a:xfrm>
              <a:off x="3858547" y="3776012"/>
              <a:ext cx="158278" cy="596652"/>
            </a:xfrm>
            <a:prstGeom prst="rect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B56F64E1-4A93-08B7-8C19-B2CC8CF8E574}"/>
                </a:ext>
              </a:extLst>
            </p:cNvPr>
            <p:cNvSpPr/>
            <p:nvPr/>
          </p:nvSpPr>
          <p:spPr>
            <a:xfrm>
              <a:off x="5105509" y="3804120"/>
              <a:ext cx="158278" cy="596652"/>
            </a:xfrm>
            <a:prstGeom prst="rect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11DBDC00-FDA8-3965-6115-E7E2C913BBFA}"/>
                </a:ext>
              </a:extLst>
            </p:cNvPr>
            <p:cNvSpPr/>
            <p:nvPr/>
          </p:nvSpPr>
          <p:spPr>
            <a:xfrm>
              <a:off x="5759029" y="3790377"/>
              <a:ext cx="158278" cy="596652"/>
            </a:xfrm>
            <a:prstGeom prst="rect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251A9A56-5241-817B-FCCF-99EA13160184}"/>
              </a:ext>
            </a:extLst>
          </p:cNvPr>
          <p:cNvSpPr txBox="1"/>
          <p:nvPr/>
        </p:nvSpPr>
        <p:spPr>
          <a:xfrm>
            <a:off x="10900076" y="542947"/>
            <a:ext cx="105968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sng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Priority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47772C3A-2AF2-D7AE-68C0-BF16388A2E72}"/>
              </a:ext>
            </a:extLst>
          </p:cNvPr>
          <p:cNvGrpSpPr/>
          <p:nvPr/>
        </p:nvGrpSpPr>
        <p:grpSpPr>
          <a:xfrm>
            <a:off x="7408720" y="2838595"/>
            <a:ext cx="4667564" cy="3593336"/>
            <a:chOff x="7224335" y="175100"/>
            <a:chExt cx="4667564" cy="3593336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09EC2A77-700E-D4ED-24F6-79B30B69738C}"/>
                </a:ext>
              </a:extLst>
            </p:cNvPr>
            <p:cNvSpPr txBox="1"/>
            <p:nvPr/>
          </p:nvSpPr>
          <p:spPr>
            <a:xfrm>
              <a:off x="10832214" y="391705"/>
              <a:ext cx="105968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sng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Priority</a:t>
              </a:r>
            </a:p>
          </p:txBody>
        </p: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D1FB1003-9759-197B-3702-1D8D99B03116}"/>
                </a:ext>
              </a:extLst>
            </p:cNvPr>
            <p:cNvGrpSpPr/>
            <p:nvPr/>
          </p:nvGrpSpPr>
          <p:grpSpPr>
            <a:xfrm>
              <a:off x="7224335" y="175100"/>
              <a:ext cx="4370582" cy="3593336"/>
              <a:chOff x="7224335" y="175100"/>
              <a:chExt cx="4370582" cy="3593336"/>
            </a:xfrm>
          </p:grpSpPr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A62CBCFB-560C-CFD7-1BF3-555F74D3DB5A}"/>
                  </a:ext>
                </a:extLst>
              </p:cNvPr>
              <p:cNvGrpSpPr/>
              <p:nvPr/>
            </p:nvGrpSpPr>
            <p:grpSpPr>
              <a:xfrm>
                <a:off x="11111205" y="1132345"/>
                <a:ext cx="425011" cy="232183"/>
                <a:chOff x="9740739" y="925074"/>
                <a:chExt cx="425011" cy="232183"/>
              </a:xfrm>
            </p:grpSpPr>
            <p:pic>
              <p:nvPicPr>
                <p:cNvPr id="93" name="Picture 18" descr="How to Insert a Tick Symbol In Microsoft Word - Simul Docs">
                  <a:extLst>
                    <a:ext uri="{FF2B5EF4-FFF2-40B4-BE49-F238E27FC236}">
                      <a16:creationId xmlns:a16="http://schemas.microsoft.com/office/drawing/2014/main" id="{085ACA6F-E882-2158-1452-E5F85C2D027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740739" y="925074"/>
                  <a:ext cx="177499" cy="21326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94" name="Picture 18" descr="How to Insert a Tick Symbol In Microsoft Word - Simul Docs">
                  <a:extLst>
                    <a:ext uri="{FF2B5EF4-FFF2-40B4-BE49-F238E27FC236}">
                      <a16:creationId xmlns:a16="http://schemas.microsoft.com/office/drawing/2014/main" id="{840C7EB6-D13D-8D17-3984-7509C315FB3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861258" y="943993"/>
                  <a:ext cx="177499" cy="21326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95" name="Picture 18" descr="How to Insert a Tick Symbol In Microsoft Word - Simul Docs">
                  <a:extLst>
                    <a:ext uri="{FF2B5EF4-FFF2-40B4-BE49-F238E27FC236}">
                      <a16:creationId xmlns:a16="http://schemas.microsoft.com/office/drawing/2014/main" id="{55105D9C-34E8-ED65-992C-7576F032127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988251" y="936449"/>
                  <a:ext cx="177499" cy="21326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BBD463F2-B880-5FD3-A3F5-E0741810444E}"/>
                  </a:ext>
                </a:extLst>
              </p:cNvPr>
              <p:cNvGrpSpPr/>
              <p:nvPr/>
            </p:nvGrpSpPr>
            <p:grpSpPr>
              <a:xfrm>
                <a:off x="11153979" y="2052847"/>
                <a:ext cx="323961" cy="213264"/>
                <a:chOff x="9783513" y="1845576"/>
                <a:chExt cx="323961" cy="213264"/>
              </a:xfrm>
            </p:grpSpPr>
            <p:pic>
              <p:nvPicPr>
                <p:cNvPr id="97" name="Picture 18" descr="How to Insert a Tick Symbol In Microsoft Word - Simul Docs">
                  <a:extLst>
                    <a:ext uri="{FF2B5EF4-FFF2-40B4-BE49-F238E27FC236}">
                      <a16:creationId xmlns:a16="http://schemas.microsoft.com/office/drawing/2014/main" id="{5B99FF48-5499-290A-3FD7-72AE02C9616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783513" y="1845576"/>
                  <a:ext cx="177499" cy="21326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98" name="Picture 18" descr="How to Insert a Tick Symbol In Microsoft Word - Simul Docs">
                  <a:extLst>
                    <a:ext uri="{FF2B5EF4-FFF2-40B4-BE49-F238E27FC236}">
                      <a16:creationId xmlns:a16="http://schemas.microsoft.com/office/drawing/2014/main" id="{5FAD8D06-9C57-DDAE-FE99-6169F31A4D6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929975" y="1845576"/>
                  <a:ext cx="177499" cy="21326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99" name="Picture 18" descr="How to Insert a Tick Symbol In Microsoft Word - Simul Docs">
                <a:extLst>
                  <a:ext uri="{FF2B5EF4-FFF2-40B4-BE49-F238E27FC236}">
                    <a16:creationId xmlns:a16="http://schemas.microsoft.com/office/drawing/2014/main" id="{214E25C5-14B2-3207-E222-4EBB51D1371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153978" y="3113736"/>
                <a:ext cx="177499" cy="21326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67A27BB6-0849-63DD-546F-8D7F53A5B1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94917" y="617555"/>
                <a:ext cx="0" cy="3150881"/>
              </a:xfrm>
              <a:prstGeom prst="line">
                <a:avLst/>
              </a:prstGeom>
              <a:ln w="1905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pic>
            <p:nvPicPr>
              <p:cNvPr id="115" name="Picture 18" descr="How to Insert a Tick Symbol In Microsoft Word - Simul Docs">
                <a:extLst>
                  <a:ext uri="{FF2B5EF4-FFF2-40B4-BE49-F238E27FC236}">
                    <a16:creationId xmlns:a16="http://schemas.microsoft.com/office/drawing/2014/main" id="{8AAA5935-46A6-480E-9D7C-5B9AD39105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342525" y="3102504"/>
                <a:ext cx="177499" cy="21326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34042CAE-B8E3-7F3C-1CA5-12E84E38E057}"/>
                  </a:ext>
                </a:extLst>
              </p:cNvPr>
              <p:cNvSpPr/>
              <p:nvPr/>
            </p:nvSpPr>
            <p:spPr>
              <a:xfrm>
                <a:off x="7914153" y="175100"/>
                <a:ext cx="3014247" cy="272217"/>
              </a:xfrm>
              <a:prstGeom prst="rect">
                <a:avLst/>
              </a:prstGeom>
              <a:solidFill>
                <a:srgbClr val="B455AA"/>
              </a:solidFill>
              <a:ln w="12700" cap="flat" cmpd="sng" algn="ctr">
                <a:solidFill>
                  <a:srgbClr val="B455AA"/>
                </a:solidFill>
                <a:prstDash val="solid"/>
                <a:miter lim="800000"/>
              </a:ln>
              <a:effectLst/>
            </p:spPr>
            <p:txBody>
              <a:bodyPr vert="horz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raphik"/>
                    <a:ea typeface="+mn-ea"/>
                    <a:cs typeface="+mn-cs"/>
                  </a:rPr>
                  <a:t>Target Segments</a:t>
                </a:r>
              </a:p>
            </p:txBody>
          </p:sp>
          <p:grpSp>
            <p:nvGrpSpPr>
              <p:cNvPr id="118" name="Group 117">
                <a:extLst>
                  <a:ext uri="{FF2B5EF4-FFF2-40B4-BE49-F238E27FC236}">
                    <a16:creationId xmlns:a16="http://schemas.microsoft.com/office/drawing/2014/main" id="{F6C03D0F-3235-9ED4-4E3F-597A17956A6F}"/>
                  </a:ext>
                </a:extLst>
              </p:cNvPr>
              <p:cNvGrpSpPr/>
              <p:nvPr/>
            </p:nvGrpSpPr>
            <p:grpSpPr>
              <a:xfrm>
                <a:off x="7224335" y="596226"/>
                <a:ext cx="4237010" cy="3094854"/>
                <a:chOff x="7224335" y="596226"/>
                <a:chExt cx="4237010" cy="3094854"/>
              </a:xfrm>
            </p:grpSpPr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3BA08754-0833-BC77-03E4-6CCE7739979D}"/>
                    </a:ext>
                  </a:extLst>
                </p:cNvPr>
                <p:cNvGrpSpPr/>
                <p:nvPr/>
              </p:nvGrpSpPr>
              <p:grpSpPr>
                <a:xfrm>
                  <a:off x="7379358" y="596226"/>
                  <a:ext cx="4081987" cy="3080655"/>
                  <a:chOff x="4401634" y="760893"/>
                  <a:chExt cx="4081987" cy="3080655"/>
                </a:xfrm>
              </p:grpSpPr>
              <p:sp>
                <p:nvSpPr>
                  <p:cNvPr id="103" name="Rectangle: Rounded Corners 175">
                    <a:extLst>
                      <a:ext uri="{FF2B5EF4-FFF2-40B4-BE49-F238E27FC236}">
                        <a16:creationId xmlns:a16="http://schemas.microsoft.com/office/drawing/2014/main" id="{CCA0DD46-6257-FBC1-E0C4-C31482837883}"/>
                      </a:ext>
                    </a:extLst>
                  </p:cNvPr>
                  <p:cNvSpPr/>
                  <p:nvPr/>
                </p:nvSpPr>
                <p:spPr>
                  <a:xfrm>
                    <a:off x="4666893" y="761753"/>
                    <a:ext cx="3411067" cy="968863"/>
                  </a:xfrm>
                  <a:prstGeom prst="round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/>
                </p:spPr>
                <p:style>
                  <a:lnRef idx="3">
                    <a:schemeClr val="lt1"/>
                  </a:lnRef>
                  <a:fillRef idx="1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tIns="91440" bIns="9144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1800" b="0" i="0" u="none" strike="noStrike" kern="1200" cap="none" spc="0" normalizeH="0" baseline="0" noProof="0" err="1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raphik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4" name="Rectangle: Rounded Corners 176">
                    <a:extLst>
                      <a:ext uri="{FF2B5EF4-FFF2-40B4-BE49-F238E27FC236}">
                        <a16:creationId xmlns:a16="http://schemas.microsoft.com/office/drawing/2014/main" id="{6FE8FF64-50F5-2B60-8304-599CF8633D1C}"/>
                      </a:ext>
                    </a:extLst>
                  </p:cNvPr>
                  <p:cNvSpPr/>
                  <p:nvPr/>
                </p:nvSpPr>
                <p:spPr>
                  <a:xfrm>
                    <a:off x="4666893" y="1862972"/>
                    <a:ext cx="3375789" cy="948287"/>
                  </a:xfrm>
                  <a:prstGeom prst="round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/>
                </p:spPr>
                <p:style>
                  <a:lnRef idx="3">
                    <a:schemeClr val="lt1"/>
                  </a:lnRef>
                  <a:fillRef idx="1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tIns="91440" bIns="9144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1800" b="0" i="0" u="none" strike="noStrike" kern="1200" cap="none" spc="0" normalizeH="0" baseline="0" noProof="0" err="1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raphik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5" name="Rectangle: Rounded Corners 177">
                    <a:extLst>
                      <a:ext uri="{FF2B5EF4-FFF2-40B4-BE49-F238E27FC236}">
                        <a16:creationId xmlns:a16="http://schemas.microsoft.com/office/drawing/2014/main" id="{A7265FE6-4599-5E17-50C4-E9C9A7E0B554}"/>
                      </a:ext>
                    </a:extLst>
                  </p:cNvPr>
                  <p:cNvSpPr/>
                  <p:nvPr/>
                </p:nvSpPr>
                <p:spPr>
                  <a:xfrm>
                    <a:off x="4666893" y="2919847"/>
                    <a:ext cx="3375785" cy="921701"/>
                  </a:xfrm>
                  <a:prstGeom prst="round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/>
                </p:spPr>
                <p:style>
                  <a:lnRef idx="3">
                    <a:schemeClr val="lt1"/>
                  </a:lnRef>
                  <a:fillRef idx="1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tIns="91440" bIns="9144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1800" b="0" i="0" u="none" strike="noStrike" kern="1200" cap="none" spc="0" normalizeH="0" baseline="0" noProof="0" err="1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raphik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106" name="Picture 105">
                    <a:extLst>
                      <a:ext uri="{FF2B5EF4-FFF2-40B4-BE49-F238E27FC236}">
                        <a16:creationId xmlns:a16="http://schemas.microsoft.com/office/drawing/2014/main" id="{A1EAEC1D-503C-636D-7961-A9A55745EB4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0" cstate="print">
                    <a:duotone>
                      <a:prstClr val="black"/>
                      <a:srgbClr val="C0000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11">
                            <a14:imgEffect>
                              <a14:saturation sat="0"/>
                            </a14:imgEffect>
                            <a14:imgEffect>
                              <a14:brightnessContrast bright="20000" contrast="2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778829" y="1997007"/>
                    <a:ext cx="741213" cy="654239"/>
                  </a:xfrm>
                  <a:prstGeom prst="rect">
                    <a:avLst/>
                  </a:prstGeom>
                </p:spPr>
              </p:pic>
              <p:pic>
                <p:nvPicPr>
                  <p:cNvPr id="107" name="Picture 106">
                    <a:extLst>
                      <a:ext uri="{FF2B5EF4-FFF2-40B4-BE49-F238E27FC236}">
                        <a16:creationId xmlns:a16="http://schemas.microsoft.com/office/drawing/2014/main" id="{9DB1B2A2-12CC-377A-CBDB-20CB5740E16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2" cstate="print">
                    <a:duotone>
                      <a:schemeClr val="accent2">
                        <a:shade val="45000"/>
                        <a:satMod val="135000"/>
                      </a:schemeClr>
                      <a:prstClr val="white"/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778360" y="910465"/>
                    <a:ext cx="658563" cy="658563"/>
                  </a:xfrm>
                  <a:prstGeom prst="rect">
                    <a:avLst/>
                  </a:prstGeom>
                </p:spPr>
              </p:pic>
              <p:pic>
                <p:nvPicPr>
                  <p:cNvPr id="108" name="Picture 107">
                    <a:extLst>
                      <a:ext uri="{FF2B5EF4-FFF2-40B4-BE49-F238E27FC236}">
                        <a16:creationId xmlns:a16="http://schemas.microsoft.com/office/drawing/2014/main" id="{6BD3B26B-0BEE-3D7B-E179-5C5B2B95D59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773115" y="3094455"/>
                    <a:ext cx="704832" cy="580834"/>
                  </a:xfrm>
                  <a:prstGeom prst="rect">
                    <a:avLst/>
                  </a:prstGeom>
                </p:spPr>
              </p:pic>
              <p:sp>
                <p:nvSpPr>
                  <p:cNvPr id="109" name="TextBox 108">
                    <a:extLst>
                      <a:ext uri="{FF2B5EF4-FFF2-40B4-BE49-F238E27FC236}">
                        <a16:creationId xmlns:a16="http://schemas.microsoft.com/office/drawing/2014/main" id="{A4B87A74-9F50-F78A-0276-01D46489BA19}"/>
                      </a:ext>
                    </a:extLst>
                  </p:cNvPr>
                  <p:cNvSpPr txBox="1"/>
                  <p:nvPr/>
                </p:nvSpPr>
                <p:spPr>
                  <a:xfrm>
                    <a:off x="5520080" y="1871311"/>
                    <a:ext cx="2963541" cy="71824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noAutofit/>
                  </a:bodyPr>
                  <a:lstStyle/>
                  <a:p>
                    <a:pPr marL="0" marR="0" lvl="0" indent="0" algn="l" defTabSz="2286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IN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rPr>
                      <a:t>                 Explorers</a:t>
                    </a:r>
                  </a:p>
                  <a:p>
                    <a:pPr marL="171450" marR="0" lvl="0" indent="-171450" algn="l" defTabSz="2286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Wingdings" panose="05000000000000000000" pitchFamily="2" charset="2"/>
                      <a:buChar char="Ø"/>
                      <a:tabLst/>
                      <a:defRPr/>
                    </a:pPr>
                    <a:r>
                      <a: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rPr>
                      <a:t>Leisure shoppers, Tier 1 cities</a:t>
                    </a:r>
                  </a:p>
                  <a:p>
                    <a:pPr marL="171450" marR="0" lvl="0" indent="-171450" algn="l" defTabSz="2286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Wingdings" panose="05000000000000000000" pitchFamily="2" charset="2"/>
                      <a:buChar char="Ø"/>
                      <a:tabLst/>
                      <a:defRPr/>
                    </a:pPr>
                    <a:r>
                      <a: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Young</a:t>
                    </a:r>
                    <a:r>
                      <a:rPr kumimoji="0" lang="en-US" sz="1200" b="0" i="0" u="none" strike="noStrike" kern="1200" cap="none" spc="-55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 </a:t>
                    </a:r>
                    <a:r>
                      <a: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(20-30</a:t>
                    </a:r>
                    <a:r>
                      <a:rPr kumimoji="0" lang="en-US" sz="1200" b="0" i="0" u="none" strike="noStrike" kern="1200" cap="none" spc="-2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 </a:t>
                    </a:r>
                    <a:r>
                      <a: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yrs.)</a:t>
                    </a:r>
                  </a:p>
                  <a:p>
                    <a:pPr marL="171450" marR="0" lvl="0" indent="-171450" algn="l" defTabSz="2286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Wingdings" panose="05000000000000000000" pitchFamily="2" charset="2"/>
                      <a:buChar char="Ø"/>
                      <a:tabLst/>
                      <a:defRPr/>
                    </a:pPr>
                    <a:r>
                      <a:rPr kumimoji="0" lang="en-US" sz="1200" b="0" i="0" u="none" strike="noStrike" kern="1200" cap="none" spc="-5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Tech-Savvy</a:t>
                    </a:r>
                    <a:r>
                      <a:rPr kumimoji="0" lang="en-US" sz="12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 </a:t>
                    </a:r>
                    <a:r>
                      <a: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early</a:t>
                    </a:r>
                    <a:r>
                      <a:rPr kumimoji="0" lang="en-US" sz="1200" b="0" i="0" u="none" strike="noStrike" kern="1200" cap="none" spc="-15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 </a:t>
                    </a:r>
                    <a:r>
                      <a: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adopters</a:t>
                    </a:r>
                  </a:p>
                  <a:p>
                    <a:pPr marL="171450" marR="0" lvl="0" indent="-171450" algn="l" defTabSz="2286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Wingdings" panose="05000000000000000000" pitchFamily="2" charset="2"/>
                      <a:buChar char="Ø"/>
                      <a:tabLst/>
                      <a:defRPr/>
                    </a:pPr>
                    <a:r>
                      <a: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Limited</a:t>
                    </a:r>
                    <a:r>
                      <a:rPr kumimoji="0" lang="en-US" sz="1200" b="0" i="0" u="none" strike="noStrike" kern="1200" cap="none" spc="-35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 </a:t>
                    </a:r>
                    <a:r>
                      <a:rPr kumimoji="0" lang="en-US" sz="1200" b="0" i="0" u="none" strike="noStrike" kern="1200" cap="none" spc="-5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d</a:t>
                    </a:r>
                    <a:r>
                      <a: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is</a:t>
                    </a:r>
                    <a:r>
                      <a:rPr kumimoji="0" lang="en-US" sz="1200" b="0" i="0" u="none" strike="noStrike" kern="1200" cap="none" spc="-5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p</a:t>
                    </a:r>
                    <a:r>
                      <a:rPr kumimoji="0" lang="en-US" sz="1200" b="0" i="0" u="none" strike="noStrike" kern="1200" cap="none" spc="5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o</a:t>
                    </a:r>
                    <a:r>
                      <a:rPr kumimoji="0" lang="en-US" sz="1200" b="0" i="0" u="none" strike="noStrike" kern="1200" cap="none" spc="-5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sab</a:t>
                    </a:r>
                    <a:r>
                      <a: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le</a:t>
                    </a:r>
                    <a:r>
                      <a:rPr kumimoji="0" lang="en-US" sz="1200" b="0" i="0" u="none" strike="noStrike" kern="1200" cap="none" spc="-45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 </a:t>
                    </a:r>
                    <a:r>
                      <a: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i</a:t>
                    </a:r>
                    <a:r>
                      <a:rPr kumimoji="0" lang="en-US" sz="1200" b="0" i="0" u="none" strike="noStrike" kern="1200" cap="none" spc="-5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n</a:t>
                    </a:r>
                    <a:r>
                      <a: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c</a:t>
                    </a:r>
                    <a:r>
                      <a:rPr kumimoji="0" lang="en-US" sz="1200" b="0" i="0" u="none" strike="noStrike" kern="1200" cap="none" spc="5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o</a:t>
                    </a:r>
                    <a:r>
                      <a: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me</a:t>
                    </a:r>
                  </a:p>
                  <a:p>
                    <a:pPr marL="0" marR="0" lvl="0" indent="0" algn="l" defTabSz="2286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Graphik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B7924C71-13E5-E2C6-4E31-EBC45921A69C}"/>
                      </a:ext>
                    </a:extLst>
                  </p:cNvPr>
                  <p:cNvSpPr txBox="1"/>
                  <p:nvPr/>
                </p:nvSpPr>
                <p:spPr>
                  <a:xfrm>
                    <a:off x="5473530" y="760893"/>
                    <a:ext cx="2648127" cy="76201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noAutofit/>
                  </a:bodyPr>
                  <a:lstStyle/>
                  <a:p>
                    <a:pPr marL="0" marR="0" lvl="0" indent="0" algn="l" defTabSz="2286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IN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rPr>
                      <a:t>              Product focused</a:t>
                    </a:r>
                  </a:p>
                  <a:p>
                    <a:pPr marL="184785" marR="0" lvl="0" indent="-17272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100"/>
                      </a:spcBef>
                      <a:spcAft>
                        <a:spcPts val="0"/>
                      </a:spcAft>
                      <a:buClrTx/>
                      <a:buSzTx/>
                      <a:buFont typeface="Wingdings"/>
                      <a:buChar char=""/>
                      <a:tabLst>
                        <a:tab pos="185420" algn="l"/>
                      </a:tabLst>
                      <a:defRPr/>
                    </a:pPr>
                    <a:r>
                      <a: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Middle</a:t>
                    </a:r>
                    <a:r>
                      <a:rPr kumimoji="0" lang="en-US" sz="1200" b="0" i="0" u="none" strike="noStrike" kern="1200" cap="none" spc="-45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 </a:t>
                    </a:r>
                    <a:r>
                      <a: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aged</a:t>
                    </a:r>
                    <a:r>
                      <a:rPr kumimoji="0" lang="en-US" sz="1200" b="0" i="0" u="none" strike="noStrike" kern="1200" cap="none" spc="-35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 </a:t>
                    </a:r>
                    <a:r>
                      <a: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(25-50</a:t>
                    </a:r>
                    <a:r>
                      <a:rPr kumimoji="0" lang="en-US" sz="12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 </a:t>
                    </a:r>
                    <a:r>
                      <a:rPr kumimoji="0" lang="en-US" sz="1200" b="0" i="0" u="none" strike="noStrike" kern="1200" cap="none" spc="0" normalizeH="0" baseline="0" noProof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yr</a:t>
                    </a:r>
                    <a:r>
                      <a: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), Tier 1&amp;2 cities</a:t>
                    </a:r>
                  </a:p>
                  <a:p>
                    <a:pPr marL="184785" marR="0" lvl="0" indent="-17272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5"/>
                      </a:spcBef>
                      <a:spcAft>
                        <a:spcPts val="0"/>
                      </a:spcAft>
                      <a:buClrTx/>
                      <a:buSzTx/>
                      <a:buFont typeface="Wingdings"/>
                      <a:buChar char=""/>
                      <a:tabLst>
                        <a:tab pos="185420" algn="l"/>
                      </a:tabLst>
                      <a:defRPr/>
                    </a:pPr>
                    <a:r>
                      <a: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Sustainability </a:t>
                    </a:r>
                    <a:r>
                      <a:rPr kumimoji="0" lang="en-US" sz="1200" b="0" i="0" u="none" strike="noStrike" kern="1200" cap="none" spc="-5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conscious</a:t>
                    </a: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Calibri"/>
                    </a:endParaRPr>
                  </a:p>
                  <a:p>
                    <a:pPr marL="184785" marR="0" lvl="0" indent="-17272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Wingdings"/>
                      <a:buChar char=""/>
                      <a:tabLst>
                        <a:tab pos="185420" algn="l"/>
                      </a:tabLst>
                      <a:defRPr/>
                    </a:pPr>
                    <a:r>
                      <a:rPr kumimoji="0" lang="en-US" sz="1200" b="0" i="0" u="none" strike="noStrike" kern="1200" cap="none" spc="-5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Awareness regarding finishes</a:t>
                    </a: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Calibri"/>
                    </a:endParaRPr>
                  </a:p>
                  <a:p>
                    <a:pPr marL="184785" marR="0" lvl="0" indent="-17272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Wingdings"/>
                      <a:buChar char=""/>
                      <a:tabLst>
                        <a:tab pos="185420" algn="l"/>
                      </a:tabLst>
                      <a:defRPr/>
                    </a:pPr>
                    <a:r>
                      <a:rPr kumimoji="0" lang="en-US" sz="1200" b="0" i="0" u="none" strike="noStrike" kern="1200" cap="none" spc="-5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High</a:t>
                    </a:r>
                    <a:r>
                      <a:rPr kumimoji="0" lang="en-US" sz="1200" b="0" i="0" u="none" strike="noStrike" kern="1200" cap="none" spc="-15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 </a:t>
                    </a:r>
                    <a:r>
                      <a:rPr kumimoji="0" lang="en-US" sz="1200" b="0" i="0" u="none" strike="noStrike" kern="1200" cap="none" spc="-5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willingness</a:t>
                    </a:r>
                    <a:r>
                      <a:rPr kumimoji="0" lang="en-US" sz="1200" b="0" i="0" u="none" strike="noStrike" kern="1200" cap="none" spc="-35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 </a:t>
                    </a:r>
                    <a:r>
                      <a: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to</a:t>
                    </a:r>
                    <a:r>
                      <a:rPr kumimoji="0" lang="en-US" sz="12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 </a:t>
                    </a:r>
                    <a:r>
                      <a: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pay</a:t>
                    </a:r>
                  </a:p>
                  <a:p>
                    <a:pPr marL="0" marR="0" lvl="0" indent="0" algn="l" defTabSz="2286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Graphik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1" name="TextBox 110">
                    <a:extLst>
                      <a:ext uri="{FF2B5EF4-FFF2-40B4-BE49-F238E27FC236}">
                        <a16:creationId xmlns:a16="http://schemas.microsoft.com/office/drawing/2014/main" id="{0954A483-FA03-7FD1-09D0-6885D70461A1}"/>
                      </a:ext>
                    </a:extLst>
                  </p:cNvPr>
                  <p:cNvSpPr txBox="1"/>
                  <p:nvPr/>
                </p:nvSpPr>
                <p:spPr>
                  <a:xfrm>
                    <a:off x="5436923" y="2919847"/>
                    <a:ext cx="3000147" cy="67964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noAutofit/>
                  </a:bodyPr>
                  <a:lstStyle/>
                  <a:p>
                    <a:pPr marL="457200" marR="0" lvl="1" indent="0" algn="l" defTabSz="2286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IN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rPr>
                      <a:t>Bargain Hunters</a:t>
                    </a:r>
                  </a:p>
                  <a:p>
                    <a:pPr marL="171450" marR="0" lvl="0" indent="-171450" algn="l" defTabSz="2286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Wingdings" panose="05000000000000000000" pitchFamily="2" charset="2"/>
                      <a:buChar char="Ø"/>
                      <a:tabLst/>
                      <a:defRPr/>
                    </a:pPr>
                    <a:r>
                      <a: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rPr>
                      <a:t>Cost conscious, Tier 2  cities</a:t>
                    </a:r>
                  </a:p>
                  <a:p>
                    <a:pPr marL="171450" marR="0" lvl="0" indent="-171450" algn="l" defTabSz="2286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Wingdings" panose="05000000000000000000" pitchFamily="2" charset="2"/>
                      <a:buChar char="Ø"/>
                      <a:tabLst/>
                      <a:defRPr/>
                    </a:pPr>
                    <a:r>
                      <a: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Durability and fabric of product</a:t>
                    </a:r>
                  </a:p>
                  <a:p>
                    <a:pPr marL="171450" marR="0" lvl="0" indent="-171450" algn="l" defTabSz="2286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Wingdings" panose="05000000000000000000" pitchFamily="2" charset="2"/>
                      <a:buChar char="Ø"/>
                      <a:tabLst/>
                      <a:defRPr/>
                    </a:pPr>
                    <a:r>
                      <a: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Medium </a:t>
                    </a:r>
                    <a:r>
                      <a:rPr kumimoji="0" lang="en-US" sz="1200" b="0" i="0" u="none" strike="noStrike" kern="1200" cap="none" spc="-5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d</a:t>
                    </a:r>
                    <a:r>
                      <a: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is</a:t>
                    </a:r>
                    <a:r>
                      <a:rPr kumimoji="0" lang="en-US" sz="1200" b="0" i="0" u="none" strike="noStrike" kern="1200" cap="none" spc="-5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p</a:t>
                    </a:r>
                    <a:r>
                      <a:rPr kumimoji="0" lang="en-US" sz="1200" b="0" i="0" u="none" strike="noStrike" kern="1200" cap="none" spc="5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o</a:t>
                    </a:r>
                    <a:r>
                      <a:rPr kumimoji="0" lang="en-US" sz="1200" b="0" i="0" u="none" strike="noStrike" kern="1200" cap="none" spc="-5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sab</a:t>
                    </a:r>
                    <a:r>
                      <a: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le</a:t>
                    </a:r>
                    <a:r>
                      <a:rPr kumimoji="0" lang="en-US" sz="1200" b="0" i="0" u="none" strike="noStrike" kern="1200" cap="none" spc="-45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 </a:t>
                    </a:r>
                    <a:r>
                      <a: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i</a:t>
                    </a:r>
                    <a:r>
                      <a:rPr kumimoji="0" lang="en-US" sz="1200" b="0" i="0" u="none" strike="noStrike" kern="1200" cap="none" spc="-5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n</a:t>
                    </a:r>
                    <a:r>
                      <a: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c</a:t>
                    </a:r>
                    <a:r>
                      <a:rPr kumimoji="0" lang="en-US" sz="1200" b="0" i="0" u="none" strike="noStrike" kern="1200" cap="none" spc="5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o</a:t>
                    </a:r>
                    <a:r>
                      <a: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me</a:t>
                    </a:r>
                  </a:p>
                  <a:p>
                    <a:pPr marL="171450" marR="0" lvl="0" indent="-171450" algn="l" defTabSz="2286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Wingdings" panose="05000000000000000000" pitchFamily="2" charset="2"/>
                      <a:buChar char="Ø"/>
                      <a:tabLst/>
                      <a:defRPr/>
                    </a:pPr>
                    <a:r>
                      <a: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rPr>
                      <a:t>Not brand conscious</a:t>
                    </a:r>
                  </a:p>
                  <a:p>
                    <a:pPr marL="0" marR="0" lvl="0" indent="0" algn="l" defTabSz="2286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Graphik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2" name="TextBox 111">
                    <a:extLst>
                      <a:ext uri="{FF2B5EF4-FFF2-40B4-BE49-F238E27FC236}">
                        <a16:creationId xmlns:a16="http://schemas.microsoft.com/office/drawing/2014/main" id="{7FB86C02-80F7-463B-AA48-9258AAB0D1B0}"/>
                      </a:ext>
                    </a:extLst>
                  </p:cNvPr>
                  <p:cNvSpPr txBox="1"/>
                  <p:nvPr/>
                </p:nvSpPr>
                <p:spPr>
                  <a:xfrm>
                    <a:off x="4401634" y="826834"/>
                    <a:ext cx="184666" cy="743144"/>
                  </a:xfrm>
                  <a:prstGeom prst="rect">
                    <a:avLst/>
                  </a:prstGeom>
                  <a:noFill/>
                </p:spPr>
                <p:txBody>
                  <a:bodyPr vert="vert270"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IN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rPr>
                      <a:t>Cluster 1</a:t>
                    </a:r>
                  </a:p>
                </p:txBody>
              </p:sp>
              <p:sp>
                <p:nvSpPr>
                  <p:cNvPr id="113" name="TextBox 112">
                    <a:extLst>
                      <a:ext uri="{FF2B5EF4-FFF2-40B4-BE49-F238E27FC236}">
                        <a16:creationId xmlns:a16="http://schemas.microsoft.com/office/drawing/2014/main" id="{01E6AA96-CD10-3624-9A3F-CC9509AE0003}"/>
                      </a:ext>
                    </a:extLst>
                  </p:cNvPr>
                  <p:cNvSpPr txBox="1"/>
                  <p:nvPr/>
                </p:nvSpPr>
                <p:spPr>
                  <a:xfrm>
                    <a:off x="4422263" y="1925353"/>
                    <a:ext cx="184666" cy="709856"/>
                  </a:xfrm>
                  <a:prstGeom prst="rect">
                    <a:avLst/>
                  </a:prstGeom>
                  <a:noFill/>
                </p:spPr>
                <p:txBody>
                  <a:bodyPr vert="vert270"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IN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rPr>
                      <a:t>Cluster 2</a:t>
                    </a:r>
                  </a:p>
                </p:txBody>
              </p:sp>
              <p:sp>
                <p:nvSpPr>
                  <p:cNvPr id="114" name="TextBox 113">
                    <a:extLst>
                      <a:ext uri="{FF2B5EF4-FFF2-40B4-BE49-F238E27FC236}">
                        <a16:creationId xmlns:a16="http://schemas.microsoft.com/office/drawing/2014/main" id="{6E4CDC15-BB51-29FD-F9BE-05ABD1C24882}"/>
                      </a:ext>
                    </a:extLst>
                  </p:cNvPr>
                  <p:cNvSpPr txBox="1"/>
                  <p:nvPr/>
                </p:nvSpPr>
                <p:spPr>
                  <a:xfrm>
                    <a:off x="4422263" y="2911167"/>
                    <a:ext cx="184666" cy="745598"/>
                  </a:xfrm>
                  <a:prstGeom prst="rect">
                    <a:avLst/>
                  </a:prstGeom>
                  <a:noFill/>
                </p:spPr>
                <p:txBody>
                  <a:bodyPr vert="vert270"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IN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rPr>
                      <a:t>Cluster 3</a:t>
                    </a:r>
                  </a:p>
                </p:txBody>
              </p:sp>
            </p:grpSp>
            <p:sp>
              <p:nvSpPr>
                <p:cNvPr id="117" name="Arrow: Up 34">
                  <a:extLst>
                    <a:ext uri="{FF2B5EF4-FFF2-40B4-BE49-F238E27FC236}">
                      <a16:creationId xmlns:a16="http://schemas.microsoft.com/office/drawing/2014/main" id="{D0C7F64A-9621-54AB-3F28-F0F803FDF65F}"/>
                    </a:ext>
                  </a:extLst>
                </p:cNvPr>
                <p:cNvSpPr/>
                <p:nvPr/>
              </p:nvSpPr>
              <p:spPr>
                <a:xfrm>
                  <a:off x="7224335" y="914203"/>
                  <a:ext cx="135890" cy="2776877"/>
                </a:xfrm>
                <a:prstGeom prst="upArrow">
                  <a:avLst/>
                </a:prstGeom>
                <a:solidFill>
                  <a:srgbClr val="7030A0"/>
                </a:solidFill>
                <a:ln w="12700" cap="flat" cmpd="sng" algn="ctr">
                  <a:solidFill>
                    <a:srgbClr val="A100FF">
                      <a:shade val="5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raphik"/>
                    <a:ea typeface="+mn-ea"/>
                    <a:cs typeface="+mn-cs"/>
                  </a:endParaRPr>
                </a:p>
              </p:txBody>
            </p:sp>
          </p:grpSp>
        </p:grp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FA368D65-47EF-BD83-83E1-2DE77E710092}"/>
              </a:ext>
            </a:extLst>
          </p:cNvPr>
          <p:cNvCxnSpPr>
            <a:cxnSpLocks/>
          </p:cNvCxnSpPr>
          <p:nvPr/>
        </p:nvCxnSpPr>
        <p:spPr>
          <a:xfrm flipV="1">
            <a:off x="7155007" y="2779023"/>
            <a:ext cx="0" cy="3822049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1F3F3753-D766-66E9-EDEA-C6B1EC75A53F}"/>
              </a:ext>
            </a:extLst>
          </p:cNvPr>
          <p:cNvSpPr/>
          <p:nvPr/>
        </p:nvSpPr>
        <p:spPr>
          <a:xfrm>
            <a:off x="4050539" y="149581"/>
            <a:ext cx="7775951" cy="25920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Consumer Life-Cycle (Micro Analysis)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1202EFE-FC91-6F9F-96F0-4CF13D7EDBAB}"/>
              </a:ext>
            </a:extLst>
          </p:cNvPr>
          <p:cNvSpPr/>
          <p:nvPr/>
        </p:nvSpPr>
        <p:spPr>
          <a:xfrm>
            <a:off x="4318873" y="448509"/>
            <a:ext cx="1310270" cy="253909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Awareness</a:t>
            </a:r>
          </a:p>
        </p:txBody>
      </p:sp>
      <p:sp>
        <p:nvSpPr>
          <p:cNvPr id="126" name="Arrow: Pentagon 51">
            <a:extLst>
              <a:ext uri="{FF2B5EF4-FFF2-40B4-BE49-F238E27FC236}">
                <a16:creationId xmlns:a16="http://schemas.microsoft.com/office/drawing/2014/main" id="{8C50ED7C-1B61-0708-5EE7-757F7FD80080}"/>
              </a:ext>
            </a:extLst>
          </p:cNvPr>
          <p:cNvSpPr/>
          <p:nvPr/>
        </p:nvSpPr>
        <p:spPr>
          <a:xfrm>
            <a:off x="4023823" y="988460"/>
            <a:ext cx="917086" cy="319274"/>
          </a:xfrm>
          <a:prstGeom prst="homePlat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Gap</a:t>
            </a:r>
          </a:p>
        </p:txBody>
      </p:sp>
      <p:sp>
        <p:nvSpPr>
          <p:cNvPr id="127" name="Arrow: Pentagon 53">
            <a:extLst>
              <a:ext uri="{FF2B5EF4-FFF2-40B4-BE49-F238E27FC236}">
                <a16:creationId xmlns:a16="http://schemas.microsoft.com/office/drawing/2014/main" id="{F52C516A-E69E-F3E6-7FF4-4D1CC9FD93C3}"/>
              </a:ext>
            </a:extLst>
          </p:cNvPr>
          <p:cNvSpPr/>
          <p:nvPr/>
        </p:nvSpPr>
        <p:spPr>
          <a:xfrm>
            <a:off x="4017093" y="1486698"/>
            <a:ext cx="917086" cy="319274"/>
          </a:xfrm>
          <a:prstGeom prst="homePlat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Need</a:t>
            </a:r>
          </a:p>
        </p:txBody>
      </p:sp>
      <p:sp>
        <p:nvSpPr>
          <p:cNvPr id="128" name="Arrow: Pentagon 54">
            <a:extLst>
              <a:ext uri="{FF2B5EF4-FFF2-40B4-BE49-F238E27FC236}">
                <a16:creationId xmlns:a16="http://schemas.microsoft.com/office/drawing/2014/main" id="{2A2DFE1E-21FF-C66B-F565-62569FDEBDE5}"/>
              </a:ext>
            </a:extLst>
          </p:cNvPr>
          <p:cNvSpPr/>
          <p:nvPr/>
        </p:nvSpPr>
        <p:spPr>
          <a:xfrm>
            <a:off x="4017093" y="2015799"/>
            <a:ext cx="958134" cy="347213"/>
          </a:xfrm>
          <a:prstGeom prst="homePlat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Solution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8DFAF29A-F3D6-F7D7-C998-AD2517873478}"/>
              </a:ext>
            </a:extLst>
          </p:cNvPr>
          <p:cNvSpPr/>
          <p:nvPr/>
        </p:nvSpPr>
        <p:spPr>
          <a:xfrm>
            <a:off x="6237518" y="446168"/>
            <a:ext cx="1235047" cy="28871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Acquisition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798ECE3D-3BFE-0FCF-A81B-C810DC5B335B}"/>
              </a:ext>
            </a:extLst>
          </p:cNvPr>
          <p:cNvSpPr/>
          <p:nvPr/>
        </p:nvSpPr>
        <p:spPr>
          <a:xfrm>
            <a:off x="8075152" y="431654"/>
            <a:ext cx="1235047" cy="29912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Conversion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FA79F76-4626-39F6-F79D-C7365C5AECC8}"/>
              </a:ext>
            </a:extLst>
          </p:cNvPr>
          <p:cNvSpPr/>
          <p:nvPr/>
        </p:nvSpPr>
        <p:spPr>
          <a:xfrm>
            <a:off x="10015261" y="437163"/>
            <a:ext cx="1184246" cy="286419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Retention</a:t>
            </a:r>
          </a:p>
        </p:txBody>
      </p:sp>
      <p:graphicFrame>
        <p:nvGraphicFramePr>
          <p:cNvPr id="132" name="Table 10">
            <a:extLst>
              <a:ext uri="{FF2B5EF4-FFF2-40B4-BE49-F238E27FC236}">
                <a16:creationId xmlns:a16="http://schemas.microsoft.com/office/drawing/2014/main" id="{1B91E169-19EA-1001-7818-97D810102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226681"/>
              </p:ext>
            </p:extLst>
          </p:nvPr>
        </p:nvGraphicFramePr>
        <p:xfrm>
          <a:off x="4975227" y="797478"/>
          <a:ext cx="6984540" cy="173736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328180">
                  <a:extLst>
                    <a:ext uri="{9D8B030D-6E8A-4147-A177-3AD203B41FA5}">
                      <a16:colId xmlns:a16="http://schemas.microsoft.com/office/drawing/2014/main" val="867598811"/>
                    </a:ext>
                  </a:extLst>
                </a:gridCol>
                <a:gridCol w="2328180">
                  <a:extLst>
                    <a:ext uri="{9D8B030D-6E8A-4147-A177-3AD203B41FA5}">
                      <a16:colId xmlns:a16="http://schemas.microsoft.com/office/drawing/2014/main" val="1493971915"/>
                    </a:ext>
                  </a:extLst>
                </a:gridCol>
                <a:gridCol w="2328180">
                  <a:extLst>
                    <a:ext uri="{9D8B030D-6E8A-4147-A177-3AD203B41FA5}">
                      <a16:colId xmlns:a16="http://schemas.microsoft.com/office/drawing/2014/main" val="2663337145"/>
                    </a:ext>
                  </a:extLst>
                </a:gridCol>
              </a:tblGrid>
              <a:tr h="597259">
                <a:tc>
                  <a:txBody>
                    <a:bodyPr/>
                    <a:lstStyle/>
                    <a:p>
                      <a:pPr algn="ctr"/>
                      <a:r>
                        <a:rPr lang="en-IN" sz="1200" b="0" i="1">
                          <a:solidFill>
                            <a:schemeClr val="bg1"/>
                          </a:solidFill>
                        </a:rPr>
                        <a:t>Inertia, less brand awareness</a:t>
                      </a:r>
                    </a:p>
                    <a:p>
                      <a:pPr algn="ctr"/>
                      <a:r>
                        <a:rPr lang="en-IN" sz="1200" b="0" i="1">
                          <a:solidFill>
                            <a:schemeClr val="bg1"/>
                          </a:solidFill>
                        </a:rPr>
                        <a:t>Sustainability, Unorganized market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1">
                          <a:solidFill>
                            <a:schemeClr val="bg1"/>
                          </a:solidFill>
                        </a:rPr>
                        <a:t>Reluctance to commit on online platforms, less reviews on e-commerce platforms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1" dirty="0">
                          <a:solidFill>
                            <a:schemeClr val="bg1"/>
                          </a:solidFill>
                        </a:rPr>
                        <a:t>High bargaining power of buyers, less brand conscious, variety of options available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1962214"/>
                  </a:ext>
                </a:extLst>
              </a:tr>
              <a:tr h="426613">
                <a:tc>
                  <a:txBody>
                    <a:bodyPr/>
                    <a:lstStyle/>
                    <a:p>
                      <a:pPr algn="ctr"/>
                      <a:r>
                        <a:rPr lang="en-IN" sz="1200" b="0" i="1">
                          <a:solidFill>
                            <a:schemeClr val="bg1"/>
                          </a:solidFill>
                        </a:rPr>
                        <a:t>Brand awareness &amp; educate,</a:t>
                      </a:r>
                    </a:p>
                    <a:p>
                      <a:pPr algn="ctr"/>
                      <a:r>
                        <a:rPr lang="en-IN" sz="1200" b="0" i="1">
                          <a:solidFill>
                            <a:schemeClr val="bg1"/>
                          </a:solidFill>
                        </a:rPr>
                        <a:t>Identify and activate triggers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1">
                          <a:solidFill>
                            <a:schemeClr val="bg1"/>
                          </a:solidFill>
                        </a:rPr>
                        <a:t>Testimonials, blogs, featured on credible pages for trust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1">
                          <a:solidFill>
                            <a:schemeClr val="bg1"/>
                          </a:solidFill>
                        </a:rPr>
                        <a:t>Tracking and redeeming customers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723883"/>
                  </a:ext>
                </a:extLst>
              </a:tr>
              <a:tr h="597259">
                <a:tc>
                  <a:txBody>
                    <a:bodyPr/>
                    <a:lstStyle/>
                    <a:p>
                      <a:pPr algn="ctr"/>
                      <a:r>
                        <a:rPr lang="en-IN" sz="1200" b="0" i="1" dirty="0">
                          <a:solidFill>
                            <a:schemeClr val="bg1"/>
                          </a:solidFill>
                        </a:rPr>
                        <a:t>Bacteria free bedding, Influencer marketing,</a:t>
                      </a:r>
                    </a:p>
                    <a:p>
                      <a:pPr algn="ctr"/>
                      <a:r>
                        <a:rPr lang="en-IN" sz="1200" b="0" i="1" dirty="0">
                          <a:solidFill>
                            <a:schemeClr val="bg1"/>
                          </a:solidFill>
                        </a:rPr>
                        <a:t>Bundle pricing,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1" dirty="0">
                          <a:solidFill>
                            <a:schemeClr val="bg1"/>
                          </a:solidFill>
                        </a:rPr>
                        <a:t>Video marketing,  Discounts, coupons, e-commerce catalogues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1" dirty="0">
                          <a:solidFill>
                            <a:schemeClr val="bg1"/>
                          </a:solidFill>
                        </a:rPr>
                        <a:t>Rewards programme, old towel exchange campaign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8885550"/>
                  </a:ext>
                </a:extLst>
              </a:tr>
            </a:tbl>
          </a:graphicData>
        </a:graphic>
      </p:graphicFrame>
      <p:sp>
        <p:nvSpPr>
          <p:cNvPr id="133" name="Arrow: Curved Up 48">
            <a:extLst>
              <a:ext uri="{FF2B5EF4-FFF2-40B4-BE49-F238E27FC236}">
                <a16:creationId xmlns:a16="http://schemas.microsoft.com/office/drawing/2014/main" id="{056E43D8-55D6-CB88-FF1A-8FF44641B8BB}"/>
              </a:ext>
            </a:extLst>
          </p:cNvPr>
          <p:cNvSpPr/>
          <p:nvPr/>
        </p:nvSpPr>
        <p:spPr>
          <a:xfrm>
            <a:off x="5494573" y="620407"/>
            <a:ext cx="846176" cy="147577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34" name="Arrow: Curved Up 49">
            <a:extLst>
              <a:ext uri="{FF2B5EF4-FFF2-40B4-BE49-F238E27FC236}">
                <a16:creationId xmlns:a16="http://schemas.microsoft.com/office/drawing/2014/main" id="{7AEF0F36-0B1D-F85F-5410-E58B8F9DB82D}"/>
              </a:ext>
            </a:extLst>
          </p:cNvPr>
          <p:cNvSpPr/>
          <p:nvPr/>
        </p:nvSpPr>
        <p:spPr>
          <a:xfrm>
            <a:off x="7339198" y="595714"/>
            <a:ext cx="846176" cy="147577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35" name="Arrow: Curved Up 50">
            <a:extLst>
              <a:ext uri="{FF2B5EF4-FFF2-40B4-BE49-F238E27FC236}">
                <a16:creationId xmlns:a16="http://schemas.microsoft.com/office/drawing/2014/main" id="{13F074C0-9D85-676F-D0B5-725F1457CC0A}"/>
              </a:ext>
            </a:extLst>
          </p:cNvPr>
          <p:cNvSpPr/>
          <p:nvPr/>
        </p:nvSpPr>
        <p:spPr>
          <a:xfrm>
            <a:off x="9248328" y="606597"/>
            <a:ext cx="846176" cy="147577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25A6BE66-3BD1-4A3A-2762-E8DBE704CCAF}"/>
              </a:ext>
            </a:extLst>
          </p:cNvPr>
          <p:cNvCxnSpPr>
            <a:cxnSpLocks/>
          </p:cNvCxnSpPr>
          <p:nvPr/>
        </p:nvCxnSpPr>
        <p:spPr>
          <a:xfrm>
            <a:off x="387927" y="2662325"/>
            <a:ext cx="11438563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8D0A9887-3892-34BE-45C6-507276494B0A}"/>
              </a:ext>
            </a:extLst>
          </p:cNvPr>
          <p:cNvCxnSpPr>
            <a:cxnSpLocks/>
          </p:cNvCxnSpPr>
          <p:nvPr/>
        </p:nvCxnSpPr>
        <p:spPr>
          <a:xfrm flipV="1">
            <a:off x="3939006" y="199130"/>
            <a:ext cx="0" cy="2373192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C1386114-C9A6-579A-000A-1F8966DE8130}"/>
              </a:ext>
            </a:extLst>
          </p:cNvPr>
          <p:cNvSpPr txBox="1"/>
          <p:nvPr/>
        </p:nvSpPr>
        <p:spPr>
          <a:xfrm>
            <a:off x="1711285" y="6476299"/>
            <a:ext cx="37517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b="1" dirty="0">
                <a:solidFill>
                  <a:schemeClr val="bg1"/>
                </a:solidFill>
              </a:rPr>
              <a:t>Competitive benchmarking &amp; ABC’s Positioning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DF9533-C9A7-960F-B43D-6983A52CC9D5}"/>
              </a:ext>
            </a:extLst>
          </p:cNvPr>
          <p:cNvSpPr/>
          <p:nvPr/>
        </p:nvSpPr>
        <p:spPr>
          <a:xfrm>
            <a:off x="572916" y="149581"/>
            <a:ext cx="3014247" cy="259200"/>
          </a:xfrm>
          <a:prstGeom prst="rect">
            <a:avLst/>
          </a:prstGeom>
          <a:solidFill>
            <a:srgbClr val="B455AA"/>
          </a:solidFill>
          <a:ln w="12700" cap="flat" cmpd="sng" algn="ctr">
            <a:solidFill>
              <a:srgbClr val="B455AA"/>
            </a:solidFill>
            <a:prstDash val="solid"/>
            <a:miter lim="800000"/>
          </a:ln>
          <a:effectLst/>
        </p:spPr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Primary Research</a:t>
            </a:r>
          </a:p>
        </p:txBody>
      </p:sp>
      <p:grpSp>
        <p:nvGrpSpPr>
          <p:cNvPr id="143" name="Manager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2EBD089C-D117-53A4-D222-578D22BAE5F0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87927" y="693934"/>
            <a:ext cx="428460" cy="422050"/>
            <a:chOff x="5354638" y="3213100"/>
            <a:chExt cx="860426" cy="823913"/>
          </a:xfrm>
          <a:solidFill>
            <a:schemeClr val="accent1">
              <a:lumMod val="50000"/>
            </a:schemeClr>
          </a:solidFill>
        </p:grpSpPr>
        <p:sp>
          <p:nvSpPr>
            <p:cNvPr id="144" name="Freeform 64">
              <a:extLst>
                <a:ext uri="{FF2B5EF4-FFF2-40B4-BE49-F238E27FC236}">
                  <a16:creationId xmlns:a16="http://schemas.microsoft.com/office/drawing/2014/main" id="{E9E02FC6-6407-DFF0-4E29-E6DD2F141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0576" y="3616325"/>
              <a:ext cx="169863" cy="144463"/>
            </a:xfrm>
            <a:custGeom>
              <a:avLst/>
              <a:gdLst>
                <a:gd name="T0" fmla="*/ 72 w 107"/>
                <a:gd name="T1" fmla="*/ 72 h 91"/>
                <a:gd name="T2" fmla="*/ 53 w 107"/>
                <a:gd name="T3" fmla="*/ 91 h 91"/>
                <a:gd name="T4" fmla="*/ 60 w 107"/>
                <a:gd name="T5" fmla="*/ 91 h 91"/>
                <a:gd name="T6" fmla="*/ 107 w 107"/>
                <a:gd name="T7" fmla="*/ 91 h 91"/>
                <a:gd name="T8" fmla="*/ 107 w 107"/>
                <a:gd name="T9" fmla="*/ 43 h 91"/>
                <a:gd name="T10" fmla="*/ 107 w 107"/>
                <a:gd name="T11" fmla="*/ 38 h 91"/>
                <a:gd name="T12" fmla="*/ 89 w 107"/>
                <a:gd name="T13" fmla="*/ 55 h 91"/>
                <a:gd name="T14" fmla="*/ 34 w 107"/>
                <a:gd name="T15" fmla="*/ 0 h 91"/>
                <a:gd name="T16" fmla="*/ 0 w 107"/>
                <a:gd name="T17" fmla="*/ 0 h 91"/>
                <a:gd name="T18" fmla="*/ 72 w 107"/>
                <a:gd name="T19" fmla="*/ 72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7" h="91">
                  <a:moveTo>
                    <a:pt x="72" y="72"/>
                  </a:moveTo>
                  <a:lnTo>
                    <a:pt x="53" y="91"/>
                  </a:lnTo>
                  <a:lnTo>
                    <a:pt x="60" y="91"/>
                  </a:lnTo>
                  <a:lnTo>
                    <a:pt x="107" y="91"/>
                  </a:lnTo>
                  <a:lnTo>
                    <a:pt x="107" y="43"/>
                  </a:lnTo>
                  <a:lnTo>
                    <a:pt x="107" y="38"/>
                  </a:lnTo>
                  <a:lnTo>
                    <a:pt x="89" y="55"/>
                  </a:lnTo>
                  <a:lnTo>
                    <a:pt x="34" y="0"/>
                  </a:lnTo>
                  <a:lnTo>
                    <a:pt x="0" y="0"/>
                  </a:lnTo>
                  <a:lnTo>
                    <a:pt x="72" y="7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" name="Freeform 65">
              <a:extLst>
                <a:ext uri="{FF2B5EF4-FFF2-40B4-BE49-F238E27FC236}">
                  <a16:creationId xmlns:a16="http://schemas.microsoft.com/office/drawing/2014/main" id="{983DDDAA-EA80-EBD7-7F72-B346328BC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9263" y="3617913"/>
              <a:ext cx="157163" cy="149225"/>
            </a:xfrm>
            <a:custGeom>
              <a:avLst/>
              <a:gdLst>
                <a:gd name="T0" fmla="*/ 167 w 205"/>
                <a:gd name="T1" fmla="*/ 73 h 197"/>
                <a:gd name="T2" fmla="*/ 205 w 205"/>
                <a:gd name="T3" fmla="*/ 111 h 197"/>
                <a:gd name="T4" fmla="*/ 205 w 205"/>
                <a:gd name="T5" fmla="*/ 0 h 197"/>
                <a:gd name="T6" fmla="*/ 162 w 205"/>
                <a:gd name="T7" fmla="*/ 0 h 197"/>
                <a:gd name="T8" fmla="*/ 94 w 205"/>
                <a:gd name="T9" fmla="*/ 0 h 197"/>
                <a:gd name="T10" fmla="*/ 131 w 205"/>
                <a:gd name="T11" fmla="*/ 38 h 197"/>
                <a:gd name="T12" fmla="*/ 0 w 205"/>
                <a:gd name="T13" fmla="*/ 169 h 197"/>
                <a:gd name="T14" fmla="*/ 43 w 205"/>
                <a:gd name="T15" fmla="*/ 197 h 197"/>
                <a:gd name="T16" fmla="*/ 167 w 205"/>
                <a:gd name="T17" fmla="*/ 73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5" h="197">
                  <a:moveTo>
                    <a:pt x="167" y="73"/>
                  </a:moveTo>
                  <a:lnTo>
                    <a:pt x="205" y="111"/>
                  </a:lnTo>
                  <a:lnTo>
                    <a:pt x="205" y="0"/>
                  </a:lnTo>
                  <a:lnTo>
                    <a:pt x="162" y="0"/>
                  </a:lnTo>
                  <a:lnTo>
                    <a:pt x="94" y="0"/>
                  </a:lnTo>
                  <a:lnTo>
                    <a:pt x="131" y="38"/>
                  </a:lnTo>
                  <a:lnTo>
                    <a:pt x="0" y="169"/>
                  </a:lnTo>
                  <a:cubicBezTo>
                    <a:pt x="16" y="175"/>
                    <a:pt x="30" y="185"/>
                    <a:pt x="43" y="197"/>
                  </a:cubicBezTo>
                  <a:lnTo>
                    <a:pt x="167" y="73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" name="Freeform 66">
              <a:extLst>
                <a:ext uri="{FF2B5EF4-FFF2-40B4-BE49-F238E27FC236}">
                  <a16:creationId xmlns:a16="http://schemas.microsoft.com/office/drawing/2014/main" id="{39F8B59A-3DEC-6120-C0A5-D684023AE6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8163" y="3438525"/>
              <a:ext cx="333375" cy="139700"/>
            </a:xfrm>
            <a:custGeom>
              <a:avLst/>
              <a:gdLst>
                <a:gd name="T0" fmla="*/ 439 w 439"/>
                <a:gd name="T1" fmla="*/ 159 h 182"/>
                <a:gd name="T2" fmla="*/ 288 w 439"/>
                <a:gd name="T3" fmla="*/ 0 h 182"/>
                <a:gd name="T4" fmla="*/ 220 w 439"/>
                <a:gd name="T5" fmla="*/ 68 h 182"/>
                <a:gd name="T6" fmla="*/ 151 w 439"/>
                <a:gd name="T7" fmla="*/ 0 h 182"/>
                <a:gd name="T8" fmla="*/ 0 w 439"/>
                <a:gd name="T9" fmla="*/ 159 h 182"/>
                <a:gd name="T10" fmla="*/ 0 w 439"/>
                <a:gd name="T11" fmla="*/ 182 h 182"/>
                <a:gd name="T12" fmla="*/ 439 w 439"/>
                <a:gd name="T13" fmla="*/ 182 h 182"/>
                <a:gd name="T14" fmla="*/ 439 w 439"/>
                <a:gd name="T15" fmla="*/ 159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9" h="182">
                  <a:moveTo>
                    <a:pt x="439" y="159"/>
                  </a:moveTo>
                  <a:cubicBezTo>
                    <a:pt x="439" y="62"/>
                    <a:pt x="376" y="15"/>
                    <a:pt x="288" y="0"/>
                  </a:cubicBezTo>
                  <a:lnTo>
                    <a:pt x="220" y="68"/>
                  </a:lnTo>
                  <a:lnTo>
                    <a:pt x="151" y="0"/>
                  </a:lnTo>
                  <a:cubicBezTo>
                    <a:pt x="64" y="15"/>
                    <a:pt x="0" y="62"/>
                    <a:pt x="0" y="159"/>
                  </a:cubicBezTo>
                  <a:lnTo>
                    <a:pt x="0" y="182"/>
                  </a:lnTo>
                  <a:lnTo>
                    <a:pt x="439" y="182"/>
                  </a:lnTo>
                  <a:lnTo>
                    <a:pt x="439" y="15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" name="Oval 67">
              <a:extLst>
                <a:ext uri="{FF2B5EF4-FFF2-40B4-BE49-F238E27FC236}">
                  <a16:creationId xmlns:a16="http://schemas.microsoft.com/office/drawing/2014/main" id="{FFB9DB4C-764E-E18B-88D5-6EF289C7CD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86426" y="3213100"/>
              <a:ext cx="196850" cy="1952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" name="Freeform 68">
              <a:extLst>
                <a:ext uri="{FF2B5EF4-FFF2-40B4-BE49-F238E27FC236}">
                  <a16:creationId xmlns:a16="http://schemas.microsoft.com/office/drawing/2014/main" id="{4B22983A-54B3-0909-03E9-F8745CE63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4638" y="3938588"/>
              <a:ext cx="249238" cy="98425"/>
            </a:xfrm>
            <a:custGeom>
              <a:avLst/>
              <a:gdLst>
                <a:gd name="T0" fmla="*/ 221 w 326"/>
                <a:gd name="T1" fmla="*/ 0 h 129"/>
                <a:gd name="T2" fmla="*/ 164 w 326"/>
                <a:gd name="T3" fmla="*/ 57 h 129"/>
                <a:gd name="T4" fmla="*/ 107 w 326"/>
                <a:gd name="T5" fmla="*/ 0 h 129"/>
                <a:gd name="T6" fmla="*/ 0 w 326"/>
                <a:gd name="T7" fmla="*/ 118 h 129"/>
                <a:gd name="T8" fmla="*/ 0 w 326"/>
                <a:gd name="T9" fmla="*/ 129 h 129"/>
                <a:gd name="T10" fmla="*/ 326 w 326"/>
                <a:gd name="T11" fmla="*/ 129 h 129"/>
                <a:gd name="T12" fmla="*/ 326 w 326"/>
                <a:gd name="T13" fmla="*/ 118 h 129"/>
                <a:gd name="T14" fmla="*/ 221 w 326"/>
                <a:gd name="T15" fmla="*/ 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6" h="129">
                  <a:moveTo>
                    <a:pt x="221" y="0"/>
                  </a:moveTo>
                  <a:lnTo>
                    <a:pt x="164" y="57"/>
                  </a:lnTo>
                  <a:lnTo>
                    <a:pt x="107" y="0"/>
                  </a:lnTo>
                  <a:cubicBezTo>
                    <a:pt x="45" y="12"/>
                    <a:pt x="0" y="48"/>
                    <a:pt x="0" y="118"/>
                  </a:cubicBezTo>
                  <a:lnTo>
                    <a:pt x="0" y="129"/>
                  </a:lnTo>
                  <a:lnTo>
                    <a:pt x="326" y="129"/>
                  </a:lnTo>
                  <a:lnTo>
                    <a:pt x="326" y="118"/>
                  </a:lnTo>
                  <a:cubicBezTo>
                    <a:pt x="326" y="48"/>
                    <a:pt x="282" y="13"/>
                    <a:pt x="221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" name="Freeform 69">
              <a:extLst>
                <a:ext uri="{FF2B5EF4-FFF2-40B4-BE49-F238E27FC236}">
                  <a16:creationId xmlns:a16="http://schemas.microsoft.com/office/drawing/2014/main" id="{7166FB6B-4C6D-EA48-772B-7AF08A3169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5826" y="3938588"/>
              <a:ext cx="249238" cy="98425"/>
            </a:xfrm>
            <a:custGeom>
              <a:avLst/>
              <a:gdLst>
                <a:gd name="T0" fmla="*/ 220 w 326"/>
                <a:gd name="T1" fmla="*/ 0 h 129"/>
                <a:gd name="T2" fmla="*/ 163 w 326"/>
                <a:gd name="T3" fmla="*/ 57 h 129"/>
                <a:gd name="T4" fmla="*/ 106 w 326"/>
                <a:gd name="T5" fmla="*/ 0 h 129"/>
                <a:gd name="T6" fmla="*/ 0 w 326"/>
                <a:gd name="T7" fmla="*/ 118 h 129"/>
                <a:gd name="T8" fmla="*/ 0 w 326"/>
                <a:gd name="T9" fmla="*/ 129 h 129"/>
                <a:gd name="T10" fmla="*/ 326 w 326"/>
                <a:gd name="T11" fmla="*/ 129 h 129"/>
                <a:gd name="T12" fmla="*/ 326 w 326"/>
                <a:gd name="T13" fmla="*/ 118 h 129"/>
                <a:gd name="T14" fmla="*/ 220 w 326"/>
                <a:gd name="T15" fmla="*/ 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6" h="129">
                  <a:moveTo>
                    <a:pt x="220" y="0"/>
                  </a:moveTo>
                  <a:lnTo>
                    <a:pt x="163" y="57"/>
                  </a:lnTo>
                  <a:lnTo>
                    <a:pt x="106" y="0"/>
                  </a:lnTo>
                  <a:cubicBezTo>
                    <a:pt x="44" y="12"/>
                    <a:pt x="0" y="48"/>
                    <a:pt x="0" y="118"/>
                  </a:cubicBezTo>
                  <a:lnTo>
                    <a:pt x="0" y="129"/>
                  </a:lnTo>
                  <a:lnTo>
                    <a:pt x="326" y="129"/>
                  </a:lnTo>
                  <a:lnTo>
                    <a:pt x="326" y="118"/>
                  </a:lnTo>
                  <a:cubicBezTo>
                    <a:pt x="326" y="48"/>
                    <a:pt x="282" y="13"/>
                    <a:pt x="220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" name="Oval 70">
              <a:extLst>
                <a:ext uri="{FF2B5EF4-FFF2-40B4-BE49-F238E27FC236}">
                  <a16:creationId xmlns:a16="http://schemas.microsoft.com/office/drawing/2014/main" id="{1D69F8A3-B30D-7570-DB52-113DF94278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7026" y="3770313"/>
              <a:ext cx="144463" cy="1444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Freeform 71">
              <a:extLst>
                <a:ext uri="{FF2B5EF4-FFF2-40B4-BE49-F238E27FC236}">
                  <a16:creationId xmlns:a16="http://schemas.microsoft.com/office/drawing/2014/main" id="{62A0E2DF-0066-80CE-C61A-02D2C61F49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6263" y="3938588"/>
              <a:ext cx="249238" cy="98425"/>
            </a:xfrm>
            <a:custGeom>
              <a:avLst/>
              <a:gdLst>
                <a:gd name="T0" fmla="*/ 221 w 326"/>
                <a:gd name="T1" fmla="*/ 0 h 129"/>
                <a:gd name="T2" fmla="*/ 164 w 326"/>
                <a:gd name="T3" fmla="*/ 57 h 129"/>
                <a:gd name="T4" fmla="*/ 106 w 326"/>
                <a:gd name="T5" fmla="*/ 0 h 129"/>
                <a:gd name="T6" fmla="*/ 0 w 326"/>
                <a:gd name="T7" fmla="*/ 118 h 129"/>
                <a:gd name="T8" fmla="*/ 0 w 326"/>
                <a:gd name="T9" fmla="*/ 129 h 129"/>
                <a:gd name="T10" fmla="*/ 326 w 326"/>
                <a:gd name="T11" fmla="*/ 129 h 129"/>
                <a:gd name="T12" fmla="*/ 326 w 326"/>
                <a:gd name="T13" fmla="*/ 118 h 129"/>
                <a:gd name="T14" fmla="*/ 221 w 326"/>
                <a:gd name="T15" fmla="*/ 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6" h="129">
                  <a:moveTo>
                    <a:pt x="221" y="0"/>
                  </a:moveTo>
                  <a:lnTo>
                    <a:pt x="164" y="57"/>
                  </a:lnTo>
                  <a:lnTo>
                    <a:pt x="106" y="0"/>
                  </a:lnTo>
                  <a:cubicBezTo>
                    <a:pt x="44" y="12"/>
                    <a:pt x="0" y="48"/>
                    <a:pt x="0" y="118"/>
                  </a:cubicBezTo>
                  <a:lnTo>
                    <a:pt x="0" y="129"/>
                  </a:lnTo>
                  <a:lnTo>
                    <a:pt x="326" y="129"/>
                  </a:lnTo>
                  <a:lnTo>
                    <a:pt x="326" y="118"/>
                  </a:lnTo>
                  <a:cubicBezTo>
                    <a:pt x="326" y="48"/>
                    <a:pt x="282" y="13"/>
                    <a:pt x="221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" name="Oval 72">
              <a:extLst>
                <a:ext uri="{FF2B5EF4-FFF2-40B4-BE49-F238E27FC236}">
                  <a16:creationId xmlns:a16="http://schemas.microsoft.com/office/drawing/2014/main" id="{E2345DA0-6B09-75A2-C455-5FC8E79FA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8651" y="3770313"/>
              <a:ext cx="144463" cy="1444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" name="Oval 73">
              <a:extLst>
                <a:ext uri="{FF2B5EF4-FFF2-40B4-BE49-F238E27FC236}">
                  <a16:creationId xmlns:a16="http://schemas.microsoft.com/office/drawing/2014/main" id="{7BB6B873-DE13-A788-992D-9F53BF21E0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8213" y="3770313"/>
              <a:ext cx="144463" cy="1444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4" name="TextBox 153">
            <a:extLst>
              <a:ext uri="{FF2B5EF4-FFF2-40B4-BE49-F238E27FC236}">
                <a16:creationId xmlns:a16="http://schemas.microsoft.com/office/drawing/2014/main" id="{E44E9D50-DCA5-EAEA-5AFE-5EFC5009A2B9}"/>
              </a:ext>
            </a:extLst>
          </p:cNvPr>
          <p:cNvSpPr txBox="1"/>
          <p:nvPr/>
        </p:nvSpPr>
        <p:spPr>
          <a:xfrm>
            <a:off x="886418" y="812073"/>
            <a:ext cx="981194" cy="7842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2000" dirty="0">
                <a:solidFill>
                  <a:schemeClr val="accent1"/>
                </a:solidFill>
              </a:rPr>
              <a:t>8</a:t>
            </a:r>
            <a:r>
              <a:rPr lang="en-US" sz="1400" dirty="0">
                <a:solidFill>
                  <a:schemeClr val="bg1"/>
                </a:solidFill>
              </a:rPr>
              <a:t>       </a:t>
            </a:r>
            <a:r>
              <a:rPr lang="en-US" sz="1400" noProof="0" dirty="0">
                <a:solidFill>
                  <a:schemeClr val="bg1"/>
                </a:solidFill>
              </a:rPr>
              <a:t>expert interviews</a:t>
            </a:r>
          </a:p>
        </p:txBody>
      </p:sp>
      <p:grpSp>
        <p:nvGrpSpPr>
          <p:cNvPr id="155" name="Interview3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7704C3CB-3CBC-20A6-E7A4-B55C2DC5793B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2088233" y="705571"/>
            <a:ext cx="567622" cy="410413"/>
            <a:chOff x="7069138" y="4486275"/>
            <a:chExt cx="949326" cy="779463"/>
          </a:xfrm>
          <a:solidFill>
            <a:schemeClr val="accent1">
              <a:lumMod val="50000"/>
            </a:schemeClr>
          </a:solidFill>
        </p:grpSpPr>
        <p:sp>
          <p:nvSpPr>
            <p:cNvPr id="156" name="Freeform 156">
              <a:extLst>
                <a:ext uri="{FF2B5EF4-FFF2-40B4-BE49-F238E27FC236}">
                  <a16:creationId xmlns:a16="http://schemas.microsoft.com/office/drawing/2014/main" id="{896AEA13-3DDE-7AF8-AF4F-FBC32EC637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9138" y="4805363"/>
              <a:ext cx="538163" cy="419100"/>
            </a:xfrm>
            <a:custGeom>
              <a:avLst/>
              <a:gdLst>
                <a:gd name="T0" fmla="*/ 76 w 707"/>
                <a:gd name="T1" fmla="*/ 230 h 551"/>
                <a:gd name="T2" fmla="*/ 76 w 707"/>
                <a:gd name="T3" fmla="*/ 306 h 551"/>
                <a:gd name="T4" fmla="*/ 0 w 707"/>
                <a:gd name="T5" fmla="*/ 306 h 551"/>
                <a:gd name="T6" fmla="*/ 0 w 707"/>
                <a:gd name="T7" fmla="*/ 353 h 551"/>
                <a:gd name="T8" fmla="*/ 122 w 707"/>
                <a:gd name="T9" fmla="*/ 353 h 551"/>
                <a:gd name="T10" fmla="*/ 122 w 707"/>
                <a:gd name="T11" fmla="*/ 410 h 551"/>
                <a:gd name="T12" fmla="*/ 98 w 707"/>
                <a:gd name="T13" fmla="*/ 410 h 551"/>
                <a:gd name="T14" fmla="*/ 79 w 707"/>
                <a:gd name="T15" fmla="*/ 420 h 551"/>
                <a:gd name="T16" fmla="*/ 76 w 707"/>
                <a:gd name="T17" fmla="*/ 441 h 551"/>
                <a:gd name="T18" fmla="*/ 111 w 707"/>
                <a:gd name="T19" fmla="*/ 536 h 551"/>
                <a:gd name="T20" fmla="*/ 133 w 707"/>
                <a:gd name="T21" fmla="*/ 551 h 551"/>
                <a:gd name="T22" fmla="*/ 444 w 707"/>
                <a:gd name="T23" fmla="*/ 551 h 551"/>
                <a:gd name="T24" fmla="*/ 444 w 707"/>
                <a:gd name="T25" fmla="*/ 515 h 551"/>
                <a:gd name="T26" fmla="*/ 157 w 707"/>
                <a:gd name="T27" fmla="*/ 515 h 551"/>
                <a:gd name="T28" fmla="*/ 157 w 707"/>
                <a:gd name="T29" fmla="*/ 212 h 551"/>
                <a:gd name="T30" fmla="*/ 176 w 707"/>
                <a:gd name="T31" fmla="*/ 194 h 551"/>
                <a:gd name="T32" fmla="*/ 587 w 707"/>
                <a:gd name="T33" fmla="*/ 194 h 551"/>
                <a:gd name="T34" fmla="*/ 707 w 707"/>
                <a:gd name="T35" fmla="*/ 139 h 551"/>
                <a:gd name="T36" fmla="*/ 516 w 707"/>
                <a:gd name="T37" fmla="*/ 3 h 551"/>
                <a:gd name="T38" fmla="*/ 402 w 707"/>
                <a:gd name="T39" fmla="*/ 86 h 551"/>
                <a:gd name="T40" fmla="*/ 284 w 707"/>
                <a:gd name="T41" fmla="*/ 0 h 551"/>
                <a:gd name="T42" fmla="*/ 76 w 707"/>
                <a:gd name="T43" fmla="*/ 23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7" h="551">
                  <a:moveTo>
                    <a:pt x="76" y="230"/>
                  </a:moveTo>
                  <a:lnTo>
                    <a:pt x="76" y="306"/>
                  </a:lnTo>
                  <a:lnTo>
                    <a:pt x="0" y="306"/>
                  </a:lnTo>
                  <a:lnTo>
                    <a:pt x="0" y="353"/>
                  </a:lnTo>
                  <a:lnTo>
                    <a:pt x="122" y="353"/>
                  </a:lnTo>
                  <a:lnTo>
                    <a:pt x="122" y="410"/>
                  </a:lnTo>
                  <a:lnTo>
                    <a:pt x="98" y="410"/>
                  </a:lnTo>
                  <a:cubicBezTo>
                    <a:pt x="91" y="410"/>
                    <a:pt x="84" y="414"/>
                    <a:pt x="79" y="420"/>
                  </a:cubicBezTo>
                  <a:cubicBezTo>
                    <a:pt x="75" y="426"/>
                    <a:pt x="74" y="434"/>
                    <a:pt x="76" y="441"/>
                  </a:cubicBezTo>
                  <a:lnTo>
                    <a:pt x="111" y="536"/>
                  </a:lnTo>
                  <a:cubicBezTo>
                    <a:pt x="114" y="545"/>
                    <a:pt x="123" y="551"/>
                    <a:pt x="133" y="551"/>
                  </a:cubicBezTo>
                  <a:lnTo>
                    <a:pt x="444" y="551"/>
                  </a:lnTo>
                  <a:lnTo>
                    <a:pt x="444" y="515"/>
                  </a:lnTo>
                  <a:lnTo>
                    <a:pt x="157" y="515"/>
                  </a:lnTo>
                  <a:lnTo>
                    <a:pt x="157" y="212"/>
                  </a:lnTo>
                  <a:cubicBezTo>
                    <a:pt x="157" y="202"/>
                    <a:pt x="165" y="194"/>
                    <a:pt x="176" y="194"/>
                  </a:cubicBezTo>
                  <a:lnTo>
                    <a:pt x="587" y="194"/>
                  </a:lnTo>
                  <a:cubicBezTo>
                    <a:pt x="620" y="170"/>
                    <a:pt x="660" y="152"/>
                    <a:pt x="707" y="139"/>
                  </a:cubicBezTo>
                  <a:cubicBezTo>
                    <a:pt x="674" y="71"/>
                    <a:pt x="604" y="24"/>
                    <a:pt x="516" y="3"/>
                  </a:cubicBezTo>
                  <a:lnTo>
                    <a:pt x="402" y="86"/>
                  </a:lnTo>
                  <a:lnTo>
                    <a:pt x="284" y="0"/>
                  </a:lnTo>
                  <a:cubicBezTo>
                    <a:pt x="162" y="23"/>
                    <a:pt x="76" y="89"/>
                    <a:pt x="76" y="23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" name="Oval 157">
              <a:extLst>
                <a:ext uri="{FF2B5EF4-FFF2-40B4-BE49-F238E27FC236}">
                  <a16:creationId xmlns:a16="http://schemas.microsoft.com/office/drawing/2014/main" id="{20827BCD-6DC8-DED1-EFB2-A2127690C9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2651" y="4486275"/>
              <a:ext cx="282575" cy="282575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" name="Oval 158">
              <a:extLst>
                <a:ext uri="{FF2B5EF4-FFF2-40B4-BE49-F238E27FC236}">
                  <a16:creationId xmlns:a16="http://schemas.microsoft.com/office/drawing/2014/main" id="{7B68EF92-6703-D1FA-ADA0-63942BE0E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42188" y="5046663"/>
              <a:ext cx="65088" cy="65088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" name="Freeform 159">
              <a:extLst>
                <a:ext uri="{FF2B5EF4-FFF2-40B4-BE49-F238E27FC236}">
                  <a16:creationId xmlns:a16="http://schemas.microsoft.com/office/drawing/2014/main" id="{16754A76-ABC1-FFB8-7816-09B68C107577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8551" y="4935538"/>
              <a:ext cx="569913" cy="330200"/>
            </a:xfrm>
            <a:custGeom>
              <a:avLst/>
              <a:gdLst>
                <a:gd name="T0" fmla="*/ 375 w 749"/>
                <a:gd name="T1" fmla="*/ 0 h 434"/>
                <a:gd name="T2" fmla="*/ 59 w 749"/>
                <a:gd name="T3" fmla="*/ 139 h 434"/>
                <a:gd name="T4" fmla="*/ 0 w 749"/>
                <a:gd name="T5" fmla="*/ 208 h 434"/>
                <a:gd name="T6" fmla="*/ 0 w 749"/>
                <a:gd name="T7" fmla="*/ 434 h 434"/>
                <a:gd name="T8" fmla="*/ 58 w 749"/>
                <a:gd name="T9" fmla="*/ 434 h 434"/>
                <a:gd name="T10" fmla="*/ 58 w 749"/>
                <a:gd name="T11" fmla="*/ 208 h 434"/>
                <a:gd name="T12" fmla="*/ 75 w 749"/>
                <a:gd name="T13" fmla="*/ 191 h 434"/>
                <a:gd name="T14" fmla="*/ 673 w 749"/>
                <a:gd name="T15" fmla="*/ 191 h 434"/>
                <a:gd name="T16" fmla="*/ 690 w 749"/>
                <a:gd name="T17" fmla="*/ 208 h 434"/>
                <a:gd name="T18" fmla="*/ 690 w 749"/>
                <a:gd name="T19" fmla="*/ 434 h 434"/>
                <a:gd name="T20" fmla="*/ 749 w 749"/>
                <a:gd name="T21" fmla="*/ 434 h 434"/>
                <a:gd name="T22" fmla="*/ 749 w 749"/>
                <a:gd name="T23" fmla="*/ 208 h 434"/>
                <a:gd name="T24" fmla="*/ 690 w 749"/>
                <a:gd name="T25" fmla="*/ 139 h 434"/>
                <a:gd name="T26" fmla="*/ 375 w 749"/>
                <a:gd name="T27" fmla="*/ 0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9" h="434">
                  <a:moveTo>
                    <a:pt x="375" y="0"/>
                  </a:moveTo>
                  <a:cubicBezTo>
                    <a:pt x="178" y="0"/>
                    <a:pt x="88" y="75"/>
                    <a:pt x="59" y="139"/>
                  </a:cubicBezTo>
                  <a:cubicBezTo>
                    <a:pt x="25" y="145"/>
                    <a:pt x="0" y="173"/>
                    <a:pt x="0" y="208"/>
                  </a:cubicBezTo>
                  <a:lnTo>
                    <a:pt x="0" y="434"/>
                  </a:lnTo>
                  <a:lnTo>
                    <a:pt x="58" y="434"/>
                  </a:lnTo>
                  <a:lnTo>
                    <a:pt x="58" y="208"/>
                  </a:lnTo>
                  <a:cubicBezTo>
                    <a:pt x="58" y="199"/>
                    <a:pt x="65" y="191"/>
                    <a:pt x="75" y="191"/>
                  </a:cubicBezTo>
                  <a:lnTo>
                    <a:pt x="673" y="191"/>
                  </a:lnTo>
                  <a:cubicBezTo>
                    <a:pt x="682" y="191"/>
                    <a:pt x="690" y="199"/>
                    <a:pt x="690" y="208"/>
                  </a:cubicBezTo>
                  <a:lnTo>
                    <a:pt x="690" y="434"/>
                  </a:lnTo>
                  <a:lnTo>
                    <a:pt x="749" y="434"/>
                  </a:lnTo>
                  <a:lnTo>
                    <a:pt x="749" y="208"/>
                  </a:lnTo>
                  <a:cubicBezTo>
                    <a:pt x="749" y="173"/>
                    <a:pt x="724" y="145"/>
                    <a:pt x="690" y="139"/>
                  </a:cubicBezTo>
                  <a:cubicBezTo>
                    <a:pt x="661" y="75"/>
                    <a:pt x="571" y="0"/>
                    <a:pt x="375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" name="Oval 160">
              <a:extLst>
                <a:ext uri="{FF2B5EF4-FFF2-40B4-BE49-F238E27FC236}">
                  <a16:creationId xmlns:a16="http://schemas.microsoft.com/office/drawing/2014/main" id="{A7B6DD01-1319-613A-E123-C4F77A099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5076" y="4603750"/>
              <a:ext cx="296863" cy="2968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1" name="TextBox 160">
            <a:extLst>
              <a:ext uri="{FF2B5EF4-FFF2-40B4-BE49-F238E27FC236}">
                <a16:creationId xmlns:a16="http://schemas.microsoft.com/office/drawing/2014/main" id="{47C1758B-3E46-F961-3992-6BDC3301B709}"/>
              </a:ext>
            </a:extLst>
          </p:cNvPr>
          <p:cNvSpPr txBox="1"/>
          <p:nvPr/>
        </p:nvSpPr>
        <p:spPr>
          <a:xfrm>
            <a:off x="2786607" y="812073"/>
            <a:ext cx="1103183" cy="7842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2000" dirty="0">
                <a:solidFill>
                  <a:schemeClr val="accent1"/>
                </a:solidFill>
              </a:rPr>
              <a:t>12</a:t>
            </a:r>
            <a:r>
              <a:rPr lang="en-US" sz="1400" noProof="0" dirty="0">
                <a:solidFill>
                  <a:schemeClr val="bg1"/>
                </a:solidFill>
              </a:rPr>
              <a:t> homeowners interviews</a:t>
            </a:r>
          </a:p>
        </p:txBody>
      </p:sp>
      <p:pic>
        <p:nvPicPr>
          <p:cNvPr id="164" name="Graphic 163" descr="Store with solid fill">
            <a:extLst>
              <a:ext uri="{FF2B5EF4-FFF2-40B4-BE49-F238E27FC236}">
                <a16:creationId xmlns:a16="http://schemas.microsoft.com/office/drawing/2014/main" id="{6B5A9FE7-D926-16B6-FDFA-C8D2668B781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39651" y="1628643"/>
            <a:ext cx="521057" cy="521057"/>
          </a:xfrm>
          <a:prstGeom prst="rect">
            <a:avLst/>
          </a:prstGeom>
        </p:spPr>
      </p:pic>
      <p:sp>
        <p:nvSpPr>
          <p:cNvPr id="165" name="TextBox 164">
            <a:extLst>
              <a:ext uri="{FF2B5EF4-FFF2-40B4-BE49-F238E27FC236}">
                <a16:creationId xmlns:a16="http://schemas.microsoft.com/office/drawing/2014/main" id="{A4B82B0A-DD8A-234D-2EEA-2F89BF3CD934}"/>
              </a:ext>
            </a:extLst>
          </p:cNvPr>
          <p:cNvSpPr txBox="1"/>
          <p:nvPr/>
        </p:nvSpPr>
        <p:spPr>
          <a:xfrm>
            <a:off x="863575" y="1768231"/>
            <a:ext cx="981194" cy="7842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2000" dirty="0">
                <a:solidFill>
                  <a:schemeClr val="accent1"/>
                </a:solidFill>
              </a:rPr>
              <a:t>5</a:t>
            </a:r>
            <a:r>
              <a:rPr lang="en-US" sz="1400" dirty="0">
                <a:solidFill>
                  <a:schemeClr val="bg1"/>
                </a:solidFill>
              </a:rPr>
              <a:t>         s</a:t>
            </a:r>
            <a:r>
              <a:rPr lang="en-US" sz="1400" noProof="0" dirty="0">
                <a:solidFill>
                  <a:schemeClr val="bg1"/>
                </a:solidFill>
              </a:rPr>
              <a:t>tore interviews</a:t>
            </a:r>
          </a:p>
        </p:txBody>
      </p:sp>
      <p:pic>
        <p:nvPicPr>
          <p:cNvPr id="167" name="Graphic 166" descr="Clipboard with solid fill">
            <a:extLst>
              <a:ext uri="{FF2B5EF4-FFF2-40B4-BE49-F238E27FC236}">
                <a16:creationId xmlns:a16="http://schemas.microsoft.com/office/drawing/2014/main" id="{640C153B-A472-8B3D-CA04-5E8614A018E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104386" y="1626338"/>
            <a:ext cx="534534" cy="534534"/>
          </a:xfrm>
          <a:prstGeom prst="rect">
            <a:avLst/>
          </a:prstGeom>
        </p:spPr>
      </p:pic>
      <p:sp>
        <p:nvSpPr>
          <p:cNvPr id="168" name="TextBox 167">
            <a:extLst>
              <a:ext uri="{FF2B5EF4-FFF2-40B4-BE49-F238E27FC236}">
                <a16:creationId xmlns:a16="http://schemas.microsoft.com/office/drawing/2014/main" id="{42ED8277-8E0F-7013-3727-865131E10251}"/>
              </a:ext>
            </a:extLst>
          </p:cNvPr>
          <p:cNvSpPr txBox="1"/>
          <p:nvPr/>
        </p:nvSpPr>
        <p:spPr>
          <a:xfrm>
            <a:off x="2786607" y="1767853"/>
            <a:ext cx="1103183" cy="7842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2000" dirty="0">
                <a:solidFill>
                  <a:schemeClr val="accent1"/>
                </a:solidFill>
              </a:rPr>
              <a:t>100</a:t>
            </a:r>
            <a:r>
              <a:rPr lang="en-US" sz="1400" noProof="0" dirty="0">
                <a:solidFill>
                  <a:schemeClr val="bg1"/>
                </a:solidFill>
              </a:rPr>
              <a:t>    survey respondents</a:t>
            </a:r>
          </a:p>
        </p:txBody>
      </p:sp>
      <p:sp>
        <p:nvSpPr>
          <p:cNvPr id="170" name="Slide Number Placeholder 3">
            <a:extLst>
              <a:ext uri="{FF2B5EF4-FFF2-40B4-BE49-F238E27FC236}">
                <a16:creationId xmlns:a16="http://schemas.microsoft.com/office/drawing/2014/main" id="{2063BEA7-2C67-4A63-BAA8-E8BB029964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480591"/>
            <a:ext cx="381001" cy="207843"/>
          </a:xfrm>
        </p:spPr>
        <p:txBody>
          <a:bodyPr/>
          <a:lstStyle/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5526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4A47B9F-97B8-0008-3E38-217C6CA70C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480591"/>
            <a:ext cx="381001" cy="207843"/>
          </a:xfrm>
        </p:spPr>
        <p:txBody>
          <a:bodyPr/>
          <a:lstStyle/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4</a:t>
            </a:fld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6F1C86-3C39-1CA3-959B-96CAD8C11607}"/>
              </a:ext>
            </a:extLst>
          </p:cNvPr>
          <p:cNvSpPr txBox="1"/>
          <p:nvPr/>
        </p:nvSpPr>
        <p:spPr>
          <a:xfrm>
            <a:off x="2018888" y="1341919"/>
            <a:ext cx="2245065" cy="3317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b="1" noProof="0" dirty="0">
                <a:solidFill>
                  <a:srgbClr val="7800C0"/>
                </a:solidFill>
              </a:rPr>
              <a:t>Customer Journey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C5FAF5-9688-7CC7-931A-B445EFDA9C9B}"/>
              </a:ext>
            </a:extLst>
          </p:cNvPr>
          <p:cNvSpPr txBox="1"/>
          <p:nvPr/>
        </p:nvSpPr>
        <p:spPr>
          <a:xfrm>
            <a:off x="1420392" y="1750038"/>
            <a:ext cx="3992137" cy="1824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1200" i="1" noProof="0">
                <a:solidFill>
                  <a:schemeClr val="bg1"/>
                </a:solidFill>
              </a:rPr>
              <a:t>Home textiles is a high involvement buying industry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890453-B380-23C2-38B1-12AEDF34090F}"/>
              </a:ext>
            </a:extLst>
          </p:cNvPr>
          <p:cNvSpPr txBox="1"/>
          <p:nvPr/>
        </p:nvSpPr>
        <p:spPr>
          <a:xfrm>
            <a:off x="920863" y="2968938"/>
            <a:ext cx="814039" cy="22753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200" noProof="0">
                <a:solidFill>
                  <a:schemeClr val="bg1"/>
                </a:solidFill>
              </a:rPr>
              <a:t>Search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B7FAF9-4B88-AA07-87DE-48989F6C174F}"/>
              </a:ext>
            </a:extLst>
          </p:cNvPr>
          <p:cNvSpPr txBox="1"/>
          <p:nvPr/>
        </p:nvSpPr>
        <p:spPr>
          <a:xfrm>
            <a:off x="2181591" y="2961994"/>
            <a:ext cx="814039" cy="22753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200">
                <a:solidFill>
                  <a:schemeClr val="bg1"/>
                </a:solidFill>
              </a:rPr>
              <a:t>Platform</a:t>
            </a:r>
            <a:endParaRPr lang="en-US" sz="1200" noProof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2517BF-82A6-EA01-9723-99040EC15E91}"/>
              </a:ext>
            </a:extLst>
          </p:cNvPr>
          <p:cNvSpPr txBox="1"/>
          <p:nvPr/>
        </p:nvSpPr>
        <p:spPr>
          <a:xfrm>
            <a:off x="3442319" y="2958651"/>
            <a:ext cx="814039" cy="22753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200">
                <a:solidFill>
                  <a:schemeClr val="bg1"/>
                </a:solidFill>
              </a:rPr>
              <a:t>Compare</a:t>
            </a:r>
            <a:endParaRPr lang="en-US" sz="1200" noProof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14B4B0-69E5-1540-CDB4-9B61A81A63E9}"/>
              </a:ext>
            </a:extLst>
          </p:cNvPr>
          <p:cNvSpPr txBox="1"/>
          <p:nvPr/>
        </p:nvSpPr>
        <p:spPr>
          <a:xfrm>
            <a:off x="4735638" y="2968938"/>
            <a:ext cx="814039" cy="22753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200">
                <a:solidFill>
                  <a:schemeClr val="bg1"/>
                </a:solidFill>
              </a:rPr>
              <a:t>Decision</a:t>
            </a:r>
            <a:endParaRPr lang="en-US" sz="1200" noProof="0">
              <a:solidFill>
                <a:schemeClr val="bg1"/>
              </a:solidFill>
            </a:endParaRPr>
          </a:p>
        </p:txBody>
      </p:sp>
      <p:pic>
        <p:nvPicPr>
          <p:cNvPr id="17" name="Picture 2" descr="16,083 Google Icons - Free in SVG, PNG, ICO - IconScout">
            <a:extLst>
              <a:ext uri="{FF2B5EF4-FFF2-40B4-BE49-F238E27FC236}">
                <a16:creationId xmlns:a16="http://schemas.microsoft.com/office/drawing/2014/main" id="{EEEE5A19-1EDF-6465-3A78-E903A95765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91" y="2327149"/>
            <a:ext cx="461797" cy="461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DCC70FAB-062D-DE30-AE31-176D2E9D07DF}"/>
              </a:ext>
            </a:extLst>
          </p:cNvPr>
          <p:cNvGrpSpPr/>
          <p:nvPr/>
        </p:nvGrpSpPr>
        <p:grpSpPr>
          <a:xfrm>
            <a:off x="2190109" y="2205761"/>
            <a:ext cx="713348" cy="663836"/>
            <a:chOff x="7522539" y="2096275"/>
            <a:chExt cx="863152" cy="803242"/>
          </a:xfrm>
        </p:grpSpPr>
        <p:pic>
          <p:nvPicPr>
            <p:cNvPr id="62" name="Picture 4" descr="Amazon, buy, logo, online, shop icon - Free download">
              <a:extLst>
                <a:ext uri="{FF2B5EF4-FFF2-40B4-BE49-F238E27FC236}">
                  <a16:creationId xmlns:a16="http://schemas.microsoft.com/office/drawing/2014/main" id="{0466A60A-CD35-2565-C259-E6078F1F11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889" b="96000" l="1778" r="99111">
                          <a14:foregroundMark x1="25778" y1="37778" x2="25778" y2="37778"/>
                          <a14:foregroundMark x1="10222" y1="55556" x2="20000" y2="28444"/>
                          <a14:foregroundMark x1="20000" y1="28444" x2="34222" y2="10667"/>
                          <a14:foregroundMark x1="34222" y1="10667" x2="35111" y2="11111"/>
                          <a14:foregroundMark x1="13778" y1="49333" x2="60444" y2="81333"/>
                          <a14:foregroundMark x1="60444" y1="81333" x2="83111" y2="55556"/>
                          <a14:foregroundMark x1="83111" y1="55556" x2="80889" y2="32000"/>
                          <a14:foregroundMark x1="80889" y1="32000" x2="63111" y2="20444"/>
                          <a14:foregroundMark x1="63111" y1="20444" x2="31111" y2="18222"/>
                          <a14:foregroundMark x1="31111" y1="18222" x2="28444" y2="19111"/>
                          <a14:foregroundMark x1="0" y1="54222" x2="7111" y2="32889"/>
                          <a14:foregroundMark x1="7111" y1="32889" x2="25333" y2="9333"/>
                          <a14:foregroundMark x1="25333" y1="9333" x2="51556" y2="1333"/>
                          <a14:foregroundMark x1="51556" y1="1333" x2="56889" y2="1778"/>
                          <a14:foregroundMark x1="63111" y1="4000" x2="84444" y2="19111"/>
                          <a14:foregroundMark x1="84444" y1="19111" x2="92444" y2="38222"/>
                          <a14:foregroundMark x1="92444" y1="38222" x2="90222" y2="64444"/>
                          <a14:foregroundMark x1="90222" y1="64444" x2="74222" y2="82667"/>
                          <a14:foregroundMark x1="74222" y1="82667" x2="46667" y2="96444"/>
                          <a14:foregroundMark x1="46667" y1="96444" x2="28000" y2="84889"/>
                          <a14:foregroundMark x1="28000" y1="84889" x2="11556" y2="68000"/>
                          <a14:foregroundMark x1="11556" y1="68000" x2="11111" y2="47556"/>
                          <a14:foregroundMark x1="11111" y1="47556" x2="12000" y2="45778"/>
                          <a14:foregroundMark x1="6667" y1="72889" x2="1778" y2="52889"/>
                          <a14:foregroundMark x1="1778" y1="52889" x2="6667" y2="38222"/>
                          <a14:foregroundMark x1="62222" y1="51111" x2="62222" y2="51111"/>
                          <a14:foregroundMark x1="62222" y1="51111" x2="56889" y2="21778"/>
                          <a14:foregroundMark x1="56889" y1="21778" x2="48000" y2="47111"/>
                          <a14:foregroundMark x1="48000" y1="47111" x2="49778" y2="48889"/>
                          <a14:foregroundMark x1="42222" y1="19556" x2="21778" y2="48444"/>
                          <a14:foregroundMark x1="21778" y1="48444" x2="40000" y2="70222"/>
                          <a14:foregroundMark x1="40000" y1="70222" x2="68889" y2="58222"/>
                          <a14:foregroundMark x1="68889" y1="58222" x2="62667" y2="28444"/>
                          <a14:foregroundMark x1="62667" y1="28444" x2="44889" y2="16889"/>
                          <a14:foregroundMark x1="44889" y1="16889" x2="39111" y2="21333"/>
                          <a14:foregroundMark x1="52444" y1="37333" x2="31111" y2="52889"/>
                          <a14:foregroundMark x1="31111" y1="52889" x2="45778" y2="68889"/>
                          <a14:foregroundMark x1="45778" y1="68889" x2="64444" y2="60000"/>
                          <a14:foregroundMark x1="64444" y1="60000" x2="65333" y2="47556"/>
                          <a14:foregroundMark x1="96444" y1="67556" x2="99111" y2="45778"/>
                          <a14:foregroundMark x1="99111" y1="45778" x2="95556" y2="31556"/>
                          <a14:foregroundMark x1="37778" y1="26222" x2="51111" y2="3288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34741" y="2574690"/>
              <a:ext cx="324827" cy="3248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Picture 6" descr="Flipkart Bandra Kurla Complex 4000 51 - Container Service in 4000 51">
              <a:extLst>
                <a:ext uri="{FF2B5EF4-FFF2-40B4-BE49-F238E27FC236}">
                  <a16:creationId xmlns:a16="http://schemas.microsoft.com/office/drawing/2014/main" id="{16DBAD42-C218-B646-56D8-763C6D6BC5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0" b="95556" l="2222" r="96889">
                          <a14:foregroundMark x1="24000" y1="32889" x2="24000" y2="32889"/>
                          <a14:foregroundMark x1="24000" y1="32889" x2="43111" y2="12889"/>
                          <a14:foregroundMark x1="43111" y1="12889" x2="66667" y2="15111"/>
                          <a14:foregroundMark x1="66667" y1="15111" x2="67556" y2="26667"/>
                          <a14:foregroundMark x1="67556" y1="26667" x2="67111" y2="27556"/>
                          <a14:foregroundMark x1="0" y1="48444" x2="7010" y2="26178"/>
                          <a14:foregroundMark x1="8166" y1="23916" x2="27111" y2="7556"/>
                          <a14:foregroundMark x1="27111" y1="7556" x2="36767" y2="2261"/>
                          <a14:foregroundMark x1="5778" y1="29778" x2="444" y2="44000"/>
                          <a14:foregroundMark x1="444" y1="44000" x2="1778" y2="61333"/>
                          <a14:foregroundMark x1="4615" y1="65778" x2="15111" y2="82222"/>
                          <a14:foregroundMark x1="1778" y1="61333" x2="4615" y2="65778"/>
                          <a14:foregroundMark x1="15111" y1="82222" x2="35111" y2="95556"/>
                          <a14:foregroundMark x1="91111" y1="75111" x2="94667" y2="39111"/>
                          <a14:foregroundMark x1="94667" y1="39111" x2="87111" y2="26667"/>
                          <a14:foregroundMark x1="87111" y1="26667" x2="86667" y2="25778"/>
                          <a14:foregroundMark x1="1814" y1="63995" x2="889" y2="62222"/>
                          <a14:foregroundMark x1="6222" y1="72444" x2="3191" y2="66635"/>
                          <a14:foregroundMark x1="1048" y1="60946" x2="4621" y2="32367"/>
                          <a14:foregroundMark x1="889" y1="62222" x2="962" y2="61641"/>
                          <a14:foregroundMark x1="98222" y1="39111" x2="97333" y2="58667"/>
                          <a14:foregroundMark x1="97333" y1="58667" x2="96000" y2="60889"/>
                          <a14:foregroundMark x1="3645" y1="65778" x2="2222" y2="61333"/>
                          <a14:foregroundMark x1="5778" y1="72444" x2="3645" y2="65778"/>
                          <a14:backgroundMark x1="889" y1="67111" x2="0" y2="65333"/>
                          <a14:backgroundMark x1="2222" y1="68000" x2="0" y2="58222"/>
                          <a14:backgroundMark x1="0" y1="46667" x2="5333" y2="25778"/>
                          <a14:backgroundMark x1="5333" y1="25778" x2="9778" y2="19111"/>
                          <a14:backgroundMark x1="4889" y1="24889" x2="19111" y2="2667"/>
                          <a14:backgroundMark x1="37333" y1="1333" x2="44000" y2="889"/>
                          <a14:backgroundMark x1="4444" y1="72000" x2="1333" y2="65333"/>
                          <a14:backgroundMark x1="5778" y1="75111" x2="444" y2="65778"/>
                          <a14:backgroundMark x1="444" y1="65778" x2="444" y2="65778"/>
                          <a14:backgroundMark x1="5778" y1="73778" x2="1333" y2="626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67130" y="2151445"/>
              <a:ext cx="318561" cy="3185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7" name="Picture 8" descr="Myntra PNG, Transparent Myntra LOGO Download - Free Transparent PNG Logos">
              <a:extLst>
                <a:ext uri="{FF2B5EF4-FFF2-40B4-BE49-F238E27FC236}">
                  <a16:creationId xmlns:a16="http://schemas.microsoft.com/office/drawing/2014/main" id="{B0624482-1B5C-6014-8D32-C3718A1A8A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22539" y="2096275"/>
              <a:ext cx="564352" cy="5643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44E8ABA-52E7-A35F-241D-98AC8B04FB81}"/>
              </a:ext>
            </a:extLst>
          </p:cNvPr>
          <p:cNvGrpSpPr/>
          <p:nvPr/>
        </p:nvGrpSpPr>
        <p:grpSpPr>
          <a:xfrm>
            <a:off x="3564357" y="2276505"/>
            <a:ext cx="586062" cy="710328"/>
            <a:chOff x="8642472" y="3356758"/>
            <a:chExt cx="644668" cy="781361"/>
          </a:xfrm>
        </p:grpSpPr>
        <p:pic>
          <p:nvPicPr>
            <p:cNvPr id="45" name="Graphic 44" descr="Open hand outline">
              <a:extLst>
                <a:ext uri="{FF2B5EF4-FFF2-40B4-BE49-F238E27FC236}">
                  <a16:creationId xmlns:a16="http://schemas.microsoft.com/office/drawing/2014/main" id="{12A16459-508D-777A-1676-860837CEF50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642472" y="3493451"/>
              <a:ext cx="644668" cy="644668"/>
            </a:xfrm>
            <a:prstGeom prst="rect">
              <a:avLst/>
            </a:prstGeom>
          </p:spPr>
        </p:pic>
        <p:pic>
          <p:nvPicPr>
            <p:cNvPr id="46" name="Graphic 45" descr="Coins outline">
              <a:extLst>
                <a:ext uri="{FF2B5EF4-FFF2-40B4-BE49-F238E27FC236}">
                  <a16:creationId xmlns:a16="http://schemas.microsoft.com/office/drawing/2014/main" id="{B7FE6259-FF01-2CA7-8824-5B8087D4D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854733" y="3356758"/>
              <a:ext cx="367325" cy="367325"/>
            </a:xfrm>
            <a:prstGeom prst="rect">
              <a:avLst/>
            </a:prstGeom>
          </p:spPr>
        </p:pic>
      </p:grpSp>
      <p:pic>
        <p:nvPicPr>
          <p:cNvPr id="20" name="Graphic 19" descr="Shopping cart outline">
            <a:extLst>
              <a:ext uri="{FF2B5EF4-FFF2-40B4-BE49-F238E27FC236}">
                <a16:creationId xmlns:a16="http://schemas.microsoft.com/office/drawing/2014/main" id="{711A0A09-074E-5C56-D559-B97F09D74B5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826891" y="2260023"/>
            <a:ext cx="644668" cy="644668"/>
          </a:xfrm>
          <a:prstGeom prst="rect">
            <a:avLst/>
          </a:prstGeom>
        </p:spPr>
      </p:pic>
      <p:grpSp>
        <p:nvGrpSpPr>
          <p:cNvPr id="78" name="Group 77">
            <a:extLst>
              <a:ext uri="{FF2B5EF4-FFF2-40B4-BE49-F238E27FC236}">
                <a16:creationId xmlns:a16="http://schemas.microsoft.com/office/drawing/2014/main" id="{117C063F-52A4-CCCE-06E3-D0D42BD1D831}"/>
              </a:ext>
            </a:extLst>
          </p:cNvPr>
          <p:cNvGrpSpPr/>
          <p:nvPr/>
        </p:nvGrpSpPr>
        <p:grpSpPr>
          <a:xfrm>
            <a:off x="546890" y="4180520"/>
            <a:ext cx="5336168" cy="2300071"/>
            <a:chOff x="6362025" y="3806160"/>
            <a:chExt cx="5336168" cy="2300071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47D1739-66B1-3560-DCDC-505E1A5EBE18}"/>
                </a:ext>
              </a:extLst>
            </p:cNvPr>
            <p:cNvCxnSpPr/>
            <p:nvPr/>
          </p:nvCxnSpPr>
          <p:spPr>
            <a:xfrm>
              <a:off x="8056312" y="3817883"/>
              <a:ext cx="0" cy="228834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525D18D-8E9F-AB85-E900-A4FF04C1FC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2025" y="4216736"/>
              <a:ext cx="5023356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FD0214D-CE8D-3AD8-FDC5-8FC00D1D2185}"/>
                </a:ext>
              </a:extLst>
            </p:cNvPr>
            <p:cNvCxnSpPr/>
            <p:nvPr/>
          </p:nvCxnSpPr>
          <p:spPr>
            <a:xfrm>
              <a:off x="10287848" y="3806160"/>
              <a:ext cx="0" cy="228834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DB1BEB3-16F7-9326-2C7E-1284CBE549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2025" y="4701481"/>
              <a:ext cx="5023356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700DDF5-5EED-4508-FBAC-2F9E36D14D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2025" y="5212718"/>
              <a:ext cx="5023356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7EF6F21-F1B1-139F-2D35-487AF3768C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9173" y="5662122"/>
              <a:ext cx="5023356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39D71B5-B1B3-8C46-5F4E-C105D5A44139}"/>
                </a:ext>
              </a:extLst>
            </p:cNvPr>
            <p:cNvSpPr txBox="1"/>
            <p:nvPr/>
          </p:nvSpPr>
          <p:spPr>
            <a:xfrm>
              <a:off x="6392402" y="4335013"/>
              <a:ext cx="1538194" cy="29379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</a:rPr>
                <a:t>Own Website</a:t>
              </a:r>
              <a:endParaRPr lang="en-US" sz="1200" noProof="0"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E5498CB-3B29-6CDF-8122-DE9A9A269BF9}"/>
                </a:ext>
              </a:extLst>
            </p:cNvPr>
            <p:cNvSpPr txBox="1"/>
            <p:nvPr/>
          </p:nvSpPr>
          <p:spPr>
            <a:xfrm>
              <a:off x="8102963" y="4259839"/>
              <a:ext cx="2239349" cy="3689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</a:rPr>
                <a:t>Run effective SEO</a:t>
              </a:r>
            </a:p>
            <a:p>
              <a:pPr marL="171450" indent="-171450" algn="l" defTabSz="22860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</a:rPr>
                <a:t>Track metrics effectively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6BA275E-78AC-69CC-14D8-32D96B7D656B}"/>
                </a:ext>
              </a:extLst>
            </p:cNvPr>
            <p:cNvSpPr txBox="1"/>
            <p:nvPr/>
          </p:nvSpPr>
          <p:spPr>
            <a:xfrm>
              <a:off x="10388962" y="4269905"/>
              <a:ext cx="1309231" cy="3689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CTR</a:t>
              </a:r>
            </a:p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Brand Authority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19C81B9-4858-975F-6A6E-BB0D96761E69}"/>
                </a:ext>
              </a:extLst>
            </p:cNvPr>
            <p:cNvSpPr txBox="1"/>
            <p:nvPr/>
          </p:nvSpPr>
          <p:spPr>
            <a:xfrm>
              <a:off x="6392402" y="4852844"/>
              <a:ext cx="1538194" cy="29379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</a:rPr>
                <a:t>E-Commerce Affiliate</a:t>
              </a:r>
              <a:endParaRPr lang="en-US" sz="1200" noProof="0">
                <a:solidFill>
                  <a:schemeClr val="bg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5DDC154-5081-ACFB-1124-6806806AFA0D}"/>
                </a:ext>
              </a:extLst>
            </p:cNvPr>
            <p:cNvSpPr txBox="1"/>
            <p:nvPr/>
          </p:nvSpPr>
          <p:spPr>
            <a:xfrm>
              <a:off x="8128242" y="4775925"/>
              <a:ext cx="2239349" cy="3689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Website &amp; Blogs </a:t>
              </a:r>
            </a:p>
            <a:p>
              <a:pPr marL="171450" indent="-171450" algn="l" defTabSz="22860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Easy to Manage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B27159E-DFBD-E383-F2C1-E90C57BB13AC}"/>
                </a:ext>
              </a:extLst>
            </p:cNvPr>
            <p:cNvSpPr txBox="1"/>
            <p:nvPr/>
          </p:nvSpPr>
          <p:spPr>
            <a:xfrm>
              <a:off x="6381515" y="5318222"/>
              <a:ext cx="1538194" cy="29379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</a:rPr>
                <a:t>E-Commerce PPC</a:t>
              </a:r>
              <a:endParaRPr lang="en-US" sz="1200" noProof="0">
                <a:solidFill>
                  <a:schemeClr val="bg1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56CDD4E-FB40-60A7-23A6-9AD8E0737BF9}"/>
                </a:ext>
              </a:extLst>
            </p:cNvPr>
            <p:cNvSpPr txBox="1"/>
            <p:nvPr/>
          </p:nvSpPr>
          <p:spPr>
            <a:xfrm>
              <a:off x="8128242" y="5245464"/>
              <a:ext cx="2239349" cy="3689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Widen Consideration Set </a:t>
              </a:r>
            </a:p>
            <a:p>
              <a:pPr marL="171450" indent="-171450" algn="l" defTabSz="22860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High Visibility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6E40EBB-DE60-10B9-6E13-86D824467769}"/>
                </a:ext>
              </a:extLst>
            </p:cNvPr>
            <p:cNvSpPr txBox="1"/>
            <p:nvPr/>
          </p:nvSpPr>
          <p:spPr>
            <a:xfrm>
              <a:off x="6381515" y="5747272"/>
              <a:ext cx="1538194" cy="29379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</a:rPr>
                <a:t>Influencer Marketing</a:t>
              </a:r>
              <a:endParaRPr lang="en-US" sz="1200" noProof="0">
                <a:solidFill>
                  <a:schemeClr val="bg1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66C7AF6-67D8-A7F2-1246-8CF004A04303}"/>
                </a:ext>
              </a:extLst>
            </p:cNvPr>
            <p:cNvSpPr txBox="1"/>
            <p:nvPr/>
          </p:nvSpPr>
          <p:spPr>
            <a:xfrm>
              <a:off x="8128242" y="5690312"/>
              <a:ext cx="2239349" cy="3689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Video Collaterals </a:t>
              </a:r>
            </a:p>
            <a:p>
              <a:pPr marL="171450" indent="-171450" algn="l" defTabSz="22860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Content Creation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D0B70A9-4717-D3ED-A363-019AC893250B}"/>
                </a:ext>
              </a:extLst>
            </p:cNvPr>
            <p:cNvSpPr txBox="1"/>
            <p:nvPr/>
          </p:nvSpPr>
          <p:spPr>
            <a:xfrm>
              <a:off x="10388962" y="4775585"/>
              <a:ext cx="1160097" cy="3689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Bounce Rate</a:t>
              </a:r>
            </a:p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Traffic Rate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1A9855E-29C3-DAAC-B853-5BDD84C060F6}"/>
                </a:ext>
              </a:extLst>
            </p:cNvPr>
            <p:cNvSpPr txBox="1"/>
            <p:nvPr/>
          </p:nvSpPr>
          <p:spPr>
            <a:xfrm>
              <a:off x="10388961" y="5245464"/>
              <a:ext cx="1160099" cy="3689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</a:rPr>
                <a:t>Bounce Rate</a:t>
              </a:r>
            </a:p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</a:rPr>
                <a:t>CPS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6D94E69-C4C9-7D58-A14B-D15B3064BAAF}"/>
                </a:ext>
              </a:extLst>
            </p:cNvPr>
            <p:cNvSpPr txBox="1"/>
            <p:nvPr/>
          </p:nvSpPr>
          <p:spPr>
            <a:xfrm>
              <a:off x="10388962" y="5715196"/>
              <a:ext cx="665891" cy="3689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ROAS</a:t>
              </a:r>
            </a:p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CPA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D1ED8A2-E218-3DE0-B4AD-A3B90DD228EB}"/>
                </a:ext>
              </a:extLst>
            </p:cNvPr>
            <p:cNvSpPr txBox="1"/>
            <p:nvPr/>
          </p:nvSpPr>
          <p:spPr>
            <a:xfrm>
              <a:off x="10984524" y="5437048"/>
              <a:ext cx="468921" cy="16588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71450" indent="-171450" algn="l" defTabSz="22860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US" sz="1200" noProof="0">
                  <a:solidFill>
                    <a:schemeClr val="bg1"/>
                  </a:solidFill>
                </a:rPr>
                <a:t>CLV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573BF76-C53E-DEE1-5820-DA1EFCC85BF3}"/>
                </a:ext>
              </a:extLst>
            </p:cNvPr>
            <p:cNvSpPr txBox="1"/>
            <p:nvPr/>
          </p:nvSpPr>
          <p:spPr>
            <a:xfrm>
              <a:off x="6369173" y="3854280"/>
              <a:ext cx="1538194" cy="29379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1200" b="1" noProof="0">
                  <a:solidFill>
                    <a:schemeClr val="bg1"/>
                  </a:solidFill>
                </a:rPr>
                <a:t>Strategy </a:t>
              </a:r>
              <a:r>
                <a:rPr lang="en-US" sz="1200" b="1">
                  <a:solidFill>
                    <a:schemeClr val="bg1"/>
                  </a:solidFill>
                </a:rPr>
                <a:t>Actions</a:t>
              </a:r>
              <a:endParaRPr lang="en-US" sz="1200" b="1" noProof="0">
                <a:solidFill>
                  <a:schemeClr val="bg1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4EBF74D-C25F-8B96-FA59-C6481A02BBC8}"/>
                </a:ext>
              </a:extLst>
            </p:cNvPr>
            <p:cNvSpPr txBox="1"/>
            <p:nvPr/>
          </p:nvSpPr>
          <p:spPr>
            <a:xfrm>
              <a:off x="8170211" y="3845139"/>
              <a:ext cx="1984245" cy="29379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1200" b="1" noProof="0">
                  <a:solidFill>
                    <a:schemeClr val="bg1"/>
                  </a:solidFill>
                </a:rPr>
                <a:t>Achievable Target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784CBE9-CAA3-396B-8A8A-3C9FD0E3A25B}"/>
                </a:ext>
              </a:extLst>
            </p:cNvPr>
            <p:cNvSpPr txBox="1"/>
            <p:nvPr/>
          </p:nvSpPr>
          <p:spPr>
            <a:xfrm>
              <a:off x="10387810" y="3847680"/>
              <a:ext cx="1304234" cy="29379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1200" b="1" noProof="0">
                  <a:solidFill>
                    <a:schemeClr val="bg1"/>
                  </a:solidFill>
                </a:rPr>
                <a:t>KPIs To Track</a:t>
              </a: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B76084F7-C6B4-589B-46E5-E9A7C9B21881}"/>
              </a:ext>
            </a:extLst>
          </p:cNvPr>
          <p:cNvSpPr/>
          <p:nvPr/>
        </p:nvSpPr>
        <p:spPr>
          <a:xfrm>
            <a:off x="316374" y="2089016"/>
            <a:ext cx="5689026" cy="1949746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81" name="Title 3">
            <a:extLst>
              <a:ext uri="{FF2B5EF4-FFF2-40B4-BE49-F238E27FC236}">
                <a16:creationId xmlns:a16="http://schemas.microsoft.com/office/drawing/2014/main" id="{6D897772-7437-C900-5A91-98FC20EA6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75" y="346527"/>
            <a:ext cx="10906125" cy="344710"/>
          </a:xfrm>
        </p:spPr>
        <p:txBody>
          <a:bodyPr/>
          <a:lstStyle/>
          <a:p>
            <a:r>
              <a:rPr lang="en-US" sz="2800" dirty="0"/>
              <a:t>A Digital First strategy with an Omni-platform Presence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9BC93295-277E-9A0A-4CE7-E75526B0E90F}"/>
              </a:ext>
            </a:extLst>
          </p:cNvPr>
          <p:cNvSpPr/>
          <p:nvPr/>
        </p:nvSpPr>
        <p:spPr>
          <a:xfrm>
            <a:off x="765757" y="3195151"/>
            <a:ext cx="1115122" cy="331772"/>
          </a:xfrm>
          <a:prstGeom prst="round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200">
                <a:solidFill>
                  <a:schemeClr val="accent6">
                    <a:lumMod val="75000"/>
                  </a:schemeClr>
                </a:solidFill>
              </a:rPr>
              <a:t>Online SEO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A24A1BCD-47DC-E769-FB46-3FD15CA5863F}"/>
              </a:ext>
            </a:extLst>
          </p:cNvPr>
          <p:cNvSpPr/>
          <p:nvPr/>
        </p:nvSpPr>
        <p:spPr>
          <a:xfrm>
            <a:off x="765757" y="3625343"/>
            <a:ext cx="1115122" cy="331772"/>
          </a:xfrm>
          <a:prstGeom prst="round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200">
                <a:solidFill>
                  <a:schemeClr val="accent6">
                    <a:lumMod val="75000"/>
                  </a:schemeClr>
                </a:solidFill>
              </a:rPr>
              <a:t>Offline SEO</a:t>
            </a: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B7C720DB-EC51-64C8-EF9A-30B6F8DEF08E}"/>
              </a:ext>
            </a:extLst>
          </p:cNvPr>
          <p:cNvGrpSpPr/>
          <p:nvPr/>
        </p:nvGrpSpPr>
        <p:grpSpPr>
          <a:xfrm>
            <a:off x="2044867" y="3196477"/>
            <a:ext cx="1116020" cy="848300"/>
            <a:chOff x="7927618" y="3237282"/>
            <a:chExt cx="1116020" cy="848300"/>
          </a:xfrm>
        </p:grpSpPr>
        <p:sp>
          <p:nvSpPr>
            <p:cNvPr id="122" name="Rounded Rectangle 121">
              <a:extLst>
                <a:ext uri="{FF2B5EF4-FFF2-40B4-BE49-F238E27FC236}">
                  <a16:creationId xmlns:a16="http://schemas.microsoft.com/office/drawing/2014/main" id="{45474442-E5CD-5615-A9E0-B30C42A853EE}"/>
                </a:ext>
              </a:extLst>
            </p:cNvPr>
            <p:cNvSpPr/>
            <p:nvPr/>
          </p:nvSpPr>
          <p:spPr>
            <a:xfrm>
              <a:off x="7928516" y="3237282"/>
              <a:ext cx="1115122" cy="331772"/>
            </a:xfrm>
            <a:prstGeom prst="roundRect">
              <a:avLst/>
            </a:prstGeom>
            <a:noFill/>
            <a:ln w="1905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US" sz="1200">
                  <a:solidFill>
                    <a:schemeClr val="accent6">
                      <a:lumMod val="75000"/>
                    </a:schemeClr>
                  </a:solidFill>
                </a:rPr>
                <a:t>Copymining</a:t>
              </a:r>
            </a:p>
          </p:txBody>
        </p:sp>
        <p:sp>
          <p:nvSpPr>
            <p:cNvPr id="124" name="Rounded Rectangle 123">
              <a:extLst>
                <a:ext uri="{FF2B5EF4-FFF2-40B4-BE49-F238E27FC236}">
                  <a16:creationId xmlns:a16="http://schemas.microsoft.com/office/drawing/2014/main" id="{7E13E6EE-8EE8-814B-0280-7184C52D18DA}"/>
                </a:ext>
              </a:extLst>
            </p:cNvPr>
            <p:cNvSpPr/>
            <p:nvPr/>
          </p:nvSpPr>
          <p:spPr>
            <a:xfrm>
              <a:off x="7927618" y="3654277"/>
              <a:ext cx="1115122" cy="331772"/>
            </a:xfrm>
            <a:prstGeom prst="roundRect">
              <a:avLst/>
            </a:prstGeom>
            <a:noFill/>
            <a:ln w="1905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sz="120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97E5ECE2-B808-1E57-6BE5-05CA67DF5A5C}"/>
                </a:ext>
              </a:extLst>
            </p:cNvPr>
            <p:cNvSpPr txBox="1"/>
            <p:nvPr/>
          </p:nvSpPr>
          <p:spPr>
            <a:xfrm>
              <a:off x="7957891" y="3753810"/>
              <a:ext cx="1033555" cy="33177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defTabSz="228600">
                <a:spcAft>
                  <a:spcPts val="1200"/>
                </a:spcAft>
              </a:pPr>
              <a:r>
                <a:rPr lang="en-US" sz="1200">
                  <a:solidFill>
                    <a:schemeClr val="accent6">
                      <a:lumMod val="75000"/>
                    </a:schemeClr>
                  </a:solidFill>
                </a:rPr>
                <a:t>Advertorials</a:t>
              </a:r>
            </a:p>
          </p:txBody>
        </p:sp>
      </p:grpSp>
      <p:sp>
        <p:nvSpPr>
          <p:cNvPr id="162" name="Rounded Rectangle 161">
            <a:extLst>
              <a:ext uri="{FF2B5EF4-FFF2-40B4-BE49-F238E27FC236}">
                <a16:creationId xmlns:a16="http://schemas.microsoft.com/office/drawing/2014/main" id="{93268524-285A-F73D-1C0A-D15BE2720ED4}"/>
              </a:ext>
            </a:extLst>
          </p:cNvPr>
          <p:cNvSpPr/>
          <p:nvPr/>
        </p:nvSpPr>
        <p:spPr>
          <a:xfrm>
            <a:off x="3366727" y="3199668"/>
            <a:ext cx="1115122" cy="331772"/>
          </a:xfrm>
          <a:prstGeom prst="round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9525" algn="ctr">
              <a:tabLst>
                <a:tab pos="927100" algn="l"/>
              </a:tabLst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Instagram Ads</a:t>
            </a:r>
          </a:p>
        </p:txBody>
      </p:sp>
      <p:sp>
        <p:nvSpPr>
          <p:cNvPr id="163" name="Rounded Rectangle 162">
            <a:extLst>
              <a:ext uri="{FF2B5EF4-FFF2-40B4-BE49-F238E27FC236}">
                <a16:creationId xmlns:a16="http://schemas.microsoft.com/office/drawing/2014/main" id="{A805D42F-634E-E38B-9DC9-6CED648C02C5}"/>
              </a:ext>
            </a:extLst>
          </p:cNvPr>
          <p:cNvSpPr/>
          <p:nvPr/>
        </p:nvSpPr>
        <p:spPr>
          <a:xfrm>
            <a:off x="3366727" y="3613472"/>
            <a:ext cx="1115122" cy="331772"/>
          </a:xfrm>
          <a:prstGeom prst="round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200">
                <a:solidFill>
                  <a:schemeClr val="accent6">
                    <a:lumMod val="75000"/>
                  </a:schemeClr>
                </a:solidFill>
              </a:rPr>
              <a:t>Video Ads</a:t>
            </a:r>
          </a:p>
        </p:txBody>
      </p:sp>
      <p:sp>
        <p:nvSpPr>
          <p:cNvPr id="166" name="Rounded Rectangle 165">
            <a:extLst>
              <a:ext uri="{FF2B5EF4-FFF2-40B4-BE49-F238E27FC236}">
                <a16:creationId xmlns:a16="http://schemas.microsoft.com/office/drawing/2014/main" id="{B6475D36-CE31-1591-5DA7-7541DD42C98E}"/>
              </a:ext>
            </a:extLst>
          </p:cNvPr>
          <p:cNvSpPr/>
          <p:nvPr/>
        </p:nvSpPr>
        <p:spPr>
          <a:xfrm>
            <a:off x="4673389" y="3195150"/>
            <a:ext cx="1115122" cy="331773"/>
          </a:xfrm>
          <a:prstGeom prst="round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Occasion Marketing</a:t>
            </a:r>
          </a:p>
        </p:txBody>
      </p:sp>
      <p:sp>
        <p:nvSpPr>
          <p:cNvPr id="169" name="Rounded Rectangle 168">
            <a:extLst>
              <a:ext uri="{FF2B5EF4-FFF2-40B4-BE49-F238E27FC236}">
                <a16:creationId xmlns:a16="http://schemas.microsoft.com/office/drawing/2014/main" id="{5A229614-C338-1829-F64B-DBF446BBF63F}"/>
              </a:ext>
            </a:extLst>
          </p:cNvPr>
          <p:cNvSpPr/>
          <p:nvPr/>
        </p:nvSpPr>
        <p:spPr>
          <a:xfrm>
            <a:off x="4673389" y="3613471"/>
            <a:ext cx="1115122" cy="331773"/>
          </a:xfrm>
          <a:prstGeom prst="round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Promotional Campaigns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ADC1E84-49E7-F079-E4E5-7315C9D83422}"/>
              </a:ext>
            </a:extLst>
          </p:cNvPr>
          <p:cNvGrpSpPr/>
          <p:nvPr/>
        </p:nvGrpSpPr>
        <p:grpSpPr>
          <a:xfrm>
            <a:off x="6396356" y="1265039"/>
            <a:ext cx="5427088" cy="4819732"/>
            <a:chOff x="503344" y="1338943"/>
            <a:chExt cx="5427088" cy="4819732"/>
          </a:xfrm>
        </p:grpSpPr>
        <p:graphicFrame>
          <p:nvGraphicFramePr>
            <p:cNvPr id="10" name="Chart 9">
              <a:extLst>
                <a:ext uri="{FF2B5EF4-FFF2-40B4-BE49-F238E27FC236}">
                  <a16:creationId xmlns:a16="http://schemas.microsoft.com/office/drawing/2014/main" id="{ACB84D2B-1216-DA77-0478-4A398FC133EC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694432799"/>
                </p:ext>
              </p:extLst>
            </p:nvPr>
          </p:nvGraphicFramePr>
          <p:xfrm>
            <a:off x="503344" y="1338943"/>
            <a:ext cx="5427088" cy="481973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5"/>
            </a:graphicData>
          </a:graphic>
        </p:graphicFrame>
        <p:sp>
          <p:nvSpPr>
            <p:cNvPr id="42" name="Arrow: Up 6">
              <a:extLst>
                <a:ext uri="{FF2B5EF4-FFF2-40B4-BE49-F238E27FC236}">
                  <a16:creationId xmlns:a16="http://schemas.microsoft.com/office/drawing/2014/main" id="{4110E233-3B55-1B41-703D-F232DBBC87B6}"/>
                </a:ext>
              </a:extLst>
            </p:cNvPr>
            <p:cNvSpPr/>
            <p:nvPr/>
          </p:nvSpPr>
          <p:spPr>
            <a:xfrm>
              <a:off x="1414792" y="4181522"/>
              <a:ext cx="381000" cy="780951"/>
            </a:xfrm>
            <a:prstGeom prst="up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IN" err="1"/>
            </a:p>
          </p:txBody>
        </p:sp>
        <p:sp>
          <p:nvSpPr>
            <p:cNvPr id="47" name="Arrow: Up 7">
              <a:extLst>
                <a:ext uri="{FF2B5EF4-FFF2-40B4-BE49-F238E27FC236}">
                  <a16:creationId xmlns:a16="http://schemas.microsoft.com/office/drawing/2014/main" id="{1FE502C8-4602-964E-4BFE-3BC17BCB167A}"/>
                </a:ext>
              </a:extLst>
            </p:cNvPr>
            <p:cNvSpPr/>
            <p:nvPr/>
          </p:nvSpPr>
          <p:spPr>
            <a:xfrm>
              <a:off x="2473547" y="3827734"/>
              <a:ext cx="381000" cy="780951"/>
            </a:xfrm>
            <a:prstGeom prst="up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IN" err="1"/>
            </a:p>
          </p:txBody>
        </p:sp>
        <p:sp>
          <p:nvSpPr>
            <p:cNvPr id="48" name="Arrow: Up 8">
              <a:extLst>
                <a:ext uri="{FF2B5EF4-FFF2-40B4-BE49-F238E27FC236}">
                  <a16:creationId xmlns:a16="http://schemas.microsoft.com/office/drawing/2014/main" id="{9AA2ED1F-3B9A-E9D8-BDF1-0EC5D1EE9FCF}"/>
                </a:ext>
              </a:extLst>
            </p:cNvPr>
            <p:cNvSpPr/>
            <p:nvPr/>
          </p:nvSpPr>
          <p:spPr>
            <a:xfrm>
              <a:off x="1953635" y="3996464"/>
              <a:ext cx="381000" cy="780951"/>
            </a:xfrm>
            <a:prstGeom prst="up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IN" err="1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889935C-FF5E-3654-B666-2166E69635A6}"/>
                </a:ext>
              </a:extLst>
            </p:cNvPr>
            <p:cNvSpPr txBox="1"/>
            <p:nvPr/>
          </p:nvSpPr>
          <p:spPr>
            <a:xfrm>
              <a:off x="1174336" y="2063454"/>
              <a:ext cx="2703802" cy="10885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IN" sz="1200" b="1" dirty="0">
                  <a:solidFill>
                    <a:srgbClr val="5F0289"/>
                  </a:solidFill>
                </a:rPr>
                <a:t>Having and Omni-Channel platform presence will enable:</a:t>
              </a:r>
              <a:br>
                <a:rPr lang="en-IN" sz="1200" b="1" dirty="0">
                  <a:solidFill>
                    <a:srgbClr val="5F0289"/>
                  </a:solidFill>
                </a:rPr>
              </a:br>
              <a:br>
                <a:rPr lang="en-IN" sz="600" b="1" dirty="0">
                  <a:solidFill>
                    <a:srgbClr val="5F0289"/>
                  </a:solidFill>
                </a:rPr>
              </a:br>
              <a:r>
                <a:rPr lang="en-IN" sz="1200" b="1" dirty="0">
                  <a:solidFill>
                    <a:srgbClr val="5F0289"/>
                  </a:solidFill>
                </a:rPr>
                <a:t>1) Access to larger TAM</a:t>
              </a:r>
              <a:br>
                <a:rPr lang="en-IN" sz="1200" b="1" dirty="0">
                  <a:solidFill>
                    <a:srgbClr val="5F0289"/>
                  </a:solidFill>
                </a:rPr>
              </a:br>
              <a:r>
                <a:rPr lang="en-IN" sz="1200" b="1" dirty="0">
                  <a:solidFill>
                    <a:srgbClr val="5F0289"/>
                  </a:solidFill>
                </a:rPr>
                <a:t>2) Reduce threat due to single provider</a:t>
              </a:r>
              <a:br>
                <a:rPr lang="en-IN" sz="1200" b="1" dirty="0">
                  <a:solidFill>
                    <a:srgbClr val="5F0289"/>
                  </a:solidFill>
                </a:rPr>
              </a:br>
              <a:r>
                <a:rPr lang="en-IN" sz="1200" b="1" dirty="0">
                  <a:solidFill>
                    <a:srgbClr val="5F0289"/>
                  </a:solidFill>
                </a:rPr>
                <a:t>3) Match accessibility with competitors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B7BC4574-3FA4-D8FB-8AF3-5422D43DD329}"/>
              </a:ext>
            </a:extLst>
          </p:cNvPr>
          <p:cNvSpPr txBox="1"/>
          <p:nvPr/>
        </p:nvSpPr>
        <p:spPr>
          <a:xfrm>
            <a:off x="6948724" y="6026023"/>
            <a:ext cx="4481274" cy="6691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400" i="1" dirty="0">
                <a:solidFill>
                  <a:schemeClr val="bg1"/>
                </a:solidFill>
              </a:rPr>
              <a:t>ABC company needs to increase its internet presence to increase penetration and gain a larger market share</a:t>
            </a:r>
            <a:endParaRPr lang="en-US" sz="1400" i="1" noProof="0" dirty="0">
              <a:solidFill>
                <a:schemeClr val="bg1"/>
              </a:solidFill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6E7E0FA-9B50-9686-C2A4-B882155237A3}"/>
              </a:ext>
            </a:extLst>
          </p:cNvPr>
          <p:cNvCxnSpPr>
            <a:cxnSpLocks/>
          </p:cNvCxnSpPr>
          <p:nvPr/>
        </p:nvCxnSpPr>
        <p:spPr>
          <a:xfrm flipV="1">
            <a:off x="6155170" y="1035947"/>
            <a:ext cx="0" cy="5648325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9373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: Rounded Corners 175">
            <a:extLst>
              <a:ext uri="{FF2B5EF4-FFF2-40B4-BE49-F238E27FC236}">
                <a16:creationId xmlns:a16="http://schemas.microsoft.com/office/drawing/2014/main" id="{3C1E1FCB-7A14-3772-B5CC-57B8B8F808DF}"/>
              </a:ext>
            </a:extLst>
          </p:cNvPr>
          <p:cNvSpPr/>
          <p:nvPr/>
        </p:nvSpPr>
        <p:spPr>
          <a:xfrm>
            <a:off x="6957241" y="1219501"/>
            <a:ext cx="3589279" cy="95765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     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4A47B9F-97B8-0008-3E38-217C6CA70C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480591"/>
            <a:ext cx="381001" cy="207843"/>
          </a:xfrm>
        </p:spPr>
        <p:txBody>
          <a:bodyPr/>
          <a:lstStyle/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5</a:t>
            </a:fld>
            <a:endParaRPr lang="en-IN" dirty="0"/>
          </a:p>
        </p:txBody>
      </p:sp>
      <p:sp>
        <p:nvSpPr>
          <p:cNvPr id="81" name="Title 3">
            <a:extLst>
              <a:ext uri="{FF2B5EF4-FFF2-40B4-BE49-F238E27FC236}">
                <a16:creationId xmlns:a16="http://schemas.microsoft.com/office/drawing/2014/main" id="{6D897772-7437-C900-5A91-98FC20EA6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165" y="263397"/>
            <a:ext cx="10906125" cy="344710"/>
          </a:xfrm>
        </p:spPr>
        <p:txBody>
          <a:bodyPr/>
          <a:lstStyle/>
          <a:p>
            <a:r>
              <a:rPr lang="en-IN" sz="2800" dirty="0"/>
              <a:t>Choosing the right thing for us and our customers</a:t>
            </a:r>
            <a:endParaRPr lang="en-US" sz="3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DA551E2-D631-0CCF-C867-59F52D524E7F}"/>
              </a:ext>
            </a:extLst>
          </p:cNvPr>
          <p:cNvGrpSpPr/>
          <p:nvPr/>
        </p:nvGrpSpPr>
        <p:grpSpPr>
          <a:xfrm>
            <a:off x="472205" y="5550580"/>
            <a:ext cx="5288195" cy="886599"/>
            <a:chOff x="448006" y="4881519"/>
            <a:chExt cx="5394190" cy="88659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90095BC-BB9C-4E4E-4229-EE0EF7B0017A}"/>
                </a:ext>
              </a:extLst>
            </p:cNvPr>
            <p:cNvSpPr/>
            <p:nvPr/>
          </p:nvSpPr>
          <p:spPr>
            <a:xfrm>
              <a:off x="570766" y="5326506"/>
              <a:ext cx="2173556" cy="41829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Opportunity to become the market leader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FB891B8-BD57-96EE-6A91-5609F2D9CA25}"/>
                </a:ext>
              </a:extLst>
            </p:cNvPr>
            <p:cNvSpPr/>
            <p:nvPr/>
          </p:nvSpPr>
          <p:spPr>
            <a:xfrm>
              <a:off x="2837641" y="5349827"/>
              <a:ext cx="2173556" cy="41829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Benefit from price sensitivity of customers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B2E6090-D23F-840A-88BB-2A71F9A2B7E1}"/>
                </a:ext>
              </a:extLst>
            </p:cNvPr>
            <p:cNvSpPr/>
            <p:nvPr/>
          </p:nvSpPr>
          <p:spPr>
            <a:xfrm>
              <a:off x="1849876" y="4881519"/>
              <a:ext cx="3992320" cy="31025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ABC should focus on Volume driven growth:</a:t>
              </a:r>
            </a:p>
          </p:txBody>
        </p:sp>
        <p:pic>
          <p:nvPicPr>
            <p:cNvPr id="49" name="Picture 8" descr="Leadership ">
              <a:extLst>
                <a:ext uri="{FF2B5EF4-FFF2-40B4-BE49-F238E27FC236}">
                  <a16:creationId xmlns:a16="http://schemas.microsoft.com/office/drawing/2014/main" id="{F5919ED8-549A-239F-83AB-1AB5A06B14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8006" y="5353112"/>
              <a:ext cx="291867" cy="2918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12" descr="Magnifying glass ">
              <a:extLst>
                <a:ext uri="{FF2B5EF4-FFF2-40B4-BE49-F238E27FC236}">
                  <a16:creationId xmlns:a16="http://schemas.microsoft.com/office/drawing/2014/main" id="{56BEF06D-3712-7DB3-495E-17C37E4D2B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4479" y="5403765"/>
              <a:ext cx="241214" cy="2412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1" name="Picture 10" descr="Peer to peer ">
            <a:extLst>
              <a:ext uri="{FF2B5EF4-FFF2-40B4-BE49-F238E27FC236}">
                <a16:creationId xmlns:a16="http://schemas.microsoft.com/office/drawing/2014/main" id="{3EBC526E-8D89-4919-BEC2-94F3C12F9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108" y="6028119"/>
            <a:ext cx="310252" cy="310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Speech Bubble: Rectangle 65">
            <a:extLst>
              <a:ext uri="{FF2B5EF4-FFF2-40B4-BE49-F238E27FC236}">
                <a16:creationId xmlns:a16="http://schemas.microsoft.com/office/drawing/2014/main" id="{F9AC6349-9E1C-1C7E-F67D-FDD8055C36BB}"/>
              </a:ext>
            </a:extLst>
          </p:cNvPr>
          <p:cNvSpPr/>
          <p:nvPr/>
        </p:nvSpPr>
        <p:spPr>
          <a:xfrm>
            <a:off x="4502451" y="714423"/>
            <a:ext cx="1737747" cy="836644"/>
          </a:xfrm>
          <a:prstGeom prst="wedgeRectCallou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 dirty="0"/>
              <a:t>Hi, I am Sonia. I care more about the price than brand while buying bedsheets</a:t>
            </a:r>
          </a:p>
        </p:txBody>
      </p:sp>
      <p:pic>
        <p:nvPicPr>
          <p:cNvPr id="1028" name="Picture 4" descr="Student ">
            <a:extLst>
              <a:ext uri="{FF2B5EF4-FFF2-40B4-BE49-F238E27FC236}">
                <a16:creationId xmlns:a16="http://schemas.microsoft.com/office/drawing/2014/main" id="{5F0B4CE8-8C1D-32C0-EF75-2E9C7EA6E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5313" y="772658"/>
            <a:ext cx="1032287" cy="1007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08148927-C48D-8A06-B8A1-160F7E1D4E2F}"/>
              </a:ext>
            </a:extLst>
          </p:cNvPr>
          <p:cNvSpPr/>
          <p:nvPr/>
        </p:nvSpPr>
        <p:spPr>
          <a:xfrm>
            <a:off x="7007631" y="732739"/>
            <a:ext cx="3476593" cy="41217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400" dirty="0"/>
              <a:t>Minimising Cost to Serve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9020610-A2C0-5A59-8BED-25F8692421AA}"/>
              </a:ext>
            </a:extLst>
          </p:cNvPr>
          <p:cNvSpPr/>
          <p:nvPr/>
        </p:nvSpPr>
        <p:spPr>
          <a:xfrm>
            <a:off x="915618" y="2233895"/>
            <a:ext cx="1810616" cy="27368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400" dirty="0"/>
              <a:t>Business Metrics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D9DFE4F-155E-DE48-C76D-E41E7B6CE382}"/>
              </a:ext>
            </a:extLst>
          </p:cNvPr>
          <p:cNvSpPr/>
          <p:nvPr/>
        </p:nvSpPr>
        <p:spPr>
          <a:xfrm>
            <a:off x="4210730" y="2235298"/>
            <a:ext cx="2157397" cy="28303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400" dirty="0"/>
              <a:t>Customer Metrics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1A8425F-FEEA-1493-4726-0854E19D345C}"/>
              </a:ext>
            </a:extLst>
          </p:cNvPr>
          <p:cNvSpPr txBox="1"/>
          <p:nvPr/>
        </p:nvSpPr>
        <p:spPr>
          <a:xfrm>
            <a:off x="730439" y="2758115"/>
            <a:ext cx="1250829" cy="32581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noProof="0" dirty="0">
                <a:solidFill>
                  <a:schemeClr val="bg1"/>
                </a:solidFill>
              </a:rPr>
              <a:t>Cost Optimisation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B94166C-5194-9DCE-4049-4101E714BBA1}"/>
              </a:ext>
            </a:extLst>
          </p:cNvPr>
          <p:cNvSpPr txBox="1"/>
          <p:nvPr/>
        </p:nvSpPr>
        <p:spPr>
          <a:xfrm>
            <a:off x="748500" y="3361042"/>
            <a:ext cx="1250829" cy="2736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noProof="0" dirty="0">
                <a:solidFill>
                  <a:schemeClr val="bg1"/>
                </a:solidFill>
              </a:rPr>
              <a:t>Competitor Prices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10BB41E-5FF6-37AF-119D-FDF6494584C2}"/>
              </a:ext>
            </a:extLst>
          </p:cNvPr>
          <p:cNvSpPr txBox="1"/>
          <p:nvPr/>
        </p:nvSpPr>
        <p:spPr>
          <a:xfrm>
            <a:off x="4022321" y="2758115"/>
            <a:ext cx="1086778" cy="292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noProof="0" dirty="0">
                <a:solidFill>
                  <a:schemeClr val="bg1"/>
                </a:solidFill>
              </a:rPr>
              <a:t>Price Sensitivity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EEF6E3C-8B06-B1CD-9FBE-E1F3D273FCCA}"/>
              </a:ext>
            </a:extLst>
          </p:cNvPr>
          <p:cNvSpPr txBox="1"/>
          <p:nvPr/>
        </p:nvSpPr>
        <p:spPr>
          <a:xfrm>
            <a:off x="4022320" y="3342774"/>
            <a:ext cx="1018564" cy="3886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IN" sz="1200" noProof="0" dirty="0">
                <a:solidFill>
                  <a:schemeClr val="bg1"/>
                </a:solidFill>
              </a:rPr>
              <a:t>Cost Quality </a:t>
            </a:r>
            <a:r>
              <a:rPr lang="en-IN" sz="1200" dirty="0">
                <a:solidFill>
                  <a:schemeClr val="bg1"/>
                </a:solidFill>
              </a:rPr>
              <a:t>T</a:t>
            </a:r>
            <a:r>
              <a:rPr lang="en-IN" sz="1200" noProof="0" dirty="0" err="1">
                <a:solidFill>
                  <a:schemeClr val="bg1"/>
                </a:solidFill>
              </a:rPr>
              <a:t>radeoff</a:t>
            </a:r>
            <a:endParaRPr lang="en-IN" sz="1200" noProof="0" dirty="0">
              <a:solidFill>
                <a:schemeClr val="bg1"/>
              </a:solidFill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CCF1EB0-2A28-68C3-BB71-2E8AF6942F81}"/>
              </a:ext>
            </a:extLst>
          </p:cNvPr>
          <p:cNvCxnSpPr>
            <a:cxnSpLocks/>
          </p:cNvCxnSpPr>
          <p:nvPr/>
        </p:nvCxnSpPr>
        <p:spPr>
          <a:xfrm flipV="1">
            <a:off x="3552725" y="779078"/>
            <a:ext cx="0" cy="1246964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8026E721-905A-BE6E-842E-F8B3076349AB}"/>
              </a:ext>
            </a:extLst>
          </p:cNvPr>
          <p:cNvSpPr txBox="1"/>
          <p:nvPr/>
        </p:nvSpPr>
        <p:spPr>
          <a:xfrm>
            <a:off x="5044024" y="2756492"/>
            <a:ext cx="1737908" cy="36893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algn="l" defTabSz="228600"/>
            <a:r>
              <a:rPr lang="en-US" sz="1200" dirty="0">
                <a:solidFill>
                  <a:schemeClr val="bg1"/>
                </a:solidFill>
              </a:rPr>
              <a:t>  - High price elasticity</a:t>
            </a:r>
          </a:p>
          <a:p>
            <a:pPr algn="l" defTabSz="228600"/>
            <a:r>
              <a:rPr lang="en-US" sz="1200" dirty="0">
                <a:solidFill>
                  <a:schemeClr val="bg1"/>
                </a:solidFill>
              </a:rPr>
              <a:t>  - Competitive Market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C28235-D813-F345-50B4-C29F8948392F}"/>
              </a:ext>
            </a:extLst>
          </p:cNvPr>
          <p:cNvSpPr txBox="1"/>
          <p:nvPr/>
        </p:nvSpPr>
        <p:spPr>
          <a:xfrm>
            <a:off x="736713" y="4003286"/>
            <a:ext cx="1037628" cy="44556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noProof="0" dirty="0">
                <a:solidFill>
                  <a:schemeClr val="bg1"/>
                </a:solidFill>
              </a:rPr>
              <a:t>Vision Alignment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61CCE96-C848-F5CC-052E-C7A9654D2863}"/>
              </a:ext>
            </a:extLst>
          </p:cNvPr>
          <p:cNvSpPr txBox="1"/>
          <p:nvPr/>
        </p:nvSpPr>
        <p:spPr>
          <a:xfrm>
            <a:off x="5052342" y="3336741"/>
            <a:ext cx="1737909" cy="39203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algn="l" defTabSz="228600"/>
            <a:r>
              <a:rPr lang="en-US" sz="1200" dirty="0">
                <a:solidFill>
                  <a:schemeClr val="bg1"/>
                </a:solidFill>
              </a:rPr>
              <a:t>  - Premium products</a:t>
            </a:r>
          </a:p>
          <a:p>
            <a:pPr algn="l" defTabSz="228600"/>
            <a:r>
              <a:rPr lang="en-US" sz="1200" dirty="0">
                <a:solidFill>
                  <a:schemeClr val="bg1"/>
                </a:solidFill>
              </a:rPr>
              <a:t>  - Superior quality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93F066A-5011-D602-389E-10FA3A540495}"/>
              </a:ext>
            </a:extLst>
          </p:cNvPr>
          <p:cNvSpPr txBox="1"/>
          <p:nvPr/>
        </p:nvSpPr>
        <p:spPr>
          <a:xfrm>
            <a:off x="776760" y="4691507"/>
            <a:ext cx="881102" cy="2918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noProof="0" dirty="0">
                <a:solidFill>
                  <a:schemeClr val="bg1"/>
                </a:solidFill>
              </a:rPr>
              <a:t>Profitability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FF62FC9-496F-4E33-3D09-D297436F421B}"/>
              </a:ext>
            </a:extLst>
          </p:cNvPr>
          <p:cNvSpPr txBox="1"/>
          <p:nvPr/>
        </p:nvSpPr>
        <p:spPr>
          <a:xfrm>
            <a:off x="1801266" y="2743676"/>
            <a:ext cx="1626268" cy="38121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algn="l" defTabSz="228600"/>
            <a:r>
              <a:rPr lang="en-US" sz="1200" dirty="0">
                <a:solidFill>
                  <a:schemeClr val="bg1"/>
                </a:solidFill>
              </a:rPr>
              <a:t>   - Economies of scale</a:t>
            </a:r>
          </a:p>
          <a:p>
            <a:pPr algn="l" defTabSz="228600"/>
            <a:r>
              <a:rPr lang="en-US" sz="1200" dirty="0">
                <a:solidFill>
                  <a:schemeClr val="bg1"/>
                </a:solidFill>
              </a:rPr>
              <a:t>   - Innovation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5E3A468-8C01-7A62-F5A6-42331E735C5A}"/>
              </a:ext>
            </a:extLst>
          </p:cNvPr>
          <p:cNvSpPr txBox="1"/>
          <p:nvPr/>
        </p:nvSpPr>
        <p:spPr>
          <a:xfrm>
            <a:off x="1783483" y="3913184"/>
            <a:ext cx="1644048" cy="55629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defTabSz="228600"/>
            <a:r>
              <a:rPr lang="en-US" sz="1200" dirty="0">
                <a:solidFill>
                  <a:schemeClr val="bg1"/>
                </a:solidFill>
              </a:rPr>
              <a:t>   - Increased sales</a:t>
            </a:r>
          </a:p>
          <a:p>
            <a:pPr defTabSz="228600"/>
            <a:r>
              <a:rPr lang="en-US" sz="1200" dirty="0">
                <a:solidFill>
                  <a:schemeClr val="bg1"/>
                </a:solidFill>
              </a:rPr>
              <a:t>   - Cater to all</a:t>
            </a:r>
          </a:p>
          <a:p>
            <a:pPr defTabSz="228600"/>
            <a:r>
              <a:rPr lang="en-US" sz="1200" dirty="0">
                <a:solidFill>
                  <a:schemeClr val="bg1"/>
                </a:solidFill>
              </a:rPr>
              <a:t>     customer  groups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786AB96-0652-B29D-50F8-1F0C777C87FD}"/>
              </a:ext>
            </a:extLst>
          </p:cNvPr>
          <p:cNvSpPr txBox="1"/>
          <p:nvPr/>
        </p:nvSpPr>
        <p:spPr>
          <a:xfrm>
            <a:off x="1775862" y="4610770"/>
            <a:ext cx="1648420" cy="36745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defTabSz="228600"/>
            <a:r>
              <a:rPr lang="en-US" sz="1200" dirty="0">
                <a:solidFill>
                  <a:schemeClr val="bg1"/>
                </a:solidFill>
              </a:rPr>
              <a:t>    - Margins</a:t>
            </a:r>
          </a:p>
          <a:p>
            <a:pPr defTabSz="228600"/>
            <a:r>
              <a:rPr lang="en-US" sz="1200" dirty="0">
                <a:solidFill>
                  <a:schemeClr val="bg1"/>
                </a:solidFill>
              </a:rPr>
              <a:t>    - Increasing costs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1D08403D-E54A-224E-2DDA-B4833D5BAEA1}"/>
              </a:ext>
            </a:extLst>
          </p:cNvPr>
          <p:cNvCxnSpPr>
            <a:cxnSpLocks/>
          </p:cNvCxnSpPr>
          <p:nvPr/>
        </p:nvCxnSpPr>
        <p:spPr>
          <a:xfrm flipV="1">
            <a:off x="3563467" y="1992100"/>
            <a:ext cx="0" cy="3346486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30" name="Picture 6" descr="Cost ">
            <a:extLst>
              <a:ext uri="{FF2B5EF4-FFF2-40B4-BE49-F238E27FC236}">
                <a16:creationId xmlns:a16="http://schemas.microsoft.com/office/drawing/2014/main" id="{297C8071-8572-53FC-1C31-1D69D2D1A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983" y="2762599"/>
            <a:ext cx="321054" cy="321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ompetition ">
            <a:extLst>
              <a:ext uri="{FF2B5EF4-FFF2-40B4-BE49-F238E27FC236}">
                <a16:creationId xmlns:a16="http://schemas.microsoft.com/office/drawing/2014/main" id="{83E9982C-51A9-C1C9-857B-A5844C6BD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282" y="3336256"/>
            <a:ext cx="321054" cy="321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6932C278-964E-8C40-A9B6-3048A9B5B785}"/>
              </a:ext>
            </a:extLst>
          </p:cNvPr>
          <p:cNvSpPr txBox="1"/>
          <p:nvPr/>
        </p:nvSpPr>
        <p:spPr>
          <a:xfrm>
            <a:off x="1783483" y="3323574"/>
            <a:ext cx="1642425" cy="38121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algn="ctr" defTabSz="228600"/>
            <a:r>
              <a:rPr lang="en-US" sz="1200" dirty="0">
                <a:solidFill>
                  <a:schemeClr val="bg1"/>
                </a:solidFill>
              </a:rPr>
              <a:t> - Competitors might not increase prices</a:t>
            </a:r>
          </a:p>
        </p:txBody>
      </p:sp>
      <p:pic>
        <p:nvPicPr>
          <p:cNvPr id="1034" name="Picture 10" descr="Vision ">
            <a:extLst>
              <a:ext uri="{FF2B5EF4-FFF2-40B4-BE49-F238E27FC236}">
                <a16:creationId xmlns:a16="http://schemas.microsoft.com/office/drawing/2014/main" id="{29AFA135-D791-40AC-2AEE-8D5775E30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229" y="3925268"/>
            <a:ext cx="353159" cy="353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Financial profit ">
            <a:extLst>
              <a:ext uri="{FF2B5EF4-FFF2-40B4-BE49-F238E27FC236}">
                <a16:creationId xmlns:a16="http://schemas.microsoft.com/office/drawing/2014/main" id="{7F01887D-5F9B-978A-1AE0-0E8554B64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685" y="4622750"/>
            <a:ext cx="291867" cy="291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Cost ">
            <a:extLst>
              <a:ext uri="{FF2B5EF4-FFF2-40B4-BE49-F238E27FC236}">
                <a16:creationId xmlns:a16="http://schemas.microsoft.com/office/drawing/2014/main" id="{00C8884C-5666-3189-1989-3FEF063E6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417" y="2755730"/>
            <a:ext cx="353159" cy="353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D8232602-2F25-46F5-50FC-A6E331F5E3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690" y="4609104"/>
            <a:ext cx="338174" cy="338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613205AA-A401-A5A9-D42E-8EA569C38D1B}"/>
              </a:ext>
            </a:extLst>
          </p:cNvPr>
          <p:cNvCxnSpPr>
            <a:cxnSpLocks/>
          </p:cNvCxnSpPr>
          <p:nvPr/>
        </p:nvCxnSpPr>
        <p:spPr>
          <a:xfrm flipV="1">
            <a:off x="6901790" y="321378"/>
            <a:ext cx="0" cy="6051647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7" name="Picture 2">
            <a:extLst>
              <a:ext uri="{FF2B5EF4-FFF2-40B4-BE49-F238E27FC236}">
                <a16:creationId xmlns:a16="http://schemas.microsoft.com/office/drawing/2014/main" id="{103778F5-1B8F-046B-3CF0-48AF59C01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8953" y="1524172"/>
            <a:ext cx="371991" cy="371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0AE30032-6932-E73D-641F-6782B8EBCEE2}"/>
              </a:ext>
            </a:extLst>
          </p:cNvPr>
          <p:cNvSpPr txBox="1"/>
          <p:nvPr/>
        </p:nvSpPr>
        <p:spPr>
          <a:xfrm>
            <a:off x="8428923" y="1364338"/>
            <a:ext cx="2104992" cy="5447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1450" indent="-171450" algn="l" defTabSz="22860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1"/>
                </a:solidFill>
              </a:rPr>
              <a:t>Business processes optimization</a:t>
            </a:r>
          </a:p>
          <a:p>
            <a:pPr marL="171450" indent="-171450" algn="l" defTabSz="22860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1"/>
                </a:solidFill>
              </a:rPr>
              <a:t>Tech R&amp;D for mass production </a:t>
            </a:r>
          </a:p>
        </p:txBody>
      </p:sp>
      <p:sp>
        <p:nvSpPr>
          <p:cNvPr id="112" name="Rectangle: Rounded Corners 175">
            <a:extLst>
              <a:ext uri="{FF2B5EF4-FFF2-40B4-BE49-F238E27FC236}">
                <a16:creationId xmlns:a16="http://schemas.microsoft.com/office/drawing/2014/main" id="{2E38838F-C1A7-B556-B250-C29A30D88617}"/>
              </a:ext>
            </a:extLst>
          </p:cNvPr>
          <p:cNvSpPr/>
          <p:nvPr/>
        </p:nvSpPr>
        <p:spPr>
          <a:xfrm>
            <a:off x="6969476" y="2339708"/>
            <a:ext cx="3547527" cy="8508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   </a:t>
            </a:r>
            <a:r>
              <a:rPr lang="en-IN" sz="700" dirty="0">
                <a:solidFill>
                  <a:schemeClr val="accent1">
                    <a:lumMod val="40000"/>
                    <a:lumOff val="60000"/>
                  </a:schemeClr>
                </a:solidFill>
                <a:latin typeface="Graphik"/>
              </a:rPr>
              <a:t>.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113" name="Picture 4" descr="Bulk buying ">
            <a:extLst>
              <a:ext uri="{FF2B5EF4-FFF2-40B4-BE49-F238E27FC236}">
                <a16:creationId xmlns:a16="http://schemas.microsoft.com/office/drawing/2014/main" id="{7D9C2996-6B2B-45FD-BEA8-1EC6838F8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3916" y="2567544"/>
            <a:ext cx="388475" cy="38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F6ADE08C-1F23-18DD-3E4E-50D1D369233F}"/>
              </a:ext>
            </a:extLst>
          </p:cNvPr>
          <p:cNvSpPr txBox="1"/>
          <p:nvPr/>
        </p:nvSpPr>
        <p:spPr>
          <a:xfrm>
            <a:off x="8442669" y="2528442"/>
            <a:ext cx="2104992" cy="5447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1450" indent="-171450" algn="l" defTabSz="22860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1"/>
                </a:solidFill>
              </a:rPr>
              <a:t>Establishment of circular supply chain</a:t>
            </a:r>
          </a:p>
          <a:p>
            <a:pPr marL="171450" indent="-171450" algn="l" defTabSz="22860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1"/>
                </a:solidFill>
              </a:rPr>
              <a:t>Bulk Order discounting</a:t>
            </a:r>
          </a:p>
        </p:txBody>
      </p:sp>
      <p:sp>
        <p:nvSpPr>
          <p:cNvPr id="116" name="Rectangle: Rounded Corners 175">
            <a:extLst>
              <a:ext uri="{FF2B5EF4-FFF2-40B4-BE49-F238E27FC236}">
                <a16:creationId xmlns:a16="http://schemas.microsoft.com/office/drawing/2014/main" id="{B25D9FEC-5A1D-98EC-C8C1-8BF7D27A2911}"/>
              </a:ext>
            </a:extLst>
          </p:cNvPr>
          <p:cNvSpPr/>
          <p:nvPr/>
        </p:nvSpPr>
        <p:spPr>
          <a:xfrm>
            <a:off x="6991093" y="3396768"/>
            <a:ext cx="3525910" cy="8508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     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117" name="Picture 6" descr="Logistics ">
            <a:extLst>
              <a:ext uri="{FF2B5EF4-FFF2-40B4-BE49-F238E27FC236}">
                <a16:creationId xmlns:a16="http://schemas.microsoft.com/office/drawing/2014/main" id="{C8B371B3-598A-42D0-DA62-9261792C4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5495" y="3654212"/>
            <a:ext cx="353159" cy="353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7DB602A7-B1E3-CC46-6D0B-4CBEEED21802}"/>
              </a:ext>
            </a:extLst>
          </p:cNvPr>
          <p:cNvSpPr txBox="1"/>
          <p:nvPr/>
        </p:nvSpPr>
        <p:spPr>
          <a:xfrm>
            <a:off x="8427634" y="3648753"/>
            <a:ext cx="1909392" cy="5447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1450" indent="-171450" algn="l" defTabSz="22860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1"/>
                </a:solidFill>
              </a:rPr>
              <a:t>Order to collect option</a:t>
            </a:r>
          </a:p>
          <a:p>
            <a:pPr marL="171450" indent="-171450" algn="l" defTabSz="22860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1"/>
                </a:solidFill>
              </a:rPr>
              <a:t>Optimum vehicle usage</a:t>
            </a:r>
          </a:p>
        </p:txBody>
      </p:sp>
      <p:sp>
        <p:nvSpPr>
          <p:cNvPr id="119" name="Rectangle: Rounded Corners 175">
            <a:extLst>
              <a:ext uri="{FF2B5EF4-FFF2-40B4-BE49-F238E27FC236}">
                <a16:creationId xmlns:a16="http://schemas.microsoft.com/office/drawing/2014/main" id="{57326B29-671F-C033-4A8D-17BB1F6A7767}"/>
              </a:ext>
            </a:extLst>
          </p:cNvPr>
          <p:cNvSpPr/>
          <p:nvPr/>
        </p:nvSpPr>
        <p:spPr>
          <a:xfrm>
            <a:off x="6969744" y="4405078"/>
            <a:ext cx="3525908" cy="8508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      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120" name="Picture 8" descr="Production ">
            <a:extLst>
              <a:ext uri="{FF2B5EF4-FFF2-40B4-BE49-F238E27FC236}">
                <a16:creationId xmlns:a16="http://schemas.microsoft.com/office/drawing/2014/main" id="{420EFA1B-DA4F-C592-37CA-979C60C1E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5740" y="4628832"/>
            <a:ext cx="321054" cy="321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E6D8E217-93CD-9784-3992-9B0C9EF5DF35}"/>
              </a:ext>
            </a:extLst>
          </p:cNvPr>
          <p:cNvSpPr txBox="1"/>
          <p:nvPr/>
        </p:nvSpPr>
        <p:spPr>
          <a:xfrm>
            <a:off x="8418578" y="4568493"/>
            <a:ext cx="2144664" cy="5447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1450" indent="-171450" defTabSz="22860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1"/>
                </a:solidFill>
              </a:rPr>
              <a:t>Minimum downtime</a:t>
            </a:r>
          </a:p>
          <a:p>
            <a:pPr marL="171450" indent="-171450" algn="l" defTabSz="22860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1"/>
                </a:solidFill>
              </a:rPr>
              <a:t>Cheaper renewable energy options</a:t>
            </a:r>
          </a:p>
        </p:txBody>
      </p:sp>
      <p:sp>
        <p:nvSpPr>
          <p:cNvPr id="125" name="Rectangle: Rounded Corners 175">
            <a:extLst>
              <a:ext uri="{FF2B5EF4-FFF2-40B4-BE49-F238E27FC236}">
                <a16:creationId xmlns:a16="http://schemas.microsoft.com/office/drawing/2014/main" id="{9BFD5DAA-FB9B-CEC2-ACD3-6B29043E742C}"/>
              </a:ext>
            </a:extLst>
          </p:cNvPr>
          <p:cNvSpPr/>
          <p:nvPr/>
        </p:nvSpPr>
        <p:spPr>
          <a:xfrm>
            <a:off x="6991359" y="5435124"/>
            <a:ext cx="3504288" cy="8508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      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126" name="Picture 10" descr="Social marketing ">
            <a:extLst>
              <a:ext uri="{FF2B5EF4-FFF2-40B4-BE49-F238E27FC236}">
                <a16:creationId xmlns:a16="http://schemas.microsoft.com/office/drawing/2014/main" id="{242485F2-9D02-2778-C0D6-84BA7703A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7836" y="5672872"/>
            <a:ext cx="388475" cy="38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7" name="TextBox 126">
            <a:extLst>
              <a:ext uri="{FF2B5EF4-FFF2-40B4-BE49-F238E27FC236}">
                <a16:creationId xmlns:a16="http://schemas.microsoft.com/office/drawing/2014/main" id="{F0A67B1E-DE1A-24FD-1D00-F453BD584FAE}"/>
              </a:ext>
            </a:extLst>
          </p:cNvPr>
          <p:cNvSpPr txBox="1"/>
          <p:nvPr/>
        </p:nvSpPr>
        <p:spPr>
          <a:xfrm>
            <a:off x="8428923" y="5524674"/>
            <a:ext cx="1888703" cy="5447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1450" indent="-171450" algn="l" defTabSz="22860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1"/>
                </a:solidFill>
              </a:rPr>
              <a:t>Focused campaigns using analytics</a:t>
            </a:r>
          </a:p>
          <a:p>
            <a:pPr marL="171450" indent="-171450" algn="l" defTabSz="22860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1"/>
                </a:solidFill>
              </a:rPr>
              <a:t>Improving referrals to reduce acquisition cost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F0582580-F0CB-A387-ACA3-A412FA8932E0}"/>
              </a:ext>
            </a:extLst>
          </p:cNvPr>
          <p:cNvSpPr/>
          <p:nvPr/>
        </p:nvSpPr>
        <p:spPr>
          <a:xfrm>
            <a:off x="10563242" y="726966"/>
            <a:ext cx="1431567" cy="41217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400" dirty="0"/>
              <a:t>Value Enhancers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469B36A-5176-3738-7BBC-1788241EAD52}"/>
              </a:ext>
            </a:extLst>
          </p:cNvPr>
          <p:cNvSpPr txBox="1"/>
          <p:nvPr/>
        </p:nvSpPr>
        <p:spPr>
          <a:xfrm>
            <a:off x="10556761" y="1329716"/>
            <a:ext cx="1419166" cy="73947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Adapting continuously to fulfil diverse customer needs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674F3C59-736E-61AE-B770-854FE20BE145}"/>
              </a:ext>
            </a:extLst>
          </p:cNvPr>
          <p:cNvSpPr txBox="1"/>
          <p:nvPr/>
        </p:nvSpPr>
        <p:spPr>
          <a:xfrm>
            <a:off x="10570013" y="2380514"/>
            <a:ext cx="1419166" cy="73816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Providing affordable and sustainable solutions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D7C17691-9FA1-9EE5-B8FA-B5ABBEF5868D}"/>
              </a:ext>
            </a:extLst>
          </p:cNvPr>
          <p:cNvSpPr txBox="1"/>
          <p:nvPr/>
        </p:nvSpPr>
        <p:spPr>
          <a:xfrm>
            <a:off x="10584574" y="3542051"/>
            <a:ext cx="1419166" cy="5447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Convenience for customers in every stage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A588AD15-5E26-06CE-F252-C306E325FA84}"/>
              </a:ext>
            </a:extLst>
          </p:cNvPr>
          <p:cNvSpPr txBox="1"/>
          <p:nvPr/>
        </p:nvSpPr>
        <p:spPr>
          <a:xfrm>
            <a:off x="10584574" y="5563991"/>
            <a:ext cx="1419166" cy="5447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Relevant content/ campaigns for customers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D334D7D4-2005-F631-E262-9D38F4B5353E}"/>
              </a:ext>
            </a:extLst>
          </p:cNvPr>
          <p:cNvSpPr txBox="1"/>
          <p:nvPr/>
        </p:nvSpPr>
        <p:spPr>
          <a:xfrm>
            <a:off x="4053503" y="3948769"/>
            <a:ext cx="987381" cy="3171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noProof="0" dirty="0">
                <a:solidFill>
                  <a:schemeClr val="bg1"/>
                </a:solidFill>
              </a:rPr>
              <a:t>Cost to Search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82BC4D4D-DE6E-3AEC-448D-EA351D89AACE}"/>
              </a:ext>
            </a:extLst>
          </p:cNvPr>
          <p:cNvSpPr txBox="1"/>
          <p:nvPr/>
        </p:nvSpPr>
        <p:spPr>
          <a:xfrm>
            <a:off x="4036646" y="4649942"/>
            <a:ext cx="1086778" cy="23246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noProof="0" dirty="0">
                <a:solidFill>
                  <a:schemeClr val="bg1"/>
                </a:solidFill>
              </a:rPr>
              <a:t>Brand Awareness</a:t>
            </a:r>
          </a:p>
        </p:txBody>
      </p: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97158BCA-F482-7498-ADFA-169923C64C0C}"/>
              </a:ext>
            </a:extLst>
          </p:cNvPr>
          <p:cNvCxnSpPr>
            <a:cxnSpLocks/>
          </p:cNvCxnSpPr>
          <p:nvPr/>
        </p:nvCxnSpPr>
        <p:spPr>
          <a:xfrm flipH="1">
            <a:off x="199855" y="2117815"/>
            <a:ext cx="6684799" cy="23994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894567C3-F50A-969D-AD38-08BB688733CE}"/>
              </a:ext>
            </a:extLst>
          </p:cNvPr>
          <p:cNvCxnSpPr>
            <a:cxnSpLocks/>
          </p:cNvCxnSpPr>
          <p:nvPr/>
        </p:nvCxnSpPr>
        <p:spPr>
          <a:xfrm flipH="1">
            <a:off x="465808" y="5425887"/>
            <a:ext cx="6229053" cy="6561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44" name="Picture 20" descr="454102432">
            <a:extLst>
              <a:ext uri="{FF2B5EF4-FFF2-40B4-BE49-F238E27FC236}">
                <a16:creationId xmlns:a16="http://schemas.microsoft.com/office/drawing/2014/main" id="{C5D9424A-E6A4-6D43-71C8-5AF5C0F799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6115" y="3941042"/>
            <a:ext cx="411157" cy="411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6" name="TextBox 155">
            <a:extLst>
              <a:ext uri="{FF2B5EF4-FFF2-40B4-BE49-F238E27FC236}">
                <a16:creationId xmlns:a16="http://schemas.microsoft.com/office/drawing/2014/main" id="{27481CF6-40E4-B50F-2502-557AC06F9682}"/>
              </a:ext>
            </a:extLst>
          </p:cNvPr>
          <p:cNvSpPr txBox="1"/>
          <p:nvPr/>
        </p:nvSpPr>
        <p:spPr>
          <a:xfrm>
            <a:off x="5052341" y="3942574"/>
            <a:ext cx="1737910" cy="3568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algn="l" defTabSz="228600"/>
            <a:r>
              <a:rPr lang="en-US" sz="1200" dirty="0">
                <a:solidFill>
                  <a:schemeClr val="bg1"/>
                </a:solidFill>
              </a:rPr>
              <a:t>  - Multiple platforms</a:t>
            </a:r>
          </a:p>
          <a:p>
            <a:pPr algn="l" defTabSz="228600"/>
            <a:r>
              <a:rPr lang="en-US" sz="1200" dirty="0">
                <a:solidFill>
                  <a:schemeClr val="bg1"/>
                </a:solidFill>
              </a:rPr>
              <a:t>  - Focused campaigns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3AEEC44-B5F3-BD1E-3167-1EEE5C2186FF}"/>
              </a:ext>
            </a:extLst>
          </p:cNvPr>
          <p:cNvSpPr txBox="1"/>
          <p:nvPr/>
        </p:nvSpPr>
        <p:spPr>
          <a:xfrm>
            <a:off x="196474" y="1684418"/>
            <a:ext cx="1018439" cy="3080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ABC’s</a:t>
            </a:r>
            <a:r>
              <a:rPr lang="en-IN" sz="1200" noProof="0" dirty="0">
                <a:solidFill>
                  <a:schemeClr val="bg1"/>
                </a:solidFill>
              </a:rPr>
              <a:t> current share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ED96325E-B4AD-F1D7-9198-D92D0D4B1C5F}"/>
              </a:ext>
            </a:extLst>
          </p:cNvPr>
          <p:cNvSpPr txBox="1"/>
          <p:nvPr/>
        </p:nvSpPr>
        <p:spPr>
          <a:xfrm>
            <a:off x="1280336" y="1699383"/>
            <a:ext cx="1018441" cy="2927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Potential</a:t>
            </a:r>
            <a:r>
              <a:rPr lang="en-IN" sz="1200" noProof="0" dirty="0">
                <a:solidFill>
                  <a:schemeClr val="bg1"/>
                </a:solidFill>
              </a:rPr>
              <a:t> share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6E9BC3C7-A890-2358-7A47-8484AB1BC22B}"/>
              </a:ext>
            </a:extLst>
          </p:cNvPr>
          <p:cNvSpPr txBox="1"/>
          <p:nvPr/>
        </p:nvSpPr>
        <p:spPr>
          <a:xfrm>
            <a:off x="2431809" y="1713638"/>
            <a:ext cx="1018441" cy="2927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Total Industry Size</a:t>
            </a:r>
            <a:endParaRPr lang="en-IN" sz="1200" noProof="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EFCB6B-D64E-504C-6FCE-288977289D3B}"/>
              </a:ext>
            </a:extLst>
          </p:cNvPr>
          <p:cNvSpPr txBox="1"/>
          <p:nvPr/>
        </p:nvSpPr>
        <p:spPr>
          <a:xfrm>
            <a:off x="5044720" y="4579004"/>
            <a:ext cx="1737910" cy="3568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algn="l" defTabSz="228600"/>
            <a:r>
              <a:rPr lang="en-US" sz="1200" dirty="0">
                <a:solidFill>
                  <a:schemeClr val="bg1"/>
                </a:solidFill>
              </a:rPr>
              <a:t>  - Variety of products</a:t>
            </a:r>
          </a:p>
          <a:p>
            <a:pPr algn="l" defTabSz="228600"/>
            <a:r>
              <a:rPr lang="en-US" sz="1200" dirty="0">
                <a:solidFill>
                  <a:schemeClr val="bg1"/>
                </a:solidFill>
              </a:rPr>
              <a:t>  - Focused campaigns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E264B55-9ECA-7874-460A-36137422F120}"/>
              </a:ext>
            </a:extLst>
          </p:cNvPr>
          <p:cNvGrpSpPr/>
          <p:nvPr/>
        </p:nvGrpSpPr>
        <p:grpSpPr>
          <a:xfrm>
            <a:off x="404336" y="660439"/>
            <a:ext cx="3029060" cy="938707"/>
            <a:chOff x="279641" y="757424"/>
            <a:chExt cx="3029060" cy="938707"/>
          </a:xfrm>
        </p:grpSpPr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345C8702-A666-8169-428F-E52E6C0426D0}"/>
                </a:ext>
              </a:extLst>
            </p:cNvPr>
            <p:cNvSpPr/>
            <p:nvPr/>
          </p:nvSpPr>
          <p:spPr>
            <a:xfrm>
              <a:off x="279641" y="1060868"/>
              <a:ext cx="671259" cy="608869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EC246032-F7AA-9194-0947-F7B888A270D8}"/>
                </a:ext>
              </a:extLst>
            </p:cNvPr>
            <p:cNvSpPr/>
            <p:nvPr/>
          </p:nvSpPr>
          <p:spPr>
            <a:xfrm>
              <a:off x="1278140" y="903828"/>
              <a:ext cx="814257" cy="783783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latin typeface="+mj-lt"/>
                  <a:cs typeface="Arial" panose="020B0604020202020204" pitchFamily="34" charset="0"/>
                </a:rPr>
                <a:t>$0.49 Bn</a:t>
              </a:r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DC62CA60-8CBF-C15A-48E5-DDEB2A196171}"/>
                </a:ext>
              </a:extLst>
            </p:cNvPr>
            <p:cNvSpPr/>
            <p:nvPr/>
          </p:nvSpPr>
          <p:spPr>
            <a:xfrm>
              <a:off x="2349934" y="757424"/>
              <a:ext cx="958767" cy="938707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latin typeface="+mj-lt"/>
                  <a:cs typeface="Arial" panose="020B0604020202020204" pitchFamily="34" charset="0"/>
                </a:rPr>
                <a:t>$7 Bn</a:t>
              </a:r>
            </a:p>
          </p:txBody>
        </p:sp>
        <p:pic>
          <p:nvPicPr>
            <p:cNvPr id="1052" name="Picture 28" descr="Diagonal arrow ">
              <a:extLst>
                <a:ext uri="{FF2B5EF4-FFF2-40B4-BE49-F238E27FC236}">
                  <a16:creationId xmlns:a16="http://schemas.microsoft.com/office/drawing/2014/main" id="{84356671-F00F-7C5B-DCB8-E00CCD6090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8820" y="1002343"/>
              <a:ext cx="353159" cy="3531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6" name="Picture 32" descr="Diagonal arrow ">
              <a:extLst>
                <a:ext uri="{FF2B5EF4-FFF2-40B4-BE49-F238E27FC236}">
                  <a16:creationId xmlns:a16="http://schemas.microsoft.com/office/drawing/2014/main" id="{7E16311A-84B2-BC79-8C0A-905D8BA8AA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393" y="1285128"/>
              <a:ext cx="353159" cy="3531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7" name="Picture 28" descr="Diagonal arrow ">
              <a:extLst>
                <a:ext uri="{FF2B5EF4-FFF2-40B4-BE49-F238E27FC236}">
                  <a16:creationId xmlns:a16="http://schemas.microsoft.com/office/drawing/2014/main" id="{57B490F3-CCFA-EF83-6F7F-262B1CD038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7668" y="945370"/>
              <a:ext cx="319049" cy="3190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8" name="Picture 32" descr="Diagonal arrow ">
              <a:extLst>
                <a:ext uri="{FF2B5EF4-FFF2-40B4-BE49-F238E27FC236}">
                  <a16:creationId xmlns:a16="http://schemas.microsoft.com/office/drawing/2014/main" id="{BEA92DC5-F132-C0BC-DCCC-8EAEF9836E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1343" y="1212336"/>
              <a:ext cx="353159" cy="3531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6612067-03D2-1A96-2151-F950DCAB9DB7}"/>
                </a:ext>
              </a:extLst>
            </p:cNvPr>
            <p:cNvSpPr txBox="1"/>
            <p:nvPr/>
          </p:nvSpPr>
          <p:spPr>
            <a:xfrm>
              <a:off x="313054" y="1208980"/>
              <a:ext cx="582554" cy="2958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defTabSz="228600">
                <a:spcAft>
                  <a:spcPts val="1200"/>
                </a:spcAft>
              </a:pPr>
              <a:r>
                <a:rPr lang="en-IN" sz="1400" dirty="0">
                  <a:latin typeface="+mj-lt"/>
                  <a:cs typeface="Arial" panose="020B0604020202020204" pitchFamily="34" charset="0"/>
                </a:rPr>
                <a:t>$0.05 Bn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34F7BB56-9CD4-F887-C555-1E775C2A667F}"/>
              </a:ext>
            </a:extLst>
          </p:cNvPr>
          <p:cNvSpPr/>
          <p:nvPr/>
        </p:nvSpPr>
        <p:spPr>
          <a:xfrm>
            <a:off x="4209440" y="1773351"/>
            <a:ext cx="2158690" cy="25592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400" dirty="0"/>
              <a:t>Sample Persona</a:t>
            </a:r>
          </a:p>
        </p:txBody>
      </p:sp>
      <p:pic>
        <p:nvPicPr>
          <p:cNvPr id="16" name="Graphic 15" descr="Scales of justice outline">
            <a:extLst>
              <a:ext uri="{FF2B5EF4-FFF2-40B4-BE49-F238E27FC236}">
                <a16:creationId xmlns:a16="http://schemas.microsoft.com/office/drawing/2014/main" id="{AAF53EDD-CBEE-C594-C43C-8B221560460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567858" y="3313869"/>
            <a:ext cx="443504" cy="44350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76B6A36-1F9A-A49A-CCE5-AAC5342515FB}"/>
              </a:ext>
            </a:extLst>
          </p:cNvPr>
          <p:cNvSpPr/>
          <p:nvPr/>
        </p:nvSpPr>
        <p:spPr>
          <a:xfrm>
            <a:off x="7407340" y="1593453"/>
            <a:ext cx="948512" cy="293029"/>
          </a:xfrm>
          <a:prstGeom prst="rect">
            <a:avLst/>
          </a:prstGeom>
          <a:noFill/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Innovation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1F8DB8-1E2A-DD7C-0D98-9A1C7229B00D}"/>
              </a:ext>
            </a:extLst>
          </p:cNvPr>
          <p:cNvSpPr/>
          <p:nvPr/>
        </p:nvSpPr>
        <p:spPr>
          <a:xfrm>
            <a:off x="7403901" y="2664105"/>
            <a:ext cx="979058" cy="291914"/>
          </a:xfrm>
          <a:prstGeom prst="rect">
            <a:avLst/>
          </a:prstGeom>
          <a:noFill/>
          <a:ln>
            <a:solidFill>
              <a:srgbClr val="780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919A00-ABF0-D74B-5B1A-A92CB2D0CDBE}"/>
              </a:ext>
            </a:extLst>
          </p:cNvPr>
          <p:cNvSpPr/>
          <p:nvPr/>
        </p:nvSpPr>
        <p:spPr>
          <a:xfrm>
            <a:off x="7451843" y="3704047"/>
            <a:ext cx="920802" cy="299239"/>
          </a:xfrm>
          <a:prstGeom prst="rect">
            <a:avLst/>
          </a:prstGeom>
          <a:noFill/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Logistics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37DCFB-B660-040E-9268-047E8AED0AC3}"/>
              </a:ext>
            </a:extLst>
          </p:cNvPr>
          <p:cNvSpPr/>
          <p:nvPr/>
        </p:nvSpPr>
        <p:spPr>
          <a:xfrm>
            <a:off x="7424133" y="4692454"/>
            <a:ext cx="948512" cy="293029"/>
          </a:xfrm>
          <a:prstGeom prst="rect">
            <a:avLst/>
          </a:prstGeom>
          <a:noFill/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sz="1200" dirty="0">
              <a:ln w="0"/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9E6C7F-54F6-580A-5D4F-47167DF2CB89}"/>
              </a:ext>
            </a:extLst>
          </p:cNvPr>
          <p:cNvSpPr txBox="1"/>
          <p:nvPr/>
        </p:nvSpPr>
        <p:spPr>
          <a:xfrm>
            <a:off x="7509441" y="4734019"/>
            <a:ext cx="943396" cy="2769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IN" sz="1200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Production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9A2B861-C6D4-2C23-212E-FC30A0865F9C}"/>
              </a:ext>
            </a:extLst>
          </p:cNvPr>
          <p:cNvSpPr/>
          <p:nvPr/>
        </p:nvSpPr>
        <p:spPr>
          <a:xfrm>
            <a:off x="7470066" y="5707496"/>
            <a:ext cx="902579" cy="288072"/>
          </a:xfrm>
          <a:prstGeom prst="rect">
            <a:avLst/>
          </a:prstGeom>
          <a:noFill/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Marketing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46CB3F2-DFA6-DC63-C914-87CCF6FC472D}"/>
              </a:ext>
            </a:extLst>
          </p:cNvPr>
          <p:cNvSpPr/>
          <p:nvPr/>
        </p:nvSpPr>
        <p:spPr>
          <a:xfrm>
            <a:off x="10586276" y="1257767"/>
            <a:ext cx="1448289" cy="880105"/>
          </a:xfrm>
          <a:prstGeom prst="roundRect">
            <a:avLst/>
          </a:prstGeom>
          <a:noFill/>
          <a:ln>
            <a:solidFill>
              <a:srgbClr val="780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11BEB80-1081-C182-BD92-82A7CCC8C458}"/>
              </a:ext>
            </a:extLst>
          </p:cNvPr>
          <p:cNvSpPr/>
          <p:nvPr/>
        </p:nvSpPr>
        <p:spPr>
          <a:xfrm>
            <a:off x="10563242" y="2339708"/>
            <a:ext cx="1448289" cy="880105"/>
          </a:xfrm>
          <a:prstGeom prst="roundRect">
            <a:avLst/>
          </a:prstGeom>
          <a:noFill/>
          <a:ln>
            <a:solidFill>
              <a:srgbClr val="780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DC7ECC25-76BE-61B9-6A12-0753BDF4022D}"/>
              </a:ext>
            </a:extLst>
          </p:cNvPr>
          <p:cNvSpPr/>
          <p:nvPr/>
        </p:nvSpPr>
        <p:spPr>
          <a:xfrm>
            <a:off x="10570013" y="3396768"/>
            <a:ext cx="1448289" cy="880105"/>
          </a:xfrm>
          <a:prstGeom prst="roundRect">
            <a:avLst/>
          </a:prstGeom>
          <a:noFill/>
          <a:ln>
            <a:solidFill>
              <a:srgbClr val="780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45EEEA3-217C-15A4-CDDF-E8B1DCB891B2}"/>
              </a:ext>
            </a:extLst>
          </p:cNvPr>
          <p:cNvSpPr/>
          <p:nvPr/>
        </p:nvSpPr>
        <p:spPr>
          <a:xfrm>
            <a:off x="10563242" y="4411703"/>
            <a:ext cx="1448289" cy="880106"/>
          </a:xfrm>
          <a:prstGeom prst="roundRect">
            <a:avLst/>
          </a:prstGeom>
          <a:noFill/>
          <a:ln>
            <a:solidFill>
              <a:srgbClr val="780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2E63C40-9FB6-5B22-283B-3E3A6EDA3448}"/>
              </a:ext>
            </a:extLst>
          </p:cNvPr>
          <p:cNvSpPr/>
          <p:nvPr/>
        </p:nvSpPr>
        <p:spPr>
          <a:xfrm>
            <a:off x="10544203" y="5411425"/>
            <a:ext cx="1448289" cy="880106"/>
          </a:xfrm>
          <a:prstGeom prst="roundRect">
            <a:avLst/>
          </a:prstGeom>
          <a:noFill/>
          <a:ln>
            <a:solidFill>
              <a:srgbClr val="780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D87D82-2CB6-4392-3551-A22562E9891B}"/>
              </a:ext>
            </a:extLst>
          </p:cNvPr>
          <p:cNvSpPr txBox="1"/>
          <p:nvPr/>
        </p:nvSpPr>
        <p:spPr>
          <a:xfrm>
            <a:off x="10564381" y="4566053"/>
            <a:ext cx="1419166" cy="5447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Standardized quality products with high trust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76DE37-8494-0AAB-DF9D-A88DA1FAE984}"/>
              </a:ext>
            </a:extLst>
          </p:cNvPr>
          <p:cNvSpPr txBox="1"/>
          <p:nvPr/>
        </p:nvSpPr>
        <p:spPr>
          <a:xfrm>
            <a:off x="7422617" y="2689588"/>
            <a:ext cx="970209" cy="2919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Procurement</a:t>
            </a:r>
            <a:endParaRPr lang="en-US" sz="1200" noProof="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8740F36-3DF3-5617-BD22-85BC96305C58}"/>
              </a:ext>
            </a:extLst>
          </p:cNvPr>
          <p:cNvSpPr/>
          <p:nvPr/>
        </p:nvSpPr>
        <p:spPr>
          <a:xfrm>
            <a:off x="4941278" y="6012254"/>
            <a:ext cx="2038833" cy="4182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Large data collection due to larger penetration</a:t>
            </a:r>
          </a:p>
        </p:txBody>
      </p:sp>
    </p:spTree>
    <p:extLst>
      <p:ext uri="{BB962C8B-B14F-4D97-AF65-F5344CB8AC3E}">
        <p14:creationId xmlns:p14="http://schemas.microsoft.com/office/powerpoint/2010/main" val="1339116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>
            <a:extLst>
              <a:ext uri="{FF2B5EF4-FFF2-40B4-BE49-F238E27FC236}">
                <a16:creationId xmlns:a16="http://schemas.microsoft.com/office/drawing/2014/main" id="{D82A0B4C-43FD-5186-668A-F1CF88ACD0C4}"/>
              </a:ext>
            </a:extLst>
          </p:cNvPr>
          <p:cNvGrpSpPr/>
          <p:nvPr/>
        </p:nvGrpSpPr>
        <p:grpSpPr>
          <a:xfrm>
            <a:off x="460474" y="4557914"/>
            <a:ext cx="4145210" cy="2104452"/>
            <a:chOff x="243754" y="496804"/>
            <a:chExt cx="4145210" cy="210445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A0D6632-BE18-5BF9-8E91-5BEE9C10B195}"/>
                </a:ext>
              </a:extLst>
            </p:cNvPr>
            <p:cNvSpPr/>
            <p:nvPr/>
          </p:nvSpPr>
          <p:spPr>
            <a:xfrm>
              <a:off x="932204" y="651229"/>
              <a:ext cx="3422383" cy="294317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“ Naya </a:t>
              </a:r>
              <a:r>
                <a:rPr lang="en-US" b="1" dirty="0" err="1">
                  <a:solidFill>
                    <a:schemeClr val="tx1"/>
                  </a:solidFill>
                </a:rPr>
                <a:t>Saaz</a:t>
              </a:r>
              <a:r>
                <a:rPr lang="en-US" b="1" dirty="0">
                  <a:solidFill>
                    <a:schemeClr val="tx1"/>
                  </a:solidFill>
                </a:rPr>
                <a:t>, Naya Rishta”</a:t>
              </a:r>
              <a:endParaRPr 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132555B-6C49-3E6D-796E-96F785E257A1}"/>
                </a:ext>
              </a:extLst>
            </p:cNvPr>
            <p:cNvSpPr txBox="1"/>
            <p:nvPr/>
          </p:nvSpPr>
          <p:spPr>
            <a:xfrm>
              <a:off x="1150361" y="947543"/>
              <a:ext cx="276449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i="1" dirty="0">
                  <a:solidFill>
                    <a:schemeClr val="bg1"/>
                  </a:solidFill>
                  <a:latin typeface="Carlito"/>
                </a:rPr>
                <a:t>What festivals mean to engaged Customers?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00E16FE-EA60-BB26-47DA-C3D3E17ABF7F}"/>
                </a:ext>
              </a:extLst>
            </p:cNvPr>
            <p:cNvSpPr txBox="1"/>
            <p:nvPr/>
          </p:nvSpPr>
          <p:spPr>
            <a:xfrm>
              <a:off x="483677" y="1435098"/>
              <a:ext cx="2879856" cy="1166158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  <a:prstDash val="dash"/>
            </a:ln>
          </p:spPr>
          <p:txBody>
            <a:bodyPr wrap="square" lIns="36000" tIns="54000" rIns="36000" bIns="3600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Concept</a:t>
              </a:r>
              <a:r>
                <a:rPr lang="en-US" sz="1200" dirty="0">
                  <a:solidFill>
                    <a:schemeClr val="bg1"/>
                  </a:solidFill>
                </a:rPr>
                <a:t>: Run campaigns like </a:t>
              </a:r>
              <a:r>
                <a:rPr lang="en-US" sz="1200" b="1" dirty="0">
                  <a:solidFill>
                    <a:schemeClr val="bg1"/>
                  </a:solidFill>
                </a:rPr>
                <a:t>“</a:t>
              </a:r>
              <a:r>
                <a:rPr lang="en-US" sz="1200" b="1" i="1" dirty="0">
                  <a:solidFill>
                    <a:schemeClr val="bg1"/>
                  </a:solidFill>
                </a:rPr>
                <a:t>This Diwali, Make a change”</a:t>
              </a:r>
              <a:r>
                <a:rPr lang="en-US" sz="1200" dirty="0">
                  <a:solidFill>
                    <a:schemeClr val="bg1"/>
                  </a:solidFill>
                </a:rPr>
                <a:t> &amp; </a:t>
              </a:r>
              <a:r>
                <a:rPr lang="en-US" sz="1200" b="1" dirty="0">
                  <a:solidFill>
                    <a:schemeClr val="bg1"/>
                  </a:solidFill>
                </a:rPr>
                <a:t>“</a:t>
              </a:r>
              <a:r>
                <a:rPr lang="en-US" sz="1200" b="1" i="1" dirty="0">
                  <a:solidFill>
                    <a:schemeClr val="bg1"/>
                  </a:solidFill>
                </a:rPr>
                <a:t>no to crackers”,</a:t>
              </a:r>
              <a:r>
                <a:rPr lang="en-US" sz="1200" dirty="0">
                  <a:solidFill>
                    <a:schemeClr val="bg1"/>
                  </a:solidFill>
                </a:rPr>
                <a:t> showing the family spreading a new air purifying bedsheets &amp; comforters in a home filled with </a:t>
              </a:r>
              <a:r>
                <a:rPr lang="en-US" sz="1200" dirty="0" err="1">
                  <a:solidFill>
                    <a:schemeClr val="bg1"/>
                  </a:solidFill>
                </a:rPr>
                <a:t>Diyas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A5380431-EE86-C7BD-D6D3-BDEA29978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18953" y="1409208"/>
              <a:ext cx="970011" cy="116615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59" name="Graphic 58" descr="Ribbon">
              <a:extLst>
                <a:ext uri="{FF2B5EF4-FFF2-40B4-BE49-F238E27FC236}">
                  <a16:creationId xmlns:a16="http://schemas.microsoft.com/office/drawing/2014/main" id="{6509355C-25C6-A715-55AA-C50F5B75B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43754" y="496804"/>
              <a:ext cx="936861" cy="914400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1D36A0A-3199-B9CE-A7ED-525493768282}"/>
              </a:ext>
            </a:extLst>
          </p:cNvPr>
          <p:cNvGrpSpPr/>
          <p:nvPr/>
        </p:nvGrpSpPr>
        <p:grpSpPr>
          <a:xfrm>
            <a:off x="514361" y="2429475"/>
            <a:ext cx="4091323" cy="2104544"/>
            <a:chOff x="6258463" y="3805912"/>
            <a:chExt cx="4091323" cy="2104544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27FF1D8-3DA1-CB3E-489B-4B40A7EB2A81}"/>
                </a:ext>
              </a:extLst>
            </p:cNvPr>
            <p:cNvSpPr/>
            <p:nvPr/>
          </p:nvSpPr>
          <p:spPr>
            <a:xfrm>
              <a:off x="6969849" y="3980005"/>
              <a:ext cx="3379937" cy="24308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#GoGreenWithABC</a:t>
              </a:r>
              <a:endParaRPr 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B2EB27F-8E94-09DC-C349-819FE1C15996}"/>
                </a:ext>
              </a:extLst>
            </p:cNvPr>
            <p:cNvSpPr txBox="1"/>
            <p:nvPr/>
          </p:nvSpPr>
          <p:spPr>
            <a:xfrm>
              <a:off x="7121060" y="4211776"/>
              <a:ext cx="3058670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en-US" sz="1200" i="1" dirty="0">
                  <a:solidFill>
                    <a:schemeClr val="bg1"/>
                  </a:solidFill>
                  <a:latin typeface="Carlito"/>
                </a:rPr>
                <a:t>Our customers are becoming environment conscious by the day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D77A6AD-EA02-9EB3-B635-470940E0C03E}"/>
                </a:ext>
              </a:extLst>
            </p:cNvPr>
            <p:cNvSpPr txBox="1"/>
            <p:nvPr/>
          </p:nvSpPr>
          <p:spPr>
            <a:xfrm>
              <a:off x="6417366" y="4744298"/>
              <a:ext cx="2793529" cy="1166158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  <a:prstDash val="dash"/>
            </a:ln>
          </p:spPr>
          <p:txBody>
            <a:bodyPr wrap="square" lIns="36000" tIns="54000" rIns="36000" bIns="3600" rtlCol="0" anchor="t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Concept</a:t>
              </a:r>
              <a:r>
                <a:rPr lang="en-US" sz="1200" dirty="0">
                  <a:solidFill>
                    <a:schemeClr val="bg1"/>
                  </a:solidFill>
                </a:rPr>
                <a:t>: Run social media campaigns with the hashtag #GoGreenWithABC to engage customers. With this, we will provide customers discount coupons if they return their used towels &amp; bedsheets</a:t>
              </a:r>
            </a:p>
          </p:txBody>
        </p:sp>
        <p:pic>
          <p:nvPicPr>
            <p:cNvPr id="58" name="Graphic 57" descr="Ribbon">
              <a:extLst>
                <a:ext uri="{FF2B5EF4-FFF2-40B4-BE49-F238E27FC236}">
                  <a16:creationId xmlns:a16="http://schemas.microsoft.com/office/drawing/2014/main" id="{A3676297-0910-F715-83CB-7B76418585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258463" y="3805912"/>
              <a:ext cx="936861" cy="914400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6C6A203B-005E-448F-3DD9-E03150365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292537" y="4720312"/>
              <a:ext cx="970011" cy="1190144"/>
            </a:xfrm>
            <a:prstGeom prst="rect">
              <a:avLst/>
            </a:prstGeom>
          </p:spPr>
        </p:pic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F5CCB62-C5D8-0B6F-C09F-CF76809D780E}"/>
              </a:ext>
            </a:extLst>
          </p:cNvPr>
          <p:cNvGrpSpPr/>
          <p:nvPr/>
        </p:nvGrpSpPr>
        <p:grpSpPr>
          <a:xfrm>
            <a:off x="605148" y="301036"/>
            <a:ext cx="4185921" cy="2104545"/>
            <a:chOff x="5545246" y="3761729"/>
            <a:chExt cx="4185921" cy="2104545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78C60A0-5EC1-AC36-C136-74F6EF5D2750}"/>
                </a:ext>
              </a:extLst>
            </p:cNvPr>
            <p:cNvGrpSpPr/>
            <p:nvPr/>
          </p:nvGrpSpPr>
          <p:grpSpPr>
            <a:xfrm>
              <a:off x="5545246" y="3761729"/>
              <a:ext cx="4084210" cy="914400"/>
              <a:chOff x="-65988" y="324081"/>
              <a:chExt cx="3986291" cy="914400"/>
            </a:xfrm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A3DA127A-0EA3-7DAC-F388-595D60D119D5}"/>
                  </a:ext>
                </a:extLst>
              </p:cNvPr>
              <p:cNvSpPr/>
              <p:nvPr/>
            </p:nvSpPr>
            <p:spPr>
              <a:xfrm>
                <a:off x="605928" y="504066"/>
                <a:ext cx="3314375" cy="231303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#AbHarGharABC</a:t>
                </a:r>
                <a:endParaRPr lang="en-US" sz="1800" b="1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72" name="Graphic 71" descr="Ribbon">
                <a:extLst>
                  <a:ext uri="{FF2B5EF4-FFF2-40B4-BE49-F238E27FC236}">
                    <a16:creationId xmlns:a16="http://schemas.microsoft.com/office/drawing/2014/main" id="{7655792D-EFBE-4AFA-EBAC-37673FE949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-65988" y="32408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89E6E04-17A2-8B4C-9139-46ABDF0511C9}"/>
                </a:ext>
              </a:extLst>
            </p:cNvPr>
            <p:cNvSpPr txBox="1"/>
            <p:nvPr/>
          </p:nvSpPr>
          <p:spPr>
            <a:xfrm>
              <a:off x="6249519" y="4238450"/>
              <a:ext cx="3481648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en-US" sz="1200" i="1" dirty="0">
                  <a:solidFill>
                    <a:schemeClr val="bg1"/>
                  </a:solidFill>
                  <a:latin typeface="Carlito"/>
                </a:rPr>
                <a:t>Tier 2 penetration of organized home textile brands is less due to less brand conscious consumers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46991D4-AA2E-C4BB-2132-365D7C9C650C}"/>
                </a:ext>
              </a:extLst>
            </p:cNvPr>
            <p:cNvSpPr txBox="1"/>
            <p:nvPr/>
          </p:nvSpPr>
          <p:spPr>
            <a:xfrm>
              <a:off x="5701190" y="4700116"/>
              <a:ext cx="2793529" cy="1166158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  <a:prstDash val="dash"/>
            </a:ln>
          </p:spPr>
          <p:txBody>
            <a:bodyPr wrap="square" lIns="36000" tIns="54000" rIns="36000" bIns="3600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Concept</a:t>
              </a:r>
              <a:r>
                <a:rPr lang="en-US" sz="1200" dirty="0">
                  <a:solidFill>
                    <a:schemeClr val="bg1"/>
                  </a:solidFill>
                </a:rPr>
                <a:t>: Pioneering the Hostess Group Demonstrations in order to tap into the power of women’s social networks for personalized demonstrations of bed and bath linen products.</a:t>
              </a:r>
            </a:p>
          </p:txBody>
        </p:sp>
        <p:pic>
          <p:nvPicPr>
            <p:cNvPr id="70" name="Picture 6" descr="GEM Global Entrepreneurship Monitor">
              <a:extLst>
                <a:ext uri="{FF2B5EF4-FFF2-40B4-BE49-F238E27FC236}">
                  <a16:creationId xmlns:a16="http://schemas.microsoft.com/office/drawing/2014/main" id="{C59686C9-7809-2E28-3BFA-2C3AC968CE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5771" y="4676130"/>
              <a:ext cx="970011" cy="11901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2BB97175-E1DE-E289-08AF-6ADAB909D62D}"/>
              </a:ext>
            </a:extLst>
          </p:cNvPr>
          <p:cNvCxnSpPr>
            <a:cxnSpLocks/>
          </p:cNvCxnSpPr>
          <p:nvPr/>
        </p:nvCxnSpPr>
        <p:spPr>
          <a:xfrm>
            <a:off x="5058152" y="1810509"/>
            <a:ext cx="6710979" cy="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26590882-331B-DE3A-28FA-031CD9B0C105}"/>
              </a:ext>
            </a:extLst>
          </p:cNvPr>
          <p:cNvCxnSpPr>
            <a:cxnSpLocks/>
          </p:cNvCxnSpPr>
          <p:nvPr/>
        </p:nvCxnSpPr>
        <p:spPr>
          <a:xfrm flipV="1">
            <a:off x="4910570" y="322421"/>
            <a:ext cx="0" cy="6213158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4" name="Rectangle: Rounded Corners 114">
            <a:extLst>
              <a:ext uri="{FF2B5EF4-FFF2-40B4-BE49-F238E27FC236}">
                <a16:creationId xmlns:a16="http://schemas.microsoft.com/office/drawing/2014/main" id="{4C81AFA5-5061-F619-BF15-30719292E3FB}"/>
              </a:ext>
            </a:extLst>
          </p:cNvPr>
          <p:cNvSpPr/>
          <p:nvPr/>
        </p:nvSpPr>
        <p:spPr>
          <a:xfrm>
            <a:off x="238337" y="380552"/>
            <a:ext cx="284395" cy="60341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vert270"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Our Campaigns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42955C0-D6C2-48DE-6E86-8E1AC31BCEEB}"/>
              </a:ext>
            </a:extLst>
          </p:cNvPr>
          <p:cNvCxnSpPr>
            <a:cxnSpLocks/>
          </p:cNvCxnSpPr>
          <p:nvPr/>
        </p:nvCxnSpPr>
        <p:spPr>
          <a:xfrm>
            <a:off x="4910570" y="4401308"/>
            <a:ext cx="7139147" cy="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object 17">
            <a:extLst>
              <a:ext uri="{FF2B5EF4-FFF2-40B4-BE49-F238E27FC236}">
                <a16:creationId xmlns:a16="http://schemas.microsoft.com/office/drawing/2014/main" id="{E525A018-C20A-5263-A77A-99F05E946340}"/>
              </a:ext>
            </a:extLst>
          </p:cNvPr>
          <p:cNvSpPr txBox="1"/>
          <p:nvPr/>
        </p:nvSpPr>
        <p:spPr>
          <a:xfrm>
            <a:off x="5058152" y="1876833"/>
            <a:ext cx="6710978" cy="479619"/>
          </a:xfrm>
          <a:prstGeom prst="rect">
            <a:avLst/>
          </a:prstGeom>
          <a:solidFill>
            <a:srgbClr val="ECCCFF"/>
          </a:solidFill>
        </p:spPr>
        <p:txBody>
          <a:bodyPr vert="horz" wrap="square" lIns="0" tIns="5080" rIns="0" bIns="0" rtlCol="0">
            <a:spAutoFit/>
          </a:bodyPr>
          <a:lstStyle/>
          <a:p>
            <a:pPr marL="290830" algn="ctr">
              <a:lnSpc>
                <a:spcPct val="100000"/>
              </a:lnSpc>
              <a:spcBef>
                <a:spcPts val="40"/>
              </a:spcBef>
            </a:pPr>
            <a:r>
              <a:rPr sz="1400" b="1" i="1" dirty="0">
                <a:solidFill>
                  <a:schemeClr val="accent4"/>
                </a:solidFill>
                <a:latin typeface="Calibri"/>
                <a:cs typeface="Calibri"/>
              </a:rPr>
              <a:t>A </a:t>
            </a:r>
            <a:r>
              <a:rPr sz="1400" b="1" i="1" spc="-5" dirty="0">
                <a:solidFill>
                  <a:schemeClr val="accent4"/>
                </a:solidFill>
                <a:latin typeface="Calibri"/>
                <a:cs typeface="Calibri"/>
              </a:rPr>
              <a:t>survey</a:t>
            </a:r>
            <a:r>
              <a:rPr sz="1400" b="1" i="1" spc="20" dirty="0">
                <a:solidFill>
                  <a:schemeClr val="accent4"/>
                </a:solidFill>
                <a:latin typeface="Calibri"/>
                <a:cs typeface="Calibri"/>
              </a:rPr>
              <a:t> </a:t>
            </a:r>
            <a:r>
              <a:rPr sz="1400" b="1" i="1" spc="-5" dirty="0">
                <a:solidFill>
                  <a:schemeClr val="accent4"/>
                </a:solidFill>
                <a:latin typeface="Calibri"/>
                <a:cs typeface="Calibri"/>
              </a:rPr>
              <a:t>questionnaire</a:t>
            </a:r>
            <a:r>
              <a:rPr sz="1400" b="1" i="1" spc="15" dirty="0">
                <a:solidFill>
                  <a:schemeClr val="accent4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chemeClr val="accent4"/>
                </a:solidFill>
                <a:latin typeface="Calibri"/>
                <a:cs typeface="Calibri"/>
              </a:rPr>
              <a:t>was</a:t>
            </a:r>
            <a:r>
              <a:rPr sz="1400" b="1" i="1" spc="15" dirty="0">
                <a:solidFill>
                  <a:schemeClr val="accent4"/>
                </a:solidFill>
                <a:latin typeface="Calibri"/>
                <a:cs typeface="Calibri"/>
              </a:rPr>
              <a:t> </a:t>
            </a:r>
            <a:r>
              <a:rPr sz="1400" b="1" i="1" spc="-5" dirty="0">
                <a:solidFill>
                  <a:schemeClr val="accent4"/>
                </a:solidFill>
                <a:latin typeface="Calibri"/>
                <a:cs typeface="Calibri"/>
              </a:rPr>
              <a:t>floated amongst</a:t>
            </a:r>
            <a:r>
              <a:rPr sz="1400" b="1" i="1" spc="15" dirty="0">
                <a:solidFill>
                  <a:schemeClr val="accent4"/>
                </a:solidFill>
                <a:latin typeface="Calibri"/>
                <a:cs typeface="Calibri"/>
              </a:rPr>
              <a:t> </a:t>
            </a:r>
            <a:r>
              <a:rPr lang="en-IN" sz="1400" b="1" i="1" spc="-5" dirty="0">
                <a:solidFill>
                  <a:schemeClr val="accent4"/>
                </a:solidFill>
                <a:latin typeface="Calibri"/>
                <a:cs typeface="Calibri"/>
              </a:rPr>
              <a:t>the</a:t>
            </a:r>
            <a:r>
              <a:rPr sz="1400" b="1" i="1" spc="20" dirty="0">
                <a:solidFill>
                  <a:schemeClr val="accent4"/>
                </a:solidFill>
                <a:latin typeface="Calibri"/>
                <a:cs typeface="Calibri"/>
              </a:rPr>
              <a:t> </a:t>
            </a:r>
            <a:r>
              <a:rPr sz="1400" b="1" i="1" spc="-5" dirty="0">
                <a:solidFill>
                  <a:schemeClr val="accent4"/>
                </a:solidFill>
                <a:latin typeface="Calibri"/>
                <a:cs typeface="Calibri"/>
              </a:rPr>
              <a:t>users</a:t>
            </a:r>
            <a:r>
              <a:rPr sz="1400" b="1" i="1" spc="15" dirty="0">
                <a:solidFill>
                  <a:schemeClr val="accent4"/>
                </a:solidFill>
                <a:latin typeface="Calibri"/>
                <a:cs typeface="Calibri"/>
              </a:rPr>
              <a:t> </a:t>
            </a:r>
            <a:r>
              <a:rPr sz="1400" b="1" i="1" spc="-5" dirty="0">
                <a:solidFill>
                  <a:schemeClr val="accent4"/>
                </a:solidFill>
                <a:latin typeface="Calibri"/>
                <a:cs typeface="Calibri"/>
              </a:rPr>
              <a:t>to</a:t>
            </a:r>
            <a:r>
              <a:rPr sz="1400" b="1" i="1" spc="10" dirty="0">
                <a:solidFill>
                  <a:schemeClr val="accent4"/>
                </a:solidFill>
                <a:latin typeface="Calibri"/>
                <a:cs typeface="Calibri"/>
              </a:rPr>
              <a:t> </a:t>
            </a:r>
            <a:r>
              <a:rPr sz="1400" b="1" i="1" spc="-5" dirty="0">
                <a:solidFill>
                  <a:schemeClr val="accent4"/>
                </a:solidFill>
                <a:latin typeface="Calibri"/>
                <a:cs typeface="Calibri"/>
              </a:rPr>
              <a:t>understand</a:t>
            </a:r>
            <a:r>
              <a:rPr sz="1400" b="1" i="1" spc="10" dirty="0">
                <a:solidFill>
                  <a:schemeClr val="accent4"/>
                </a:solidFill>
                <a:latin typeface="Calibri"/>
                <a:cs typeface="Calibri"/>
              </a:rPr>
              <a:t> </a:t>
            </a:r>
            <a:endParaRPr lang="en-IN" sz="1400" b="1" i="1" spc="10" dirty="0">
              <a:solidFill>
                <a:schemeClr val="accent4"/>
              </a:solidFill>
              <a:latin typeface="Calibri"/>
              <a:cs typeface="Calibri"/>
            </a:endParaRPr>
          </a:p>
          <a:p>
            <a:pPr marL="290830" algn="ctr">
              <a:lnSpc>
                <a:spcPct val="100000"/>
              </a:lnSpc>
              <a:spcBef>
                <a:spcPts val="40"/>
              </a:spcBef>
            </a:pPr>
            <a:r>
              <a:rPr sz="1400" b="1" i="1" dirty="0">
                <a:solidFill>
                  <a:schemeClr val="accent4"/>
                </a:solidFill>
                <a:latin typeface="Calibri"/>
                <a:cs typeface="Calibri"/>
              </a:rPr>
              <a:t>their </a:t>
            </a:r>
            <a:r>
              <a:rPr sz="1400" b="1" i="1" spc="-5" dirty="0">
                <a:solidFill>
                  <a:schemeClr val="accent4"/>
                </a:solidFill>
                <a:latin typeface="Calibri"/>
                <a:cs typeface="Calibri"/>
              </a:rPr>
              <a:t>perspectives</a:t>
            </a:r>
            <a:r>
              <a:rPr sz="1400" b="1" i="1" spc="30" dirty="0">
                <a:solidFill>
                  <a:schemeClr val="accent4"/>
                </a:solidFill>
                <a:latin typeface="Calibri"/>
                <a:cs typeface="Calibri"/>
              </a:rPr>
              <a:t> </a:t>
            </a:r>
            <a:r>
              <a:rPr sz="1400" b="1" i="1" spc="-5" dirty="0">
                <a:solidFill>
                  <a:schemeClr val="accent4"/>
                </a:solidFill>
                <a:latin typeface="Calibri"/>
                <a:cs typeface="Calibri"/>
              </a:rPr>
              <a:t>towards</a:t>
            </a:r>
            <a:r>
              <a:rPr sz="1400" b="1" i="1" spc="5" dirty="0">
                <a:solidFill>
                  <a:schemeClr val="accent4"/>
                </a:solidFill>
                <a:latin typeface="Calibri"/>
                <a:cs typeface="Calibri"/>
              </a:rPr>
              <a:t> </a:t>
            </a:r>
            <a:r>
              <a:rPr lang="en-IN" sz="1400" b="1" i="1" dirty="0">
                <a:solidFill>
                  <a:schemeClr val="accent4"/>
                </a:solidFill>
                <a:latin typeface="Calibri"/>
                <a:cs typeface="Calibri"/>
              </a:rPr>
              <a:t>sustainable towels</a:t>
            </a:r>
            <a:endParaRPr sz="1400" dirty="0">
              <a:solidFill>
                <a:schemeClr val="accent4"/>
              </a:solidFill>
              <a:latin typeface="Calibri"/>
              <a:cs typeface="Calibri"/>
            </a:endParaRPr>
          </a:p>
        </p:txBody>
      </p:sp>
      <p:sp>
        <p:nvSpPr>
          <p:cNvPr id="5" name="object 35">
            <a:extLst>
              <a:ext uri="{FF2B5EF4-FFF2-40B4-BE49-F238E27FC236}">
                <a16:creationId xmlns:a16="http://schemas.microsoft.com/office/drawing/2014/main" id="{686FA2DF-47B1-B501-E9FB-C2696345DA94}"/>
              </a:ext>
            </a:extLst>
          </p:cNvPr>
          <p:cNvSpPr/>
          <p:nvPr/>
        </p:nvSpPr>
        <p:spPr>
          <a:xfrm>
            <a:off x="5046413" y="3153407"/>
            <a:ext cx="689187" cy="707052"/>
          </a:xfrm>
          <a:custGeom>
            <a:avLst/>
            <a:gdLst/>
            <a:ahLst/>
            <a:cxnLst/>
            <a:rect l="l" t="t" r="r" b="b"/>
            <a:pathLst>
              <a:path w="1150620" h="1150620">
                <a:moveTo>
                  <a:pt x="576058" y="0"/>
                </a:moveTo>
                <a:lnTo>
                  <a:pt x="530700" y="1705"/>
                </a:lnTo>
                <a:lnTo>
                  <a:pt x="485265" y="7064"/>
                </a:lnTo>
                <a:lnTo>
                  <a:pt x="439956" y="16151"/>
                </a:lnTo>
                <a:lnTo>
                  <a:pt x="394975" y="29040"/>
                </a:lnTo>
                <a:lnTo>
                  <a:pt x="350525" y="45806"/>
                </a:lnTo>
                <a:lnTo>
                  <a:pt x="307855" y="65986"/>
                </a:lnTo>
                <a:lnTo>
                  <a:pt x="267602" y="89175"/>
                </a:lnTo>
                <a:lnTo>
                  <a:pt x="229846" y="115178"/>
                </a:lnTo>
                <a:lnTo>
                  <a:pt x="194664" y="143801"/>
                </a:lnTo>
                <a:lnTo>
                  <a:pt x="162135" y="174849"/>
                </a:lnTo>
                <a:lnTo>
                  <a:pt x="132337" y="208130"/>
                </a:lnTo>
                <a:lnTo>
                  <a:pt x="105349" y="243448"/>
                </a:lnTo>
                <a:lnTo>
                  <a:pt x="81249" y="280609"/>
                </a:lnTo>
                <a:lnTo>
                  <a:pt x="60115" y="319420"/>
                </a:lnTo>
                <a:lnTo>
                  <a:pt x="42027" y="359686"/>
                </a:lnTo>
                <a:lnTo>
                  <a:pt x="27061" y="401213"/>
                </a:lnTo>
                <a:lnTo>
                  <a:pt x="15297" y="443807"/>
                </a:lnTo>
                <a:lnTo>
                  <a:pt x="6813" y="487274"/>
                </a:lnTo>
                <a:lnTo>
                  <a:pt x="1688" y="531420"/>
                </a:lnTo>
                <a:lnTo>
                  <a:pt x="0" y="576050"/>
                </a:lnTo>
                <a:lnTo>
                  <a:pt x="1826" y="620971"/>
                </a:lnTo>
                <a:lnTo>
                  <a:pt x="7246" y="665989"/>
                </a:lnTo>
                <a:lnTo>
                  <a:pt x="16339" y="710908"/>
                </a:lnTo>
                <a:lnTo>
                  <a:pt x="29181" y="755536"/>
                </a:lnTo>
                <a:lnTo>
                  <a:pt x="45852" y="799678"/>
                </a:lnTo>
                <a:lnTo>
                  <a:pt x="66033" y="842347"/>
                </a:lnTo>
                <a:lnTo>
                  <a:pt x="89222" y="882597"/>
                </a:lnTo>
                <a:lnTo>
                  <a:pt x="115225" y="920349"/>
                </a:lnTo>
                <a:lnTo>
                  <a:pt x="143848" y="955526"/>
                </a:lnTo>
                <a:lnTo>
                  <a:pt x="174896" y="988048"/>
                </a:lnTo>
                <a:lnTo>
                  <a:pt x="208177" y="1017838"/>
                </a:lnTo>
                <a:lnTo>
                  <a:pt x="243495" y="1044818"/>
                </a:lnTo>
                <a:lnTo>
                  <a:pt x="280656" y="1068909"/>
                </a:lnTo>
                <a:lnTo>
                  <a:pt x="319467" y="1090034"/>
                </a:lnTo>
                <a:lnTo>
                  <a:pt x="359733" y="1108113"/>
                </a:lnTo>
                <a:lnTo>
                  <a:pt x="401260" y="1123069"/>
                </a:lnTo>
                <a:lnTo>
                  <a:pt x="443854" y="1134823"/>
                </a:lnTo>
                <a:lnTo>
                  <a:pt x="487321" y="1143298"/>
                </a:lnTo>
                <a:lnTo>
                  <a:pt x="531467" y="1148415"/>
                </a:lnTo>
                <a:lnTo>
                  <a:pt x="576097" y="1150096"/>
                </a:lnTo>
                <a:lnTo>
                  <a:pt x="621018" y="1148263"/>
                </a:lnTo>
                <a:lnTo>
                  <a:pt x="666035" y="1142837"/>
                </a:lnTo>
                <a:lnTo>
                  <a:pt x="710955" y="1133741"/>
                </a:lnTo>
                <a:lnTo>
                  <a:pt x="755583" y="1120896"/>
                </a:lnTo>
                <a:lnTo>
                  <a:pt x="799724" y="1104224"/>
                </a:lnTo>
                <a:lnTo>
                  <a:pt x="842394" y="1084044"/>
                </a:lnTo>
                <a:lnTo>
                  <a:pt x="882644" y="1060857"/>
                </a:lnTo>
                <a:lnTo>
                  <a:pt x="920396" y="1034858"/>
                </a:lnTo>
                <a:lnTo>
                  <a:pt x="955573" y="1006240"/>
                </a:lnTo>
                <a:lnTo>
                  <a:pt x="988095" y="975197"/>
                </a:lnTo>
                <a:lnTo>
                  <a:pt x="1017885" y="941923"/>
                </a:lnTo>
                <a:lnTo>
                  <a:pt x="1044865" y="906612"/>
                </a:lnTo>
                <a:lnTo>
                  <a:pt x="1068956" y="869456"/>
                </a:lnTo>
                <a:lnTo>
                  <a:pt x="1090081" y="830651"/>
                </a:lnTo>
                <a:lnTo>
                  <a:pt x="1108160" y="790391"/>
                </a:lnTo>
                <a:lnTo>
                  <a:pt x="1123116" y="748868"/>
                </a:lnTo>
                <a:lnTo>
                  <a:pt x="1134870" y="706277"/>
                </a:lnTo>
                <a:lnTo>
                  <a:pt x="1143345" y="662811"/>
                </a:lnTo>
                <a:lnTo>
                  <a:pt x="1148462" y="618665"/>
                </a:lnTo>
                <a:lnTo>
                  <a:pt x="1150143" y="574032"/>
                </a:lnTo>
                <a:lnTo>
                  <a:pt x="1148310" y="529107"/>
                </a:lnTo>
                <a:lnTo>
                  <a:pt x="1142884" y="484082"/>
                </a:lnTo>
                <a:lnTo>
                  <a:pt x="1133788" y="439152"/>
                </a:lnTo>
                <a:lnTo>
                  <a:pt x="1120943" y="394510"/>
                </a:lnTo>
                <a:lnTo>
                  <a:pt x="1104270" y="350352"/>
                </a:lnTo>
                <a:lnTo>
                  <a:pt x="972063" y="406613"/>
                </a:lnTo>
                <a:lnTo>
                  <a:pt x="988409" y="451960"/>
                </a:lnTo>
                <a:lnTo>
                  <a:pt x="999440" y="497942"/>
                </a:lnTo>
                <a:lnTo>
                  <a:pt x="1005295" y="544177"/>
                </a:lnTo>
                <a:lnTo>
                  <a:pt x="1006114" y="590286"/>
                </a:lnTo>
                <a:lnTo>
                  <a:pt x="1002036" y="635888"/>
                </a:lnTo>
                <a:lnTo>
                  <a:pt x="993201" y="680603"/>
                </a:lnTo>
                <a:lnTo>
                  <a:pt x="979747" y="724049"/>
                </a:lnTo>
                <a:lnTo>
                  <a:pt x="961815" y="765847"/>
                </a:lnTo>
                <a:lnTo>
                  <a:pt x="939543" y="805616"/>
                </a:lnTo>
                <a:lnTo>
                  <a:pt x="913071" y="842976"/>
                </a:lnTo>
                <a:lnTo>
                  <a:pt x="882539" y="877546"/>
                </a:lnTo>
                <a:lnTo>
                  <a:pt x="848086" y="908946"/>
                </a:lnTo>
                <a:lnTo>
                  <a:pt x="809851" y="936795"/>
                </a:lnTo>
                <a:lnTo>
                  <a:pt x="767974" y="960714"/>
                </a:lnTo>
                <a:lnTo>
                  <a:pt x="724823" y="979472"/>
                </a:lnTo>
                <a:lnTo>
                  <a:pt x="680795" y="993203"/>
                </a:lnTo>
                <a:lnTo>
                  <a:pt x="636245" y="1002026"/>
                </a:lnTo>
                <a:lnTo>
                  <a:pt x="591525" y="1006058"/>
                </a:lnTo>
                <a:lnTo>
                  <a:pt x="546990" y="1005418"/>
                </a:lnTo>
                <a:lnTo>
                  <a:pt x="502991" y="1000222"/>
                </a:lnTo>
                <a:lnTo>
                  <a:pt x="459884" y="990589"/>
                </a:lnTo>
                <a:lnTo>
                  <a:pt x="418020" y="976636"/>
                </a:lnTo>
                <a:lnTo>
                  <a:pt x="377754" y="958482"/>
                </a:lnTo>
                <a:lnTo>
                  <a:pt x="339439" y="936245"/>
                </a:lnTo>
                <a:lnTo>
                  <a:pt x="303427" y="910042"/>
                </a:lnTo>
                <a:lnTo>
                  <a:pt x="270073" y="879990"/>
                </a:lnTo>
                <a:lnTo>
                  <a:pt x="239730" y="846209"/>
                </a:lnTo>
                <a:lnTo>
                  <a:pt x="212751" y="808815"/>
                </a:lnTo>
                <a:lnTo>
                  <a:pt x="189489" y="767928"/>
                </a:lnTo>
                <a:lnTo>
                  <a:pt x="170731" y="724754"/>
                </a:lnTo>
                <a:lnTo>
                  <a:pt x="157000" y="680710"/>
                </a:lnTo>
                <a:lnTo>
                  <a:pt x="148177" y="636148"/>
                </a:lnTo>
                <a:lnTo>
                  <a:pt x="144145" y="591421"/>
                </a:lnTo>
                <a:lnTo>
                  <a:pt x="144785" y="546882"/>
                </a:lnTo>
                <a:lnTo>
                  <a:pt x="149981" y="502882"/>
                </a:lnTo>
                <a:lnTo>
                  <a:pt x="159614" y="459774"/>
                </a:lnTo>
                <a:lnTo>
                  <a:pt x="173567" y="417910"/>
                </a:lnTo>
                <a:lnTo>
                  <a:pt x="191721" y="377643"/>
                </a:lnTo>
                <a:lnTo>
                  <a:pt x="213958" y="339326"/>
                </a:lnTo>
                <a:lnTo>
                  <a:pt x="240161" y="303311"/>
                </a:lnTo>
                <a:lnTo>
                  <a:pt x="270213" y="269949"/>
                </a:lnTo>
                <a:lnTo>
                  <a:pt x="303994" y="239595"/>
                </a:lnTo>
                <a:lnTo>
                  <a:pt x="341388" y="212599"/>
                </a:lnTo>
                <a:lnTo>
                  <a:pt x="382275" y="189316"/>
                </a:lnTo>
                <a:lnTo>
                  <a:pt x="425427" y="170581"/>
                </a:lnTo>
                <a:lnTo>
                  <a:pt x="469455" y="156870"/>
                </a:lnTo>
                <a:lnTo>
                  <a:pt x="514005" y="148065"/>
                </a:lnTo>
                <a:lnTo>
                  <a:pt x="558725" y="144048"/>
                </a:lnTo>
                <a:lnTo>
                  <a:pt x="603260" y="144701"/>
                </a:lnTo>
                <a:lnTo>
                  <a:pt x="647258" y="149907"/>
                </a:lnTo>
                <a:lnTo>
                  <a:pt x="690366" y="159548"/>
                </a:lnTo>
                <a:lnTo>
                  <a:pt x="732230" y="173507"/>
                </a:lnTo>
                <a:lnTo>
                  <a:pt x="772496" y="191666"/>
                </a:lnTo>
                <a:lnTo>
                  <a:pt x="810811" y="213906"/>
                </a:lnTo>
                <a:lnTo>
                  <a:pt x="846822" y="240112"/>
                </a:lnTo>
                <a:lnTo>
                  <a:pt x="880176" y="270165"/>
                </a:lnTo>
                <a:lnTo>
                  <a:pt x="910520" y="303947"/>
                </a:lnTo>
                <a:lnTo>
                  <a:pt x="937499" y="341341"/>
                </a:lnTo>
                <a:lnTo>
                  <a:pt x="960760" y="382229"/>
                </a:lnTo>
                <a:lnTo>
                  <a:pt x="1089284" y="317967"/>
                </a:lnTo>
                <a:lnTo>
                  <a:pt x="1066321" y="276354"/>
                </a:lnTo>
                <a:lnTo>
                  <a:pt x="1040439" y="237351"/>
                </a:lnTo>
                <a:lnTo>
                  <a:pt x="1011841" y="201032"/>
                </a:lnTo>
                <a:lnTo>
                  <a:pt x="980729" y="167472"/>
                </a:lnTo>
                <a:lnTo>
                  <a:pt x="947308" y="136745"/>
                </a:lnTo>
                <a:lnTo>
                  <a:pt x="911780" y="108926"/>
                </a:lnTo>
                <a:lnTo>
                  <a:pt x="874348" y="84089"/>
                </a:lnTo>
                <a:lnTo>
                  <a:pt x="835214" y="62309"/>
                </a:lnTo>
                <a:lnTo>
                  <a:pt x="794583" y="43661"/>
                </a:lnTo>
                <a:lnTo>
                  <a:pt x="752656" y="28219"/>
                </a:lnTo>
                <a:lnTo>
                  <a:pt x="709638" y="16057"/>
                </a:lnTo>
                <a:lnTo>
                  <a:pt x="665730" y="7250"/>
                </a:lnTo>
                <a:lnTo>
                  <a:pt x="621135" y="1873"/>
                </a:lnTo>
                <a:lnTo>
                  <a:pt x="576058" y="0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 lIns="0" tIns="0" rIns="0" bIns="0" rtlCol="0"/>
          <a:lstStyle/>
          <a:p>
            <a:endParaRPr dirty="0">
              <a:solidFill>
                <a:schemeClr val="accent3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5A4307-F5A8-A2D4-C38A-1DF2BDE6A771}"/>
              </a:ext>
            </a:extLst>
          </p:cNvPr>
          <p:cNvSpPr txBox="1"/>
          <p:nvPr/>
        </p:nvSpPr>
        <p:spPr>
          <a:xfrm>
            <a:off x="4457927" y="2820436"/>
            <a:ext cx="282350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635">
              <a:lnSpc>
                <a:spcPct val="100000"/>
              </a:lnSpc>
              <a:spcBef>
                <a:spcPts val="1070"/>
              </a:spcBef>
            </a:pPr>
            <a:r>
              <a:rPr lang="en-US" sz="1400" b="1" dirty="0">
                <a:solidFill>
                  <a:schemeClr val="accent3"/>
                </a:solidFill>
                <a:latin typeface="Calibri"/>
                <a:cs typeface="Calibri"/>
              </a:rPr>
              <a:t>80.0%</a:t>
            </a:r>
          </a:p>
          <a:p>
            <a:pPr marL="1270635" marR="38735">
              <a:lnSpc>
                <a:spcPct val="100000"/>
              </a:lnSpc>
              <a:spcBef>
                <a:spcPts val="25"/>
              </a:spcBef>
            </a:pPr>
            <a:r>
              <a:rPr lang="en-US" sz="1400" dirty="0">
                <a:solidFill>
                  <a:schemeClr val="accent3"/>
                </a:solidFill>
                <a:latin typeface="Calibri"/>
                <a:cs typeface="Calibri"/>
              </a:rPr>
              <a:t>respondents find It moderate to very imp that brands are environmentally responsible</a:t>
            </a:r>
          </a:p>
        </p:txBody>
      </p:sp>
      <p:sp>
        <p:nvSpPr>
          <p:cNvPr id="12" name="object 32">
            <a:extLst>
              <a:ext uri="{FF2B5EF4-FFF2-40B4-BE49-F238E27FC236}">
                <a16:creationId xmlns:a16="http://schemas.microsoft.com/office/drawing/2014/main" id="{542E21DC-EAD8-24B8-D0C7-C236E065F4B7}"/>
              </a:ext>
            </a:extLst>
          </p:cNvPr>
          <p:cNvSpPr/>
          <p:nvPr/>
        </p:nvSpPr>
        <p:spPr>
          <a:xfrm>
            <a:off x="5058152" y="2408376"/>
            <a:ext cx="2308860" cy="349250"/>
          </a:xfrm>
          <a:custGeom>
            <a:avLst/>
            <a:gdLst/>
            <a:ahLst/>
            <a:cxnLst/>
            <a:rect l="l" t="t" r="r" b="b"/>
            <a:pathLst>
              <a:path w="2308859" h="349250">
                <a:moveTo>
                  <a:pt x="2134362" y="0"/>
                </a:moveTo>
                <a:lnTo>
                  <a:pt x="0" y="0"/>
                </a:lnTo>
                <a:lnTo>
                  <a:pt x="0" y="348996"/>
                </a:lnTo>
                <a:lnTo>
                  <a:pt x="2134362" y="348996"/>
                </a:lnTo>
                <a:lnTo>
                  <a:pt x="2308860" y="174498"/>
                </a:lnTo>
                <a:lnTo>
                  <a:pt x="2134362" y="0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 lIns="0" tIns="0" rIns="0" bIns="0" rtlCol="0"/>
          <a:lstStyle/>
          <a:p>
            <a:pPr marL="90170">
              <a:lnSpc>
                <a:spcPts val="1305"/>
              </a:lnSpc>
            </a:pPr>
            <a:r>
              <a:rPr lang="en-US" sz="1100" b="1" dirty="0">
                <a:latin typeface="Calibri"/>
                <a:cs typeface="Calibri"/>
              </a:rPr>
              <a:t>1:</a:t>
            </a:r>
            <a:r>
              <a:rPr lang="en-US" sz="1100" b="1" spc="-5" dirty="0">
                <a:latin typeface="Calibri"/>
                <a:cs typeface="Calibri"/>
              </a:rPr>
              <a:t> </a:t>
            </a:r>
            <a:r>
              <a:rPr lang="en-US" sz="1100" b="1" spc="-5" dirty="0"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Dentists’</a:t>
            </a:r>
            <a:r>
              <a:rPr lang="en-US" sz="1100" b="1" spc="-35" dirty="0"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lang="en-US" sz="1100" b="1" spc="-5" dirty="0"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recommendations</a:t>
            </a:r>
            <a:r>
              <a:rPr lang="en-US" sz="1100" b="1" spc="-40" dirty="0"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lang="en-US" sz="1100" b="1" dirty="0"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a</a:t>
            </a:r>
            <a:endParaRPr lang="en-US" sz="1100" b="1" dirty="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lang="en-US" sz="1100" b="1" spc="-5" dirty="0"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A powerful</a:t>
            </a:r>
            <a:r>
              <a:rPr lang="en-US" sz="1100" b="1" spc="-50" dirty="0"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lang="en-US" sz="1100" b="1" spc="-5" dirty="0"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nudge</a:t>
            </a:r>
            <a:r>
              <a:rPr lang="en-US" sz="1100" b="1" spc="-35" dirty="0"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lang="en-US" sz="1100" b="1" spc="-5" dirty="0"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to</a:t>
            </a:r>
            <a:r>
              <a:rPr lang="en-US" sz="1100" b="1" spc="-20" dirty="0"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lang="en-US" sz="1100" b="1" dirty="0"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try</a:t>
            </a:r>
            <a:r>
              <a:rPr lang="en-US" sz="1100" b="1" spc="-25" dirty="0"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lang="en-US" sz="1100" b="1" spc="-5" dirty="0"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ETB</a:t>
            </a:r>
            <a:endParaRPr lang="en-US" sz="1100" b="1" dirty="0">
              <a:latin typeface="Calibri"/>
              <a:cs typeface="Calibri"/>
            </a:endParaRPr>
          </a:p>
        </p:txBody>
      </p:sp>
      <p:sp>
        <p:nvSpPr>
          <p:cNvPr id="13" name="object 32">
            <a:extLst>
              <a:ext uri="{FF2B5EF4-FFF2-40B4-BE49-F238E27FC236}">
                <a16:creationId xmlns:a16="http://schemas.microsoft.com/office/drawing/2014/main" id="{75C406C3-77B2-6B3A-9823-C0496FCFECB1}"/>
              </a:ext>
            </a:extLst>
          </p:cNvPr>
          <p:cNvSpPr/>
          <p:nvPr/>
        </p:nvSpPr>
        <p:spPr>
          <a:xfrm>
            <a:off x="7243277" y="2408376"/>
            <a:ext cx="2593075" cy="358181"/>
          </a:xfrm>
          <a:prstGeom prst="chevron">
            <a:avLst/>
          </a:prstGeom>
          <a:solidFill>
            <a:schemeClr val="accent5"/>
          </a:solidFill>
        </p:spPr>
        <p:txBody>
          <a:bodyPr wrap="square" lIns="0" tIns="0" rIns="0" bIns="0" rtlCol="0"/>
          <a:lstStyle/>
          <a:p>
            <a:pPr marL="90170">
              <a:lnSpc>
                <a:spcPts val="1260"/>
              </a:lnSpc>
            </a:pPr>
            <a:r>
              <a:rPr lang="en-US" sz="1100" b="1" spc="-10" dirty="0">
                <a:solidFill>
                  <a:srgbClr val="FFFFFF"/>
                </a:solidFill>
                <a:latin typeface="Calibri"/>
                <a:cs typeface="Calibri"/>
              </a:rPr>
              <a:t>2. First</a:t>
            </a:r>
            <a:r>
              <a:rPr lang="en-US" sz="11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lang="en-US" sz="11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100" b="1" spc="-10" dirty="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r>
              <a:rPr lang="en-US" sz="1100" b="1" spc="-5" dirty="0">
                <a:solidFill>
                  <a:srgbClr val="FFFFFF"/>
                </a:solidFill>
                <a:latin typeface="Calibri"/>
                <a:cs typeface="Calibri"/>
              </a:rPr>
              <a:t> are</a:t>
            </a:r>
            <a:r>
              <a:rPr lang="en-US" sz="11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100" b="1" spc="-5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endParaRPr lang="en-US" sz="1100" b="1" dirty="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lang="en-US" sz="1100" b="1" spc="-10" dirty="0">
                <a:solidFill>
                  <a:srgbClr val="FFFFFF"/>
                </a:solidFill>
                <a:latin typeface="Calibri"/>
                <a:cs typeface="Calibri"/>
              </a:rPr>
              <a:t>comfortable</a:t>
            </a:r>
            <a:r>
              <a:rPr lang="en-US" sz="11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100" b="1" spc="-5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lang="en-US" sz="11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price</a:t>
            </a:r>
            <a:r>
              <a:rPr lang="en-US" sz="11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&lt;₹1,000</a:t>
            </a:r>
            <a:endParaRPr lang="en-US" sz="1100" b="1" dirty="0">
              <a:latin typeface="Calibri"/>
              <a:cs typeface="Calibri"/>
            </a:endParaRPr>
          </a:p>
        </p:txBody>
      </p:sp>
      <p:sp>
        <p:nvSpPr>
          <p:cNvPr id="15" name="object 32">
            <a:extLst>
              <a:ext uri="{FF2B5EF4-FFF2-40B4-BE49-F238E27FC236}">
                <a16:creationId xmlns:a16="http://schemas.microsoft.com/office/drawing/2014/main" id="{E5E8E382-5A2A-9070-59EC-14AB26C21F02}"/>
              </a:ext>
            </a:extLst>
          </p:cNvPr>
          <p:cNvSpPr/>
          <p:nvPr/>
        </p:nvSpPr>
        <p:spPr>
          <a:xfrm>
            <a:off x="9712618" y="2408376"/>
            <a:ext cx="2143037" cy="358181"/>
          </a:xfrm>
          <a:prstGeom prst="chevron">
            <a:avLst/>
          </a:prstGeom>
          <a:solidFill>
            <a:schemeClr val="accent5"/>
          </a:solidFill>
        </p:spPr>
        <p:txBody>
          <a:bodyPr wrap="square" lIns="0" tIns="0" rIns="0" bIns="0" rtlCol="0"/>
          <a:lstStyle/>
          <a:p>
            <a:endParaRPr>
              <a:solidFill>
                <a:schemeClr val="accent3"/>
              </a:solidFill>
            </a:endParaRPr>
          </a:p>
        </p:txBody>
      </p:sp>
      <p:sp>
        <p:nvSpPr>
          <p:cNvPr id="16" name="object 39">
            <a:extLst>
              <a:ext uri="{FF2B5EF4-FFF2-40B4-BE49-F238E27FC236}">
                <a16:creationId xmlns:a16="http://schemas.microsoft.com/office/drawing/2014/main" id="{0186609F-2FD1-D55C-5286-91EC2AEB4564}"/>
              </a:ext>
            </a:extLst>
          </p:cNvPr>
          <p:cNvSpPr/>
          <p:nvPr/>
        </p:nvSpPr>
        <p:spPr>
          <a:xfrm>
            <a:off x="7353979" y="3168972"/>
            <a:ext cx="705651" cy="669705"/>
          </a:xfrm>
          <a:custGeom>
            <a:avLst/>
            <a:gdLst/>
            <a:ahLst/>
            <a:cxnLst/>
            <a:rect l="l" t="t" r="r" b="b"/>
            <a:pathLst>
              <a:path w="1033145" h="1033144">
                <a:moveTo>
                  <a:pt x="523251" y="0"/>
                </a:moveTo>
                <a:lnTo>
                  <a:pt x="476569" y="1493"/>
                </a:lnTo>
                <a:lnTo>
                  <a:pt x="430294" y="7183"/>
                </a:lnTo>
                <a:lnTo>
                  <a:pt x="384718" y="17018"/>
                </a:lnTo>
                <a:lnTo>
                  <a:pt x="340131" y="30950"/>
                </a:lnTo>
                <a:lnTo>
                  <a:pt x="296825" y="48928"/>
                </a:lnTo>
                <a:lnTo>
                  <a:pt x="255091" y="70903"/>
                </a:lnTo>
                <a:lnTo>
                  <a:pt x="215219" y="96824"/>
                </a:lnTo>
                <a:lnTo>
                  <a:pt x="177501" y="126642"/>
                </a:lnTo>
                <a:lnTo>
                  <a:pt x="143428" y="159065"/>
                </a:lnTo>
                <a:lnTo>
                  <a:pt x="112934" y="193807"/>
                </a:lnTo>
                <a:lnTo>
                  <a:pt x="86037" y="230609"/>
                </a:lnTo>
                <a:lnTo>
                  <a:pt x="62755" y="269214"/>
                </a:lnTo>
                <a:lnTo>
                  <a:pt x="43106" y="309366"/>
                </a:lnTo>
                <a:lnTo>
                  <a:pt x="27109" y="350806"/>
                </a:lnTo>
                <a:lnTo>
                  <a:pt x="14782" y="393279"/>
                </a:lnTo>
                <a:lnTo>
                  <a:pt x="6142" y="436526"/>
                </a:lnTo>
                <a:lnTo>
                  <a:pt x="1209" y="480289"/>
                </a:lnTo>
                <a:lnTo>
                  <a:pt x="0" y="524313"/>
                </a:lnTo>
                <a:lnTo>
                  <a:pt x="2532" y="568340"/>
                </a:lnTo>
                <a:lnTo>
                  <a:pt x="8826" y="612111"/>
                </a:lnTo>
                <a:lnTo>
                  <a:pt x="18898" y="655371"/>
                </a:lnTo>
                <a:lnTo>
                  <a:pt x="32767" y="697862"/>
                </a:lnTo>
                <a:lnTo>
                  <a:pt x="50451" y="739326"/>
                </a:lnTo>
                <a:lnTo>
                  <a:pt x="71968" y="779506"/>
                </a:lnTo>
                <a:lnTo>
                  <a:pt x="97336" y="818146"/>
                </a:lnTo>
                <a:lnTo>
                  <a:pt x="126574" y="854987"/>
                </a:lnTo>
                <a:lnTo>
                  <a:pt x="158997" y="889079"/>
                </a:lnTo>
                <a:lnTo>
                  <a:pt x="193738" y="919588"/>
                </a:lnTo>
                <a:lnTo>
                  <a:pt x="230541" y="946495"/>
                </a:lnTo>
                <a:lnTo>
                  <a:pt x="269147" y="969784"/>
                </a:lnTo>
                <a:lnTo>
                  <a:pt x="309300" y="989437"/>
                </a:lnTo>
                <a:lnTo>
                  <a:pt x="350743" y="1005435"/>
                </a:lnTo>
                <a:lnTo>
                  <a:pt x="393218" y="1017761"/>
                </a:lnTo>
                <a:lnTo>
                  <a:pt x="436468" y="1026398"/>
                </a:lnTo>
                <a:lnTo>
                  <a:pt x="480237" y="1031327"/>
                </a:lnTo>
                <a:lnTo>
                  <a:pt x="524267" y="1032530"/>
                </a:lnTo>
                <a:lnTo>
                  <a:pt x="568300" y="1029990"/>
                </a:lnTo>
                <a:lnTo>
                  <a:pt x="612081" y="1023690"/>
                </a:lnTo>
                <a:lnTo>
                  <a:pt x="655351" y="1013611"/>
                </a:lnTo>
                <a:lnTo>
                  <a:pt x="697853" y="999735"/>
                </a:lnTo>
                <a:lnTo>
                  <a:pt x="739331" y="982046"/>
                </a:lnTo>
                <a:lnTo>
                  <a:pt x="779527" y="960524"/>
                </a:lnTo>
                <a:lnTo>
                  <a:pt x="818185" y="935153"/>
                </a:lnTo>
                <a:lnTo>
                  <a:pt x="855046" y="905914"/>
                </a:lnTo>
                <a:lnTo>
                  <a:pt x="889119" y="873491"/>
                </a:lnTo>
                <a:lnTo>
                  <a:pt x="919613" y="838749"/>
                </a:lnTo>
                <a:lnTo>
                  <a:pt x="946510" y="801947"/>
                </a:lnTo>
                <a:lnTo>
                  <a:pt x="969792" y="763342"/>
                </a:lnTo>
                <a:lnTo>
                  <a:pt x="989440" y="723190"/>
                </a:lnTo>
                <a:lnTo>
                  <a:pt x="1005437" y="681750"/>
                </a:lnTo>
                <a:lnTo>
                  <a:pt x="1017765" y="639277"/>
                </a:lnTo>
                <a:lnTo>
                  <a:pt x="1026404" y="596031"/>
                </a:lnTo>
                <a:lnTo>
                  <a:pt x="1031338" y="552267"/>
                </a:lnTo>
                <a:lnTo>
                  <a:pt x="1032547" y="508243"/>
                </a:lnTo>
                <a:lnTo>
                  <a:pt x="1030014" y="464216"/>
                </a:lnTo>
                <a:lnTo>
                  <a:pt x="1023721" y="420445"/>
                </a:lnTo>
                <a:lnTo>
                  <a:pt x="1013648" y="377185"/>
                </a:lnTo>
                <a:lnTo>
                  <a:pt x="999780" y="334694"/>
                </a:lnTo>
                <a:lnTo>
                  <a:pt x="982096" y="293230"/>
                </a:lnTo>
                <a:lnTo>
                  <a:pt x="960579" y="253050"/>
                </a:lnTo>
                <a:lnTo>
                  <a:pt x="935210" y="214410"/>
                </a:lnTo>
                <a:lnTo>
                  <a:pt x="905973" y="177569"/>
                </a:lnTo>
                <a:lnTo>
                  <a:pt x="808564" y="262278"/>
                </a:lnTo>
                <a:lnTo>
                  <a:pt x="837731" y="300320"/>
                </a:lnTo>
                <a:lnTo>
                  <a:pt x="861675" y="341117"/>
                </a:lnTo>
                <a:lnTo>
                  <a:pt x="880309" y="384151"/>
                </a:lnTo>
                <a:lnTo>
                  <a:pt x="893547" y="428903"/>
                </a:lnTo>
                <a:lnTo>
                  <a:pt x="901301" y="474856"/>
                </a:lnTo>
                <a:lnTo>
                  <a:pt x="903484" y="521490"/>
                </a:lnTo>
                <a:lnTo>
                  <a:pt x="900011" y="568287"/>
                </a:lnTo>
                <a:lnTo>
                  <a:pt x="890794" y="614728"/>
                </a:lnTo>
                <a:lnTo>
                  <a:pt x="875747" y="660296"/>
                </a:lnTo>
                <a:lnTo>
                  <a:pt x="854888" y="704260"/>
                </a:lnTo>
                <a:lnTo>
                  <a:pt x="829321" y="744401"/>
                </a:lnTo>
                <a:lnTo>
                  <a:pt x="799518" y="780515"/>
                </a:lnTo>
                <a:lnTo>
                  <a:pt x="765950" y="812402"/>
                </a:lnTo>
                <a:lnTo>
                  <a:pt x="729089" y="839858"/>
                </a:lnTo>
                <a:lnTo>
                  <a:pt x="689408" y="862680"/>
                </a:lnTo>
                <a:lnTo>
                  <a:pt x="647379" y="880667"/>
                </a:lnTo>
                <a:lnTo>
                  <a:pt x="603473" y="893615"/>
                </a:lnTo>
                <a:lnTo>
                  <a:pt x="558162" y="901322"/>
                </a:lnTo>
                <a:lnTo>
                  <a:pt x="511920" y="903585"/>
                </a:lnTo>
                <a:lnTo>
                  <a:pt x="465217" y="900202"/>
                </a:lnTo>
                <a:lnTo>
                  <a:pt x="418526" y="890971"/>
                </a:lnTo>
                <a:lnTo>
                  <a:pt x="372319" y="875688"/>
                </a:lnTo>
                <a:lnTo>
                  <a:pt x="328330" y="854830"/>
                </a:lnTo>
                <a:lnTo>
                  <a:pt x="288172" y="829263"/>
                </a:lnTo>
                <a:lnTo>
                  <a:pt x="252046" y="799459"/>
                </a:lnTo>
                <a:lnTo>
                  <a:pt x="220153" y="765891"/>
                </a:lnTo>
                <a:lnTo>
                  <a:pt x="192694" y="729030"/>
                </a:lnTo>
                <a:lnTo>
                  <a:pt x="169871" y="689349"/>
                </a:lnTo>
                <a:lnTo>
                  <a:pt x="151884" y="647320"/>
                </a:lnTo>
                <a:lnTo>
                  <a:pt x="138936" y="603414"/>
                </a:lnTo>
                <a:lnTo>
                  <a:pt x="131226" y="558104"/>
                </a:lnTo>
                <a:lnTo>
                  <a:pt x="128956" y="511861"/>
                </a:lnTo>
                <a:lnTo>
                  <a:pt x="132328" y="465158"/>
                </a:lnTo>
                <a:lnTo>
                  <a:pt x="141542" y="418467"/>
                </a:lnTo>
                <a:lnTo>
                  <a:pt x="156800" y="372260"/>
                </a:lnTo>
                <a:lnTo>
                  <a:pt x="177658" y="328296"/>
                </a:lnTo>
                <a:lnTo>
                  <a:pt x="203225" y="288155"/>
                </a:lnTo>
                <a:lnTo>
                  <a:pt x="233029" y="252039"/>
                </a:lnTo>
                <a:lnTo>
                  <a:pt x="266597" y="220150"/>
                </a:lnTo>
                <a:lnTo>
                  <a:pt x="303457" y="192691"/>
                </a:lnTo>
                <a:lnTo>
                  <a:pt x="343138" y="169863"/>
                </a:lnTo>
                <a:lnTo>
                  <a:pt x="385168" y="151869"/>
                </a:lnTo>
                <a:lnTo>
                  <a:pt x="429074" y="138912"/>
                </a:lnTo>
                <a:lnTo>
                  <a:pt x="474384" y="131192"/>
                </a:lnTo>
                <a:lnTo>
                  <a:pt x="520627" y="128913"/>
                </a:lnTo>
                <a:lnTo>
                  <a:pt x="567330" y="132277"/>
                </a:lnTo>
                <a:lnTo>
                  <a:pt x="614021" y="141485"/>
                </a:lnTo>
                <a:lnTo>
                  <a:pt x="660228" y="156741"/>
                </a:lnTo>
                <a:lnTo>
                  <a:pt x="708234" y="36980"/>
                </a:lnTo>
                <a:lnTo>
                  <a:pt x="662832" y="21192"/>
                </a:lnTo>
                <a:lnTo>
                  <a:pt x="616674" y="9799"/>
                </a:lnTo>
                <a:lnTo>
                  <a:pt x="570050" y="2752"/>
                </a:lnTo>
                <a:lnTo>
                  <a:pt x="523251" y="0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81BF02-4E83-1671-BB55-D4F68082A425}"/>
              </a:ext>
            </a:extLst>
          </p:cNvPr>
          <p:cNvSpPr txBox="1"/>
          <p:nvPr/>
        </p:nvSpPr>
        <p:spPr>
          <a:xfrm>
            <a:off x="6743671" y="2820436"/>
            <a:ext cx="308179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635">
              <a:lnSpc>
                <a:spcPct val="100000"/>
              </a:lnSpc>
              <a:spcBef>
                <a:spcPts val="1070"/>
              </a:spcBef>
            </a:pPr>
            <a:r>
              <a:rPr lang="en-US" sz="1400" b="1" spc="-5" dirty="0">
                <a:solidFill>
                  <a:schemeClr val="accent3"/>
                </a:solidFill>
                <a:latin typeface="Calibri"/>
                <a:cs typeface="Calibri"/>
              </a:rPr>
              <a:t>86.0%</a:t>
            </a:r>
          </a:p>
          <a:p>
            <a:pPr marL="1270635" marR="38735">
              <a:lnSpc>
                <a:spcPct val="100000"/>
              </a:lnSpc>
              <a:spcBef>
                <a:spcPts val="25"/>
              </a:spcBef>
            </a:pPr>
            <a:r>
              <a:rPr lang="en-US" sz="1400" dirty="0">
                <a:solidFill>
                  <a:schemeClr val="accent3"/>
                </a:solidFill>
                <a:latin typeface="Calibri"/>
                <a:cs typeface="Calibri"/>
              </a:rPr>
              <a:t>respondents are  willing to change their purchasing habits to help reduce negative effects on the environment.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27E14F7-8982-C1BE-51C3-ADCE969EE97C}"/>
              </a:ext>
            </a:extLst>
          </p:cNvPr>
          <p:cNvSpPr/>
          <p:nvPr/>
        </p:nvSpPr>
        <p:spPr>
          <a:xfrm>
            <a:off x="5035527" y="4488390"/>
            <a:ext cx="2196863" cy="297222"/>
          </a:xfrm>
          <a:prstGeom prst="roundRect">
            <a:avLst/>
          </a:prstGeom>
          <a:solidFill>
            <a:schemeClr val="accent5"/>
          </a:solidFill>
        </p:spPr>
        <p:txBody>
          <a:bodyPr wrap="square" lIns="0" tIns="0" rIns="0" bIns="0" rtlCol="0" anchor="b"/>
          <a:lstStyle/>
          <a:p>
            <a:pPr marL="90170" algn="ctr">
              <a:lnSpc>
                <a:spcPts val="1305"/>
              </a:lnSpc>
            </a:pPr>
            <a:r>
              <a:rPr lang="en-IN" sz="1600" b="1" dirty="0">
                <a:solidFill>
                  <a:schemeClr val="tx1"/>
                </a:solidFill>
                <a:latin typeface="Calibri"/>
                <a:cs typeface="Calibri"/>
              </a:rPr>
              <a:t>Target Segment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E8582E0-4C32-5A38-3731-CA36D200CEDE}"/>
              </a:ext>
            </a:extLst>
          </p:cNvPr>
          <p:cNvSpPr/>
          <p:nvPr/>
        </p:nvSpPr>
        <p:spPr>
          <a:xfrm>
            <a:off x="7315209" y="4488390"/>
            <a:ext cx="2196863" cy="297222"/>
          </a:xfrm>
          <a:prstGeom prst="roundRect">
            <a:avLst/>
          </a:prstGeom>
          <a:solidFill>
            <a:schemeClr val="accent5"/>
          </a:solidFill>
        </p:spPr>
        <p:txBody>
          <a:bodyPr wrap="square" lIns="0" tIns="0" rIns="0" bIns="0" rtlCol="0" anchor="b"/>
          <a:lstStyle/>
          <a:p>
            <a:pPr marL="90170" algn="ctr">
              <a:lnSpc>
                <a:spcPts val="1305"/>
              </a:lnSpc>
            </a:pPr>
            <a:r>
              <a:rPr lang="en-IN" sz="1600" b="1" dirty="0">
                <a:solidFill>
                  <a:schemeClr val="tx1"/>
                </a:solidFill>
                <a:latin typeface="Calibri"/>
                <a:cs typeface="Calibri"/>
              </a:rPr>
              <a:t>Product Portfolio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BCEABCA-E36E-E3B1-F00D-73CD0D575D99}"/>
              </a:ext>
            </a:extLst>
          </p:cNvPr>
          <p:cNvSpPr/>
          <p:nvPr/>
        </p:nvSpPr>
        <p:spPr>
          <a:xfrm>
            <a:off x="9593902" y="4488390"/>
            <a:ext cx="2416549" cy="297222"/>
          </a:xfrm>
          <a:prstGeom prst="roundRect">
            <a:avLst/>
          </a:prstGeom>
          <a:solidFill>
            <a:schemeClr val="accent5"/>
          </a:solidFill>
        </p:spPr>
        <p:txBody>
          <a:bodyPr wrap="square" lIns="0" tIns="0" rIns="0" bIns="0" rtlCol="0" anchor="b"/>
          <a:lstStyle/>
          <a:p>
            <a:pPr marL="90170" algn="ctr">
              <a:lnSpc>
                <a:spcPts val="1305"/>
              </a:lnSpc>
            </a:pPr>
            <a:r>
              <a:rPr lang="en-IN" sz="1600" b="1" dirty="0">
                <a:solidFill>
                  <a:schemeClr val="tx1"/>
                </a:solidFill>
                <a:latin typeface="Calibri"/>
                <a:cs typeface="Calibri"/>
              </a:rPr>
              <a:t>Media &amp; Retail Strategy</a:t>
            </a:r>
          </a:p>
        </p:txBody>
      </p:sp>
      <p:sp>
        <p:nvSpPr>
          <p:cNvPr id="34" name="object 58">
            <a:extLst>
              <a:ext uri="{FF2B5EF4-FFF2-40B4-BE49-F238E27FC236}">
                <a16:creationId xmlns:a16="http://schemas.microsoft.com/office/drawing/2014/main" id="{9AEA6091-E6B5-5D83-885C-A213763DA989}"/>
              </a:ext>
            </a:extLst>
          </p:cNvPr>
          <p:cNvSpPr/>
          <p:nvPr/>
        </p:nvSpPr>
        <p:spPr>
          <a:xfrm>
            <a:off x="5200920" y="4872522"/>
            <a:ext cx="1923750" cy="715944"/>
          </a:xfrm>
          <a:custGeom>
            <a:avLst/>
            <a:gdLst/>
            <a:ahLst/>
            <a:cxnLst/>
            <a:rect l="l" t="t" r="r" b="b"/>
            <a:pathLst>
              <a:path w="2071370" h="868679">
                <a:moveTo>
                  <a:pt x="0" y="868680"/>
                </a:moveTo>
                <a:lnTo>
                  <a:pt x="2071116" y="868680"/>
                </a:lnTo>
                <a:lnTo>
                  <a:pt x="2071116" y="0"/>
                </a:lnTo>
                <a:lnTo>
                  <a:pt x="0" y="0"/>
                </a:lnTo>
                <a:lnTo>
                  <a:pt x="0" y="868680"/>
                </a:lnTo>
                <a:close/>
              </a:path>
            </a:pathLst>
          </a:custGeom>
          <a:solidFill>
            <a:srgbClr val="BE82FF"/>
          </a:solidFill>
          <a:ln w="12700">
            <a:solidFill>
              <a:srgbClr val="C766FF"/>
            </a:solidFill>
          </a:ln>
        </p:spPr>
        <p:txBody>
          <a:bodyPr wrap="square" lIns="0" tIns="0" rIns="0" bIns="0" rtlCol="0"/>
          <a:lstStyle/>
          <a:p>
            <a:pPr marL="184785" indent="-1727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185420" algn="l"/>
              </a:tabLst>
            </a:pPr>
            <a:r>
              <a:rPr lang="en-US" sz="1100" dirty="0">
                <a:solidFill>
                  <a:srgbClr val="FFFFFF"/>
                </a:solidFill>
                <a:latin typeface="Calibri"/>
                <a:cs typeface="Calibri"/>
              </a:rPr>
              <a:t> Middle-aged</a:t>
            </a:r>
            <a:r>
              <a:rPr lang="en-US"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100" dirty="0">
                <a:solidFill>
                  <a:srgbClr val="FFFFFF"/>
                </a:solidFill>
                <a:latin typeface="Calibri"/>
                <a:cs typeface="Calibri"/>
              </a:rPr>
              <a:t>(25-50</a:t>
            </a:r>
            <a:r>
              <a:rPr lang="en-US"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100" dirty="0">
                <a:solidFill>
                  <a:srgbClr val="FFFFFF"/>
                </a:solidFill>
                <a:latin typeface="Calibri"/>
                <a:cs typeface="Calibri"/>
              </a:rPr>
              <a:t>yrs.)</a:t>
            </a:r>
            <a:endParaRPr lang="en-US" sz="1100" dirty="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185420" algn="l"/>
              </a:tabLst>
            </a:pPr>
            <a:r>
              <a:rPr lang="en-US" sz="1100" dirty="0">
                <a:solidFill>
                  <a:srgbClr val="FFFFFF"/>
                </a:solidFill>
                <a:latin typeface="Calibri"/>
                <a:cs typeface="Calibri"/>
              </a:rPr>
              <a:t>Working professionals</a:t>
            </a:r>
            <a:endParaRPr lang="en-US" sz="1100" dirty="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"/>
              <a:tabLst>
                <a:tab pos="185420" algn="l"/>
              </a:tabLst>
            </a:pPr>
            <a:r>
              <a:rPr lang="en-US" sz="1100" spc="-5" dirty="0">
                <a:solidFill>
                  <a:srgbClr val="FFFFFF"/>
                </a:solidFill>
                <a:latin typeface="Calibri"/>
                <a:cs typeface="Calibri"/>
              </a:rPr>
              <a:t>High</a:t>
            </a:r>
            <a:r>
              <a:rPr lang="en-US"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100" spc="-5" dirty="0">
                <a:solidFill>
                  <a:srgbClr val="FFFFFF"/>
                </a:solidFill>
                <a:latin typeface="Calibri"/>
                <a:cs typeface="Calibri"/>
              </a:rPr>
              <a:t>disposable</a:t>
            </a:r>
            <a:r>
              <a:rPr lang="en-US" sz="11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100" dirty="0">
                <a:solidFill>
                  <a:srgbClr val="FFFFFF"/>
                </a:solidFill>
                <a:latin typeface="Calibri"/>
                <a:cs typeface="Calibri"/>
              </a:rPr>
              <a:t>income</a:t>
            </a:r>
            <a:endParaRPr lang="en-US" sz="1100" dirty="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"/>
              <a:tabLst>
                <a:tab pos="185420" algn="l"/>
              </a:tabLst>
            </a:pPr>
            <a:r>
              <a:rPr lang="en-US" sz="1100" spc="-5" dirty="0">
                <a:solidFill>
                  <a:srgbClr val="FFFFFF"/>
                </a:solidFill>
                <a:latin typeface="Calibri"/>
                <a:cs typeface="Calibri"/>
              </a:rPr>
              <a:t>Sustainable buying behavior</a:t>
            </a:r>
            <a:endParaRPr lang="en-US" sz="1100" dirty="0">
              <a:latin typeface="Calibri"/>
              <a:cs typeface="Calibri"/>
            </a:endParaRPr>
          </a:p>
          <a:p>
            <a:endParaRPr lang="en-IN" sz="1100" dirty="0">
              <a:solidFill>
                <a:schemeClr val="accent4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165BF1-7907-325D-F9F5-0DD91BB979ED}"/>
              </a:ext>
            </a:extLst>
          </p:cNvPr>
          <p:cNvSpPr txBox="1"/>
          <p:nvPr/>
        </p:nvSpPr>
        <p:spPr>
          <a:xfrm>
            <a:off x="4963431" y="4872522"/>
            <a:ext cx="192581" cy="3308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noProof="0" dirty="0">
                <a:solidFill>
                  <a:schemeClr val="accent4"/>
                </a:solidFill>
              </a:rPr>
              <a:t>1.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450067-F12A-9876-7AE8-E495918A2512}"/>
              </a:ext>
            </a:extLst>
          </p:cNvPr>
          <p:cNvSpPr txBox="1"/>
          <p:nvPr/>
        </p:nvSpPr>
        <p:spPr>
          <a:xfrm>
            <a:off x="4969147" y="5710738"/>
            <a:ext cx="192581" cy="3308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noProof="0" dirty="0">
                <a:solidFill>
                  <a:schemeClr val="accent4"/>
                </a:solidFill>
              </a:rPr>
              <a:t>2.</a:t>
            </a:r>
          </a:p>
        </p:txBody>
      </p:sp>
      <p:sp>
        <p:nvSpPr>
          <p:cNvPr id="44" name="object 58">
            <a:extLst>
              <a:ext uri="{FF2B5EF4-FFF2-40B4-BE49-F238E27FC236}">
                <a16:creationId xmlns:a16="http://schemas.microsoft.com/office/drawing/2014/main" id="{01EA6088-F3AA-BB3D-7C26-607CBF40CE01}"/>
              </a:ext>
            </a:extLst>
          </p:cNvPr>
          <p:cNvSpPr/>
          <p:nvPr/>
        </p:nvSpPr>
        <p:spPr>
          <a:xfrm>
            <a:off x="5200920" y="5721315"/>
            <a:ext cx="1923750" cy="715944"/>
          </a:xfrm>
          <a:custGeom>
            <a:avLst/>
            <a:gdLst/>
            <a:ahLst/>
            <a:cxnLst/>
            <a:rect l="l" t="t" r="r" b="b"/>
            <a:pathLst>
              <a:path w="2071370" h="868679">
                <a:moveTo>
                  <a:pt x="0" y="868680"/>
                </a:moveTo>
                <a:lnTo>
                  <a:pt x="2071116" y="868680"/>
                </a:lnTo>
                <a:lnTo>
                  <a:pt x="2071116" y="0"/>
                </a:lnTo>
                <a:lnTo>
                  <a:pt x="0" y="0"/>
                </a:lnTo>
                <a:lnTo>
                  <a:pt x="0" y="868680"/>
                </a:lnTo>
                <a:close/>
              </a:path>
            </a:pathLst>
          </a:custGeom>
          <a:solidFill>
            <a:srgbClr val="BE82FF"/>
          </a:solidFill>
          <a:ln w="12700">
            <a:solidFill>
              <a:srgbClr val="C766FF"/>
            </a:solidFill>
          </a:ln>
        </p:spPr>
        <p:txBody>
          <a:bodyPr wrap="square" lIns="0" tIns="0" rIns="0" bIns="0" rtlCol="0"/>
          <a:lstStyle/>
          <a:p>
            <a:pPr marL="184785" indent="-1727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185420" algn="l"/>
              </a:tabLst>
            </a:pPr>
            <a:r>
              <a:rPr lang="en-US" sz="1100" dirty="0">
                <a:solidFill>
                  <a:srgbClr val="FFFFFF"/>
                </a:solidFill>
                <a:latin typeface="Calibri"/>
                <a:cs typeface="Calibri"/>
              </a:rPr>
              <a:t> Young (15-30 yrs.)</a:t>
            </a:r>
          </a:p>
          <a:p>
            <a:pPr marL="184785" indent="-1727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185420" algn="l"/>
              </a:tabLst>
            </a:pPr>
            <a:r>
              <a:rPr lang="en-US" sz="1100" dirty="0">
                <a:solidFill>
                  <a:srgbClr val="FFFFFF"/>
                </a:solidFill>
                <a:latin typeface="Calibri"/>
                <a:cs typeface="Calibri"/>
              </a:rPr>
              <a:t>Tech-Savvy early adopters</a:t>
            </a:r>
          </a:p>
          <a:p>
            <a:pPr marL="184785" indent="-1727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185420" algn="l"/>
              </a:tabLst>
            </a:pPr>
            <a:r>
              <a:rPr lang="en-US" sz="1100" dirty="0">
                <a:solidFill>
                  <a:srgbClr val="FFFFFF"/>
                </a:solidFill>
                <a:latin typeface="Calibri"/>
                <a:cs typeface="Calibri"/>
              </a:rPr>
              <a:t>Limited disposable income</a:t>
            </a:r>
          </a:p>
          <a:p>
            <a:pPr marL="184785" indent="-1727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185420" algn="l"/>
              </a:tabLst>
            </a:pPr>
            <a:r>
              <a:rPr lang="en-US" sz="1100" dirty="0">
                <a:solidFill>
                  <a:srgbClr val="FFFFFF"/>
                </a:solidFill>
                <a:latin typeface="Calibri"/>
                <a:cs typeface="Calibri"/>
              </a:rPr>
              <a:t>High future earning potential</a:t>
            </a:r>
          </a:p>
          <a:p>
            <a:endParaRPr lang="en-IN" sz="1100" dirty="0">
              <a:solidFill>
                <a:schemeClr val="accent4"/>
              </a:solidFill>
            </a:endParaRPr>
          </a:p>
        </p:txBody>
      </p:sp>
      <p:pic>
        <p:nvPicPr>
          <p:cNvPr id="45" name="Picture 2" descr="Buy PERFECT SHOPO Polyester and Cotton Body Wrap Bath Robe Cum Towel for  Women (Random, 456615) Online at desertcart Bermuda">
            <a:extLst>
              <a:ext uri="{FF2B5EF4-FFF2-40B4-BE49-F238E27FC236}">
                <a16:creationId xmlns:a16="http://schemas.microsoft.com/office/drawing/2014/main" id="{262BFCC5-0F87-68D6-B73A-5B4E25767D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18" t="17021" r="20939" b="19511"/>
          <a:stretch/>
        </p:blipFill>
        <p:spPr bwMode="auto">
          <a:xfrm>
            <a:off x="8794600" y="4880709"/>
            <a:ext cx="670101" cy="7659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object 61">
            <a:extLst>
              <a:ext uri="{FF2B5EF4-FFF2-40B4-BE49-F238E27FC236}">
                <a16:creationId xmlns:a16="http://schemas.microsoft.com/office/drawing/2014/main" id="{26D45C31-931C-137C-F132-D17744E8DC15}"/>
              </a:ext>
            </a:extLst>
          </p:cNvPr>
          <p:cNvSpPr txBox="1"/>
          <p:nvPr/>
        </p:nvSpPr>
        <p:spPr>
          <a:xfrm>
            <a:off x="7296414" y="4822420"/>
            <a:ext cx="149818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1200" b="1" i="1" spc="-5" dirty="0">
                <a:solidFill>
                  <a:schemeClr val="accent3"/>
                </a:solidFill>
                <a:latin typeface="Calibri"/>
                <a:cs typeface="Calibri"/>
              </a:rPr>
              <a:t>Mid</a:t>
            </a:r>
            <a:r>
              <a:rPr sz="1200" b="1" i="1" spc="-10" dirty="0">
                <a:solidFill>
                  <a:schemeClr val="accent3"/>
                </a:solidFill>
                <a:latin typeface="Calibri"/>
                <a:cs typeface="Calibri"/>
              </a:rPr>
              <a:t> Price</a:t>
            </a:r>
            <a:r>
              <a:rPr sz="1200" b="1" i="1" spc="10" dirty="0">
                <a:solidFill>
                  <a:schemeClr val="accent3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chemeClr val="accent3"/>
                </a:solidFill>
                <a:latin typeface="Calibri"/>
                <a:cs typeface="Calibri"/>
              </a:rPr>
              <a:t>Entry</a:t>
            </a:r>
            <a:r>
              <a:rPr sz="1200" b="1" i="1" spc="-35" dirty="0">
                <a:solidFill>
                  <a:schemeClr val="accent3"/>
                </a:solidFill>
                <a:latin typeface="Calibri"/>
                <a:cs typeface="Calibri"/>
              </a:rPr>
              <a:t> </a:t>
            </a:r>
            <a:r>
              <a:rPr sz="1200" b="1" i="1" spc="-5" dirty="0">
                <a:solidFill>
                  <a:schemeClr val="accent3"/>
                </a:solidFill>
                <a:latin typeface="Calibri"/>
                <a:cs typeface="Calibri"/>
              </a:rPr>
              <a:t>level</a:t>
            </a:r>
            <a:r>
              <a:rPr sz="1200" b="1" i="1" spc="-10" dirty="0">
                <a:solidFill>
                  <a:schemeClr val="accent3"/>
                </a:solidFill>
                <a:latin typeface="Calibri"/>
                <a:cs typeface="Calibri"/>
              </a:rPr>
              <a:t> </a:t>
            </a:r>
            <a:r>
              <a:rPr lang="en-IN" sz="1200" b="1" i="1" spc="-10" dirty="0">
                <a:solidFill>
                  <a:schemeClr val="accent3"/>
                </a:solidFill>
                <a:latin typeface="Calibri"/>
                <a:cs typeface="Calibri"/>
              </a:rPr>
              <a:t>S</a:t>
            </a:r>
            <a:r>
              <a:rPr lang="en-IN" sz="1200" b="1" i="1" dirty="0">
                <a:solidFill>
                  <a:schemeClr val="accent3"/>
                </a:solidFill>
                <a:latin typeface="Calibri"/>
                <a:cs typeface="Calibri"/>
              </a:rPr>
              <a:t>ustainable towel</a:t>
            </a:r>
            <a:endParaRPr sz="1200" dirty="0">
              <a:solidFill>
                <a:schemeClr val="accent3"/>
              </a:solidFill>
              <a:latin typeface="Calibri"/>
              <a:cs typeface="Calibri"/>
            </a:endParaRPr>
          </a:p>
        </p:txBody>
      </p:sp>
      <p:sp>
        <p:nvSpPr>
          <p:cNvPr id="52" name="object 60">
            <a:extLst>
              <a:ext uri="{FF2B5EF4-FFF2-40B4-BE49-F238E27FC236}">
                <a16:creationId xmlns:a16="http://schemas.microsoft.com/office/drawing/2014/main" id="{F6A5B057-4B4C-DF27-E43B-C9D93DDFB94B}"/>
              </a:ext>
            </a:extLst>
          </p:cNvPr>
          <p:cNvSpPr txBox="1"/>
          <p:nvPr/>
        </p:nvSpPr>
        <p:spPr>
          <a:xfrm>
            <a:off x="7313173" y="5263661"/>
            <a:ext cx="1415525" cy="427039"/>
          </a:xfrm>
          <a:prstGeom prst="rect">
            <a:avLst/>
          </a:prstGeom>
          <a:ln w="6350">
            <a:solidFill>
              <a:schemeClr val="accent2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marL="95250" marR="85090" indent="74295" algn="ctr">
              <a:lnSpc>
                <a:spcPct val="100000"/>
              </a:lnSpc>
              <a:spcBef>
                <a:spcPts val="409"/>
              </a:spcBef>
            </a:pPr>
            <a:r>
              <a:rPr lang="en-IN" sz="1050" b="1" i="1" spc="-5" dirty="0">
                <a:solidFill>
                  <a:schemeClr val="accent3"/>
                </a:solidFill>
                <a:latin typeface="Calibri"/>
                <a:cs typeface="Calibri"/>
              </a:rPr>
              <a:t>Self cleaning towel</a:t>
            </a:r>
          </a:p>
          <a:p>
            <a:pPr marL="95250" marR="85090" indent="74295" algn="ctr">
              <a:spcBef>
                <a:spcPts val="409"/>
              </a:spcBef>
            </a:pPr>
            <a:r>
              <a:rPr lang="en-IN" sz="1050" b="1" i="1" dirty="0">
                <a:solidFill>
                  <a:schemeClr val="bg1"/>
                </a:solidFill>
                <a:latin typeface="Calibri"/>
                <a:cs typeface="Calibri"/>
              </a:rPr>
              <a:t>Towel cum bathrobe</a:t>
            </a:r>
            <a:endParaRPr lang="en-IN" sz="105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54" name="object 61">
            <a:extLst>
              <a:ext uri="{FF2B5EF4-FFF2-40B4-BE49-F238E27FC236}">
                <a16:creationId xmlns:a16="http://schemas.microsoft.com/office/drawing/2014/main" id="{0E312E49-DA42-9F0D-59A4-AF069CB5F6D2}"/>
              </a:ext>
            </a:extLst>
          </p:cNvPr>
          <p:cNvSpPr txBox="1"/>
          <p:nvPr/>
        </p:nvSpPr>
        <p:spPr>
          <a:xfrm>
            <a:off x="7296414" y="5770129"/>
            <a:ext cx="149818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1200" b="1" i="1" spc="-5" dirty="0">
                <a:solidFill>
                  <a:schemeClr val="accent3"/>
                </a:solidFill>
                <a:latin typeface="Calibri"/>
                <a:cs typeface="Calibri"/>
              </a:rPr>
              <a:t>Low-Mid</a:t>
            </a:r>
            <a:r>
              <a:rPr sz="1200" b="1" i="1" spc="-10" dirty="0">
                <a:solidFill>
                  <a:schemeClr val="accent3"/>
                </a:solidFill>
                <a:latin typeface="Calibri"/>
                <a:cs typeface="Calibri"/>
              </a:rPr>
              <a:t> Price</a:t>
            </a:r>
            <a:r>
              <a:rPr sz="1200" b="1" i="1" spc="10" dirty="0">
                <a:solidFill>
                  <a:schemeClr val="accent3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chemeClr val="accent3"/>
                </a:solidFill>
                <a:latin typeface="Calibri"/>
                <a:cs typeface="Calibri"/>
              </a:rPr>
              <a:t>Entry</a:t>
            </a:r>
            <a:r>
              <a:rPr sz="1200" b="1" i="1" spc="-35" dirty="0">
                <a:solidFill>
                  <a:schemeClr val="accent3"/>
                </a:solidFill>
                <a:latin typeface="Calibri"/>
                <a:cs typeface="Calibri"/>
              </a:rPr>
              <a:t> </a:t>
            </a:r>
            <a:r>
              <a:rPr sz="1200" b="1" i="1" spc="-5" dirty="0">
                <a:solidFill>
                  <a:schemeClr val="accent3"/>
                </a:solidFill>
                <a:latin typeface="Calibri"/>
                <a:cs typeface="Calibri"/>
              </a:rPr>
              <a:t>level</a:t>
            </a:r>
            <a:r>
              <a:rPr sz="1200" b="1" i="1" spc="-10" dirty="0">
                <a:solidFill>
                  <a:schemeClr val="accent3"/>
                </a:solidFill>
                <a:latin typeface="Calibri"/>
                <a:cs typeface="Calibri"/>
              </a:rPr>
              <a:t> </a:t>
            </a:r>
            <a:r>
              <a:rPr lang="en-IN" sz="1200" b="1" i="1" spc="-10" dirty="0">
                <a:solidFill>
                  <a:schemeClr val="accent3"/>
                </a:solidFill>
                <a:latin typeface="Calibri"/>
                <a:cs typeface="Calibri"/>
              </a:rPr>
              <a:t>S</a:t>
            </a:r>
            <a:r>
              <a:rPr lang="en-IN" sz="1200" b="1" i="1" dirty="0">
                <a:solidFill>
                  <a:schemeClr val="accent3"/>
                </a:solidFill>
                <a:latin typeface="Calibri"/>
                <a:cs typeface="Calibri"/>
              </a:rPr>
              <a:t>ustainable towel</a:t>
            </a:r>
            <a:endParaRPr sz="1200" dirty="0">
              <a:solidFill>
                <a:schemeClr val="accent3"/>
              </a:solidFill>
              <a:latin typeface="Calibri"/>
              <a:cs typeface="Calibri"/>
            </a:endParaRPr>
          </a:p>
        </p:txBody>
      </p:sp>
      <p:sp>
        <p:nvSpPr>
          <p:cNvPr id="61" name="object 60">
            <a:extLst>
              <a:ext uri="{FF2B5EF4-FFF2-40B4-BE49-F238E27FC236}">
                <a16:creationId xmlns:a16="http://schemas.microsoft.com/office/drawing/2014/main" id="{B49D0B35-58F3-821D-4F9D-B725EC1ECF84}"/>
              </a:ext>
            </a:extLst>
          </p:cNvPr>
          <p:cNvSpPr txBox="1"/>
          <p:nvPr/>
        </p:nvSpPr>
        <p:spPr>
          <a:xfrm>
            <a:off x="7311556" y="6163477"/>
            <a:ext cx="1383188" cy="375743"/>
          </a:xfrm>
          <a:prstGeom prst="rect">
            <a:avLst/>
          </a:prstGeom>
          <a:ln w="6350">
            <a:solidFill>
              <a:schemeClr val="accent2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marL="95250" marR="85090" indent="74295" algn="ctr">
              <a:lnSpc>
                <a:spcPct val="100000"/>
              </a:lnSpc>
              <a:spcBef>
                <a:spcPts val="409"/>
              </a:spcBef>
            </a:pPr>
            <a:r>
              <a:rPr lang="en-IN" sz="1050" b="1" i="1" spc="-5" dirty="0">
                <a:solidFill>
                  <a:schemeClr val="accent3"/>
                </a:solidFill>
                <a:latin typeface="Calibri"/>
                <a:cs typeface="Calibri"/>
              </a:rPr>
              <a:t>Anti-Bacterial, Self-cleaning towel</a:t>
            </a: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F21B4149-2F8B-90A7-9F92-55EEA2CADC1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190" y="5880425"/>
            <a:ext cx="614720" cy="5894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295605C7-67A2-F662-B48E-AA1AB6ED7020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-444" t="100000" b="-6428"/>
          <a:stretch/>
        </p:blipFill>
        <p:spPr>
          <a:xfrm>
            <a:off x="9569147" y="5547873"/>
            <a:ext cx="1294852" cy="45719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317DE879-A889-F8B1-7FF7-4B7D971F8D0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33755" y="4904746"/>
            <a:ext cx="1648004" cy="839121"/>
          </a:xfrm>
          <a:prstGeom prst="rect">
            <a:avLst/>
          </a:prstGeom>
        </p:spPr>
      </p:pic>
      <p:sp>
        <p:nvSpPr>
          <p:cNvPr id="78" name="object 57">
            <a:extLst>
              <a:ext uri="{FF2B5EF4-FFF2-40B4-BE49-F238E27FC236}">
                <a16:creationId xmlns:a16="http://schemas.microsoft.com/office/drawing/2014/main" id="{A676CD42-8B00-9CDD-632A-B55715D56935}"/>
              </a:ext>
            </a:extLst>
          </p:cNvPr>
          <p:cNvSpPr txBox="1"/>
          <p:nvPr/>
        </p:nvSpPr>
        <p:spPr>
          <a:xfrm>
            <a:off x="10219044" y="5849157"/>
            <a:ext cx="1409974" cy="503984"/>
          </a:xfrm>
          <a:prstGeom prst="rect">
            <a:avLst/>
          </a:prstGeom>
          <a:solidFill>
            <a:srgbClr val="BE82FF"/>
          </a:solidFill>
        </p:spPr>
        <p:txBody>
          <a:bodyPr vert="horz" wrap="square" lIns="0" tIns="26670" rIns="0" bIns="0" rtlCol="0">
            <a:spAutoFit/>
          </a:bodyPr>
          <a:lstStyle/>
          <a:p>
            <a:pPr marL="147320" marR="142875" indent="-635" algn="ctr">
              <a:lnSpc>
                <a:spcPct val="100000"/>
              </a:lnSpc>
              <a:spcBef>
                <a:spcPts val="210"/>
              </a:spcBef>
            </a:pPr>
            <a:r>
              <a:rPr sz="1100" b="1" i="1" spc="-5" dirty="0">
                <a:latin typeface="Calibri"/>
                <a:cs typeface="Calibri"/>
              </a:rPr>
              <a:t>E-Commerce </a:t>
            </a:r>
            <a:r>
              <a:rPr sz="1100" b="1" i="1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Flash Sales, Product </a:t>
            </a:r>
            <a:r>
              <a:rPr sz="1000" i="1" spc="-225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Promotion</a:t>
            </a:r>
            <a:r>
              <a:rPr sz="1000" i="1" spc="-35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pages</a:t>
            </a:r>
            <a:endParaRPr sz="1000" dirty="0">
              <a:latin typeface="Calibri"/>
              <a:cs typeface="Calibri"/>
            </a:endParaRPr>
          </a:p>
        </p:txBody>
      </p:sp>
      <p:pic>
        <p:nvPicPr>
          <p:cNvPr id="79" name="object 68">
            <a:extLst>
              <a:ext uri="{FF2B5EF4-FFF2-40B4-BE49-F238E27FC236}">
                <a16:creationId xmlns:a16="http://schemas.microsoft.com/office/drawing/2014/main" id="{F8A128D4-4395-B260-35B0-4B2F0474BF6E}"/>
              </a:ext>
            </a:extLst>
          </p:cNvPr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755015" y="5827744"/>
            <a:ext cx="418289" cy="51603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97C6ECC-F8F5-3BB0-E843-5D3553CBACA1}"/>
              </a:ext>
            </a:extLst>
          </p:cNvPr>
          <p:cNvGrpSpPr/>
          <p:nvPr/>
        </p:nvGrpSpPr>
        <p:grpSpPr>
          <a:xfrm>
            <a:off x="4963430" y="186234"/>
            <a:ext cx="5334451" cy="1456442"/>
            <a:chOff x="5545246" y="3761729"/>
            <a:chExt cx="4523113" cy="138938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6D5A932-B119-3210-9529-6FAD6126F9A4}"/>
                </a:ext>
              </a:extLst>
            </p:cNvPr>
            <p:cNvGrpSpPr/>
            <p:nvPr/>
          </p:nvGrpSpPr>
          <p:grpSpPr>
            <a:xfrm>
              <a:off x="5545246" y="3761729"/>
              <a:ext cx="4084210" cy="914400"/>
              <a:chOff x="-65988" y="324081"/>
              <a:chExt cx="3986291" cy="91440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09E3F20-7AD2-BFE6-95EA-67213BDCCAE3}"/>
                  </a:ext>
                </a:extLst>
              </p:cNvPr>
              <p:cNvSpPr/>
              <p:nvPr/>
            </p:nvSpPr>
            <p:spPr>
              <a:xfrm>
                <a:off x="605928" y="504066"/>
                <a:ext cx="3314375" cy="231303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“CHAUNK JAOGE”</a:t>
                </a:r>
                <a:endParaRPr lang="en-US" sz="1800" b="1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9" name="Graphic 8" descr="Ribbon">
                <a:extLst>
                  <a:ext uri="{FF2B5EF4-FFF2-40B4-BE49-F238E27FC236}">
                    <a16:creationId xmlns:a16="http://schemas.microsoft.com/office/drawing/2014/main" id="{CD2AF0AE-660E-7420-E532-BCB9EE6B29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-65988" y="32408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9BDE36B-CBD1-32ED-93F0-971C3AFE5892}"/>
                </a:ext>
              </a:extLst>
            </p:cNvPr>
            <p:cNvSpPr txBox="1"/>
            <p:nvPr/>
          </p:nvSpPr>
          <p:spPr>
            <a:xfrm>
              <a:off x="6233667" y="4165737"/>
              <a:ext cx="3834692" cy="724808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en-US" sz="1200" b="0" i="0" dirty="0">
                  <a:solidFill>
                    <a:srgbClr val="262626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Thicker, lighter and sustainable towel, but takes no time to dry! </a:t>
              </a:r>
              <a:r>
                <a:rPr lang="en-IN" sz="1200" dirty="0">
                  <a:solidFill>
                    <a:srgbClr val="30313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</a:t>
              </a:r>
              <a:r>
                <a:rPr lang="en-IN" sz="1200" b="0" i="0" dirty="0">
                  <a:solidFill>
                    <a:srgbClr val="30313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elf-cleaning Towel with no laundry or bathrobe buying hassle</a:t>
              </a:r>
              <a:endParaRPr lang="en-US" sz="12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1257CFA-A719-72C8-8515-6E6696BA72BA}"/>
                </a:ext>
              </a:extLst>
            </p:cNvPr>
            <p:cNvSpPr txBox="1"/>
            <p:nvPr/>
          </p:nvSpPr>
          <p:spPr>
            <a:xfrm>
              <a:off x="5732930" y="4878801"/>
              <a:ext cx="2793529" cy="272312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  <a:prstDash val="dash"/>
            </a:ln>
          </p:spPr>
          <p:txBody>
            <a:bodyPr wrap="square" lIns="36000" tIns="54000" rIns="36000" bIns="3600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Concept</a:t>
              </a:r>
              <a:r>
                <a:rPr lang="en-US" sz="1200" dirty="0">
                  <a:solidFill>
                    <a:schemeClr val="bg1"/>
                  </a:solidFill>
                </a:rPr>
                <a:t>: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5408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B39776-B051-1E97-3297-7EEA3A28E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472243"/>
            <a:ext cx="381001" cy="207843"/>
          </a:xfrm>
        </p:spPr>
        <p:txBody>
          <a:bodyPr/>
          <a:lstStyle/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7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525DE3-A361-902F-55F2-0C74030D9E34}"/>
              </a:ext>
            </a:extLst>
          </p:cNvPr>
          <p:cNvSpPr txBox="1">
            <a:spLocks/>
          </p:cNvSpPr>
          <p:nvPr/>
        </p:nvSpPr>
        <p:spPr>
          <a:xfrm>
            <a:off x="11429998" y="6472243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7</a:t>
            </a:fld>
            <a:endParaRPr lang="en-IN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1AB49CED-068A-661D-1E39-A9030A193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75" y="346527"/>
            <a:ext cx="10906125" cy="344710"/>
          </a:xfrm>
        </p:spPr>
        <p:txBody>
          <a:bodyPr/>
          <a:lstStyle/>
          <a:p>
            <a:r>
              <a:rPr lang="en-US" sz="2800" dirty="0"/>
              <a:t>ABC wants to be a front runner by focusing on 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CD6F081F-5AB4-50C0-60B5-DE52918DE4BA}"/>
              </a:ext>
            </a:extLst>
          </p:cNvPr>
          <p:cNvGrpSpPr/>
          <p:nvPr/>
        </p:nvGrpSpPr>
        <p:grpSpPr>
          <a:xfrm>
            <a:off x="501056" y="862006"/>
            <a:ext cx="2245589" cy="2931001"/>
            <a:chOff x="501056" y="1000556"/>
            <a:chExt cx="2245589" cy="2931001"/>
          </a:xfrm>
        </p:grpSpPr>
        <p:grpSp>
          <p:nvGrpSpPr>
            <p:cNvPr id="42" name="object 48">
              <a:extLst>
                <a:ext uri="{FF2B5EF4-FFF2-40B4-BE49-F238E27FC236}">
                  <a16:creationId xmlns:a16="http://schemas.microsoft.com/office/drawing/2014/main" id="{A48A6D8B-78C2-ABBD-33CC-3E12B4907C5B}"/>
                </a:ext>
              </a:extLst>
            </p:cNvPr>
            <p:cNvGrpSpPr/>
            <p:nvPr/>
          </p:nvGrpSpPr>
          <p:grpSpPr>
            <a:xfrm>
              <a:off x="501056" y="1000556"/>
              <a:ext cx="2004473" cy="2931001"/>
              <a:chOff x="1071654" y="2715836"/>
              <a:chExt cx="2661285" cy="3955415"/>
            </a:xfrm>
          </p:grpSpPr>
          <p:sp>
            <p:nvSpPr>
              <p:cNvPr id="47" name="object 49">
                <a:extLst>
                  <a:ext uri="{FF2B5EF4-FFF2-40B4-BE49-F238E27FC236}">
                    <a16:creationId xmlns:a16="http://schemas.microsoft.com/office/drawing/2014/main" id="{0A2E3847-ED83-CA49-BD5E-09B5BE99447A}"/>
                  </a:ext>
                </a:extLst>
              </p:cNvPr>
              <p:cNvSpPr/>
              <p:nvPr/>
            </p:nvSpPr>
            <p:spPr>
              <a:xfrm>
                <a:off x="1078004" y="2722186"/>
                <a:ext cx="2648585" cy="3942715"/>
              </a:xfrm>
              <a:custGeom>
                <a:avLst/>
                <a:gdLst/>
                <a:ahLst/>
                <a:cxnLst/>
                <a:rect l="l" t="t" r="r" b="b"/>
                <a:pathLst>
                  <a:path w="2648585" h="3942715">
                    <a:moveTo>
                      <a:pt x="0" y="441374"/>
                    </a:moveTo>
                    <a:lnTo>
                      <a:pt x="2589" y="393281"/>
                    </a:lnTo>
                    <a:lnTo>
                      <a:pt x="10180" y="346689"/>
                    </a:lnTo>
                    <a:lnTo>
                      <a:pt x="22501" y="301866"/>
                    </a:lnTo>
                    <a:lnTo>
                      <a:pt x="39284" y="259081"/>
                    </a:lnTo>
                    <a:lnTo>
                      <a:pt x="60260" y="218604"/>
                    </a:lnTo>
                    <a:lnTo>
                      <a:pt x="85159" y="180704"/>
                    </a:lnTo>
                    <a:lnTo>
                      <a:pt x="113712" y="145650"/>
                    </a:lnTo>
                    <a:lnTo>
                      <a:pt x="145651" y="113712"/>
                    </a:lnTo>
                    <a:lnTo>
                      <a:pt x="180704" y="85159"/>
                    </a:lnTo>
                    <a:lnTo>
                      <a:pt x="218604" y="60260"/>
                    </a:lnTo>
                    <a:lnTo>
                      <a:pt x="259081" y="39284"/>
                    </a:lnTo>
                    <a:lnTo>
                      <a:pt x="301866" y="22501"/>
                    </a:lnTo>
                    <a:lnTo>
                      <a:pt x="346689" y="10180"/>
                    </a:lnTo>
                    <a:lnTo>
                      <a:pt x="393282" y="2589"/>
                    </a:lnTo>
                    <a:lnTo>
                      <a:pt x="441375" y="0"/>
                    </a:lnTo>
                    <a:lnTo>
                      <a:pt x="2206823" y="0"/>
                    </a:lnTo>
                    <a:lnTo>
                      <a:pt x="2254915" y="2589"/>
                    </a:lnTo>
                    <a:lnTo>
                      <a:pt x="2301508" y="10180"/>
                    </a:lnTo>
                    <a:lnTo>
                      <a:pt x="2346331" y="22501"/>
                    </a:lnTo>
                    <a:lnTo>
                      <a:pt x="2389116" y="39284"/>
                    </a:lnTo>
                    <a:lnTo>
                      <a:pt x="2429593" y="60260"/>
                    </a:lnTo>
                    <a:lnTo>
                      <a:pt x="2467493" y="85159"/>
                    </a:lnTo>
                    <a:lnTo>
                      <a:pt x="2502547" y="113712"/>
                    </a:lnTo>
                    <a:lnTo>
                      <a:pt x="2534485" y="145650"/>
                    </a:lnTo>
                    <a:lnTo>
                      <a:pt x="2563038" y="180704"/>
                    </a:lnTo>
                    <a:lnTo>
                      <a:pt x="2587937" y="218604"/>
                    </a:lnTo>
                    <a:lnTo>
                      <a:pt x="2608913" y="259081"/>
                    </a:lnTo>
                    <a:lnTo>
                      <a:pt x="2625696" y="301866"/>
                    </a:lnTo>
                    <a:lnTo>
                      <a:pt x="2638017" y="346689"/>
                    </a:lnTo>
                    <a:lnTo>
                      <a:pt x="2645608" y="393281"/>
                    </a:lnTo>
                    <a:lnTo>
                      <a:pt x="2648198" y="441374"/>
                    </a:lnTo>
                    <a:lnTo>
                      <a:pt x="2648198" y="3501233"/>
                    </a:lnTo>
                    <a:lnTo>
                      <a:pt x="2645608" y="3549325"/>
                    </a:lnTo>
                    <a:lnTo>
                      <a:pt x="2638017" y="3595918"/>
                    </a:lnTo>
                    <a:lnTo>
                      <a:pt x="2625696" y="3640741"/>
                    </a:lnTo>
                    <a:lnTo>
                      <a:pt x="2608913" y="3683526"/>
                    </a:lnTo>
                    <a:lnTo>
                      <a:pt x="2587937" y="3724003"/>
                    </a:lnTo>
                    <a:lnTo>
                      <a:pt x="2563038" y="3761903"/>
                    </a:lnTo>
                    <a:lnTo>
                      <a:pt x="2534485" y="3796957"/>
                    </a:lnTo>
                    <a:lnTo>
                      <a:pt x="2502547" y="3828895"/>
                    </a:lnTo>
                    <a:lnTo>
                      <a:pt x="2467493" y="3857448"/>
                    </a:lnTo>
                    <a:lnTo>
                      <a:pt x="2429593" y="3882347"/>
                    </a:lnTo>
                    <a:lnTo>
                      <a:pt x="2389116" y="3903323"/>
                    </a:lnTo>
                    <a:lnTo>
                      <a:pt x="2346331" y="3920106"/>
                    </a:lnTo>
                    <a:lnTo>
                      <a:pt x="2301508" y="3932427"/>
                    </a:lnTo>
                    <a:lnTo>
                      <a:pt x="2254915" y="3940018"/>
                    </a:lnTo>
                    <a:lnTo>
                      <a:pt x="2206823" y="3942608"/>
                    </a:lnTo>
                    <a:lnTo>
                      <a:pt x="441375" y="3942608"/>
                    </a:lnTo>
                    <a:lnTo>
                      <a:pt x="393282" y="3940018"/>
                    </a:lnTo>
                    <a:lnTo>
                      <a:pt x="346689" y="3932427"/>
                    </a:lnTo>
                    <a:lnTo>
                      <a:pt x="301866" y="3920106"/>
                    </a:lnTo>
                    <a:lnTo>
                      <a:pt x="259081" y="3903323"/>
                    </a:lnTo>
                    <a:lnTo>
                      <a:pt x="218604" y="3882347"/>
                    </a:lnTo>
                    <a:lnTo>
                      <a:pt x="180704" y="3857448"/>
                    </a:lnTo>
                    <a:lnTo>
                      <a:pt x="145651" y="3828895"/>
                    </a:lnTo>
                    <a:lnTo>
                      <a:pt x="113712" y="3796957"/>
                    </a:lnTo>
                    <a:lnTo>
                      <a:pt x="85159" y="3761903"/>
                    </a:lnTo>
                    <a:lnTo>
                      <a:pt x="60260" y="3724003"/>
                    </a:lnTo>
                    <a:lnTo>
                      <a:pt x="39284" y="3683526"/>
                    </a:lnTo>
                    <a:lnTo>
                      <a:pt x="22501" y="3640741"/>
                    </a:lnTo>
                    <a:lnTo>
                      <a:pt x="10180" y="3595918"/>
                    </a:lnTo>
                    <a:lnTo>
                      <a:pt x="2589" y="3549325"/>
                    </a:lnTo>
                    <a:lnTo>
                      <a:pt x="0" y="3501233"/>
                    </a:lnTo>
                    <a:lnTo>
                      <a:pt x="0" y="441374"/>
                    </a:lnTo>
                    <a:close/>
                  </a:path>
                </a:pathLst>
              </a:custGeom>
              <a:ln w="12700">
                <a:solidFill>
                  <a:srgbClr val="7030A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8" name="object 50">
                <a:extLst>
                  <a:ext uri="{FF2B5EF4-FFF2-40B4-BE49-F238E27FC236}">
                    <a16:creationId xmlns:a16="http://schemas.microsoft.com/office/drawing/2014/main" id="{7751FAA8-5DE8-CD2A-FF7B-5CA432905742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109471" y="2782823"/>
                <a:ext cx="2569464" cy="984503"/>
              </a:xfrm>
              <a:prstGeom prst="rect">
                <a:avLst/>
              </a:prstGeom>
            </p:spPr>
          </p:pic>
          <p:sp>
            <p:nvSpPr>
              <p:cNvPr id="49" name="object 51">
                <a:extLst>
                  <a:ext uri="{FF2B5EF4-FFF2-40B4-BE49-F238E27FC236}">
                    <a16:creationId xmlns:a16="http://schemas.microsoft.com/office/drawing/2014/main" id="{0728F24F-059E-BD90-2F97-F0405639A5D6}"/>
                  </a:ext>
                </a:extLst>
              </p:cNvPr>
              <p:cNvSpPr/>
              <p:nvPr/>
            </p:nvSpPr>
            <p:spPr>
              <a:xfrm>
                <a:off x="1181920" y="2854646"/>
                <a:ext cx="2424430" cy="842010"/>
              </a:xfrm>
              <a:custGeom>
                <a:avLst/>
                <a:gdLst/>
                <a:ahLst/>
                <a:cxnLst/>
                <a:rect l="l" t="t" r="r" b="b"/>
                <a:pathLst>
                  <a:path w="2424429" h="842010">
                    <a:moveTo>
                      <a:pt x="2105920" y="0"/>
                    </a:moveTo>
                    <a:lnTo>
                      <a:pt x="318447" y="0"/>
                    </a:lnTo>
                    <a:lnTo>
                      <a:pt x="271390" y="3452"/>
                    </a:lnTo>
                    <a:lnTo>
                      <a:pt x="226476" y="13482"/>
                    </a:lnTo>
                    <a:lnTo>
                      <a:pt x="184198" y="29597"/>
                    </a:lnTo>
                    <a:lnTo>
                      <a:pt x="145049" y="51303"/>
                    </a:lnTo>
                    <a:lnTo>
                      <a:pt x="109522" y="78109"/>
                    </a:lnTo>
                    <a:lnTo>
                      <a:pt x="78110" y="109522"/>
                    </a:lnTo>
                    <a:lnTo>
                      <a:pt x="51304" y="145049"/>
                    </a:lnTo>
                    <a:lnTo>
                      <a:pt x="29597" y="184198"/>
                    </a:lnTo>
                    <a:lnTo>
                      <a:pt x="13482" y="226476"/>
                    </a:lnTo>
                    <a:lnTo>
                      <a:pt x="3452" y="271390"/>
                    </a:lnTo>
                    <a:lnTo>
                      <a:pt x="0" y="318448"/>
                    </a:lnTo>
                    <a:lnTo>
                      <a:pt x="0" y="523452"/>
                    </a:lnTo>
                    <a:lnTo>
                      <a:pt x="3452" y="570509"/>
                    </a:lnTo>
                    <a:lnTo>
                      <a:pt x="13482" y="615423"/>
                    </a:lnTo>
                    <a:lnTo>
                      <a:pt x="29597" y="657701"/>
                    </a:lnTo>
                    <a:lnTo>
                      <a:pt x="51304" y="696849"/>
                    </a:lnTo>
                    <a:lnTo>
                      <a:pt x="78110" y="732376"/>
                    </a:lnTo>
                    <a:lnTo>
                      <a:pt x="109522" y="763789"/>
                    </a:lnTo>
                    <a:lnTo>
                      <a:pt x="145049" y="790595"/>
                    </a:lnTo>
                    <a:lnTo>
                      <a:pt x="184198" y="812302"/>
                    </a:lnTo>
                    <a:lnTo>
                      <a:pt x="226476" y="828416"/>
                    </a:lnTo>
                    <a:lnTo>
                      <a:pt x="271390" y="838446"/>
                    </a:lnTo>
                    <a:lnTo>
                      <a:pt x="318447" y="841899"/>
                    </a:lnTo>
                    <a:lnTo>
                      <a:pt x="2105920" y="841899"/>
                    </a:lnTo>
                    <a:lnTo>
                      <a:pt x="2152978" y="838446"/>
                    </a:lnTo>
                    <a:lnTo>
                      <a:pt x="2197892" y="828416"/>
                    </a:lnTo>
                    <a:lnTo>
                      <a:pt x="2240170" y="812302"/>
                    </a:lnTo>
                    <a:lnTo>
                      <a:pt x="2279318" y="790595"/>
                    </a:lnTo>
                    <a:lnTo>
                      <a:pt x="2314845" y="763789"/>
                    </a:lnTo>
                    <a:lnTo>
                      <a:pt x="2346258" y="732376"/>
                    </a:lnTo>
                    <a:lnTo>
                      <a:pt x="2373064" y="696849"/>
                    </a:lnTo>
                    <a:lnTo>
                      <a:pt x="2394770" y="657701"/>
                    </a:lnTo>
                    <a:lnTo>
                      <a:pt x="2410885" y="615423"/>
                    </a:lnTo>
                    <a:lnTo>
                      <a:pt x="2420915" y="570509"/>
                    </a:lnTo>
                    <a:lnTo>
                      <a:pt x="2424368" y="523452"/>
                    </a:lnTo>
                    <a:lnTo>
                      <a:pt x="2424368" y="318448"/>
                    </a:lnTo>
                    <a:lnTo>
                      <a:pt x="2420915" y="271390"/>
                    </a:lnTo>
                    <a:lnTo>
                      <a:pt x="2410885" y="226476"/>
                    </a:lnTo>
                    <a:lnTo>
                      <a:pt x="2394770" y="184198"/>
                    </a:lnTo>
                    <a:lnTo>
                      <a:pt x="2373064" y="145049"/>
                    </a:lnTo>
                    <a:lnTo>
                      <a:pt x="2346258" y="109522"/>
                    </a:lnTo>
                    <a:lnTo>
                      <a:pt x="2314845" y="78109"/>
                    </a:lnTo>
                    <a:lnTo>
                      <a:pt x="2279318" y="51303"/>
                    </a:lnTo>
                    <a:lnTo>
                      <a:pt x="2240170" y="29597"/>
                    </a:lnTo>
                    <a:lnTo>
                      <a:pt x="2197892" y="13482"/>
                    </a:lnTo>
                    <a:lnTo>
                      <a:pt x="2152978" y="3452"/>
                    </a:lnTo>
                    <a:lnTo>
                      <a:pt x="2105920" y="0"/>
                    </a:lnTo>
                    <a:close/>
                  </a:path>
                </a:pathLst>
              </a:custGeom>
              <a:solidFill>
                <a:srgbClr val="8537BE"/>
              </a:solidFill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b="1" dirty="0"/>
                  <a:t>Digital First</a:t>
                </a:r>
                <a:endParaRPr b="1" dirty="0"/>
              </a:p>
            </p:txBody>
          </p:sp>
          <p:sp>
            <p:nvSpPr>
              <p:cNvPr id="50" name="object 52">
                <a:extLst>
                  <a:ext uri="{FF2B5EF4-FFF2-40B4-BE49-F238E27FC236}">
                    <a16:creationId xmlns:a16="http://schemas.microsoft.com/office/drawing/2014/main" id="{F42B5314-5494-20E4-8FE9-905903D87FB4}"/>
                  </a:ext>
                </a:extLst>
              </p:cNvPr>
              <p:cNvSpPr/>
              <p:nvPr/>
            </p:nvSpPr>
            <p:spPr>
              <a:xfrm>
                <a:off x="1181920" y="2854646"/>
                <a:ext cx="2424430" cy="842010"/>
              </a:xfrm>
              <a:custGeom>
                <a:avLst/>
                <a:gdLst/>
                <a:ahLst/>
                <a:cxnLst/>
                <a:rect l="l" t="t" r="r" b="b"/>
                <a:pathLst>
                  <a:path w="2424429" h="842010">
                    <a:moveTo>
                      <a:pt x="0" y="318448"/>
                    </a:moveTo>
                    <a:lnTo>
                      <a:pt x="3452" y="271390"/>
                    </a:lnTo>
                    <a:lnTo>
                      <a:pt x="13482" y="226476"/>
                    </a:lnTo>
                    <a:lnTo>
                      <a:pt x="29597" y="184198"/>
                    </a:lnTo>
                    <a:lnTo>
                      <a:pt x="51303" y="145049"/>
                    </a:lnTo>
                    <a:lnTo>
                      <a:pt x="78109" y="109522"/>
                    </a:lnTo>
                    <a:lnTo>
                      <a:pt x="109522" y="78109"/>
                    </a:lnTo>
                    <a:lnTo>
                      <a:pt x="145049" y="51303"/>
                    </a:lnTo>
                    <a:lnTo>
                      <a:pt x="184198" y="29597"/>
                    </a:lnTo>
                    <a:lnTo>
                      <a:pt x="226475" y="13482"/>
                    </a:lnTo>
                    <a:lnTo>
                      <a:pt x="271389" y="3452"/>
                    </a:lnTo>
                    <a:lnTo>
                      <a:pt x="318447" y="0"/>
                    </a:lnTo>
                    <a:lnTo>
                      <a:pt x="2105921" y="0"/>
                    </a:lnTo>
                    <a:lnTo>
                      <a:pt x="2152978" y="3452"/>
                    </a:lnTo>
                    <a:lnTo>
                      <a:pt x="2197892" y="13482"/>
                    </a:lnTo>
                    <a:lnTo>
                      <a:pt x="2240170" y="29597"/>
                    </a:lnTo>
                    <a:lnTo>
                      <a:pt x="2279318" y="51303"/>
                    </a:lnTo>
                    <a:lnTo>
                      <a:pt x="2314845" y="78109"/>
                    </a:lnTo>
                    <a:lnTo>
                      <a:pt x="2346258" y="109522"/>
                    </a:lnTo>
                    <a:lnTo>
                      <a:pt x="2373064" y="145049"/>
                    </a:lnTo>
                    <a:lnTo>
                      <a:pt x="2394770" y="184198"/>
                    </a:lnTo>
                    <a:lnTo>
                      <a:pt x="2410885" y="226476"/>
                    </a:lnTo>
                    <a:lnTo>
                      <a:pt x="2420915" y="271390"/>
                    </a:lnTo>
                    <a:lnTo>
                      <a:pt x="2424368" y="318448"/>
                    </a:lnTo>
                    <a:lnTo>
                      <a:pt x="2424368" y="523451"/>
                    </a:lnTo>
                    <a:lnTo>
                      <a:pt x="2420915" y="570508"/>
                    </a:lnTo>
                    <a:lnTo>
                      <a:pt x="2410885" y="615423"/>
                    </a:lnTo>
                    <a:lnTo>
                      <a:pt x="2394770" y="657700"/>
                    </a:lnTo>
                    <a:lnTo>
                      <a:pt x="2373064" y="696849"/>
                    </a:lnTo>
                    <a:lnTo>
                      <a:pt x="2346258" y="732376"/>
                    </a:lnTo>
                    <a:lnTo>
                      <a:pt x="2314845" y="763789"/>
                    </a:lnTo>
                    <a:lnTo>
                      <a:pt x="2279318" y="790595"/>
                    </a:lnTo>
                    <a:lnTo>
                      <a:pt x="2240170" y="812301"/>
                    </a:lnTo>
                    <a:lnTo>
                      <a:pt x="2197892" y="828416"/>
                    </a:lnTo>
                    <a:lnTo>
                      <a:pt x="2152978" y="838446"/>
                    </a:lnTo>
                    <a:lnTo>
                      <a:pt x="2105921" y="841899"/>
                    </a:lnTo>
                    <a:lnTo>
                      <a:pt x="318447" y="841899"/>
                    </a:lnTo>
                    <a:lnTo>
                      <a:pt x="271389" y="838446"/>
                    </a:lnTo>
                    <a:lnTo>
                      <a:pt x="226475" y="828416"/>
                    </a:lnTo>
                    <a:lnTo>
                      <a:pt x="184198" y="812301"/>
                    </a:lnTo>
                    <a:lnTo>
                      <a:pt x="145049" y="790595"/>
                    </a:lnTo>
                    <a:lnTo>
                      <a:pt x="109522" y="763789"/>
                    </a:lnTo>
                    <a:lnTo>
                      <a:pt x="78109" y="732376"/>
                    </a:lnTo>
                    <a:lnTo>
                      <a:pt x="51303" y="696849"/>
                    </a:lnTo>
                    <a:lnTo>
                      <a:pt x="29597" y="657700"/>
                    </a:lnTo>
                    <a:lnTo>
                      <a:pt x="13482" y="615423"/>
                    </a:lnTo>
                    <a:lnTo>
                      <a:pt x="3452" y="570508"/>
                    </a:lnTo>
                    <a:lnTo>
                      <a:pt x="0" y="523451"/>
                    </a:lnTo>
                    <a:lnTo>
                      <a:pt x="0" y="318448"/>
                    </a:lnTo>
                    <a:close/>
                  </a:path>
                </a:pathLst>
              </a:custGeom>
              <a:ln w="12700">
                <a:solidFill>
                  <a:srgbClr val="7030A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1" name="object 62">
              <a:extLst>
                <a:ext uri="{FF2B5EF4-FFF2-40B4-BE49-F238E27FC236}">
                  <a16:creationId xmlns:a16="http://schemas.microsoft.com/office/drawing/2014/main" id="{060B4D91-8B03-E15D-4AE6-6BBE465C6EBD}"/>
                </a:ext>
              </a:extLst>
            </p:cNvPr>
            <p:cNvSpPr txBox="1"/>
            <p:nvPr/>
          </p:nvSpPr>
          <p:spPr>
            <a:xfrm>
              <a:off x="920356" y="2041378"/>
              <a:ext cx="1666465" cy="5668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1200" spc="40" dirty="0">
                  <a:solidFill>
                    <a:schemeClr val="bg1"/>
                  </a:solidFill>
                  <a:latin typeface="Arial MT"/>
                  <a:cs typeface="Arial MT"/>
                </a:rPr>
                <a:t>Tech for service delivery, metaverse marketplace</a:t>
              </a:r>
              <a:endParaRPr sz="1200" dirty="0">
                <a:solidFill>
                  <a:schemeClr val="bg1"/>
                </a:solidFill>
                <a:latin typeface="Arial MT"/>
                <a:cs typeface="Arial MT"/>
              </a:endParaRPr>
            </a:p>
          </p:txBody>
        </p:sp>
        <p:pic>
          <p:nvPicPr>
            <p:cNvPr id="58" name="object 55">
              <a:extLst>
                <a:ext uri="{FF2B5EF4-FFF2-40B4-BE49-F238E27FC236}">
                  <a16:creationId xmlns:a16="http://schemas.microsoft.com/office/drawing/2014/main" id="{F90ECDD5-AC4D-6B8B-EA48-1B9289A6ACB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4298" y="2059604"/>
              <a:ext cx="345704" cy="345704"/>
            </a:xfrm>
            <a:prstGeom prst="rect">
              <a:avLst/>
            </a:prstGeom>
          </p:spPr>
        </p:pic>
        <p:sp>
          <p:nvSpPr>
            <p:cNvPr id="60" name="object 62">
              <a:extLst>
                <a:ext uri="{FF2B5EF4-FFF2-40B4-BE49-F238E27FC236}">
                  <a16:creationId xmlns:a16="http://schemas.microsoft.com/office/drawing/2014/main" id="{60C3A0ED-A1A1-15EF-A76C-B77FC491F89F}"/>
                </a:ext>
              </a:extLst>
            </p:cNvPr>
            <p:cNvSpPr txBox="1"/>
            <p:nvPr/>
          </p:nvSpPr>
          <p:spPr>
            <a:xfrm>
              <a:off x="930993" y="2798128"/>
              <a:ext cx="1815652" cy="75148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1200" b="1" spc="40" dirty="0">
                  <a:solidFill>
                    <a:schemeClr val="accent3"/>
                  </a:solidFill>
                  <a:latin typeface="Arial MT"/>
                  <a:cs typeface="Arial MT"/>
                </a:rPr>
                <a:t>Transforming value chain </a:t>
              </a:r>
              <a:r>
                <a:rPr lang="en-IN" sz="1200" spc="40" dirty="0">
                  <a:solidFill>
                    <a:schemeClr val="bg1"/>
                  </a:solidFill>
                  <a:latin typeface="Arial MT"/>
                  <a:cs typeface="Arial MT"/>
                </a:rPr>
                <a:t>activities to become more cost optimized</a:t>
              </a:r>
              <a:endParaRPr sz="1200" dirty="0">
                <a:solidFill>
                  <a:schemeClr val="bg1"/>
                </a:solidFill>
                <a:latin typeface="Arial MT"/>
                <a:cs typeface="Arial MT"/>
              </a:endParaRPr>
            </a:p>
          </p:txBody>
        </p:sp>
        <p:pic>
          <p:nvPicPr>
            <p:cNvPr id="65" name="object 39">
              <a:extLst>
                <a:ext uri="{FF2B5EF4-FFF2-40B4-BE49-F238E27FC236}">
                  <a16:creationId xmlns:a16="http://schemas.microsoft.com/office/drawing/2014/main" id="{7D75A5B4-72BD-363C-E837-3FC431948FA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687" y="2814024"/>
              <a:ext cx="281885" cy="281886"/>
            </a:xfrm>
            <a:prstGeom prst="rect">
              <a:avLst/>
            </a:prstGeom>
          </p:spPr>
        </p:pic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4B192A0E-DC9E-B691-45F8-36CFAF6618FE}"/>
                </a:ext>
              </a:extLst>
            </p:cNvPr>
            <p:cNvCxnSpPr/>
            <p:nvPr/>
          </p:nvCxnSpPr>
          <p:spPr>
            <a:xfrm>
              <a:off x="555287" y="1805120"/>
              <a:ext cx="1884167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1CAA436D-E874-EC4B-41D7-C0F701626191}"/>
              </a:ext>
            </a:extLst>
          </p:cNvPr>
          <p:cNvGrpSpPr/>
          <p:nvPr/>
        </p:nvGrpSpPr>
        <p:grpSpPr>
          <a:xfrm>
            <a:off x="2746645" y="862005"/>
            <a:ext cx="2164297" cy="2931001"/>
            <a:chOff x="501056" y="1000556"/>
            <a:chExt cx="2164297" cy="2931001"/>
          </a:xfrm>
        </p:grpSpPr>
        <p:grpSp>
          <p:nvGrpSpPr>
            <p:cNvPr id="71" name="object 48">
              <a:extLst>
                <a:ext uri="{FF2B5EF4-FFF2-40B4-BE49-F238E27FC236}">
                  <a16:creationId xmlns:a16="http://schemas.microsoft.com/office/drawing/2014/main" id="{B3124783-8771-AED0-EAAA-93E7D9DDAF25}"/>
                </a:ext>
              </a:extLst>
            </p:cNvPr>
            <p:cNvGrpSpPr/>
            <p:nvPr/>
          </p:nvGrpSpPr>
          <p:grpSpPr>
            <a:xfrm>
              <a:off x="501056" y="1000556"/>
              <a:ext cx="2004473" cy="2931001"/>
              <a:chOff x="1071654" y="2715836"/>
              <a:chExt cx="2661285" cy="3955415"/>
            </a:xfrm>
          </p:grpSpPr>
          <p:sp>
            <p:nvSpPr>
              <p:cNvPr id="79" name="object 49">
                <a:extLst>
                  <a:ext uri="{FF2B5EF4-FFF2-40B4-BE49-F238E27FC236}">
                    <a16:creationId xmlns:a16="http://schemas.microsoft.com/office/drawing/2014/main" id="{36A50138-5DCC-C36F-870A-9223715D8FC7}"/>
                  </a:ext>
                </a:extLst>
              </p:cNvPr>
              <p:cNvSpPr/>
              <p:nvPr/>
            </p:nvSpPr>
            <p:spPr>
              <a:xfrm>
                <a:off x="1078004" y="2722186"/>
                <a:ext cx="2648585" cy="3942715"/>
              </a:xfrm>
              <a:custGeom>
                <a:avLst/>
                <a:gdLst/>
                <a:ahLst/>
                <a:cxnLst/>
                <a:rect l="l" t="t" r="r" b="b"/>
                <a:pathLst>
                  <a:path w="2648585" h="3942715">
                    <a:moveTo>
                      <a:pt x="0" y="441374"/>
                    </a:moveTo>
                    <a:lnTo>
                      <a:pt x="2589" y="393281"/>
                    </a:lnTo>
                    <a:lnTo>
                      <a:pt x="10180" y="346689"/>
                    </a:lnTo>
                    <a:lnTo>
                      <a:pt x="22501" y="301866"/>
                    </a:lnTo>
                    <a:lnTo>
                      <a:pt x="39284" y="259081"/>
                    </a:lnTo>
                    <a:lnTo>
                      <a:pt x="60260" y="218604"/>
                    </a:lnTo>
                    <a:lnTo>
                      <a:pt x="85159" y="180704"/>
                    </a:lnTo>
                    <a:lnTo>
                      <a:pt x="113712" y="145650"/>
                    </a:lnTo>
                    <a:lnTo>
                      <a:pt x="145651" y="113712"/>
                    </a:lnTo>
                    <a:lnTo>
                      <a:pt x="180704" y="85159"/>
                    </a:lnTo>
                    <a:lnTo>
                      <a:pt x="218604" y="60260"/>
                    </a:lnTo>
                    <a:lnTo>
                      <a:pt x="259081" y="39284"/>
                    </a:lnTo>
                    <a:lnTo>
                      <a:pt x="301866" y="22501"/>
                    </a:lnTo>
                    <a:lnTo>
                      <a:pt x="346689" y="10180"/>
                    </a:lnTo>
                    <a:lnTo>
                      <a:pt x="393282" y="2589"/>
                    </a:lnTo>
                    <a:lnTo>
                      <a:pt x="441375" y="0"/>
                    </a:lnTo>
                    <a:lnTo>
                      <a:pt x="2206823" y="0"/>
                    </a:lnTo>
                    <a:lnTo>
                      <a:pt x="2254915" y="2589"/>
                    </a:lnTo>
                    <a:lnTo>
                      <a:pt x="2301508" y="10180"/>
                    </a:lnTo>
                    <a:lnTo>
                      <a:pt x="2346331" y="22501"/>
                    </a:lnTo>
                    <a:lnTo>
                      <a:pt x="2389116" y="39284"/>
                    </a:lnTo>
                    <a:lnTo>
                      <a:pt x="2429593" y="60260"/>
                    </a:lnTo>
                    <a:lnTo>
                      <a:pt x="2467493" y="85159"/>
                    </a:lnTo>
                    <a:lnTo>
                      <a:pt x="2502547" y="113712"/>
                    </a:lnTo>
                    <a:lnTo>
                      <a:pt x="2534485" y="145650"/>
                    </a:lnTo>
                    <a:lnTo>
                      <a:pt x="2563038" y="180704"/>
                    </a:lnTo>
                    <a:lnTo>
                      <a:pt x="2587937" y="218604"/>
                    </a:lnTo>
                    <a:lnTo>
                      <a:pt x="2608913" y="259081"/>
                    </a:lnTo>
                    <a:lnTo>
                      <a:pt x="2625696" y="301866"/>
                    </a:lnTo>
                    <a:lnTo>
                      <a:pt x="2638017" y="346689"/>
                    </a:lnTo>
                    <a:lnTo>
                      <a:pt x="2645608" y="393281"/>
                    </a:lnTo>
                    <a:lnTo>
                      <a:pt x="2648198" y="441374"/>
                    </a:lnTo>
                    <a:lnTo>
                      <a:pt x="2648198" y="3501233"/>
                    </a:lnTo>
                    <a:lnTo>
                      <a:pt x="2645608" y="3549325"/>
                    </a:lnTo>
                    <a:lnTo>
                      <a:pt x="2638017" y="3595918"/>
                    </a:lnTo>
                    <a:lnTo>
                      <a:pt x="2625696" y="3640741"/>
                    </a:lnTo>
                    <a:lnTo>
                      <a:pt x="2608913" y="3683526"/>
                    </a:lnTo>
                    <a:lnTo>
                      <a:pt x="2587937" y="3724003"/>
                    </a:lnTo>
                    <a:lnTo>
                      <a:pt x="2563038" y="3761903"/>
                    </a:lnTo>
                    <a:lnTo>
                      <a:pt x="2534485" y="3796957"/>
                    </a:lnTo>
                    <a:lnTo>
                      <a:pt x="2502547" y="3828895"/>
                    </a:lnTo>
                    <a:lnTo>
                      <a:pt x="2467493" y="3857448"/>
                    </a:lnTo>
                    <a:lnTo>
                      <a:pt x="2429593" y="3882347"/>
                    </a:lnTo>
                    <a:lnTo>
                      <a:pt x="2389116" y="3903323"/>
                    </a:lnTo>
                    <a:lnTo>
                      <a:pt x="2346331" y="3920106"/>
                    </a:lnTo>
                    <a:lnTo>
                      <a:pt x="2301508" y="3932427"/>
                    </a:lnTo>
                    <a:lnTo>
                      <a:pt x="2254915" y="3940018"/>
                    </a:lnTo>
                    <a:lnTo>
                      <a:pt x="2206823" y="3942608"/>
                    </a:lnTo>
                    <a:lnTo>
                      <a:pt x="441375" y="3942608"/>
                    </a:lnTo>
                    <a:lnTo>
                      <a:pt x="393282" y="3940018"/>
                    </a:lnTo>
                    <a:lnTo>
                      <a:pt x="346689" y="3932427"/>
                    </a:lnTo>
                    <a:lnTo>
                      <a:pt x="301866" y="3920106"/>
                    </a:lnTo>
                    <a:lnTo>
                      <a:pt x="259081" y="3903323"/>
                    </a:lnTo>
                    <a:lnTo>
                      <a:pt x="218604" y="3882347"/>
                    </a:lnTo>
                    <a:lnTo>
                      <a:pt x="180704" y="3857448"/>
                    </a:lnTo>
                    <a:lnTo>
                      <a:pt x="145651" y="3828895"/>
                    </a:lnTo>
                    <a:lnTo>
                      <a:pt x="113712" y="3796957"/>
                    </a:lnTo>
                    <a:lnTo>
                      <a:pt x="85159" y="3761903"/>
                    </a:lnTo>
                    <a:lnTo>
                      <a:pt x="60260" y="3724003"/>
                    </a:lnTo>
                    <a:lnTo>
                      <a:pt x="39284" y="3683526"/>
                    </a:lnTo>
                    <a:lnTo>
                      <a:pt x="22501" y="3640741"/>
                    </a:lnTo>
                    <a:lnTo>
                      <a:pt x="10180" y="3595918"/>
                    </a:lnTo>
                    <a:lnTo>
                      <a:pt x="2589" y="3549325"/>
                    </a:lnTo>
                    <a:lnTo>
                      <a:pt x="0" y="3501233"/>
                    </a:lnTo>
                    <a:lnTo>
                      <a:pt x="0" y="441374"/>
                    </a:lnTo>
                    <a:close/>
                  </a:path>
                </a:pathLst>
              </a:custGeom>
              <a:ln w="12700">
                <a:solidFill>
                  <a:srgbClr val="7030A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80" name="object 50">
                <a:extLst>
                  <a:ext uri="{FF2B5EF4-FFF2-40B4-BE49-F238E27FC236}">
                    <a16:creationId xmlns:a16="http://schemas.microsoft.com/office/drawing/2014/main" id="{83812F7F-9D8D-D2EC-8104-5BA67E1DFC4B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109471" y="2782823"/>
                <a:ext cx="2569464" cy="984503"/>
              </a:xfrm>
              <a:prstGeom prst="rect">
                <a:avLst/>
              </a:prstGeom>
            </p:spPr>
          </p:pic>
          <p:sp>
            <p:nvSpPr>
              <p:cNvPr id="82" name="object 51">
                <a:extLst>
                  <a:ext uri="{FF2B5EF4-FFF2-40B4-BE49-F238E27FC236}">
                    <a16:creationId xmlns:a16="http://schemas.microsoft.com/office/drawing/2014/main" id="{9120B343-F083-6B75-F5F2-19DB3E11191C}"/>
                  </a:ext>
                </a:extLst>
              </p:cNvPr>
              <p:cNvSpPr/>
              <p:nvPr/>
            </p:nvSpPr>
            <p:spPr>
              <a:xfrm>
                <a:off x="1181920" y="2854646"/>
                <a:ext cx="2424430" cy="842010"/>
              </a:xfrm>
              <a:custGeom>
                <a:avLst/>
                <a:gdLst/>
                <a:ahLst/>
                <a:cxnLst/>
                <a:rect l="l" t="t" r="r" b="b"/>
                <a:pathLst>
                  <a:path w="2424429" h="842010">
                    <a:moveTo>
                      <a:pt x="2105920" y="0"/>
                    </a:moveTo>
                    <a:lnTo>
                      <a:pt x="318447" y="0"/>
                    </a:lnTo>
                    <a:lnTo>
                      <a:pt x="271390" y="3452"/>
                    </a:lnTo>
                    <a:lnTo>
                      <a:pt x="226476" y="13482"/>
                    </a:lnTo>
                    <a:lnTo>
                      <a:pt x="184198" y="29597"/>
                    </a:lnTo>
                    <a:lnTo>
                      <a:pt x="145049" y="51303"/>
                    </a:lnTo>
                    <a:lnTo>
                      <a:pt x="109522" y="78109"/>
                    </a:lnTo>
                    <a:lnTo>
                      <a:pt x="78110" y="109522"/>
                    </a:lnTo>
                    <a:lnTo>
                      <a:pt x="51304" y="145049"/>
                    </a:lnTo>
                    <a:lnTo>
                      <a:pt x="29597" y="184198"/>
                    </a:lnTo>
                    <a:lnTo>
                      <a:pt x="13482" y="226476"/>
                    </a:lnTo>
                    <a:lnTo>
                      <a:pt x="3452" y="271390"/>
                    </a:lnTo>
                    <a:lnTo>
                      <a:pt x="0" y="318448"/>
                    </a:lnTo>
                    <a:lnTo>
                      <a:pt x="0" y="523452"/>
                    </a:lnTo>
                    <a:lnTo>
                      <a:pt x="3452" y="570509"/>
                    </a:lnTo>
                    <a:lnTo>
                      <a:pt x="13482" y="615423"/>
                    </a:lnTo>
                    <a:lnTo>
                      <a:pt x="29597" y="657701"/>
                    </a:lnTo>
                    <a:lnTo>
                      <a:pt x="51304" y="696849"/>
                    </a:lnTo>
                    <a:lnTo>
                      <a:pt x="78110" y="732376"/>
                    </a:lnTo>
                    <a:lnTo>
                      <a:pt x="109522" y="763789"/>
                    </a:lnTo>
                    <a:lnTo>
                      <a:pt x="145049" y="790595"/>
                    </a:lnTo>
                    <a:lnTo>
                      <a:pt x="184198" y="812302"/>
                    </a:lnTo>
                    <a:lnTo>
                      <a:pt x="226476" y="828416"/>
                    </a:lnTo>
                    <a:lnTo>
                      <a:pt x="271390" y="838446"/>
                    </a:lnTo>
                    <a:lnTo>
                      <a:pt x="318447" y="841899"/>
                    </a:lnTo>
                    <a:lnTo>
                      <a:pt x="2105920" y="841899"/>
                    </a:lnTo>
                    <a:lnTo>
                      <a:pt x="2152978" y="838446"/>
                    </a:lnTo>
                    <a:lnTo>
                      <a:pt x="2197892" y="828416"/>
                    </a:lnTo>
                    <a:lnTo>
                      <a:pt x="2240170" y="812302"/>
                    </a:lnTo>
                    <a:lnTo>
                      <a:pt x="2279318" y="790595"/>
                    </a:lnTo>
                    <a:lnTo>
                      <a:pt x="2314845" y="763789"/>
                    </a:lnTo>
                    <a:lnTo>
                      <a:pt x="2346258" y="732376"/>
                    </a:lnTo>
                    <a:lnTo>
                      <a:pt x="2373064" y="696849"/>
                    </a:lnTo>
                    <a:lnTo>
                      <a:pt x="2394770" y="657701"/>
                    </a:lnTo>
                    <a:lnTo>
                      <a:pt x="2410885" y="615423"/>
                    </a:lnTo>
                    <a:lnTo>
                      <a:pt x="2420915" y="570509"/>
                    </a:lnTo>
                    <a:lnTo>
                      <a:pt x="2424368" y="523452"/>
                    </a:lnTo>
                    <a:lnTo>
                      <a:pt x="2424368" y="318448"/>
                    </a:lnTo>
                    <a:lnTo>
                      <a:pt x="2420915" y="271390"/>
                    </a:lnTo>
                    <a:lnTo>
                      <a:pt x="2410885" y="226476"/>
                    </a:lnTo>
                    <a:lnTo>
                      <a:pt x="2394770" y="184198"/>
                    </a:lnTo>
                    <a:lnTo>
                      <a:pt x="2373064" y="145049"/>
                    </a:lnTo>
                    <a:lnTo>
                      <a:pt x="2346258" y="109522"/>
                    </a:lnTo>
                    <a:lnTo>
                      <a:pt x="2314845" y="78109"/>
                    </a:lnTo>
                    <a:lnTo>
                      <a:pt x="2279318" y="51303"/>
                    </a:lnTo>
                    <a:lnTo>
                      <a:pt x="2240170" y="29597"/>
                    </a:lnTo>
                    <a:lnTo>
                      <a:pt x="2197892" y="13482"/>
                    </a:lnTo>
                    <a:lnTo>
                      <a:pt x="2152978" y="3452"/>
                    </a:lnTo>
                    <a:lnTo>
                      <a:pt x="2105920" y="0"/>
                    </a:lnTo>
                    <a:close/>
                  </a:path>
                </a:pathLst>
              </a:custGeom>
              <a:solidFill>
                <a:srgbClr val="8537BE"/>
              </a:solidFill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b="1" dirty="0"/>
                  <a:t>Circular Supply Chain</a:t>
                </a:r>
                <a:endParaRPr b="1" dirty="0"/>
              </a:p>
            </p:txBody>
          </p:sp>
          <p:sp>
            <p:nvSpPr>
              <p:cNvPr id="83" name="object 52">
                <a:extLst>
                  <a:ext uri="{FF2B5EF4-FFF2-40B4-BE49-F238E27FC236}">
                    <a16:creationId xmlns:a16="http://schemas.microsoft.com/office/drawing/2014/main" id="{A8ACC22A-7494-9E07-A26D-E891DA12D1FD}"/>
                  </a:ext>
                </a:extLst>
              </p:cNvPr>
              <p:cNvSpPr/>
              <p:nvPr/>
            </p:nvSpPr>
            <p:spPr>
              <a:xfrm>
                <a:off x="1181920" y="2854646"/>
                <a:ext cx="2424430" cy="842010"/>
              </a:xfrm>
              <a:custGeom>
                <a:avLst/>
                <a:gdLst/>
                <a:ahLst/>
                <a:cxnLst/>
                <a:rect l="l" t="t" r="r" b="b"/>
                <a:pathLst>
                  <a:path w="2424429" h="842010">
                    <a:moveTo>
                      <a:pt x="0" y="318448"/>
                    </a:moveTo>
                    <a:lnTo>
                      <a:pt x="3452" y="271390"/>
                    </a:lnTo>
                    <a:lnTo>
                      <a:pt x="13482" y="226476"/>
                    </a:lnTo>
                    <a:lnTo>
                      <a:pt x="29597" y="184198"/>
                    </a:lnTo>
                    <a:lnTo>
                      <a:pt x="51303" y="145049"/>
                    </a:lnTo>
                    <a:lnTo>
                      <a:pt x="78109" y="109522"/>
                    </a:lnTo>
                    <a:lnTo>
                      <a:pt x="109522" y="78109"/>
                    </a:lnTo>
                    <a:lnTo>
                      <a:pt x="145049" y="51303"/>
                    </a:lnTo>
                    <a:lnTo>
                      <a:pt x="184198" y="29597"/>
                    </a:lnTo>
                    <a:lnTo>
                      <a:pt x="226475" y="13482"/>
                    </a:lnTo>
                    <a:lnTo>
                      <a:pt x="271389" y="3452"/>
                    </a:lnTo>
                    <a:lnTo>
                      <a:pt x="318447" y="0"/>
                    </a:lnTo>
                    <a:lnTo>
                      <a:pt x="2105921" y="0"/>
                    </a:lnTo>
                    <a:lnTo>
                      <a:pt x="2152978" y="3452"/>
                    </a:lnTo>
                    <a:lnTo>
                      <a:pt x="2197892" y="13482"/>
                    </a:lnTo>
                    <a:lnTo>
                      <a:pt x="2240170" y="29597"/>
                    </a:lnTo>
                    <a:lnTo>
                      <a:pt x="2279318" y="51303"/>
                    </a:lnTo>
                    <a:lnTo>
                      <a:pt x="2314845" y="78109"/>
                    </a:lnTo>
                    <a:lnTo>
                      <a:pt x="2346258" y="109522"/>
                    </a:lnTo>
                    <a:lnTo>
                      <a:pt x="2373064" y="145049"/>
                    </a:lnTo>
                    <a:lnTo>
                      <a:pt x="2394770" y="184198"/>
                    </a:lnTo>
                    <a:lnTo>
                      <a:pt x="2410885" y="226476"/>
                    </a:lnTo>
                    <a:lnTo>
                      <a:pt x="2420915" y="271390"/>
                    </a:lnTo>
                    <a:lnTo>
                      <a:pt x="2424368" y="318448"/>
                    </a:lnTo>
                    <a:lnTo>
                      <a:pt x="2424368" y="523451"/>
                    </a:lnTo>
                    <a:lnTo>
                      <a:pt x="2420915" y="570508"/>
                    </a:lnTo>
                    <a:lnTo>
                      <a:pt x="2410885" y="615423"/>
                    </a:lnTo>
                    <a:lnTo>
                      <a:pt x="2394770" y="657700"/>
                    </a:lnTo>
                    <a:lnTo>
                      <a:pt x="2373064" y="696849"/>
                    </a:lnTo>
                    <a:lnTo>
                      <a:pt x="2346258" y="732376"/>
                    </a:lnTo>
                    <a:lnTo>
                      <a:pt x="2314845" y="763789"/>
                    </a:lnTo>
                    <a:lnTo>
                      <a:pt x="2279318" y="790595"/>
                    </a:lnTo>
                    <a:lnTo>
                      <a:pt x="2240170" y="812301"/>
                    </a:lnTo>
                    <a:lnTo>
                      <a:pt x="2197892" y="828416"/>
                    </a:lnTo>
                    <a:lnTo>
                      <a:pt x="2152978" y="838446"/>
                    </a:lnTo>
                    <a:lnTo>
                      <a:pt x="2105921" y="841899"/>
                    </a:lnTo>
                    <a:lnTo>
                      <a:pt x="318447" y="841899"/>
                    </a:lnTo>
                    <a:lnTo>
                      <a:pt x="271389" y="838446"/>
                    </a:lnTo>
                    <a:lnTo>
                      <a:pt x="226475" y="828416"/>
                    </a:lnTo>
                    <a:lnTo>
                      <a:pt x="184198" y="812301"/>
                    </a:lnTo>
                    <a:lnTo>
                      <a:pt x="145049" y="790595"/>
                    </a:lnTo>
                    <a:lnTo>
                      <a:pt x="109522" y="763789"/>
                    </a:lnTo>
                    <a:lnTo>
                      <a:pt x="78109" y="732376"/>
                    </a:lnTo>
                    <a:lnTo>
                      <a:pt x="51303" y="696849"/>
                    </a:lnTo>
                    <a:lnTo>
                      <a:pt x="29597" y="657700"/>
                    </a:lnTo>
                    <a:lnTo>
                      <a:pt x="13482" y="615423"/>
                    </a:lnTo>
                    <a:lnTo>
                      <a:pt x="3452" y="570508"/>
                    </a:lnTo>
                    <a:lnTo>
                      <a:pt x="0" y="523451"/>
                    </a:lnTo>
                    <a:lnTo>
                      <a:pt x="0" y="318448"/>
                    </a:lnTo>
                    <a:close/>
                  </a:path>
                </a:pathLst>
              </a:custGeom>
              <a:ln w="12700">
                <a:solidFill>
                  <a:srgbClr val="7030A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2" name="object 62">
              <a:extLst>
                <a:ext uri="{FF2B5EF4-FFF2-40B4-BE49-F238E27FC236}">
                  <a16:creationId xmlns:a16="http://schemas.microsoft.com/office/drawing/2014/main" id="{63A306B5-45D4-18B7-BA1E-5CB2D6063333}"/>
                </a:ext>
              </a:extLst>
            </p:cNvPr>
            <p:cNvSpPr txBox="1"/>
            <p:nvPr/>
          </p:nvSpPr>
          <p:spPr>
            <a:xfrm>
              <a:off x="920356" y="2041378"/>
              <a:ext cx="1666465" cy="5668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1200" spc="40" dirty="0">
                  <a:solidFill>
                    <a:schemeClr val="bg1"/>
                  </a:solidFill>
                  <a:latin typeface="Arial MT"/>
                  <a:cs typeface="Arial MT"/>
                </a:rPr>
                <a:t>Mitigating affects of fluctuation in raw material prices</a:t>
              </a:r>
              <a:endParaRPr sz="1200" dirty="0">
                <a:solidFill>
                  <a:schemeClr val="bg1"/>
                </a:solidFill>
                <a:latin typeface="Arial MT"/>
                <a:cs typeface="Arial MT"/>
              </a:endParaRPr>
            </a:p>
          </p:txBody>
        </p:sp>
        <p:pic>
          <p:nvPicPr>
            <p:cNvPr id="73" name="object 55">
              <a:extLst>
                <a:ext uri="{FF2B5EF4-FFF2-40B4-BE49-F238E27FC236}">
                  <a16:creationId xmlns:a16="http://schemas.microsoft.com/office/drawing/2014/main" id="{413D3BA1-7E3B-6BE8-879D-A7BB75E635A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4298" y="2059604"/>
              <a:ext cx="345704" cy="345704"/>
            </a:xfrm>
            <a:prstGeom prst="rect">
              <a:avLst/>
            </a:prstGeom>
          </p:spPr>
        </p:pic>
        <p:sp>
          <p:nvSpPr>
            <p:cNvPr id="74" name="object 62">
              <a:extLst>
                <a:ext uri="{FF2B5EF4-FFF2-40B4-BE49-F238E27FC236}">
                  <a16:creationId xmlns:a16="http://schemas.microsoft.com/office/drawing/2014/main" id="{A30FEDCB-4000-6E60-4E60-23D2C9440BC7}"/>
                </a:ext>
              </a:extLst>
            </p:cNvPr>
            <p:cNvSpPr txBox="1"/>
            <p:nvPr/>
          </p:nvSpPr>
          <p:spPr>
            <a:xfrm>
              <a:off x="930993" y="2798128"/>
              <a:ext cx="1734360" cy="75148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1200" b="1" spc="40" dirty="0">
                  <a:solidFill>
                    <a:schemeClr val="accent3"/>
                  </a:solidFill>
                  <a:latin typeface="Arial MT"/>
                  <a:cs typeface="Arial MT"/>
                </a:rPr>
                <a:t>Improving on sustainability</a:t>
              </a:r>
              <a:r>
                <a:rPr lang="en-IN" sz="1200" spc="40" dirty="0">
                  <a:solidFill>
                    <a:schemeClr val="bg1"/>
                  </a:solidFill>
                  <a:latin typeface="Arial MT"/>
                  <a:cs typeface="Arial MT"/>
                </a:rPr>
                <a:t> to recycle and reduce wastage</a:t>
              </a:r>
              <a:endParaRPr sz="1200" dirty="0">
                <a:solidFill>
                  <a:schemeClr val="bg1"/>
                </a:solidFill>
                <a:latin typeface="Arial MT"/>
                <a:cs typeface="Arial MT"/>
              </a:endParaRPr>
            </a:p>
          </p:txBody>
        </p:sp>
        <p:pic>
          <p:nvPicPr>
            <p:cNvPr id="75" name="object 39">
              <a:extLst>
                <a:ext uri="{FF2B5EF4-FFF2-40B4-BE49-F238E27FC236}">
                  <a16:creationId xmlns:a16="http://schemas.microsoft.com/office/drawing/2014/main" id="{A738B449-BD6C-796F-74E2-B21E6790A57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687" y="2814024"/>
              <a:ext cx="281885" cy="281886"/>
            </a:xfrm>
            <a:prstGeom prst="rect">
              <a:avLst/>
            </a:prstGeom>
          </p:spPr>
        </p:pic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42262940-9727-493F-9703-B005042154B0}"/>
                </a:ext>
              </a:extLst>
            </p:cNvPr>
            <p:cNvCxnSpPr/>
            <p:nvPr/>
          </p:nvCxnSpPr>
          <p:spPr>
            <a:xfrm>
              <a:off x="555287" y="1805120"/>
              <a:ext cx="1884167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60F1EAD3-D67B-C400-78B1-EF32244D116A}"/>
              </a:ext>
            </a:extLst>
          </p:cNvPr>
          <p:cNvGrpSpPr/>
          <p:nvPr/>
        </p:nvGrpSpPr>
        <p:grpSpPr>
          <a:xfrm>
            <a:off x="4992234" y="857299"/>
            <a:ext cx="2068111" cy="2931001"/>
            <a:chOff x="501056" y="1000556"/>
            <a:chExt cx="2068111" cy="2931001"/>
          </a:xfrm>
        </p:grpSpPr>
        <p:grpSp>
          <p:nvGrpSpPr>
            <p:cNvPr id="85" name="object 48">
              <a:extLst>
                <a:ext uri="{FF2B5EF4-FFF2-40B4-BE49-F238E27FC236}">
                  <a16:creationId xmlns:a16="http://schemas.microsoft.com/office/drawing/2014/main" id="{40A25F87-C33C-383E-EC61-E5EFBCC61A5A}"/>
                </a:ext>
              </a:extLst>
            </p:cNvPr>
            <p:cNvGrpSpPr/>
            <p:nvPr/>
          </p:nvGrpSpPr>
          <p:grpSpPr>
            <a:xfrm>
              <a:off x="501056" y="1000556"/>
              <a:ext cx="2004473" cy="2931001"/>
              <a:chOff x="1071654" y="2715836"/>
              <a:chExt cx="2661285" cy="3955415"/>
            </a:xfrm>
          </p:grpSpPr>
          <p:sp>
            <p:nvSpPr>
              <p:cNvPr id="93" name="object 49">
                <a:extLst>
                  <a:ext uri="{FF2B5EF4-FFF2-40B4-BE49-F238E27FC236}">
                    <a16:creationId xmlns:a16="http://schemas.microsoft.com/office/drawing/2014/main" id="{74E16333-71B3-D3EC-9BB3-EBF143CD86BF}"/>
                  </a:ext>
                </a:extLst>
              </p:cNvPr>
              <p:cNvSpPr/>
              <p:nvPr/>
            </p:nvSpPr>
            <p:spPr>
              <a:xfrm>
                <a:off x="1078004" y="2722186"/>
                <a:ext cx="2648585" cy="3942715"/>
              </a:xfrm>
              <a:custGeom>
                <a:avLst/>
                <a:gdLst/>
                <a:ahLst/>
                <a:cxnLst/>
                <a:rect l="l" t="t" r="r" b="b"/>
                <a:pathLst>
                  <a:path w="2648585" h="3942715">
                    <a:moveTo>
                      <a:pt x="0" y="441374"/>
                    </a:moveTo>
                    <a:lnTo>
                      <a:pt x="2589" y="393281"/>
                    </a:lnTo>
                    <a:lnTo>
                      <a:pt x="10180" y="346689"/>
                    </a:lnTo>
                    <a:lnTo>
                      <a:pt x="22501" y="301866"/>
                    </a:lnTo>
                    <a:lnTo>
                      <a:pt x="39284" y="259081"/>
                    </a:lnTo>
                    <a:lnTo>
                      <a:pt x="60260" y="218604"/>
                    </a:lnTo>
                    <a:lnTo>
                      <a:pt x="85159" y="180704"/>
                    </a:lnTo>
                    <a:lnTo>
                      <a:pt x="113712" y="145650"/>
                    </a:lnTo>
                    <a:lnTo>
                      <a:pt x="145651" y="113712"/>
                    </a:lnTo>
                    <a:lnTo>
                      <a:pt x="180704" y="85159"/>
                    </a:lnTo>
                    <a:lnTo>
                      <a:pt x="218604" y="60260"/>
                    </a:lnTo>
                    <a:lnTo>
                      <a:pt x="259081" y="39284"/>
                    </a:lnTo>
                    <a:lnTo>
                      <a:pt x="301866" y="22501"/>
                    </a:lnTo>
                    <a:lnTo>
                      <a:pt x="346689" y="10180"/>
                    </a:lnTo>
                    <a:lnTo>
                      <a:pt x="393282" y="2589"/>
                    </a:lnTo>
                    <a:lnTo>
                      <a:pt x="441375" y="0"/>
                    </a:lnTo>
                    <a:lnTo>
                      <a:pt x="2206823" y="0"/>
                    </a:lnTo>
                    <a:lnTo>
                      <a:pt x="2254915" y="2589"/>
                    </a:lnTo>
                    <a:lnTo>
                      <a:pt x="2301508" y="10180"/>
                    </a:lnTo>
                    <a:lnTo>
                      <a:pt x="2346331" y="22501"/>
                    </a:lnTo>
                    <a:lnTo>
                      <a:pt x="2389116" y="39284"/>
                    </a:lnTo>
                    <a:lnTo>
                      <a:pt x="2429593" y="60260"/>
                    </a:lnTo>
                    <a:lnTo>
                      <a:pt x="2467493" y="85159"/>
                    </a:lnTo>
                    <a:lnTo>
                      <a:pt x="2502547" y="113712"/>
                    </a:lnTo>
                    <a:lnTo>
                      <a:pt x="2534485" y="145650"/>
                    </a:lnTo>
                    <a:lnTo>
                      <a:pt x="2563038" y="180704"/>
                    </a:lnTo>
                    <a:lnTo>
                      <a:pt x="2587937" y="218604"/>
                    </a:lnTo>
                    <a:lnTo>
                      <a:pt x="2608913" y="259081"/>
                    </a:lnTo>
                    <a:lnTo>
                      <a:pt x="2625696" y="301866"/>
                    </a:lnTo>
                    <a:lnTo>
                      <a:pt x="2638017" y="346689"/>
                    </a:lnTo>
                    <a:lnTo>
                      <a:pt x="2645608" y="393281"/>
                    </a:lnTo>
                    <a:lnTo>
                      <a:pt x="2648198" y="441374"/>
                    </a:lnTo>
                    <a:lnTo>
                      <a:pt x="2648198" y="3501233"/>
                    </a:lnTo>
                    <a:lnTo>
                      <a:pt x="2645608" y="3549325"/>
                    </a:lnTo>
                    <a:lnTo>
                      <a:pt x="2638017" y="3595918"/>
                    </a:lnTo>
                    <a:lnTo>
                      <a:pt x="2625696" y="3640741"/>
                    </a:lnTo>
                    <a:lnTo>
                      <a:pt x="2608913" y="3683526"/>
                    </a:lnTo>
                    <a:lnTo>
                      <a:pt x="2587937" y="3724003"/>
                    </a:lnTo>
                    <a:lnTo>
                      <a:pt x="2563038" y="3761903"/>
                    </a:lnTo>
                    <a:lnTo>
                      <a:pt x="2534485" y="3796957"/>
                    </a:lnTo>
                    <a:lnTo>
                      <a:pt x="2502547" y="3828895"/>
                    </a:lnTo>
                    <a:lnTo>
                      <a:pt x="2467493" y="3857448"/>
                    </a:lnTo>
                    <a:lnTo>
                      <a:pt x="2429593" y="3882347"/>
                    </a:lnTo>
                    <a:lnTo>
                      <a:pt x="2389116" y="3903323"/>
                    </a:lnTo>
                    <a:lnTo>
                      <a:pt x="2346331" y="3920106"/>
                    </a:lnTo>
                    <a:lnTo>
                      <a:pt x="2301508" y="3932427"/>
                    </a:lnTo>
                    <a:lnTo>
                      <a:pt x="2254915" y="3940018"/>
                    </a:lnTo>
                    <a:lnTo>
                      <a:pt x="2206823" y="3942608"/>
                    </a:lnTo>
                    <a:lnTo>
                      <a:pt x="441375" y="3942608"/>
                    </a:lnTo>
                    <a:lnTo>
                      <a:pt x="393282" y="3940018"/>
                    </a:lnTo>
                    <a:lnTo>
                      <a:pt x="346689" y="3932427"/>
                    </a:lnTo>
                    <a:lnTo>
                      <a:pt x="301866" y="3920106"/>
                    </a:lnTo>
                    <a:lnTo>
                      <a:pt x="259081" y="3903323"/>
                    </a:lnTo>
                    <a:lnTo>
                      <a:pt x="218604" y="3882347"/>
                    </a:lnTo>
                    <a:lnTo>
                      <a:pt x="180704" y="3857448"/>
                    </a:lnTo>
                    <a:lnTo>
                      <a:pt x="145651" y="3828895"/>
                    </a:lnTo>
                    <a:lnTo>
                      <a:pt x="113712" y="3796957"/>
                    </a:lnTo>
                    <a:lnTo>
                      <a:pt x="85159" y="3761903"/>
                    </a:lnTo>
                    <a:lnTo>
                      <a:pt x="60260" y="3724003"/>
                    </a:lnTo>
                    <a:lnTo>
                      <a:pt x="39284" y="3683526"/>
                    </a:lnTo>
                    <a:lnTo>
                      <a:pt x="22501" y="3640741"/>
                    </a:lnTo>
                    <a:lnTo>
                      <a:pt x="10180" y="3595918"/>
                    </a:lnTo>
                    <a:lnTo>
                      <a:pt x="2589" y="3549325"/>
                    </a:lnTo>
                    <a:lnTo>
                      <a:pt x="0" y="3501233"/>
                    </a:lnTo>
                    <a:lnTo>
                      <a:pt x="0" y="441374"/>
                    </a:lnTo>
                    <a:close/>
                  </a:path>
                </a:pathLst>
              </a:custGeom>
              <a:ln w="12700">
                <a:solidFill>
                  <a:srgbClr val="7030A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94" name="object 50">
                <a:extLst>
                  <a:ext uri="{FF2B5EF4-FFF2-40B4-BE49-F238E27FC236}">
                    <a16:creationId xmlns:a16="http://schemas.microsoft.com/office/drawing/2014/main" id="{0F081682-8E6C-A306-1837-89D60AC60360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109471" y="2782823"/>
                <a:ext cx="2569464" cy="984503"/>
              </a:xfrm>
              <a:prstGeom prst="rect">
                <a:avLst/>
              </a:prstGeom>
            </p:spPr>
          </p:pic>
          <p:sp>
            <p:nvSpPr>
              <p:cNvPr id="96" name="object 51">
                <a:extLst>
                  <a:ext uri="{FF2B5EF4-FFF2-40B4-BE49-F238E27FC236}">
                    <a16:creationId xmlns:a16="http://schemas.microsoft.com/office/drawing/2014/main" id="{C6497225-4E5F-0493-E728-FCD7AE353FE2}"/>
                  </a:ext>
                </a:extLst>
              </p:cNvPr>
              <p:cNvSpPr/>
              <p:nvPr/>
            </p:nvSpPr>
            <p:spPr>
              <a:xfrm>
                <a:off x="1181920" y="2854646"/>
                <a:ext cx="2424430" cy="842010"/>
              </a:xfrm>
              <a:custGeom>
                <a:avLst/>
                <a:gdLst/>
                <a:ahLst/>
                <a:cxnLst/>
                <a:rect l="l" t="t" r="r" b="b"/>
                <a:pathLst>
                  <a:path w="2424429" h="842010">
                    <a:moveTo>
                      <a:pt x="2105920" y="0"/>
                    </a:moveTo>
                    <a:lnTo>
                      <a:pt x="318447" y="0"/>
                    </a:lnTo>
                    <a:lnTo>
                      <a:pt x="271390" y="3452"/>
                    </a:lnTo>
                    <a:lnTo>
                      <a:pt x="226476" y="13482"/>
                    </a:lnTo>
                    <a:lnTo>
                      <a:pt x="184198" y="29597"/>
                    </a:lnTo>
                    <a:lnTo>
                      <a:pt x="145049" y="51303"/>
                    </a:lnTo>
                    <a:lnTo>
                      <a:pt x="109522" y="78109"/>
                    </a:lnTo>
                    <a:lnTo>
                      <a:pt x="78110" y="109522"/>
                    </a:lnTo>
                    <a:lnTo>
                      <a:pt x="51304" y="145049"/>
                    </a:lnTo>
                    <a:lnTo>
                      <a:pt x="29597" y="184198"/>
                    </a:lnTo>
                    <a:lnTo>
                      <a:pt x="13482" y="226476"/>
                    </a:lnTo>
                    <a:lnTo>
                      <a:pt x="3452" y="271390"/>
                    </a:lnTo>
                    <a:lnTo>
                      <a:pt x="0" y="318448"/>
                    </a:lnTo>
                    <a:lnTo>
                      <a:pt x="0" y="523452"/>
                    </a:lnTo>
                    <a:lnTo>
                      <a:pt x="3452" y="570509"/>
                    </a:lnTo>
                    <a:lnTo>
                      <a:pt x="13482" y="615423"/>
                    </a:lnTo>
                    <a:lnTo>
                      <a:pt x="29597" y="657701"/>
                    </a:lnTo>
                    <a:lnTo>
                      <a:pt x="51304" y="696849"/>
                    </a:lnTo>
                    <a:lnTo>
                      <a:pt x="78110" y="732376"/>
                    </a:lnTo>
                    <a:lnTo>
                      <a:pt x="109522" y="763789"/>
                    </a:lnTo>
                    <a:lnTo>
                      <a:pt x="145049" y="790595"/>
                    </a:lnTo>
                    <a:lnTo>
                      <a:pt x="184198" y="812302"/>
                    </a:lnTo>
                    <a:lnTo>
                      <a:pt x="226476" y="828416"/>
                    </a:lnTo>
                    <a:lnTo>
                      <a:pt x="271390" y="838446"/>
                    </a:lnTo>
                    <a:lnTo>
                      <a:pt x="318447" y="841899"/>
                    </a:lnTo>
                    <a:lnTo>
                      <a:pt x="2105920" y="841899"/>
                    </a:lnTo>
                    <a:lnTo>
                      <a:pt x="2152978" y="838446"/>
                    </a:lnTo>
                    <a:lnTo>
                      <a:pt x="2197892" y="828416"/>
                    </a:lnTo>
                    <a:lnTo>
                      <a:pt x="2240170" y="812302"/>
                    </a:lnTo>
                    <a:lnTo>
                      <a:pt x="2279318" y="790595"/>
                    </a:lnTo>
                    <a:lnTo>
                      <a:pt x="2314845" y="763789"/>
                    </a:lnTo>
                    <a:lnTo>
                      <a:pt x="2346258" y="732376"/>
                    </a:lnTo>
                    <a:lnTo>
                      <a:pt x="2373064" y="696849"/>
                    </a:lnTo>
                    <a:lnTo>
                      <a:pt x="2394770" y="657701"/>
                    </a:lnTo>
                    <a:lnTo>
                      <a:pt x="2410885" y="615423"/>
                    </a:lnTo>
                    <a:lnTo>
                      <a:pt x="2420915" y="570509"/>
                    </a:lnTo>
                    <a:lnTo>
                      <a:pt x="2424368" y="523452"/>
                    </a:lnTo>
                    <a:lnTo>
                      <a:pt x="2424368" y="318448"/>
                    </a:lnTo>
                    <a:lnTo>
                      <a:pt x="2420915" y="271390"/>
                    </a:lnTo>
                    <a:lnTo>
                      <a:pt x="2410885" y="226476"/>
                    </a:lnTo>
                    <a:lnTo>
                      <a:pt x="2394770" y="184198"/>
                    </a:lnTo>
                    <a:lnTo>
                      <a:pt x="2373064" y="145049"/>
                    </a:lnTo>
                    <a:lnTo>
                      <a:pt x="2346258" y="109522"/>
                    </a:lnTo>
                    <a:lnTo>
                      <a:pt x="2314845" y="78109"/>
                    </a:lnTo>
                    <a:lnTo>
                      <a:pt x="2279318" y="51303"/>
                    </a:lnTo>
                    <a:lnTo>
                      <a:pt x="2240170" y="29597"/>
                    </a:lnTo>
                    <a:lnTo>
                      <a:pt x="2197892" y="13482"/>
                    </a:lnTo>
                    <a:lnTo>
                      <a:pt x="2152978" y="3452"/>
                    </a:lnTo>
                    <a:lnTo>
                      <a:pt x="2105920" y="0"/>
                    </a:lnTo>
                    <a:close/>
                  </a:path>
                </a:pathLst>
              </a:custGeom>
              <a:solidFill>
                <a:srgbClr val="8537BE"/>
              </a:solidFill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b="1" dirty="0"/>
                  <a:t>Innovation Lab</a:t>
                </a:r>
                <a:endParaRPr b="1" dirty="0"/>
              </a:p>
            </p:txBody>
          </p:sp>
          <p:sp>
            <p:nvSpPr>
              <p:cNvPr id="97" name="object 52">
                <a:extLst>
                  <a:ext uri="{FF2B5EF4-FFF2-40B4-BE49-F238E27FC236}">
                    <a16:creationId xmlns:a16="http://schemas.microsoft.com/office/drawing/2014/main" id="{B5093BD8-F8ED-9FD2-464A-DFBE39B3ADA5}"/>
                  </a:ext>
                </a:extLst>
              </p:cNvPr>
              <p:cNvSpPr/>
              <p:nvPr/>
            </p:nvSpPr>
            <p:spPr>
              <a:xfrm>
                <a:off x="1181920" y="2854646"/>
                <a:ext cx="2424430" cy="842010"/>
              </a:xfrm>
              <a:custGeom>
                <a:avLst/>
                <a:gdLst/>
                <a:ahLst/>
                <a:cxnLst/>
                <a:rect l="l" t="t" r="r" b="b"/>
                <a:pathLst>
                  <a:path w="2424429" h="842010">
                    <a:moveTo>
                      <a:pt x="0" y="318448"/>
                    </a:moveTo>
                    <a:lnTo>
                      <a:pt x="3452" y="271390"/>
                    </a:lnTo>
                    <a:lnTo>
                      <a:pt x="13482" y="226476"/>
                    </a:lnTo>
                    <a:lnTo>
                      <a:pt x="29597" y="184198"/>
                    </a:lnTo>
                    <a:lnTo>
                      <a:pt x="51303" y="145049"/>
                    </a:lnTo>
                    <a:lnTo>
                      <a:pt x="78109" y="109522"/>
                    </a:lnTo>
                    <a:lnTo>
                      <a:pt x="109522" y="78109"/>
                    </a:lnTo>
                    <a:lnTo>
                      <a:pt x="145049" y="51303"/>
                    </a:lnTo>
                    <a:lnTo>
                      <a:pt x="184198" y="29597"/>
                    </a:lnTo>
                    <a:lnTo>
                      <a:pt x="226475" y="13482"/>
                    </a:lnTo>
                    <a:lnTo>
                      <a:pt x="271389" y="3452"/>
                    </a:lnTo>
                    <a:lnTo>
                      <a:pt x="318447" y="0"/>
                    </a:lnTo>
                    <a:lnTo>
                      <a:pt x="2105921" y="0"/>
                    </a:lnTo>
                    <a:lnTo>
                      <a:pt x="2152978" y="3452"/>
                    </a:lnTo>
                    <a:lnTo>
                      <a:pt x="2197892" y="13482"/>
                    </a:lnTo>
                    <a:lnTo>
                      <a:pt x="2240170" y="29597"/>
                    </a:lnTo>
                    <a:lnTo>
                      <a:pt x="2279318" y="51303"/>
                    </a:lnTo>
                    <a:lnTo>
                      <a:pt x="2314845" y="78109"/>
                    </a:lnTo>
                    <a:lnTo>
                      <a:pt x="2346258" y="109522"/>
                    </a:lnTo>
                    <a:lnTo>
                      <a:pt x="2373064" y="145049"/>
                    </a:lnTo>
                    <a:lnTo>
                      <a:pt x="2394770" y="184198"/>
                    </a:lnTo>
                    <a:lnTo>
                      <a:pt x="2410885" y="226476"/>
                    </a:lnTo>
                    <a:lnTo>
                      <a:pt x="2420915" y="271390"/>
                    </a:lnTo>
                    <a:lnTo>
                      <a:pt x="2424368" y="318448"/>
                    </a:lnTo>
                    <a:lnTo>
                      <a:pt x="2424368" y="523451"/>
                    </a:lnTo>
                    <a:lnTo>
                      <a:pt x="2420915" y="570508"/>
                    </a:lnTo>
                    <a:lnTo>
                      <a:pt x="2410885" y="615423"/>
                    </a:lnTo>
                    <a:lnTo>
                      <a:pt x="2394770" y="657700"/>
                    </a:lnTo>
                    <a:lnTo>
                      <a:pt x="2373064" y="696849"/>
                    </a:lnTo>
                    <a:lnTo>
                      <a:pt x="2346258" y="732376"/>
                    </a:lnTo>
                    <a:lnTo>
                      <a:pt x="2314845" y="763789"/>
                    </a:lnTo>
                    <a:lnTo>
                      <a:pt x="2279318" y="790595"/>
                    </a:lnTo>
                    <a:lnTo>
                      <a:pt x="2240170" y="812301"/>
                    </a:lnTo>
                    <a:lnTo>
                      <a:pt x="2197892" y="828416"/>
                    </a:lnTo>
                    <a:lnTo>
                      <a:pt x="2152978" y="838446"/>
                    </a:lnTo>
                    <a:lnTo>
                      <a:pt x="2105921" y="841899"/>
                    </a:lnTo>
                    <a:lnTo>
                      <a:pt x="318447" y="841899"/>
                    </a:lnTo>
                    <a:lnTo>
                      <a:pt x="271389" y="838446"/>
                    </a:lnTo>
                    <a:lnTo>
                      <a:pt x="226475" y="828416"/>
                    </a:lnTo>
                    <a:lnTo>
                      <a:pt x="184198" y="812301"/>
                    </a:lnTo>
                    <a:lnTo>
                      <a:pt x="145049" y="790595"/>
                    </a:lnTo>
                    <a:lnTo>
                      <a:pt x="109522" y="763789"/>
                    </a:lnTo>
                    <a:lnTo>
                      <a:pt x="78109" y="732376"/>
                    </a:lnTo>
                    <a:lnTo>
                      <a:pt x="51303" y="696849"/>
                    </a:lnTo>
                    <a:lnTo>
                      <a:pt x="29597" y="657700"/>
                    </a:lnTo>
                    <a:lnTo>
                      <a:pt x="13482" y="615423"/>
                    </a:lnTo>
                    <a:lnTo>
                      <a:pt x="3452" y="570508"/>
                    </a:lnTo>
                    <a:lnTo>
                      <a:pt x="0" y="523451"/>
                    </a:lnTo>
                    <a:lnTo>
                      <a:pt x="0" y="318448"/>
                    </a:lnTo>
                    <a:close/>
                  </a:path>
                </a:pathLst>
              </a:custGeom>
              <a:ln w="12700">
                <a:solidFill>
                  <a:srgbClr val="7030A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86" name="object 62">
              <a:extLst>
                <a:ext uri="{FF2B5EF4-FFF2-40B4-BE49-F238E27FC236}">
                  <a16:creationId xmlns:a16="http://schemas.microsoft.com/office/drawing/2014/main" id="{C2BB5312-A478-CF99-6058-BF1F69D6C8E5}"/>
                </a:ext>
              </a:extLst>
            </p:cNvPr>
            <p:cNvSpPr txBox="1"/>
            <p:nvPr/>
          </p:nvSpPr>
          <p:spPr>
            <a:xfrm>
              <a:off x="920357" y="2041378"/>
              <a:ext cx="1589956" cy="5668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1200" spc="40" dirty="0">
                  <a:solidFill>
                    <a:schemeClr val="bg1"/>
                  </a:solidFill>
                  <a:latin typeface="Arial MT"/>
                  <a:cs typeface="Arial MT"/>
                </a:rPr>
                <a:t>Solving customer pain points through constant innovation</a:t>
              </a:r>
              <a:endParaRPr sz="1200" dirty="0">
                <a:solidFill>
                  <a:schemeClr val="bg1"/>
                </a:solidFill>
                <a:latin typeface="Arial MT"/>
                <a:cs typeface="Arial MT"/>
              </a:endParaRPr>
            </a:p>
          </p:txBody>
        </p:sp>
        <p:pic>
          <p:nvPicPr>
            <p:cNvPr id="87" name="object 55">
              <a:extLst>
                <a:ext uri="{FF2B5EF4-FFF2-40B4-BE49-F238E27FC236}">
                  <a16:creationId xmlns:a16="http://schemas.microsoft.com/office/drawing/2014/main" id="{8F97F573-6591-7968-DB69-9BD466000DA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4298" y="2059604"/>
              <a:ext cx="345704" cy="345704"/>
            </a:xfrm>
            <a:prstGeom prst="rect">
              <a:avLst/>
            </a:prstGeom>
          </p:spPr>
        </p:pic>
        <p:sp>
          <p:nvSpPr>
            <p:cNvPr id="90" name="object 62">
              <a:extLst>
                <a:ext uri="{FF2B5EF4-FFF2-40B4-BE49-F238E27FC236}">
                  <a16:creationId xmlns:a16="http://schemas.microsoft.com/office/drawing/2014/main" id="{82C300FC-1D57-F9C5-9616-7F960F68D117}"/>
                </a:ext>
              </a:extLst>
            </p:cNvPr>
            <p:cNvSpPr txBox="1"/>
            <p:nvPr/>
          </p:nvSpPr>
          <p:spPr>
            <a:xfrm>
              <a:off x="930993" y="2798128"/>
              <a:ext cx="1638174" cy="75148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1200" b="1" spc="40" dirty="0">
                  <a:solidFill>
                    <a:schemeClr val="accent3"/>
                  </a:solidFill>
                  <a:latin typeface="Arial MT"/>
                  <a:cs typeface="Arial MT"/>
                </a:rPr>
                <a:t>Product Innovation</a:t>
              </a:r>
              <a:r>
                <a:rPr lang="en-IN" sz="1200" spc="40" dirty="0">
                  <a:solidFill>
                    <a:schemeClr val="bg1"/>
                  </a:solidFill>
                  <a:latin typeface="Arial MT"/>
                  <a:cs typeface="Arial MT"/>
                </a:rPr>
                <a:t> through sustained R&amp;D efforts &amp; investment</a:t>
              </a:r>
              <a:endParaRPr sz="1200" dirty="0">
                <a:solidFill>
                  <a:schemeClr val="bg1"/>
                </a:solidFill>
                <a:latin typeface="Arial MT"/>
                <a:cs typeface="Arial MT"/>
              </a:endParaRPr>
            </a:p>
          </p:txBody>
        </p:sp>
        <p:pic>
          <p:nvPicPr>
            <p:cNvPr id="91" name="object 39">
              <a:extLst>
                <a:ext uri="{FF2B5EF4-FFF2-40B4-BE49-F238E27FC236}">
                  <a16:creationId xmlns:a16="http://schemas.microsoft.com/office/drawing/2014/main" id="{31F3707B-1F6A-3EE4-EA5F-63750577BC9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687" y="2814024"/>
              <a:ext cx="281885" cy="281886"/>
            </a:xfrm>
            <a:prstGeom prst="rect">
              <a:avLst/>
            </a:prstGeom>
          </p:spPr>
        </p:pic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47E2DE3-90AC-DF53-B131-EFE888551045}"/>
                </a:ext>
              </a:extLst>
            </p:cNvPr>
            <p:cNvCxnSpPr/>
            <p:nvPr/>
          </p:nvCxnSpPr>
          <p:spPr>
            <a:xfrm>
              <a:off x="555287" y="1805120"/>
              <a:ext cx="1884167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4825F05F-072E-91C7-B2A9-A40405757BF4}"/>
              </a:ext>
            </a:extLst>
          </p:cNvPr>
          <p:cNvGrpSpPr/>
          <p:nvPr/>
        </p:nvGrpSpPr>
        <p:grpSpPr>
          <a:xfrm>
            <a:off x="7242606" y="862004"/>
            <a:ext cx="2245589" cy="2931001"/>
            <a:chOff x="501056" y="1000556"/>
            <a:chExt cx="2245589" cy="2931001"/>
          </a:xfrm>
        </p:grpSpPr>
        <p:grpSp>
          <p:nvGrpSpPr>
            <p:cNvPr id="99" name="object 48">
              <a:extLst>
                <a:ext uri="{FF2B5EF4-FFF2-40B4-BE49-F238E27FC236}">
                  <a16:creationId xmlns:a16="http://schemas.microsoft.com/office/drawing/2014/main" id="{A1FF4155-C1F2-D26E-0FA5-088238910412}"/>
                </a:ext>
              </a:extLst>
            </p:cNvPr>
            <p:cNvGrpSpPr/>
            <p:nvPr/>
          </p:nvGrpSpPr>
          <p:grpSpPr>
            <a:xfrm>
              <a:off x="501056" y="1000556"/>
              <a:ext cx="2004473" cy="2931001"/>
              <a:chOff x="1071654" y="2715836"/>
              <a:chExt cx="2661285" cy="3955415"/>
            </a:xfrm>
          </p:grpSpPr>
          <p:sp>
            <p:nvSpPr>
              <p:cNvPr id="105" name="object 49">
                <a:extLst>
                  <a:ext uri="{FF2B5EF4-FFF2-40B4-BE49-F238E27FC236}">
                    <a16:creationId xmlns:a16="http://schemas.microsoft.com/office/drawing/2014/main" id="{4D587EF9-23D4-422B-2B05-1C99DEB04748}"/>
                  </a:ext>
                </a:extLst>
              </p:cNvPr>
              <p:cNvSpPr/>
              <p:nvPr/>
            </p:nvSpPr>
            <p:spPr>
              <a:xfrm>
                <a:off x="1078004" y="2722186"/>
                <a:ext cx="2648585" cy="3942715"/>
              </a:xfrm>
              <a:custGeom>
                <a:avLst/>
                <a:gdLst/>
                <a:ahLst/>
                <a:cxnLst/>
                <a:rect l="l" t="t" r="r" b="b"/>
                <a:pathLst>
                  <a:path w="2648585" h="3942715">
                    <a:moveTo>
                      <a:pt x="0" y="441374"/>
                    </a:moveTo>
                    <a:lnTo>
                      <a:pt x="2589" y="393281"/>
                    </a:lnTo>
                    <a:lnTo>
                      <a:pt x="10180" y="346689"/>
                    </a:lnTo>
                    <a:lnTo>
                      <a:pt x="22501" y="301866"/>
                    </a:lnTo>
                    <a:lnTo>
                      <a:pt x="39284" y="259081"/>
                    </a:lnTo>
                    <a:lnTo>
                      <a:pt x="60260" y="218604"/>
                    </a:lnTo>
                    <a:lnTo>
                      <a:pt x="85159" y="180704"/>
                    </a:lnTo>
                    <a:lnTo>
                      <a:pt x="113712" y="145650"/>
                    </a:lnTo>
                    <a:lnTo>
                      <a:pt x="145651" y="113712"/>
                    </a:lnTo>
                    <a:lnTo>
                      <a:pt x="180704" y="85159"/>
                    </a:lnTo>
                    <a:lnTo>
                      <a:pt x="218604" y="60260"/>
                    </a:lnTo>
                    <a:lnTo>
                      <a:pt x="259081" y="39284"/>
                    </a:lnTo>
                    <a:lnTo>
                      <a:pt x="301866" y="22501"/>
                    </a:lnTo>
                    <a:lnTo>
                      <a:pt x="346689" y="10180"/>
                    </a:lnTo>
                    <a:lnTo>
                      <a:pt x="393282" y="2589"/>
                    </a:lnTo>
                    <a:lnTo>
                      <a:pt x="441375" y="0"/>
                    </a:lnTo>
                    <a:lnTo>
                      <a:pt x="2206823" y="0"/>
                    </a:lnTo>
                    <a:lnTo>
                      <a:pt x="2254915" y="2589"/>
                    </a:lnTo>
                    <a:lnTo>
                      <a:pt x="2301508" y="10180"/>
                    </a:lnTo>
                    <a:lnTo>
                      <a:pt x="2346331" y="22501"/>
                    </a:lnTo>
                    <a:lnTo>
                      <a:pt x="2389116" y="39284"/>
                    </a:lnTo>
                    <a:lnTo>
                      <a:pt x="2429593" y="60260"/>
                    </a:lnTo>
                    <a:lnTo>
                      <a:pt x="2467493" y="85159"/>
                    </a:lnTo>
                    <a:lnTo>
                      <a:pt x="2502547" y="113712"/>
                    </a:lnTo>
                    <a:lnTo>
                      <a:pt x="2534485" y="145650"/>
                    </a:lnTo>
                    <a:lnTo>
                      <a:pt x="2563038" y="180704"/>
                    </a:lnTo>
                    <a:lnTo>
                      <a:pt x="2587937" y="218604"/>
                    </a:lnTo>
                    <a:lnTo>
                      <a:pt x="2608913" y="259081"/>
                    </a:lnTo>
                    <a:lnTo>
                      <a:pt x="2625696" y="301866"/>
                    </a:lnTo>
                    <a:lnTo>
                      <a:pt x="2638017" y="346689"/>
                    </a:lnTo>
                    <a:lnTo>
                      <a:pt x="2645608" y="393281"/>
                    </a:lnTo>
                    <a:lnTo>
                      <a:pt x="2648198" y="441374"/>
                    </a:lnTo>
                    <a:lnTo>
                      <a:pt x="2648198" y="3501233"/>
                    </a:lnTo>
                    <a:lnTo>
                      <a:pt x="2645608" y="3549325"/>
                    </a:lnTo>
                    <a:lnTo>
                      <a:pt x="2638017" y="3595918"/>
                    </a:lnTo>
                    <a:lnTo>
                      <a:pt x="2625696" y="3640741"/>
                    </a:lnTo>
                    <a:lnTo>
                      <a:pt x="2608913" y="3683526"/>
                    </a:lnTo>
                    <a:lnTo>
                      <a:pt x="2587937" y="3724003"/>
                    </a:lnTo>
                    <a:lnTo>
                      <a:pt x="2563038" y="3761903"/>
                    </a:lnTo>
                    <a:lnTo>
                      <a:pt x="2534485" y="3796957"/>
                    </a:lnTo>
                    <a:lnTo>
                      <a:pt x="2502547" y="3828895"/>
                    </a:lnTo>
                    <a:lnTo>
                      <a:pt x="2467493" y="3857448"/>
                    </a:lnTo>
                    <a:lnTo>
                      <a:pt x="2429593" y="3882347"/>
                    </a:lnTo>
                    <a:lnTo>
                      <a:pt x="2389116" y="3903323"/>
                    </a:lnTo>
                    <a:lnTo>
                      <a:pt x="2346331" y="3920106"/>
                    </a:lnTo>
                    <a:lnTo>
                      <a:pt x="2301508" y="3932427"/>
                    </a:lnTo>
                    <a:lnTo>
                      <a:pt x="2254915" y="3940018"/>
                    </a:lnTo>
                    <a:lnTo>
                      <a:pt x="2206823" y="3942608"/>
                    </a:lnTo>
                    <a:lnTo>
                      <a:pt x="441375" y="3942608"/>
                    </a:lnTo>
                    <a:lnTo>
                      <a:pt x="393282" y="3940018"/>
                    </a:lnTo>
                    <a:lnTo>
                      <a:pt x="346689" y="3932427"/>
                    </a:lnTo>
                    <a:lnTo>
                      <a:pt x="301866" y="3920106"/>
                    </a:lnTo>
                    <a:lnTo>
                      <a:pt x="259081" y="3903323"/>
                    </a:lnTo>
                    <a:lnTo>
                      <a:pt x="218604" y="3882347"/>
                    </a:lnTo>
                    <a:lnTo>
                      <a:pt x="180704" y="3857448"/>
                    </a:lnTo>
                    <a:lnTo>
                      <a:pt x="145651" y="3828895"/>
                    </a:lnTo>
                    <a:lnTo>
                      <a:pt x="113712" y="3796957"/>
                    </a:lnTo>
                    <a:lnTo>
                      <a:pt x="85159" y="3761903"/>
                    </a:lnTo>
                    <a:lnTo>
                      <a:pt x="60260" y="3724003"/>
                    </a:lnTo>
                    <a:lnTo>
                      <a:pt x="39284" y="3683526"/>
                    </a:lnTo>
                    <a:lnTo>
                      <a:pt x="22501" y="3640741"/>
                    </a:lnTo>
                    <a:lnTo>
                      <a:pt x="10180" y="3595918"/>
                    </a:lnTo>
                    <a:lnTo>
                      <a:pt x="2589" y="3549325"/>
                    </a:lnTo>
                    <a:lnTo>
                      <a:pt x="0" y="3501233"/>
                    </a:lnTo>
                    <a:lnTo>
                      <a:pt x="0" y="441374"/>
                    </a:lnTo>
                    <a:close/>
                  </a:path>
                </a:pathLst>
              </a:custGeom>
              <a:ln w="12700">
                <a:solidFill>
                  <a:srgbClr val="7030A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06" name="object 50">
                <a:extLst>
                  <a:ext uri="{FF2B5EF4-FFF2-40B4-BE49-F238E27FC236}">
                    <a16:creationId xmlns:a16="http://schemas.microsoft.com/office/drawing/2014/main" id="{30E62587-5E0C-7946-0EF7-71BC6E6889BF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109471" y="2782823"/>
                <a:ext cx="2569464" cy="984503"/>
              </a:xfrm>
              <a:prstGeom prst="rect">
                <a:avLst/>
              </a:prstGeom>
            </p:spPr>
          </p:pic>
          <p:sp>
            <p:nvSpPr>
              <p:cNvPr id="107" name="object 51">
                <a:extLst>
                  <a:ext uri="{FF2B5EF4-FFF2-40B4-BE49-F238E27FC236}">
                    <a16:creationId xmlns:a16="http://schemas.microsoft.com/office/drawing/2014/main" id="{2AB9901B-656C-BE4B-8E63-34AA598557D4}"/>
                  </a:ext>
                </a:extLst>
              </p:cNvPr>
              <p:cNvSpPr/>
              <p:nvPr/>
            </p:nvSpPr>
            <p:spPr>
              <a:xfrm>
                <a:off x="1181920" y="2854646"/>
                <a:ext cx="2424430" cy="842010"/>
              </a:xfrm>
              <a:custGeom>
                <a:avLst/>
                <a:gdLst/>
                <a:ahLst/>
                <a:cxnLst/>
                <a:rect l="l" t="t" r="r" b="b"/>
                <a:pathLst>
                  <a:path w="2424429" h="842010">
                    <a:moveTo>
                      <a:pt x="2105920" y="0"/>
                    </a:moveTo>
                    <a:lnTo>
                      <a:pt x="318447" y="0"/>
                    </a:lnTo>
                    <a:lnTo>
                      <a:pt x="271390" y="3452"/>
                    </a:lnTo>
                    <a:lnTo>
                      <a:pt x="226476" y="13482"/>
                    </a:lnTo>
                    <a:lnTo>
                      <a:pt x="184198" y="29597"/>
                    </a:lnTo>
                    <a:lnTo>
                      <a:pt x="145049" y="51303"/>
                    </a:lnTo>
                    <a:lnTo>
                      <a:pt x="109522" y="78109"/>
                    </a:lnTo>
                    <a:lnTo>
                      <a:pt x="78110" y="109522"/>
                    </a:lnTo>
                    <a:lnTo>
                      <a:pt x="51304" y="145049"/>
                    </a:lnTo>
                    <a:lnTo>
                      <a:pt x="29597" y="184198"/>
                    </a:lnTo>
                    <a:lnTo>
                      <a:pt x="13482" y="226476"/>
                    </a:lnTo>
                    <a:lnTo>
                      <a:pt x="3452" y="271390"/>
                    </a:lnTo>
                    <a:lnTo>
                      <a:pt x="0" y="318448"/>
                    </a:lnTo>
                    <a:lnTo>
                      <a:pt x="0" y="523452"/>
                    </a:lnTo>
                    <a:lnTo>
                      <a:pt x="3452" y="570509"/>
                    </a:lnTo>
                    <a:lnTo>
                      <a:pt x="13482" y="615423"/>
                    </a:lnTo>
                    <a:lnTo>
                      <a:pt x="29597" y="657701"/>
                    </a:lnTo>
                    <a:lnTo>
                      <a:pt x="51304" y="696849"/>
                    </a:lnTo>
                    <a:lnTo>
                      <a:pt x="78110" y="732376"/>
                    </a:lnTo>
                    <a:lnTo>
                      <a:pt x="109522" y="763789"/>
                    </a:lnTo>
                    <a:lnTo>
                      <a:pt x="145049" y="790595"/>
                    </a:lnTo>
                    <a:lnTo>
                      <a:pt x="184198" y="812302"/>
                    </a:lnTo>
                    <a:lnTo>
                      <a:pt x="226476" y="828416"/>
                    </a:lnTo>
                    <a:lnTo>
                      <a:pt x="271390" y="838446"/>
                    </a:lnTo>
                    <a:lnTo>
                      <a:pt x="318447" y="841899"/>
                    </a:lnTo>
                    <a:lnTo>
                      <a:pt x="2105920" y="841899"/>
                    </a:lnTo>
                    <a:lnTo>
                      <a:pt x="2152978" y="838446"/>
                    </a:lnTo>
                    <a:lnTo>
                      <a:pt x="2197892" y="828416"/>
                    </a:lnTo>
                    <a:lnTo>
                      <a:pt x="2240170" y="812302"/>
                    </a:lnTo>
                    <a:lnTo>
                      <a:pt x="2279318" y="790595"/>
                    </a:lnTo>
                    <a:lnTo>
                      <a:pt x="2314845" y="763789"/>
                    </a:lnTo>
                    <a:lnTo>
                      <a:pt x="2346258" y="732376"/>
                    </a:lnTo>
                    <a:lnTo>
                      <a:pt x="2373064" y="696849"/>
                    </a:lnTo>
                    <a:lnTo>
                      <a:pt x="2394770" y="657701"/>
                    </a:lnTo>
                    <a:lnTo>
                      <a:pt x="2410885" y="615423"/>
                    </a:lnTo>
                    <a:lnTo>
                      <a:pt x="2420915" y="570509"/>
                    </a:lnTo>
                    <a:lnTo>
                      <a:pt x="2424368" y="523452"/>
                    </a:lnTo>
                    <a:lnTo>
                      <a:pt x="2424368" y="318448"/>
                    </a:lnTo>
                    <a:lnTo>
                      <a:pt x="2420915" y="271390"/>
                    </a:lnTo>
                    <a:lnTo>
                      <a:pt x="2410885" y="226476"/>
                    </a:lnTo>
                    <a:lnTo>
                      <a:pt x="2394770" y="184198"/>
                    </a:lnTo>
                    <a:lnTo>
                      <a:pt x="2373064" y="145049"/>
                    </a:lnTo>
                    <a:lnTo>
                      <a:pt x="2346258" y="109522"/>
                    </a:lnTo>
                    <a:lnTo>
                      <a:pt x="2314845" y="78109"/>
                    </a:lnTo>
                    <a:lnTo>
                      <a:pt x="2279318" y="51303"/>
                    </a:lnTo>
                    <a:lnTo>
                      <a:pt x="2240170" y="29597"/>
                    </a:lnTo>
                    <a:lnTo>
                      <a:pt x="2197892" y="13482"/>
                    </a:lnTo>
                    <a:lnTo>
                      <a:pt x="2152978" y="3452"/>
                    </a:lnTo>
                    <a:lnTo>
                      <a:pt x="2105920" y="0"/>
                    </a:lnTo>
                    <a:close/>
                  </a:path>
                </a:pathLst>
              </a:custGeom>
              <a:solidFill>
                <a:srgbClr val="8537BE"/>
              </a:solidFill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b="1" dirty="0"/>
                  <a:t>Penetration</a:t>
                </a:r>
                <a:endParaRPr b="1" dirty="0"/>
              </a:p>
            </p:txBody>
          </p:sp>
          <p:sp>
            <p:nvSpPr>
              <p:cNvPr id="108" name="object 52">
                <a:extLst>
                  <a:ext uri="{FF2B5EF4-FFF2-40B4-BE49-F238E27FC236}">
                    <a16:creationId xmlns:a16="http://schemas.microsoft.com/office/drawing/2014/main" id="{F3707D97-632D-328E-DC35-73A8A7385BC2}"/>
                  </a:ext>
                </a:extLst>
              </p:cNvPr>
              <p:cNvSpPr/>
              <p:nvPr/>
            </p:nvSpPr>
            <p:spPr>
              <a:xfrm>
                <a:off x="1181920" y="2854646"/>
                <a:ext cx="2424430" cy="842010"/>
              </a:xfrm>
              <a:custGeom>
                <a:avLst/>
                <a:gdLst/>
                <a:ahLst/>
                <a:cxnLst/>
                <a:rect l="l" t="t" r="r" b="b"/>
                <a:pathLst>
                  <a:path w="2424429" h="842010">
                    <a:moveTo>
                      <a:pt x="0" y="318448"/>
                    </a:moveTo>
                    <a:lnTo>
                      <a:pt x="3452" y="271390"/>
                    </a:lnTo>
                    <a:lnTo>
                      <a:pt x="13482" y="226476"/>
                    </a:lnTo>
                    <a:lnTo>
                      <a:pt x="29597" y="184198"/>
                    </a:lnTo>
                    <a:lnTo>
                      <a:pt x="51303" y="145049"/>
                    </a:lnTo>
                    <a:lnTo>
                      <a:pt x="78109" y="109522"/>
                    </a:lnTo>
                    <a:lnTo>
                      <a:pt x="109522" y="78109"/>
                    </a:lnTo>
                    <a:lnTo>
                      <a:pt x="145049" y="51303"/>
                    </a:lnTo>
                    <a:lnTo>
                      <a:pt x="184198" y="29597"/>
                    </a:lnTo>
                    <a:lnTo>
                      <a:pt x="226475" y="13482"/>
                    </a:lnTo>
                    <a:lnTo>
                      <a:pt x="271389" y="3452"/>
                    </a:lnTo>
                    <a:lnTo>
                      <a:pt x="318447" y="0"/>
                    </a:lnTo>
                    <a:lnTo>
                      <a:pt x="2105921" y="0"/>
                    </a:lnTo>
                    <a:lnTo>
                      <a:pt x="2152978" y="3452"/>
                    </a:lnTo>
                    <a:lnTo>
                      <a:pt x="2197892" y="13482"/>
                    </a:lnTo>
                    <a:lnTo>
                      <a:pt x="2240170" y="29597"/>
                    </a:lnTo>
                    <a:lnTo>
                      <a:pt x="2279318" y="51303"/>
                    </a:lnTo>
                    <a:lnTo>
                      <a:pt x="2314845" y="78109"/>
                    </a:lnTo>
                    <a:lnTo>
                      <a:pt x="2346258" y="109522"/>
                    </a:lnTo>
                    <a:lnTo>
                      <a:pt x="2373064" y="145049"/>
                    </a:lnTo>
                    <a:lnTo>
                      <a:pt x="2394770" y="184198"/>
                    </a:lnTo>
                    <a:lnTo>
                      <a:pt x="2410885" y="226476"/>
                    </a:lnTo>
                    <a:lnTo>
                      <a:pt x="2420915" y="271390"/>
                    </a:lnTo>
                    <a:lnTo>
                      <a:pt x="2424368" y="318448"/>
                    </a:lnTo>
                    <a:lnTo>
                      <a:pt x="2424368" y="523451"/>
                    </a:lnTo>
                    <a:lnTo>
                      <a:pt x="2420915" y="570508"/>
                    </a:lnTo>
                    <a:lnTo>
                      <a:pt x="2410885" y="615423"/>
                    </a:lnTo>
                    <a:lnTo>
                      <a:pt x="2394770" y="657700"/>
                    </a:lnTo>
                    <a:lnTo>
                      <a:pt x="2373064" y="696849"/>
                    </a:lnTo>
                    <a:lnTo>
                      <a:pt x="2346258" y="732376"/>
                    </a:lnTo>
                    <a:lnTo>
                      <a:pt x="2314845" y="763789"/>
                    </a:lnTo>
                    <a:lnTo>
                      <a:pt x="2279318" y="790595"/>
                    </a:lnTo>
                    <a:lnTo>
                      <a:pt x="2240170" y="812301"/>
                    </a:lnTo>
                    <a:lnTo>
                      <a:pt x="2197892" y="828416"/>
                    </a:lnTo>
                    <a:lnTo>
                      <a:pt x="2152978" y="838446"/>
                    </a:lnTo>
                    <a:lnTo>
                      <a:pt x="2105921" y="841899"/>
                    </a:lnTo>
                    <a:lnTo>
                      <a:pt x="318447" y="841899"/>
                    </a:lnTo>
                    <a:lnTo>
                      <a:pt x="271389" y="838446"/>
                    </a:lnTo>
                    <a:lnTo>
                      <a:pt x="226475" y="828416"/>
                    </a:lnTo>
                    <a:lnTo>
                      <a:pt x="184198" y="812301"/>
                    </a:lnTo>
                    <a:lnTo>
                      <a:pt x="145049" y="790595"/>
                    </a:lnTo>
                    <a:lnTo>
                      <a:pt x="109522" y="763789"/>
                    </a:lnTo>
                    <a:lnTo>
                      <a:pt x="78109" y="732376"/>
                    </a:lnTo>
                    <a:lnTo>
                      <a:pt x="51303" y="696849"/>
                    </a:lnTo>
                    <a:lnTo>
                      <a:pt x="29597" y="657700"/>
                    </a:lnTo>
                    <a:lnTo>
                      <a:pt x="13482" y="615423"/>
                    </a:lnTo>
                    <a:lnTo>
                      <a:pt x="3452" y="570508"/>
                    </a:lnTo>
                    <a:lnTo>
                      <a:pt x="0" y="523451"/>
                    </a:lnTo>
                    <a:lnTo>
                      <a:pt x="0" y="318448"/>
                    </a:lnTo>
                    <a:close/>
                  </a:path>
                </a:pathLst>
              </a:custGeom>
              <a:ln w="12700">
                <a:solidFill>
                  <a:srgbClr val="7030A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00" name="object 62">
              <a:extLst>
                <a:ext uri="{FF2B5EF4-FFF2-40B4-BE49-F238E27FC236}">
                  <a16:creationId xmlns:a16="http://schemas.microsoft.com/office/drawing/2014/main" id="{A0058581-634B-6F5A-F8DD-F9655FB6DA78}"/>
                </a:ext>
              </a:extLst>
            </p:cNvPr>
            <p:cNvSpPr txBox="1"/>
            <p:nvPr/>
          </p:nvSpPr>
          <p:spPr>
            <a:xfrm>
              <a:off x="920356" y="2041378"/>
              <a:ext cx="1628849" cy="5668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1200" spc="40" dirty="0">
                  <a:solidFill>
                    <a:schemeClr val="bg1"/>
                  </a:solidFill>
                  <a:latin typeface="Arial MT"/>
                  <a:cs typeface="Arial MT"/>
                </a:rPr>
                <a:t>Developing brand &amp; category awareness in Tier II cities</a:t>
              </a:r>
              <a:endParaRPr sz="1200" dirty="0">
                <a:solidFill>
                  <a:schemeClr val="bg1"/>
                </a:solidFill>
                <a:latin typeface="Arial MT"/>
                <a:cs typeface="Arial MT"/>
              </a:endParaRPr>
            </a:p>
          </p:txBody>
        </p:sp>
        <p:pic>
          <p:nvPicPr>
            <p:cNvPr id="101" name="object 55">
              <a:extLst>
                <a:ext uri="{FF2B5EF4-FFF2-40B4-BE49-F238E27FC236}">
                  <a16:creationId xmlns:a16="http://schemas.microsoft.com/office/drawing/2014/main" id="{95E4B935-C16D-D2EB-EE8C-5E2A5CA5AC2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4298" y="2059604"/>
              <a:ext cx="345704" cy="345704"/>
            </a:xfrm>
            <a:prstGeom prst="rect">
              <a:avLst/>
            </a:prstGeom>
          </p:spPr>
        </p:pic>
        <p:sp>
          <p:nvSpPr>
            <p:cNvPr id="102" name="object 62">
              <a:extLst>
                <a:ext uri="{FF2B5EF4-FFF2-40B4-BE49-F238E27FC236}">
                  <a16:creationId xmlns:a16="http://schemas.microsoft.com/office/drawing/2014/main" id="{85C03F96-D818-5E5A-81B2-991B8203D134}"/>
                </a:ext>
              </a:extLst>
            </p:cNvPr>
            <p:cNvSpPr txBox="1"/>
            <p:nvPr/>
          </p:nvSpPr>
          <p:spPr>
            <a:xfrm>
              <a:off x="930993" y="2798128"/>
              <a:ext cx="1815652" cy="936154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1200" b="1" spc="40" dirty="0">
                  <a:solidFill>
                    <a:schemeClr val="accent3"/>
                  </a:solidFill>
                  <a:latin typeface="Arial MT"/>
                  <a:cs typeface="Arial MT"/>
                </a:rPr>
                <a:t>Transformational Delivery Channel </a:t>
              </a:r>
              <a:r>
                <a:rPr lang="en-IN" sz="1200" spc="40" dirty="0">
                  <a:solidFill>
                    <a:schemeClr val="bg1"/>
                  </a:solidFill>
                  <a:latin typeface="Arial MT"/>
                  <a:cs typeface="Arial MT"/>
                </a:rPr>
                <a:t>providing self subsistence opportunities</a:t>
              </a:r>
              <a:endParaRPr sz="1200" dirty="0">
                <a:solidFill>
                  <a:schemeClr val="bg1"/>
                </a:solidFill>
                <a:latin typeface="Arial MT"/>
                <a:cs typeface="Arial MT"/>
              </a:endParaRPr>
            </a:p>
          </p:txBody>
        </p:sp>
        <p:pic>
          <p:nvPicPr>
            <p:cNvPr id="103" name="object 39">
              <a:extLst>
                <a:ext uri="{FF2B5EF4-FFF2-40B4-BE49-F238E27FC236}">
                  <a16:creationId xmlns:a16="http://schemas.microsoft.com/office/drawing/2014/main" id="{862B7221-48CD-73C1-0218-855F681A82C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687" y="2814024"/>
              <a:ext cx="281885" cy="281886"/>
            </a:xfrm>
            <a:prstGeom prst="rect">
              <a:avLst/>
            </a:prstGeom>
          </p:spPr>
        </p:pic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415C7C2C-0220-9849-2886-9258CF8582D2}"/>
                </a:ext>
              </a:extLst>
            </p:cNvPr>
            <p:cNvCxnSpPr/>
            <p:nvPr/>
          </p:nvCxnSpPr>
          <p:spPr>
            <a:xfrm>
              <a:off x="555287" y="1805120"/>
              <a:ext cx="1884167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6A86746E-64E0-0CA4-D37C-E02FAD98261F}"/>
              </a:ext>
            </a:extLst>
          </p:cNvPr>
          <p:cNvGrpSpPr/>
          <p:nvPr/>
        </p:nvGrpSpPr>
        <p:grpSpPr>
          <a:xfrm>
            <a:off x="9497761" y="862004"/>
            <a:ext cx="2245589" cy="2931001"/>
            <a:chOff x="501056" y="1000556"/>
            <a:chExt cx="2245589" cy="2931001"/>
          </a:xfrm>
        </p:grpSpPr>
        <p:grpSp>
          <p:nvGrpSpPr>
            <p:cNvPr id="110" name="object 48">
              <a:extLst>
                <a:ext uri="{FF2B5EF4-FFF2-40B4-BE49-F238E27FC236}">
                  <a16:creationId xmlns:a16="http://schemas.microsoft.com/office/drawing/2014/main" id="{F12AE9D4-AF32-1168-D7CB-8A57276F4798}"/>
                </a:ext>
              </a:extLst>
            </p:cNvPr>
            <p:cNvGrpSpPr/>
            <p:nvPr/>
          </p:nvGrpSpPr>
          <p:grpSpPr>
            <a:xfrm>
              <a:off x="501056" y="1000556"/>
              <a:ext cx="2004473" cy="2931001"/>
              <a:chOff x="1071654" y="2715836"/>
              <a:chExt cx="2661285" cy="3955415"/>
            </a:xfrm>
          </p:grpSpPr>
          <p:sp>
            <p:nvSpPr>
              <p:cNvPr id="116" name="object 49">
                <a:extLst>
                  <a:ext uri="{FF2B5EF4-FFF2-40B4-BE49-F238E27FC236}">
                    <a16:creationId xmlns:a16="http://schemas.microsoft.com/office/drawing/2014/main" id="{243800FF-1E6D-2624-0FAA-B97CCB940FD5}"/>
                  </a:ext>
                </a:extLst>
              </p:cNvPr>
              <p:cNvSpPr/>
              <p:nvPr/>
            </p:nvSpPr>
            <p:spPr>
              <a:xfrm>
                <a:off x="1078004" y="2722186"/>
                <a:ext cx="2648585" cy="3942715"/>
              </a:xfrm>
              <a:custGeom>
                <a:avLst/>
                <a:gdLst/>
                <a:ahLst/>
                <a:cxnLst/>
                <a:rect l="l" t="t" r="r" b="b"/>
                <a:pathLst>
                  <a:path w="2648585" h="3942715">
                    <a:moveTo>
                      <a:pt x="0" y="441374"/>
                    </a:moveTo>
                    <a:lnTo>
                      <a:pt x="2589" y="393281"/>
                    </a:lnTo>
                    <a:lnTo>
                      <a:pt x="10180" y="346689"/>
                    </a:lnTo>
                    <a:lnTo>
                      <a:pt x="22501" y="301866"/>
                    </a:lnTo>
                    <a:lnTo>
                      <a:pt x="39284" y="259081"/>
                    </a:lnTo>
                    <a:lnTo>
                      <a:pt x="60260" y="218604"/>
                    </a:lnTo>
                    <a:lnTo>
                      <a:pt x="85159" y="180704"/>
                    </a:lnTo>
                    <a:lnTo>
                      <a:pt x="113712" y="145650"/>
                    </a:lnTo>
                    <a:lnTo>
                      <a:pt x="145651" y="113712"/>
                    </a:lnTo>
                    <a:lnTo>
                      <a:pt x="180704" y="85159"/>
                    </a:lnTo>
                    <a:lnTo>
                      <a:pt x="218604" y="60260"/>
                    </a:lnTo>
                    <a:lnTo>
                      <a:pt x="259081" y="39284"/>
                    </a:lnTo>
                    <a:lnTo>
                      <a:pt x="301866" y="22501"/>
                    </a:lnTo>
                    <a:lnTo>
                      <a:pt x="346689" y="10180"/>
                    </a:lnTo>
                    <a:lnTo>
                      <a:pt x="393282" y="2589"/>
                    </a:lnTo>
                    <a:lnTo>
                      <a:pt x="441375" y="0"/>
                    </a:lnTo>
                    <a:lnTo>
                      <a:pt x="2206823" y="0"/>
                    </a:lnTo>
                    <a:lnTo>
                      <a:pt x="2254915" y="2589"/>
                    </a:lnTo>
                    <a:lnTo>
                      <a:pt x="2301508" y="10180"/>
                    </a:lnTo>
                    <a:lnTo>
                      <a:pt x="2346331" y="22501"/>
                    </a:lnTo>
                    <a:lnTo>
                      <a:pt x="2389116" y="39284"/>
                    </a:lnTo>
                    <a:lnTo>
                      <a:pt x="2429593" y="60260"/>
                    </a:lnTo>
                    <a:lnTo>
                      <a:pt x="2467493" y="85159"/>
                    </a:lnTo>
                    <a:lnTo>
                      <a:pt x="2502547" y="113712"/>
                    </a:lnTo>
                    <a:lnTo>
                      <a:pt x="2534485" y="145650"/>
                    </a:lnTo>
                    <a:lnTo>
                      <a:pt x="2563038" y="180704"/>
                    </a:lnTo>
                    <a:lnTo>
                      <a:pt x="2587937" y="218604"/>
                    </a:lnTo>
                    <a:lnTo>
                      <a:pt x="2608913" y="259081"/>
                    </a:lnTo>
                    <a:lnTo>
                      <a:pt x="2625696" y="301866"/>
                    </a:lnTo>
                    <a:lnTo>
                      <a:pt x="2638017" y="346689"/>
                    </a:lnTo>
                    <a:lnTo>
                      <a:pt x="2645608" y="393281"/>
                    </a:lnTo>
                    <a:lnTo>
                      <a:pt x="2648198" y="441374"/>
                    </a:lnTo>
                    <a:lnTo>
                      <a:pt x="2648198" y="3501233"/>
                    </a:lnTo>
                    <a:lnTo>
                      <a:pt x="2645608" y="3549325"/>
                    </a:lnTo>
                    <a:lnTo>
                      <a:pt x="2638017" y="3595918"/>
                    </a:lnTo>
                    <a:lnTo>
                      <a:pt x="2625696" y="3640741"/>
                    </a:lnTo>
                    <a:lnTo>
                      <a:pt x="2608913" y="3683526"/>
                    </a:lnTo>
                    <a:lnTo>
                      <a:pt x="2587937" y="3724003"/>
                    </a:lnTo>
                    <a:lnTo>
                      <a:pt x="2563038" y="3761903"/>
                    </a:lnTo>
                    <a:lnTo>
                      <a:pt x="2534485" y="3796957"/>
                    </a:lnTo>
                    <a:lnTo>
                      <a:pt x="2502547" y="3828895"/>
                    </a:lnTo>
                    <a:lnTo>
                      <a:pt x="2467493" y="3857448"/>
                    </a:lnTo>
                    <a:lnTo>
                      <a:pt x="2429593" y="3882347"/>
                    </a:lnTo>
                    <a:lnTo>
                      <a:pt x="2389116" y="3903323"/>
                    </a:lnTo>
                    <a:lnTo>
                      <a:pt x="2346331" y="3920106"/>
                    </a:lnTo>
                    <a:lnTo>
                      <a:pt x="2301508" y="3932427"/>
                    </a:lnTo>
                    <a:lnTo>
                      <a:pt x="2254915" y="3940018"/>
                    </a:lnTo>
                    <a:lnTo>
                      <a:pt x="2206823" y="3942608"/>
                    </a:lnTo>
                    <a:lnTo>
                      <a:pt x="441375" y="3942608"/>
                    </a:lnTo>
                    <a:lnTo>
                      <a:pt x="393282" y="3940018"/>
                    </a:lnTo>
                    <a:lnTo>
                      <a:pt x="346689" y="3932427"/>
                    </a:lnTo>
                    <a:lnTo>
                      <a:pt x="301866" y="3920106"/>
                    </a:lnTo>
                    <a:lnTo>
                      <a:pt x="259081" y="3903323"/>
                    </a:lnTo>
                    <a:lnTo>
                      <a:pt x="218604" y="3882347"/>
                    </a:lnTo>
                    <a:lnTo>
                      <a:pt x="180704" y="3857448"/>
                    </a:lnTo>
                    <a:lnTo>
                      <a:pt x="145651" y="3828895"/>
                    </a:lnTo>
                    <a:lnTo>
                      <a:pt x="113712" y="3796957"/>
                    </a:lnTo>
                    <a:lnTo>
                      <a:pt x="85159" y="3761903"/>
                    </a:lnTo>
                    <a:lnTo>
                      <a:pt x="60260" y="3724003"/>
                    </a:lnTo>
                    <a:lnTo>
                      <a:pt x="39284" y="3683526"/>
                    </a:lnTo>
                    <a:lnTo>
                      <a:pt x="22501" y="3640741"/>
                    </a:lnTo>
                    <a:lnTo>
                      <a:pt x="10180" y="3595918"/>
                    </a:lnTo>
                    <a:lnTo>
                      <a:pt x="2589" y="3549325"/>
                    </a:lnTo>
                    <a:lnTo>
                      <a:pt x="0" y="3501233"/>
                    </a:lnTo>
                    <a:lnTo>
                      <a:pt x="0" y="441374"/>
                    </a:lnTo>
                    <a:close/>
                  </a:path>
                </a:pathLst>
              </a:custGeom>
              <a:ln w="12700">
                <a:solidFill>
                  <a:srgbClr val="7030A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22" name="object 50">
                <a:extLst>
                  <a:ext uri="{FF2B5EF4-FFF2-40B4-BE49-F238E27FC236}">
                    <a16:creationId xmlns:a16="http://schemas.microsoft.com/office/drawing/2014/main" id="{12795548-BFD6-D49E-1066-EF26D2ED848D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109471" y="2782823"/>
                <a:ext cx="2569464" cy="984503"/>
              </a:xfrm>
              <a:prstGeom prst="rect">
                <a:avLst/>
              </a:prstGeom>
            </p:spPr>
          </p:pic>
          <p:sp>
            <p:nvSpPr>
              <p:cNvPr id="123" name="object 51">
                <a:extLst>
                  <a:ext uri="{FF2B5EF4-FFF2-40B4-BE49-F238E27FC236}">
                    <a16:creationId xmlns:a16="http://schemas.microsoft.com/office/drawing/2014/main" id="{4D077059-E471-68C6-2CE9-5E9E3B4815FE}"/>
                  </a:ext>
                </a:extLst>
              </p:cNvPr>
              <p:cNvSpPr/>
              <p:nvPr/>
            </p:nvSpPr>
            <p:spPr>
              <a:xfrm>
                <a:off x="1181920" y="2854646"/>
                <a:ext cx="2424430" cy="842010"/>
              </a:xfrm>
              <a:custGeom>
                <a:avLst/>
                <a:gdLst/>
                <a:ahLst/>
                <a:cxnLst/>
                <a:rect l="l" t="t" r="r" b="b"/>
                <a:pathLst>
                  <a:path w="2424429" h="842010">
                    <a:moveTo>
                      <a:pt x="2105920" y="0"/>
                    </a:moveTo>
                    <a:lnTo>
                      <a:pt x="318447" y="0"/>
                    </a:lnTo>
                    <a:lnTo>
                      <a:pt x="271390" y="3452"/>
                    </a:lnTo>
                    <a:lnTo>
                      <a:pt x="226476" y="13482"/>
                    </a:lnTo>
                    <a:lnTo>
                      <a:pt x="184198" y="29597"/>
                    </a:lnTo>
                    <a:lnTo>
                      <a:pt x="145049" y="51303"/>
                    </a:lnTo>
                    <a:lnTo>
                      <a:pt x="109522" y="78109"/>
                    </a:lnTo>
                    <a:lnTo>
                      <a:pt x="78110" y="109522"/>
                    </a:lnTo>
                    <a:lnTo>
                      <a:pt x="51304" y="145049"/>
                    </a:lnTo>
                    <a:lnTo>
                      <a:pt x="29597" y="184198"/>
                    </a:lnTo>
                    <a:lnTo>
                      <a:pt x="13482" y="226476"/>
                    </a:lnTo>
                    <a:lnTo>
                      <a:pt x="3452" y="271390"/>
                    </a:lnTo>
                    <a:lnTo>
                      <a:pt x="0" y="318448"/>
                    </a:lnTo>
                    <a:lnTo>
                      <a:pt x="0" y="523452"/>
                    </a:lnTo>
                    <a:lnTo>
                      <a:pt x="3452" y="570509"/>
                    </a:lnTo>
                    <a:lnTo>
                      <a:pt x="13482" y="615423"/>
                    </a:lnTo>
                    <a:lnTo>
                      <a:pt x="29597" y="657701"/>
                    </a:lnTo>
                    <a:lnTo>
                      <a:pt x="51304" y="696849"/>
                    </a:lnTo>
                    <a:lnTo>
                      <a:pt x="78110" y="732376"/>
                    </a:lnTo>
                    <a:lnTo>
                      <a:pt x="109522" y="763789"/>
                    </a:lnTo>
                    <a:lnTo>
                      <a:pt x="145049" y="790595"/>
                    </a:lnTo>
                    <a:lnTo>
                      <a:pt x="184198" y="812302"/>
                    </a:lnTo>
                    <a:lnTo>
                      <a:pt x="226476" y="828416"/>
                    </a:lnTo>
                    <a:lnTo>
                      <a:pt x="271390" y="838446"/>
                    </a:lnTo>
                    <a:lnTo>
                      <a:pt x="318447" y="841899"/>
                    </a:lnTo>
                    <a:lnTo>
                      <a:pt x="2105920" y="841899"/>
                    </a:lnTo>
                    <a:lnTo>
                      <a:pt x="2152978" y="838446"/>
                    </a:lnTo>
                    <a:lnTo>
                      <a:pt x="2197892" y="828416"/>
                    </a:lnTo>
                    <a:lnTo>
                      <a:pt x="2240170" y="812302"/>
                    </a:lnTo>
                    <a:lnTo>
                      <a:pt x="2279318" y="790595"/>
                    </a:lnTo>
                    <a:lnTo>
                      <a:pt x="2314845" y="763789"/>
                    </a:lnTo>
                    <a:lnTo>
                      <a:pt x="2346258" y="732376"/>
                    </a:lnTo>
                    <a:lnTo>
                      <a:pt x="2373064" y="696849"/>
                    </a:lnTo>
                    <a:lnTo>
                      <a:pt x="2394770" y="657701"/>
                    </a:lnTo>
                    <a:lnTo>
                      <a:pt x="2410885" y="615423"/>
                    </a:lnTo>
                    <a:lnTo>
                      <a:pt x="2420915" y="570509"/>
                    </a:lnTo>
                    <a:lnTo>
                      <a:pt x="2424368" y="523452"/>
                    </a:lnTo>
                    <a:lnTo>
                      <a:pt x="2424368" y="318448"/>
                    </a:lnTo>
                    <a:lnTo>
                      <a:pt x="2420915" y="271390"/>
                    </a:lnTo>
                    <a:lnTo>
                      <a:pt x="2410885" y="226476"/>
                    </a:lnTo>
                    <a:lnTo>
                      <a:pt x="2394770" y="184198"/>
                    </a:lnTo>
                    <a:lnTo>
                      <a:pt x="2373064" y="145049"/>
                    </a:lnTo>
                    <a:lnTo>
                      <a:pt x="2346258" y="109522"/>
                    </a:lnTo>
                    <a:lnTo>
                      <a:pt x="2314845" y="78109"/>
                    </a:lnTo>
                    <a:lnTo>
                      <a:pt x="2279318" y="51303"/>
                    </a:lnTo>
                    <a:lnTo>
                      <a:pt x="2240170" y="29597"/>
                    </a:lnTo>
                    <a:lnTo>
                      <a:pt x="2197892" y="13482"/>
                    </a:lnTo>
                    <a:lnTo>
                      <a:pt x="2152978" y="3452"/>
                    </a:lnTo>
                    <a:lnTo>
                      <a:pt x="2105920" y="0"/>
                    </a:lnTo>
                    <a:close/>
                  </a:path>
                </a:pathLst>
              </a:custGeom>
              <a:solidFill>
                <a:srgbClr val="8537BE"/>
              </a:solidFill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b="1" dirty="0"/>
                  <a:t>Human Centricity</a:t>
                </a:r>
                <a:endParaRPr b="1" dirty="0"/>
              </a:p>
            </p:txBody>
          </p:sp>
          <p:sp>
            <p:nvSpPr>
              <p:cNvPr id="124" name="object 52">
                <a:extLst>
                  <a:ext uri="{FF2B5EF4-FFF2-40B4-BE49-F238E27FC236}">
                    <a16:creationId xmlns:a16="http://schemas.microsoft.com/office/drawing/2014/main" id="{C44F4C9B-2158-335B-5CC2-011C19191AB4}"/>
                  </a:ext>
                </a:extLst>
              </p:cNvPr>
              <p:cNvSpPr/>
              <p:nvPr/>
            </p:nvSpPr>
            <p:spPr>
              <a:xfrm>
                <a:off x="1181920" y="2854646"/>
                <a:ext cx="2424430" cy="842010"/>
              </a:xfrm>
              <a:custGeom>
                <a:avLst/>
                <a:gdLst/>
                <a:ahLst/>
                <a:cxnLst/>
                <a:rect l="l" t="t" r="r" b="b"/>
                <a:pathLst>
                  <a:path w="2424429" h="842010">
                    <a:moveTo>
                      <a:pt x="0" y="318448"/>
                    </a:moveTo>
                    <a:lnTo>
                      <a:pt x="3452" y="271390"/>
                    </a:lnTo>
                    <a:lnTo>
                      <a:pt x="13482" y="226476"/>
                    </a:lnTo>
                    <a:lnTo>
                      <a:pt x="29597" y="184198"/>
                    </a:lnTo>
                    <a:lnTo>
                      <a:pt x="51303" y="145049"/>
                    </a:lnTo>
                    <a:lnTo>
                      <a:pt x="78109" y="109522"/>
                    </a:lnTo>
                    <a:lnTo>
                      <a:pt x="109522" y="78109"/>
                    </a:lnTo>
                    <a:lnTo>
                      <a:pt x="145049" y="51303"/>
                    </a:lnTo>
                    <a:lnTo>
                      <a:pt x="184198" y="29597"/>
                    </a:lnTo>
                    <a:lnTo>
                      <a:pt x="226475" y="13482"/>
                    </a:lnTo>
                    <a:lnTo>
                      <a:pt x="271389" y="3452"/>
                    </a:lnTo>
                    <a:lnTo>
                      <a:pt x="318447" y="0"/>
                    </a:lnTo>
                    <a:lnTo>
                      <a:pt x="2105921" y="0"/>
                    </a:lnTo>
                    <a:lnTo>
                      <a:pt x="2152978" y="3452"/>
                    </a:lnTo>
                    <a:lnTo>
                      <a:pt x="2197892" y="13482"/>
                    </a:lnTo>
                    <a:lnTo>
                      <a:pt x="2240170" y="29597"/>
                    </a:lnTo>
                    <a:lnTo>
                      <a:pt x="2279318" y="51303"/>
                    </a:lnTo>
                    <a:lnTo>
                      <a:pt x="2314845" y="78109"/>
                    </a:lnTo>
                    <a:lnTo>
                      <a:pt x="2346258" y="109522"/>
                    </a:lnTo>
                    <a:lnTo>
                      <a:pt x="2373064" y="145049"/>
                    </a:lnTo>
                    <a:lnTo>
                      <a:pt x="2394770" y="184198"/>
                    </a:lnTo>
                    <a:lnTo>
                      <a:pt x="2410885" y="226476"/>
                    </a:lnTo>
                    <a:lnTo>
                      <a:pt x="2420915" y="271390"/>
                    </a:lnTo>
                    <a:lnTo>
                      <a:pt x="2424368" y="318448"/>
                    </a:lnTo>
                    <a:lnTo>
                      <a:pt x="2424368" y="523451"/>
                    </a:lnTo>
                    <a:lnTo>
                      <a:pt x="2420915" y="570508"/>
                    </a:lnTo>
                    <a:lnTo>
                      <a:pt x="2410885" y="615423"/>
                    </a:lnTo>
                    <a:lnTo>
                      <a:pt x="2394770" y="657700"/>
                    </a:lnTo>
                    <a:lnTo>
                      <a:pt x="2373064" y="696849"/>
                    </a:lnTo>
                    <a:lnTo>
                      <a:pt x="2346258" y="732376"/>
                    </a:lnTo>
                    <a:lnTo>
                      <a:pt x="2314845" y="763789"/>
                    </a:lnTo>
                    <a:lnTo>
                      <a:pt x="2279318" y="790595"/>
                    </a:lnTo>
                    <a:lnTo>
                      <a:pt x="2240170" y="812301"/>
                    </a:lnTo>
                    <a:lnTo>
                      <a:pt x="2197892" y="828416"/>
                    </a:lnTo>
                    <a:lnTo>
                      <a:pt x="2152978" y="838446"/>
                    </a:lnTo>
                    <a:lnTo>
                      <a:pt x="2105921" y="841899"/>
                    </a:lnTo>
                    <a:lnTo>
                      <a:pt x="318447" y="841899"/>
                    </a:lnTo>
                    <a:lnTo>
                      <a:pt x="271389" y="838446"/>
                    </a:lnTo>
                    <a:lnTo>
                      <a:pt x="226475" y="828416"/>
                    </a:lnTo>
                    <a:lnTo>
                      <a:pt x="184198" y="812301"/>
                    </a:lnTo>
                    <a:lnTo>
                      <a:pt x="145049" y="790595"/>
                    </a:lnTo>
                    <a:lnTo>
                      <a:pt x="109522" y="763789"/>
                    </a:lnTo>
                    <a:lnTo>
                      <a:pt x="78109" y="732376"/>
                    </a:lnTo>
                    <a:lnTo>
                      <a:pt x="51303" y="696849"/>
                    </a:lnTo>
                    <a:lnTo>
                      <a:pt x="29597" y="657700"/>
                    </a:lnTo>
                    <a:lnTo>
                      <a:pt x="13482" y="615423"/>
                    </a:lnTo>
                    <a:lnTo>
                      <a:pt x="3452" y="570508"/>
                    </a:lnTo>
                    <a:lnTo>
                      <a:pt x="0" y="523451"/>
                    </a:lnTo>
                    <a:lnTo>
                      <a:pt x="0" y="318448"/>
                    </a:lnTo>
                    <a:close/>
                  </a:path>
                </a:pathLst>
              </a:custGeom>
              <a:ln w="12700">
                <a:solidFill>
                  <a:srgbClr val="7030A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11" name="object 62">
              <a:extLst>
                <a:ext uri="{FF2B5EF4-FFF2-40B4-BE49-F238E27FC236}">
                  <a16:creationId xmlns:a16="http://schemas.microsoft.com/office/drawing/2014/main" id="{CA88F908-0C61-973E-E2F8-7B791C2E5C21}"/>
                </a:ext>
              </a:extLst>
            </p:cNvPr>
            <p:cNvSpPr txBox="1"/>
            <p:nvPr/>
          </p:nvSpPr>
          <p:spPr>
            <a:xfrm>
              <a:off x="920356" y="2041378"/>
              <a:ext cx="1666465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1200" spc="40" dirty="0">
                  <a:solidFill>
                    <a:schemeClr val="bg1"/>
                  </a:solidFill>
                  <a:latin typeface="Arial MT"/>
                  <a:cs typeface="Arial MT"/>
                </a:rPr>
                <a:t>Mitigating harm from value chain activities</a:t>
              </a:r>
              <a:endParaRPr sz="1200" dirty="0">
                <a:solidFill>
                  <a:schemeClr val="bg1"/>
                </a:solidFill>
                <a:latin typeface="Arial MT"/>
                <a:cs typeface="Arial MT"/>
              </a:endParaRPr>
            </a:p>
          </p:txBody>
        </p:sp>
        <p:pic>
          <p:nvPicPr>
            <p:cNvPr id="112" name="object 55">
              <a:extLst>
                <a:ext uri="{FF2B5EF4-FFF2-40B4-BE49-F238E27FC236}">
                  <a16:creationId xmlns:a16="http://schemas.microsoft.com/office/drawing/2014/main" id="{FB9ED62C-59CF-0ABF-C9A0-9117F6C6C0D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4298" y="2059604"/>
              <a:ext cx="345704" cy="345704"/>
            </a:xfrm>
            <a:prstGeom prst="rect">
              <a:avLst/>
            </a:prstGeom>
          </p:spPr>
        </p:pic>
        <p:sp>
          <p:nvSpPr>
            <p:cNvPr id="113" name="object 62">
              <a:extLst>
                <a:ext uri="{FF2B5EF4-FFF2-40B4-BE49-F238E27FC236}">
                  <a16:creationId xmlns:a16="http://schemas.microsoft.com/office/drawing/2014/main" id="{A5EE612D-1920-C17B-0C59-212BC2351C7C}"/>
                </a:ext>
              </a:extLst>
            </p:cNvPr>
            <p:cNvSpPr txBox="1"/>
            <p:nvPr/>
          </p:nvSpPr>
          <p:spPr>
            <a:xfrm>
              <a:off x="930993" y="2798128"/>
              <a:ext cx="1815652" cy="75148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1200" b="1" spc="40" dirty="0">
                  <a:solidFill>
                    <a:schemeClr val="accent3"/>
                  </a:solidFill>
                  <a:latin typeface="Arial MT"/>
                  <a:cs typeface="Arial MT"/>
                </a:rPr>
                <a:t>Transforming value chain </a:t>
              </a:r>
              <a:r>
                <a:rPr lang="en-IN" sz="1200" spc="40" dirty="0">
                  <a:solidFill>
                    <a:schemeClr val="bg1"/>
                  </a:solidFill>
                  <a:latin typeface="Arial MT"/>
                  <a:cs typeface="Arial MT"/>
                </a:rPr>
                <a:t>activities to become more sustainable</a:t>
              </a:r>
              <a:endParaRPr sz="1200" dirty="0">
                <a:solidFill>
                  <a:schemeClr val="bg1"/>
                </a:solidFill>
                <a:latin typeface="Arial MT"/>
                <a:cs typeface="Arial MT"/>
              </a:endParaRPr>
            </a:p>
          </p:txBody>
        </p:sp>
        <p:pic>
          <p:nvPicPr>
            <p:cNvPr id="114" name="object 39">
              <a:extLst>
                <a:ext uri="{FF2B5EF4-FFF2-40B4-BE49-F238E27FC236}">
                  <a16:creationId xmlns:a16="http://schemas.microsoft.com/office/drawing/2014/main" id="{C36543DE-5FF1-5411-D28C-350AE8F1A89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687" y="2814024"/>
              <a:ext cx="281885" cy="281886"/>
            </a:xfrm>
            <a:prstGeom prst="rect">
              <a:avLst/>
            </a:prstGeom>
          </p:spPr>
        </p:pic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E3229B5C-7977-BD3B-9887-2116788263C7}"/>
                </a:ext>
              </a:extLst>
            </p:cNvPr>
            <p:cNvCxnSpPr/>
            <p:nvPr/>
          </p:nvCxnSpPr>
          <p:spPr>
            <a:xfrm>
              <a:off x="555287" y="1805120"/>
              <a:ext cx="1884167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83690EC7-138F-9D68-5DAF-ABAA56BE3124}"/>
              </a:ext>
            </a:extLst>
          </p:cNvPr>
          <p:cNvCxnSpPr/>
          <p:nvPr/>
        </p:nvCxnSpPr>
        <p:spPr>
          <a:xfrm>
            <a:off x="948134" y="2578671"/>
            <a:ext cx="1104825" cy="0"/>
          </a:xfrm>
          <a:prstGeom prst="line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584ACA5C-4922-F901-3DFD-EE62BDF83775}"/>
              </a:ext>
            </a:extLst>
          </p:cNvPr>
          <p:cNvCxnSpPr/>
          <p:nvPr/>
        </p:nvCxnSpPr>
        <p:spPr>
          <a:xfrm>
            <a:off x="3189282" y="2590792"/>
            <a:ext cx="1104825" cy="0"/>
          </a:xfrm>
          <a:prstGeom prst="line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A1C59F59-8279-A60A-9D32-EBBFDCD3F606}"/>
              </a:ext>
            </a:extLst>
          </p:cNvPr>
          <p:cNvCxnSpPr/>
          <p:nvPr/>
        </p:nvCxnSpPr>
        <p:spPr>
          <a:xfrm>
            <a:off x="5462582" y="2590792"/>
            <a:ext cx="1104825" cy="0"/>
          </a:xfrm>
          <a:prstGeom prst="line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D131009E-86F7-B80A-E37F-FC4BC089DFC3}"/>
              </a:ext>
            </a:extLst>
          </p:cNvPr>
          <p:cNvCxnSpPr/>
          <p:nvPr/>
        </p:nvCxnSpPr>
        <p:spPr>
          <a:xfrm>
            <a:off x="7710643" y="2590792"/>
            <a:ext cx="1104825" cy="0"/>
          </a:xfrm>
          <a:prstGeom prst="line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25B5B0C3-7260-C36F-96A3-E39354B7524D}"/>
              </a:ext>
            </a:extLst>
          </p:cNvPr>
          <p:cNvCxnSpPr/>
          <p:nvPr/>
        </p:nvCxnSpPr>
        <p:spPr>
          <a:xfrm>
            <a:off x="9927698" y="2577513"/>
            <a:ext cx="1104825" cy="0"/>
          </a:xfrm>
          <a:prstGeom prst="line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D88CA600-8DC3-DDB7-8831-5155DA51769A}"/>
              </a:ext>
            </a:extLst>
          </p:cNvPr>
          <p:cNvCxnSpPr>
            <a:cxnSpLocks/>
          </p:cNvCxnSpPr>
          <p:nvPr/>
        </p:nvCxnSpPr>
        <p:spPr>
          <a:xfrm>
            <a:off x="652062" y="3914573"/>
            <a:ext cx="10808100" cy="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4" name="Title 3">
            <a:extLst>
              <a:ext uri="{FF2B5EF4-FFF2-40B4-BE49-F238E27FC236}">
                <a16:creationId xmlns:a16="http://schemas.microsoft.com/office/drawing/2014/main" id="{A96D1DC3-EA92-8D43-A086-0ADB7F142019}"/>
              </a:ext>
            </a:extLst>
          </p:cNvPr>
          <p:cNvSpPr txBox="1">
            <a:spLocks/>
          </p:cNvSpPr>
          <p:nvPr/>
        </p:nvSpPr>
        <p:spPr>
          <a:xfrm>
            <a:off x="529540" y="3988497"/>
            <a:ext cx="10906125" cy="29546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0" dirty="0"/>
              <a:t>While ensuring high financial growth…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720AC100-D27C-EA14-A55D-C8CD7CCF1EF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359569404"/>
                  </p:ext>
                </p:extLst>
              </p:nvPr>
            </p:nvGraphicFramePr>
            <p:xfrm>
              <a:off x="1736433" y="4641403"/>
              <a:ext cx="5194199" cy="208963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6"/>
              </a:graphicData>
            </a:graphic>
          </p:graphicFrame>
        </mc:Choice>
        <mc:Fallback xmlns="">
          <p:pic>
            <p:nvPicPr>
              <p:cNvPr id="4" name="Chart 3">
                <a:extLst>
                  <a:ext uri="{FF2B5EF4-FFF2-40B4-BE49-F238E27FC236}">
                    <a16:creationId xmlns:a16="http://schemas.microsoft.com/office/drawing/2014/main" id="{720AC100-D27C-EA14-A55D-C8CD7CCF1EF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36433" y="4641403"/>
                <a:ext cx="5194199" cy="2089637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F733629-1E45-E6B7-B2DB-5A7955807172}"/>
              </a:ext>
            </a:extLst>
          </p:cNvPr>
          <p:cNvSpPr txBox="1"/>
          <p:nvPr/>
        </p:nvSpPr>
        <p:spPr>
          <a:xfrm>
            <a:off x="145258" y="4320906"/>
            <a:ext cx="6096000" cy="378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>
                <a:solidFill>
                  <a:schemeClr val="accent2">
                    <a:lumMod val="60000"/>
                    <a:lumOff val="40000"/>
                  </a:schemeClr>
                </a:solidFill>
                <a:latin typeface="Graphik" panose="020B0503030202060203" pitchFamily="34" charset="77"/>
                <a:ea typeface="Graphik" panose="020B0503030202060203" pitchFamily="34" charset="77"/>
                <a:cs typeface="Graphik" panose="020B0503030202060203" pitchFamily="34" charset="77"/>
              </a:defRPr>
            </a:pPr>
            <a:r>
              <a:rPr lang="en-US" u="sng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Yearly Revenue Growth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0D2715-F791-948D-1774-E9DFA9EF1E49}"/>
              </a:ext>
            </a:extLst>
          </p:cNvPr>
          <p:cNvSpPr txBox="1"/>
          <p:nvPr/>
        </p:nvSpPr>
        <p:spPr>
          <a:xfrm>
            <a:off x="4502724" y="4641404"/>
            <a:ext cx="274265" cy="11677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180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95</a:t>
            </a:r>
          </a:p>
        </p:txBody>
      </p:sp>
    </p:spTree>
    <p:extLst>
      <p:ext uri="{BB962C8B-B14F-4D97-AF65-F5344CB8AC3E}">
        <p14:creationId xmlns:p14="http://schemas.microsoft.com/office/powerpoint/2010/main" val="1990837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4A47B9F-97B8-0008-3E38-217C6CA70C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480591"/>
            <a:ext cx="381001" cy="207843"/>
          </a:xfrm>
        </p:spPr>
        <p:txBody>
          <a:bodyPr/>
          <a:lstStyle/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8</a:t>
            </a:fld>
            <a:endParaRPr lang="en-IN" dirty="0"/>
          </a:p>
        </p:txBody>
      </p:sp>
      <p:sp>
        <p:nvSpPr>
          <p:cNvPr id="81" name="Title 3">
            <a:extLst>
              <a:ext uri="{FF2B5EF4-FFF2-40B4-BE49-F238E27FC236}">
                <a16:creationId xmlns:a16="http://schemas.microsoft.com/office/drawing/2014/main" id="{6D897772-7437-C900-5A91-98FC20EA6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165" y="263397"/>
            <a:ext cx="10906125" cy="344710"/>
          </a:xfrm>
        </p:spPr>
        <p:txBody>
          <a:bodyPr/>
          <a:lstStyle/>
          <a:p>
            <a:r>
              <a:rPr lang="en-IN" sz="2800" dirty="0"/>
              <a:t>Choosing the right thing for us and our customers</a:t>
            </a:r>
            <a:endParaRPr lang="en-US" sz="3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DA551E2-D631-0CCF-C867-59F52D524E7F}"/>
              </a:ext>
            </a:extLst>
          </p:cNvPr>
          <p:cNvGrpSpPr/>
          <p:nvPr/>
        </p:nvGrpSpPr>
        <p:grpSpPr>
          <a:xfrm>
            <a:off x="472205" y="5550580"/>
            <a:ext cx="6412449" cy="899851"/>
            <a:chOff x="448006" y="4881519"/>
            <a:chExt cx="6540978" cy="89985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90095BC-BB9C-4E4E-4229-EE0EF7B0017A}"/>
                </a:ext>
              </a:extLst>
            </p:cNvPr>
            <p:cNvSpPr/>
            <p:nvPr/>
          </p:nvSpPr>
          <p:spPr>
            <a:xfrm>
              <a:off x="570766" y="5326506"/>
              <a:ext cx="2173556" cy="41829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Opportunity to become the market leader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FB891B8-BD57-96EE-6A91-5609F2D9CA25}"/>
                </a:ext>
              </a:extLst>
            </p:cNvPr>
            <p:cNvSpPr/>
            <p:nvPr/>
          </p:nvSpPr>
          <p:spPr>
            <a:xfrm>
              <a:off x="2905229" y="5363079"/>
              <a:ext cx="2173556" cy="41829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Benefit from price sensitivity of customers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C4B0F2A-6527-23F3-02EB-8F5A74F465EE}"/>
                </a:ext>
              </a:extLst>
            </p:cNvPr>
            <p:cNvSpPr/>
            <p:nvPr/>
          </p:nvSpPr>
          <p:spPr>
            <a:xfrm>
              <a:off x="5221921" y="5350080"/>
              <a:ext cx="1767063" cy="41829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ln w="0"/>
                  <a:solidFill>
                    <a:sysClr val="windowText" lastClr="0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Lack of clarity on decision of competitors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B2E6090-D23F-840A-88BB-2A71F9A2B7E1}"/>
                </a:ext>
              </a:extLst>
            </p:cNvPr>
            <p:cNvSpPr/>
            <p:nvPr/>
          </p:nvSpPr>
          <p:spPr>
            <a:xfrm>
              <a:off x="1849876" y="4881519"/>
              <a:ext cx="3992320" cy="31025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ABC should focus on Volume driven growth:</a:t>
              </a:r>
            </a:p>
          </p:txBody>
        </p:sp>
        <p:pic>
          <p:nvPicPr>
            <p:cNvPr id="49" name="Picture 8" descr="Leadership ">
              <a:extLst>
                <a:ext uri="{FF2B5EF4-FFF2-40B4-BE49-F238E27FC236}">
                  <a16:creationId xmlns:a16="http://schemas.microsoft.com/office/drawing/2014/main" id="{F5919ED8-549A-239F-83AB-1AB5A06B14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8006" y="5353112"/>
              <a:ext cx="291867" cy="2918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12" descr="Magnifying glass ">
              <a:extLst>
                <a:ext uri="{FF2B5EF4-FFF2-40B4-BE49-F238E27FC236}">
                  <a16:creationId xmlns:a16="http://schemas.microsoft.com/office/drawing/2014/main" id="{56BEF06D-3712-7DB3-495E-17C37E4D2B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01314" y="5403765"/>
              <a:ext cx="241214" cy="2412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1" name="Picture 10" descr="Peer to peer ">
            <a:extLst>
              <a:ext uri="{FF2B5EF4-FFF2-40B4-BE49-F238E27FC236}">
                <a16:creationId xmlns:a16="http://schemas.microsoft.com/office/drawing/2014/main" id="{3EBC526E-8D89-4919-BEC2-94F3C12F9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108" y="6028119"/>
            <a:ext cx="310252" cy="310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Speech Bubble: Rectangle 65">
            <a:extLst>
              <a:ext uri="{FF2B5EF4-FFF2-40B4-BE49-F238E27FC236}">
                <a16:creationId xmlns:a16="http://schemas.microsoft.com/office/drawing/2014/main" id="{F9AC6349-9E1C-1C7E-F67D-FDD8055C36BB}"/>
              </a:ext>
            </a:extLst>
          </p:cNvPr>
          <p:cNvSpPr/>
          <p:nvPr/>
        </p:nvSpPr>
        <p:spPr>
          <a:xfrm>
            <a:off x="4502451" y="714423"/>
            <a:ext cx="1737747" cy="836644"/>
          </a:xfrm>
          <a:prstGeom prst="wedgeRectCallou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 dirty="0"/>
              <a:t>Hi, I am Sonia. I care more about the price than brand while buying bedsheets</a:t>
            </a:r>
          </a:p>
        </p:txBody>
      </p:sp>
      <p:pic>
        <p:nvPicPr>
          <p:cNvPr id="1028" name="Picture 4" descr="Student ">
            <a:extLst>
              <a:ext uri="{FF2B5EF4-FFF2-40B4-BE49-F238E27FC236}">
                <a16:creationId xmlns:a16="http://schemas.microsoft.com/office/drawing/2014/main" id="{5F0B4CE8-8C1D-32C0-EF75-2E9C7EA6E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5313" y="772658"/>
            <a:ext cx="1032287" cy="1007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08148927-C48D-8A06-B8A1-160F7E1D4E2F}"/>
              </a:ext>
            </a:extLst>
          </p:cNvPr>
          <p:cNvSpPr/>
          <p:nvPr/>
        </p:nvSpPr>
        <p:spPr>
          <a:xfrm>
            <a:off x="7309319" y="605702"/>
            <a:ext cx="2873217" cy="37470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400" dirty="0"/>
              <a:t>Minimising Cost to Serve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9020610-A2C0-5A59-8BED-25F8692421AA}"/>
              </a:ext>
            </a:extLst>
          </p:cNvPr>
          <p:cNvSpPr/>
          <p:nvPr/>
        </p:nvSpPr>
        <p:spPr>
          <a:xfrm>
            <a:off x="915618" y="2233895"/>
            <a:ext cx="1810616" cy="27368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400" dirty="0"/>
              <a:t>Business Metrics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D9DFE4F-155E-DE48-C76D-E41E7B6CE382}"/>
              </a:ext>
            </a:extLst>
          </p:cNvPr>
          <p:cNvSpPr/>
          <p:nvPr/>
        </p:nvSpPr>
        <p:spPr>
          <a:xfrm>
            <a:off x="4210730" y="2235298"/>
            <a:ext cx="2157397" cy="28303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400" dirty="0"/>
              <a:t>Customer Metrics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1A8425F-FEEA-1493-4726-0854E19D345C}"/>
              </a:ext>
            </a:extLst>
          </p:cNvPr>
          <p:cNvSpPr txBox="1"/>
          <p:nvPr/>
        </p:nvSpPr>
        <p:spPr>
          <a:xfrm>
            <a:off x="730439" y="2758115"/>
            <a:ext cx="1250829" cy="32581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noProof="0" dirty="0">
                <a:solidFill>
                  <a:schemeClr val="bg1"/>
                </a:solidFill>
              </a:rPr>
              <a:t>Cost Optimisation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B94166C-5194-9DCE-4049-4101E714BBA1}"/>
              </a:ext>
            </a:extLst>
          </p:cNvPr>
          <p:cNvSpPr txBox="1"/>
          <p:nvPr/>
        </p:nvSpPr>
        <p:spPr>
          <a:xfrm>
            <a:off x="748500" y="3361042"/>
            <a:ext cx="1250829" cy="2736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noProof="0" dirty="0">
                <a:solidFill>
                  <a:schemeClr val="bg1"/>
                </a:solidFill>
              </a:rPr>
              <a:t>Competitor Prices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10BB41E-5FF6-37AF-119D-FDF6494584C2}"/>
              </a:ext>
            </a:extLst>
          </p:cNvPr>
          <p:cNvSpPr txBox="1"/>
          <p:nvPr/>
        </p:nvSpPr>
        <p:spPr>
          <a:xfrm>
            <a:off x="4022321" y="2758115"/>
            <a:ext cx="1086778" cy="292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noProof="0" dirty="0">
                <a:solidFill>
                  <a:schemeClr val="bg1"/>
                </a:solidFill>
              </a:rPr>
              <a:t>Price Sensitivity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EEF6E3C-8B06-B1CD-9FBE-E1F3D273FCCA}"/>
              </a:ext>
            </a:extLst>
          </p:cNvPr>
          <p:cNvSpPr txBox="1"/>
          <p:nvPr/>
        </p:nvSpPr>
        <p:spPr>
          <a:xfrm>
            <a:off x="4022320" y="3342774"/>
            <a:ext cx="1018564" cy="3886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IN" sz="1200" noProof="0" dirty="0">
                <a:solidFill>
                  <a:schemeClr val="bg1"/>
                </a:solidFill>
              </a:rPr>
              <a:t>Cost Quality </a:t>
            </a:r>
            <a:r>
              <a:rPr lang="en-IN" sz="1200" dirty="0">
                <a:solidFill>
                  <a:schemeClr val="bg1"/>
                </a:solidFill>
              </a:rPr>
              <a:t>T</a:t>
            </a:r>
            <a:r>
              <a:rPr lang="en-IN" sz="1200" noProof="0" dirty="0" err="1">
                <a:solidFill>
                  <a:schemeClr val="bg1"/>
                </a:solidFill>
              </a:rPr>
              <a:t>radeoff</a:t>
            </a:r>
            <a:endParaRPr lang="en-IN" sz="1200" noProof="0" dirty="0">
              <a:solidFill>
                <a:schemeClr val="bg1"/>
              </a:solidFill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CCF1EB0-2A28-68C3-BB71-2E8AF6942F81}"/>
              </a:ext>
            </a:extLst>
          </p:cNvPr>
          <p:cNvCxnSpPr>
            <a:cxnSpLocks/>
          </p:cNvCxnSpPr>
          <p:nvPr/>
        </p:nvCxnSpPr>
        <p:spPr>
          <a:xfrm flipV="1">
            <a:off x="3552725" y="779078"/>
            <a:ext cx="0" cy="1246964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8026E721-905A-BE6E-842E-F8B3076349AB}"/>
              </a:ext>
            </a:extLst>
          </p:cNvPr>
          <p:cNvSpPr txBox="1"/>
          <p:nvPr/>
        </p:nvSpPr>
        <p:spPr>
          <a:xfrm>
            <a:off x="5044024" y="2756492"/>
            <a:ext cx="1737908" cy="36893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algn="l" defTabSz="228600"/>
            <a:r>
              <a:rPr lang="en-US" sz="1200" dirty="0">
                <a:solidFill>
                  <a:schemeClr val="bg1"/>
                </a:solidFill>
              </a:rPr>
              <a:t>  - High price elasticity</a:t>
            </a:r>
          </a:p>
          <a:p>
            <a:pPr algn="l" defTabSz="228600"/>
            <a:r>
              <a:rPr lang="en-US" sz="1200" dirty="0">
                <a:solidFill>
                  <a:schemeClr val="bg1"/>
                </a:solidFill>
              </a:rPr>
              <a:t>  - Competitive Market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C28235-D813-F345-50B4-C29F8948392F}"/>
              </a:ext>
            </a:extLst>
          </p:cNvPr>
          <p:cNvSpPr txBox="1"/>
          <p:nvPr/>
        </p:nvSpPr>
        <p:spPr>
          <a:xfrm>
            <a:off x="736713" y="4003286"/>
            <a:ext cx="1037628" cy="44556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noProof="0" dirty="0">
                <a:solidFill>
                  <a:schemeClr val="bg1"/>
                </a:solidFill>
              </a:rPr>
              <a:t>Vision Alignment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61CCE96-C848-F5CC-052E-C7A9654D2863}"/>
              </a:ext>
            </a:extLst>
          </p:cNvPr>
          <p:cNvSpPr txBox="1"/>
          <p:nvPr/>
        </p:nvSpPr>
        <p:spPr>
          <a:xfrm>
            <a:off x="5052342" y="3336741"/>
            <a:ext cx="1737909" cy="39203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algn="l" defTabSz="228600"/>
            <a:r>
              <a:rPr lang="en-US" sz="1200" dirty="0">
                <a:solidFill>
                  <a:schemeClr val="bg1"/>
                </a:solidFill>
              </a:rPr>
              <a:t>  - Premium products</a:t>
            </a:r>
          </a:p>
          <a:p>
            <a:pPr algn="l" defTabSz="228600"/>
            <a:r>
              <a:rPr lang="en-US" sz="1200" dirty="0">
                <a:solidFill>
                  <a:schemeClr val="bg1"/>
                </a:solidFill>
              </a:rPr>
              <a:t>  - Superior quality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93F066A-5011-D602-389E-10FA3A540495}"/>
              </a:ext>
            </a:extLst>
          </p:cNvPr>
          <p:cNvSpPr txBox="1"/>
          <p:nvPr/>
        </p:nvSpPr>
        <p:spPr>
          <a:xfrm>
            <a:off x="776760" y="4691507"/>
            <a:ext cx="881102" cy="2918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noProof="0" dirty="0">
                <a:solidFill>
                  <a:schemeClr val="bg1"/>
                </a:solidFill>
              </a:rPr>
              <a:t>Profitability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FF62FC9-496F-4E33-3D09-D297436F421B}"/>
              </a:ext>
            </a:extLst>
          </p:cNvPr>
          <p:cNvSpPr txBox="1"/>
          <p:nvPr/>
        </p:nvSpPr>
        <p:spPr>
          <a:xfrm>
            <a:off x="1801266" y="2743676"/>
            <a:ext cx="1626268" cy="38121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algn="l" defTabSz="228600"/>
            <a:r>
              <a:rPr lang="en-US" sz="1200" dirty="0">
                <a:solidFill>
                  <a:schemeClr val="bg1"/>
                </a:solidFill>
              </a:rPr>
              <a:t>   - Economies of scale</a:t>
            </a:r>
          </a:p>
          <a:p>
            <a:pPr algn="l" defTabSz="228600"/>
            <a:r>
              <a:rPr lang="en-US" sz="1200" dirty="0">
                <a:solidFill>
                  <a:schemeClr val="bg1"/>
                </a:solidFill>
              </a:rPr>
              <a:t>   - Innovation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5E3A468-8C01-7A62-F5A6-42331E735C5A}"/>
              </a:ext>
            </a:extLst>
          </p:cNvPr>
          <p:cNvSpPr txBox="1"/>
          <p:nvPr/>
        </p:nvSpPr>
        <p:spPr>
          <a:xfrm>
            <a:off x="1783483" y="3913184"/>
            <a:ext cx="1644048" cy="55629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defTabSz="228600"/>
            <a:r>
              <a:rPr lang="en-US" sz="1200" dirty="0">
                <a:solidFill>
                  <a:schemeClr val="bg1"/>
                </a:solidFill>
              </a:rPr>
              <a:t>   - Increased sales</a:t>
            </a:r>
          </a:p>
          <a:p>
            <a:pPr defTabSz="228600"/>
            <a:r>
              <a:rPr lang="en-US" sz="1200" dirty="0">
                <a:solidFill>
                  <a:schemeClr val="bg1"/>
                </a:solidFill>
              </a:rPr>
              <a:t>   - Cater to all</a:t>
            </a:r>
          </a:p>
          <a:p>
            <a:pPr defTabSz="228600"/>
            <a:r>
              <a:rPr lang="en-US" sz="1200" dirty="0">
                <a:solidFill>
                  <a:schemeClr val="bg1"/>
                </a:solidFill>
              </a:rPr>
              <a:t>     customer  groups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786AB96-0652-B29D-50F8-1F0C777C87FD}"/>
              </a:ext>
            </a:extLst>
          </p:cNvPr>
          <p:cNvSpPr txBox="1"/>
          <p:nvPr/>
        </p:nvSpPr>
        <p:spPr>
          <a:xfrm>
            <a:off x="1775862" y="4610770"/>
            <a:ext cx="1648420" cy="36745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defTabSz="228600"/>
            <a:r>
              <a:rPr lang="en-US" sz="1200" dirty="0">
                <a:solidFill>
                  <a:schemeClr val="bg1"/>
                </a:solidFill>
              </a:rPr>
              <a:t>    - Margins</a:t>
            </a:r>
          </a:p>
          <a:p>
            <a:pPr defTabSz="228600"/>
            <a:r>
              <a:rPr lang="en-US" sz="1200" dirty="0">
                <a:solidFill>
                  <a:schemeClr val="bg1"/>
                </a:solidFill>
              </a:rPr>
              <a:t>    - Increasing costs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1D08403D-E54A-224E-2DDA-B4833D5BAEA1}"/>
              </a:ext>
            </a:extLst>
          </p:cNvPr>
          <p:cNvCxnSpPr>
            <a:cxnSpLocks/>
          </p:cNvCxnSpPr>
          <p:nvPr/>
        </p:nvCxnSpPr>
        <p:spPr>
          <a:xfrm flipV="1">
            <a:off x="3563467" y="1992100"/>
            <a:ext cx="0" cy="3346486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30" name="Picture 6" descr="Cost ">
            <a:extLst>
              <a:ext uri="{FF2B5EF4-FFF2-40B4-BE49-F238E27FC236}">
                <a16:creationId xmlns:a16="http://schemas.microsoft.com/office/drawing/2014/main" id="{297C8071-8572-53FC-1C31-1D69D2D1A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983" y="2762599"/>
            <a:ext cx="321054" cy="321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ompetition ">
            <a:extLst>
              <a:ext uri="{FF2B5EF4-FFF2-40B4-BE49-F238E27FC236}">
                <a16:creationId xmlns:a16="http://schemas.microsoft.com/office/drawing/2014/main" id="{83E9982C-51A9-C1C9-857B-A5844C6BD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282" y="3336256"/>
            <a:ext cx="321054" cy="321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6932C278-964E-8C40-A9B6-3048A9B5B785}"/>
              </a:ext>
            </a:extLst>
          </p:cNvPr>
          <p:cNvSpPr txBox="1"/>
          <p:nvPr/>
        </p:nvSpPr>
        <p:spPr>
          <a:xfrm>
            <a:off x="1783483" y="3323574"/>
            <a:ext cx="1642425" cy="38121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algn="ctr" defTabSz="228600"/>
            <a:r>
              <a:rPr lang="en-US" sz="1200" dirty="0">
                <a:solidFill>
                  <a:schemeClr val="bg1"/>
                </a:solidFill>
              </a:rPr>
              <a:t> - Competitors might not increase prices</a:t>
            </a:r>
          </a:p>
        </p:txBody>
      </p:sp>
      <p:pic>
        <p:nvPicPr>
          <p:cNvPr id="1034" name="Picture 10" descr="Vision ">
            <a:extLst>
              <a:ext uri="{FF2B5EF4-FFF2-40B4-BE49-F238E27FC236}">
                <a16:creationId xmlns:a16="http://schemas.microsoft.com/office/drawing/2014/main" id="{29AFA135-D791-40AC-2AEE-8D5775E30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229" y="3925268"/>
            <a:ext cx="353159" cy="353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Financial profit ">
            <a:extLst>
              <a:ext uri="{FF2B5EF4-FFF2-40B4-BE49-F238E27FC236}">
                <a16:creationId xmlns:a16="http://schemas.microsoft.com/office/drawing/2014/main" id="{7F01887D-5F9B-978A-1AE0-0E8554B64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685" y="4622750"/>
            <a:ext cx="291867" cy="291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Cost ">
            <a:extLst>
              <a:ext uri="{FF2B5EF4-FFF2-40B4-BE49-F238E27FC236}">
                <a16:creationId xmlns:a16="http://schemas.microsoft.com/office/drawing/2014/main" id="{00C8884C-5666-3189-1989-3FEF063E6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417" y="2755730"/>
            <a:ext cx="353159" cy="353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D8232602-2F25-46F5-50FC-A6E331F5E3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690" y="4609104"/>
            <a:ext cx="338174" cy="338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613205AA-A401-A5A9-D42E-8EA569C38D1B}"/>
              </a:ext>
            </a:extLst>
          </p:cNvPr>
          <p:cNvCxnSpPr>
            <a:cxnSpLocks/>
          </p:cNvCxnSpPr>
          <p:nvPr/>
        </p:nvCxnSpPr>
        <p:spPr>
          <a:xfrm flipV="1">
            <a:off x="6901790" y="321378"/>
            <a:ext cx="0" cy="6051647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8" name="Rectangle 127">
            <a:extLst>
              <a:ext uri="{FF2B5EF4-FFF2-40B4-BE49-F238E27FC236}">
                <a16:creationId xmlns:a16="http://schemas.microsoft.com/office/drawing/2014/main" id="{F0582580-F0CB-A387-ACA3-A412FA8932E0}"/>
              </a:ext>
            </a:extLst>
          </p:cNvPr>
          <p:cNvSpPr/>
          <p:nvPr/>
        </p:nvSpPr>
        <p:spPr>
          <a:xfrm>
            <a:off x="10376880" y="599929"/>
            <a:ext cx="1617929" cy="37470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400" dirty="0"/>
              <a:t>Value Enhancers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D334D7D4-2005-F631-E262-9D38F4B5353E}"/>
              </a:ext>
            </a:extLst>
          </p:cNvPr>
          <p:cNvSpPr txBox="1"/>
          <p:nvPr/>
        </p:nvSpPr>
        <p:spPr>
          <a:xfrm>
            <a:off x="4053503" y="3948769"/>
            <a:ext cx="987381" cy="3171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noProof="0" dirty="0">
                <a:solidFill>
                  <a:schemeClr val="bg1"/>
                </a:solidFill>
              </a:rPr>
              <a:t>Cost to Search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82BC4D4D-DE6E-3AEC-448D-EA351D89AACE}"/>
              </a:ext>
            </a:extLst>
          </p:cNvPr>
          <p:cNvSpPr txBox="1"/>
          <p:nvPr/>
        </p:nvSpPr>
        <p:spPr>
          <a:xfrm>
            <a:off x="4036646" y="4649942"/>
            <a:ext cx="1086778" cy="23246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noProof="0" dirty="0">
                <a:solidFill>
                  <a:schemeClr val="bg1"/>
                </a:solidFill>
              </a:rPr>
              <a:t>Brand Awareness</a:t>
            </a:r>
          </a:p>
        </p:txBody>
      </p: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97158BCA-F482-7498-ADFA-169923C64C0C}"/>
              </a:ext>
            </a:extLst>
          </p:cNvPr>
          <p:cNvCxnSpPr>
            <a:cxnSpLocks/>
          </p:cNvCxnSpPr>
          <p:nvPr/>
        </p:nvCxnSpPr>
        <p:spPr>
          <a:xfrm flipH="1">
            <a:off x="199855" y="2117815"/>
            <a:ext cx="6684799" cy="23994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894567C3-F50A-969D-AD38-08BB688733CE}"/>
              </a:ext>
            </a:extLst>
          </p:cNvPr>
          <p:cNvCxnSpPr>
            <a:cxnSpLocks/>
          </p:cNvCxnSpPr>
          <p:nvPr/>
        </p:nvCxnSpPr>
        <p:spPr>
          <a:xfrm flipH="1">
            <a:off x="465808" y="5425887"/>
            <a:ext cx="6229053" cy="6561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44" name="Picture 20" descr="454102432">
            <a:extLst>
              <a:ext uri="{FF2B5EF4-FFF2-40B4-BE49-F238E27FC236}">
                <a16:creationId xmlns:a16="http://schemas.microsoft.com/office/drawing/2014/main" id="{C5D9424A-E6A4-6D43-71C8-5AF5C0F799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6115" y="3941042"/>
            <a:ext cx="411157" cy="411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6" name="TextBox 155">
            <a:extLst>
              <a:ext uri="{FF2B5EF4-FFF2-40B4-BE49-F238E27FC236}">
                <a16:creationId xmlns:a16="http://schemas.microsoft.com/office/drawing/2014/main" id="{27481CF6-40E4-B50F-2502-557AC06F9682}"/>
              </a:ext>
            </a:extLst>
          </p:cNvPr>
          <p:cNvSpPr txBox="1"/>
          <p:nvPr/>
        </p:nvSpPr>
        <p:spPr>
          <a:xfrm>
            <a:off x="5052341" y="3942574"/>
            <a:ext cx="1737910" cy="3568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algn="l" defTabSz="228600"/>
            <a:r>
              <a:rPr lang="en-US" sz="1200" dirty="0">
                <a:solidFill>
                  <a:schemeClr val="bg1"/>
                </a:solidFill>
              </a:rPr>
              <a:t>  - Multiple platforms</a:t>
            </a:r>
          </a:p>
          <a:p>
            <a:pPr algn="l" defTabSz="228600"/>
            <a:r>
              <a:rPr lang="en-US" sz="1200" dirty="0">
                <a:solidFill>
                  <a:schemeClr val="bg1"/>
                </a:solidFill>
              </a:rPr>
              <a:t>  - Focused campaigns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3AEEC44-B5F3-BD1E-3167-1EEE5C2186FF}"/>
              </a:ext>
            </a:extLst>
          </p:cNvPr>
          <p:cNvSpPr txBox="1"/>
          <p:nvPr/>
        </p:nvSpPr>
        <p:spPr>
          <a:xfrm>
            <a:off x="196474" y="1684418"/>
            <a:ext cx="1018439" cy="3080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ABC’s</a:t>
            </a:r>
            <a:r>
              <a:rPr lang="en-IN" sz="1200" noProof="0" dirty="0">
                <a:solidFill>
                  <a:schemeClr val="bg1"/>
                </a:solidFill>
              </a:rPr>
              <a:t> current share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ED96325E-B4AD-F1D7-9198-D92D0D4B1C5F}"/>
              </a:ext>
            </a:extLst>
          </p:cNvPr>
          <p:cNvSpPr txBox="1"/>
          <p:nvPr/>
        </p:nvSpPr>
        <p:spPr>
          <a:xfrm>
            <a:off x="1280336" y="1699383"/>
            <a:ext cx="1018441" cy="2927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Potential</a:t>
            </a:r>
            <a:r>
              <a:rPr lang="en-IN" sz="1200" noProof="0" dirty="0">
                <a:solidFill>
                  <a:schemeClr val="bg1"/>
                </a:solidFill>
              </a:rPr>
              <a:t> share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6E9BC3C7-A890-2358-7A47-8484AB1BC22B}"/>
              </a:ext>
            </a:extLst>
          </p:cNvPr>
          <p:cNvSpPr txBox="1"/>
          <p:nvPr/>
        </p:nvSpPr>
        <p:spPr>
          <a:xfrm>
            <a:off x="2431809" y="1713638"/>
            <a:ext cx="1018441" cy="2927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Total Industry Size</a:t>
            </a:r>
            <a:endParaRPr lang="en-IN" sz="1200" noProof="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EFCB6B-D64E-504C-6FCE-288977289D3B}"/>
              </a:ext>
            </a:extLst>
          </p:cNvPr>
          <p:cNvSpPr txBox="1"/>
          <p:nvPr/>
        </p:nvSpPr>
        <p:spPr>
          <a:xfrm>
            <a:off x="5044720" y="4579004"/>
            <a:ext cx="1737910" cy="3568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algn="l" defTabSz="228600"/>
            <a:r>
              <a:rPr lang="en-US" sz="1200" dirty="0">
                <a:solidFill>
                  <a:schemeClr val="bg1"/>
                </a:solidFill>
              </a:rPr>
              <a:t>  - Variety of products</a:t>
            </a:r>
          </a:p>
          <a:p>
            <a:pPr algn="l" defTabSz="228600"/>
            <a:r>
              <a:rPr lang="en-US" sz="1200" dirty="0">
                <a:solidFill>
                  <a:schemeClr val="bg1"/>
                </a:solidFill>
              </a:rPr>
              <a:t>  - Focused campaigns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E264B55-9ECA-7874-460A-36137422F120}"/>
              </a:ext>
            </a:extLst>
          </p:cNvPr>
          <p:cNvGrpSpPr/>
          <p:nvPr/>
        </p:nvGrpSpPr>
        <p:grpSpPr>
          <a:xfrm>
            <a:off x="404336" y="660439"/>
            <a:ext cx="3029060" cy="938707"/>
            <a:chOff x="279641" y="757424"/>
            <a:chExt cx="3029060" cy="938707"/>
          </a:xfrm>
        </p:grpSpPr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345C8702-A666-8169-428F-E52E6C0426D0}"/>
                </a:ext>
              </a:extLst>
            </p:cNvPr>
            <p:cNvSpPr/>
            <p:nvPr/>
          </p:nvSpPr>
          <p:spPr>
            <a:xfrm>
              <a:off x="279641" y="1060868"/>
              <a:ext cx="671259" cy="608869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EC246032-F7AA-9194-0947-F7B888A270D8}"/>
                </a:ext>
              </a:extLst>
            </p:cNvPr>
            <p:cNvSpPr/>
            <p:nvPr/>
          </p:nvSpPr>
          <p:spPr>
            <a:xfrm>
              <a:off x="1278140" y="903828"/>
              <a:ext cx="814257" cy="783783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latin typeface="+mj-lt"/>
                  <a:cs typeface="Arial" panose="020B0604020202020204" pitchFamily="34" charset="0"/>
                </a:rPr>
                <a:t>$0.49 Bn</a:t>
              </a:r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DC62CA60-8CBF-C15A-48E5-DDEB2A196171}"/>
                </a:ext>
              </a:extLst>
            </p:cNvPr>
            <p:cNvSpPr/>
            <p:nvPr/>
          </p:nvSpPr>
          <p:spPr>
            <a:xfrm>
              <a:off x="2349934" y="757424"/>
              <a:ext cx="958767" cy="938707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latin typeface="+mj-lt"/>
                  <a:cs typeface="Arial" panose="020B0604020202020204" pitchFamily="34" charset="0"/>
                </a:rPr>
                <a:t>$7 Bn</a:t>
              </a:r>
            </a:p>
          </p:txBody>
        </p:sp>
        <p:pic>
          <p:nvPicPr>
            <p:cNvPr id="1052" name="Picture 28" descr="Diagonal arrow ">
              <a:extLst>
                <a:ext uri="{FF2B5EF4-FFF2-40B4-BE49-F238E27FC236}">
                  <a16:creationId xmlns:a16="http://schemas.microsoft.com/office/drawing/2014/main" id="{84356671-F00F-7C5B-DCB8-E00CCD6090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8820" y="1002343"/>
              <a:ext cx="353159" cy="3531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6" name="Picture 32" descr="Diagonal arrow ">
              <a:extLst>
                <a:ext uri="{FF2B5EF4-FFF2-40B4-BE49-F238E27FC236}">
                  <a16:creationId xmlns:a16="http://schemas.microsoft.com/office/drawing/2014/main" id="{7E16311A-84B2-BC79-8C0A-905D8BA8AA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393" y="1285128"/>
              <a:ext cx="353159" cy="3531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7" name="Picture 28" descr="Diagonal arrow ">
              <a:extLst>
                <a:ext uri="{FF2B5EF4-FFF2-40B4-BE49-F238E27FC236}">
                  <a16:creationId xmlns:a16="http://schemas.microsoft.com/office/drawing/2014/main" id="{57B490F3-CCFA-EF83-6F7F-262B1CD038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7668" y="945370"/>
              <a:ext cx="319049" cy="3190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8" name="Picture 32" descr="Diagonal arrow ">
              <a:extLst>
                <a:ext uri="{FF2B5EF4-FFF2-40B4-BE49-F238E27FC236}">
                  <a16:creationId xmlns:a16="http://schemas.microsoft.com/office/drawing/2014/main" id="{BEA92DC5-F132-C0BC-DCCC-8EAEF9836E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1343" y="1212336"/>
              <a:ext cx="353159" cy="3531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6612067-03D2-1A96-2151-F950DCAB9DB7}"/>
                </a:ext>
              </a:extLst>
            </p:cNvPr>
            <p:cNvSpPr txBox="1"/>
            <p:nvPr/>
          </p:nvSpPr>
          <p:spPr>
            <a:xfrm>
              <a:off x="313054" y="1208980"/>
              <a:ext cx="582554" cy="2958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defTabSz="228600">
                <a:spcAft>
                  <a:spcPts val="1200"/>
                </a:spcAft>
              </a:pPr>
              <a:r>
                <a:rPr lang="en-IN" sz="1400" dirty="0">
                  <a:latin typeface="+mj-lt"/>
                  <a:cs typeface="Arial" panose="020B0604020202020204" pitchFamily="34" charset="0"/>
                </a:rPr>
                <a:t>$0.05 Bn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34F7BB56-9CD4-F887-C555-1E775C2A667F}"/>
              </a:ext>
            </a:extLst>
          </p:cNvPr>
          <p:cNvSpPr/>
          <p:nvPr/>
        </p:nvSpPr>
        <p:spPr>
          <a:xfrm>
            <a:off x="4209440" y="1773351"/>
            <a:ext cx="2158690" cy="25592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400" dirty="0"/>
              <a:t>Sample Persona</a:t>
            </a:r>
          </a:p>
        </p:txBody>
      </p:sp>
      <p:pic>
        <p:nvPicPr>
          <p:cNvPr id="16" name="Graphic 15" descr="Scales of justice outline">
            <a:extLst>
              <a:ext uri="{FF2B5EF4-FFF2-40B4-BE49-F238E27FC236}">
                <a16:creationId xmlns:a16="http://schemas.microsoft.com/office/drawing/2014/main" id="{AAF53EDD-CBEE-C594-C43C-8B221560460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567858" y="3313869"/>
            <a:ext cx="443504" cy="4435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FA50F4-7CFB-327A-71D7-AEE261065973}"/>
              </a:ext>
            </a:extLst>
          </p:cNvPr>
          <p:cNvSpPr txBox="1"/>
          <p:nvPr/>
        </p:nvSpPr>
        <p:spPr>
          <a:xfrm>
            <a:off x="12108873" y="638694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26" name="Rectangle: Rounded Corners 175">
            <a:extLst>
              <a:ext uri="{FF2B5EF4-FFF2-40B4-BE49-F238E27FC236}">
                <a16:creationId xmlns:a16="http://schemas.microsoft.com/office/drawing/2014/main" id="{0A4696B9-F082-5F6C-72CA-03AB1D4410A3}"/>
              </a:ext>
            </a:extLst>
          </p:cNvPr>
          <p:cNvSpPr/>
          <p:nvPr/>
        </p:nvSpPr>
        <p:spPr>
          <a:xfrm>
            <a:off x="8484388" y="1258517"/>
            <a:ext cx="1892486" cy="135157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171450" indent="-171450" algn="l" defTabSz="22860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1"/>
                </a:solidFill>
              </a:rPr>
              <a:t>Continuous business processes optimization</a:t>
            </a:r>
          </a:p>
          <a:p>
            <a:pPr marL="171450" indent="-171450" algn="l" defTabSz="22860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1"/>
                </a:solidFill>
              </a:rPr>
              <a:t>Tech R&amp;D for cost effective mass production 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3FA1673-20BB-BE95-C92B-6C4117B0E615}"/>
              </a:ext>
            </a:extLst>
          </p:cNvPr>
          <p:cNvGrpSpPr/>
          <p:nvPr/>
        </p:nvGrpSpPr>
        <p:grpSpPr>
          <a:xfrm>
            <a:off x="6939243" y="1647117"/>
            <a:ext cx="1672382" cy="3872367"/>
            <a:chOff x="6939243" y="1647117"/>
            <a:chExt cx="1672382" cy="3872367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758D0A0-4D2D-DB18-3C29-E52A7ED8DFA8}"/>
                </a:ext>
              </a:extLst>
            </p:cNvPr>
            <p:cNvGrpSpPr/>
            <p:nvPr/>
          </p:nvGrpSpPr>
          <p:grpSpPr>
            <a:xfrm>
              <a:off x="6939243" y="1647117"/>
              <a:ext cx="1672382" cy="3872367"/>
              <a:chOff x="7091331" y="1776873"/>
              <a:chExt cx="1672382" cy="387236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6184AC2-C41E-7791-359F-0AE413787036}"/>
                  </a:ext>
                </a:extLst>
              </p:cNvPr>
              <p:cNvSpPr/>
              <p:nvPr/>
            </p:nvSpPr>
            <p:spPr>
              <a:xfrm>
                <a:off x="7616014" y="3694394"/>
                <a:ext cx="1147699" cy="293029"/>
              </a:xfrm>
              <a:prstGeom prst="rect">
                <a:avLst/>
              </a:prstGeom>
              <a:solidFill>
                <a:schemeClr val="tx1"/>
              </a:solidFill>
              <a:ln/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r>
                  <a:rPr lang="en-IN" sz="1400" dirty="0">
                    <a:ln w="0"/>
                    <a:solidFill>
                      <a:sysClr val="windowText" lastClr="0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Logistics</a:t>
                </a:r>
              </a:p>
            </p:txBody>
          </p:sp>
          <p:pic>
            <p:nvPicPr>
              <p:cNvPr id="15" name="Picture 2">
                <a:extLst>
                  <a:ext uri="{FF2B5EF4-FFF2-40B4-BE49-F238E27FC236}">
                    <a16:creationId xmlns:a16="http://schemas.microsoft.com/office/drawing/2014/main" id="{248CACBA-30D4-0975-55E8-13E258D8BB7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03901" y="1776873"/>
                <a:ext cx="495120" cy="4951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" name="Picture 4" descr="Bulk buying ">
                <a:extLst>
                  <a:ext uri="{FF2B5EF4-FFF2-40B4-BE49-F238E27FC236}">
                    <a16:creationId xmlns:a16="http://schemas.microsoft.com/office/drawing/2014/main" id="{5DF813CA-F786-DEE9-29B6-5A065DD42DE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91331" y="2854621"/>
                <a:ext cx="388475" cy="3884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" name="Picture 6" descr="Logistics ">
                <a:extLst>
                  <a:ext uri="{FF2B5EF4-FFF2-40B4-BE49-F238E27FC236}">
                    <a16:creationId xmlns:a16="http://schemas.microsoft.com/office/drawing/2014/main" id="{C170DE16-0228-791F-4766-A2FEB521BC2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34326" y="3640352"/>
                <a:ext cx="427323" cy="4273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9" name="Picture 8" descr="Production ">
                <a:extLst>
                  <a:ext uri="{FF2B5EF4-FFF2-40B4-BE49-F238E27FC236}">
                    <a16:creationId xmlns:a16="http://schemas.microsoft.com/office/drawing/2014/main" id="{36B05B6A-C70A-ABEE-C7E3-BDBCCCA3B65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34326" y="4395396"/>
                <a:ext cx="427323" cy="4273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" name="Picture 10" descr="Social marketing ">
                <a:extLst>
                  <a:ext uri="{FF2B5EF4-FFF2-40B4-BE49-F238E27FC236}">
                    <a16:creationId xmlns:a16="http://schemas.microsoft.com/office/drawing/2014/main" id="{9AFFC7F6-72BB-0131-D859-B8C6D554B3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95073" y="5179185"/>
                <a:ext cx="470055" cy="4700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ADA8EC8-ED75-CF4F-0F50-8F2FA5840356}"/>
                  </a:ext>
                </a:extLst>
              </p:cNvPr>
              <p:cNvSpPr/>
              <p:nvPr/>
            </p:nvSpPr>
            <p:spPr>
              <a:xfrm>
                <a:off x="7576360" y="1896824"/>
                <a:ext cx="1043363" cy="293029"/>
              </a:xfrm>
              <a:prstGeom prst="rect">
                <a:avLst/>
              </a:prstGeom>
              <a:solidFill>
                <a:schemeClr val="tx1"/>
              </a:solidFill>
              <a:ln/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r>
                  <a:rPr lang="en-IN" sz="1300" dirty="0">
                    <a:ln w="0"/>
                    <a:solidFill>
                      <a:sysClr val="windowText" lastClr="0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Innovation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0DB3392D-AD5F-A0EC-854F-5F351772271C}"/>
                  </a:ext>
                </a:extLst>
              </p:cNvPr>
              <p:cNvSpPr/>
              <p:nvPr/>
            </p:nvSpPr>
            <p:spPr>
              <a:xfrm>
                <a:off x="7561649" y="3014398"/>
                <a:ext cx="1043363" cy="293029"/>
              </a:xfrm>
              <a:prstGeom prst="rect">
                <a:avLst/>
              </a:prstGeom>
              <a:solidFill>
                <a:schemeClr val="tx1"/>
              </a:solidFill>
              <a:ln/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endParaRPr lang="en-IN" sz="1200" dirty="0">
                  <a:ln w="0"/>
                  <a:solidFill>
                    <a:sysClr val="windowText" lastClr="0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74E325C-A9A2-B059-F364-A9F63F7636AD}"/>
                  </a:ext>
                </a:extLst>
              </p:cNvPr>
              <p:cNvSpPr/>
              <p:nvPr/>
            </p:nvSpPr>
            <p:spPr>
              <a:xfrm>
                <a:off x="7616014" y="4471520"/>
                <a:ext cx="1147699" cy="293029"/>
              </a:xfrm>
              <a:prstGeom prst="rect">
                <a:avLst/>
              </a:prstGeom>
              <a:solidFill>
                <a:schemeClr val="tx1"/>
              </a:solidFill>
              <a:ln/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r>
                  <a:rPr lang="en-IN" sz="1400" dirty="0">
                    <a:ln w="0"/>
                    <a:solidFill>
                      <a:sysClr val="windowText" lastClr="0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Production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C6E993D-D611-325A-273D-50201090B456}"/>
                  </a:ext>
                </a:extLst>
              </p:cNvPr>
              <p:cNvSpPr/>
              <p:nvPr/>
            </p:nvSpPr>
            <p:spPr>
              <a:xfrm>
                <a:off x="7599021" y="5267697"/>
                <a:ext cx="1147699" cy="293029"/>
              </a:xfrm>
              <a:prstGeom prst="rect">
                <a:avLst/>
              </a:prstGeom>
              <a:solidFill>
                <a:schemeClr val="tx1"/>
              </a:solidFill>
              <a:ln/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r>
                  <a:rPr lang="en-IN" sz="1400" dirty="0">
                    <a:ln w="0"/>
                    <a:solidFill>
                      <a:sysClr val="windowText" lastClr="0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Marketing</a:t>
                </a: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2CAFB4A-7B68-D0BD-8C4E-50AF98B95DDF}"/>
                </a:ext>
              </a:extLst>
            </p:cNvPr>
            <p:cNvSpPr txBox="1"/>
            <p:nvPr/>
          </p:nvSpPr>
          <p:spPr>
            <a:xfrm>
              <a:off x="7377129" y="2912352"/>
              <a:ext cx="1104223" cy="2930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defTabSz="228600">
                <a:spcAft>
                  <a:spcPts val="1200"/>
                </a:spcAft>
              </a:pPr>
              <a:r>
                <a:rPr lang="en-IN" sz="1200" dirty="0">
                  <a:ln w="0"/>
                  <a:solidFill>
                    <a:sysClr val="windowText" lastClr="0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Procurement</a:t>
              </a:r>
            </a:p>
            <a:p>
              <a:pPr algn="ctr" defTabSz="228600">
                <a:spcAft>
                  <a:spcPts val="1200"/>
                </a:spcAft>
              </a:pPr>
              <a:endParaRPr lang="en-IN" sz="1200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29" name="Rectangle: Rounded Corners 175">
            <a:extLst>
              <a:ext uri="{FF2B5EF4-FFF2-40B4-BE49-F238E27FC236}">
                <a16:creationId xmlns:a16="http://schemas.microsoft.com/office/drawing/2014/main" id="{E1F059E0-8B10-C29F-DB71-93B1EDAFB953}"/>
              </a:ext>
            </a:extLst>
          </p:cNvPr>
          <p:cNvSpPr/>
          <p:nvPr/>
        </p:nvSpPr>
        <p:spPr>
          <a:xfrm>
            <a:off x="8513784" y="2647784"/>
            <a:ext cx="1892486" cy="135157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171450" indent="-171450" algn="l" defTabSz="22860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1"/>
                </a:solidFill>
              </a:rPr>
              <a:t>Continuous business processes optimization</a:t>
            </a:r>
          </a:p>
          <a:p>
            <a:pPr marL="171450" indent="-171450" algn="l" defTabSz="22860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1"/>
                </a:solidFill>
              </a:rPr>
              <a:t>Tech R&amp;D for cost effective mass production </a:t>
            </a:r>
          </a:p>
        </p:txBody>
      </p:sp>
    </p:spTree>
    <p:extLst>
      <p:ext uri="{BB962C8B-B14F-4D97-AF65-F5344CB8AC3E}">
        <p14:creationId xmlns:p14="http://schemas.microsoft.com/office/powerpoint/2010/main" val="3077460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223E8-4B99-01C3-52EF-99289341D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91169"/>
            <a:ext cx="11430000" cy="344710"/>
          </a:xfrm>
        </p:spPr>
        <p:txBody>
          <a:bodyPr/>
          <a:lstStyle/>
          <a:p>
            <a:r>
              <a:rPr lang="en-IN" sz="2800" dirty="0"/>
              <a:t>Our Potential &amp; Our Vision</a:t>
            </a: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099A9-1681-A3A4-4AEE-1348F483A3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9</a:t>
            </a:fld>
            <a:endParaRPr lang="en-IN" dirty="0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3701DB28-9C7B-9E43-4735-CEC4482898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5755951"/>
              </p:ext>
            </p:extLst>
          </p:nvPr>
        </p:nvGraphicFramePr>
        <p:xfrm>
          <a:off x="635072" y="4124303"/>
          <a:ext cx="3603099" cy="21945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EB5A7F-C288-CA21-35F5-FEEE6E464D69}"/>
              </a:ext>
            </a:extLst>
          </p:cNvPr>
          <p:cNvCxnSpPr>
            <a:cxnSpLocks/>
          </p:cNvCxnSpPr>
          <p:nvPr/>
        </p:nvCxnSpPr>
        <p:spPr>
          <a:xfrm>
            <a:off x="308140" y="3959335"/>
            <a:ext cx="4256962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0B7D8D7-9C10-A2CA-60C1-1D750AE00BBD}"/>
              </a:ext>
            </a:extLst>
          </p:cNvPr>
          <p:cNvGrpSpPr/>
          <p:nvPr/>
        </p:nvGrpSpPr>
        <p:grpSpPr>
          <a:xfrm>
            <a:off x="606052" y="1015817"/>
            <a:ext cx="4543389" cy="2815954"/>
            <a:chOff x="1070501" y="1015817"/>
            <a:chExt cx="4543389" cy="281595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6CC0AF4-144F-A9B5-2BB5-96E650EB9C42}"/>
                </a:ext>
              </a:extLst>
            </p:cNvPr>
            <p:cNvGrpSpPr/>
            <p:nvPr/>
          </p:nvGrpSpPr>
          <p:grpSpPr>
            <a:xfrm>
              <a:off x="1070501" y="1015817"/>
              <a:ext cx="2935442" cy="2815954"/>
              <a:chOff x="7371869" y="3646627"/>
              <a:chExt cx="2910840" cy="2936207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8F1DD6B5-BFA2-7174-61CA-FB1A58BC01AB}"/>
                  </a:ext>
                </a:extLst>
              </p:cNvPr>
              <p:cNvGrpSpPr/>
              <p:nvPr/>
            </p:nvGrpSpPr>
            <p:grpSpPr>
              <a:xfrm>
                <a:off x="7371869" y="3646627"/>
                <a:ext cx="2910840" cy="2936207"/>
                <a:chOff x="7371869" y="3646627"/>
                <a:chExt cx="2910840" cy="2936207"/>
              </a:xfrm>
            </p:grpSpPr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23D487A9-57A8-8A96-2DD2-7A86C6D139D7}"/>
                    </a:ext>
                  </a:extLst>
                </p:cNvPr>
                <p:cNvSpPr/>
                <p:nvPr/>
              </p:nvSpPr>
              <p:spPr>
                <a:xfrm>
                  <a:off x="7371869" y="3646627"/>
                  <a:ext cx="2910840" cy="2936207"/>
                </a:xfrm>
                <a:prstGeom prst="ellipse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2387BDE8-6776-2428-C856-83D57AA8EA36}"/>
                    </a:ext>
                  </a:extLst>
                </p:cNvPr>
                <p:cNvSpPr/>
                <p:nvPr/>
              </p:nvSpPr>
              <p:spPr>
                <a:xfrm>
                  <a:off x="7655639" y="4247823"/>
                  <a:ext cx="2303700" cy="2331721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95E9D787-F439-4916-31AA-5B388F384FE6}"/>
                    </a:ext>
                  </a:extLst>
                </p:cNvPr>
                <p:cNvSpPr/>
                <p:nvPr/>
              </p:nvSpPr>
              <p:spPr>
                <a:xfrm>
                  <a:off x="7869693" y="4922232"/>
                  <a:ext cx="1899132" cy="164669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4AD7D5-1945-9D22-E1B1-7B6586E21015}"/>
                  </a:ext>
                </a:extLst>
              </p:cNvPr>
              <p:cNvSpPr txBox="1"/>
              <p:nvPr/>
            </p:nvSpPr>
            <p:spPr>
              <a:xfrm>
                <a:off x="8190161" y="3768386"/>
                <a:ext cx="1234655" cy="385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TAM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CF3D04-D59F-B77E-D477-532C22AE8BBF}"/>
                  </a:ext>
                </a:extLst>
              </p:cNvPr>
              <p:cNvSpPr txBox="1"/>
              <p:nvPr/>
            </p:nvSpPr>
            <p:spPr>
              <a:xfrm>
                <a:off x="8000880" y="4484439"/>
                <a:ext cx="1613216" cy="385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SAM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ECF47E-7F3B-7915-DCD9-54158F8C0081}"/>
                  </a:ext>
                </a:extLst>
              </p:cNvPr>
              <p:cNvSpPr txBox="1"/>
              <p:nvPr/>
            </p:nvSpPr>
            <p:spPr>
              <a:xfrm>
                <a:off x="8232201" y="5334128"/>
                <a:ext cx="1221617" cy="385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SOM</a:t>
                </a:r>
              </a:p>
            </p:txBody>
          </p:sp>
        </p:grp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E1FD669-B958-D5DA-8CF2-089E251D5EC7}"/>
                </a:ext>
              </a:extLst>
            </p:cNvPr>
            <p:cNvCxnSpPr>
              <a:cxnSpLocks/>
              <a:stCxn id="10" idx="7"/>
            </p:cNvCxnSpPr>
            <p:nvPr/>
          </p:nvCxnSpPr>
          <p:spPr>
            <a:xfrm flipV="1">
              <a:off x="3576057" y="1407886"/>
              <a:ext cx="792743" cy="2031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154293D-5838-5055-B381-E0678F929658}"/>
                </a:ext>
              </a:extLst>
            </p:cNvPr>
            <p:cNvCxnSpPr>
              <a:cxnSpLocks/>
            </p:cNvCxnSpPr>
            <p:nvPr/>
          </p:nvCxnSpPr>
          <p:spPr>
            <a:xfrm>
              <a:off x="3451584" y="2074211"/>
              <a:ext cx="917216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2A430E8-C8B1-63F1-D672-E6D9A800E484}"/>
                </a:ext>
              </a:extLst>
            </p:cNvPr>
            <p:cNvCxnSpPr>
              <a:cxnSpLocks/>
            </p:cNvCxnSpPr>
            <p:nvPr/>
          </p:nvCxnSpPr>
          <p:spPr>
            <a:xfrm>
              <a:off x="3400784" y="2710502"/>
              <a:ext cx="968016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12D24-D952-342D-2957-9A547E3C49F2}"/>
                </a:ext>
              </a:extLst>
            </p:cNvPr>
            <p:cNvSpPr txBox="1"/>
            <p:nvPr/>
          </p:nvSpPr>
          <p:spPr>
            <a:xfrm>
              <a:off x="4368800" y="1213402"/>
              <a:ext cx="12450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b="1" dirty="0">
                  <a:solidFill>
                    <a:srgbClr val="51007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$0.49 Bn 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E78A99E-210B-3F45-A515-93E2A537A3E9}"/>
                </a:ext>
              </a:extLst>
            </p:cNvPr>
            <p:cNvSpPr txBox="1"/>
            <p:nvPr/>
          </p:nvSpPr>
          <p:spPr>
            <a:xfrm>
              <a:off x="4368800" y="1889545"/>
              <a:ext cx="12450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b="1" dirty="0">
                  <a:solidFill>
                    <a:srgbClr val="780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$0.31 Bn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1CD0282-892F-EAB4-CEA1-1D7FB19D43A5}"/>
                </a:ext>
              </a:extLst>
            </p:cNvPr>
            <p:cNvSpPr txBox="1"/>
            <p:nvPr/>
          </p:nvSpPr>
          <p:spPr>
            <a:xfrm>
              <a:off x="4368800" y="2520917"/>
              <a:ext cx="12450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b="1" dirty="0">
                  <a:solidFill>
                    <a:srgbClr val="C766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$0.05 Bn 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1F116DCE-0981-2C48-EA89-1F3363E59BA7}"/>
              </a:ext>
            </a:extLst>
          </p:cNvPr>
          <p:cNvSpPr txBox="1"/>
          <p:nvPr/>
        </p:nvSpPr>
        <p:spPr>
          <a:xfrm>
            <a:off x="731277" y="6294854"/>
            <a:ext cx="34106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dirty="0">
                <a:solidFill>
                  <a:schemeClr val="bg1"/>
                </a:solidFill>
              </a:rPr>
              <a:t>Total Addressable Market (By Top Category)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EBB61E-56C1-0050-A59F-99A160254955}"/>
              </a:ext>
            </a:extLst>
          </p:cNvPr>
          <p:cNvSpPr txBox="1"/>
          <p:nvPr/>
        </p:nvSpPr>
        <p:spPr>
          <a:xfrm>
            <a:off x="7620000" y="551542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B86FFC-5F94-28DD-D4F2-43E2D5684808}"/>
              </a:ext>
            </a:extLst>
          </p:cNvPr>
          <p:cNvSpPr txBox="1"/>
          <p:nvPr/>
        </p:nvSpPr>
        <p:spPr>
          <a:xfrm>
            <a:off x="6705600" y="378822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29961E-F566-C51E-C2FE-BA121188188B}"/>
              </a:ext>
            </a:extLst>
          </p:cNvPr>
          <p:cNvSpPr txBox="1"/>
          <p:nvPr/>
        </p:nvSpPr>
        <p:spPr>
          <a:xfrm>
            <a:off x="5718629" y="374468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3A2403-1C0A-1CAD-9CA7-8B0CB8232AAD}"/>
              </a:ext>
            </a:extLst>
          </p:cNvPr>
          <p:cNvSpPr txBox="1"/>
          <p:nvPr/>
        </p:nvSpPr>
        <p:spPr>
          <a:xfrm>
            <a:off x="6352307" y="4086049"/>
            <a:ext cx="5077690" cy="6368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43FF72-E1DB-D21A-340F-4750B55224ED}"/>
              </a:ext>
            </a:extLst>
          </p:cNvPr>
          <p:cNvSpPr txBox="1"/>
          <p:nvPr/>
        </p:nvSpPr>
        <p:spPr>
          <a:xfrm>
            <a:off x="6193476" y="4738254"/>
            <a:ext cx="1066800" cy="44427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u="sng" dirty="0">
                <a:solidFill>
                  <a:schemeClr val="bg1"/>
                </a:solidFill>
              </a:rPr>
              <a:t>Climate</a:t>
            </a:r>
            <a:endParaRPr lang="en-US" u="sng" noProof="0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EADCED2-A630-39C1-FC9F-FA4F1BA97225}"/>
              </a:ext>
            </a:extLst>
          </p:cNvPr>
          <p:cNvSpPr txBox="1"/>
          <p:nvPr/>
        </p:nvSpPr>
        <p:spPr>
          <a:xfrm>
            <a:off x="7930965" y="4741981"/>
            <a:ext cx="1507197" cy="44427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u="sng" dirty="0">
                <a:solidFill>
                  <a:schemeClr val="bg1"/>
                </a:solidFill>
              </a:rPr>
              <a:t>Innovation</a:t>
            </a:r>
            <a:endParaRPr lang="en-US" u="sng" noProof="0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18A2D7-47B3-43D0-A6E3-4C0F39E8FFB7}"/>
              </a:ext>
            </a:extLst>
          </p:cNvPr>
          <p:cNvSpPr txBox="1"/>
          <p:nvPr/>
        </p:nvSpPr>
        <p:spPr>
          <a:xfrm>
            <a:off x="10169242" y="4738254"/>
            <a:ext cx="1177638" cy="4442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u="sng" noProof="0" dirty="0">
                <a:solidFill>
                  <a:schemeClr val="bg1"/>
                </a:solidFill>
              </a:rPr>
              <a:t>Customer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8843DFD-EB10-74C7-2FAA-E5F70D406E1D}"/>
              </a:ext>
            </a:extLst>
          </p:cNvPr>
          <p:cNvSpPr txBox="1"/>
          <p:nvPr/>
        </p:nvSpPr>
        <p:spPr>
          <a:xfrm>
            <a:off x="6352308" y="1515472"/>
            <a:ext cx="1496291" cy="3447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D0EA60-F2A6-CE8D-3BBB-D69D65DB8E09}"/>
              </a:ext>
            </a:extLst>
          </p:cNvPr>
          <p:cNvSpPr txBox="1"/>
          <p:nvPr/>
        </p:nvSpPr>
        <p:spPr>
          <a:xfrm>
            <a:off x="7863277" y="758352"/>
            <a:ext cx="1856511" cy="465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9484F8-413B-0676-682E-1DB1DE2EF171}"/>
              </a:ext>
            </a:extLst>
          </p:cNvPr>
          <p:cNvSpPr txBox="1"/>
          <p:nvPr/>
        </p:nvSpPr>
        <p:spPr>
          <a:xfrm>
            <a:off x="130807" y="6559198"/>
            <a:ext cx="341068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00" dirty="0">
                <a:solidFill>
                  <a:schemeClr val="bg1"/>
                </a:solidFill>
              </a:rPr>
              <a:t>SAM – Serviceable Addressable Market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0519908-F909-2584-651C-378F789417E1}"/>
              </a:ext>
            </a:extLst>
          </p:cNvPr>
          <p:cNvSpPr txBox="1"/>
          <p:nvPr/>
        </p:nvSpPr>
        <p:spPr>
          <a:xfrm>
            <a:off x="4613564" y="-16764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939B2F7-9891-DD04-7184-F56AEC2796D7}"/>
              </a:ext>
            </a:extLst>
          </p:cNvPr>
          <p:cNvSpPr txBox="1"/>
          <p:nvPr/>
        </p:nvSpPr>
        <p:spPr>
          <a:xfrm>
            <a:off x="2587959" y="6559198"/>
            <a:ext cx="341068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00" dirty="0">
                <a:solidFill>
                  <a:schemeClr val="bg1"/>
                </a:solidFill>
              </a:rPr>
              <a:t>SOM – Serviceable Obtainable Market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82CA30A-2E24-F0F1-250E-EFCFC20DD8FF}"/>
              </a:ext>
            </a:extLst>
          </p:cNvPr>
          <p:cNvSpPr txBox="1"/>
          <p:nvPr/>
        </p:nvSpPr>
        <p:spPr>
          <a:xfrm>
            <a:off x="9719788" y="1515472"/>
            <a:ext cx="1496291" cy="37407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endParaRPr lang="en-US" noProof="0" dirty="0">
              <a:solidFill>
                <a:schemeClr val="bg1"/>
              </a:solidFill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EA22D89-3D4E-57DA-CC72-5E6B077A766C}"/>
              </a:ext>
            </a:extLst>
          </p:cNvPr>
          <p:cNvCxnSpPr>
            <a:cxnSpLocks/>
          </p:cNvCxnSpPr>
          <p:nvPr/>
        </p:nvCxnSpPr>
        <p:spPr>
          <a:xfrm flipV="1">
            <a:off x="5506316" y="923528"/>
            <a:ext cx="0" cy="5648325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15CEE62B-77E1-0BDA-8B56-DBFED7F75DF7}"/>
              </a:ext>
            </a:extLst>
          </p:cNvPr>
          <p:cNvSpPr txBox="1"/>
          <p:nvPr/>
        </p:nvSpPr>
        <p:spPr>
          <a:xfrm>
            <a:off x="6090655" y="2423794"/>
            <a:ext cx="2286000" cy="122317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i="1" noProof="0" dirty="0">
                <a:solidFill>
                  <a:schemeClr val="bg1"/>
                </a:solidFill>
              </a:rPr>
              <a:t>To be</a:t>
            </a:r>
            <a:r>
              <a:rPr lang="en-US" i="1" dirty="0">
                <a:solidFill>
                  <a:schemeClr val="bg1"/>
                </a:solidFill>
              </a:rPr>
              <a:t> the most customer focused company </a:t>
            </a:r>
            <a:endParaRPr lang="en-US" i="1" noProof="0" dirty="0">
              <a:solidFill>
                <a:schemeClr val="bg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BBB9E05-D4E5-77C8-B11F-81ECAB6F8C8E}"/>
              </a:ext>
            </a:extLst>
          </p:cNvPr>
          <p:cNvSpPr txBox="1"/>
          <p:nvPr/>
        </p:nvSpPr>
        <p:spPr>
          <a:xfrm>
            <a:off x="7849422" y="759356"/>
            <a:ext cx="1941092" cy="33689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b="1" noProof="0" dirty="0">
                <a:solidFill>
                  <a:srgbClr val="7800C0"/>
                </a:solidFill>
              </a:rPr>
              <a:t>Strategic Intent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14C8068-C947-3F55-228B-8B60763F805E}"/>
              </a:ext>
            </a:extLst>
          </p:cNvPr>
          <p:cNvSpPr txBox="1"/>
          <p:nvPr/>
        </p:nvSpPr>
        <p:spPr>
          <a:xfrm>
            <a:off x="9344889" y="2237331"/>
            <a:ext cx="2096647" cy="122317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600" i="1" noProof="0" dirty="0">
                <a:solidFill>
                  <a:schemeClr val="bg1"/>
                </a:solidFill>
              </a:rPr>
              <a:t>Serve Customers across the country</a:t>
            </a:r>
          </a:p>
          <a:p>
            <a:pPr algn="ctr" defTabSz="228600">
              <a:spcAft>
                <a:spcPts val="1200"/>
              </a:spcAft>
            </a:pPr>
            <a:r>
              <a:rPr lang="en-US" sz="1600" i="1" dirty="0">
                <a:solidFill>
                  <a:schemeClr val="bg1"/>
                </a:solidFill>
              </a:rPr>
              <a:t>Innovate &amp; deliver most sustainable products</a:t>
            </a:r>
            <a:endParaRPr lang="en-US" sz="1600" i="1" noProof="0" dirty="0">
              <a:solidFill>
                <a:schemeClr val="bg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539DCC3-BC5B-BFAC-2A0E-B296A761DF96}"/>
              </a:ext>
            </a:extLst>
          </p:cNvPr>
          <p:cNvSpPr/>
          <p:nvPr/>
        </p:nvSpPr>
        <p:spPr>
          <a:xfrm>
            <a:off x="6101329" y="1488256"/>
            <a:ext cx="2264650" cy="313632"/>
          </a:xfrm>
          <a:prstGeom prst="rect">
            <a:avLst/>
          </a:prstGeom>
          <a:solidFill>
            <a:srgbClr val="B455AA"/>
          </a:solidFill>
          <a:ln w="12700" cap="flat" cmpd="sng" algn="ctr">
            <a:solidFill>
              <a:srgbClr val="B455AA"/>
            </a:solidFill>
            <a:prstDash val="solid"/>
            <a:miter lim="800000"/>
          </a:ln>
          <a:effectLst/>
        </p:spPr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Vision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C76D782-6354-0C6B-5D30-E105AB1AFBFB}"/>
              </a:ext>
            </a:extLst>
          </p:cNvPr>
          <p:cNvSpPr/>
          <p:nvPr/>
        </p:nvSpPr>
        <p:spPr>
          <a:xfrm>
            <a:off x="9316722" y="1484315"/>
            <a:ext cx="2264650" cy="313632"/>
          </a:xfrm>
          <a:prstGeom prst="rect">
            <a:avLst/>
          </a:prstGeom>
          <a:solidFill>
            <a:srgbClr val="B455AA"/>
          </a:solidFill>
          <a:ln w="12700" cap="flat" cmpd="sng" algn="ctr">
            <a:solidFill>
              <a:srgbClr val="B455AA"/>
            </a:solidFill>
            <a:prstDash val="solid"/>
            <a:miter lim="800000"/>
          </a:ln>
          <a:effectLst/>
        </p:spPr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Mission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4236E312-9DF8-DA8E-AE00-6A22DCDD3043}"/>
              </a:ext>
            </a:extLst>
          </p:cNvPr>
          <p:cNvSpPr/>
          <p:nvPr/>
        </p:nvSpPr>
        <p:spPr>
          <a:xfrm>
            <a:off x="6190783" y="1887399"/>
            <a:ext cx="2085741" cy="1885124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3BD3C52-8737-7939-DF78-D53501542059}"/>
              </a:ext>
            </a:extLst>
          </p:cNvPr>
          <p:cNvSpPr/>
          <p:nvPr/>
        </p:nvSpPr>
        <p:spPr>
          <a:xfrm>
            <a:off x="9355796" y="1887399"/>
            <a:ext cx="2085741" cy="1885124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4BAF7E8-23BC-8F4B-38D1-189DB2564FC3}"/>
              </a:ext>
            </a:extLst>
          </p:cNvPr>
          <p:cNvCxnSpPr>
            <a:cxnSpLocks/>
          </p:cNvCxnSpPr>
          <p:nvPr/>
        </p:nvCxnSpPr>
        <p:spPr>
          <a:xfrm>
            <a:off x="9833803" y="2809408"/>
            <a:ext cx="1120992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7B81AFDC-03F2-723D-D520-A986FFEFCDBD}"/>
              </a:ext>
            </a:extLst>
          </p:cNvPr>
          <p:cNvSpPr txBox="1"/>
          <p:nvPr/>
        </p:nvSpPr>
        <p:spPr>
          <a:xfrm>
            <a:off x="6004951" y="4176740"/>
            <a:ext cx="5436585" cy="33689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noProof="0" dirty="0">
                <a:solidFill>
                  <a:srgbClr val="7800C0"/>
                </a:solidFill>
              </a:rPr>
              <a:t>Our Core Values are based on the 3 pillars of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DB83967-D3AD-0530-76A0-48F5AD42DA81}"/>
              </a:ext>
            </a:extLst>
          </p:cNvPr>
          <p:cNvSpPr txBox="1"/>
          <p:nvPr/>
        </p:nvSpPr>
        <p:spPr>
          <a:xfrm>
            <a:off x="11707091" y="471054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grpSp>
        <p:nvGrpSpPr>
          <p:cNvPr id="129" name="Group 114">
            <a:extLst>
              <a:ext uri="{FF2B5EF4-FFF2-40B4-BE49-F238E27FC236}">
                <a16:creationId xmlns:a16="http://schemas.microsoft.com/office/drawing/2014/main" id="{1093F07F-F775-FA2E-18A5-6A2C08D4860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359996" y="5165805"/>
            <a:ext cx="654372" cy="611536"/>
            <a:chOff x="516" y="1949"/>
            <a:chExt cx="443" cy="414"/>
          </a:xfrm>
          <a:solidFill>
            <a:srgbClr val="A100FF"/>
          </a:solidFill>
        </p:grpSpPr>
        <p:sp>
          <p:nvSpPr>
            <p:cNvPr id="130" name="Freeform 115">
              <a:extLst>
                <a:ext uri="{FF2B5EF4-FFF2-40B4-BE49-F238E27FC236}">
                  <a16:creationId xmlns:a16="http://schemas.microsoft.com/office/drawing/2014/main" id="{4586078D-C395-8431-B0B7-87A5350327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" y="2184"/>
              <a:ext cx="111" cy="179"/>
            </a:xfrm>
            <a:custGeom>
              <a:avLst/>
              <a:gdLst>
                <a:gd name="T0" fmla="*/ 54 w 72"/>
                <a:gd name="T1" fmla="*/ 120 h 120"/>
                <a:gd name="T2" fmla="*/ 18 w 72"/>
                <a:gd name="T3" fmla="*/ 120 h 120"/>
                <a:gd name="T4" fmla="*/ 12 w 72"/>
                <a:gd name="T5" fmla="*/ 114 h 120"/>
                <a:gd name="T6" fmla="*/ 12 w 72"/>
                <a:gd name="T7" fmla="*/ 65 h 120"/>
                <a:gd name="T8" fmla="*/ 0 w 72"/>
                <a:gd name="T9" fmla="*/ 42 h 120"/>
                <a:gd name="T10" fmla="*/ 0 w 72"/>
                <a:gd name="T11" fmla="*/ 6 h 120"/>
                <a:gd name="T12" fmla="*/ 6 w 72"/>
                <a:gd name="T13" fmla="*/ 0 h 120"/>
                <a:gd name="T14" fmla="*/ 66 w 72"/>
                <a:gd name="T15" fmla="*/ 0 h 120"/>
                <a:gd name="T16" fmla="*/ 72 w 72"/>
                <a:gd name="T17" fmla="*/ 6 h 120"/>
                <a:gd name="T18" fmla="*/ 72 w 72"/>
                <a:gd name="T19" fmla="*/ 42 h 120"/>
                <a:gd name="T20" fmla="*/ 60 w 72"/>
                <a:gd name="T21" fmla="*/ 65 h 120"/>
                <a:gd name="T22" fmla="*/ 60 w 72"/>
                <a:gd name="T23" fmla="*/ 114 h 120"/>
                <a:gd name="T24" fmla="*/ 54 w 72"/>
                <a:gd name="T25" fmla="*/ 120 h 120"/>
                <a:gd name="T26" fmla="*/ 24 w 72"/>
                <a:gd name="T27" fmla="*/ 108 h 120"/>
                <a:gd name="T28" fmla="*/ 48 w 72"/>
                <a:gd name="T29" fmla="*/ 108 h 120"/>
                <a:gd name="T30" fmla="*/ 48 w 72"/>
                <a:gd name="T31" fmla="*/ 60 h 120"/>
                <a:gd name="T32" fmla="*/ 54 w 72"/>
                <a:gd name="T33" fmla="*/ 54 h 120"/>
                <a:gd name="T34" fmla="*/ 60 w 72"/>
                <a:gd name="T35" fmla="*/ 42 h 120"/>
                <a:gd name="T36" fmla="*/ 60 w 72"/>
                <a:gd name="T37" fmla="*/ 12 h 120"/>
                <a:gd name="T38" fmla="*/ 12 w 72"/>
                <a:gd name="T39" fmla="*/ 12 h 120"/>
                <a:gd name="T40" fmla="*/ 12 w 72"/>
                <a:gd name="T41" fmla="*/ 42 h 120"/>
                <a:gd name="T42" fmla="*/ 18 w 72"/>
                <a:gd name="T43" fmla="*/ 54 h 120"/>
                <a:gd name="T44" fmla="*/ 24 w 72"/>
                <a:gd name="T45" fmla="*/ 60 h 120"/>
                <a:gd name="T46" fmla="*/ 24 w 72"/>
                <a:gd name="T47" fmla="*/ 10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2" h="120">
                  <a:moveTo>
                    <a:pt x="54" y="120"/>
                  </a:moveTo>
                  <a:cubicBezTo>
                    <a:pt x="18" y="120"/>
                    <a:pt x="18" y="120"/>
                    <a:pt x="18" y="120"/>
                  </a:cubicBezTo>
                  <a:cubicBezTo>
                    <a:pt x="14" y="120"/>
                    <a:pt x="12" y="117"/>
                    <a:pt x="12" y="114"/>
                  </a:cubicBezTo>
                  <a:cubicBezTo>
                    <a:pt x="12" y="65"/>
                    <a:pt x="12" y="65"/>
                    <a:pt x="12" y="65"/>
                  </a:cubicBezTo>
                  <a:cubicBezTo>
                    <a:pt x="4" y="62"/>
                    <a:pt x="0" y="5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9" y="0"/>
                    <a:pt x="72" y="2"/>
                    <a:pt x="72" y="6"/>
                  </a:cubicBezTo>
                  <a:cubicBezTo>
                    <a:pt x="72" y="42"/>
                    <a:pt x="72" y="42"/>
                    <a:pt x="72" y="42"/>
                  </a:cubicBezTo>
                  <a:cubicBezTo>
                    <a:pt x="72" y="55"/>
                    <a:pt x="68" y="62"/>
                    <a:pt x="60" y="65"/>
                  </a:cubicBezTo>
                  <a:cubicBezTo>
                    <a:pt x="60" y="114"/>
                    <a:pt x="60" y="114"/>
                    <a:pt x="60" y="114"/>
                  </a:cubicBezTo>
                  <a:cubicBezTo>
                    <a:pt x="60" y="117"/>
                    <a:pt x="57" y="120"/>
                    <a:pt x="54" y="120"/>
                  </a:cubicBezTo>
                  <a:close/>
                  <a:moveTo>
                    <a:pt x="24" y="108"/>
                  </a:moveTo>
                  <a:cubicBezTo>
                    <a:pt x="48" y="108"/>
                    <a:pt x="48" y="108"/>
                    <a:pt x="48" y="108"/>
                  </a:cubicBezTo>
                  <a:cubicBezTo>
                    <a:pt x="48" y="60"/>
                    <a:pt x="48" y="60"/>
                    <a:pt x="48" y="60"/>
                  </a:cubicBezTo>
                  <a:cubicBezTo>
                    <a:pt x="48" y="56"/>
                    <a:pt x="50" y="54"/>
                    <a:pt x="54" y="54"/>
                  </a:cubicBezTo>
                  <a:cubicBezTo>
                    <a:pt x="56" y="54"/>
                    <a:pt x="60" y="54"/>
                    <a:pt x="60" y="4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54"/>
                    <a:pt x="15" y="54"/>
                    <a:pt x="18" y="54"/>
                  </a:cubicBezTo>
                  <a:cubicBezTo>
                    <a:pt x="21" y="54"/>
                    <a:pt x="24" y="56"/>
                    <a:pt x="24" y="60"/>
                  </a:cubicBezTo>
                  <a:lnTo>
                    <a:pt x="24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131" name="Freeform 116">
              <a:extLst>
                <a:ext uri="{FF2B5EF4-FFF2-40B4-BE49-F238E27FC236}">
                  <a16:creationId xmlns:a16="http://schemas.microsoft.com/office/drawing/2014/main" id="{02CB50BA-EBA9-2C8C-D6FB-56B83DAF11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" y="2094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0" y="48"/>
                    <a:pt x="0" y="37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37" y="0"/>
                    <a:pt x="48" y="10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7"/>
                    <a:pt x="12" y="24"/>
                  </a:cubicBezTo>
                  <a:cubicBezTo>
                    <a:pt x="12" y="30"/>
                    <a:pt x="17" y="36"/>
                    <a:pt x="24" y="36"/>
                  </a:cubicBezTo>
                  <a:cubicBezTo>
                    <a:pt x="30" y="36"/>
                    <a:pt x="36" y="30"/>
                    <a:pt x="36" y="24"/>
                  </a:cubicBezTo>
                  <a:cubicBezTo>
                    <a:pt x="36" y="17"/>
                    <a:pt x="30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132" name="Freeform 117">
              <a:extLst>
                <a:ext uri="{FF2B5EF4-FFF2-40B4-BE49-F238E27FC236}">
                  <a16:creationId xmlns:a16="http://schemas.microsoft.com/office/drawing/2014/main" id="{2974EDFA-6DE0-E34C-192E-E9F62D87B1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6" y="2184"/>
              <a:ext cx="111" cy="179"/>
            </a:xfrm>
            <a:custGeom>
              <a:avLst/>
              <a:gdLst>
                <a:gd name="T0" fmla="*/ 54 w 72"/>
                <a:gd name="T1" fmla="*/ 120 h 120"/>
                <a:gd name="T2" fmla="*/ 18 w 72"/>
                <a:gd name="T3" fmla="*/ 120 h 120"/>
                <a:gd name="T4" fmla="*/ 12 w 72"/>
                <a:gd name="T5" fmla="*/ 114 h 120"/>
                <a:gd name="T6" fmla="*/ 12 w 72"/>
                <a:gd name="T7" fmla="*/ 65 h 120"/>
                <a:gd name="T8" fmla="*/ 0 w 72"/>
                <a:gd name="T9" fmla="*/ 42 h 120"/>
                <a:gd name="T10" fmla="*/ 0 w 72"/>
                <a:gd name="T11" fmla="*/ 6 h 120"/>
                <a:gd name="T12" fmla="*/ 6 w 72"/>
                <a:gd name="T13" fmla="*/ 0 h 120"/>
                <a:gd name="T14" fmla="*/ 66 w 72"/>
                <a:gd name="T15" fmla="*/ 0 h 120"/>
                <a:gd name="T16" fmla="*/ 72 w 72"/>
                <a:gd name="T17" fmla="*/ 6 h 120"/>
                <a:gd name="T18" fmla="*/ 72 w 72"/>
                <a:gd name="T19" fmla="*/ 42 h 120"/>
                <a:gd name="T20" fmla="*/ 60 w 72"/>
                <a:gd name="T21" fmla="*/ 65 h 120"/>
                <a:gd name="T22" fmla="*/ 60 w 72"/>
                <a:gd name="T23" fmla="*/ 114 h 120"/>
                <a:gd name="T24" fmla="*/ 54 w 72"/>
                <a:gd name="T25" fmla="*/ 120 h 120"/>
                <a:gd name="T26" fmla="*/ 24 w 72"/>
                <a:gd name="T27" fmla="*/ 108 h 120"/>
                <a:gd name="T28" fmla="*/ 48 w 72"/>
                <a:gd name="T29" fmla="*/ 108 h 120"/>
                <a:gd name="T30" fmla="*/ 48 w 72"/>
                <a:gd name="T31" fmla="*/ 60 h 120"/>
                <a:gd name="T32" fmla="*/ 54 w 72"/>
                <a:gd name="T33" fmla="*/ 54 h 120"/>
                <a:gd name="T34" fmla="*/ 60 w 72"/>
                <a:gd name="T35" fmla="*/ 42 h 120"/>
                <a:gd name="T36" fmla="*/ 60 w 72"/>
                <a:gd name="T37" fmla="*/ 12 h 120"/>
                <a:gd name="T38" fmla="*/ 12 w 72"/>
                <a:gd name="T39" fmla="*/ 12 h 120"/>
                <a:gd name="T40" fmla="*/ 12 w 72"/>
                <a:gd name="T41" fmla="*/ 42 h 120"/>
                <a:gd name="T42" fmla="*/ 18 w 72"/>
                <a:gd name="T43" fmla="*/ 54 h 120"/>
                <a:gd name="T44" fmla="*/ 24 w 72"/>
                <a:gd name="T45" fmla="*/ 60 h 120"/>
                <a:gd name="T46" fmla="*/ 24 w 72"/>
                <a:gd name="T47" fmla="*/ 10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2" h="120">
                  <a:moveTo>
                    <a:pt x="54" y="120"/>
                  </a:moveTo>
                  <a:cubicBezTo>
                    <a:pt x="18" y="120"/>
                    <a:pt x="18" y="120"/>
                    <a:pt x="18" y="120"/>
                  </a:cubicBezTo>
                  <a:cubicBezTo>
                    <a:pt x="14" y="120"/>
                    <a:pt x="12" y="117"/>
                    <a:pt x="12" y="114"/>
                  </a:cubicBezTo>
                  <a:cubicBezTo>
                    <a:pt x="12" y="65"/>
                    <a:pt x="12" y="65"/>
                    <a:pt x="12" y="65"/>
                  </a:cubicBezTo>
                  <a:cubicBezTo>
                    <a:pt x="4" y="62"/>
                    <a:pt x="0" y="5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9" y="0"/>
                    <a:pt x="72" y="2"/>
                    <a:pt x="72" y="6"/>
                  </a:cubicBezTo>
                  <a:cubicBezTo>
                    <a:pt x="72" y="42"/>
                    <a:pt x="72" y="42"/>
                    <a:pt x="72" y="42"/>
                  </a:cubicBezTo>
                  <a:cubicBezTo>
                    <a:pt x="72" y="55"/>
                    <a:pt x="68" y="62"/>
                    <a:pt x="60" y="65"/>
                  </a:cubicBezTo>
                  <a:cubicBezTo>
                    <a:pt x="60" y="114"/>
                    <a:pt x="60" y="114"/>
                    <a:pt x="60" y="114"/>
                  </a:cubicBezTo>
                  <a:cubicBezTo>
                    <a:pt x="60" y="117"/>
                    <a:pt x="57" y="120"/>
                    <a:pt x="54" y="120"/>
                  </a:cubicBezTo>
                  <a:close/>
                  <a:moveTo>
                    <a:pt x="24" y="108"/>
                  </a:moveTo>
                  <a:cubicBezTo>
                    <a:pt x="48" y="108"/>
                    <a:pt x="48" y="108"/>
                    <a:pt x="48" y="108"/>
                  </a:cubicBezTo>
                  <a:cubicBezTo>
                    <a:pt x="48" y="60"/>
                    <a:pt x="48" y="60"/>
                    <a:pt x="48" y="60"/>
                  </a:cubicBezTo>
                  <a:cubicBezTo>
                    <a:pt x="48" y="56"/>
                    <a:pt x="50" y="54"/>
                    <a:pt x="54" y="54"/>
                  </a:cubicBezTo>
                  <a:cubicBezTo>
                    <a:pt x="56" y="54"/>
                    <a:pt x="60" y="54"/>
                    <a:pt x="60" y="4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54"/>
                    <a:pt x="15" y="54"/>
                    <a:pt x="18" y="54"/>
                  </a:cubicBezTo>
                  <a:cubicBezTo>
                    <a:pt x="21" y="54"/>
                    <a:pt x="24" y="56"/>
                    <a:pt x="24" y="60"/>
                  </a:cubicBezTo>
                  <a:lnTo>
                    <a:pt x="24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133" name="Freeform 118">
              <a:extLst>
                <a:ext uri="{FF2B5EF4-FFF2-40B4-BE49-F238E27FC236}">
                  <a16:creationId xmlns:a16="http://schemas.microsoft.com/office/drawing/2014/main" id="{7A46296F-EF6E-82FA-6269-5C6D691BBD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5" y="2094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0" y="48"/>
                    <a:pt x="0" y="37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37" y="0"/>
                    <a:pt x="48" y="10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7"/>
                    <a:pt x="12" y="24"/>
                  </a:cubicBezTo>
                  <a:cubicBezTo>
                    <a:pt x="12" y="30"/>
                    <a:pt x="17" y="36"/>
                    <a:pt x="24" y="36"/>
                  </a:cubicBezTo>
                  <a:cubicBezTo>
                    <a:pt x="30" y="36"/>
                    <a:pt x="36" y="30"/>
                    <a:pt x="36" y="24"/>
                  </a:cubicBezTo>
                  <a:cubicBezTo>
                    <a:pt x="36" y="17"/>
                    <a:pt x="30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134" name="Freeform 119">
              <a:extLst>
                <a:ext uri="{FF2B5EF4-FFF2-40B4-BE49-F238E27FC236}">
                  <a16:creationId xmlns:a16="http://schemas.microsoft.com/office/drawing/2014/main" id="{4E1511AD-AADE-DC1A-B5DB-AC67520679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" y="2148"/>
              <a:ext cx="19" cy="215"/>
            </a:xfrm>
            <a:custGeom>
              <a:avLst/>
              <a:gdLst>
                <a:gd name="T0" fmla="*/ 6 w 12"/>
                <a:gd name="T1" fmla="*/ 144 h 144"/>
                <a:gd name="T2" fmla="*/ 0 w 12"/>
                <a:gd name="T3" fmla="*/ 138 h 144"/>
                <a:gd name="T4" fmla="*/ 0 w 12"/>
                <a:gd name="T5" fmla="*/ 6 h 144"/>
                <a:gd name="T6" fmla="*/ 6 w 12"/>
                <a:gd name="T7" fmla="*/ 0 h 144"/>
                <a:gd name="T8" fmla="*/ 12 w 12"/>
                <a:gd name="T9" fmla="*/ 6 h 144"/>
                <a:gd name="T10" fmla="*/ 12 w 12"/>
                <a:gd name="T11" fmla="*/ 138 h 144"/>
                <a:gd name="T12" fmla="*/ 6 w 12"/>
                <a:gd name="T13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44">
                  <a:moveTo>
                    <a:pt x="6" y="144"/>
                  </a:moveTo>
                  <a:cubicBezTo>
                    <a:pt x="2" y="144"/>
                    <a:pt x="0" y="141"/>
                    <a:pt x="0" y="13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138"/>
                    <a:pt x="12" y="138"/>
                    <a:pt x="12" y="138"/>
                  </a:cubicBezTo>
                  <a:cubicBezTo>
                    <a:pt x="12" y="141"/>
                    <a:pt x="9" y="144"/>
                    <a:pt x="6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135" name="Freeform 120">
              <a:extLst>
                <a:ext uri="{FF2B5EF4-FFF2-40B4-BE49-F238E27FC236}">
                  <a16:creationId xmlns:a16="http://schemas.microsoft.com/office/drawing/2014/main" id="{7A87BB18-2A00-97B8-86EA-956EB1696C20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" y="2148"/>
              <a:ext cx="19" cy="215"/>
            </a:xfrm>
            <a:custGeom>
              <a:avLst/>
              <a:gdLst>
                <a:gd name="T0" fmla="*/ 6 w 12"/>
                <a:gd name="T1" fmla="*/ 144 h 144"/>
                <a:gd name="T2" fmla="*/ 0 w 12"/>
                <a:gd name="T3" fmla="*/ 138 h 144"/>
                <a:gd name="T4" fmla="*/ 0 w 12"/>
                <a:gd name="T5" fmla="*/ 6 h 144"/>
                <a:gd name="T6" fmla="*/ 6 w 12"/>
                <a:gd name="T7" fmla="*/ 0 h 144"/>
                <a:gd name="T8" fmla="*/ 12 w 12"/>
                <a:gd name="T9" fmla="*/ 6 h 144"/>
                <a:gd name="T10" fmla="*/ 12 w 12"/>
                <a:gd name="T11" fmla="*/ 138 h 144"/>
                <a:gd name="T12" fmla="*/ 6 w 12"/>
                <a:gd name="T13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44">
                  <a:moveTo>
                    <a:pt x="6" y="144"/>
                  </a:moveTo>
                  <a:cubicBezTo>
                    <a:pt x="2" y="144"/>
                    <a:pt x="0" y="141"/>
                    <a:pt x="0" y="13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138"/>
                    <a:pt x="12" y="138"/>
                    <a:pt x="12" y="138"/>
                  </a:cubicBezTo>
                  <a:cubicBezTo>
                    <a:pt x="12" y="141"/>
                    <a:pt x="9" y="144"/>
                    <a:pt x="6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136" name="Freeform 121">
              <a:extLst>
                <a:ext uri="{FF2B5EF4-FFF2-40B4-BE49-F238E27FC236}">
                  <a16:creationId xmlns:a16="http://schemas.microsoft.com/office/drawing/2014/main" id="{DFB9C7C5-96A4-D0C3-4068-D203FB2C4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" y="1949"/>
              <a:ext cx="443" cy="208"/>
            </a:xfrm>
            <a:custGeom>
              <a:avLst/>
              <a:gdLst>
                <a:gd name="T0" fmla="*/ 283 w 289"/>
                <a:gd name="T1" fmla="*/ 139 h 139"/>
                <a:gd name="T2" fmla="*/ 279 w 289"/>
                <a:gd name="T3" fmla="*/ 137 h 139"/>
                <a:gd name="T4" fmla="*/ 145 w 289"/>
                <a:gd name="T5" fmla="*/ 15 h 139"/>
                <a:gd name="T6" fmla="*/ 11 w 289"/>
                <a:gd name="T7" fmla="*/ 137 h 139"/>
                <a:gd name="T8" fmla="*/ 2 w 289"/>
                <a:gd name="T9" fmla="*/ 137 h 139"/>
                <a:gd name="T10" fmla="*/ 3 w 289"/>
                <a:gd name="T11" fmla="*/ 128 h 139"/>
                <a:gd name="T12" fmla="*/ 141 w 289"/>
                <a:gd name="T13" fmla="*/ 2 h 139"/>
                <a:gd name="T14" fmla="*/ 149 w 289"/>
                <a:gd name="T15" fmla="*/ 2 h 139"/>
                <a:gd name="T16" fmla="*/ 287 w 289"/>
                <a:gd name="T17" fmla="*/ 128 h 139"/>
                <a:gd name="T18" fmla="*/ 287 w 289"/>
                <a:gd name="T19" fmla="*/ 137 h 139"/>
                <a:gd name="T20" fmla="*/ 283 w 289"/>
                <a:gd name="T21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9" h="139">
                  <a:moveTo>
                    <a:pt x="283" y="139"/>
                  </a:moveTo>
                  <a:cubicBezTo>
                    <a:pt x="281" y="139"/>
                    <a:pt x="280" y="138"/>
                    <a:pt x="279" y="137"/>
                  </a:cubicBezTo>
                  <a:cubicBezTo>
                    <a:pt x="145" y="15"/>
                    <a:pt x="145" y="15"/>
                    <a:pt x="145" y="15"/>
                  </a:cubicBezTo>
                  <a:cubicBezTo>
                    <a:pt x="11" y="137"/>
                    <a:pt x="11" y="137"/>
                    <a:pt x="11" y="137"/>
                  </a:cubicBezTo>
                  <a:cubicBezTo>
                    <a:pt x="8" y="139"/>
                    <a:pt x="4" y="139"/>
                    <a:pt x="2" y="137"/>
                  </a:cubicBezTo>
                  <a:cubicBezTo>
                    <a:pt x="0" y="134"/>
                    <a:pt x="0" y="130"/>
                    <a:pt x="3" y="128"/>
                  </a:cubicBezTo>
                  <a:cubicBezTo>
                    <a:pt x="141" y="2"/>
                    <a:pt x="141" y="2"/>
                    <a:pt x="141" y="2"/>
                  </a:cubicBezTo>
                  <a:cubicBezTo>
                    <a:pt x="143" y="0"/>
                    <a:pt x="146" y="0"/>
                    <a:pt x="149" y="2"/>
                  </a:cubicBezTo>
                  <a:cubicBezTo>
                    <a:pt x="287" y="128"/>
                    <a:pt x="287" y="128"/>
                    <a:pt x="287" y="128"/>
                  </a:cubicBezTo>
                  <a:cubicBezTo>
                    <a:pt x="289" y="130"/>
                    <a:pt x="289" y="134"/>
                    <a:pt x="287" y="137"/>
                  </a:cubicBezTo>
                  <a:cubicBezTo>
                    <a:pt x="286" y="138"/>
                    <a:pt x="284" y="139"/>
                    <a:pt x="283" y="1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</p:grpSp>
      <p:grpSp>
        <p:nvGrpSpPr>
          <p:cNvPr id="137" name="Group 110">
            <a:extLst>
              <a:ext uri="{FF2B5EF4-FFF2-40B4-BE49-F238E27FC236}">
                <a16:creationId xmlns:a16="http://schemas.microsoft.com/office/drawing/2014/main" id="{16CC8A6A-12A9-B863-ACCE-4509C353402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447531" y="5159005"/>
            <a:ext cx="607189" cy="601502"/>
            <a:chOff x="5689" y="1887"/>
            <a:chExt cx="427" cy="423"/>
          </a:xfrm>
          <a:solidFill>
            <a:srgbClr val="A100FF"/>
          </a:solidFill>
        </p:grpSpPr>
        <p:sp>
          <p:nvSpPr>
            <p:cNvPr id="138" name="Freeform 111">
              <a:extLst>
                <a:ext uri="{FF2B5EF4-FFF2-40B4-BE49-F238E27FC236}">
                  <a16:creationId xmlns:a16="http://schemas.microsoft.com/office/drawing/2014/main" id="{0D824340-A8BD-0C7F-DC01-3B46FA04D7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23" y="1887"/>
              <a:ext cx="159" cy="237"/>
            </a:xfrm>
            <a:custGeom>
              <a:avLst/>
              <a:gdLst>
                <a:gd name="T0" fmla="*/ 54 w 108"/>
                <a:gd name="T1" fmla="*/ 160 h 160"/>
                <a:gd name="T2" fmla="*/ 0 w 108"/>
                <a:gd name="T3" fmla="*/ 110 h 160"/>
                <a:gd name="T4" fmla="*/ 49 w 108"/>
                <a:gd name="T5" fmla="*/ 3 h 160"/>
                <a:gd name="T6" fmla="*/ 54 w 108"/>
                <a:gd name="T7" fmla="*/ 0 h 160"/>
                <a:gd name="T8" fmla="*/ 59 w 108"/>
                <a:gd name="T9" fmla="*/ 3 h 160"/>
                <a:gd name="T10" fmla="*/ 108 w 108"/>
                <a:gd name="T11" fmla="*/ 110 h 160"/>
                <a:gd name="T12" fmla="*/ 54 w 108"/>
                <a:gd name="T13" fmla="*/ 160 h 160"/>
                <a:gd name="T14" fmla="*/ 54 w 108"/>
                <a:gd name="T15" fmla="*/ 18 h 160"/>
                <a:gd name="T16" fmla="*/ 12 w 108"/>
                <a:gd name="T17" fmla="*/ 110 h 160"/>
                <a:gd name="T18" fmla="*/ 54 w 108"/>
                <a:gd name="T19" fmla="*/ 148 h 160"/>
                <a:gd name="T20" fmla="*/ 96 w 108"/>
                <a:gd name="T21" fmla="*/ 110 h 160"/>
                <a:gd name="T22" fmla="*/ 54 w 108"/>
                <a:gd name="T23" fmla="*/ 18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8" h="160">
                  <a:moveTo>
                    <a:pt x="54" y="160"/>
                  </a:moveTo>
                  <a:cubicBezTo>
                    <a:pt x="23" y="160"/>
                    <a:pt x="0" y="138"/>
                    <a:pt x="0" y="110"/>
                  </a:cubicBezTo>
                  <a:cubicBezTo>
                    <a:pt x="0" y="82"/>
                    <a:pt x="44" y="11"/>
                    <a:pt x="49" y="3"/>
                  </a:cubicBezTo>
                  <a:cubicBezTo>
                    <a:pt x="50" y="1"/>
                    <a:pt x="52" y="0"/>
                    <a:pt x="54" y="0"/>
                  </a:cubicBezTo>
                  <a:cubicBezTo>
                    <a:pt x="56" y="0"/>
                    <a:pt x="58" y="1"/>
                    <a:pt x="59" y="3"/>
                  </a:cubicBezTo>
                  <a:cubicBezTo>
                    <a:pt x="64" y="11"/>
                    <a:pt x="108" y="82"/>
                    <a:pt x="108" y="110"/>
                  </a:cubicBezTo>
                  <a:cubicBezTo>
                    <a:pt x="108" y="138"/>
                    <a:pt x="85" y="160"/>
                    <a:pt x="54" y="160"/>
                  </a:cubicBezTo>
                  <a:close/>
                  <a:moveTo>
                    <a:pt x="54" y="18"/>
                  </a:moveTo>
                  <a:cubicBezTo>
                    <a:pt x="39" y="43"/>
                    <a:pt x="12" y="92"/>
                    <a:pt x="12" y="110"/>
                  </a:cubicBezTo>
                  <a:cubicBezTo>
                    <a:pt x="12" y="132"/>
                    <a:pt x="29" y="148"/>
                    <a:pt x="54" y="148"/>
                  </a:cubicBezTo>
                  <a:cubicBezTo>
                    <a:pt x="78" y="148"/>
                    <a:pt x="96" y="132"/>
                    <a:pt x="96" y="110"/>
                  </a:cubicBezTo>
                  <a:cubicBezTo>
                    <a:pt x="96" y="91"/>
                    <a:pt x="69" y="43"/>
                    <a:pt x="54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39" name="Freeform 112">
              <a:extLst>
                <a:ext uri="{FF2B5EF4-FFF2-40B4-BE49-F238E27FC236}">
                  <a16:creationId xmlns:a16="http://schemas.microsoft.com/office/drawing/2014/main" id="{634E07D6-6E65-53C6-7103-06DFF67060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8" y="2038"/>
              <a:ext cx="53" cy="50"/>
            </a:xfrm>
            <a:custGeom>
              <a:avLst/>
              <a:gdLst>
                <a:gd name="T0" fmla="*/ 30 w 36"/>
                <a:gd name="T1" fmla="*/ 34 h 34"/>
                <a:gd name="T2" fmla="*/ 0 w 36"/>
                <a:gd name="T3" fmla="*/ 6 h 34"/>
                <a:gd name="T4" fmla="*/ 6 w 36"/>
                <a:gd name="T5" fmla="*/ 0 h 34"/>
                <a:gd name="T6" fmla="*/ 12 w 36"/>
                <a:gd name="T7" fmla="*/ 6 h 34"/>
                <a:gd name="T8" fmla="*/ 30 w 36"/>
                <a:gd name="T9" fmla="*/ 22 h 34"/>
                <a:gd name="T10" fmla="*/ 36 w 36"/>
                <a:gd name="T11" fmla="*/ 28 h 34"/>
                <a:gd name="T12" fmla="*/ 30 w 36"/>
                <a:gd name="T13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34">
                  <a:moveTo>
                    <a:pt x="30" y="34"/>
                  </a:moveTo>
                  <a:cubicBezTo>
                    <a:pt x="13" y="34"/>
                    <a:pt x="0" y="22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6"/>
                    <a:pt x="21" y="22"/>
                    <a:pt x="30" y="22"/>
                  </a:cubicBezTo>
                  <a:cubicBezTo>
                    <a:pt x="33" y="22"/>
                    <a:pt x="36" y="24"/>
                    <a:pt x="36" y="28"/>
                  </a:cubicBezTo>
                  <a:cubicBezTo>
                    <a:pt x="36" y="31"/>
                    <a:pt x="33" y="34"/>
                    <a:pt x="30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40" name="Freeform 113">
              <a:extLst>
                <a:ext uri="{FF2B5EF4-FFF2-40B4-BE49-F238E27FC236}">
                  <a16:creationId xmlns:a16="http://schemas.microsoft.com/office/drawing/2014/main" id="{533DADF8-8749-B2D4-16E8-3216683DAE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38" y="2239"/>
              <a:ext cx="124" cy="71"/>
            </a:xfrm>
            <a:custGeom>
              <a:avLst/>
              <a:gdLst>
                <a:gd name="T0" fmla="*/ 78 w 84"/>
                <a:gd name="T1" fmla="*/ 48 h 48"/>
                <a:gd name="T2" fmla="*/ 6 w 84"/>
                <a:gd name="T3" fmla="*/ 48 h 48"/>
                <a:gd name="T4" fmla="*/ 0 w 84"/>
                <a:gd name="T5" fmla="*/ 42 h 48"/>
                <a:gd name="T6" fmla="*/ 0 w 84"/>
                <a:gd name="T7" fmla="*/ 6 h 48"/>
                <a:gd name="T8" fmla="*/ 6 w 84"/>
                <a:gd name="T9" fmla="*/ 0 h 48"/>
                <a:gd name="T10" fmla="*/ 78 w 84"/>
                <a:gd name="T11" fmla="*/ 0 h 48"/>
                <a:gd name="T12" fmla="*/ 84 w 84"/>
                <a:gd name="T13" fmla="*/ 6 h 48"/>
                <a:gd name="T14" fmla="*/ 84 w 84"/>
                <a:gd name="T15" fmla="*/ 42 h 48"/>
                <a:gd name="T16" fmla="*/ 78 w 84"/>
                <a:gd name="T17" fmla="*/ 48 h 48"/>
                <a:gd name="T18" fmla="*/ 12 w 84"/>
                <a:gd name="T19" fmla="*/ 36 h 48"/>
                <a:gd name="T20" fmla="*/ 72 w 84"/>
                <a:gd name="T21" fmla="*/ 36 h 48"/>
                <a:gd name="T22" fmla="*/ 72 w 84"/>
                <a:gd name="T23" fmla="*/ 12 h 48"/>
                <a:gd name="T24" fmla="*/ 12 w 84"/>
                <a:gd name="T25" fmla="*/ 12 h 48"/>
                <a:gd name="T26" fmla="*/ 12 w 84"/>
                <a:gd name="T27" fmla="*/ 3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48">
                  <a:moveTo>
                    <a:pt x="78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2"/>
                    <a:pt x="84" y="6"/>
                  </a:cubicBezTo>
                  <a:cubicBezTo>
                    <a:pt x="84" y="42"/>
                    <a:pt x="84" y="42"/>
                    <a:pt x="84" y="42"/>
                  </a:cubicBezTo>
                  <a:cubicBezTo>
                    <a:pt x="84" y="45"/>
                    <a:pt x="81" y="48"/>
                    <a:pt x="78" y="48"/>
                  </a:cubicBezTo>
                  <a:close/>
                  <a:moveTo>
                    <a:pt x="12" y="36"/>
                  </a:moveTo>
                  <a:cubicBezTo>
                    <a:pt x="72" y="36"/>
                    <a:pt x="72" y="36"/>
                    <a:pt x="72" y="36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41" name="Freeform 114">
              <a:extLst>
                <a:ext uri="{FF2B5EF4-FFF2-40B4-BE49-F238E27FC236}">
                  <a16:creationId xmlns:a16="http://schemas.microsoft.com/office/drawing/2014/main" id="{F9F48B64-7A02-67ED-04E1-254DFB21EF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6" y="1993"/>
              <a:ext cx="160" cy="264"/>
            </a:xfrm>
            <a:custGeom>
              <a:avLst/>
              <a:gdLst>
                <a:gd name="T0" fmla="*/ 54 w 108"/>
                <a:gd name="T1" fmla="*/ 178 h 178"/>
                <a:gd name="T2" fmla="*/ 48 w 108"/>
                <a:gd name="T3" fmla="*/ 172 h 178"/>
                <a:gd name="T4" fmla="*/ 48 w 108"/>
                <a:gd name="T5" fmla="*/ 153 h 178"/>
                <a:gd name="T6" fmla="*/ 50 w 108"/>
                <a:gd name="T7" fmla="*/ 149 h 178"/>
                <a:gd name="T8" fmla="*/ 96 w 108"/>
                <a:gd name="T9" fmla="*/ 103 h 178"/>
                <a:gd name="T10" fmla="*/ 96 w 108"/>
                <a:gd name="T11" fmla="*/ 15 h 178"/>
                <a:gd name="T12" fmla="*/ 93 w 108"/>
                <a:gd name="T13" fmla="*/ 17 h 178"/>
                <a:gd name="T14" fmla="*/ 78 w 108"/>
                <a:gd name="T15" fmla="*/ 82 h 178"/>
                <a:gd name="T16" fmla="*/ 76 w 108"/>
                <a:gd name="T17" fmla="*/ 86 h 178"/>
                <a:gd name="T18" fmla="*/ 40 w 108"/>
                <a:gd name="T19" fmla="*/ 122 h 178"/>
                <a:gd name="T20" fmla="*/ 33 w 108"/>
                <a:gd name="T21" fmla="*/ 123 h 178"/>
                <a:gd name="T22" fmla="*/ 30 w 108"/>
                <a:gd name="T23" fmla="*/ 116 h 178"/>
                <a:gd name="T24" fmla="*/ 39 w 108"/>
                <a:gd name="T25" fmla="*/ 80 h 178"/>
                <a:gd name="T26" fmla="*/ 36 w 108"/>
                <a:gd name="T27" fmla="*/ 70 h 178"/>
                <a:gd name="T28" fmla="*/ 29 w 108"/>
                <a:gd name="T29" fmla="*/ 73 h 178"/>
                <a:gd name="T30" fmla="*/ 12 w 108"/>
                <a:gd name="T31" fmla="*/ 119 h 178"/>
                <a:gd name="T32" fmla="*/ 12 w 108"/>
                <a:gd name="T33" fmla="*/ 172 h 178"/>
                <a:gd name="T34" fmla="*/ 6 w 108"/>
                <a:gd name="T35" fmla="*/ 178 h 178"/>
                <a:gd name="T36" fmla="*/ 0 w 108"/>
                <a:gd name="T37" fmla="*/ 172 h 178"/>
                <a:gd name="T38" fmla="*/ 0 w 108"/>
                <a:gd name="T39" fmla="*/ 118 h 178"/>
                <a:gd name="T40" fmla="*/ 0 w 108"/>
                <a:gd name="T41" fmla="*/ 116 h 178"/>
                <a:gd name="T42" fmla="*/ 19 w 108"/>
                <a:gd name="T43" fmla="*/ 67 h 178"/>
                <a:gd name="T44" fmla="*/ 41 w 108"/>
                <a:gd name="T45" fmla="*/ 58 h 178"/>
                <a:gd name="T46" fmla="*/ 50 w 108"/>
                <a:gd name="T47" fmla="*/ 83 h 178"/>
                <a:gd name="T48" fmla="*/ 47 w 108"/>
                <a:gd name="T49" fmla="*/ 98 h 178"/>
                <a:gd name="T50" fmla="*/ 66 w 108"/>
                <a:gd name="T51" fmla="*/ 79 h 178"/>
                <a:gd name="T52" fmla="*/ 86 w 108"/>
                <a:gd name="T53" fmla="*/ 7 h 178"/>
                <a:gd name="T54" fmla="*/ 104 w 108"/>
                <a:gd name="T55" fmla="*/ 3 h 178"/>
                <a:gd name="T56" fmla="*/ 108 w 108"/>
                <a:gd name="T57" fmla="*/ 9 h 178"/>
                <a:gd name="T58" fmla="*/ 108 w 108"/>
                <a:gd name="T59" fmla="*/ 106 h 178"/>
                <a:gd name="T60" fmla="*/ 106 w 108"/>
                <a:gd name="T61" fmla="*/ 110 h 178"/>
                <a:gd name="T62" fmla="*/ 60 w 108"/>
                <a:gd name="T63" fmla="*/ 156 h 178"/>
                <a:gd name="T64" fmla="*/ 60 w 108"/>
                <a:gd name="T65" fmla="*/ 172 h 178"/>
                <a:gd name="T66" fmla="*/ 54 w 108"/>
                <a:gd name="T67" fmla="*/ 17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8" h="178">
                  <a:moveTo>
                    <a:pt x="54" y="178"/>
                  </a:moveTo>
                  <a:cubicBezTo>
                    <a:pt x="51" y="178"/>
                    <a:pt x="48" y="175"/>
                    <a:pt x="48" y="172"/>
                  </a:cubicBezTo>
                  <a:cubicBezTo>
                    <a:pt x="48" y="153"/>
                    <a:pt x="48" y="153"/>
                    <a:pt x="48" y="153"/>
                  </a:cubicBezTo>
                  <a:cubicBezTo>
                    <a:pt x="48" y="152"/>
                    <a:pt x="48" y="150"/>
                    <a:pt x="50" y="149"/>
                  </a:cubicBezTo>
                  <a:cubicBezTo>
                    <a:pt x="50" y="149"/>
                    <a:pt x="84" y="115"/>
                    <a:pt x="96" y="103"/>
                  </a:cubicBezTo>
                  <a:cubicBezTo>
                    <a:pt x="96" y="15"/>
                    <a:pt x="96" y="15"/>
                    <a:pt x="96" y="15"/>
                  </a:cubicBezTo>
                  <a:cubicBezTo>
                    <a:pt x="95" y="15"/>
                    <a:pt x="94" y="16"/>
                    <a:pt x="93" y="17"/>
                  </a:cubicBezTo>
                  <a:cubicBezTo>
                    <a:pt x="87" y="21"/>
                    <a:pt x="78" y="35"/>
                    <a:pt x="78" y="82"/>
                  </a:cubicBezTo>
                  <a:cubicBezTo>
                    <a:pt x="78" y="83"/>
                    <a:pt x="77" y="85"/>
                    <a:pt x="76" y="86"/>
                  </a:cubicBezTo>
                  <a:cubicBezTo>
                    <a:pt x="40" y="122"/>
                    <a:pt x="40" y="122"/>
                    <a:pt x="40" y="122"/>
                  </a:cubicBezTo>
                  <a:cubicBezTo>
                    <a:pt x="39" y="124"/>
                    <a:pt x="36" y="124"/>
                    <a:pt x="33" y="123"/>
                  </a:cubicBezTo>
                  <a:cubicBezTo>
                    <a:pt x="31" y="121"/>
                    <a:pt x="30" y="119"/>
                    <a:pt x="30" y="116"/>
                  </a:cubicBezTo>
                  <a:cubicBezTo>
                    <a:pt x="39" y="80"/>
                    <a:pt x="39" y="80"/>
                    <a:pt x="39" y="80"/>
                  </a:cubicBezTo>
                  <a:cubicBezTo>
                    <a:pt x="40" y="74"/>
                    <a:pt x="38" y="70"/>
                    <a:pt x="36" y="70"/>
                  </a:cubicBezTo>
                  <a:cubicBezTo>
                    <a:pt x="34" y="69"/>
                    <a:pt x="31" y="70"/>
                    <a:pt x="29" y="73"/>
                  </a:cubicBezTo>
                  <a:cubicBezTo>
                    <a:pt x="23" y="83"/>
                    <a:pt x="15" y="108"/>
                    <a:pt x="12" y="119"/>
                  </a:cubicBezTo>
                  <a:cubicBezTo>
                    <a:pt x="12" y="172"/>
                    <a:pt x="12" y="172"/>
                    <a:pt x="12" y="172"/>
                  </a:cubicBezTo>
                  <a:cubicBezTo>
                    <a:pt x="12" y="175"/>
                    <a:pt x="9" y="178"/>
                    <a:pt x="6" y="178"/>
                  </a:cubicBezTo>
                  <a:cubicBezTo>
                    <a:pt x="3" y="178"/>
                    <a:pt x="0" y="175"/>
                    <a:pt x="0" y="172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17"/>
                    <a:pt x="0" y="117"/>
                    <a:pt x="0" y="116"/>
                  </a:cubicBezTo>
                  <a:cubicBezTo>
                    <a:pt x="1" y="115"/>
                    <a:pt x="11" y="80"/>
                    <a:pt x="19" y="67"/>
                  </a:cubicBezTo>
                  <a:cubicBezTo>
                    <a:pt x="25" y="57"/>
                    <a:pt x="34" y="56"/>
                    <a:pt x="41" y="58"/>
                  </a:cubicBezTo>
                  <a:cubicBezTo>
                    <a:pt x="48" y="61"/>
                    <a:pt x="53" y="70"/>
                    <a:pt x="50" y="83"/>
                  </a:cubicBezTo>
                  <a:cubicBezTo>
                    <a:pt x="47" y="98"/>
                    <a:pt x="47" y="98"/>
                    <a:pt x="47" y="98"/>
                  </a:cubicBezTo>
                  <a:cubicBezTo>
                    <a:pt x="66" y="79"/>
                    <a:pt x="66" y="79"/>
                    <a:pt x="66" y="79"/>
                  </a:cubicBezTo>
                  <a:cubicBezTo>
                    <a:pt x="66" y="40"/>
                    <a:pt x="73" y="16"/>
                    <a:pt x="86" y="7"/>
                  </a:cubicBezTo>
                  <a:cubicBezTo>
                    <a:pt x="95" y="0"/>
                    <a:pt x="103" y="3"/>
                    <a:pt x="104" y="3"/>
                  </a:cubicBezTo>
                  <a:cubicBezTo>
                    <a:pt x="106" y="4"/>
                    <a:pt x="108" y="7"/>
                    <a:pt x="108" y="9"/>
                  </a:cubicBezTo>
                  <a:cubicBezTo>
                    <a:pt x="108" y="106"/>
                    <a:pt x="108" y="106"/>
                    <a:pt x="108" y="106"/>
                  </a:cubicBezTo>
                  <a:cubicBezTo>
                    <a:pt x="108" y="107"/>
                    <a:pt x="107" y="109"/>
                    <a:pt x="106" y="110"/>
                  </a:cubicBezTo>
                  <a:cubicBezTo>
                    <a:pt x="98" y="119"/>
                    <a:pt x="67" y="148"/>
                    <a:pt x="60" y="156"/>
                  </a:cubicBezTo>
                  <a:cubicBezTo>
                    <a:pt x="60" y="172"/>
                    <a:pt x="60" y="172"/>
                    <a:pt x="60" y="172"/>
                  </a:cubicBezTo>
                  <a:cubicBezTo>
                    <a:pt x="60" y="175"/>
                    <a:pt x="57" y="178"/>
                    <a:pt x="54" y="1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42" name="Freeform 115">
              <a:extLst>
                <a:ext uri="{FF2B5EF4-FFF2-40B4-BE49-F238E27FC236}">
                  <a16:creationId xmlns:a16="http://schemas.microsoft.com/office/drawing/2014/main" id="{622E5462-3A32-45A2-E4A7-9FEDBDB826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43" y="2239"/>
              <a:ext cx="124" cy="71"/>
            </a:xfrm>
            <a:custGeom>
              <a:avLst/>
              <a:gdLst>
                <a:gd name="T0" fmla="*/ 78 w 84"/>
                <a:gd name="T1" fmla="*/ 48 h 48"/>
                <a:gd name="T2" fmla="*/ 6 w 84"/>
                <a:gd name="T3" fmla="*/ 48 h 48"/>
                <a:gd name="T4" fmla="*/ 0 w 84"/>
                <a:gd name="T5" fmla="*/ 42 h 48"/>
                <a:gd name="T6" fmla="*/ 0 w 84"/>
                <a:gd name="T7" fmla="*/ 6 h 48"/>
                <a:gd name="T8" fmla="*/ 6 w 84"/>
                <a:gd name="T9" fmla="*/ 0 h 48"/>
                <a:gd name="T10" fmla="*/ 78 w 84"/>
                <a:gd name="T11" fmla="*/ 0 h 48"/>
                <a:gd name="T12" fmla="*/ 84 w 84"/>
                <a:gd name="T13" fmla="*/ 6 h 48"/>
                <a:gd name="T14" fmla="*/ 84 w 84"/>
                <a:gd name="T15" fmla="*/ 42 h 48"/>
                <a:gd name="T16" fmla="*/ 78 w 84"/>
                <a:gd name="T17" fmla="*/ 48 h 48"/>
                <a:gd name="T18" fmla="*/ 12 w 84"/>
                <a:gd name="T19" fmla="*/ 36 h 48"/>
                <a:gd name="T20" fmla="*/ 72 w 84"/>
                <a:gd name="T21" fmla="*/ 36 h 48"/>
                <a:gd name="T22" fmla="*/ 72 w 84"/>
                <a:gd name="T23" fmla="*/ 12 h 48"/>
                <a:gd name="T24" fmla="*/ 12 w 84"/>
                <a:gd name="T25" fmla="*/ 12 h 48"/>
                <a:gd name="T26" fmla="*/ 12 w 84"/>
                <a:gd name="T27" fmla="*/ 3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48">
                  <a:moveTo>
                    <a:pt x="78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2"/>
                    <a:pt x="84" y="6"/>
                  </a:cubicBezTo>
                  <a:cubicBezTo>
                    <a:pt x="84" y="42"/>
                    <a:pt x="84" y="42"/>
                    <a:pt x="84" y="42"/>
                  </a:cubicBezTo>
                  <a:cubicBezTo>
                    <a:pt x="84" y="45"/>
                    <a:pt x="81" y="48"/>
                    <a:pt x="78" y="48"/>
                  </a:cubicBezTo>
                  <a:close/>
                  <a:moveTo>
                    <a:pt x="12" y="36"/>
                  </a:moveTo>
                  <a:cubicBezTo>
                    <a:pt x="72" y="36"/>
                    <a:pt x="72" y="36"/>
                    <a:pt x="72" y="36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43" name="Freeform 116">
              <a:extLst>
                <a:ext uri="{FF2B5EF4-FFF2-40B4-BE49-F238E27FC236}">
                  <a16:creationId xmlns:a16="http://schemas.microsoft.com/office/drawing/2014/main" id="{934BB3D0-A482-0967-4719-56B33ECB5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" y="1993"/>
              <a:ext cx="160" cy="264"/>
            </a:xfrm>
            <a:custGeom>
              <a:avLst/>
              <a:gdLst>
                <a:gd name="T0" fmla="*/ 102 w 108"/>
                <a:gd name="T1" fmla="*/ 178 h 178"/>
                <a:gd name="T2" fmla="*/ 96 w 108"/>
                <a:gd name="T3" fmla="*/ 172 h 178"/>
                <a:gd name="T4" fmla="*/ 96 w 108"/>
                <a:gd name="T5" fmla="*/ 119 h 178"/>
                <a:gd name="T6" fmla="*/ 78 w 108"/>
                <a:gd name="T7" fmla="*/ 73 h 178"/>
                <a:gd name="T8" fmla="*/ 72 w 108"/>
                <a:gd name="T9" fmla="*/ 70 h 178"/>
                <a:gd name="T10" fmla="*/ 69 w 108"/>
                <a:gd name="T11" fmla="*/ 80 h 178"/>
                <a:gd name="T12" fmla="*/ 77 w 108"/>
                <a:gd name="T13" fmla="*/ 116 h 178"/>
                <a:gd name="T14" fmla="*/ 74 w 108"/>
                <a:gd name="T15" fmla="*/ 123 h 178"/>
                <a:gd name="T16" fmla="*/ 67 w 108"/>
                <a:gd name="T17" fmla="*/ 122 h 178"/>
                <a:gd name="T18" fmla="*/ 32 w 108"/>
                <a:gd name="T19" fmla="*/ 86 h 178"/>
                <a:gd name="T20" fmla="*/ 30 w 108"/>
                <a:gd name="T21" fmla="*/ 82 h 178"/>
                <a:gd name="T22" fmla="*/ 15 w 108"/>
                <a:gd name="T23" fmla="*/ 17 h 178"/>
                <a:gd name="T24" fmla="*/ 12 w 108"/>
                <a:gd name="T25" fmla="*/ 15 h 178"/>
                <a:gd name="T26" fmla="*/ 12 w 108"/>
                <a:gd name="T27" fmla="*/ 103 h 178"/>
                <a:gd name="T28" fmla="*/ 58 w 108"/>
                <a:gd name="T29" fmla="*/ 149 h 178"/>
                <a:gd name="T30" fmla="*/ 60 w 108"/>
                <a:gd name="T31" fmla="*/ 153 h 178"/>
                <a:gd name="T32" fmla="*/ 60 w 108"/>
                <a:gd name="T33" fmla="*/ 172 h 178"/>
                <a:gd name="T34" fmla="*/ 54 w 108"/>
                <a:gd name="T35" fmla="*/ 178 h 178"/>
                <a:gd name="T36" fmla="*/ 48 w 108"/>
                <a:gd name="T37" fmla="*/ 172 h 178"/>
                <a:gd name="T38" fmla="*/ 48 w 108"/>
                <a:gd name="T39" fmla="*/ 156 h 178"/>
                <a:gd name="T40" fmla="*/ 2 w 108"/>
                <a:gd name="T41" fmla="*/ 110 h 178"/>
                <a:gd name="T42" fmla="*/ 0 w 108"/>
                <a:gd name="T43" fmla="*/ 106 h 178"/>
                <a:gd name="T44" fmla="*/ 0 w 108"/>
                <a:gd name="T45" fmla="*/ 9 h 178"/>
                <a:gd name="T46" fmla="*/ 4 w 108"/>
                <a:gd name="T47" fmla="*/ 3 h 178"/>
                <a:gd name="T48" fmla="*/ 21 w 108"/>
                <a:gd name="T49" fmla="*/ 7 h 178"/>
                <a:gd name="T50" fmla="*/ 42 w 108"/>
                <a:gd name="T51" fmla="*/ 79 h 178"/>
                <a:gd name="T52" fmla="*/ 61 w 108"/>
                <a:gd name="T53" fmla="*/ 98 h 178"/>
                <a:gd name="T54" fmla="*/ 57 w 108"/>
                <a:gd name="T55" fmla="*/ 83 h 178"/>
                <a:gd name="T56" fmla="*/ 67 w 108"/>
                <a:gd name="T57" fmla="*/ 58 h 178"/>
                <a:gd name="T58" fmla="*/ 89 w 108"/>
                <a:gd name="T59" fmla="*/ 67 h 178"/>
                <a:gd name="T60" fmla="*/ 108 w 108"/>
                <a:gd name="T61" fmla="*/ 116 h 178"/>
                <a:gd name="T62" fmla="*/ 108 w 108"/>
                <a:gd name="T63" fmla="*/ 118 h 178"/>
                <a:gd name="T64" fmla="*/ 108 w 108"/>
                <a:gd name="T65" fmla="*/ 172 h 178"/>
                <a:gd name="T66" fmla="*/ 102 w 108"/>
                <a:gd name="T67" fmla="*/ 17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8" h="178">
                  <a:moveTo>
                    <a:pt x="102" y="178"/>
                  </a:moveTo>
                  <a:cubicBezTo>
                    <a:pt x="99" y="178"/>
                    <a:pt x="96" y="175"/>
                    <a:pt x="96" y="172"/>
                  </a:cubicBezTo>
                  <a:cubicBezTo>
                    <a:pt x="96" y="119"/>
                    <a:pt x="96" y="119"/>
                    <a:pt x="96" y="119"/>
                  </a:cubicBezTo>
                  <a:cubicBezTo>
                    <a:pt x="93" y="108"/>
                    <a:pt x="84" y="83"/>
                    <a:pt x="78" y="73"/>
                  </a:cubicBezTo>
                  <a:cubicBezTo>
                    <a:pt x="76" y="70"/>
                    <a:pt x="74" y="69"/>
                    <a:pt x="72" y="70"/>
                  </a:cubicBezTo>
                  <a:cubicBezTo>
                    <a:pt x="69" y="70"/>
                    <a:pt x="68" y="74"/>
                    <a:pt x="69" y="80"/>
                  </a:cubicBezTo>
                  <a:cubicBezTo>
                    <a:pt x="77" y="116"/>
                    <a:pt x="77" y="116"/>
                    <a:pt x="77" y="116"/>
                  </a:cubicBezTo>
                  <a:cubicBezTo>
                    <a:pt x="78" y="119"/>
                    <a:pt x="77" y="121"/>
                    <a:pt x="74" y="123"/>
                  </a:cubicBezTo>
                  <a:cubicBezTo>
                    <a:pt x="72" y="124"/>
                    <a:pt x="69" y="124"/>
                    <a:pt x="67" y="122"/>
                  </a:cubicBezTo>
                  <a:cubicBezTo>
                    <a:pt x="32" y="86"/>
                    <a:pt x="32" y="86"/>
                    <a:pt x="32" y="86"/>
                  </a:cubicBezTo>
                  <a:cubicBezTo>
                    <a:pt x="30" y="85"/>
                    <a:pt x="30" y="83"/>
                    <a:pt x="30" y="82"/>
                  </a:cubicBezTo>
                  <a:cubicBezTo>
                    <a:pt x="30" y="35"/>
                    <a:pt x="20" y="21"/>
                    <a:pt x="15" y="17"/>
                  </a:cubicBezTo>
                  <a:cubicBezTo>
                    <a:pt x="14" y="16"/>
                    <a:pt x="13" y="15"/>
                    <a:pt x="12" y="15"/>
                  </a:cubicBezTo>
                  <a:cubicBezTo>
                    <a:pt x="12" y="103"/>
                    <a:pt x="12" y="103"/>
                    <a:pt x="12" y="103"/>
                  </a:cubicBezTo>
                  <a:cubicBezTo>
                    <a:pt x="26" y="115"/>
                    <a:pt x="57" y="148"/>
                    <a:pt x="58" y="149"/>
                  </a:cubicBezTo>
                  <a:cubicBezTo>
                    <a:pt x="59" y="150"/>
                    <a:pt x="60" y="152"/>
                    <a:pt x="60" y="153"/>
                  </a:cubicBezTo>
                  <a:cubicBezTo>
                    <a:pt x="60" y="172"/>
                    <a:pt x="60" y="172"/>
                    <a:pt x="60" y="172"/>
                  </a:cubicBezTo>
                  <a:cubicBezTo>
                    <a:pt x="60" y="175"/>
                    <a:pt x="57" y="178"/>
                    <a:pt x="54" y="178"/>
                  </a:cubicBezTo>
                  <a:cubicBezTo>
                    <a:pt x="51" y="178"/>
                    <a:pt x="48" y="175"/>
                    <a:pt x="48" y="172"/>
                  </a:cubicBezTo>
                  <a:cubicBezTo>
                    <a:pt x="48" y="156"/>
                    <a:pt x="48" y="156"/>
                    <a:pt x="48" y="156"/>
                  </a:cubicBezTo>
                  <a:cubicBezTo>
                    <a:pt x="41" y="148"/>
                    <a:pt x="12" y="119"/>
                    <a:pt x="2" y="110"/>
                  </a:cubicBezTo>
                  <a:cubicBezTo>
                    <a:pt x="1" y="109"/>
                    <a:pt x="0" y="108"/>
                    <a:pt x="0" y="10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4"/>
                    <a:pt x="4" y="3"/>
                  </a:cubicBezTo>
                  <a:cubicBezTo>
                    <a:pt x="5" y="3"/>
                    <a:pt x="13" y="0"/>
                    <a:pt x="21" y="7"/>
                  </a:cubicBezTo>
                  <a:cubicBezTo>
                    <a:pt x="35" y="16"/>
                    <a:pt x="42" y="40"/>
                    <a:pt x="42" y="79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57" y="83"/>
                    <a:pt x="57" y="83"/>
                    <a:pt x="57" y="83"/>
                  </a:cubicBezTo>
                  <a:cubicBezTo>
                    <a:pt x="54" y="70"/>
                    <a:pt x="60" y="61"/>
                    <a:pt x="67" y="58"/>
                  </a:cubicBezTo>
                  <a:cubicBezTo>
                    <a:pt x="73" y="56"/>
                    <a:pt x="82" y="57"/>
                    <a:pt x="89" y="67"/>
                  </a:cubicBezTo>
                  <a:cubicBezTo>
                    <a:pt x="97" y="80"/>
                    <a:pt x="107" y="115"/>
                    <a:pt x="108" y="116"/>
                  </a:cubicBezTo>
                  <a:cubicBezTo>
                    <a:pt x="108" y="117"/>
                    <a:pt x="108" y="117"/>
                    <a:pt x="108" y="118"/>
                  </a:cubicBezTo>
                  <a:cubicBezTo>
                    <a:pt x="108" y="172"/>
                    <a:pt x="108" y="172"/>
                    <a:pt x="108" y="172"/>
                  </a:cubicBezTo>
                  <a:cubicBezTo>
                    <a:pt x="108" y="175"/>
                    <a:pt x="105" y="178"/>
                    <a:pt x="102" y="1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</p:grpSp>
      <p:grpSp>
        <p:nvGrpSpPr>
          <p:cNvPr id="144" name="Group 17">
            <a:extLst>
              <a:ext uri="{FF2B5EF4-FFF2-40B4-BE49-F238E27FC236}">
                <a16:creationId xmlns:a16="http://schemas.microsoft.com/office/drawing/2014/main" id="{A8EA10AC-B73B-F9E1-4F6F-5665E6A2C63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415195" y="5180576"/>
            <a:ext cx="584325" cy="611536"/>
            <a:chOff x="1569" y="598"/>
            <a:chExt cx="408" cy="427"/>
          </a:xfrm>
          <a:solidFill>
            <a:srgbClr val="A100FF"/>
          </a:solidFill>
        </p:grpSpPr>
        <p:sp>
          <p:nvSpPr>
            <p:cNvPr id="145" name="Freeform 18">
              <a:extLst>
                <a:ext uri="{FF2B5EF4-FFF2-40B4-BE49-F238E27FC236}">
                  <a16:creationId xmlns:a16="http://schemas.microsoft.com/office/drawing/2014/main" id="{A9C80436-39AD-0748-6B06-7FC08BAB0E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83" y="811"/>
              <a:ext cx="179" cy="178"/>
            </a:xfrm>
            <a:custGeom>
              <a:avLst/>
              <a:gdLst>
                <a:gd name="T0" fmla="*/ 61 w 121"/>
                <a:gd name="T1" fmla="*/ 120 h 120"/>
                <a:gd name="T2" fmla="*/ 57 w 121"/>
                <a:gd name="T3" fmla="*/ 118 h 120"/>
                <a:gd name="T4" fmla="*/ 3 w 121"/>
                <a:gd name="T5" fmla="*/ 70 h 120"/>
                <a:gd name="T6" fmla="*/ 1 w 121"/>
                <a:gd name="T7" fmla="*/ 64 h 120"/>
                <a:gd name="T8" fmla="*/ 7 w 121"/>
                <a:gd name="T9" fmla="*/ 60 h 120"/>
                <a:gd name="T10" fmla="*/ 31 w 121"/>
                <a:gd name="T11" fmla="*/ 60 h 120"/>
                <a:gd name="T12" fmla="*/ 31 w 121"/>
                <a:gd name="T13" fmla="*/ 6 h 120"/>
                <a:gd name="T14" fmla="*/ 37 w 121"/>
                <a:gd name="T15" fmla="*/ 0 h 120"/>
                <a:gd name="T16" fmla="*/ 85 w 121"/>
                <a:gd name="T17" fmla="*/ 0 h 120"/>
                <a:gd name="T18" fmla="*/ 91 w 121"/>
                <a:gd name="T19" fmla="*/ 6 h 120"/>
                <a:gd name="T20" fmla="*/ 91 w 121"/>
                <a:gd name="T21" fmla="*/ 60 h 120"/>
                <a:gd name="T22" fmla="*/ 115 w 121"/>
                <a:gd name="T23" fmla="*/ 60 h 120"/>
                <a:gd name="T24" fmla="*/ 120 w 121"/>
                <a:gd name="T25" fmla="*/ 64 h 120"/>
                <a:gd name="T26" fmla="*/ 119 w 121"/>
                <a:gd name="T27" fmla="*/ 70 h 120"/>
                <a:gd name="T28" fmla="*/ 65 w 121"/>
                <a:gd name="T29" fmla="*/ 118 h 120"/>
                <a:gd name="T30" fmla="*/ 61 w 121"/>
                <a:gd name="T31" fmla="*/ 120 h 120"/>
                <a:gd name="T32" fmla="*/ 22 w 121"/>
                <a:gd name="T33" fmla="*/ 72 h 120"/>
                <a:gd name="T34" fmla="*/ 61 w 121"/>
                <a:gd name="T35" fmla="*/ 106 h 120"/>
                <a:gd name="T36" fmla="*/ 99 w 121"/>
                <a:gd name="T37" fmla="*/ 72 h 120"/>
                <a:gd name="T38" fmla="*/ 85 w 121"/>
                <a:gd name="T39" fmla="*/ 72 h 120"/>
                <a:gd name="T40" fmla="*/ 79 w 121"/>
                <a:gd name="T41" fmla="*/ 66 h 120"/>
                <a:gd name="T42" fmla="*/ 79 w 121"/>
                <a:gd name="T43" fmla="*/ 12 h 120"/>
                <a:gd name="T44" fmla="*/ 43 w 121"/>
                <a:gd name="T45" fmla="*/ 12 h 120"/>
                <a:gd name="T46" fmla="*/ 43 w 121"/>
                <a:gd name="T47" fmla="*/ 66 h 120"/>
                <a:gd name="T48" fmla="*/ 37 w 121"/>
                <a:gd name="T49" fmla="*/ 72 h 120"/>
                <a:gd name="T50" fmla="*/ 22 w 121"/>
                <a:gd name="T51" fmla="*/ 7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1" h="120">
                  <a:moveTo>
                    <a:pt x="61" y="120"/>
                  </a:moveTo>
                  <a:cubicBezTo>
                    <a:pt x="59" y="120"/>
                    <a:pt x="58" y="119"/>
                    <a:pt x="57" y="118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1" y="69"/>
                    <a:pt x="0" y="66"/>
                    <a:pt x="1" y="64"/>
                  </a:cubicBezTo>
                  <a:cubicBezTo>
                    <a:pt x="2" y="61"/>
                    <a:pt x="4" y="60"/>
                    <a:pt x="7" y="60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"/>
                    <a:pt x="31" y="6"/>
                    <a:pt x="31" y="6"/>
                  </a:cubicBezTo>
                  <a:cubicBezTo>
                    <a:pt x="31" y="3"/>
                    <a:pt x="33" y="0"/>
                    <a:pt x="37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8" y="0"/>
                    <a:pt x="91" y="3"/>
                    <a:pt x="91" y="6"/>
                  </a:cubicBezTo>
                  <a:cubicBezTo>
                    <a:pt x="91" y="60"/>
                    <a:pt x="91" y="60"/>
                    <a:pt x="91" y="60"/>
                  </a:cubicBezTo>
                  <a:cubicBezTo>
                    <a:pt x="115" y="60"/>
                    <a:pt x="115" y="60"/>
                    <a:pt x="115" y="60"/>
                  </a:cubicBezTo>
                  <a:cubicBezTo>
                    <a:pt x="117" y="60"/>
                    <a:pt x="119" y="61"/>
                    <a:pt x="120" y="64"/>
                  </a:cubicBezTo>
                  <a:cubicBezTo>
                    <a:pt x="121" y="66"/>
                    <a:pt x="121" y="69"/>
                    <a:pt x="119" y="70"/>
                  </a:cubicBezTo>
                  <a:cubicBezTo>
                    <a:pt x="65" y="118"/>
                    <a:pt x="65" y="118"/>
                    <a:pt x="65" y="118"/>
                  </a:cubicBezTo>
                  <a:cubicBezTo>
                    <a:pt x="63" y="119"/>
                    <a:pt x="62" y="120"/>
                    <a:pt x="61" y="120"/>
                  </a:cubicBezTo>
                  <a:close/>
                  <a:moveTo>
                    <a:pt x="22" y="72"/>
                  </a:moveTo>
                  <a:cubicBezTo>
                    <a:pt x="61" y="106"/>
                    <a:pt x="61" y="106"/>
                    <a:pt x="61" y="106"/>
                  </a:cubicBezTo>
                  <a:cubicBezTo>
                    <a:pt x="99" y="72"/>
                    <a:pt x="99" y="72"/>
                    <a:pt x="99" y="72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1" y="72"/>
                    <a:pt x="79" y="69"/>
                    <a:pt x="79" y="66"/>
                  </a:cubicBezTo>
                  <a:cubicBezTo>
                    <a:pt x="79" y="12"/>
                    <a:pt x="79" y="12"/>
                    <a:pt x="79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9"/>
                    <a:pt x="40" y="72"/>
                    <a:pt x="37" y="72"/>
                  </a:cubicBezTo>
                  <a:lnTo>
                    <a:pt x="22" y="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146" name="Freeform 19">
              <a:extLst>
                <a:ext uri="{FF2B5EF4-FFF2-40B4-BE49-F238E27FC236}">
                  <a16:creationId xmlns:a16="http://schemas.microsoft.com/office/drawing/2014/main" id="{E62D452A-444E-DF38-F554-472B796D9E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0" y="669"/>
              <a:ext cx="266" cy="206"/>
            </a:xfrm>
            <a:custGeom>
              <a:avLst/>
              <a:gdLst>
                <a:gd name="T0" fmla="*/ 17 w 180"/>
                <a:gd name="T1" fmla="*/ 138 h 139"/>
                <a:gd name="T2" fmla="*/ 12 w 180"/>
                <a:gd name="T3" fmla="*/ 135 h 139"/>
                <a:gd name="T4" fmla="*/ 0 w 180"/>
                <a:gd name="T5" fmla="*/ 90 h 139"/>
                <a:gd name="T6" fmla="*/ 90 w 180"/>
                <a:gd name="T7" fmla="*/ 0 h 139"/>
                <a:gd name="T8" fmla="*/ 180 w 180"/>
                <a:gd name="T9" fmla="*/ 90 h 139"/>
                <a:gd name="T10" fmla="*/ 168 w 180"/>
                <a:gd name="T11" fmla="*/ 135 h 139"/>
                <a:gd name="T12" fmla="*/ 160 w 180"/>
                <a:gd name="T13" fmla="*/ 137 h 139"/>
                <a:gd name="T14" fmla="*/ 157 w 180"/>
                <a:gd name="T15" fmla="*/ 129 h 139"/>
                <a:gd name="T16" fmla="*/ 168 w 180"/>
                <a:gd name="T17" fmla="*/ 90 h 139"/>
                <a:gd name="T18" fmla="*/ 90 w 180"/>
                <a:gd name="T19" fmla="*/ 12 h 139"/>
                <a:gd name="T20" fmla="*/ 12 w 180"/>
                <a:gd name="T21" fmla="*/ 90 h 139"/>
                <a:gd name="T22" fmla="*/ 22 w 180"/>
                <a:gd name="T23" fmla="*/ 129 h 139"/>
                <a:gd name="T24" fmla="*/ 20 w 180"/>
                <a:gd name="T25" fmla="*/ 137 h 139"/>
                <a:gd name="T26" fmla="*/ 17 w 180"/>
                <a:gd name="T27" fmla="*/ 138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0" h="139">
                  <a:moveTo>
                    <a:pt x="17" y="138"/>
                  </a:moveTo>
                  <a:cubicBezTo>
                    <a:pt x="15" y="138"/>
                    <a:pt x="13" y="137"/>
                    <a:pt x="12" y="135"/>
                  </a:cubicBezTo>
                  <a:cubicBezTo>
                    <a:pt x="4" y="121"/>
                    <a:pt x="0" y="106"/>
                    <a:pt x="0" y="90"/>
                  </a:cubicBezTo>
                  <a:cubicBezTo>
                    <a:pt x="0" y="40"/>
                    <a:pt x="40" y="0"/>
                    <a:pt x="90" y="0"/>
                  </a:cubicBezTo>
                  <a:cubicBezTo>
                    <a:pt x="139" y="0"/>
                    <a:pt x="180" y="40"/>
                    <a:pt x="180" y="90"/>
                  </a:cubicBezTo>
                  <a:cubicBezTo>
                    <a:pt x="180" y="106"/>
                    <a:pt x="176" y="121"/>
                    <a:pt x="168" y="135"/>
                  </a:cubicBezTo>
                  <a:cubicBezTo>
                    <a:pt x="166" y="138"/>
                    <a:pt x="162" y="139"/>
                    <a:pt x="160" y="137"/>
                  </a:cubicBezTo>
                  <a:cubicBezTo>
                    <a:pt x="157" y="135"/>
                    <a:pt x="156" y="132"/>
                    <a:pt x="157" y="129"/>
                  </a:cubicBezTo>
                  <a:cubicBezTo>
                    <a:pt x="164" y="117"/>
                    <a:pt x="168" y="104"/>
                    <a:pt x="168" y="90"/>
                  </a:cubicBezTo>
                  <a:cubicBezTo>
                    <a:pt x="168" y="47"/>
                    <a:pt x="133" y="12"/>
                    <a:pt x="90" y="12"/>
                  </a:cubicBezTo>
                  <a:cubicBezTo>
                    <a:pt x="47" y="12"/>
                    <a:pt x="12" y="47"/>
                    <a:pt x="12" y="90"/>
                  </a:cubicBezTo>
                  <a:cubicBezTo>
                    <a:pt x="12" y="104"/>
                    <a:pt x="15" y="117"/>
                    <a:pt x="22" y="129"/>
                  </a:cubicBezTo>
                  <a:cubicBezTo>
                    <a:pt x="24" y="132"/>
                    <a:pt x="23" y="135"/>
                    <a:pt x="20" y="137"/>
                  </a:cubicBezTo>
                  <a:cubicBezTo>
                    <a:pt x="19" y="138"/>
                    <a:pt x="18" y="138"/>
                    <a:pt x="17" y="1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147" name="Freeform 20">
              <a:extLst>
                <a:ext uri="{FF2B5EF4-FFF2-40B4-BE49-F238E27FC236}">
                  <a16:creationId xmlns:a16="http://schemas.microsoft.com/office/drawing/2014/main" id="{06FAB633-57E8-6814-1F11-02B334895F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4" y="598"/>
              <a:ext cx="18" cy="54"/>
            </a:xfrm>
            <a:custGeom>
              <a:avLst/>
              <a:gdLst>
                <a:gd name="T0" fmla="*/ 6 w 12"/>
                <a:gd name="T1" fmla="*/ 36 h 36"/>
                <a:gd name="T2" fmla="*/ 0 w 12"/>
                <a:gd name="T3" fmla="*/ 30 h 36"/>
                <a:gd name="T4" fmla="*/ 0 w 12"/>
                <a:gd name="T5" fmla="*/ 6 h 36"/>
                <a:gd name="T6" fmla="*/ 6 w 12"/>
                <a:gd name="T7" fmla="*/ 0 h 36"/>
                <a:gd name="T8" fmla="*/ 12 w 12"/>
                <a:gd name="T9" fmla="*/ 6 h 36"/>
                <a:gd name="T10" fmla="*/ 12 w 12"/>
                <a:gd name="T11" fmla="*/ 30 h 36"/>
                <a:gd name="T12" fmla="*/ 6 w 12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36">
                  <a:moveTo>
                    <a:pt x="6" y="36"/>
                  </a:moveTo>
                  <a:cubicBezTo>
                    <a:pt x="2" y="36"/>
                    <a:pt x="0" y="33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33"/>
                    <a:pt x="9" y="36"/>
                    <a:pt x="6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148" name="Freeform 21">
              <a:extLst>
                <a:ext uri="{FF2B5EF4-FFF2-40B4-BE49-F238E27FC236}">
                  <a16:creationId xmlns:a16="http://schemas.microsoft.com/office/drawing/2014/main" id="{0FA65616-5669-8D3A-694E-D748D254A5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655"/>
              <a:ext cx="43" cy="42"/>
            </a:xfrm>
            <a:custGeom>
              <a:avLst/>
              <a:gdLst>
                <a:gd name="T0" fmla="*/ 6 w 29"/>
                <a:gd name="T1" fmla="*/ 29 h 29"/>
                <a:gd name="T2" fmla="*/ 2 w 29"/>
                <a:gd name="T3" fmla="*/ 28 h 29"/>
                <a:gd name="T4" fmla="*/ 2 w 29"/>
                <a:gd name="T5" fmla="*/ 19 h 29"/>
                <a:gd name="T6" fmla="*/ 19 w 29"/>
                <a:gd name="T7" fmla="*/ 2 h 29"/>
                <a:gd name="T8" fmla="*/ 27 w 29"/>
                <a:gd name="T9" fmla="*/ 2 h 29"/>
                <a:gd name="T10" fmla="*/ 27 w 29"/>
                <a:gd name="T11" fmla="*/ 11 h 29"/>
                <a:gd name="T12" fmla="*/ 10 w 29"/>
                <a:gd name="T13" fmla="*/ 28 h 29"/>
                <a:gd name="T14" fmla="*/ 6 w 29"/>
                <a:gd name="T1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" h="29">
                  <a:moveTo>
                    <a:pt x="6" y="29"/>
                  </a:moveTo>
                  <a:cubicBezTo>
                    <a:pt x="5" y="29"/>
                    <a:pt x="3" y="29"/>
                    <a:pt x="2" y="28"/>
                  </a:cubicBezTo>
                  <a:cubicBezTo>
                    <a:pt x="0" y="25"/>
                    <a:pt x="0" y="22"/>
                    <a:pt x="2" y="19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21" y="0"/>
                    <a:pt x="25" y="0"/>
                    <a:pt x="27" y="2"/>
                  </a:cubicBezTo>
                  <a:cubicBezTo>
                    <a:pt x="29" y="5"/>
                    <a:pt x="29" y="9"/>
                    <a:pt x="27" y="11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9" y="29"/>
                    <a:pt x="8" y="29"/>
                    <a:pt x="6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149" name="Freeform 22">
              <a:extLst>
                <a:ext uri="{FF2B5EF4-FFF2-40B4-BE49-F238E27FC236}">
                  <a16:creationId xmlns:a16="http://schemas.microsoft.com/office/drawing/2014/main" id="{44F2179F-8B84-A4EF-4AD0-436E04BB6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" y="794"/>
              <a:ext cx="53" cy="17"/>
            </a:xfrm>
            <a:custGeom>
              <a:avLst/>
              <a:gdLst>
                <a:gd name="T0" fmla="*/ 30 w 36"/>
                <a:gd name="T1" fmla="*/ 12 h 12"/>
                <a:gd name="T2" fmla="*/ 6 w 36"/>
                <a:gd name="T3" fmla="*/ 12 h 12"/>
                <a:gd name="T4" fmla="*/ 0 w 36"/>
                <a:gd name="T5" fmla="*/ 6 h 12"/>
                <a:gd name="T6" fmla="*/ 6 w 36"/>
                <a:gd name="T7" fmla="*/ 0 h 12"/>
                <a:gd name="T8" fmla="*/ 30 w 36"/>
                <a:gd name="T9" fmla="*/ 0 h 12"/>
                <a:gd name="T10" fmla="*/ 36 w 36"/>
                <a:gd name="T11" fmla="*/ 6 h 12"/>
                <a:gd name="T12" fmla="*/ 30 w 3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6" y="3"/>
                    <a:pt x="36" y="6"/>
                  </a:cubicBezTo>
                  <a:cubicBezTo>
                    <a:pt x="36" y="9"/>
                    <a:pt x="33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150" name="Freeform 23">
              <a:extLst>
                <a:ext uri="{FF2B5EF4-FFF2-40B4-BE49-F238E27FC236}">
                  <a16:creationId xmlns:a16="http://schemas.microsoft.com/office/drawing/2014/main" id="{4B499F29-B694-68D9-8727-C3D26808D6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906"/>
              <a:ext cx="44" cy="43"/>
            </a:xfrm>
            <a:custGeom>
              <a:avLst/>
              <a:gdLst>
                <a:gd name="T0" fmla="*/ 23 w 30"/>
                <a:gd name="T1" fmla="*/ 29 h 29"/>
                <a:gd name="T2" fmla="*/ 19 w 30"/>
                <a:gd name="T3" fmla="*/ 28 h 29"/>
                <a:gd name="T4" fmla="*/ 2 w 30"/>
                <a:gd name="T5" fmla="*/ 11 h 29"/>
                <a:gd name="T6" fmla="*/ 2 w 30"/>
                <a:gd name="T7" fmla="*/ 2 h 29"/>
                <a:gd name="T8" fmla="*/ 10 w 30"/>
                <a:gd name="T9" fmla="*/ 2 h 29"/>
                <a:gd name="T10" fmla="*/ 27 w 30"/>
                <a:gd name="T11" fmla="*/ 19 h 29"/>
                <a:gd name="T12" fmla="*/ 27 w 30"/>
                <a:gd name="T13" fmla="*/ 28 h 29"/>
                <a:gd name="T14" fmla="*/ 23 w 30"/>
                <a:gd name="T1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29">
                  <a:moveTo>
                    <a:pt x="23" y="29"/>
                  </a:moveTo>
                  <a:cubicBezTo>
                    <a:pt x="21" y="29"/>
                    <a:pt x="20" y="29"/>
                    <a:pt x="19" y="28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8"/>
                    <a:pt x="0" y="5"/>
                    <a:pt x="2" y="2"/>
                  </a:cubicBezTo>
                  <a:cubicBezTo>
                    <a:pt x="4" y="0"/>
                    <a:pt x="8" y="0"/>
                    <a:pt x="10" y="2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30" y="21"/>
                    <a:pt x="30" y="25"/>
                    <a:pt x="27" y="28"/>
                  </a:cubicBezTo>
                  <a:cubicBezTo>
                    <a:pt x="26" y="29"/>
                    <a:pt x="24" y="29"/>
                    <a:pt x="23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151" name="Freeform 24">
              <a:extLst>
                <a:ext uri="{FF2B5EF4-FFF2-40B4-BE49-F238E27FC236}">
                  <a16:creationId xmlns:a16="http://schemas.microsoft.com/office/drawing/2014/main" id="{495DB302-340B-0823-276D-426D9072A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5" y="906"/>
              <a:ext cx="44" cy="43"/>
            </a:xfrm>
            <a:custGeom>
              <a:avLst/>
              <a:gdLst>
                <a:gd name="T0" fmla="*/ 6 w 30"/>
                <a:gd name="T1" fmla="*/ 29 h 29"/>
                <a:gd name="T2" fmla="*/ 2 w 30"/>
                <a:gd name="T3" fmla="*/ 28 h 29"/>
                <a:gd name="T4" fmla="*/ 2 w 30"/>
                <a:gd name="T5" fmla="*/ 19 h 29"/>
                <a:gd name="T6" fmla="*/ 19 w 30"/>
                <a:gd name="T7" fmla="*/ 2 h 29"/>
                <a:gd name="T8" fmla="*/ 27 w 30"/>
                <a:gd name="T9" fmla="*/ 2 h 29"/>
                <a:gd name="T10" fmla="*/ 27 w 30"/>
                <a:gd name="T11" fmla="*/ 11 h 29"/>
                <a:gd name="T12" fmla="*/ 11 w 30"/>
                <a:gd name="T13" fmla="*/ 28 h 29"/>
                <a:gd name="T14" fmla="*/ 6 w 30"/>
                <a:gd name="T1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29">
                  <a:moveTo>
                    <a:pt x="6" y="29"/>
                  </a:moveTo>
                  <a:cubicBezTo>
                    <a:pt x="5" y="29"/>
                    <a:pt x="3" y="29"/>
                    <a:pt x="2" y="28"/>
                  </a:cubicBezTo>
                  <a:cubicBezTo>
                    <a:pt x="0" y="25"/>
                    <a:pt x="0" y="21"/>
                    <a:pt x="2" y="19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21" y="0"/>
                    <a:pt x="25" y="0"/>
                    <a:pt x="27" y="2"/>
                  </a:cubicBezTo>
                  <a:cubicBezTo>
                    <a:pt x="30" y="5"/>
                    <a:pt x="30" y="9"/>
                    <a:pt x="27" y="11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9" y="29"/>
                    <a:pt x="8" y="29"/>
                    <a:pt x="6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152" name="Freeform 25">
              <a:extLst>
                <a:ext uri="{FF2B5EF4-FFF2-40B4-BE49-F238E27FC236}">
                  <a16:creationId xmlns:a16="http://schemas.microsoft.com/office/drawing/2014/main" id="{057B41F3-999C-A3B6-34D7-6DB5D8527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9" y="794"/>
              <a:ext cx="52" cy="17"/>
            </a:xfrm>
            <a:custGeom>
              <a:avLst/>
              <a:gdLst>
                <a:gd name="T0" fmla="*/ 29 w 35"/>
                <a:gd name="T1" fmla="*/ 12 h 12"/>
                <a:gd name="T2" fmla="*/ 6 w 35"/>
                <a:gd name="T3" fmla="*/ 12 h 12"/>
                <a:gd name="T4" fmla="*/ 0 w 35"/>
                <a:gd name="T5" fmla="*/ 6 h 12"/>
                <a:gd name="T6" fmla="*/ 6 w 35"/>
                <a:gd name="T7" fmla="*/ 0 h 12"/>
                <a:gd name="T8" fmla="*/ 29 w 35"/>
                <a:gd name="T9" fmla="*/ 0 h 12"/>
                <a:gd name="T10" fmla="*/ 35 w 35"/>
                <a:gd name="T11" fmla="*/ 6 h 12"/>
                <a:gd name="T12" fmla="*/ 29 w 35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12">
                  <a:moveTo>
                    <a:pt x="29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33" y="0"/>
                    <a:pt x="35" y="3"/>
                    <a:pt x="35" y="6"/>
                  </a:cubicBezTo>
                  <a:cubicBezTo>
                    <a:pt x="35" y="9"/>
                    <a:pt x="33" y="12"/>
                    <a:pt x="29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153" name="Freeform 26">
              <a:extLst>
                <a:ext uri="{FF2B5EF4-FFF2-40B4-BE49-F238E27FC236}">
                  <a16:creationId xmlns:a16="http://schemas.microsoft.com/office/drawing/2014/main" id="{27B5FA4B-5D48-6504-5059-3FA0B25B7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5" y="655"/>
              <a:ext cx="44" cy="44"/>
            </a:xfrm>
            <a:custGeom>
              <a:avLst/>
              <a:gdLst>
                <a:gd name="T0" fmla="*/ 23 w 30"/>
                <a:gd name="T1" fmla="*/ 30 h 30"/>
                <a:gd name="T2" fmla="*/ 19 w 30"/>
                <a:gd name="T3" fmla="*/ 28 h 30"/>
                <a:gd name="T4" fmla="*/ 2 w 30"/>
                <a:gd name="T5" fmla="*/ 11 h 30"/>
                <a:gd name="T6" fmla="*/ 2 w 30"/>
                <a:gd name="T7" fmla="*/ 3 h 30"/>
                <a:gd name="T8" fmla="*/ 11 w 30"/>
                <a:gd name="T9" fmla="*/ 3 h 30"/>
                <a:gd name="T10" fmla="*/ 27 w 30"/>
                <a:gd name="T11" fmla="*/ 19 h 30"/>
                <a:gd name="T12" fmla="*/ 27 w 30"/>
                <a:gd name="T13" fmla="*/ 28 h 30"/>
                <a:gd name="T14" fmla="*/ 23 w 30"/>
                <a:gd name="T1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30">
                  <a:moveTo>
                    <a:pt x="23" y="30"/>
                  </a:moveTo>
                  <a:cubicBezTo>
                    <a:pt x="21" y="30"/>
                    <a:pt x="20" y="29"/>
                    <a:pt x="19" y="28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9"/>
                    <a:pt x="0" y="5"/>
                    <a:pt x="2" y="3"/>
                  </a:cubicBezTo>
                  <a:cubicBezTo>
                    <a:pt x="4" y="0"/>
                    <a:pt x="8" y="0"/>
                    <a:pt x="11" y="3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30" y="22"/>
                    <a:pt x="30" y="25"/>
                    <a:pt x="27" y="28"/>
                  </a:cubicBezTo>
                  <a:cubicBezTo>
                    <a:pt x="26" y="29"/>
                    <a:pt x="25" y="30"/>
                    <a:pt x="23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154" name="Freeform 27">
              <a:extLst>
                <a:ext uri="{FF2B5EF4-FFF2-40B4-BE49-F238E27FC236}">
                  <a16:creationId xmlns:a16="http://schemas.microsoft.com/office/drawing/2014/main" id="{32FDA2B1-430A-CBC2-C390-3300A470A6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9" y="1007"/>
              <a:ext cx="408" cy="18"/>
            </a:xfrm>
            <a:custGeom>
              <a:avLst/>
              <a:gdLst>
                <a:gd name="T0" fmla="*/ 270 w 276"/>
                <a:gd name="T1" fmla="*/ 12 h 12"/>
                <a:gd name="T2" fmla="*/ 6 w 276"/>
                <a:gd name="T3" fmla="*/ 12 h 12"/>
                <a:gd name="T4" fmla="*/ 0 w 276"/>
                <a:gd name="T5" fmla="*/ 6 h 12"/>
                <a:gd name="T6" fmla="*/ 6 w 276"/>
                <a:gd name="T7" fmla="*/ 0 h 12"/>
                <a:gd name="T8" fmla="*/ 270 w 276"/>
                <a:gd name="T9" fmla="*/ 0 h 12"/>
                <a:gd name="T10" fmla="*/ 276 w 276"/>
                <a:gd name="T11" fmla="*/ 6 h 12"/>
                <a:gd name="T12" fmla="*/ 270 w 27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6" h="12">
                  <a:moveTo>
                    <a:pt x="27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270" y="0"/>
                    <a:pt x="270" y="0"/>
                    <a:pt x="270" y="0"/>
                  </a:cubicBezTo>
                  <a:cubicBezTo>
                    <a:pt x="273" y="0"/>
                    <a:pt x="276" y="3"/>
                    <a:pt x="276" y="6"/>
                  </a:cubicBezTo>
                  <a:cubicBezTo>
                    <a:pt x="276" y="9"/>
                    <a:pt x="273" y="12"/>
                    <a:pt x="27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1467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4A47B9F-97B8-0008-3E38-217C6CA70C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480591"/>
            <a:ext cx="381001" cy="207843"/>
          </a:xfrm>
        </p:spPr>
        <p:txBody>
          <a:bodyPr/>
          <a:lstStyle/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10</a:t>
            </a:fld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A93A321-DD06-5BD6-175A-6D235781FAEF}"/>
              </a:ext>
            </a:extLst>
          </p:cNvPr>
          <p:cNvGrpSpPr/>
          <p:nvPr/>
        </p:nvGrpSpPr>
        <p:grpSpPr>
          <a:xfrm>
            <a:off x="503344" y="1338943"/>
            <a:ext cx="5427088" cy="4819732"/>
            <a:chOff x="503344" y="1338943"/>
            <a:chExt cx="5427088" cy="4819732"/>
          </a:xfrm>
        </p:grpSpPr>
        <p:graphicFrame>
          <p:nvGraphicFramePr>
            <p:cNvPr id="5" name="Chart 4">
              <a:extLst>
                <a:ext uri="{FF2B5EF4-FFF2-40B4-BE49-F238E27FC236}">
                  <a16:creationId xmlns:a16="http://schemas.microsoft.com/office/drawing/2014/main" id="{FA97BDD9-08A0-664B-A360-B29060E3B3B1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787593230"/>
                </p:ext>
              </p:extLst>
            </p:nvPr>
          </p:nvGraphicFramePr>
          <p:xfrm>
            <a:off x="503344" y="1338943"/>
            <a:ext cx="5427088" cy="481973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6" name="Arrow: Up 6">
              <a:extLst>
                <a:ext uri="{FF2B5EF4-FFF2-40B4-BE49-F238E27FC236}">
                  <a16:creationId xmlns:a16="http://schemas.microsoft.com/office/drawing/2014/main" id="{57F96398-91C4-E03D-0824-F534C058F311}"/>
                </a:ext>
              </a:extLst>
            </p:cNvPr>
            <p:cNvSpPr/>
            <p:nvPr/>
          </p:nvSpPr>
          <p:spPr>
            <a:xfrm>
              <a:off x="1414792" y="4181522"/>
              <a:ext cx="381000" cy="780951"/>
            </a:xfrm>
            <a:prstGeom prst="up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IN" err="1"/>
            </a:p>
          </p:txBody>
        </p:sp>
        <p:sp>
          <p:nvSpPr>
            <p:cNvPr id="7" name="Arrow: Up 7">
              <a:extLst>
                <a:ext uri="{FF2B5EF4-FFF2-40B4-BE49-F238E27FC236}">
                  <a16:creationId xmlns:a16="http://schemas.microsoft.com/office/drawing/2014/main" id="{D9E71C52-EF9D-3286-5DF4-3C0A634F03E5}"/>
                </a:ext>
              </a:extLst>
            </p:cNvPr>
            <p:cNvSpPr/>
            <p:nvPr/>
          </p:nvSpPr>
          <p:spPr>
            <a:xfrm>
              <a:off x="2473547" y="3827734"/>
              <a:ext cx="381000" cy="780951"/>
            </a:xfrm>
            <a:prstGeom prst="up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IN" err="1"/>
            </a:p>
          </p:txBody>
        </p:sp>
        <p:sp>
          <p:nvSpPr>
            <p:cNvPr id="8" name="Arrow: Up 8">
              <a:extLst>
                <a:ext uri="{FF2B5EF4-FFF2-40B4-BE49-F238E27FC236}">
                  <a16:creationId xmlns:a16="http://schemas.microsoft.com/office/drawing/2014/main" id="{560A6109-4E92-1732-F3E5-ED9760FDB81E}"/>
                </a:ext>
              </a:extLst>
            </p:cNvPr>
            <p:cNvSpPr/>
            <p:nvPr/>
          </p:nvSpPr>
          <p:spPr>
            <a:xfrm>
              <a:off x="1953635" y="3996464"/>
              <a:ext cx="381000" cy="780951"/>
            </a:xfrm>
            <a:prstGeom prst="up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IN" err="1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B4B923A-44F1-73CC-9AA2-AC996264471B}"/>
                </a:ext>
              </a:extLst>
            </p:cNvPr>
            <p:cNvSpPr txBox="1"/>
            <p:nvPr/>
          </p:nvSpPr>
          <p:spPr>
            <a:xfrm>
              <a:off x="1174336" y="2063454"/>
              <a:ext cx="2703802" cy="10885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IN" sz="1200" b="1" dirty="0">
                  <a:solidFill>
                    <a:srgbClr val="5F0289"/>
                  </a:solidFill>
                </a:rPr>
                <a:t>Having and Omni-Channel platform presence will enable:</a:t>
              </a:r>
              <a:br>
                <a:rPr lang="en-IN" sz="1200" b="1" dirty="0">
                  <a:solidFill>
                    <a:srgbClr val="5F0289"/>
                  </a:solidFill>
                </a:rPr>
              </a:br>
              <a:br>
                <a:rPr lang="en-IN" sz="600" b="1" dirty="0">
                  <a:solidFill>
                    <a:srgbClr val="5F0289"/>
                  </a:solidFill>
                </a:rPr>
              </a:br>
              <a:r>
                <a:rPr lang="en-IN" sz="1200" b="1" dirty="0">
                  <a:solidFill>
                    <a:srgbClr val="5F0289"/>
                  </a:solidFill>
                </a:rPr>
                <a:t>1) Access to larger TAM</a:t>
              </a:r>
              <a:br>
                <a:rPr lang="en-IN" sz="1200" b="1" dirty="0">
                  <a:solidFill>
                    <a:srgbClr val="5F0289"/>
                  </a:solidFill>
                </a:rPr>
              </a:br>
              <a:r>
                <a:rPr lang="en-IN" sz="1200" b="1" dirty="0">
                  <a:solidFill>
                    <a:srgbClr val="5F0289"/>
                  </a:solidFill>
                </a:rPr>
                <a:t>2) Reduce threat due to single provider</a:t>
              </a:r>
              <a:br>
                <a:rPr lang="en-IN" sz="1200" b="1" dirty="0">
                  <a:solidFill>
                    <a:srgbClr val="5F0289"/>
                  </a:solidFill>
                </a:rPr>
              </a:br>
              <a:r>
                <a:rPr lang="en-IN" sz="1200" b="1" dirty="0">
                  <a:solidFill>
                    <a:srgbClr val="5F0289"/>
                  </a:solidFill>
                </a:rPr>
                <a:t>3) Match accessibility with competitors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46F1C86-3C39-1CA3-959B-96CAD8C11607}"/>
              </a:ext>
            </a:extLst>
          </p:cNvPr>
          <p:cNvSpPr txBox="1"/>
          <p:nvPr/>
        </p:nvSpPr>
        <p:spPr>
          <a:xfrm>
            <a:off x="7824486" y="1382751"/>
            <a:ext cx="2245065" cy="3317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b="1" noProof="0" dirty="0">
                <a:solidFill>
                  <a:srgbClr val="7800C0"/>
                </a:solidFill>
              </a:rPr>
              <a:t>Customer Journey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C5FAF5-9688-7CC7-931A-B445EFDA9C9B}"/>
              </a:ext>
            </a:extLst>
          </p:cNvPr>
          <p:cNvSpPr txBox="1"/>
          <p:nvPr/>
        </p:nvSpPr>
        <p:spPr>
          <a:xfrm>
            <a:off x="7225990" y="1790870"/>
            <a:ext cx="3992137" cy="1824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1200" i="1" noProof="0">
                <a:solidFill>
                  <a:schemeClr val="bg1"/>
                </a:solidFill>
              </a:rPr>
              <a:t>Home textiles is a high involvement buying industry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890453-B380-23C2-38B1-12AEDF34090F}"/>
              </a:ext>
            </a:extLst>
          </p:cNvPr>
          <p:cNvSpPr txBox="1"/>
          <p:nvPr/>
        </p:nvSpPr>
        <p:spPr>
          <a:xfrm>
            <a:off x="6726461" y="3009770"/>
            <a:ext cx="814039" cy="22753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200" noProof="0">
                <a:solidFill>
                  <a:schemeClr val="bg1"/>
                </a:solidFill>
              </a:rPr>
              <a:t>Search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B7FAF9-4B88-AA07-87DE-48989F6C174F}"/>
              </a:ext>
            </a:extLst>
          </p:cNvPr>
          <p:cNvSpPr txBox="1"/>
          <p:nvPr/>
        </p:nvSpPr>
        <p:spPr>
          <a:xfrm>
            <a:off x="7987189" y="3002826"/>
            <a:ext cx="814039" cy="22753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200">
                <a:solidFill>
                  <a:schemeClr val="bg1"/>
                </a:solidFill>
              </a:rPr>
              <a:t>Platform</a:t>
            </a:r>
            <a:endParaRPr lang="en-US" sz="1200" noProof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2517BF-82A6-EA01-9723-99040EC15E91}"/>
              </a:ext>
            </a:extLst>
          </p:cNvPr>
          <p:cNvSpPr txBox="1"/>
          <p:nvPr/>
        </p:nvSpPr>
        <p:spPr>
          <a:xfrm>
            <a:off x="9247917" y="2999483"/>
            <a:ext cx="814039" cy="22753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200">
                <a:solidFill>
                  <a:schemeClr val="bg1"/>
                </a:solidFill>
              </a:rPr>
              <a:t>Compare</a:t>
            </a:r>
            <a:endParaRPr lang="en-US" sz="1200" noProof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14B4B0-69E5-1540-CDB4-9B61A81A63E9}"/>
              </a:ext>
            </a:extLst>
          </p:cNvPr>
          <p:cNvSpPr txBox="1"/>
          <p:nvPr/>
        </p:nvSpPr>
        <p:spPr>
          <a:xfrm>
            <a:off x="10541236" y="3009770"/>
            <a:ext cx="814039" cy="22753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200">
                <a:solidFill>
                  <a:schemeClr val="bg1"/>
                </a:solidFill>
              </a:rPr>
              <a:t>Decision</a:t>
            </a:r>
            <a:endParaRPr lang="en-US" sz="1200" noProof="0">
              <a:solidFill>
                <a:schemeClr val="bg1"/>
              </a:solidFill>
            </a:endParaRPr>
          </a:p>
        </p:txBody>
      </p:sp>
      <p:pic>
        <p:nvPicPr>
          <p:cNvPr id="17" name="Picture 2" descr="16,083 Google Icons - Free in SVG, PNG, ICO - IconScout">
            <a:extLst>
              <a:ext uri="{FF2B5EF4-FFF2-40B4-BE49-F238E27FC236}">
                <a16:creationId xmlns:a16="http://schemas.microsoft.com/office/drawing/2014/main" id="{EEEE5A19-1EDF-6465-3A78-E903A95765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0689" y="2367981"/>
            <a:ext cx="461797" cy="461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DCC70FAB-062D-DE30-AE31-176D2E9D07DF}"/>
              </a:ext>
            </a:extLst>
          </p:cNvPr>
          <p:cNvGrpSpPr/>
          <p:nvPr/>
        </p:nvGrpSpPr>
        <p:grpSpPr>
          <a:xfrm>
            <a:off x="7995707" y="2246593"/>
            <a:ext cx="713348" cy="663836"/>
            <a:chOff x="7522539" y="2096275"/>
            <a:chExt cx="863152" cy="803242"/>
          </a:xfrm>
        </p:grpSpPr>
        <p:pic>
          <p:nvPicPr>
            <p:cNvPr id="62" name="Picture 4" descr="Amazon, buy, logo, online, shop icon - Free download">
              <a:extLst>
                <a:ext uri="{FF2B5EF4-FFF2-40B4-BE49-F238E27FC236}">
                  <a16:creationId xmlns:a16="http://schemas.microsoft.com/office/drawing/2014/main" id="{0466A60A-CD35-2565-C259-E6078F1F11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889" b="96000" l="1778" r="99111">
                          <a14:foregroundMark x1="25778" y1="37778" x2="25778" y2="37778"/>
                          <a14:foregroundMark x1="10222" y1="55556" x2="20000" y2="28444"/>
                          <a14:foregroundMark x1="20000" y1="28444" x2="34222" y2="10667"/>
                          <a14:foregroundMark x1="34222" y1="10667" x2="35111" y2="11111"/>
                          <a14:foregroundMark x1="13778" y1="49333" x2="60444" y2="81333"/>
                          <a14:foregroundMark x1="60444" y1="81333" x2="83111" y2="55556"/>
                          <a14:foregroundMark x1="83111" y1="55556" x2="80889" y2="32000"/>
                          <a14:foregroundMark x1="80889" y1="32000" x2="63111" y2="20444"/>
                          <a14:foregroundMark x1="63111" y1="20444" x2="31111" y2="18222"/>
                          <a14:foregroundMark x1="31111" y1="18222" x2="28444" y2="19111"/>
                          <a14:foregroundMark x1="0" y1="54222" x2="7111" y2="32889"/>
                          <a14:foregroundMark x1="7111" y1="32889" x2="25333" y2="9333"/>
                          <a14:foregroundMark x1="25333" y1="9333" x2="51556" y2="1333"/>
                          <a14:foregroundMark x1="51556" y1="1333" x2="56889" y2="1778"/>
                          <a14:foregroundMark x1="63111" y1="4000" x2="84444" y2="19111"/>
                          <a14:foregroundMark x1="84444" y1="19111" x2="92444" y2="38222"/>
                          <a14:foregroundMark x1="92444" y1="38222" x2="90222" y2="64444"/>
                          <a14:foregroundMark x1="90222" y1="64444" x2="74222" y2="82667"/>
                          <a14:foregroundMark x1="74222" y1="82667" x2="46667" y2="96444"/>
                          <a14:foregroundMark x1="46667" y1="96444" x2="28000" y2="84889"/>
                          <a14:foregroundMark x1="28000" y1="84889" x2="11556" y2="68000"/>
                          <a14:foregroundMark x1="11556" y1="68000" x2="11111" y2="47556"/>
                          <a14:foregroundMark x1="11111" y1="47556" x2="12000" y2="45778"/>
                          <a14:foregroundMark x1="6667" y1="72889" x2="1778" y2="52889"/>
                          <a14:foregroundMark x1="1778" y1="52889" x2="6667" y2="38222"/>
                          <a14:foregroundMark x1="62222" y1="51111" x2="62222" y2="51111"/>
                          <a14:foregroundMark x1="62222" y1="51111" x2="56889" y2="21778"/>
                          <a14:foregroundMark x1="56889" y1="21778" x2="48000" y2="47111"/>
                          <a14:foregroundMark x1="48000" y1="47111" x2="49778" y2="48889"/>
                          <a14:foregroundMark x1="42222" y1="19556" x2="21778" y2="48444"/>
                          <a14:foregroundMark x1="21778" y1="48444" x2="40000" y2="70222"/>
                          <a14:foregroundMark x1="40000" y1="70222" x2="68889" y2="58222"/>
                          <a14:foregroundMark x1="68889" y1="58222" x2="62667" y2="28444"/>
                          <a14:foregroundMark x1="62667" y1="28444" x2="44889" y2="16889"/>
                          <a14:foregroundMark x1="44889" y1="16889" x2="39111" y2="21333"/>
                          <a14:foregroundMark x1="52444" y1="37333" x2="31111" y2="52889"/>
                          <a14:foregroundMark x1="31111" y1="52889" x2="45778" y2="68889"/>
                          <a14:foregroundMark x1="45778" y1="68889" x2="64444" y2="60000"/>
                          <a14:foregroundMark x1="64444" y1="60000" x2="65333" y2="47556"/>
                          <a14:foregroundMark x1="96444" y1="67556" x2="99111" y2="45778"/>
                          <a14:foregroundMark x1="99111" y1="45778" x2="95556" y2="31556"/>
                          <a14:foregroundMark x1="37778" y1="26222" x2="51111" y2="3288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34741" y="2574690"/>
              <a:ext cx="324827" cy="3248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Picture 6" descr="Flipkart Bandra Kurla Complex 4000 51 - Container Service in 4000 51">
              <a:extLst>
                <a:ext uri="{FF2B5EF4-FFF2-40B4-BE49-F238E27FC236}">
                  <a16:creationId xmlns:a16="http://schemas.microsoft.com/office/drawing/2014/main" id="{16DBAD42-C218-B646-56D8-763C6D6BC5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0" b="95556" l="2222" r="96889">
                          <a14:foregroundMark x1="24000" y1="32889" x2="24000" y2="32889"/>
                          <a14:foregroundMark x1="24000" y1="32889" x2="43111" y2="12889"/>
                          <a14:foregroundMark x1="43111" y1="12889" x2="66667" y2="15111"/>
                          <a14:foregroundMark x1="66667" y1="15111" x2="67556" y2="26667"/>
                          <a14:foregroundMark x1="67556" y1="26667" x2="67111" y2="27556"/>
                          <a14:foregroundMark x1="0" y1="48444" x2="7010" y2="26178"/>
                          <a14:foregroundMark x1="8166" y1="23916" x2="27111" y2="7556"/>
                          <a14:foregroundMark x1="27111" y1="7556" x2="36767" y2="2261"/>
                          <a14:foregroundMark x1="5778" y1="29778" x2="444" y2="44000"/>
                          <a14:foregroundMark x1="444" y1="44000" x2="1778" y2="61333"/>
                          <a14:foregroundMark x1="4615" y1="65778" x2="15111" y2="82222"/>
                          <a14:foregroundMark x1="1778" y1="61333" x2="4615" y2="65778"/>
                          <a14:foregroundMark x1="15111" y1="82222" x2="35111" y2="95556"/>
                          <a14:foregroundMark x1="91111" y1="75111" x2="94667" y2="39111"/>
                          <a14:foregroundMark x1="94667" y1="39111" x2="87111" y2="26667"/>
                          <a14:foregroundMark x1="87111" y1="26667" x2="86667" y2="25778"/>
                          <a14:foregroundMark x1="1814" y1="63995" x2="889" y2="62222"/>
                          <a14:foregroundMark x1="6222" y1="72444" x2="3191" y2="66635"/>
                          <a14:foregroundMark x1="1048" y1="60946" x2="4621" y2="32367"/>
                          <a14:foregroundMark x1="889" y1="62222" x2="962" y2="61641"/>
                          <a14:foregroundMark x1="98222" y1="39111" x2="97333" y2="58667"/>
                          <a14:foregroundMark x1="97333" y1="58667" x2="96000" y2="60889"/>
                          <a14:foregroundMark x1="3645" y1="65778" x2="2222" y2="61333"/>
                          <a14:foregroundMark x1="5778" y1="72444" x2="3645" y2="65778"/>
                          <a14:backgroundMark x1="889" y1="67111" x2="0" y2="65333"/>
                          <a14:backgroundMark x1="2222" y1="68000" x2="0" y2="58222"/>
                          <a14:backgroundMark x1="0" y1="46667" x2="5333" y2="25778"/>
                          <a14:backgroundMark x1="5333" y1="25778" x2="9778" y2="19111"/>
                          <a14:backgroundMark x1="4889" y1="24889" x2="19111" y2="2667"/>
                          <a14:backgroundMark x1="37333" y1="1333" x2="44000" y2="889"/>
                          <a14:backgroundMark x1="4444" y1="72000" x2="1333" y2="65333"/>
                          <a14:backgroundMark x1="5778" y1="75111" x2="444" y2="65778"/>
                          <a14:backgroundMark x1="444" y1="65778" x2="444" y2="65778"/>
                          <a14:backgroundMark x1="5778" y1="73778" x2="1333" y2="626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67130" y="2151445"/>
              <a:ext cx="318561" cy="3185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7" name="Picture 8" descr="Myntra PNG, Transparent Myntra LOGO Download - Free Transparent PNG Logos">
              <a:extLst>
                <a:ext uri="{FF2B5EF4-FFF2-40B4-BE49-F238E27FC236}">
                  <a16:creationId xmlns:a16="http://schemas.microsoft.com/office/drawing/2014/main" id="{B0624482-1B5C-6014-8D32-C3718A1A8A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22539" y="2096275"/>
              <a:ext cx="564352" cy="5643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44E8ABA-52E7-A35F-241D-98AC8B04FB81}"/>
              </a:ext>
            </a:extLst>
          </p:cNvPr>
          <p:cNvGrpSpPr/>
          <p:nvPr/>
        </p:nvGrpSpPr>
        <p:grpSpPr>
          <a:xfrm>
            <a:off x="9369955" y="2317337"/>
            <a:ext cx="586062" cy="710328"/>
            <a:chOff x="8642472" y="3356758"/>
            <a:chExt cx="644668" cy="781361"/>
          </a:xfrm>
        </p:grpSpPr>
        <p:pic>
          <p:nvPicPr>
            <p:cNvPr id="45" name="Graphic 44" descr="Open hand outline">
              <a:extLst>
                <a:ext uri="{FF2B5EF4-FFF2-40B4-BE49-F238E27FC236}">
                  <a16:creationId xmlns:a16="http://schemas.microsoft.com/office/drawing/2014/main" id="{12A16459-508D-777A-1676-860837CEF5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42472" y="3493451"/>
              <a:ext cx="644668" cy="644668"/>
            </a:xfrm>
            <a:prstGeom prst="rect">
              <a:avLst/>
            </a:prstGeom>
          </p:spPr>
        </p:pic>
        <p:pic>
          <p:nvPicPr>
            <p:cNvPr id="46" name="Graphic 45" descr="Coins outline">
              <a:extLst>
                <a:ext uri="{FF2B5EF4-FFF2-40B4-BE49-F238E27FC236}">
                  <a16:creationId xmlns:a16="http://schemas.microsoft.com/office/drawing/2014/main" id="{B7FE6259-FF01-2CA7-8824-5B8087D4D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854733" y="3356758"/>
              <a:ext cx="367325" cy="367325"/>
            </a:xfrm>
            <a:prstGeom prst="rect">
              <a:avLst/>
            </a:prstGeom>
          </p:spPr>
        </p:pic>
      </p:grpSp>
      <p:pic>
        <p:nvPicPr>
          <p:cNvPr id="20" name="Graphic 19" descr="Shopping cart outline">
            <a:extLst>
              <a:ext uri="{FF2B5EF4-FFF2-40B4-BE49-F238E27FC236}">
                <a16:creationId xmlns:a16="http://schemas.microsoft.com/office/drawing/2014/main" id="{711A0A09-074E-5C56-D559-B97F09D74B5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632489" y="2300855"/>
            <a:ext cx="644668" cy="644668"/>
          </a:xfrm>
          <a:prstGeom prst="rect">
            <a:avLst/>
          </a:prstGeom>
        </p:spPr>
      </p:pic>
      <p:grpSp>
        <p:nvGrpSpPr>
          <p:cNvPr id="78" name="Group 77">
            <a:extLst>
              <a:ext uri="{FF2B5EF4-FFF2-40B4-BE49-F238E27FC236}">
                <a16:creationId xmlns:a16="http://schemas.microsoft.com/office/drawing/2014/main" id="{117C063F-52A4-CCCE-06E3-D0D42BD1D831}"/>
              </a:ext>
            </a:extLst>
          </p:cNvPr>
          <p:cNvGrpSpPr/>
          <p:nvPr/>
        </p:nvGrpSpPr>
        <p:grpSpPr>
          <a:xfrm>
            <a:off x="6352488" y="4221352"/>
            <a:ext cx="5336168" cy="2300071"/>
            <a:chOff x="6362025" y="3806160"/>
            <a:chExt cx="5336168" cy="2300071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47D1739-66B1-3560-DCDC-505E1A5EBE18}"/>
                </a:ext>
              </a:extLst>
            </p:cNvPr>
            <p:cNvCxnSpPr/>
            <p:nvPr/>
          </p:nvCxnSpPr>
          <p:spPr>
            <a:xfrm>
              <a:off x="8056312" y="3817883"/>
              <a:ext cx="0" cy="228834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525D18D-8E9F-AB85-E900-A4FF04C1FC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2025" y="4216736"/>
              <a:ext cx="5023356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FD0214D-CE8D-3AD8-FDC5-8FC00D1D2185}"/>
                </a:ext>
              </a:extLst>
            </p:cNvPr>
            <p:cNvCxnSpPr/>
            <p:nvPr/>
          </p:nvCxnSpPr>
          <p:spPr>
            <a:xfrm>
              <a:off x="10287848" y="3806160"/>
              <a:ext cx="0" cy="228834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DB1BEB3-16F7-9326-2C7E-1284CBE549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2025" y="4701481"/>
              <a:ext cx="5023356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700DDF5-5EED-4508-FBAC-2F9E36D14D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2025" y="5212718"/>
              <a:ext cx="5023356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7EF6F21-F1B1-139F-2D35-487AF3768C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9173" y="5662122"/>
              <a:ext cx="5023356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39D71B5-B1B3-8C46-5F4E-C105D5A44139}"/>
                </a:ext>
              </a:extLst>
            </p:cNvPr>
            <p:cNvSpPr txBox="1"/>
            <p:nvPr/>
          </p:nvSpPr>
          <p:spPr>
            <a:xfrm>
              <a:off x="6392402" y="4335013"/>
              <a:ext cx="1538194" cy="29379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</a:rPr>
                <a:t>Own Website</a:t>
              </a:r>
              <a:endParaRPr lang="en-US" sz="1200" noProof="0"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E5498CB-3B29-6CDF-8122-DE9A9A269BF9}"/>
                </a:ext>
              </a:extLst>
            </p:cNvPr>
            <p:cNvSpPr txBox="1"/>
            <p:nvPr/>
          </p:nvSpPr>
          <p:spPr>
            <a:xfrm>
              <a:off x="8102963" y="4259839"/>
              <a:ext cx="2239349" cy="3689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</a:rPr>
                <a:t>Run effective SEO</a:t>
              </a:r>
            </a:p>
            <a:p>
              <a:pPr marL="171450" indent="-171450" algn="l" defTabSz="22860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</a:rPr>
                <a:t>Track metrics effectively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6BA275E-78AC-69CC-14D8-32D96B7D656B}"/>
                </a:ext>
              </a:extLst>
            </p:cNvPr>
            <p:cNvSpPr txBox="1"/>
            <p:nvPr/>
          </p:nvSpPr>
          <p:spPr>
            <a:xfrm>
              <a:off x="10388962" y="4269905"/>
              <a:ext cx="1309231" cy="3689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CTR</a:t>
              </a:r>
            </a:p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Brand Authority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19C81B9-4858-975F-6A6E-BB0D96761E69}"/>
                </a:ext>
              </a:extLst>
            </p:cNvPr>
            <p:cNvSpPr txBox="1"/>
            <p:nvPr/>
          </p:nvSpPr>
          <p:spPr>
            <a:xfrm>
              <a:off x="6392402" y="4852844"/>
              <a:ext cx="1538194" cy="29379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</a:rPr>
                <a:t>E-Commerce Affiliate</a:t>
              </a:r>
              <a:endParaRPr lang="en-US" sz="1200" noProof="0">
                <a:solidFill>
                  <a:schemeClr val="bg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5DDC154-5081-ACFB-1124-6806806AFA0D}"/>
                </a:ext>
              </a:extLst>
            </p:cNvPr>
            <p:cNvSpPr txBox="1"/>
            <p:nvPr/>
          </p:nvSpPr>
          <p:spPr>
            <a:xfrm>
              <a:off x="8128242" y="4775925"/>
              <a:ext cx="2239349" cy="3689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Website &amp; Blogs </a:t>
              </a:r>
            </a:p>
            <a:p>
              <a:pPr marL="171450" indent="-171450" algn="l" defTabSz="22860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Easy to Manage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B27159E-DFBD-E383-F2C1-E90C57BB13AC}"/>
                </a:ext>
              </a:extLst>
            </p:cNvPr>
            <p:cNvSpPr txBox="1"/>
            <p:nvPr/>
          </p:nvSpPr>
          <p:spPr>
            <a:xfrm>
              <a:off x="6381515" y="5318222"/>
              <a:ext cx="1538194" cy="29379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</a:rPr>
                <a:t>E-Commerce PPC</a:t>
              </a:r>
              <a:endParaRPr lang="en-US" sz="1200" noProof="0">
                <a:solidFill>
                  <a:schemeClr val="bg1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56CDD4E-FB40-60A7-23A6-9AD8E0737BF9}"/>
                </a:ext>
              </a:extLst>
            </p:cNvPr>
            <p:cNvSpPr txBox="1"/>
            <p:nvPr/>
          </p:nvSpPr>
          <p:spPr>
            <a:xfrm>
              <a:off x="8128242" y="5245464"/>
              <a:ext cx="2239349" cy="3689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Widen Consideration Set </a:t>
              </a:r>
            </a:p>
            <a:p>
              <a:pPr marL="171450" indent="-171450" algn="l" defTabSz="22860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High Visibility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6E40EBB-DE60-10B9-6E13-86D824467769}"/>
                </a:ext>
              </a:extLst>
            </p:cNvPr>
            <p:cNvSpPr txBox="1"/>
            <p:nvPr/>
          </p:nvSpPr>
          <p:spPr>
            <a:xfrm>
              <a:off x="6381515" y="5747272"/>
              <a:ext cx="1538194" cy="29379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</a:rPr>
                <a:t>Influencer Marketing</a:t>
              </a:r>
              <a:endParaRPr lang="en-US" sz="1200" noProof="0">
                <a:solidFill>
                  <a:schemeClr val="bg1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66C7AF6-67D8-A7F2-1246-8CF004A04303}"/>
                </a:ext>
              </a:extLst>
            </p:cNvPr>
            <p:cNvSpPr txBox="1"/>
            <p:nvPr/>
          </p:nvSpPr>
          <p:spPr>
            <a:xfrm>
              <a:off x="8128242" y="5690312"/>
              <a:ext cx="2239349" cy="3689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Video Collaterals </a:t>
              </a:r>
            </a:p>
            <a:p>
              <a:pPr marL="171450" indent="-171450" algn="l" defTabSz="22860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Content Creation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D0B70A9-4717-D3ED-A363-019AC893250B}"/>
                </a:ext>
              </a:extLst>
            </p:cNvPr>
            <p:cNvSpPr txBox="1"/>
            <p:nvPr/>
          </p:nvSpPr>
          <p:spPr>
            <a:xfrm>
              <a:off x="10388962" y="4775585"/>
              <a:ext cx="1160097" cy="3689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Bounce Rate</a:t>
              </a:r>
            </a:p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Traffic Rate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1A9855E-29C3-DAAC-B853-5BDD84C060F6}"/>
                </a:ext>
              </a:extLst>
            </p:cNvPr>
            <p:cNvSpPr txBox="1"/>
            <p:nvPr/>
          </p:nvSpPr>
          <p:spPr>
            <a:xfrm>
              <a:off x="10388961" y="5245464"/>
              <a:ext cx="1160099" cy="3689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</a:rPr>
                <a:t>Bounce Rate</a:t>
              </a:r>
            </a:p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</a:rPr>
                <a:t>CPS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6D94E69-C4C9-7D58-A14B-D15B3064BAAF}"/>
                </a:ext>
              </a:extLst>
            </p:cNvPr>
            <p:cNvSpPr txBox="1"/>
            <p:nvPr/>
          </p:nvSpPr>
          <p:spPr>
            <a:xfrm>
              <a:off x="10388962" y="5715196"/>
              <a:ext cx="665891" cy="3689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ROAS</a:t>
              </a:r>
            </a:p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CPA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D1ED8A2-E218-3DE0-B4AD-A3B90DD228EB}"/>
                </a:ext>
              </a:extLst>
            </p:cNvPr>
            <p:cNvSpPr txBox="1"/>
            <p:nvPr/>
          </p:nvSpPr>
          <p:spPr>
            <a:xfrm>
              <a:off x="10984524" y="5437048"/>
              <a:ext cx="468921" cy="16588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71450" indent="-171450" algn="l" defTabSz="22860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US" sz="1200" noProof="0">
                  <a:solidFill>
                    <a:schemeClr val="bg1"/>
                  </a:solidFill>
                </a:rPr>
                <a:t>CLV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573BF76-C53E-DEE1-5820-DA1EFCC85BF3}"/>
                </a:ext>
              </a:extLst>
            </p:cNvPr>
            <p:cNvSpPr txBox="1"/>
            <p:nvPr/>
          </p:nvSpPr>
          <p:spPr>
            <a:xfrm>
              <a:off x="6369173" y="3854280"/>
              <a:ext cx="1538194" cy="29379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1200" b="1" noProof="0">
                  <a:solidFill>
                    <a:schemeClr val="bg1"/>
                  </a:solidFill>
                </a:rPr>
                <a:t>Strategy </a:t>
              </a:r>
              <a:r>
                <a:rPr lang="en-US" sz="1200" b="1">
                  <a:solidFill>
                    <a:schemeClr val="bg1"/>
                  </a:solidFill>
                </a:rPr>
                <a:t>Actions</a:t>
              </a:r>
              <a:endParaRPr lang="en-US" sz="1200" b="1" noProof="0">
                <a:solidFill>
                  <a:schemeClr val="bg1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4EBF74D-C25F-8B96-FA59-C6481A02BBC8}"/>
                </a:ext>
              </a:extLst>
            </p:cNvPr>
            <p:cNvSpPr txBox="1"/>
            <p:nvPr/>
          </p:nvSpPr>
          <p:spPr>
            <a:xfrm>
              <a:off x="8170211" y="3845139"/>
              <a:ext cx="1984245" cy="29379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1200" b="1" noProof="0">
                  <a:solidFill>
                    <a:schemeClr val="bg1"/>
                  </a:solidFill>
                </a:rPr>
                <a:t>Achievable Target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784CBE9-CAA3-396B-8A8A-3C9FD0E3A25B}"/>
                </a:ext>
              </a:extLst>
            </p:cNvPr>
            <p:cNvSpPr txBox="1"/>
            <p:nvPr/>
          </p:nvSpPr>
          <p:spPr>
            <a:xfrm>
              <a:off x="10387810" y="3847680"/>
              <a:ext cx="1304234" cy="29379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1200" b="1" noProof="0">
                  <a:solidFill>
                    <a:schemeClr val="bg1"/>
                  </a:solidFill>
                </a:rPr>
                <a:t>KPIs To Track</a:t>
              </a: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B76084F7-C6B4-589B-46E5-E9A7C9B21881}"/>
              </a:ext>
            </a:extLst>
          </p:cNvPr>
          <p:cNvSpPr/>
          <p:nvPr/>
        </p:nvSpPr>
        <p:spPr>
          <a:xfrm>
            <a:off x="6121972" y="2129848"/>
            <a:ext cx="5689026" cy="1949746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81" name="Title 3">
            <a:extLst>
              <a:ext uri="{FF2B5EF4-FFF2-40B4-BE49-F238E27FC236}">
                <a16:creationId xmlns:a16="http://schemas.microsoft.com/office/drawing/2014/main" id="{6D897772-7437-C900-5A91-98FC20EA6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75" y="346527"/>
            <a:ext cx="10906125" cy="689420"/>
          </a:xfrm>
        </p:spPr>
        <p:txBody>
          <a:bodyPr/>
          <a:lstStyle/>
          <a:p>
            <a:r>
              <a:rPr lang="en-US" sz="2800" dirty="0"/>
              <a:t>Omni-platform Presence &amp; Digitized Marketing Funnel for a holistic strategy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9BC93295-277E-9A0A-4CE7-E75526B0E90F}"/>
              </a:ext>
            </a:extLst>
          </p:cNvPr>
          <p:cNvSpPr/>
          <p:nvPr/>
        </p:nvSpPr>
        <p:spPr>
          <a:xfrm>
            <a:off x="6571355" y="3235983"/>
            <a:ext cx="1115122" cy="331772"/>
          </a:xfrm>
          <a:prstGeom prst="round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200">
                <a:solidFill>
                  <a:schemeClr val="accent6">
                    <a:lumMod val="75000"/>
                  </a:schemeClr>
                </a:solidFill>
              </a:rPr>
              <a:t>Online SEO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A24A1BCD-47DC-E769-FB46-3FD15CA5863F}"/>
              </a:ext>
            </a:extLst>
          </p:cNvPr>
          <p:cNvSpPr/>
          <p:nvPr/>
        </p:nvSpPr>
        <p:spPr>
          <a:xfrm>
            <a:off x="6571355" y="3666175"/>
            <a:ext cx="1115122" cy="331772"/>
          </a:xfrm>
          <a:prstGeom prst="round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200">
                <a:solidFill>
                  <a:schemeClr val="accent6">
                    <a:lumMod val="75000"/>
                  </a:schemeClr>
                </a:solidFill>
              </a:rPr>
              <a:t>Offline SEO</a:t>
            </a: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B7C720DB-EC51-64C8-EF9A-30B6F8DEF08E}"/>
              </a:ext>
            </a:extLst>
          </p:cNvPr>
          <p:cNvGrpSpPr/>
          <p:nvPr/>
        </p:nvGrpSpPr>
        <p:grpSpPr>
          <a:xfrm>
            <a:off x="7850465" y="3237309"/>
            <a:ext cx="1116020" cy="848300"/>
            <a:chOff x="7927618" y="3237282"/>
            <a:chExt cx="1116020" cy="848300"/>
          </a:xfrm>
        </p:grpSpPr>
        <p:sp>
          <p:nvSpPr>
            <p:cNvPr id="122" name="Rounded Rectangle 121">
              <a:extLst>
                <a:ext uri="{FF2B5EF4-FFF2-40B4-BE49-F238E27FC236}">
                  <a16:creationId xmlns:a16="http://schemas.microsoft.com/office/drawing/2014/main" id="{45474442-E5CD-5615-A9E0-B30C42A853EE}"/>
                </a:ext>
              </a:extLst>
            </p:cNvPr>
            <p:cNvSpPr/>
            <p:nvPr/>
          </p:nvSpPr>
          <p:spPr>
            <a:xfrm>
              <a:off x="7928516" y="3237282"/>
              <a:ext cx="1115122" cy="331772"/>
            </a:xfrm>
            <a:prstGeom prst="roundRect">
              <a:avLst/>
            </a:prstGeom>
            <a:noFill/>
            <a:ln w="1905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US" sz="1200">
                  <a:solidFill>
                    <a:schemeClr val="accent6">
                      <a:lumMod val="75000"/>
                    </a:schemeClr>
                  </a:solidFill>
                </a:rPr>
                <a:t>Copymining</a:t>
              </a:r>
            </a:p>
          </p:txBody>
        </p:sp>
        <p:sp>
          <p:nvSpPr>
            <p:cNvPr id="124" name="Rounded Rectangle 123">
              <a:extLst>
                <a:ext uri="{FF2B5EF4-FFF2-40B4-BE49-F238E27FC236}">
                  <a16:creationId xmlns:a16="http://schemas.microsoft.com/office/drawing/2014/main" id="{7E13E6EE-8EE8-814B-0280-7184C52D18DA}"/>
                </a:ext>
              </a:extLst>
            </p:cNvPr>
            <p:cNvSpPr/>
            <p:nvPr/>
          </p:nvSpPr>
          <p:spPr>
            <a:xfrm>
              <a:off x="7927618" y="3654277"/>
              <a:ext cx="1115122" cy="331772"/>
            </a:xfrm>
            <a:prstGeom prst="roundRect">
              <a:avLst/>
            </a:prstGeom>
            <a:noFill/>
            <a:ln w="1905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sz="120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97E5ECE2-B808-1E57-6BE5-05CA67DF5A5C}"/>
                </a:ext>
              </a:extLst>
            </p:cNvPr>
            <p:cNvSpPr txBox="1"/>
            <p:nvPr/>
          </p:nvSpPr>
          <p:spPr>
            <a:xfrm>
              <a:off x="7957891" y="3753810"/>
              <a:ext cx="1033555" cy="33177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defTabSz="228600">
                <a:spcAft>
                  <a:spcPts val="1200"/>
                </a:spcAft>
              </a:pPr>
              <a:r>
                <a:rPr lang="en-US" sz="1200">
                  <a:solidFill>
                    <a:schemeClr val="accent6">
                      <a:lumMod val="75000"/>
                    </a:schemeClr>
                  </a:solidFill>
                </a:rPr>
                <a:t>Advertorials</a:t>
              </a:r>
            </a:p>
          </p:txBody>
        </p:sp>
      </p:grpSp>
      <p:sp>
        <p:nvSpPr>
          <p:cNvPr id="139" name="TextBox 138">
            <a:extLst>
              <a:ext uri="{FF2B5EF4-FFF2-40B4-BE49-F238E27FC236}">
                <a16:creationId xmlns:a16="http://schemas.microsoft.com/office/drawing/2014/main" id="{3CDC200B-3C92-6195-B0CD-E5E4AD7921EA}"/>
              </a:ext>
            </a:extLst>
          </p:cNvPr>
          <p:cNvSpPr txBox="1"/>
          <p:nvPr/>
        </p:nvSpPr>
        <p:spPr>
          <a:xfrm>
            <a:off x="1043561" y="6120899"/>
            <a:ext cx="4481274" cy="6691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400" i="1" dirty="0">
                <a:solidFill>
                  <a:schemeClr val="bg1"/>
                </a:solidFill>
              </a:rPr>
              <a:t>ABC company needs to increase its internet presence to increase penetration and gain a larger market share</a:t>
            </a:r>
            <a:endParaRPr lang="en-US" sz="1400" i="1" noProof="0" dirty="0">
              <a:solidFill>
                <a:schemeClr val="bg1"/>
              </a:solidFill>
            </a:endParaRPr>
          </a:p>
        </p:txBody>
      </p:sp>
      <p:sp>
        <p:nvSpPr>
          <p:cNvPr id="162" name="Rounded Rectangle 161">
            <a:extLst>
              <a:ext uri="{FF2B5EF4-FFF2-40B4-BE49-F238E27FC236}">
                <a16:creationId xmlns:a16="http://schemas.microsoft.com/office/drawing/2014/main" id="{93268524-285A-F73D-1C0A-D15BE2720ED4}"/>
              </a:ext>
            </a:extLst>
          </p:cNvPr>
          <p:cNvSpPr/>
          <p:nvPr/>
        </p:nvSpPr>
        <p:spPr>
          <a:xfrm>
            <a:off x="9172325" y="3240500"/>
            <a:ext cx="1115122" cy="331772"/>
          </a:xfrm>
          <a:prstGeom prst="round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9525" algn="ctr">
              <a:tabLst>
                <a:tab pos="927100" algn="l"/>
              </a:tabLst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Instagram Ads</a:t>
            </a:r>
          </a:p>
        </p:txBody>
      </p:sp>
      <p:sp>
        <p:nvSpPr>
          <p:cNvPr id="163" name="Rounded Rectangle 162">
            <a:extLst>
              <a:ext uri="{FF2B5EF4-FFF2-40B4-BE49-F238E27FC236}">
                <a16:creationId xmlns:a16="http://schemas.microsoft.com/office/drawing/2014/main" id="{A805D42F-634E-E38B-9DC9-6CED648C02C5}"/>
              </a:ext>
            </a:extLst>
          </p:cNvPr>
          <p:cNvSpPr/>
          <p:nvPr/>
        </p:nvSpPr>
        <p:spPr>
          <a:xfrm>
            <a:off x="9172325" y="3654304"/>
            <a:ext cx="1115122" cy="331772"/>
          </a:xfrm>
          <a:prstGeom prst="round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200">
                <a:solidFill>
                  <a:schemeClr val="accent6">
                    <a:lumMod val="75000"/>
                  </a:schemeClr>
                </a:solidFill>
              </a:rPr>
              <a:t>Video Ads</a:t>
            </a:r>
          </a:p>
        </p:txBody>
      </p:sp>
      <p:sp>
        <p:nvSpPr>
          <p:cNvPr id="166" name="Rounded Rectangle 165">
            <a:extLst>
              <a:ext uri="{FF2B5EF4-FFF2-40B4-BE49-F238E27FC236}">
                <a16:creationId xmlns:a16="http://schemas.microsoft.com/office/drawing/2014/main" id="{B6475D36-CE31-1591-5DA7-7541DD42C98E}"/>
              </a:ext>
            </a:extLst>
          </p:cNvPr>
          <p:cNvSpPr/>
          <p:nvPr/>
        </p:nvSpPr>
        <p:spPr>
          <a:xfrm>
            <a:off x="10478987" y="3235982"/>
            <a:ext cx="1115122" cy="331773"/>
          </a:xfrm>
          <a:prstGeom prst="round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Occasion Marketing</a:t>
            </a:r>
          </a:p>
        </p:txBody>
      </p:sp>
      <p:sp>
        <p:nvSpPr>
          <p:cNvPr id="169" name="Rounded Rectangle 168">
            <a:extLst>
              <a:ext uri="{FF2B5EF4-FFF2-40B4-BE49-F238E27FC236}">
                <a16:creationId xmlns:a16="http://schemas.microsoft.com/office/drawing/2014/main" id="{5A229614-C338-1829-F64B-DBF446BBF63F}"/>
              </a:ext>
            </a:extLst>
          </p:cNvPr>
          <p:cNvSpPr/>
          <p:nvPr/>
        </p:nvSpPr>
        <p:spPr>
          <a:xfrm>
            <a:off x="10478987" y="3654303"/>
            <a:ext cx="1115122" cy="331773"/>
          </a:xfrm>
          <a:prstGeom prst="round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Promotional Campaigns</a:t>
            </a:r>
          </a:p>
        </p:txBody>
      </p:sp>
    </p:spTree>
    <p:extLst>
      <p:ext uri="{BB962C8B-B14F-4D97-AF65-F5344CB8AC3E}">
        <p14:creationId xmlns:p14="http://schemas.microsoft.com/office/powerpoint/2010/main" val="1467506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58095E-DD11-56BA-B3BE-73E5664F6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36" y="859347"/>
            <a:ext cx="10906125" cy="403828"/>
          </a:xfrm>
        </p:spPr>
        <p:txBody>
          <a:bodyPr/>
          <a:lstStyle/>
          <a:p>
            <a:r>
              <a:rPr lang="en-IN" dirty="0"/>
              <a:t>Choosing the right thing for us and our customers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C458C7-7275-E32C-34D4-D6E8DD893EF2}"/>
              </a:ext>
            </a:extLst>
          </p:cNvPr>
          <p:cNvSpPr txBox="1"/>
          <p:nvPr/>
        </p:nvSpPr>
        <p:spPr>
          <a:xfrm>
            <a:off x="1035170" y="1837426"/>
            <a:ext cx="1250829" cy="3939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b="1" noProof="0">
                <a:solidFill>
                  <a:schemeClr val="bg1"/>
                </a:solidFill>
              </a:rPr>
              <a:t>Factors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76F482-D552-D667-1A68-2E5CDA367DC5}"/>
              </a:ext>
            </a:extLst>
          </p:cNvPr>
          <p:cNvSpPr txBox="1"/>
          <p:nvPr/>
        </p:nvSpPr>
        <p:spPr>
          <a:xfrm>
            <a:off x="2285999" y="1837426"/>
            <a:ext cx="1250829" cy="3939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b="1" noProof="0">
                <a:solidFill>
                  <a:schemeClr val="bg1"/>
                </a:solidFill>
              </a:rPr>
              <a:t>Comments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5077F4-7554-6A19-992A-6F3B33C70666}"/>
              </a:ext>
            </a:extLst>
          </p:cNvPr>
          <p:cNvSpPr txBox="1"/>
          <p:nvPr/>
        </p:nvSpPr>
        <p:spPr>
          <a:xfrm>
            <a:off x="3537612" y="1837426"/>
            <a:ext cx="1805828" cy="3939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b="1" noProof="0">
                <a:solidFill>
                  <a:schemeClr val="bg1"/>
                </a:solidFill>
              </a:rPr>
              <a:t>Volume Driven Growth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AF4CAA-6839-87BB-DE85-66C1C155C927}"/>
              </a:ext>
            </a:extLst>
          </p:cNvPr>
          <p:cNvSpPr txBox="1"/>
          <p:nvPr/>
        </p:nvSpPr>
        <p:spPr>
          <a:xfrm>
            <a:off x="5566158" y="1837426"/>
            <a:ext cx="1250829" cy="3939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b="1">
                <a:solidFill>
                  <a:schemeClr val="bg1"/>
                </a:solidFill>
              </a:rPr>
              <a:t>H</a:t>
            </a:r>
            <a:r>
              <a:rPr lang="en-IN" sz="1200" b="1" noProof="0" err="1">
                <a:solidFill>
                  <a:schemeClr val="bg1"/>
                </a:solidFill>
              </a:rPr>
              <a:t>ike</a:t>
            </a:r>
            <a:r>
              <a:rPr lang="en-IN" sz="1200" b="1" noProof="0">
                <a:solidFill>
                  <a:schemeClr val="bg1"/>
                </a:solidFill>
              </a:rPr>
              <a:t> Prices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91462F2-1F61-461A-8926-937E5589D9A9}"/>
              </a:ext>
            </a:extLst>
          </p:cNvPr>
          <p:cNvCxnSpPr>
            <a:cxnSpLocks/>
          </p:cNvCxnSpPr>
          <p:nvPr/>
        </p:nvCxnSpPr>
        <p:spPr>
          <a:xfrm>
            <a:off x="1888425" y="1837426"/>
            <a:ext cx="0" cy="274915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C128413-9288-B7B1-1354-8105EFFD1B73}"/>
              </a:ext>
            </a:extLst>
          </p:cNvPr>
          <p:cNvCxnSpPr>
            <a:cxnSpLocks/>
          </p:cNvCxnSpPr>
          <p:nvPr/>
        </p:nvCxnSpPr>
        <p:spPr>
          <a:xfrm>
            <a:off x="3464183" y="1837426"/>
            <a:ext cx="0" cy="274915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D893CE0-1939-CE8A-5202-E5D4BA766480}"/>
              </a:ext>
            </a:extLst>
          </p:cNvPr>
          <p:cNvCxnSpPr>
            <a:cxnSpLocks/>
          </p:cNvCxnSpPr>
          <p:nvPr/>
        </p:nvCxnSpPr>
        <p:spPr>
          <a:xfrm>
            <a:off x="5275731" y="1837426"/>
            <a:ext cx="0" cy="274915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BE942CD-BB7E-BAD3-D85C-44C1CE2174D8}"/>
              </a:ext>
            </a:extLst>
          </p:cNvPr>
          <p:cNvSpPr txBox="1"/>
          <p:nvPr/>
        </p:nvSpPr>
        <p:spPr>
          <a:xfrm>
            <a:off x="663067" y="2289262"/>
            <a:ext cx="1250829" cy="3939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noProof="0" dirty="0">
                <a:solidFill>
                  <a:schemeClr val="bg1"/>
                </a:solidFill>
              </a:rPr>
              <a:t>Price Sensitivity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71CB6B-7835-EFA7-E8CD-842DD7DAADC3}"/>
              </a:ext>
            </a:extLst>
          </p:cNvPr>
          <p:cNvSpPr txBox="1"/>
          <p:nvPr/>
        </p:nvSpPr>
        <p:spPr>
          <a:xfrm>
            <a:off x="637291" y="2788948"/>
            <a:ext cx="932182" cy="2290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noProof="0" dirty="0">
                <a:solidFill>
                  <a:schemeClr val="bg1"/>
                </a:solidFill>
              </a:rPr>
              <a:t>Market Size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734FB4-9B6D-B795-3AA8-AB45ACBA55E7}"/>
              </a:ext>
            </a:extLst>
          </p:cNvPr>
          <p:cNvSpPr txBox="1"/>
          <p:nvPr/>
        </p:nvSpPr>
        <p:spPr>
          <a:xfrm>
            <a:off x="663067" y="3221992"/>
            <a:ext cx="1250829" cy="24773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noProof="0" dirty="0">
                <a:solidFill>
                  <a:schemeClr val="bg1"/>
                </a:solidFill>
              </a:rPr>
              <a:t>Cost Optimisation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7041EA-32BF-FC17-D9E0-1341C02472A0}"/>
              </a:ext>
            </a:extLst>
          </p:cNvPr>
          <p:cNvSpPr txBox="1"/>
          <p:nvPr/>
        </p:nvSpPr>
        <p:spPr>
          <a:xfrm>
            <a:off x="163888" y="3714201"/>
            <a:ext cx="1741777" cy="2838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1" defTabSz="228600">
              <a:spcAft>
                <a:spcPts val="1200"/>
              </a:spcAft>
            </a:pPr>
            <a:r>
              <a:rPr lang="en-IN" sz="1200" noProof="0" dirty="0">
                <a:solidFill>
                  <a:schemeClr val="bg1"/>
                </a:solidFill>
              </a:rPr>
              <a:t>Competitors Prices</a:t>
            </a:r>
          </a:p>
          <a:p>
            <a:pPr lvl="1" defTabSz="228600">
              <a:spcAft>
                <a:spcPts val="1200"/>
              </a:spcAft>
            </a:pPr>
            <a:endParaRPr lang="en-IN" sz="1200" noProof="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78BF5D-9376-0998-F8D1-A563FA47DAD9}"/>
              </a:ext>
            </a:extLst>
          </p:cNvPr>
          <p:cNvSpPr txBox="1"/>
          <p:nvPr/>
        </p:nvSpPr>
        <p:spPr>
          <a:xfrm>
            <a:off x="157016" y="4237875"/>
            <a:ext cx="1741777" cy="2838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1" defTabSz="228600">
              <a:spcAft>
                <a:spcPts val="1200"/>
              </a:spcAft>
            </a:pPr>
            <a:r>
              <a:rPr lang="en-IN" sz="1200" noProof="0" dirty="0">
                <a:solidFill>
                  <a:schemeClr val="bg1"/>
                </a:solidFill>
              </a:rPr>
              <a:t>Brand Perception</a:t>
            </a:r>
          </a:p>
          <a:p>
            <a:pPr lvl="1" defTabSz="228600">
              <a:spcAft>
                <a:spcPts val="1200"/>
              </a:spcAft>
            </a:pPr>
            <a:endParaRPr lang="en-IN" sz="1200" noProof="0" dirty="0">
              <a:solidFill>
                <a:schemeClr val="bg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D27DA4E-E196-1C5C-7C1C-6ECC288FB43B}"/>
              </a:ext>
            </a:extLst>
          </p:cNvPr>
          <p:cNvCxnSpPr>
            <a:cxnSpLocks/>
          </p:cNvCxnSpPr>
          <p:nvPr/>
        </p:nvCxnSpPr>
        <p:spPr>
          <a:xfrm flipH="1">
            <a:off x="642936" y="2612222"/>
            <a:ext cx="5909412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24E01BD-44E6-D108-F344-5680664D5A5B}"/>
              </a:ext>
            </a:extLst>
          </p:cNvPr>
          <p:cNvCxnSpPr>
            <a:cxnSpLocks/>
          </p:cNvCxnSpPr>
          <p:nvPr/>
        </p:nvCxnSpPr>
        <p:spPr>
          <a:xfrm flipH="1">
            <a:off x="642936" y="3162654"/>
            <a:ext cx="5909412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48597C2-28DE-1D38-A6E8-4C969F11170B}"/>
              </a:ext>
            </a:extLst>
          </p:cNvPr>
          <p:cNvCxnSpPr>
            <a:cxnSpLocks/>
          </p:cNvCxnSpPr>
          <p:nvPr/>
        </p:nvCxnSpPr>
        <p:spPr>
          <a:xfrm flipH="1">
            <a:off x="642936" y="3632985"/>
            <a:ext cx="5909412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A50E772-2A41-A06F-1589-BB7AFF5F5A4D}"/>
              </a:ext>
            </a:extLst>
          </p:cNvPr>
          <p:cNvCxnSpPr>
            <a:cxnSpLocks/>
          </p:cNvCxnSpPr>
          <p:nvPr/>
        </p:nvCxnSpPr>
        <p:spPr>
          <a:xfrm flipH="1">
            <a:off x="642936" y="4121675"/>
            <a:ext cx="5909412" cy="287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632DFF4-BE33-551D-E98B-076FF3A85DD2}"/>
              </a:ext>
            </a:extLst>
          </p:cNvPr>
          <p:cNvCxnSpPr>
            <a:cxnSpLocks/>
          </p:cNvCxnSpPr>
          <p:nvPr/>
        </p:nvCxnSpPr>
        <p:spPr>
          <a:xfrm flipH="1">
            <a:off x="642936" y="4586585"/>
            <a:ext cx="5909412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C6B6D25-7066-EE2F-2600-6561A30D6DC0}"/>
              </a:ext>
            </a:extLst>
          </p:cNvPr>
          <p:cNvCxnSpPr>
            <a:cxnSpLocks/>
          </p:cNvCxnSpPr>
          <p:nvPr/>
        </p:nvCxnSpPr>
        <p:spPr>
          <a:xfrm flipH="1">
            <a:off x="729027" y="2134893"/>
            <a:ext cx="5835502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643CB78-30CB-76CE-1B1F-98E58C8DEBB7}"/>
              </a:ext>
            </a:extLst>
          </p:cNvPr>
          <p:cNvSpPr txBox="1"/>
          <p:nvPr/>
        </p:nvSpPr>
        <p:spPr>
          <a:xfrm>
            <a:off x="1913896" y="2203995"/>
            <a:ext cx="1747277" cy="3689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95250" indent="-95250" algn="l" defTabSz="2286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High price elasticity</a:t>
            </a:r>
          </a:p>
          <a:p>
            <a:pPr marL="95250" indent="-95250" algn="l" defTabSz="2286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Competitive Market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3E02F67-9662-04C6-272C-BD7E9F5064F2}"/>
              </a:ext>
            </a:extLst>
          </p:cNvPr>
          <p:cNvSpPr txBox="1"/>
          <p:nvPr/>
        </p:nvSpPr>
        <p:spPr>
          <a:xfrm>
            <a:off x="1969316" y="2610107"/>
            <a:ext cx="1413973" cy="50801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53975" indent="-53975" algn="l" defTabSz="2286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Large market</a:t>
            </a:r>
          </a:p>
          <a:p>
            <a:pPr marL="53975" indent="-53975" algn="l" defTabSz="2286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Can cater to other segments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4888B6A-A343-1C37-0007-9D200647C695}"/>
              </a:ext>
            </a:extLst>
          </p:cNvPr>
          <p:cNvSpPr txBox="1"/>
          <p:nvPr/>
        </p:nvSpPr>
        <p:spPr>
          <a:xfrm>
            <a:off x="1977563" y="3208123"/>
            <a:ext cx="1486620" cy="35683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1450" indent="-171450" algn="l" defTabSz="228600">
              <a:buFont typeface="Arial" panose="020B0604020202020204" pitchFamily="34" charset="0"/>
              <a:buChar char="•"/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FDFE891-1129-34D1-1C00-FB8123463477}"/>
              </a:ext>
            </a:extLst>
          </p:cNvPr>
          <p:cNvSpPr txBox="1"/>
          <p:nvPr/>
        </p:nvSpPr>
        <p:spPr>
          <a:xfrm>
            <a:off x="1933678" y="4161953"/>
            <a:ext cx="1785941" cy="35683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1450" indent="-171450" algn="l" defTabSz="2286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Premium products</a:t>
            </a:r>
          </a:p>
          <a:p>
            <a:pPr marL="171450" indent="-171450" algn="l" defTabSz="2286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Superior quality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091F2E4-522F-5B92-0473-606BEB675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701" y="2257476"/>
            <a:ext cx="254075" cy="25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">
            <a:extLst>
              <a:ext uri="{FF2B5EF4-FFF2-40B4-BE49-F238E27FC236}">
                <a16:creationId xmlns:a16="http://schemas.microsoft.com/office/drawing/2014/main" id="{57DE4697-11FD-8B89-226F-BB65BB8C9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700" y="2737075"/>
            <a:ext cx="254075" cy="25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2">
            <a:extLst>
              <a:ext uri="{FF2B5EF4-FFF2-40B4-BE49-F238E27FC236}">
                <a16:creationId xmlns:a16="http://schemas.microsoft.com/office/drawing/2014/main" id="{92D6D105-FF22-FF07-99D9-39CF5CDF5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700" y="3272937"/>
            <a:ext cx="254075" cy="25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>
            <a:extLst>
              <a:ext uri="{FF2B5EF4-FFF2-40B4-BE49-F238E27FC236}">
                <a16:creationId xmlns:a16="http://schemas.microsoft.com/office/drawing/2014/main" id="{15ECF389-6EA0-73D8-5230-AED8FFC87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1970" y="3743267"/>
            <a:ext cx="254075" cy="25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2">
            <a:extLst>
              <a:ext uri="{FF2B5EF4-FFF2-40B4-BE49-F238E27FC236}">
                <a16:creationId xmlns:a16="http://schemas.microsoft.com/office/drawing/2014/main" id="{1A5AF345-2AB8-7FEF-66C9-7B5B87A5A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7002" y="4230192"/>
            <a:ext cx="254075" cy="25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F4A54943-A83E-8CB3-7364-D39A3555425F}"/>
              </a:ext>
            </a:extLst>
          </p:cNvPr>
          <p:cNvSpPr txBox="1"/>
          <p:nvPr/>
        </p:nvSpPr>
        <p:spPr>
          <a:xfrm>
            <a:off x="1922905" y="3721690"/>
            <a:ext cx="1703640" cy="35683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36525" indent="-136525" algn="l" defTabSz="2286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Competitors might not increase prices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CF354D6-F66B-6BFB-7002-8159EB81B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1970" y="4236151"/>
            <a:ext cx="254075" cy="25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4">
            <a:extLst>
              <a:ext uri="{FF2B5EF4-FFF2-40B4-BE49-F238E27FC236}">
                <a16:creationId xmlns:a16="http://schemas.microsoft.com/office/drawing/2014/main" id="{3EABCE24-D297-489D-A88E-7D4CDE0F32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7001" y="3272937"/>
            <a:ext cx="254075" cy="25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">
            <a:extLst>
              <a:ext uri="{FF2B5EF4-FFF2-40B4-BE49-F238E27FC236}">
                <a16:creationId xmlns:a16="http://schemas.microsoft.com/office/drawing/2014/main" id="{3E4B10B8-880F-A86A-6CA1-46C2F9CE4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6998" y="2740049"/>
            <a:ext cx="254075" cy="25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4">
            <a:extLst>
              <a:ext uri="{FF2B5EF4-FFF2-40B4-BE49-F238E27FC236}">
                <a16:creationId xmlns:a16="http://schemas.microsoft.com/office/drawing/2014/main" id="{C97AE25F-F411-9E28-351A-2C7CE849C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6999" y="2255829"/>
            <a:ext cx="254075" cy="25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4">
            <a:extLst>
              <a:ext uri="{FF2B5EF4-FFF2-40B4-BE49-F238E27FC236}">
                <a16:creationId xmlns:a16="http://schemas.microsoft.com/office/drawing/2014/main" id="{C54A1010-497E-C9EF-409C-0B6D437F7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498" y="3786258"/>
            <a:ext cx="254075" cy="25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">
            <a:extLst>
              <a:ext uri="{FF2B5EF4-FFF2-40B4-BE49-F238E27FC236}">
                <a16:creationId xmlns:a16="http://schemas.microsoft.com/office/drawing/2014/main" id="{527A1AEA-17A0-4789-FCB5-8B9093169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955" y="6010201"/>
            <a:ext cx="230977" cy="230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4">
            <a:extLst>
              <a:ext uri="{FF2B5EF4-FFF2-40B4-BE49-F238E27FC236}">
                <a16:creationId xmlns:a16="http://schemas.microsoft.com/office/drawing/2014/main" id="{7416E22F-036D-EA76-4002-676CB58D64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0898" y="6030244"/>
            <a:ext cx="190890" cy="19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DE911588-F930-BDA9-0705-E3D228F4180F}"/>
              </a:ext>
            </a:extLst>
          </p:cNvPr>
          <p:cNvSpPr txBox="1"/>
          <p:nvPr/>
        </p:nvSpPr>
        <p:spPr>
          <a:xfrm>
            <a:off x="1594746" y="6011084"/>
            <a:ext cx="888520" cy="1270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noProof="0">
                <a:solidFill>
                  <a:schemeClr val="bg1"/>
                </a:solidFill>
              </a:rPr>
              <a:t>Favourable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8BFF37F-DA52-91E4-9E53-227542FB25AF}"/>
              </a:ext>
            </a:extLst>
          </p:cNvPr>
          <p:cNvSpPr txBox="1"/>
          <p:nvPr/>
        </p:nvSpPr>
        <p:spPr>
          <a:xfrm>
            <a:off x="2939028" y="6042294"/>
            <a:ext cx="1056725" cy="958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noProof="0" dirty="0">
                <a:solidFill>
                  <a:schemeClr val="bg1"/>
                </a:solidFill>
              </a:rPr>
              <a:t>Unfavourable</a:t>
            </a:r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F30E0B2C-BAD8-7AA4-01C6-CD25909692EA}"/>
              </a:ext>
            </a:extLst>
          </p:cNvPr>
          <p:cNvSpPr txBox="1"/>
          <p:nvPr/>
        </p:nvSpPr>
        <p:spPr>
          <a:xfrm>
            <a:off x="8827731" y="2046660"/>
            <a:ext cx="2681073" cy="5447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1450" indent="-171450" algn="l" defTabSz="2286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Continuous focus </a:t>
            </a:r>
            <a:r>
              <a:rPr lang="en-US" sz="1200">
                <a:solidFill>
                  <a:schemeClr val="bg1"/>
                </a:solidFill>
              </a:rPr>
              <a:t>on </a:t>
            </a:r>
            <a:r>
              <a:rPr lang="en-US" sz="1200" dirty="0">
                <a:solidFill>
                  <a:schemeClr val="bg1"/>
                </a:solidFill>
              </a:rPr>
              <a:t>innovation to optimize business processes</a:t>
            </a:r>
            <a:endParaRPr lang="en-US" sz="1200">
              <a:solidFill>
                <a:schemeClr val="bg1"/>
              </a:solidFill>
            </a:endParaRPr>
          </a:p>
          <a:p>
            <a:pPr marL="171450" indent="-171450" algn="l" defTabSz="2286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Leveraging IoT to automate processes 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B6682E80-08BE-54D4-1626-258A7043289B}"/>
              </a:ext>
            </a:extLst>
          </p:cNvPr>
          <p:cNvSpPr/>
          <p:nvPr/>
        </p:nvSpPr>
        <p:spPr>
          <a:xfrm>
            <a:off x="7841729" y="1598028"/>
            <a:ext cx="2742336" cy="3075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400" dirty="0"/>
              <a:t>Cost Optimisation strategies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D480D1-BC21-43DA-4304-51B807B118C1}"/>
              </a:ext>
            </a:extLst>
          </p:cNvPr>
          <p:cNvSpPr txBox="1"/>
          <p:nvPr/>
        </p:nvSpPr>
        <p:spPr>
          <a:xfrm>
            <a:off x="8838650" y="2828723"/>
            <a:ext cx="2929849" cy="5729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1450" indent="-171450" algn="l" defTabSz="2286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Negotiating contracts with suppliers</a:t>
            </a:r>
          </a:p>
          <a:p>
            <a:pPr marL="171450" indent="-171450" defTabSz="2286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Place bulk orders with suppliers at higher discounts</a:t>
            </a:r>
          </a:p>
          <a:p>
            <a:pPr marL="171450" indent="-171450" algn="l" defTabSz="22860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CD1E8E-4082-4506-D142-94355982AE14}"/>
              </a:ext>
            </a:extLst>
          </p:cNvPr>
          <p:cNvSpPr txBox="1"/>
          <p:nvPr/>
        </p:nvSpPr>
        <p:spPr>
          <a:xfrm>
            <a:off x="8844910" y="3548713"/>
            <a:ext cx="2670538" cy="5729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1450" indent="-171450" algn="l" defTabSz="22860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/>
                </a:solidFill>
              </a:rPr>
              <a:t>Optimising</a:t>
            </a:r>
            <a:r>
              <a:rPr lang="en-US" sz="1200" dirty="0">
                <a:solidFill>
                  <a:schemeClr val="bg1"/>
                </a:solidFill>
              </a:rPr>
              <a:t> inbound and outbound vehicle usage</a:t>
            </a:r>
          </a:p>
          <a:p>
            <a:pPr marL="171450" indent="-171450" algn="l" defTabSz="2286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Option for customers to collect/return orders at stores</a:t>
            </a:r>
          </a:p>
          <a:p>
            <a:pPr marL="171450" indent="-171450" algn="l" defTabSz="22860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C151A5-AE3B-420F-18D5-DEF1078E739C}"/>
              </a:ext>
            </a:extLst>
          </p:cNvPr>
          <p:cNvSpPr txBox="1"/>
          <p:nvPr/>
        </p:nvSpPr>
        <p:spPr>
          <a:xfrm>
            <a:off x="8838650" y="4421685"/>
            <a:ext cx="2420971" cy="5447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1450" indent="-171450" algn="l" defTabSz="2286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Focus on economies of scale</a:t>
            </a:r>
          </a:p>
          <a:p>
            <a:pPr marL="171450" indent="-171450" algn="l" defTabSz="2286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Lower dependence on raw materials</a:t>
            </a:r>
          </a:p>
          <a:p>
            <a:pPr marL="171450" indent="-171450" algn="l" defTabSz="22860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 marL="171450" indent="-171450" algn="l" defTabSz="22860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517EA3-AEC5-FF3A-D7D5-B1C843A2C207}"/>
              </a:ext>
            </a:extLst>
          </p:cNvPr>
          <p:cNvSpPr txBox="1"/>
          <p:nvPr/>
        </p:nvSpPr>
        <p:spPr>
          <a:xfrm>
            <a:off x="8834371" y="5256554"/>
            <a:ext cx="2681077" cy="4177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1450" indent="-171450" algn="l" defTabSz="2286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Use of analytics for focused campaigns</a:t>
            </a:r>
          </a:p>
          <a:p>
            <a:pPr marL="171450" indent="-171450" algn="l" defTabSz="2286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Improving retention rate and referrals</a:t>
            </a:r>
          </a:p>
          <a:p>
            <a:pPr marL="171450" indent="-171450" algn="l" defTabSz="22860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 marL="171450" indent="-171450" algn="l" defTabSz="22860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313DED2F-E676-EDA6-7203-179B6776AB27}"/>
              </a:ext>
            </a:extLst>
          </p:cNvPr>
          <p:cNvSpPr/>
          <p:nvPr/>
        </p:nvSpPr>
        <p:spPr>
          <a:xfrm>
            <a:off x="7671673" y="2159169"/>
            <a:ext cx="1031190" cy="279548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Innovation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C8B508-107E-0D40-55C0-7DA3DAE18CD6}"/>
              </a:ext>
            </a:extLst>
          </p:cNvPr>
          <p:cNvSpPr/>
          <p:nvPr/>
        </p:nvSpPr>
        <p:spPr>
          <a:xfrm>
            <a:off x="7659486" y="2939517"/>
            <a:ext cx="1043366" cy="254076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Procurement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67DB14-CE91-033D-645B-BEAF73BF3C20}"/>
              </a:ext>
            </a:extLst>
          </p:cNvPr>
          <p:cNvSpPr/>
          <p:nvPr/>
        </p:nvSpPr>
        <p:spPr>
          <a:xfrm>
            <a:off x="7668182" y="3694394"/>
            <a:ext cx="1043363" cy="293029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Logistics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A82900-F40D-36DC-C003-7E9A19198CE2}"/>
              </a:ext>
            </a:extLst>
          </p:cNvPr>
          <p:cNvSpPr/>
          <p:nvPr/>
        </p:nvSpPr>
        <p:spPr>
          <a:xfrm>
            <a:off x="7662912" y="4497212"/>
            <a:ext cx="1032826" cy="254077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Production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C7E6B14-B4E5-2831-364B-5811004DC088}"/>
              </a:ext>
            </a:extLst>
          </p:cNvPr>
          <p:cNvSpPr/>
          <p:nvPr/>
        </p:nvSpPr>
        <p:spPr>
          <a:xfrm>
            <a:off x="7659113" y="5271420"/>
            <a:ext cx="1081273" cy="36427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Marketing Costs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2C515D2-6795-FD11-8252-24CB95DAA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3901" y="2067822"/>
            <a:ext cx="495120" cy="495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Bulk buying ">
            <a:extLst>
              <a:ext uri="{FF2B5EF4-FFF2-40B4-BE49-F238E27FC236}">
                <a16:creationId xmlns:a16="http://schemas.microsoft.com/office/drawing/2014/main" id="{1A7E4554-5613-65AF-5C1D-23B4841D7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106" y="2813831"/>
            <a:ext cx="470055" cy="470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Logistics ">
            <a:extLst>
              <a:ext uri="{FF2B5EF4-FFF2-40B4-BE49-F238E27FC236}">
                <a16:creationId xmlns:a16="http://schemas.microsoft.com/office/drawing/2014/main" id="{4B49DD31-B5E4-8775-E696-65498C91D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4326" y="3640352"/>
            <a:ext cx="427323" cy="427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Production ">
            <a:extLst>
              <a:ext uri="{FF2B5EF4-FFF2-40B4-BE49-F238E27FC236}">
                <a16:creationId xmlns:a16="http://schemas.microsoft.com/office/drawing/2014/main" id="{5AC4BBC9-C694-28E4-8249-4E3E580DF7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4326" y="4395396"/>
            <a:ext cx="427323" cy="427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Social marketing ">
            <a:extLst>
              <a:ext uri="{FF2B5EF4-FFF2-40B4-BE49-F238E27FC236}">
                <a16:creationId xmlns:a16="http://schemas.microsoft.com/office/drawing/2014/main" id="{1CB4A0EF-F4B8-DF45-8CF6-66752D2DD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5073" y="5179185"/>
            <a:ext cx="470055" cy="470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C54DDE16-4A61-BA62-0DF6-B2D2E7F2F7FA}"/>
              </a:ext>
            </a:extLst>
          </p:cNvPr>
          <p:cNvGrpSpPr/>
          <p:nvPr/>
        </p:nvGrpSpPr>
        <p:grpSpPr>
          <a:xfrm>
            <a:off x="448006" y="4881040"/>
            <a:ext cx="6540978" cy="887331"/>
            <a:chOff x="448006" y="4881040"/>
            <a:chExt cx="6540978" cy="887331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42504C6-FEB1-A9BD-2C6D-FF47BD1A46EA}"/>
                </a:ext>
              </a:extLst>
            </p:cNvPr>
            <p:cNvSpPr/>
            <p:nvPr/>
          </p:nvSpPr>
          <p:spPr>
            <a:xfrm>
              <a:off x="570766" y="5326506"/>
              <a:ext cx="2173556" cy="41829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Opportunity to become the market leader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417355B-67EE-848B-0CD6-93EE9DBDB518}"/>
                </a:ext>
              </a:extLst>
            </p:cNvPr>
            <p:cNvSpPr/>
            <p:nvPr/>
          </p:nvSpPr>
          <p:spPr>
            <a:xfrm>
              <a:off x="2867188" y="5326506"/>
              <a:ext cx="2173556" cy="41829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Customers are price elastic and switch to other brands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9591D9D-5113-A144-CB7B-DC1C88435336}"/>
                </a:ext>
              </a:extLst>
            </p:cNvPr>
            <p:cNvSpPr/>
            <p:nvPr/>
          </p:nvSpPr>
          <p:spPr>
            <a:xfrm>
              <a:off x="5221921" y="5350080"/>
              <a:ext cx="1767063" cy="41829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ln w="0"/>
                  <a:solidFill>
                    <a:sysClr val="windowText" lastClr="0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Lack of clarity on decision of competitors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FF7C959-F626-488A-13AC-E4704C61E4E7}"/>
                </a:ext>
              </a:extLst>
            </p:cNvPr>
            <p:cNvSpPr/>
            <p:nvPr/>
          </p:nvSpPr>
          <p:spPr>
            <a:xfrm>
              <a:off x="2048753" y="4881040"/>
              <a:ext cx="3992320" cy="31025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r>
                <a:rPr lang="en-IN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ABC should focus on Volume driven growth:</a:t>
              </a:r>
            </a:p>
          </p:txBody>
        </p:sp>
        <p:pic>
          <p:nvPicPr>
            <p:cNvPr id="34" name="Picture 8" descr="Leadership ">
              <a:extLst>
                <a:ext uri="{FF2B5EF4-FFF2-40B4-BE49-F238E27FC236}">
                  <a16:creationId xmlns:a16="http://schemas.microsoft.com/office/drawing/2014/main" id="{7429E0C8-38DE-9D77-57C9-CA3CAA9DCC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8006" y="5353112"/>
              <a:ext cx="291867" cy="2918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12" descr="Magnifying glass ">
              <a:extLst>
                <a:ext uri="{FF2B5EF4-FFF2-40B4-BE49-F238E27FC236}">
                  <a16:creationId xmlns:a16="http://schemas.microsoft.com/office/drawing/2014/main" id="{BD4B9532-DB3C-E11F-B366-FD6CB710C9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01314" y="5403765"/>
              <a:ext cx="241214" cy="2412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2" name="Picture 10" descr="Peer to peer ">
            <a:extLst>
              <a:ext uri="{FF2B5EF4-FFF2-40B4-BE49-F238E27FC236}">
                <a16:creationId xmlns:a16="http://schemas.microsoft.com/office/drawing/2014/main" id="{58A6B0E8-D4EC-C6E9-7AB3-6A094FC35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9766" y="5380525"/>
            <a:ext cx="310252" cy="310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049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>
            <a:extLst>
              <a:ext uri="{FF2B5EF4-FFF2-40B4-BE49-F238E27FC236}">
                <a16:creationId xmlns:a16="http://schemas.microsoft.com/office/drawing/2014/main" id="{D82A0B4C-43FD-5186-668A-F1CF88ACD0C4}"/>
              </a:ext>
            </a:extLst>
          </p:cNvPr>
          <p:cNvGrpSpPr/>
          <p:nvPr/>
        </p:nvGrpSpPr>
        <p:grpSpPr>
          <a:xfrm>
            <a:off x="460474" y="4557914"/>
            <a:ext cx="4145210" cy="2104452"/>
            <a:chOff x="243754" y="496804"/>
            <a:chExt cx="4145210" cy="210445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A0D6632-BE18-5BF9-8E91-5BEE9C10B195}"/>
                </a:ext>
              </a:extLst>
            </p:cNvPr>
            <p:cNvSpPr/>
            <p:nvPr/>
          </p:nvSpPr>
          <p:spPr>
            <a:xfrm>
              <a:off x="932204" y="651229"/>
              <a:ext cx="3422383" cy="294317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“ Naya </a:t>
              </a:r>
              <a:r>
                <a:rPr lang="en-US" b="1" dirty="0" err="1">
                  <a:solidFill>
                    <a:schemeClr val="tx1"/>
                  </a:solidFill>
                </a:rPr>
                <a:t>Saaz</a:t>
              </a:r>
              <a:r>
                <a:rPr lang="en-US" b="1" dirty="0">
                  <a:solidFill>
                    <a:schemeClr val="tx1"/>
                  </a:solidFill>
                </a:rPr>
                <a:t>, Naya Rishta”</a:t>
              </a:r>
              <a:endParaRPr 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132555B-6C49-3E6D-796E-96F785E257A1}"/>
                </a:ext>
              </a:extLst>
            </p:cNvPr>
            <p:cNvSpPr txBox="1"/>
            <p:nvPr/>
          </p:nvSpPr>
          <p:spPr>
            <a:xfrm>
              <a:off x="1150361" y="947543"/>
              <a:ext cx="276449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i="1" dirty="0">
                  <a:solidFill>
                    <a:schemeClr val="bg1"/>
                  </a:solidFill>
                  <a:latin typeface="Carlito"/>
                </a:rPr>
                <a:t>What festivals mean to engaged Customers?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00E16FE-EA60-BB26-47DA-C3D3E17ABF7F}"/>
                </a:ext>
              </a:extLst>
            </p:cNvPr>
            <p:cNvSpPr txBox="1"/>
            <p:nvPr/>
          </p:nvSpPr>
          <p:spPr>
            <a:xfrm>
              <a:off x="483677" y="1435098"/>
              <a:ext cx="2879856" cy="1166158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  <a:prstDash val="dash"/>
            </a:ln>
          </p:spPr>
          <p:txBody>
            <a:bodyPr wrap="square" lIns="36000" tIns="54000" rIns="36000" bIns="3600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Concept</a:t>
              </a:r>
              <a:r>
                <a:rPr lang="en-US" sz="1200" dirty="0">
                  <a:solidFill>
                    <a:schemeClr val="bg1"/>
                  </a:solidFill>
                </a:rPr>
                <a:t>: Run campaigns like </a:t>
              </a:r>
              <a:r>
                <a:rPr lang="en-US" sz="1200" b="1" dirty="0">
                  <a:solidFill>
                    <a:schemeClr val="bg1"/>
                  </a:solidFill>
                </a:rPr>
                <a:t>“</a:t>
              </a:r>
              <a:r>
                <a:rPr lang="en-US" sz="1200" b="1" i="1" dirty="0">
                  <a:solidFill>
                    <a:schemeClr val="bg1"/>
                  </a:solidFill>
                </a:rPr>
                <a:t>This Diwali, Make a change”</a:t>
              </a:r>
              <a:r>
                <a:rPr lang="en-US" sz="1200" dirty="0">
                  <a:solidFill>
                    <a:schemeClr val="bg1"/>
                  </a:solidFill>
                </a:rPr>
                <a:t> &amp; </a:t>
              </a:r>
              <a:r>
                <a:rPr lang="en-US" sz="1200" b="1" dirty="0">
                  <a:solidFill>
                    <a:schemeClr val="bg1"/>
                  </a:solidFill>
                </a:rPr>
                <a:t>“</a:t>
              </a:r>
              <a:r>
                <a:rPr lang="en-US" sz="1200" b="1" i="1" dirty="0">
                  <a:solidFill>
                    <a:schemeClr val="bg1"/>
                  </a:solidFill>
                </a:rPr>
                <a:t>no to crackers”,</a:t>
              </a:r>
              <a:r>
                <a:rPr lang="en-US" sz="1200" dirty="0">
                  <a:solidFill>
                    <a:schemeClr val="bg1"/>
                  </a:solidFill>
                </a:rPr>
                <a:t> showing the family spreading a new air purifying bedsheets &amp; comforters in a home filled with </a:t>
              </a:r>
              <a:r>
                <a:rPr lang="en-US" sz="1200" dirty="0" err="1">
                  <a:solidFill>
                    <a:schemeClr val="bg1"/>
                  </a:solidFill>
                </a:rPr>
                <a:t>Diyas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A5380431-EE86-C7BD-D6D3-BDEA29978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18953" y="1409208"/>
              <a:ext cx="970011" cy="116615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59" name="Graphic 58" descr="Ribbon">
              <a:extLst>
                <a:ext uri="{FF2B5EF4-FFF2-40B4-BE49-F238E27FC236}">
                  <a16:creationId xmlns:a16="http://schemas.microsoft.com/office/drawing/2014/main" id="{6509355C-25C6-A715-55AA-C50F5B75B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43754" y="496804"/>
              <a:ext cx="936861" cy="914400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1D36A0A-3199-B9CE-A7ED-525493768282}"/>
              </a:ext>
            </a:extLst>
          </p:cNvPr>
          <p:cNvGrpSpPr/>
          <p:nvPr/>
        </p:nvGrpSpPr>
        <p:grpSpPr>
          <a:xfrm>
            <a:off x="514361" y="2429475"/>
            <a:ext cx="4091323" cy="2104544"/>
            <a:chOff x="6258463" y="3805912"/>
            <a:chExt cx="4091323" cy="2104544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27FF1D8-3DA1-CB3E-489B-4B40A7EB2A81}"/>
                </a:ext>
              </a:extLst>
            </p:cNvPr>
            <p:cNvSpPr/>
            <p:nvPr/>
          </p:nvSpPr>
          <p:spPr>
            <a:xfrm>
              <a:off x="6969849" y="3980005"/>
              <a:ext cx="3379937" cy="24308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#GoGreenWithABC</a:t>
              </a:r>
              <a:endParaRPr 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B2EB27F-8E94-09DC-C349-819FE1C15996}"/>
                </a:ext>
              </a:extLst>
            </p:cNvPr>
            <p:cNvSpPr txBox="1"/>
            <p:nvPr/>
          </p:nvSpPr>
          <p:spPr>
            <a:xfrm>
              <a:off x="7121060" y="4211776"/>
              <a:ext cx="3058670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en-US" sz="1200" i="1" dirty="0">
                  <a:solidFill>
                    <a:schemeClr val="bg1"/>
                  </a:solidFill>
                  <a:latin typeface="Carlito"/>
                </a:rPr>
                <a:t>Our customers are becoming environment conscious by the day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D77A6AD-EA02-9EB3-B635-470940E0C03E}"/>
                </a:ext>
              </a:extLst>
            </p:cNvPr>
            <p:cNvSpPr txBox="1"/>
            <p:nvPr/>
          </p:nvSpPr>
          <p:spPr>
            <a:xfrm>
              <a:off x="6417366" y="4744298"/>
              <a:ext cx="2793529" cy="1166158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  <a:prstDash val="dash"/>
            </a:ln>
          </p:spPr>
          <p:txBody>
            <a:bodyPr wrap="square" lIns="36000" tIns="54000" rIns="36000" bIns="3600" rtlCol="0" anchor="t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Concept</a:t>
              </a:r>
              <a:r>
                <a:rPr lang="en-US" sz="1200" dirty="0">
                  <a:solidFill>
                    <a:schemeClr val="bg1"/>
                  </a:solidFill>
                </a:rPr>
                <a:t>: Run social media campaigns with the hashtag #GoGreenWithABC to engage customers. With this, we will provide customers discount coupons if they return their used towels &amp; bedsheets</a:t>
              </a:r>
            </a:p>
          </p:txBody>
        </p:sp>
        <p:pic>
          <p:nvPicPr>
            <p:cNvPr id="58" name="Graphic 57" descr="Ribbon">
              <a:extLst>
                <a:ext uri="{FF2B5EF4-FFF2-40B4-BE49-F238E27FC236}">
                  <a16:creationId xmlns:a16="http://schemas.microsoft.com/office/drawing/2014/main" id="{A3676297-0910-F715-83CB-7B76418585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258463" y="3805912"/>
              <a:ext cx="936861" cy="914400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6C6A203B-005E-448F-3DD9-E03150365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92537" y="4720312"/>
              <a:ext cx="970011" cy="1190144"/>
            </a:xfrm>
            <a:prstGeom prst="rect">
              <a:avLst/>
            </a:prstGeom>
          </p:spPr>
        </p:pic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F5CCB62-C5D8-0B6F-C09F-CF76809D780E}"/>
              </a:ext>
            </a:extLst>
          </p:cNvPr>
          <p:cNvGrpSpPr/>
          <p:nvPr/>
        </p:nvGrpSpPr>
        <p:grpSpPr>
          <a:xfrm>
            <a:off x="605148" y="301036"/>
            <a:ext cx="4185921" cy="2104545"/>
            <a:chOff x="5545246" y="3761729"/>
            <a:chExt cx="4185921" cy="2104545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78C60A0-5EC1-AC36-C136-74F6EF5D2750}"/>
                </a:ext>
              </a:extLst>
            </p:cNvPr>
            <p:cNvGrpSpPr/>
            <p:nvPr/>
          </p:nvGrpSpPr>
          <p:grpSpPr>
            <a:xfrm>
              <a:off x="5545246" y="3761729"/>
              <a:ext cx="4084210" cy="914400"/>
              <a:chOff x="-65988" y="324081"/>
              <a:chExt cx="3986291" cy="914400"/>
            </a:xfrm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A3DA127A-0EA3-7DAC-F388-595D60D119D5}"/>
                  </a:ext>
                </a:extLst>
              </p:cNvPr>
              <p:cNvSpPr/>
              <p:nvPr/>
            </p:nvSpPr>
            <p:spPr>
              <a:xfrm>
                <a:off x="605928" y="504066"/>
                <a:ext cx="3314375" cy="231303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#AbHarGharABC</a:t>
                </a:r>
                <a:endParaRPr lang="en-US" sz="1800" b="1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72" name="Graphic 71" descr="Ribbon">
                <a:extLst>
                  <a:ext uri="{FF2B5EF4-FFF2-40B4-BE49-F238E27FC236}">
                    <a16:creationId xmlns:a16="http://schemas.microsoft.com/office/drawing/2014/main" id="{7655792D-EFBE-4AFA-EBAC-37673FE949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-65988" y="32408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89E6E04-17A2-8B4C-9139-46ABDF0511C9}"/>
                </a:ext>
              </a:extLst>
            </p:cNvPr>
            <p:cNvSpPr txBox="1"/>
            <p:nvPr/>
          </p:nvSpPr>
          <p:spPr>
            <a:xfrm>
              <a:off x="6249519" y="4238450"/>
              <a:ext cx="3481648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en-US" sz="1200" i="1" dirty="0">
                  <a:solidFill>
                    <a:schemeClr val="bg1"/>
                  </a:solidFill>
                  <a:latin typeface="Carlito"/>
                </a:rPr>
                <a:t>Tier 2 penetration of organized home textile brands is less due to less brand conscious consumers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46991D4-AA2E-C4BB-2132-365D7C9C650C}"/>
                </a:ext>
              </a:extLst>
            </p:cNvPr>
            <p:cNvSpPr txBox="1"/>
            <p:nvPr/>
          </p:nvSpPr>
          <p:spPr>
            <a:xfrm>
              <a:off x="5701190" y="4700116"/>
              <a:ext cx="2793529" cy="1166158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  <a:prstDash val="dash"/>
            </a:ln>
          </p:spPr>
          <p:txBody>
            <a:bodyPr wrap="square" lIns="36000" tIns="54000" rIns="36000" bIns="3600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Concept</a:t>
              </a:r>
              <a:r>
                <a:rPr lang="en-US" sz="1200" dirty="0">
                  <a:solidFill>
                    <a:schemeClr val="bg1"/>
                  </a:solidFill>
                </a:rPr>
                <a:t>: Pioneering the Hostess Group Demonstrations in order to tap into the power of women’s social networks for personalized demonstrations of bed and bath linen products.</a:t>
              </a:r>
            </a:p>
          </p:txBody>
        </p:sp>
        <p:pic>
          <p:nvPicPr>
            <p:cNvPr id="70" name="Picture 6" descr="GEM Global Entrepreneurship Monitor">
              <a:extLst>
                <a:ext uri="{FF2B5EF4-FFF2-40B4-BE49-F238E27FC236}">
                  <a16:creationId xmlns:a16="http://schemas.microsoft.com/office/drawing/2014/main" id="{C59686C9-7809-2E28-3BFA-2C3AC968CE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5771" y="4676130"/>
              <a:ext cx="970011" cy="11901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E36CBFEC-A672-28B9-68E6-7D377C21A79A}"/>
              </a:ext>
            </a:extLst>
          </p:cNvPr>
          <p:cNvSpPr txBox="1"/>
          <p:nvPr/>
        </p:nvSpPr>
        <p:spPr>
          <a:xfrm>
            <a:off x="7325735" y="380552"/>
            <a:ext cx="2788096" cy="3317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b="1" noProof="0" dirty="0">
                <a:solidFill>
                  <a:srgbClr val="7800C0"/>
                </a:solidFill>
              </a:rPr>
              <a:t>Strategic Initiatives</a:t>
            </a:r>
          </a:p>
        </p:txBody>
      </p:sp>
      <p:grpSp>
        <p:nvGrpSpPr>
          <p:cNvPr id="76" name="Group 75" descr="Sect of icons">
            <a:extLst>
              <a:ext uri="{FF2B5EF4-FFF2-40B4-BE49-F238E27FC236}">
                <a16:creationId xmlns:a16="http://schemas.microsoft.com/office/drawing/2014/main" id="{CDD29280-48FA-A5D0-32C9-79F9A151523F}"/>
              </a:ext>
            </a:extLst>
          </p:cNvPr>
          <p:cNvGrpSpPr/>
          <p:nvPr/>
        </p:nvGrpSpPr>
        <p:grpSpPr>
          <a:xfrm>
            <a:off x="5346800" y="1198454"/>
            <a:ext cx="2526135" cy="2462041"/>
            <a:chOff x="3912278" y="2157031"/>
            <a:chExt cx="4068365" cy="3965143"/>
          </a:xfrm>
        </p:grpSpPr>
        <p:grpSp>
          <p:nvGrpSpPr>
            <p:cNvPr id="79" name="Group 78" descr="Icons distribution">
              <a:extLst>
                <a:ext uri="{FF2B5EF4-FFF2-40B4-BE49-F238E27FC236}">
                  <a16:creationId xmlns:a16="http://schemas.microsoft.com/office/drawing/2014/main" id="{32CBD2FF-8151-59ED-C0F5-37681E22AD98}"/>
                </a:ext>
              </a:extLst>
            </p:cNvPr>
            <p:cNvGrpSpPr/>
            <p:nvPr/>
          </p:nvGrpSpPr>
          <p:grpSpPr>
            <a:xfrm>
              <a:off x="3912278" y="2157031"/>
              <a:ext cx="3881049" cy="3965143"/>
              <a:chOff x="3912278" y="2157031"/>
              <a:chExt cx="3881049" cy="3965143"/>
            </a:xfrm>
          </p:grpSpPr>
          <p:sp>
            <p:nvSpPr>
              <p:cNvPr id="82" name="Freeform 7">
                <a:extLst>
                  <a:ext uri="{FF2B5EF4-FFF2-40B4-BE49-F238E27FC236}">
                    <a16:creationId xmlns:a16="http://schemas.microsoft.com/office/drawing/2014/main" id="{7533344A-E6B6-CB46-C1B6-43C1B42E4520}"/>
                  </a:ext>
                </a:extLst>
              </p:cNvPr>
              <p:cNvSpPr>
                <a:spLocks/>
              </p:cNvSpPr>
              <p:nvPr/>
            </p:nvSpPr>
            <p:spPr bwMode="auto">
              <a:xfrm rot="2576790">
                <a:off x="5377927" y="2157031"/>
                <a:ext cx="2415400" cy="1978484"/>
              </a:xfrm>
              <a:custGeom>
                <a:avLst/>
                <a:gdLst>
                  <a:gd name="T0" fmla="*/ 2125 w 2125"/>
                  <a:gd name="T1" fmla="*/ 502 h 1739"/>
                  <a:gd name="T2" fmla="*/ 234 w 2125"/>
                  <a:gd name="T3" fmla="*/ 533 h 1739"/>
                  <a:gd name="T4" fmla="*/ 194 w 2125"/>
                  <a:gd name="T5" fmla="*/ 1371 h 1739"/>
                  <a:gd name="T6" fmla="*/ 1271 w 2125"/>
                  <a:gd name="T7" fmla="*/ 1108 h 1739"/>
                  <a:gd name="T8" fmla="*/ 2125 w 2125"/>
                  <a:gd name="T9" fmla="*/ 502 h 1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25" h="1739">
                    <a:moveTo>
                      <a:pt x="2125" y="502"/>
                    </a:moveTo>
                    <a:cubicBezTo>
                      <a:pt x="1392" y="0"/>
                      <a:pt x="709" y="125"/>
                      <a:pt x="234" y="533"/>
                    </a:cubicBezTo>
                    <a:cubicBezTo>
                      <a:pt x="0" y="733"/>
                      <a:pt x="7" y="1158"/>
                      <a:pt x="194" y="1371"/>
                    </a:cubicBezTo>
                    <a:cubicBezTo>
                      <a:pt x="515" y="1739"/>
                      <a:pt x="1002" y="1690"/>
                      <a:pt x="1271" y="1108"/>
                    </a:cubicBezTo>
                    <a:cubicBezTo>
                      <a:pt x="1477" y="662"/>
                      <a:pt x="1687" y="441"/>
                      <a:pt x="2125" y="5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48768" tIns="24384" rIns="48768" bIns="2438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8765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6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lt"/>
                </a:endParaRPr>
              </a:p>
            </p:txBody>
          </p:sp>
          <p:sp>
            <p:nvSpPr>
              <p:cNvPr id="83" name="Freeform 10">
                <a:extLst>
                  <a:ext uri="{FF2B5EF4-FFF2-40B4-BE49-F238E27FC236}">
                    <a16:creationId xmlns:a16="http://schemas.microsoft.com/office/drawing/2014/main" id="{B5DA28D7-77A4-2838-09F7-B187221B6838}"/>
                  </a:ext>
                </a:extLst>
              </p:cNvPr>
              <p:cNvSpPr>
                <a:spLocks/>
              </p:cNvSpPr>
              <p:nvPr/>
            </p:nvSpPr>
            <p:spPr bwMode="auto">
              <a:xfrm rot="2576790">
                <a:off x="4758222" y="2460843"/>
                <a:ext cx="675982" cy="900210"/>
              </a:xfrm>
              <a:custGeom>
                <a:avLst/>
                <a:gdLst>
                  <a:gd name="T0" fmla="*/ 594 w 594"/>
                  <a:gd name="T1" fmla="*/ 792 h 792"/>
                  <a:gd name="T2" fmla="*/ 293 w 594"/>
                  <a:gd name="T3" fmla="*/ 152 h 792"/>
                  <a:gd name="T4" fmla="*/ 29 w 594"/>
                  <a:gd name="T5" fmla="*/ 208 h 792"/>
                  <a:gd name="T6" fmla="*/ 36 w 594"/>
                  <a:gd name="T7" fmla="*/ 414 h 792"/>
                  <a:gd name="T8" fmla="*/ 594 w 594"/>
                  <a:gd name="T9" fmla="*/ 792 h 7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4" h="792">
                    <a:moveTo>
                      <a:pt x="594" y="792"/>
                    </a:moveTo>
                    <a:cubicBezTo>
                      <a:pt x="539" y="571"/>
                      <a:pt x="457" y="332"/>
                      <a:pt x="293" y="152"/>
                    </a:cubicBezTo>
                    <a:cubicBezTo>
                      <a:pt x="198" y="47"/>
                      <a:pt x="72" y="0"/>
                      <a:pt x="29" y="208"/>
                    </a:cubicBezTo>
                    <a:cubicBezTo>
                      <a:pt x="16" y="274"/>
                      <a:pt x="0" y="361"/>
                      <a:pt x="36" y="414"/>
                    </a:cubicBezTo>
                    <a:cubicBezTo>
                      <a:pt x="171" y="613"/>
                      <a:pt x="226" y="714"/>
                      <a:pt x="594" y="792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48768" tIns="24384" rIns="48768" bIns="2438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8765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6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lt"/>
                </a:endParaRPr>
              </a:p>
            </p:txBody>
          </p:sp>
          <p:sp>
            <p:nvSpPr>
              <p:cNvPr id="84" name="Freeform 12">
                <a:extLst>
                  <a:ext uri="{FF2B5EF4-FFF2-40B4-BE49-F238E27FC236}">
                    <a16:creationId xmlns:a16="http://schemas.microsoft.com/office/drawing/2014/main" id="{370347C6-FAB7-3157-9C6D-2B7CC8117531}"/>
                  </a:ext>
                </a:extLst>
              </p:cNvPr>
              <p:cNvSpPr>
                <a:spLocks/>
              </p:cNvSpPr>
              <p:nvPr/>
            </p:nvSpPr>
            <p:spPr bwMode="auto">
              <a:xfrm rot="2576790">
                <a:off x="5332932" y="4789931"/>
                <a:ext cx="649602" cy="954619"/>
              </a:xfrm>
              <a:custGeom>
                <a:avLst/>
                <a:gdLst>
                  <a:gd name="T0" fmla="*/ 463 w 572"/>
                  <a:gd name="T1" fmla="*/ 0 h 839"/>
                  <a:gd name="T2" fmla="*/ 47 w 572"/>
                  <a:gd name="T3" fmla="*/ 572 h 839"/>
                  <a:gd name="T4" fmla="*/ 223 w 572"/>
                  <a:gd name="T5" fmla="*/ 776 h 839"/>
                  <a:gd name="T6" fmla="*/ 400 w 572"/>
                  <a:gd name="T7" fmla="*/ 671 h 839"/>
                  <a:gd name="T8" fmla="*/ 463 w 572"/>
                  <a:gd name="T9" fmla="*/ 0 h 8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2" h="839">
                    <a:moveTo>
                      <a:pt x="463" y="0"/>
                    </a:moveTo>
                    <a:cubicBezTo>
                      <a:pt x="296" y="155"/>
                      <a:pt x="126" y="342"/>
                      <a:pt x="47" y="572"/>
                    </a:cubicBezTo>
                    <a:cubicBezTo>
                      <a:pt x="0" y="706"/>
                      <a:pt x="20" y="839"/>
                      <a:pt x="223" y="776"/>
                    </a:cubicBezTo>
                    <a:cubicBezTo>
                      <a:pt x="287" y="756"/>
                      <a:pt x="371" y="729"/>
                      <a:pt x="400" y="671"/>
                    </a:cubicBezTo>
                    <a:cubicBezTo>
                      <a:pt x="510" y="457"/>
                      <a:pt x="572" y="360"/>
                      <a:pt x="4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48768" tIns="24384" rIns="48768" bIns="2438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8765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6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lt"/>
                </a:endParaRPr>
              </a:p>
            </p:txBody>
          </p:sp>
          <p:sp>
            <p:nvSpPr>
              <p:cNvPr id="85" name="Freeform 9">
                <a:extLst>
                  <a:ext uri="{FF2B5EF4-FFF2-40B4-BE49-F238E27FC236}">
                    <a16:creationId xmlns:a16="http://schemas.microsoft.com/office/drawing/2014/main" id="{9D2E5D3B-EA7D-06AF-1C09-C379CA369E83}"/>
                  </a:ext>
                </a:extLst>
              </p:cNvPr>
              <p:cNvSpPr>
                <a:spLocks/>
              </p:cNvSpPr>
              <p:nvPr/>
            </p:nvSpPr>
            <p:spPr bwMode="auto">
              <a:xfrm rot="2576790">
                <a:off x="3912278" y="3091937"/>
                <a:ext cx="2207659" cy="1937266"/>
              </a:xfrm>
              <a:custGeom>
                <a:avLst/>
                <a:gdLst>
                  <a:gd name="T0" fmla="*/ 52 w 1942"/>
                  <a:gd name="T1" fmla="*/ 0 h 1702"/>
                  <a:gd name="T2" fmla="*/ 1052 w 1942"/>
                  <a:gd name="T3" fmla="*/ 1605 h 1702"/>
                  <a:gd name="T4" fmla="*/ 1792 w 1942"/>
                  <a:gd name="T5" fmla="*/ 1207 h 1702"/>
                  <a:gd name="T6" fmla="*/ 1011 w 1942"/>
                  <a:gd name="T7" fmla="*/ 419 h 1702"/>
                  <a:gd name="T8" fmla="*/ 52 w 1942"/>
                  <a:gd name="T9" fmla="*/ 0 h 1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42" h="1702">
                    <a:moveTo>
                      <a:pt x="52" y="0"/>
                    </a:moveTo>
                    <a:cubicBezTo>
                      <a:pt x="0" y="886"/>
                      <a:pt x="459" y="1408"/>
                      <a:pt x="1052" y="1605"/>
                    </a:cubicBezTo>
                    <a:cubicBezTo>
                      <a:pt x="1345" y="1702"/>
                      <a:pt x="1705" y="1477"/>
                      <a:pt x="1792" y="1207"/>
                    </a:cubicBezTo>
                    <a:cubicBezTo>
                      <a:pt x="1942" y="743"/>
                      <a:pt x="1649" y="350"/>
                      <a:pt x="1011" y="419"/>
                    </a:cubicBezTo>
                    <a:cubicBezTo>
                      <a:pt x="523" y="472"/>
                      <a:pt x="225" y="406"/>
                      <a:pt x="52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w="12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48768" tIns="24384" rIns="48768" bIns="2438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8765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6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lt"/>
                </a:endParaRPr>
              </a:p>
            </p:txBody>
          </p:sp>
          <p:sp>
            <p:nvSpPr>
              <p:cNvPr id="86" name="Freeform 11">
                <a:extLst>
                  <a:ext uri="{FF2B5EF4-FFF2-40B4-BE49-F238E27FC236}">
                    <a16:creationId xmlns:a16="http://schemas.microsoft.com/office/drawing/2014/main" id="{0E3B4A28-059C-D1DF-884B-F054EF194F03}"/>
                  </a:ext>
                </a:extLst>
              </p:cNvPr>
              <p:cNvSpPr>
                <a:spLocks/>
              </p:cNvSpPr>
              <p:nvPr/>
            </p:nvSpPr>
            <p:spPr bwMode="auto">
              <a:xfrm rot="2576790">
                <a:off x="5689702" y="3663907"/>
                <a:ext cx="1704794" cy="2458267"/>
              </a:xfrm>
              <a:custGeom>
                <a:avLst/>
                <a:gdLst>
                  <a:gd name="T0" fmla="*/ 461 w 1500"/>
                  <a:gd name="T1" fmla="*/ 2160 h 2160"/>
                  <a:gd name="T2" fmla="*/ 1387 w 1500"/>
                  <a:gd name="T3" fmla="*/ 511 h 2160"/>
                  <a:gd name="T4" fmla="*/ 682 w 1500"/>
                  <a:gd name="T5" fmla="*/ 54 h 2160"/>
                  <a:gd name="T6" fmla="*/ 367 w 1500"/>
                  <a:gd name="T7" fmla="*/ 1117 h 2160"/>
                  <a:gd name="T8" fmla="*/ 461 w 1500"/>
                  <a:gd name="T9" fmla="*/ 2160 h 2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00" h="2160">
                    <a:moveTo>
                      <a:pt x="461" y="2160"/>
                    </a:moveTo>
                    <a:cubicBezTo>
                      <a:pt x="1263" y="1780"/>
                      <a:pt x="1500" y="1126"/>
                      <a:pt x="1387" y="511"/>
                    </a:cubicBezTo>
                    <a:cubicBezTo>
                      <a:pt x="1331" y="208"/>
                      <a:pt x="961" y="0"/>
                      <a:pt x="682" y="54"/>
                    </a:cubicBezTo>
                    <a:cubicBezTo>
                      <a:pt x="203" y="146"/>
                      <a:pt x="0" y="591"/>
                      <a:pt x="367" y="1117"/>
                    </a:cubicBezTo>
                    <a:cubicBezTo>
                      <a:pt x="649" y="1520"/>
                      <a:pt x="733" y="1813"/>
                      <a:pt x="461" y="2160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 w="12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48768" tIns="24384" rIns="48768" bIns="2438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8765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6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lt"/>
                </a:endParaRPr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9D6E86A0-B0A0-B1F7-D4CD-34DD1952DE24}"/>
                  </a:ext>
                </a:extLst>
              </p:cNvPr>
              <p:cNvSpPr/>
              <p:nvPr/>
            </p:nvSpPr>
            <p:spPr>
              <a:xfrm>
                <a:off x="5533453" y="2297013"/>
                <a:ext cx="1259000" cy="1259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75299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2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59DFDB8B-E349-6786-0B5B-67A7563D1BC4}"/>
                  </a:ext>
                </a:extLst>
              </p:cNvPr>
              <p:cNvSpPr/>
              <p:nvPr/>
            </p:nvSpPr>
            <p:spPr>
              <a:xfrm>
                <a:off x="6279774" y="3919726"/>
                <a:ext cx="1259000" cy="1259000"/>
              </a:xfrm>
              <a:prstGeom prst="ellipse">
                <a:avLst/>
              </a:prstGeom>
              <a:solidFill>
                <a:schemeClr val="accent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75299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2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4D43B89A-6F05-71A5-030D-27F05F8D09FB}"/>
                  </a:ext>
                </a:extLst>
              </p:cNvPr>
              <p:cNvSpPr/>
              <p:nvPr/>
            </p:nvSpPr>
            <p:spPr>
              <a:xfrm>
                <a:off x="4451226" y="3741152"/>
                <a:ext cx="1259000" cy="1259000"/>
              </a:xfrm>
              <a:prstGeom prst="ellipse">
                <a:avLst/>
              </a:prstGeom>
              <a:solidFill>
                <a:schemeClr val="accent3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75299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2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grpSp>
            <p:nvGrpSpPr>
              <p:cNvPr id="92" name="Group 121">
                <a:extLst>
                  <a:ext uri="{FF2B5EF4-FFF2-40B4-BE49-F238E27FC236}">
                    <a16:creationId xmlns:a16="http://schemas.microsoft.com/office/drawing/2014/main" id="{C534A7E8-B721-038F-1CEF-60201B00DE1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6603274" y="4245367"/>
                <a:ext cx="612000" cy="607719"/>
                <a:chOff x="1549" y="3225"/>
                <a:chExt cx="429" cy="426"/>
              </a:xfrm>
              <a:solidFill>
                <a:sysClr val="window" lastClr="FFFFFF"/>
              </a:solidFill>
            </p:grpSpPr>
            <p:sp>
              <p:nvSpPr>
                <p:cNvPr id="107" name="Freeform 122">
                  <a:extLst>
                    <a:ext uri="{FF2B5EF4-FFF2-40B4-BE49-F238E27FC236}">
                      <a16:creationId xmlns:a16="http://schemas.microsoft.com/office/drawing/2014/main" id="{6CA1E118-3DCF-0D05-8179-2BDCE78ED2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60" y="3225"/>
                  <a:ext cx="118" cy="116"/>
                </a:xfrm>
                <a:custGeom>
                  <a:avLst/>
                  <a:gdLst>
                    <a:gd name="T0" fmla="*/ 7 w 80"/>
                    <a:gd name="T1" fmla="*/ 78 h 78"/>
                    <a:gd name="T2" fmla="*/ 3 w 80"/>
                    <a:gd name="T3" fmla="*/ 77 h 78"/>
                    <a:gd name="T4" fmla="*/ 3 w 80"/>
                    <a:gd name="T5" fmla="*/ 68 h 78"/>
                    <a:gd name="T6" fmla="*/ 69 w 80"/>
                    <a:gd name="T7" fmla="*/ 2 h 78"/>
                    <a:gd name="T8" fmla="*/ 77 w 80"/>
                    <a:gd name="T9" fmla="*/ 2 h 78"/>
                    <a:gd name="T10" fmla="*/ 77 w 80"/>
                    <a:gd name="T11" fmla="*/ 10 h 78"/>
                    <a:gd name="T12" fmla="*/ 11 w 80"/>
                    <a:gd name="T13" fmla="*/ 77 h 78"/>
                    <a:gd name="T14" fmla="*/ 7 w 80"/>
                    <a:gd name="T15" fmla="*/ 7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80" h="78">
                      <a:moveTo>
                        <a:pt x="7" y="78"/>
                      </a:moveTo>
                      <a:cubicBezTo>
                        <a:pt x="5" y="78"/>
                        <a:pt x="4" y="78"/>
                        <a:pt x="3" y="77"/>
                      </a:cubicBezTo>
                      <a:cubicBezTo>
                        <a:pt x="0" y="74"/>
                        <a:pt x="0" y="70"/>
                        <a:pt x="3" y="68"/>
                      </a:cubicBezTo>
                      <a:cubicBezTo>
                        <a:pt x="69" y="2"/>
                        <a:pt x="69" y="2"/>
                        <a:pt x="69" y="2"/>
                      </a:cubicBezTo>
                      <a:cubicBezTo>
                        <a:pt x="71" y="0"/>
                        <a:pt x="75" y="0"/>
                        <a:pt x="77" y="2"/>
                      </a:cubicBezTo>
                      <a:cubicBezTo>
                        <a:pt x="80" y="4"/>
                        <a:pt x="80" y="8"/>
                        <a:pt x="77" y="10"/>
                      </a:cubicBezTo>
                      <a:cubicBezTo>
                        <a:pt x="11" y="77"/>
                        <a:pt x="11" y="77"/>
                        <a:pt x="11" y="77"/>
                      </a:cubicBezTo>
                      <a:cubicBezTo>
                        <a:pt x="10" y="78"/>
                        <a:pt x="8" y="78"/>
                        <a:pt x="7" y="7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endParaRPr>
                </a:p>
              </p:txBody>
            </p:sp>
            <p:sp>
              <p:nvSpPr>
                <p:cNvPr id="108" name="Freeform 123">
                  <a:extLst>
                    <a:ext uri="{FF2B5EF4-FFF2-40B4-BE49-F238E27FC236}">
                      <a16:creationId xmlns:a16="http://schemas.microsoft.com/office/drawing/2014/main" id="{472520A9-F663-BA59-529D-2998F99989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9" y="3536"/>
                  <a:ext cx="117" cy="115"/>
                </a:xfrm>
                <a:custGeom>
                  <a:avLst/>
                  <a:gdLst>
                    <a:gd name="T0" fmla="*/ 7 w 79"/>
                    <a:gd name="T1" fmla="*/ 78 h 78"/>
                    <a:gd name="T2" fmla="*/ 3 w 79"/>
                    <a:gd name="T3" fmla="*/ 76 h 78"/>
                    <a:gd name="T4" fmla="*/ 3 w 79"/>
                    <a:gd name="T5" fmla="*/ 68 h 78"/>
                    <a:gd name="T6" fmla="*/ 69 w 79"/>
                    <a:gd name="T7" fmla="*/ 2 h 78"/>
                    <a:gd name="T8" fmla="*/ 77 w 79"/>
                    <a:gd name="T9" fmla="*/ 2 h 78"/>
                    <a:gd name="T10" fmla="*/ 77 w 79"/>
                    <a:gd name="T11" fmla="*/ 11 h 78"/>
                    <a:gd name="T12" fmla="*/ 11 w 79"/>
                    <a:gd name="T13" fmla="*/ 76 h 78"/>
                    <a:gd name="T14" fmla="*/ 7 w 79"/>
                    <a:gd name="T15" fmla="*/ 7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79" h="78">
                      <a:moveTo>
                        <a:pt x="7" y="78"/>
                      </a:moveTo>
                      <a:cubicBezTo>
                        <a:pt x="6" y="78"/>
                        <a:pt x="4" y="78"/>
                        <a:pt x="3" y="76"/>
                      </a:cubicBezTo>
                      <a:cubicBezTo>
                        <a:pt x="0" y="74"/>
                        <a:pt x="0" y="70"/>
                        <a:pt x="3" y="68"/>
                      </a:cubicBezTo>
                      <a:cubicBezTo>
                        <a:pt x="69" y="2"/>
                        <a:pt x="69" y="2"/>
                        <a:pt x="69" y="2"/>
                      </a:cubicBezTo>
                      <a:cubicBezTo>
                        <a:pt x="71" y="0"/>
                        <a:pt x="75" y="0"/>
                        <a:pt x="77" y="2"/>
                      </a:cubicBezTo>
                      <a:cubicBezTo>
                        <a:pt x="79" y="4"/>
                        <a:pt x="79" y="8"/>
                        <a:pt x="77" y="11"/>
                      </a:cubicBezTo>
                      <a:cubicBezTo>
                        <a:pt x="11" y="76"/>
                        <a:pt x="11" y="76"/>
                        <a:pt x="11" y="76"/>
                      </a:cubicBezTo>
                      <a:cubicBezTo>
                        <a:pt x="10" y="78"/>
                        <a:pt x="9" y="78"/>
                        <a:pt x="7" y="7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endParaRPr>
                </a:p>
              </p:txBody>
            </p:sp>
            <p:sp>
              <p:nvSpPr>
                <p:cNvPr id="109" name="Freeform 124">
                  <a:extLst>
                    <a:ext uri="{FF2B5EF4-FFF2-40B4-BE49-F238E27FC236}">
                      <a16:creationId xmlns:a16="http://schemas.microsoft.com/office/drawing/2014/main" id="{7DE70B95-2DCF-0E7D-759C-23144BE307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50" y="3545"/>
                  <a:ext cx="107" cy="106"/>
                </a:xfrm>
                <a:custGeom>
                  <a:avLst/>
                  <a:gdLst>
                    <a:gd name="T0" fmla="*/ 66 w 72"/>
                    <a:gd name="T1" fmla="*/ 72 h 72"/>
                    <a:gd name="T2" fmla="*/ 6 w 72"/>
                    <a:gd name="T3" fmla="*/ 72 h 72"/>
                    <a:gd name="T4" fmla="*/ 0 w 72"/>
                    <a:gd name="T5" fmla="*/ 66 h 72"/>
                    <a:gd name="T6" fmla="*/ 0 w 72"/>
                    <a:gd name="T7" fmla="*/ 6 h 72"/>
                    <a:gd name="T8" fmla="*/ 6 w 72"/>
                    <a:gd name="T9" fmla="*/ 0 h 72"/>
                    <a:gd name="T10" fmla="*/ 12 w 72"/>
                    <a:gd name="T11" fmla="*/ 6 h 72"/>
                    <a:gd name="T12" fmla="*/ 12 w 72"/>
                    <a:gd name="T13" fmla="*/ 60 h 72"/>
                    <a:gd name="T14" fmla="*/ 66 w 72"/>
                    <a:gd name="T15" fmla="*/ 60 h 72"/>
                    <a:gd name="T16" fmla="*/ 72 w 72"/>
                    <a:gd name="T17" fmla="*/ 66 h 72"/>
                    <a:gd name="T18" fmla="*/ 66 w 72"/>
                    <a:gd name="T19" fmla="*/ 72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2" h="72">
                      <a:moveTo>
                        <a:pt x="66" y="72"/>
                      </a:moveTo>
                      <a:cubicBezTo>
                        <a:pt x="6" y="72"/>
                        <a:pt x="6" y="72"/>
                        <a:pt x="6" y="72"/>
                      </a:cubicBezTo>
                      <a:cubicBezTo>
                        <a:pt x="3" y="72"/>
                        <a:pt x="0" y="69"/>
                        <a:pt x="0" y="6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9" y="0"/>
                        <a:pt x="12" y="3"/>
                        <a:pt x="12" y="6"/>
                      </a:cubicBezTo>
                      <a:cubicBezTo>
                        <a:pt x="12" y="60"/>
                        <a:pt x="12" y="60"/>
                        <a:pt x="12" y="60"/>
                      </a:cubicBezTo>
                      <a:cubicBezTo>
                        <a:pt x="66" y="60"/>
                        <a:pt x="66" y="60"/>
                        <a:pt x="66" y="60"/>
                      </a:cubicBezTo>
                      <a:cubicBezTo>
                        <a:pt x="69" y="60"/>
                        <a:pt x="72" y="63"/>
                        <a:pt x="72" y="66"/>
                      </a:cubicBezTo>
                      <a:cubicBezTo>
                        <a:pt x="72" y="69"/>
                        <a:pt x="69" y="72"/>
                        <a:pt x="66" y="7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endParaRPr>
                </a:p>
              </p:txBody>
            </p:sp>
            <p:sp>
              <p:nvSpPr>
                <p:cNvPr id="110" name="Freeform 125">
                  <a:extLst>
                    <a:ext uri="{FF2B5EF4-FFF2-40B4-BE49-F238E27FC236}">
                      <a16:creationId xmlns:a16="http://schemas.microsoft.com/office/drawing/2014/main" id="{FDA189E7-479B-FC68-4C8C-EB2F24BB5D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70" y="3225"/>
                  <a:ext cx="107" cy="107"/>
                </a:xfrm>
                <a:custGeom>
                  <a:avLst/>
                  <a:gdLst>
                    <a:gd name="T0" fmla="*/ 66 w 72"/>
                    <a:gd name="T1" fmla="*/ 72 h 72"/>
                    <a:gd name="T2" fmla="*/ 60 w 72"/>
                    <a:gd name="T3" fmla="*/ 66 h 72"/>
                    <a:gd name="T4" fmla="*/ 60 w 72"/>
                    <a:gd name="T5" fmla="*/ 12 h 72"/>
                    <a:gd name="T6" fmla="*/ 6 w 72"/>
                    <a:gd name="T7" fmla="*/ 12 h 72"/>
                    <a:gd name="T8" fmla="*/ 0 w 72"/>
                    <a:gd name="T9" fmla="*/ 6 h 72"/>
                    <a:gd name="T10" fmla="*/ 6 w 72"/>
                    <a:gd name="T11" fmla="*/ 0 h 72"/>
                    <a:gd name="T12" fmla="*/ 66 w 72"/>
                    <a:gd name="T13" fmla="*/ 0 h 72"/>
                    <a:gd name="T14" fmla="*/ 72 w 72"/>
                    <a:gd name="T15" fmla="*/ 6 h 72"/>
                    <a:gd name="T16" fmla="*/ 72 w 72"/>
                    <a:gd name="T17" fmla="*/ 66 h 72"/>
                    <a:gd name="T18" fmla="*/ 66 w 72"/>
                    <a:gd name="T19" fmla="*/ 72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2" h="72">
                      <a:moveTo>
                        <a:pt x="66" y="72"/>
                      </a:moveTo>
                      <a:cubicBezTo>
                        <a:pt x="63" y="72"/>
                        <a:pt x="60" y="69"/>
                        <a:pt x="60" y="66"/>
                      </a:cubicBezTo>
                      <a:cubicBezTo>
                        <a:pt x="60" y="12"/>
                        <a:pt x="60" y="12"/>
                        <a:pt x="60" y="12"/>
                      </a:cubicBezTo>
                      <a:cubicBezTo>
                        <a:pt x="6" y="12"/>
                        <a:pt x="6" y="12"/>
                        <a:pt x="6" y="12"/>
                      </a:cubicBezTo>
                      <a:cubicBezTo>
                        <a:pt x="3" y="12"/>
                        <a:pt x="0" y="9"/>
                        <a:pt x="0" y="6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66" y="0"/>
                        <a:pt x="66" y="0"/>
                        <a:pt x="66" y="0"/>
                      </a:cubicBezTo>
                      <a:cubicBezTo>
                        <a:pt x="69" y="0"/>
                        <a:pt x="72" y="3"/>
                        <a:pt x="72" y="6"/>
                      </a:cubicBezTo>
                      <a:cubicBezTo>
                        <a:pt x="72" y="66"/>
                        <a:pt x="72" y="66"/>
                        <a:pt x="72" y="66"/>
                      </a:cubicBezTo>
                      <a:cubicBezTo>
                        <a:pt x="72" y="69"/>
                        <a:pt x="69" y="72"/>
                        <a:pt x="66" y="7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endParaRPr>
                </a:p>
              </p:txBody>
            </p:sp>
            <p:sp>
              <p:nvSpPr>
                <p:cNvPr id="111" name="Freeform 126">
                  <a:extLst>
                    <a:ext uri="{FF2B5EF4-FFF2-40B4-BE49-F238E27FC236}">
                      <a16:creationId xmlns:a16="http://schemas.microsoft.com/office/drawing/2014/main" id="{7239E351-2641-4FB3-7443-EF4817F9EC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60" y="3534"/>
                  <a:ext cx="118" cy="117"/>
                </a:xfrm>
                <a:custGeom>
                  <a:avLst/>
                  <a:gdLst>
                    <a:gd name="T0" fmla="*/ 73 w 80"/>
                    <a:gd name="T1" fmla="*/ 79 h 79"/>
                    <a:gd name="T2" fmla="*/ 69 w 80"/>
                    <a:gd name="T3" fmla="*/ 77 h 79"/>
                    <a:gd name="T4" fmla="*/ 3 w 80"/>
                    <a:gd name="T5" fmla="*/ 11 h 79"/>
                    <a:gd name="T6" fmla="*/ 3 w 80"/>
                    <a:gd name="T7" fmla="*/ 3 h 79"/>
                    <a:gd name="T8" fmla="*/ 11 w 80"/>
                    <a:gd name="T9" fmla="*/ 3 h 79"/>
                    <a:gd name="T10" fmla="*/ 77 w 80"/>
                    <a:gd name="T11" fmla="*/ 69 h 79"/>
                    <a:gd name="T12" fmla="*/ 77 w 80"/>
                    <a:gd name="T13" fmla="*/ 77 h 79"/>
                    <a:gd name="T14" fmla="*/ 73 w 80"/>
                    <a:gd name="T15" fmla="*/ 79 h 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80" h="79">
                      <a:moveTo>
                        <a:pt x="73" y="79"/>
                      </a:moveTo>
                      <a:cubicBezTo>
                        <a:pt x="72" y="79"/>
                        <a:pt x="70" y="79"/>
                        <a:pt x="69" y="77"/>
                      </a:cubicBezTo>
                      <a:cubicBezTo>
                        <a:pt x="3" y="11"/>
                        <a:pt x="3" y="11"/>
                        <a:pt x="3" y="11"/>
                      </a:cubicBezTo>
                      <a:cubicBezTo>
                        <a:pt x="0" y="9"/>
                        <a:pt x="0" y="5"/>
                        <a:pt x="3" y="3"/>
                      </a:cubicBezTo>
                      <a:cubicBezTo>
                        <a:pt x="5" y="0"/>
                        <a:pt x="9" y="0"/>
                        <a:pt x="11" y="3"/>
                      </a:cubicBezTo>
                      <a:cubicBezTo>
                        <a:pt x="77" y="69"/>
                        <a:pt x="77" y="69"/>
                        <a:pt x="77" y="69"/>
                      </a:cubicBezTo>
                      <a:cubicBezTo>
                        <a:pt x="80" y="71"/>
                        <a:pt x="80" y="75"/>
                        <a:pt x="77" y="77"/>
                      </a:cubicBezTo>
                      <a:cubicBezTo>
                        <a:pt x="76" y="79"/>
                        <a:pt x="75" y="79"/>
                        <a:pt x="73" y="7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endParaRPr>
                </a:p>
              </p:txBody>
            </p:sp>
            <p:sp>
              <p:nvSpPr>
                <p:cNvPr id="112" name="Freeform 127">
                  <a:extLst>
                    <a:ext uri="{FF2B5EF4-FFF2-40B4-BE49-F238E27FC236}">
                      <a16:creationId xmlns:a16="http://schemas.microsoft.com/office/drawing/2014/main" id="{38C5ECAE-627D-822D-AEF4-675711924C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9" y="3225"/>
                  <a:ext cx="117" cy="116"/>
                </a:xfrm>
                <a:custGeom>
                  <a:avLst/>
                  <a:gdLst>
                    <a:gd name="T0" fmla="*/ 73 w 79"/>
                    <a:gd name="T1" fmla="*/ 78 h 78"/>
                    <a:gd name="T2" fmla="*/ 69 w 79"/>
                    <a:gd name="T3" fmla="*/ 76 h 78"/>
                    <a:gd name="T4" fmla="*/ 3 w 79"/>
                    <a:gd name="T5" fmla="*/ 10 h 78"/>
                    <a:gd name="T6" fmla="*/ 3 w 79"/>
                    <a:gd name="T7" fmla="*/ 2 h 78"/>
                    <a:gd name="T8" fmla="*/ 11 w 79"/>
                    <a:gd name="T9" fmla="*/ 2 h 78"/>
                    <a:gd name="T10" fmla="*/ 77 w 79"/>
                    <a:gd name="T11" fmla="*/ 68 h 78"/>
                    <a:gd name="T12" fmla="*/ 77 w 79"/>
                    <a:gd name="T13" fmla="*/ 76 h 78"/>
                    <a:gd name="T14" fmla="*/ 73 w 79"/>
                    <a:gd name="T15" fmla="*/ 7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79" h="78">
                      <a:moveTo>
                        <a:pt x="73" y="78"/>
                      </a:moveTo>
                      <a:cubicBezTo>
                        <a:pt x="71" y="78"/>
                        <a:pt x="70" y="77"/>
                        <a:pt x="69" y="76"/>
                      </a:cubicBezTo>
                      <a:cubicBezTo>
                        <a:pt x="3" y="10"/>
                        <a:pt x="3" y="10"/>
                        <a:pt x="3" y="10"/>
                      </a:cubicBezTo>
                      <a:cubicBezTo>
                        <a:pt x="0" y="8"/>
                        <a:pt x="0" y="4"/>
                        <a:pt x="3" y="2"/>
                      </a:cubicBezTo>
                      <a:cubicBezTo>
                        <a:pt x="5" y="0"/>
                        <a:pt x="9" y="0"/>
                        <a:pt x="11" y="2"/>
                      </a:cubicBezTo>
                      <a:cubicBezTo>
                        <a:pt x="77" y="68"/>
                        <a:pt x="77" y="68"/>
                        <a:pt x="77" y="68"/>
                      </a:cubicBezTo>
                      <a:cubicBezTo>
                        <a:pt x="79" y="70"/>
                        <a:pt x="79" y="74"/>
                        <a:pt x="77" y="76"/>
                      </a:cubicBezTo>
                      <a:cubicBezTo>
                        <a:pt x="76" y="77"/>
                        <a:pt x="74" y="78"/>
                        <a:pt x="73" y="7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endParaRPr>
                </a:p>
              </p:txBody>
            </p:sp>
            <p:sp>
              <p:nvSpPr>
                <p:cNvPr id="113" name="Freeform 128">
                  <a:extLst>
                    <a:ext uri="{FF2B5EF4-FFF2-40B4-BE49-F238E27FC236}">
                      <a16:creationId xmlns:a16="http://schemas.microsoft.com/office/drawing/2014/main" id="{0B0F4BCE-054B-66BE-C03C-A2D6F98FD2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50" y="3225"/>
                  <a:ext cx="107" cy="107"/>
                </a:xfrm>
                <a:custGeom>
                  <a:avLst/>
                  <a:gdLst>
                    <a:gd name="T0" fmla="*/ 6 w 72"/>
                    <a:gd name="T1" fmla="*/ 72 h 72"/>
                    <a:gd name="T2" fmla="*/ 0 w 72"/>
                    <a:gd name="T3" fmla="*/ 66 h 72"/>
                    <a:gd name="T4" fmla="*/ 0 w 72"/>
                    <a:gd name="T5" fmla="*/ 6 h 72"/>
                    <a:gd name="T6" fmla="*/ 6 w 72"/>
                    <a:gd name="T7" fmla="*/ 0 h 72"/>
                    <a:gd name="T8" fmla="*/ 66 w 72"/>
                    <a:gd name="T9" fmla="*/ 0 h 72"/>
                    <a:gd name="T10" fmla="*/ 72 w 72"/>
                    <a:gd name="T11" fmla="*/ 6 h 72"/>
                    <a:gd name="T12" fmla="*/ 66 w 72"/>
                    <a:gd name="T13" fmla="*/ 12 h 72"/>
                    <a:gd name="T14" fmla="*/ 12 w 72"/>
                    <a:gd name="T15" fmla="*/ 12 h 72"/>
                    <a:gd name="T16" fmla="*/ 12 w 72"/>
                    <a:gd name="T17" fmla="*/ 66 h 72"/>
                    <a:gd name="T18" fmla="*/ 6 w 72"/>
                    <a:gd name="T19" fmla="*/ 72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2" h="72">
                      <a:moveTo>
                        <a:pt x="6" y="72"/>
                      </a:moveTo>
                      <a:cubicBezTo>
                        <a:pt x="3" y="72"/>
                        <a:pt x="0" y="69"/>
                        <a:pt x="0" y="6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66" y="0"/>
                        <a:pt x="66" y="0"/>
                        <a:pt x="66" y="0"/>
                      </a:cubicBezTo>
                      <a:cubicBezTo>
                        <a:pt x="69" y="0"/>
                        <a:pt x="72" y="3"/>
                        <a:pt x="72" y="6"/>
                      </a:cubicBezTo>
                      <a:cubicBezTo>
                        <a:pt x="72" y="9"/>
                        <a:pt x="69" y="12"/>
                        <a:pt x="66" y="12"/>
                      </a:cubicBezTo>
                      <a:cubicBezTo>
                        <a:pt x="12" y="12"/>
                        <a:pt x="12" y="12"/>
                        <a:pt x="12" y="12"/>
                      </a:cubicBezTo>
                      <a:cubicBezTo>
                        <a:pt x="12" y="66"/>
                        <a:pt x="12" y="66"/>
                        <a:pt x="12" y="66"/>
                      </a:cubicBezTo>
                      <a:cubicBezTo>
                        <a:pt x="12" y="69"/>
                        <a:pt x="9" y="72"/>
                        <a:pt x="6" y="7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endParaRPr>
                </a:p>
              </p:txBody>
            </p:sp>
            <p:sp>
              <p:nvSpPr>
                <p:cNvPr id="114" name="Freeform 129">
                  <a:extLst>
                    <a:ext uri="{FF2B5EF4-FFF2-40B4-BE49-F238E27FC236}">
                      <a16:creationId xmlns:a16="http://schemas.microsoft.com/office/drawing/2014/main" id="{441B9829-DC4B-D75B-A8F7-C339853DD5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70" y="3545"/>
                  <a:ext cx="107" cy="106"/>
                </a:xfrm>
                <a:custGeom>
                  <a:avLst/>
                  <a:gdLst>
                    <a:gd name="T0" fmla="*/ 66 w 72"/>
                    <a:gd name="T1" fmla="*/ 72 h 72"/>
                    <a:gd name="T2" fmla="*/ 6 w 72"/>
                    <a:gd name="T3" fmla="*/ 72 h 72"/>
                    <a:gd name="T4" fmla="*/ 0 w 72"/>
                    <a:gd name="T5" fmla="*/ 66 h 72"/>
                    <a:gd name="T6" fmla="*/ 6 w 72"/>
                    <a:gd name="T7" fmla="*/ 60 h 72"/>
                    <a:gd name="T8" fmla="*/ 60 w 72"/>
                    <a:gd name="T9" fmla="*/ 60 h 72"/>
                    <a:gd name="T10" fmla="*/ 60 w 72"/>
                    <a:gd name="T11" fmla="*/ 6 h 72"/>
                    <a:gd name="T12" fmla="*/ 66 w 72"/>
                    <a:gd name="T13" fmla="*/ 0 h 72"/>
                    <a:gd name="T14" fmla="*/ 72 w 72"/>
                    <a:gd name="T15" fmla="*/ 6 h 72"/>
                    <a:gd name="T16" fmla="*/ 72 w 72"/>
                    <a:gd name="T17" fmla="*/ 66 h 72"/>
                    <a:gd name="T18" fmla="*/ 66 w 72"/>
                    <a:gd name="T19" fmla="*/ 72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2" h="72">
                      <a:moveTo>
                        <a:pt x="66" y="72"/>
                      </a:moveTo>
                      <a:cubicBezTo>
                        <a:pt x="6" y="72"/>
                        <a:pt x="6" y="72"/>
                        <a:pt x="6" y="72"/>
                      </a:cubicBezTo>
                      <a:cubicBezTo>
                        <a:pt x="3" y="72"/>
                        <a:pt x="0" y="69"/>
                        <a:pt x="0" y="66"/>
                      </a:cubicBezTo>
                      <a:cubicBezTo>
                        <a:pt x="0" y="63"/>
                        <a:pt x="3" y="60"/>
                        <a:pt x="6" y="60"/>
                      </a:cubicBezTo>
                      <a:cubicBezTo>
                        <a:pt x="60" y="60"/>
                        <a:pt x="60" y="60"/>
                        <a:pt x="60" y="60"/>
                      </a:cubicBezTo>
                      <a:cubicBezTo>
                        <a:pt x="60" y="6"/>
                        <a:pt x="60" y="6"/>
                        <a:pt x="60" y="6"/>
                      </a:cubicBezTo>
                      <a:cubicBezTo>
                        <a:pt x="60" y="3"/>
                        <a:pt x="63" y="0"/>
                        <a:pt x="66" y="0"/>
                      </a:cubicBezTo>
                      <a:cubicBezTo>
                        <a:pt x="69" y="0"/>
                        <a:pt x="72" y="3"/>
                        <a:pt x="72" y="6"/>
                      </a:cubicBezTo>
                      <a:cubicBezTo>
                        <a:pt x="72" y="66"/>
                        <a:pt x="72" y="66"/>
                        <a:pt x="72" y="66"/>
                      </a:cubicBezTo>
                      <a:cubicBezTo>
                        <a:pt x="72" y="69"/>
                        <a:pt x="69" y="72"/>
                        <a:pt x="66" y="7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endParaRPr>
                </a:p>
              </p:txBody>
            </p:sp>
            <p:sp>
              <p:nvSpPr>
                <p:cNvPr id="115" name="Freeform 130">
                  <a:extLst>
                    <a:ext uri="{FF2B5EF4-FFF2-40B4-BE49-F238E27FC236}">
                      <a16:creationId xmlns:a16="http://schemas.microsoft.com/office/drawing/2014/main" id="{E1076239-2EB8-C2BE-2DD6-3680598AD23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701" y="3278"/>
                  <a:ext cx="125" cy="125"/>
                </a:xfrm>
                <a:custGeom>
                  <a:avLst/>
                  <a:gdLst>
                    <a:gd name="T0" fmla="*/ 42 w 84"/>
                    <a:gd name="T1" fmla="*/ 84 h 84"/>
                    <a:gd name="T2" fmla="*/ 0 w 84"/>
                    <a:gd name="T3" fmla="*/ 42 h 84"/>
                    <a:gd name="T4" fmla="*/ 42 w 84"/>
                    <a:gd name="T5" fmla="*/ 0 h 84"/>
                    <a:gd name="T6" fmla="*/ 84 w 84"/>
                    <a:gd name="T7" fmla="*/ 42 h 84"/>
                    <a:gd name="T8" fmla="*/ 42 w 84"/>
                    <a:gd name="T9" fmla="*/ 84 h 84"/>
                    <a:gd name="T10" fmla="*/ 42 w 84"/>
                    <a:gd name="T11" fmla="*/ 12 h 84"/>
                    <a:gd name="T12" fmla="*/ 12 w 84"/>
                    <a:gd name="T13" fmla="*/ 42 h 84"/>
                    <a:gd name="T14" fmla="*/ 42 w 84"/>
                    <a:gd name="T15" fmla="*/ 72 h 84"/>
                    <a:gd name="T16" fmla="*/ 72 w 84"/>
                    <a:gd name="T17" fmla="*/ 42 h 84"/>
                    <a:gd name="T18" fmla="*/ 42 w 84"/>
                    <a:gd name="T19" fmla="*/ 12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4" h="84">
                      <a:moveTo>
                        <a:pt x="42" y="84"/>
                      </a:moveTo>
                      <a:cubicBezTo>
                        <a:pt x="19" y="84"/>
                        <a:pt x="0" y="65"/>
                        <a:pt x="0" y="42"/>
                      </a:cubicBezTo>
                      <a:cubicBezTo>
                        <a:pt x="0" y="19"/>
                        <a:pt x="19" y="0"/>
                        <a:pt x="42" y="0"/>
                      </a:cubicBezTo>
                      <a:cubicBezTo>
                        <a:pt x="65" y="0"/>
                        <a:pt x="84" y="19"/>
                        <a:pt x="84" y="42"/>
                      </a:cubicBezTo>
                      <a:cubicBezTo>
                        <a:pt x="84" y="65"/>
                        <a:pt x="65" y="84"/>
                        <a:pt x="42" y="84"/>
                      </a:cubicBezTo>
                      <a:close/>
                      <a:moveTo>
                        <a:pt x="42" y="12"/>
                      </a:moveTo>
                      <a:cubicBezTo>
                        <a:pt x="25" y="12"/>
                        <a:pt x="12" y="26"/>
                        <a:pt x="12" y="42"/>
                      </a:cubicBezTo>
                      <a:cubicBezTo>
                        <a:pt x="12" y="59"/>
                        <a:pt x="25" y="72"/>
                        <a:pt x="42" y="72"/>
                      </a:cubicBezTo>
                      <a:cubicBezTo>
                        <a:pt x="58" y="72"/>
                        <a:pt x="72" y="59"/>
                        <a:pt x="72" y="42"/>
                      </a:cubicBezTo>
                      <a:cubicBezTo>
                        <a:pt x="72" y="26"/>
                        <a:pt x="58" y="12"/>
                        <a:pt x="42" y="1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endParaRPr>
                </a:p>
              </p:txBody>
            </p:sp>
            <p:sp>
              <p:nvSpPr>
                <p:cNvPr id="116" name="Freeform 131">
                  <a:extLst>
                    <a:ext uri="{FF2B5EF4-FFF2-40B4-BE49-F238E27FC236}">
                      <a16:creationId xmlns:a16="http://schemas.microsoft.com/office/drawing/2014/main" id="{64AD0064-B160-9606-0266-5358D11F8E2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675" y="3420"/>
                  <a:ext cx="177" cy="196"/>
                </a:xfrm>
                <a:custGeom>
                  <a:avLst/>
                  <a:gdLst>
                    <a:gd name="T0" fmla="*/ 78 w 120"/>
                    <a:gd name="T1" fmla="*/ 132 h 132"/>
                    <a:gd name="T2" fmla="*/ 42 w 120"/>
                    <a:gd name="T3" fmla="*/ 132 h 132"/>
                    <a:gd name="T4" fmla="*/ 36 w 120"/>
                    <a:gd name="T5" fmla="*/ 126 h 132"/>
                    <a:gd name="T6" fmla="*/ 36 w 120"/>
                    <a:gd name="T7" fmla="*/ 78 h 132"/>
                    <a:gd name="T8" fmla="*/ 0 w 120"/>
                    <a:gd name="T9" fmla="*/ 6 h 132"/>
                    <a:gd name="T10" fmla="*/ 6 w 120"/>
                    <a:gd name="T11" fmla="*/ 0 h 132"/>
                    <a:gd name="T12" fmla="*/ 114 w 120"/>
                    <a:gd name="T13" fmla="*/ 0 h 132"/>
                    <a:gd name="T14" fmla="*/ 120 w 120"/>
                    <a:gd name="T15" fmla="*/ 6 h 132"/>
                    <a:gd name="T16" fmla="*/ 84 w 120"/>
                    <a:gd name="T17" fmla="*/ 78 h 132"/>
                    <a:gd name="T18" fmla="*/ 84 w 120"/>
                    <a:gd name="T19" fmla="*/ 126 h 132"/>
                    <a:gd name="T20" fmla="*/ 78 w 120"/>
                    <a:gd name="T21" fmla="*/ 132 h 132"/>
                    <a:gd name="T22" fmla="*/ 48 w 120"/>
                    <a:gd name="T23" fmla="*/ 120 h 132"/>
                    <a:gd name="T24" fmla="*/ 72 w 120"/>
                    <a:gd name="T25" fmla="*/ 120 h 132"/>
                    <a:gd name="T26" fmla="*/ 72 w 120"/>
                    <a:gd name="T27" fmla="*/ 74 h 132"/>
                    <a:gd name="T28" fmla="*/ 76 w 120"/>
                    <a:gd name="T29" fmla="*/ 69 h 132"/>
                    <a:gd name="T30" fmla="*/ 107 w 120"/>
                    <a:gd name="T31" fmla="*/ 12 h 132"/>
                    <a:gd name="T32" fmla="*/ 12 w 120"/>
                    <a:gd name="T33" fmla="*/ 12 h 132"/>
                    <a:gd name="T34" fmla="*/ 44 w 120"/>
                    <a:gd name="T35" fmla="*/ 69 h 132"/>
                    <a:gd name="T36" fmla="*/ 48 w 120"/>
                    <a:gd name="T37" fmla="*/ 74 h 132"/>
                    <a:gd name="T38" fmla="*/ 48 w 120"/>
                    <a:gd name="T39" fmla="*/ 120 h 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20" h="132">
                      <a:moveTo>
                        <a:pt x="78" y="132"/>
                      </a:moveTo>
                      <a:cubicBezTo>
                        <a:pt x="42" y="132"/>
                        <a:pt x="42" y="132"/>
                        <a:pt x="42" y="132"/>
                      </a:cubicBezTo>
                      <a:cubicBezTo>
                        <a:pt x="38" y="132"/>
                        <a:pt x="36" y="129"/>
                        <a:pt x="36" y="126"/>
                      </a:cubicBezTo>
                      <a:cubicBezTo>
                        <a:pt x="36" y="78"/>
                        <a:pt x="36" y="78"/>
                        <a:pt x="36" y="78"/>
                      </a:cubicBezTo>
                      <a:cubicBezTo>
                        <a:pt x="12" y="67"/>
                        <a:pt x="0" y="34"/>
                        <a:pt x="0" y="6"/>
                      </a:cubicBezTo>
                      <a:cubicBezTo>
                        <a:pt x="0" y="3"/>
                        <a:pt x="2" y="0"/>
                        <a:pt x="6" y="0"/>
                      </a:cubicBezTo>
                      <a:cubicBezTo>
                        <a:pt x="114" y="0"/>
                        <a:pt x="114" y="0"/>
                        <a:pt x="114" y="0"/>
                      </a:cubicBezTo>
                      <a:cubicBezTo>
                        <a:pt x="117" y="0"/>
                        <a:pt x="120" y="3"/>
                        <a:pt x="120" y="6"/>
                      </a:cubicBezTo>
                      <a:cubicBezTo>
                        <a:pt x="120" y="34"/>
                        <a:pt x="107" y="67"/>
                        <a:pt x="84" y="78"/>
                      </a:cubicBezTo>
                      <a:cubicBezTo>
                        <a:pt x="84" y="126"/>
                        <a:pt x="84" y="126"/>
                        <a:pt x="84" y="126"/>
                      </a:cubicBezTo>
                      <a:cubicBezTo>
                        <a:pt x="84" y="129"/>
                        <a:pt x="81" y="132"/>
                        <a:pt x="78" y="132"/>
                      </a:cubicBezTo>
                      <a:close/>
                      <a:moveTo>
                        <a:pt x="48" y="120"/>
                      </a:moveTo>
                      <a:cubicBezTo>
                        <a:pt x="72" y="120"/>
                        <a:pt x="72" y="120"/>
                        <a:pt x="72" y="120"/>
                      </a:cubicBezTo>
                      <a:cubicBezTo>
                        <a:pt x="72" y="74"/>
                        <a:pt x="72" y="74"/>
                        <a:pt x="72" y="74"/>
                      </a:cubicBezTo>
                      <a:cubicBezTo>
                        <a:pt x="72" y="72"/>
                        <a:pt x="73" y="70"/>
                        <a:pt x="76" y="69"/>
                      </a:cubicBezTo>
                      <a:cubicBezTo>
                        <a:pt x="94" y="62"/>
                        <a:pt x="106" y="36"/>
                        <a:pt x="107" y="12"/>
                      </a:cubicBezTo>
                      <a:cubicBezTo>
                        <a:pt x="12" y="12"/>
                        <a:pt x="12" y="12"/>
                        <a:pt x="12" y="12"/>
                      </a:cubicBezTo>
                      <a:cubicBezTo>
                        <a:pt x="14" y="36"/>
                        <a:pt x="25" y="62"/>
                        <a:pt x="44" y="69"/>
                      </a:cubicBezTo>
                      <a:cubicBezTo>
                        <a:pt x="46" y="70"/>
                        <a:pt x="48" y="72"/>
                        <a:pt x="48" y="74"/>
                      </a:cubicBezTo>
                      <a:lnTo>
                        <a:pt x="48" y="12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endParaRPr>
                </a:p>
              </p:txBody>
            </p:sp>
          </p:grpSp>
          <p:grpSp>
            <p:nvGrpSpPr>
              <p:cNvPr id="93" name="Group 33">
                <a:extLst>
                  <a:ext uri="{FF2B5EF4-FFF2-40B4-BE49-F238E27FC236}">
                    <a16:creationId xmlns:a16="http://schemas.microsoft.com/office/drawing/2014/main" id="{E51CE459-8D52-2CDE-5FD4-8429C661283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720726" y="4015760"/>
                <a:ext cx="720000" cy="709784"/>
                <a:chOff x="2404" y="445"/>
                <a:chExt cx="423" cy="417"/>
              </a:xfrm>
              <a:solidFill>
                <a:sysClr val="window" lastClr="FFFFFF"/>
              </a:solidFill>
            </p:grpSpPr>
            <p:sp>
              <p:nvSpPr>
                <p:cNvPr id="103" name="Freeform 34">
                  <a:extLst>
                    <a:ext uri="{FF2B5EF4-FFF2-40B4-BE49-F238E27FC236}">
                      <a16:creationId xmlns:a16="http://schemas.microsoft.com/office/drawing/2014/main" id="{404EB735-3676-7E12-8958-504A7D189B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404" y="445"/>
                  <a:ext cx="417" cy="417"/>
                </a:xfrm>
                <a:custGeom>
                  <a:avLst/>
                  <a:gdLst>
                    <a:gd name="T0" fmla="*/ 269 w 282"/>
                    <a:gd name="T1" fmla="*/ 134 h 282"/>
                    <a:gd name="T2" fmla="*/ 205 w 282"/>
                    <a:gd name="T3" fmla="*/ 135 h 282"/>
                    <a:gd name="T4" fmla="*/ 195 w 282"/>
                    <a:gd name="T5" fmla="*/ 74 h 282"/>
                    <a:gd name="T6" fmla="*/ 208 w 282"/>
                    <a:gd name="T7" fmla="*/ 72 h 282"/>
                    <a:gd name="T8" fmla="*/ 208 w 282"/>
                    <a:gd name="T9" fmla="*/ 60 h 282"/>
                    <a:gd name="T10" fmla="*/ 189 w 282"/>
                    <a:gd name="T11" fmla="*/ 59 h 282"/>
                    <a:gd name="T12" fmla="*/ 161 w 282"/>
                    <a:gd name="T13" fmla="*/ 14 h 282"/>
                    <a:gd name="T14" fmla="*/ 217 w 282"/>
                    <a:gd name="T15" fmla="*/ 38 h 282"/>
                    <a:gd name="T16" fmla="*/ 141 w 282"/>
                    <a:gd name="T17" fmla="*/ 0 h 282"/>
                    <a:gd name="T18" fmla="*/ 0 w 282"/>
                    <a:gd name="T19" fmla="*/ 138 h 282"/>
                    <a:gd name="T20" fmla="*/ 148 w 282"/>
                    <a:gd name="T21" fmla="*/ 282 h 282"/>
                    <a:gd name="T22" fmla="*/ 276 w 282"/>
                    <a:gd name="T23" fmla="*/ 102 h 282"/>
                    <a:gd name="T24" fmla="*/ 137 w 282"/>
                    <a:gd name="T25" fmla="*/ 13 h 282"/>
                    <a:gd name="T26" fmla="*/ 139 w 282"/>
                    <a:gd name="T27" fmla="*/ 13 h 282"/>
                    <a:gd name="T28" fmla="*/ 144 w 282"/>
                    <a:gd name="T29" fmla="*/ 13 h 282"/>
                    <a:gd name="T30" fmla="*/ 175 w 282"/>
                    <a:gd name="T31" fmla="*/ 58 h 282"/>
                    <a:gd name="T32" fmla="*/ 105 w 282"/>
                    <a:gd name="T33" fmla="*/ 60 h 282"/>
                    <a:gd name="T34" fmla="*/ 137 w 282"/>
                    <a:gd name="T35" fmla="*/ 13 h 282"/>
                    <a:gd name="T36" fmla="*/ 117 w 282"/>
                    <a:gd name="T37" fmla="*/ 15 h 282"/>
                    <a:gd name="T38" fmla="*/ 118 w 282"/>
                    <a:gd name="T39" fmla="*/ 17 h 282"/>
                    <a:gd name="T40" fmla="*/ 92 w 282"/>
                    <a:gd name="T41" fmla="*/ 60 h 282"/>
                    <a:gd name="T42" fmla="*/ 41 w 282"/>
                    <a:gd name="T43" fmla="*/ 58 h 282"/>
                    <a:gd name="T44" fmla="*/ 32 w 282"/>
                    <a:gd name="T45" fmla="*/ 209 h 282"/>
                    <a:gd name="T46" fmla="*/ 90 w 282"/>
                    <a:gd name="T47" fmla="*/ 207 h 282"/>
                    <a:gd name="T48" fmla="*/ 120 w 282"/>
                    <a:gd name="T49" fmla="*/ 266 h 282"/>
                    <a:gd name="T50" fmla="*/ 119 w 282"/>
                    <a:gd name="T51" fmla="*/ 268 h 282"/>
                    <a:gd name="T52" fmla="*/ 258 w 282"/>
                    <a:gd name="T53" fmla="*/ 194 h 282"/>
                    <a:gd name="T54" fmla="*/ 220 w 282"/>
                    <a:gd name="T55" fmla="*/ 195 h 282"/>
                    <a:gd name="T56" fmla="*/ 221 w 282"/>
                    <a:gd name="T57" fmla="*/ 207 h 282"/>
                    <a:gd name="T58" fmla="*/ 249 w 282"/>
                    <a:gd name="T59" fmla="*/ 209 h 282"/>
                    <a:gd name="T60" fmla="*/ 160 w 282"/>
                    <a:gd name="T61" fmla="*/ 268 h 282"/>
                    <a:gd name="T62" fmla="*/ 179 w 282"/>
                    <a:gd name="T63" fmla="*/ 237 h 282"/>
                    <a:gd name="T64" fmla="*/ 144 w 282"/>
                    <a:gd name="T65" fmla="*/ 269 h 282"/>
                    <a:gd name="T66" fmla="*/ 142 w 282"/>
                    <a:gd name="T67" fmla="*/ 270 h 282"/>
                    <a:gd name="T68" fmla="*/ 139 w 282"/>
                    <a:gd name="T69" fmla="*/ 270 h 282"/>
                    <a:gd name="T70" fmla="*/ 138 w 282"/>
                    <a:gd name="T71" fmla="*/ 269 h 282"/>
                    <a:gd name="T72" fmla="*/ 103 w 282"/>
                    <a:gd name="T73" fmla="*/ 207 h 282"/>
                    <a:gd name="T74" fmla="*/ 152 w 282"/>
                    <a:gd name="T75" fmla="*/ 203 h 282"/>
                    <a:gd name="T76" fmla="*/ 98 w 282"/>
                    <a:gd name="T77" fmla="*/ 195 h 282"/>
                    <a:gd name="T78" fmla="*/ 93 w 282"/>
                    <a:gd name="T79" fmla="*/ 174 h 282"/>
                    <a:gd name="T80" fmla="*/ 80 w 282"/>
                    <a:gd name="T81" fmla="*/ 175 h 282"/>
                    <a:gd name="T82" fmla="*/ 85 w 282"/>
                    <a:gd name="T83" fmla="*/ 195 h 282"/>
                    <a:gd name="T84" fmla="*/ 24 w 282"/>
                    <a:gd name="T85" fmla="*/ 194 h 282"/>
                    <a:gd name="T86" fmla="*/ 12 w 282"/>
                    <a:gd name="T87" fmla="*/ 147 h 282"/>
                    <a:gd name="T88" fmla="*/ 48 w 282"/>
                    <a:gd name="T89" fmla="*/ 141 h 282"/>
                    <a:gd name="T90" fmla="*/ 12 w 282"/>
                    <a:gd name="T91" fmla="*/ 135 h 282"/>
                    <a:gd name="T92" fmla="*/ 30 w 282"/>
                    <a:gd name="T93" fmla="*/ 73 h 282"/>
                    <a:gd name="T94" fmla="*/ 87 w 282"/>
                    <a:gd name="T95" fmla="*/ 72 h 282"/>
                    <a:gd name="T96" fmla="*/ 78 w 282"/>
                    <a:gd name="T97" fmla="*/ 107 h 282"/>
                    <a:gd name="T98" fmla="*/ 90 w 282"/>
                    <a:gd name="T99" fmla="*/ 107 h 282"/>
                    <a:gd name="T100" fmla="*/ 100 w 282"/>
                    <a:gd name="T101" fmla="*/ 72 h 282"/>
                    <a:gd name="T102" fmla="*/ 182 w 282"/>
                    <a:gd name="T103" fmla="*/ 73 h 282"/>
                    <a:gd name="T104" fmla="*/ 193 w 282"/>
                    <a:gd name="T105" fmla="*/ 135 h 282"/>
                    <a:gd name="T106" fmla="*/ 117 w 282"/>
                    <a:gd name="T107" fmla="*/ 141 h 282"/>
                    <a:gd name="T108" fmla="*/ 193 w 282"/>
                    <a:gd name="T109" fmla="*/ 147 h 282"/>
                    <a:gd name="T110" fmla="*/ 190 w 282"/>
                    <a:gd name="T111" fmla="*/ 169 h 282"/>
                    <a:gd name="T112" fmla="*/ 205 w 282"/>
                    <a:gd name="T113" fmla="*/ 149 h 282"/>
                    <a:gd name="T114" fmla="*/ 269 w 282"/>
                    <a:gd name="T115" fmla="*/ 147 h 2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282" h="282">
                      <a:moveTo>
                        <a:pt x="265" y="107"/>
                      </a:moveTo>
                      <a:cubicBezTo>
                        <a:pt x="267" y="116"/>
                        <a:pt x="269" y="125"/>
                        <a:pt x="269" y="134"/>
                      </a:cubicBezTo>
                      <a:cubicBezTo>
                        <a:pt x="269" y="135"/>
                        <a:pt x="269" y="135"/>
                        <a:pt x="269" y="135"/>
                      </a:cubicBezTo>
                      <a:cubicBezTo>
                        <a:pt x="205" y="135"/>
                        <a:pt x="205" y="135"/>
                        <a:pt x="205" y="135"/>
                      </a:cubicBezTo>
                      <a:cubicBezTo>
                        <a:pt x="205" y="134"/>
                        <a:pt x="205" y="134"/>
                        <a:pt x="205" y="134"/>
                      </a:cubicBezTo>
                      <a:cubicBezTo>
                        <a:pt x="205" y="113"/>
                        <a:pt x="202" y="93"/>
                        <a:pt x="195" y="74"/>
                      </a:cubicBezTo>
                      <a:cubicBezTo>
                        <a:pt x="195" y="72"/>
                        <a:pt x="195" y="72"/>
                        <a:pt x="195" y="72"/>
                      </a:cubicBezTo>
                      <a:cubicBezTo>
                        <a:pt x="208" y="72"/>
                        <a:pt x="208" y="72"/>
                        <a:pt x="208" y="72"/>
                      </a:cubicBezTo>
                      <a:cubicBezTo>
                        <a:pt x="208" y="70"/>
                        <a:pt x="208" y="68"/>
                        <a:pt x="208" y="65"/>
                      </a:cubicBezTo>
                      <a:cubicBezTo>
                        <a:pt x="208" y="64"/>
                        <a:pt x="208" y="62"/>
                        <a:pt x="208" y="60"/>
                      </a:cubicBezTo>
                      <a:cubicBezTo>
                        <a:pt x="190" y="60"/>
                        <a:pt x="190" y="60"/>
                        <a:pt x="190" y="60"/>
                      </a:cubicBezTo>
                      <a:cubicBezTo>
                        <a:pt x="189" y="59"/>
                        <a:pt x="189" y="59"/>
                        <a:pt x="189" y="59"/>
                      </a:cubicBezTo>
                      <a:cubicBezTo>
                        <a:pt x="183" y="44"/>
                        <a:pt x="174" y="30"/>
                        <a:pt x="164" y="17"/>
                      </a:cubicBezTo>
                      <a:cubicBezTo>
                        <a:pt x="161" y="14"/>
                        <a:pt x="161" y="14"/>
                        <a:pt x="161" y="14"/>
                      </a:cubicBezTo>
                      <a:cubicBezTo>
                        <a:pt x="165" y="15"/>
                        <a:pt x="165" y="15"/>
                        <a:pt x="165" y="15"/>
                      </a:cubicBezTo>
                      <a:cubicBezTo>
                        <a:pt x="184" y="18"/>
                        <a:pt x="202" y="26"/>
                        <a:pt x="217" y="38"/>
                      </a:cubicBezTo>
                      <a:cubicBezTo>
                        <a:pt x="220" y="35"/>
                        <a:pt x="223" y="32"/>
                        <a:pt x="227" y="29"/>
                      </a:cubicBezTo>
                      <a:cubicBezTo>
                        <a:pt x="203" y="11"/>
                        <a:pt x="173" y="0"/>
                        <a:pt x="141" y="0"/>
                      </a:cubicBezTo>
                      <a:cubicBezTo>
                        <a:pt x="139" y="0"/>
                        <a:pt x="137" y="0"/>
                        <a:pt x="135" y="0"/>
                      </a:cubicBezTo>
                      <a:cubicBezTo>
                        <a:pt x="58" y="3"/>
                        <a:pt x="0" y="63"/>
                        <a:pt x="0" y="138"/>
                      </a:cubicBezTo>
                      <a:cubicBezTo>
                        <a:pt x="0" y="215"/>
                        <a:pt x="58" y="278"/>
                        <a:pt x="133" y="282"/>
                      </a:cubicBezTo>
                      <a:cubicBezTo>
                        <a:pt x="148" y="282"/>
                        <a:pt x="148" y="282"/>
                        <a:pt x="148" y="282"/>
                      </a:cubicBezTo>
                      <a:cubicBezTo>
                        <a:pt x="223" y="278"/>
                        <a:pt x="282" y="216"/>
                        <a:pt x="282" y="141"/>
                      </a:cubicBezTo>
                      <a:cubicBezTo>
                        <a:pt x="282" y="127"/>
                        <a:pt x="280" y="114"/>
                        <a:pt x="276" y="102"/>
                      </a:cubicBezTo>
                      <a:cubicBezTo>
                        <a:pt x="273" y="104"/>
                        <a:pt x="269" y="106"/>
                        <a:pt x="265" y="107"/>
                      </a:cubicBezTo>
                      <a:close/>
                      <a:moveTo>
                        <a:pt x="137" y="13"/>
                      </a:moveTo>
                      <a:cubicBezTo>
                        <a:pt x="138" y="13"/>
                        <a:pt x="138" y="13"/>
                        <a:pt x="138" y="13"/>
                      </a:cubicBezTo>
                      <a:cubicBezTo>
                        <a:pt x="139" y="13"/>
                        <a:pt x="139" y="13"/>
                        <a:pt x="139" y="13"/>
                      </a:cubicBezTo>
                      <a:cubicBezTo>
                        <a:pt x="140" y="12"/>
                        <a:pt x="141" y="12"/>
                        <a:pt x="142" y="13"/>
                      </a:cubicBezTo>
                      <a:cubicBezTo>
                        <a:pt x="144" y="13"/>
                        <a:pt x="144" y="13"/>
                        <a:pt x="144" y="13"/>
                      </a:cubicBezTo>
                      <a:cubicBezTo>
                        <a:pt x="144" y="13"/>
                        <a:pt x="144" y="13"/>
                        <a:pt x="144" y="13"/>
                      </a:cubicBezTo>
                      <a:cubicBezTo>
                        <a:pt x="157" y="27"/>
                        <a:pt x="167" y="42"/>
                        <a:pt x="175" y="58"/>
                      </a:cubicBezTo>
                      <a:cubicBezTo>
                        <a:pt x="176" y="60"/>
                        <a:pt x="176" y="60"/>
                        <a:pt x="176" y="60"/>
                      </a:cubicBezTo>
                      <a:cubicBezTo>
                        <a:pt x="105" y="60"/>
                        <a:pt x="105" y="60"/>
                        <a:pt x="105" y="60"/>
                      </a:cubicBezTo>
                      <a:cubicBezTo>
                        <a:pt x="106" y="58"/>
                        <a:pt x="106" y="58"/>
                        <a:pt x="106" y="58"/>
                      </a:cubicBezTo>
                      <a:cubicBezTo>
                        <a:pt x="114" y="42"/>
                        <a:pt x="125" y="27"/>
                        <a:pt x="137" y="13"/>
                      </a:cubicBezTo>
                      <a:close/>
                      <a:moveTo>
                        <a:pt x="41" y="58"/>
                      </a:moveTo>
                      <a:cubicBezTo>
                        <a:pt x="60" y="35"/>
                        <a:pt x="87" y="20"/>
                        <a:pt x="117" y="15"/>
                      </a:cubicBezTo>
                      <a:cubicBezTo>
                        <a:pt x="120" y="14"/>
                        <a:pt x="120" y="14"/>
                        <a:pt x="120" y="14"/>
                      </a:cubicBezTo>
                      <a:cubicBezTo>
                        <a:pt x="118" y="17"/>
                        <a:pt x="118" y="17"/>
                        <a:pt x="118" y="17"/>
                      </a:cubicBezTo>
                      <a:cubicBezTo>
                        <a:pt x="107" y="30"/>
                        <a:pt x="99" y="44"/>
                        <a:pt x="92" y="59"/>
                      </a:cubicBezTo>
                      <a:cubicBezTo>
                        <a:pt x="92" y="60"/>
                        <a:pt x="92" y="60"/>
                        <a:pt x="92" y="60"/>
                      </a:cubicBezTo>
                      <a:cubicBezTo>
                        <a:pt x="39" y="60"/>
                        <a:pt x="39" y="60"/>
                        <a:pt x="39" y="60"/>
                      </a:cubicBezTo>
                      <a:lnTo>
                        <a:pt x="41" y="58"/>
                      </a:lnTo>
                      <a:close/>
                      <a:moveTo>
                        <a:pt x="119" y="268"/>
                      </a:moveTo>
                      <a:cubicBezTo>
                        <a:pt x="83" y="262"/>
                        <a:pt x="52" y="240"/>
                        <a:pt x="32" y="209"/>
                      </a:cubicBezTo>
                      <a:cubicBezTo>
                        <a:pt x="31" y="207"/>
                        <a:pt x="31" y="207"/>
                        <a:pt x="31" y="207"/>
                      </a:cubicBezTo>
                      <a:cubicBezTo>
                        <a:pt x="90" y="207"/>
                        <a:pt x="90" y="207"/>
                        <a:pt x="90" y="207"/>
                      </a:cubicBezTo>
                      <a:cubicBezTo>
                        <a:pt x="90" y="208"/>
                        <a:pt x="90" y="208"/>
                        <a:pt x="90" y="208"/>
                      </a:cubicBezTo>
                      <a:cubicBezTo>
                        <a:pt x="97" y="228"/>
                        <a:pt x="107" y="247"/>
                        <a:pt x="120" y="266"/>
                      </a:cubicBezTo>
                      <a:cubicBezTo>
                        <a:pt x="122" y="268"/>
                        <a:pt x="122" y="268"/>
                        <a:pt x="122" y="268"/>
                      </a:cubicBezTo>
                      <a:lnTo>
                        <a:pt x="119" y="268"/>
                      </a:lnTo>
                      <a:close/>
                      <a:moveTo>
                        <a:pt x="269" y="149"/>
                      </a:moveTo>
                      <a:cubicBezTo>
                        <a:pt x="268" y="164"/>
                        <a:pt x="264" y="180"/>
                        <a:pt x="258" y="194"/>
                      </a:cubicBezTo>
                      <a:cubicBezTo>
                        <a:pt x="257" y="195"/>
                        <a:pt x="257" y="195"/>
                        <a:pt x="257" y="195"/>
                      </a:cubicBezTo>
                      <a:cubicBezTo>
                        <a:pt x="220" y="195"/>
                        <a:pt x="220" y="195"/>
                        <a:pt x="220" y="195"/>
                      </a:cubicBezTo>
                      <a:cubicBezTo>
                        <a:pt x="220" y="198"/>
                        <a:pt x="221" y="200"/>
                        <a:pt x="221" y="203"/>
                      </a:cubicBezTo>
                      <a:cubicBezTo>
                        <a:pt x="221" y="205"/>
                        <a:pt x="221" y="206"/>
                        <a:pt x="221" y="207"/>
                      </a:cubicBezTo>
                      <a:cubicBezTo>
                        <a:pt x="251" y="207"/>
                        <a:pt x="251" y="207"/>
                        <a:pt x="251" y="207"/>
                      </a:cubicBezTo>
                      <a:cubicBezTo>
                        <a:pt x="249" y="209"/>
                        <a:pt x="249" y="209"/>
                        <a:pt x="249" y="209"/>
                      </a:cubicBezTo>
                      <a:cubicBezTo>
                        <a:pt x="230" y="240"/>
                        <a:pt x="198" y="262"/>
                        <a:pt x="163" y="268"/>
                      </a:cubicBezTo>
                      <a:cubicBezTo>
                        <a:pt x="160" y="268"/>
                        <a:pt x="160" y="268"/>
                        <a:pt x="160" y="268"/>
                      </a:cubicBezTo>
                      <a:cubicBezTo>
                        <a:pt x="161" y="266"/>
                        <a:pt x="161" y="266"/>
                        <a:pt x="161" y="266"/>
                      </a:cubicBezTo>
                      <a:cubicBezTo>
                        <a:pt x="168" y="256"/>
                        <a:pt x="174" y="246"/>
                        <a:pt x="179" y="237"/>
                      </a:cubicBezTo>
                      <a:cubicBezTo>
                        <a:pt x="175" y="236"/>
                        <a:pt x="171" y="234"/>
                        <a:pt x="167" y="232"/>
                      </a:cubicBezTo>
                      <a:cubicBezTo>
                        <a:pt x="161" y="244"/>
                        <a:pt x="153" y="257"/>
                        <a:pt x="144" y="269"/>
                      </a:cubicBezTo>
                      <a:cubicBezTo>
                        <a:pt x="143" y="270"/>
                        <a:pt x="143" y="270"/>
                        <a:pt x="143" y="270"/>
                      </a:cubicBezTo>
                      <a:cubicBezTo>
                        <a:pt x="142" y="270"/>
                        <a:pt x="142" y="270"/>
                        <a:pt x="142" y="270"/>
                      </a:cubicBezTo>
                      <a:cubicBezTo>
                        <a:pt x="141" y="270"/>
                        <a:pt x="141" y="270"/>
                        <a:pt x="140" y="270"/>
                      </a:cubicBezTo>
                      <a:cubicBezTo>
                        <a:pt x="140" y="270"/>
                        <a:pt x="140" y="270"/>
                        <a:pt x="139" y="270"/>
                      </a:cubicBezTo>
                      <a:cubicBezTo>
                        <a:pt x="138" y="270"/>
                        <a:pt x="138" y="270"/>
                        <a:pt x="138" y="270"/>
                      </a:cubicBezTo>
                      <a:cubicBezTo>
                        <a:pt x="138" y="269"/>
                        <a:pt x="138" y="269"/>
                        <a:pt x="138" y="269"/>
                      </a:cubicBezTo>
                      <a:cubicBezTo>
                        <a:pt x="123" y="249"/>
                        <a:pt x="112" y="229"/>
                        <a:pt x="103" y="209"/>
                      </a:cubicBezTo>
                      <a:cubicBezTo>
                        <a:pt x="103" y="207"/>
                        <a:pt x="103" y="207"/>
                        <a:pt x="103" y="207"/>
                      </a:cubicBezTo>
                      <a:cubicBezTo>
                        <a:pt x="152" y="207"/>
                        <a:pt x="152" y="207"/>
                        <a:pt x="152" y="207"/>
                      </a:cubicBezTo>
                      <a:cubicBezTo>
                        <a:pt x="152" y="206"/>
                        <a:pt x="152" y="205"/>
                        <a:pt x="152" y="203"/>
                      </a:cubicBezTo>
                      <a:cubicBezTo>
                        <a:pt x="152" y="200"/>
                        <a:pt x="152" y="198"/>
                        <a:pt x="153" y="195"/>
                      </a:cubicBezTo>
                      <a:cubicBezTo>
                        <a:pt x="98" y="195"/>
                        <a:pt x="98" y="195"/>
                        <a:pt x="98" y="195"/>
                      </a:cubicBezTo>
                      <a:cubicBezTo>
                        <a:pt x="98" y="194"/>
                        <a:pt x="98" y="194"/>
                        <a:pt x="98" y="194"/>
                      </a:cubicBezTo>
                      <a:cubicBezTo>
                        <a:pt x="96" y="187"/>
                        <a:pt x="94" y="181"/>
                        <a:pt x="93" y="174"/>
                      </a:cubicBezTo>
                      <a:cubicBezTo>
                        <a:pt x="89" y="175"/>
                        <a:pt x="86" y="175"/>
                        <a:pt x="83" y="175"/>
                      </a:cubicBezTo>
                      <a:cubicBezTo>
                        <a:pt x="82" y="175"/>
                        <a:pt x="81" y="175"/>
                        <a:pt x="80" y="175"/>
                      </a:cubicBezTo>
                      <a:cubicBezTo>
                        <a:pt x="82" y="181"/>
                        <a:pt x="83" y="187"/>
                        <a:pt x="85" y="193"/>
                      </a:cubicBezTo>
                      <a:cubicBezTo>
                        <a:pt x="85" y="195"/>
                        <a:pt x="85" y="195"/>
                        <a:pt x="85" y="195"/>
                      </a:cubicBezTo>
                      <a:cubicBezTo>
                        <a:pt x="25" y="195"/>
                        <a:pt x="25" y="195"/>
                        <a:pt x="25" y="195"/>
                      </a:cubicBezTo>
                      <a:cubicBezTo>
                        <a:pt x="24" y="194"/>
                        <a:pt x="24" y="194"/>
                        <a:pt x="24" y="194"/>
                      </a:cubicBezTo>
                      <a:cubicBezTo>
                        <a:pt x="18" y="180"/>
                        <a:pt x="14" y="165"/>
                        <a:pt x="12" y="149"/>
                      </a:cubicBezTo>
                      <a:cubicBezTo>
                        <a:pt x="12" y="147"/>
                        <a:pt x="12" y="147"/>
                        <a:pt x="12" y="147"/>
                      </a:cubicBezTo>
                      <a:cubicBezTo>
                        <a:pt x="49" y="147"/>
                        <a:pt x="49" y="147"/>
                        <a:pt x="49" y="147"/>
                      </a:cubicBezTo>
                      <a:cubicBezTo>
                        <a:pt x="49" y="145"/>
                        <a:pt x="48" y="143"/>
                        <a:pt x="48" y="141"/>
                      </a:cubicBezTo>
                      <a:cubicBezTo>
                        <a:pt x="48" y="139"/>
                        <a:pt x="49" y="137"/>
                        <a:pt x="49" y="135"/>
                      </a:cubicBezTo>
                      <a:cubicBezTo>
                        <a:pt x="12" y="135"/>
                        <a:pt x="12" y="135"/>
                        <a:pt x="12" y="135"/>
                      </a:cubicBezTo>
                      <a:cubicBezTo>
                        <a:pt x="12" y="134"/>
                        <a:pt x="12" y="134"/>
                        <a:pt x="12" y="134"/>
                      </a:cubicBezTo>
                      <a:cubicBezTo>
                        <a:pt x="13" y="112"/>
                        <a:pt x="19" y="91"/>
                        <a:pt x="30" y="73"/>
                      </a:cubicBezTo>
                      <a:cubicBezTo>
                        <a:pt x="30" y="72"/>
                        <a:pt x="30" y="72"/>
                        <a:pt x="30" y="72"/>
                      </a:cubicBezTo>
                      <a:cubicBezTo>
                        <a:pt x="87" y="72"/>
                        <a:pt x="87" y="72"/>
                        <a:pt x="87" y="72"/>
                      </a:cubicBezTo>
                      <a:cubicBezTo>
                        <a:pt x="86" y="74"/>
                        <a:pt x="86" y="74"/>
                        <a:pt x="86" y="74"/>
                      </a:cubicBezTo>
                      <a:cubicBezTo>
                        <a:pt x="83" y="85"/>
                        <a:pt x="80" y="96"/>
                        <a:pt x="78" y="107"/>
                      </a:cubicBezTo>
                      <a:cubicBezTo>
                        <a:pt x="80" y="107"/>
                        <a:pt x="81" y="107"/>
                        <a:pt x="83" y="107"/>
                      </a:cubicBezTo>
                      <a:cubicBezTo>
                        <a:pt x="85" y="107"/>
                        <a:pt x="88" y="107"/>
                        <a:pt x="90" y="107"/>
                      </a:cubicBezTo>
                      <a:cubicBezTo>
                        <a:pt x="92" y="96"/>
                        <a:pt x="95" y="84"/>
                        <a:pt x="100" y="73"/>
                      </a:cubicBezTo>
                      <a:cubicBezTo>
                        <a:pt x="100" y="72"/>
                        <a:pt x="100" y="72"/>
                        <a:pt x="100" y="72"/>
                      </a:cubicBezTo>
                      <a:cubicBezTo>
                        <a:pt x="181" y="72"/>
                        <a:pt x="181" y="72"/>
                        <a:pt x="181" y="72"/>
                      </a:cubicBezTo>
                      <a:cubicBezTo>
                        <a:pt x="182" y="73"/>
                        <a:pt x="182" y="73"/>
                        <a:pt x="182" y="73"/>
                      </a:cubicBezTo>
                      <a:cubicBezTo>
                        <a:pt x="189" y="93"/>
                        <a:pt x="193" y="113"/>
                        <a:pt x="193" y="134"/>
                      </a:cubicBezTo>
                      <a:cubicBezTo>
                        <a:pt x="193" y="135"/>
                        <a:pt x="193" y="135"/>
                        <a:pt x="193" y="135"/>
                      </a:cubicBezTo>
                      <a:cubicBezTo>
                        <a:pt x="117" y="135"/>
                        <a:pt x="117" y="135"/>
                        <a:pt x="117" y="135"/>
                      </a:cubicBezTo>
                      <a:cubicBezTo>
                        <a:pt x="117" y="137"/>
                        <a:pt x="117" y="139"/>
                        <a:pt x="117" y="141"/>
                      </a:cubicBezTo>
                      <a:cubicBezTo>
                        <a:pt x="117" y="143"/>
                        <a:pt x="117" y="145"/>
                        <a:pt x="117" y="147"/>
                      </a:cubicBezTo>
                      <a:cubicBezTo>
                        <a:pt x="193" y="147"/>
                        <a:pt x="193" y="147"/>
                        <a:pt x="193" y="147"/>
                      </a:cubicBezTo>
                      <a:cubicBezTo>
                        <a:pt x="193" y="149"/>
                        <a:pt x="193" y="149"/>
                        <a:pt x="193" y="149"/>
                      </a:cubicBezTo>
                      <a:cubicBezTo>
                        <a:pt x="192" y="155"/>
                        <a:pt x="191" y="162"/>
                        <a:pt x="190" y="169"/>
                      </a:cubicBezTo>
                      <a:cubicBezTo>
                        <a:pt x="194" y="169"/>
                        <a:pt x="198" y="170"/>
                        <a:pt x="202" y="172"/>
                      </a:cubicBezTo>
                      <a:cubicBezTo>
                        <a:pt x="203" y="164"/>
                        <a:pt x="204" y="156"/>
                        <a:pt x="205" y="149"/>
                      </a:cubicBezTo>
                      <a:cubicBezTo>
                        <a:pt x="205" y="147"/>
                        <a:pt x="205" y="147"/>
                        <a:pt x="205" y="147"/>
                      </a:cubicBezTo>
                      <a:cubicBezTo>
                        <a:pt x="269" y="147"/>
                        <a:pt x="269" y="147"/>
                        <a:pt x="269" y="147"/>
                      </a:cubicBezTo>
                      <a:lnTo>
                        <a:pt x="269" y="14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endParaRPr>
                </a:p>
              </p:txBody>
            </p:sp>
            <p:sp>
              <p:nvSpPr>
                <p:cNvPr id="104" name="Freeform 35">
                  <a:extLst>
                    <a:ext uri="{FF2B5EF4-FFF2-40B4-BE49-F238E27FC236}">
                      <a16:creationId xmlns:a16="http://schemas.microsoft.com/office/drawing/2014/main" id="{7E104C69-530D-96C2-7402-D31D4E8BD87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490" y="616"/>
                  <a:ext cx="74" cy="74"/>
                </a:xfrm>
                <a:custGeom>
                  <a:avLst/>
                  <a:gdLst>
                    <a:gd name="T0" fmla="*/ 25 w 50"/>
                    <a:gd name="T1" fmla="*/ 0 h 50"/>
                    <a:gd name="T2" fmla="*/ 0 w 50"/>
                    <a:gd name="T3" fmla="*/ 25 h 50"/>
                    <a:gd name="T4" fmla="*/ 25 w 50"/>
                    <a:gd name="T5" fmla="*/ 50 h 50"/>
                    <a:gd name="T6" fmla="*/ 50 w 50"/>
                    <a:gd name="T7" fmla="*/ 25 h 50"/>
                    <a:gd name="T8" fmla="*/ 25 w 50"/>
                    <a:gd name="T9" fmla="*/ 0 h 50"/>
                    <a:gd name="T10" fmla="*/ 25 w 50"/>
                    <a:gd name="T11" fmla="*/ 38 h 50"/>
                    <a:gd name="T12" fmla="*/ 12 w 50"/>
                    <a:gd name="T13" fmla="*/ 25 h 50"/>
                    <a:gd name="T14" fmla="*/ 25 w 50"/>
                    <a:gd name="T15" fmla="*/ 12 h 50"/>
                    <a:gd name="T16" fmla="*/ 38 w 50"/>
                    <a:gd name="T17" fmla="*/ 25 h 50"/>
                    <a:gd name="T18" fmla="*/ 25 w 50"/>
                    <a:gd name="T19" fmla="*/ 38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0" h="50">
                      <a:moveTo>
                        <a:pt x="25" y="0"/>
                      </a:move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39"/>
                        <a:pt x="11" y="50"/>
                        <a:pt x="25" y="50"/>
                      </a:cubicBezTo>
                      <a:cubicBezTo>
                        <a:pt x="39" y="50"/>
                        <a:pt x="50" y="39"/>
                        <a:pt x="50" y="25"/>
                      </a:cubicBezTo>
                      <a:cubicBezTo>
                        <a:pt x="50" y="11"/>
                        <a:pt x="39" y="0"/>
                        <a:pt x="25" y="0"/>
                      </a:cubicBezTo>
                      <a:close/>
                      <a:moveTo>
                        <a:pt x="25" y="38"/>
                      </a:moveTo>
                      <a:cubicBezTo>
                        <a:pt x="18" y="38"/>
                        <a:pt x="12" y="32"/>
                        <a:pt x="12" y="25"/>
                      </a:cubicBezTo>
                      <a:cubicBezTo>
                        <a:pt x="12" y="18"/>
                        <a:pt x="18" y="12"/>
                        <a:pt x="25" y="12"/>
                      </a:cubicBezTo>
                      <a:cubicBezTo>
                        <a:pt x="32" y="12"/>
                        <a:pt x="38" y="18"/>
                        <a:pt x="38" y="25"/>
                      </a:cubicBezTo>
                      <a:cubicBezTo>
                        <a:pt x="38" y="32"/>
                        <a:pt x="32" y="38"/>
                        <a:pt x="25" y="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endParaRPr>
                </a:p>
              </p:txBody>
            </p:sp>
            <p:sp>
              <p:nvSpPr>
                <p:cNvPr id="105" name="Freeform 36">
                  <a:extLst>
                    <a:ext uri="{FF2B5EF4-FFF2-40B4-BE49-F238E27FC236}">
                      <a16:creationId xmlns:a16="http://schemas.microsoft.com/office/drawing/2014/main" id="{D6C235D8-9EEF-B3A1-3490-1B7A9A1E9DE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642" y="708"/>
                  <a:ext cx="74" cy="74"/>
                </a:xfrm>
                <a:custGeom>
                  <a:avLst/>
                  <a:gdLst>
                    <a:gd name="T0" fmla="*/ 25 w 50"/>
                    <a:gd name="T1" fmla="*/ 0 h 50"/>
                    <a:gd name="T2" fmla="*/ 0 w 50"/>
                    <a:gd name="T3" fmla="*/ 25 h 50"/>
                    <a:gd name="T4" fmla="*/ 25 w 50"/>
                    <a:gd name="T5" fmla="*/ 50 h 50"/>
                    <a:gd name="T6" fmla="*/ 50 w 50"/>
                    <a:gd name="T7" fmla="*/ 25 h 50"/>
                    <a:gd name="T8" fmla="*/ 25 w 50"/>
                    <a:gd name="T9" fmla="*/ 0 h 50"/>
                    <a:gd name="T10" fmla="*/ 25 w 50"/>
                    <a:gd name="T11" fmla="*/ 38 h 50"/>
                    <a:gd name="T12" fmla="*/ 12 w 50"/>
                    <a:gd name="T13" fmla="*/ 25 h 50"/>
                    <a:gd name="T14" fmla="*/ 25 w 50"/>
                    <a:gd name="T15" fmla="*/ 12 h 50"/>
                    <a:gd name="T16" fmla="*/ 38 w 50"/>
                    <a:gd name="T17" fmla="*/ 25 h 50"/>
                    <a:gd name="T18" fmla="*/ 25 w 50"/>
                    <a:gd name="T19" fmla="*/ 38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0" h="50">
                      <a:moveTo>
                        <a:pt x="25" y="0"/>
                      </a:moveTo>
                      <a:cubicBezTo>
                        <a:pt x="12" y="0"/>
                        <a:pt x="0" y="11"/>
                        <a:pt x="0" y="25"/>
                      </a:cubicBezTo>
                      <a:cubicBezTo>
                        <a:pt x="0" y="39"/>
                        <a:pt x="12" y="50"/>
                        <a:pt x="25" y="50"/>
                      </a:cubicBezTo>
                      <a:cubicBezTo>
                        <a:pt x="39" y="50"/>
                        <a:pt x="50" y="39"/>
                        <a:pt x="50" y="25"/>
                      </a:cubicBezTo>
                      <a:cubicBezTo>
                        <a:pt x="50" y="11"/>
                        <a:pt x="39" y="0"/>
                        <a:pt x="25" y="0"/>
                      </a:cubicBezTo>
                      <a:close/>
                      <a:moveTo>
                        <a:pt x="25" y="38"/>
                      </a:moveTo>
                      <a:cubicBezTo>
                        <a:pt x="18" y="38"/>
                        <a:pt x="12" y="32"/>
                        <a:pt x="12" y="25"/>
                      </a:cubicBezTo>
                      <a:cubicBezTo>
                        <a:pt x="12" y="18"/>
                        <a:pt x="18" y="12"/>
                        <a:pt x="25" y="12"/>
                      </a:cubicBezTo>
                      <a:cubicBezTo>
                        <a:pt x="33" y="12"/>
                        <a:pt x="38" y="18"/>
                        <a:pt x="38" y="25"/>
                      </a:cubicBezTo>
                      <a:cubicBezTo>
                        <a:pt x="38" y="32"/>
                        <a:pt x="33" y="38"/>
                        <a:pt x="25" y="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endParaRPr>
                </a:p>
              </p:txBody>
            </p:sp>
            <p:sp>
              <p:nvSpPr>
                <p:cNvPr id="106" name="Freeform 37">
                  <a:extLst>
                    <a:ext uri="{FF2B5EF4-FFF2-40B4-BE49-F238E27FC236}">
                      <a16:creationId xmlns:a16="http://schemas.microsoft.com/office/drawing/2014/main" id="{AD443183-923C-6FE7-FC29-A941C56DB00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25" y="491"/>
                  <a:ext cx="102" cy="102"/>
                </a:xfrm>
                <a:custGeom>
                  <a:avLst/>
                  <a:gdLst>
                    <a:gd name="T0" fmla="*/ 35 w 69"/>
                    <a:gd name="T1" fmla="*/ 69 h 69"/>
                    <a:gd name="T2" fmla="*/ 69 w 69"/>
                    <a:gd name="T3" fmla="*/ 34 h 69"/>
                    <a:gd name="T4" fmla="*/ 35 w 69"/>
                    <a:gd name="T5" fmla="*/ 0 h 69"/>
                    <a:gd name="T6" fmla="*/ 0 w 69"/>
                    <a:gd name="T7" fmla="*/ 34 h 69"/>
                    <a:gd name="T8" fmla="*/ 35 w 69"/>
                    <a:gd name="T9" fmla="*/ 69 h 69"/>
                    <a:gd name="T10" fmla="*/ 35 w 69"/>
                    <a:gd name="T11" fmla="*/ 12 h 69"/>
                    <a:gd name="T12" fmla="*/ 57 w 69"/>
                    <a:gd name="T13" fmla="*/ 34 h 69"/>
                    <a:gd name="T14" fmla="*/ 35 w 69"/>
                    <a:gd name="T15" fmla="*/ 57 h 69"/>
                    <a:gd name="T16" fmla="*/ 12 w 69"/>
                    <a:gd name="T17" fmla="*/ 34 h 69"/>
                    <a:gd name="T18" fmla="*/ 35 w 69"/>
                    <a:gd name="T19" fmla="*/ 12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69" h="69">
                      <a:moveTo>
                        <a:pt x="35" y="69"/>
                      </a:moveTo>
                      <a:cubicBezTo>
                        <a:pt x="54" y="69"/>
                        <a:pt x="69" y="53"/>
                        <a:pt x="69" y="34"/>
                      </a:cubicBezTo>
                      <a:cubicBezTo>
                        <a:pt x="69" y="15"/>
                        <a:pt x="54" y="0"/>
                        <a:pt x="35" y="0"/>
                      </a:cubicBezTo>
                      <a:cubicBezTo>
                        <a:pt x="16" y="0"/>
                        <a:pt x="0" y="15"/>
                        <a:pt x="0" y="34"/>
                      </a:cubicBezTo>
                      <a:cubicBezTo>
                        <a:pt x="0" y="53"/>
                        <a:pt x="16" y="69"/>
                        <a:pt x="35" y="69"/>
                      </a:cubicBezTo>
                      <a:close/>
                      <a:moveTo>
                        <a:pt x="35" y="12"/>
                      </a:moveTo>
                      <a:cubicBezTo>
                        <a:pt x="47" y="12"/>
                        <a:pt x="57" y="22"/>
                        <a:pt x="57" y="34"/>
                      </a:cubicBezTo>
                      <a:cubicBezTo>
                        <a:pt x="57" y="47"/>
                        <a:pt x="47" y="57"/>
                        <a:pt x="35" y="57"/>
                      </a:cubicBezTo>
                      <a:cubicBezTo>
                        <a:pt x="22" y="57"/>
                        <a:pt x="12" y="47"/>
                        <a:pt x="12" y="34"/>
                      </a:cubicBezTo>
                      <a:cubicBezTo>
                        <a:pt x="12" y="22"/>
                        <a:pt x="22" y="12"/>
                        <a:pt x="35" y="1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endParaRPr>
                </a:p>
              </p:txBody>
            </p:sp>
          </p:grpSp>
          <p:grpSp>
            <p:nvGrpSpPr>
              <p:cNvPr id="94" name="Group 65">
                <a:extLst>
                  <a:ext uri="{FF2B5EF4-FFF2-40B4-BE49-F238E27FC236}">
                    <a16:creationId xmlns:a16="http://schemas.microsoft.com/office/drawing/2014/main" id="{5BF23AD4-73CB-A243-5E6E-F496FC7269A1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 rot="10800000">
                <a:off x="5838375" y="2627901"/>
                <a:ext cx="649156" cy="597224"/>
                <a:chOff x="1359" y="1738"/>
                <a:chExt cx="425" cy="391"/>
              </a:xfrm>
              <a:solidFill>
                <a:sysClr val="window" lastClr="FFFFFF"/>
              </a:solidFill>
            </p:grpSpPr>
            <p:sp>
              <p:nvSpPr>
                <p:cNvPr id="96" name="Freeform 66">
                  <a:extLst>
                    <a:ext uri="{FF2B5EF4-FFF2-40B4-BE49-F238E27FC236}">
                      <a16:creationId xmlns:a16="http://schemas.microsoft.com/office/drawing/2014/main" id="{F7909FC4-9925-FD26-67C3-94611CF3B6E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73" y="1842"/>
                  <a:ext cx="197" cy="199"/>
                </a:xfrm>
                <a:custGeom>
                  <a:avLst/>
                  <a:gdLst>
                    <a:gd name="T0" fmla="*/ 64 w 134"/>
                    <a:gd name="T1" fmla="*/ 1 h 135"/>
                    <a:gd name="T2" fmla="*/ 0 w 134"/>
                    <a:gd name="T3" fmla="*/ 66 h 135"/>
                    <a:gd name="T4" fmla="*/ 134 w 134"/>
                    <a:gd name="T5" fmla="*/ 67 h 135"/>
                    <a:gd name="T6" fmla="*/ 40 w 134"/>
                    <a:gd name="T7" fmla="*/ 95 h 135"/>
                    <a:gd name="T8" fmla="*/ 12 w 134"/>
                    <a:gd name="T9" fmla="*/ 69 h 135"/>
                    <a:gd name="T10" fmla="*/ 40 w 134"/>
                    <a:gd name="T11" fmla="*/ 95 h 135"/>
                    <a:gd name="T12" fmla="*/ 18 w 134"/>
                    <a:gd name="T13" fmla="*/ 41 h 135"/>
                    <a:gd name="T14" fmla="*/ 35 w 134"/>
                    <a:gd name="T15" fmla="*/ 57 h 135"/>
                    <a:gd name="T16" fmla="*/ 52 w 134"/>
                    <a:gd name="T17" fmla="*/ 121 h 135"/>
                    <a:gd name="T18" fmla="*/ 44 w 134"/>
                    <a:gd name="T19" fmla="*/ 107 h 135"/>
                    <a:gd name="T20" fmla="*/ 88 w 134"/>
                    <a:gd name="T21" fmla="*/ 69 h 135"/>
                    <a:gd name="T22" fmla="*/ 52 w 134"/>
                    <a:gd name="T23" fmla="*/ 95 h 135"/>
                    <a:gd name="T24" fmla="*/ 88 w 134"/>
                    <a:gd name="T25" fmla="*/ 69 h 135"/>
                    <a:gd name="T26" fmla="*/ 50 w 134"/>
                    <a:gd name="T27" fmla="*/ 41 h 135"/>
                    <a:gd name="T28" fmla="*/ 87 w 134"/>
                    <a:gd name="T29" fmla="*/ 57 h 135"/>
                    <a:gd name="T30" fmla="*/ 107 w 134"/>
                    <a:gd name="T31" fmla="*/ 29 h 135"/>
                    <a:gd name="T32" fmla="*/ 84 w 134"/>
                    <a:gd name="T33" fmla="*/ 15 h 135"/>
                    <a:gd name="T34" fmla="*/ 79 w 134"/>
                    <a:gd name="T35" fmla="*/ 29 h 135"/>
                    <a:gd name="T36" fmla="*/ 67 w 134"/>
                    <a:gd name="T37" fmla="*/ 13 h 135"/>
                    <a:gd name="T38" fmla="*/ 27 w 134"/>
                    <a:gd name="T39" fmla="*/ 29 h 135"/>
                    <a:gd name="T40" fmla="*/ 42 w 134"/>
                    <a:gd name="T41" fmla="*/ 29 h 135"/>
                    <a:gd name="T42" fmla="*/ 58 w 134"/>
                    <a:gd name="T43" fmla="*/ 107 h 135"/>
                    <a:gd name="T44" fmla="*/ 67 w 134"/>
                    <a:gd name="T45" fmla="*/ 122 h 135"/>
                    <a:gd name="T46" fmla="*/ 67 w 134"/>
                    <a:gd name="T47" fmla="*/ 124 h 135"/>
                    <a:gd name="T48" fmla="*/ 67 w 134"/>
                    <a:gd name="T49" fmla="*/ 124 h 135"/>
                    <a:gd name="T50" fmla="*/ 82 w 134"/>
                    <a:gd name="T51" fmla="*/ 121 h 135"/>
                    <a:gd name="T52" fmla="*/ 105 w 134"/>
                    <a:gd name="T53" fmla="*/ 107 h 135"/>
                    <a:gd name="T54" fmla="*/ 96 w 134"/>
                    <a:gd name="T55" fmla="*/ 41 h 135"/>
                    <a:gd name="T56" fmla="*/ 121 w 134"/>
                    <a:gd name="T57" fmla="*/ 57 h 135"/>
                    <a:gd name="T58" fmla="*/ 122 w 134"/>
                    <a:gd name="T59" fmla="*/ 69 h 135"/>
                    <a:gd name="T60" fmla="*/ 94 w 134"/>
                    <a:gd name="T61" fmla="*/ 95 h 135"/>
                    <a:gd name="T62" fmla="*/ 122 w 134"/>
                    <a:gd name="T63" fmla="*/ 69 h 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34" h="135">
                      <a:moveTo>
                        <a:pt x="114" y="19"/>
                      </a:moveTo>
                      <a:cubicBezTo>
                        <a:pt x="100" y="7"/>
                        <a:pt x="83" y="0"/>
                        <a:pt x="64" y="1"/>
                      </a:cubicBezTo>
                      <a:cubicBezTo>
                        <a:pt x="64" y="1"/>
                        <a:pt x="64" y="1"/>
                        <a:pt x="64" y="1"/>
                      </a:cubicBezTo>
                      <a:cubicBezTo>
                        <a:pt x="27" y="2"/>
                        <a:pt x="0" y="30"/>
                        <a:pt x="0" y="66"/>
                      </a:cubicBezTo>
                      <a:cubicBezTo>
                        <a:pt x="0" y="104"/>
                        <a:pt x="30" y="135"/>
                        <a:pt x="67" y="135"/>
                      </a:cubicBezTo>
                      <a:cubicBezTo>
                        <a:pt x="104" y="135"/>
                        <a:pt x="134" y="105"/>
                        <a:pt x="134" y="67"/>
                      </a:cubicBezTo>
                      <a:cubicBezTo>
                        <a:pt x="134" y="49"/>
                        <a:pt x="127" y="32"/>
                        <a:pt x="114" y="19"/>
                      </a:cubicBezTo>
                      <a:close/>
                      <a:moveTo>
                        <a:pt x="40" y="95"/>
                      </a:moveTo>
                      <a:cubicBezTo>
                        <a:pt x="19" y="95"/>
                        <a:pt x="19" y="95"/>
                        <a:pt x="19" y="95"/>
                      </a:cubicBezTo>
                      <a:cubicBezTo>
                        <a:pt x="15" y="87"/>
                        <a:pt x="12" y="78"/>
                        <a:pt x="12" y="69"/>
                      </a:cubicBezTo>
                      <a:cubicBezTo>
                        <a:pt x="35" y="69"/>
                        <a:pt x="35" y="69"/>
                        <a:pt x="35" y="69"/>
                      </a:cubicBezTo>
                      <a:cubicBezTo>
                        <a:pt x="35" y="78"/>
                        <a:pt x="37" y="86"/>
                        <a:pt x="40" y="95"/>
                      </a:cubicBezTo>
                      <a:close/>
                      <a:moveTo>
                        <a:pt x="13" y="57"/>
                      </a:moveTo>
                      <a:cubicBezTo>
                        <a:pt x="13" y="52"/>
                        <a:pt x="15" y="46"/>
                        <a:pt x="18" y="41"/>
                      </a:cubicBezTo>
                      <a:cubicBezTo>
                        <a:pt x="38" y="41"/>
                        <a:pt x="38" y="41"/>
                        <a:pt x="38" y="41"/>
                      </a:cubicBezTo>
                      <a:cubicBezTo>
                        <a:pt x="36" y="46"/>
                        <a:pt x="35" y="52"/>
                        <a:pt x="35" y="57"/>
                      </a:cubicBezTo>
                      <a:lnTo>
                        <a:pt x="13" y="57"/>
                      </a:lnTo>
                      <a:close/>
                      <a:moveTo>
                        <a:pt x="52" y="121"/>
                      </a:moveTo>
                      <a:cubicBezTo>
                        <a:pt x="43" y="118"/>
                        <a:pt x="35" y="113"/>
                        <a:pt x="29" y="107"/>
                      </a:cubicBezTo>
                      <a:cubicBezTo>
                        <a:pt x="44" y="107"/>
                        <a:pt x="44" y="107"/>
                        <a:pt x="44" y="107"/>
                      </a:cubicBezTo>
                      <a:cubicBezTo>
                        <a:pt x="46" y="112"/>
                        <a:pt x="49" y="116"/>
                        <a:pt x="52" y="121"/>
                      </a:cubicBezTo>
                      <a:close/>
                      <a:moveTo>
                        <a:pt x="88" y="69"/>
                      </a:moveTo>
                      <a:cubicBezTo>
                        <a:pt x="87" y="78"/>
                        <a:pt x="85" y="86"/>
                        <a:pt x="82" y="95"/>
                      </a:cubicBezTo>
                      <a:cubicBezTo>
                        <a:pt x="52" y="95"/>
                        <a:pt x="52" y="95"/>
                        <a:pt x="52" y="95"/>
                      </a:cubicBezTo>
                      <a:cubicBezTo>
                        <a:pt x="49" y="86"/>
                        <a:pt x="47" y="78"/>
                        <a:pt x="46" y="69"/>
                      </a:cubicBezTo>
                      <a:lnTo>
                        <a:pt x="88" y="69"/>
                      </a:lnTo>
                      <a:close/>
                      <a:moveTo>
                        <a:pt x="47" y="57"/>
                      </a:moveTo>
                      <a:cubicBezTo>
                        <a:pt x="47" y="52"/>
                        <a:pt x="48" y="46"/>
                        <a:pt x="50" y="41"/>
                      </a:cubicBezTo>
                      <a:cubicBezTo>
                        <a:pt x="84" y="41"/>
                        <a:pt x="84" y="41"/>
                        <a:pt x="84" y="41"/>
                      </a:cubicBezTo>
                      <a:cubicBezTo>
                        <a:pt x="86" y="46"/>
                        <a:pt x="87" y="52"/>
                        <a:pt x="87" y="57"/>
                      </a:cubicBezTo>
                      <a:lnTo>
                        <a:pt x="47" y="57"/>
                      </a:lnTo>
                      <a:close/>
                      <a:moveTo>
                        <a:pt x="107" y="29"/>
                      </a:moveTo>
                      <a:cubicBezTo>
                        <a:pt x="92" y="29"/>
                        <a:pt x="92" y="29"/>
                        <a:pt x="92" y="29"/>
                      </a:cubicBezTo>
                      <a:cubicBezTo>
                        <a:pt x="90" y="24"/>
                        <a:pt x="87" y="20"/>
                        <a:pt x="84" y="15"/>
                      </a:cubicBezTo>
                      <a:cubicBezTo>
                        <a:pt x="93" y="18"/>
                        <a:pt x="100" y="23"/>
                        <a:pt x="107" y="29"/>
                      </a:cubicBezTo>
                      <a:close/>
                      <a:moveTo>
                        <a:pt x="79" y="29"/>
                      </a:moveTo>
                      <a:cubicBezTo>
                        <a:pt x="55" y="29"/>
                        <a:pt x="55" y="29"/>
                        <a:pt x="55" y="29"/>
                      </a:cubicBezTo>
                      <a:cubicBezTo>
                        <a:pt x="58" y="23"/>
                        <a:pt x="62" y="18"/>
                        <a:pt x="67" y="13"/>
                      </a:cubicBezTo>
                      <a:cubicBezTo>
                        <a:pt x="72" y="18"/>
                        <a:pt x="76" y="23"/>
                        <a:pt x="79" y="29"/>
                      </a:cubicBezTo>
                      <a:close/>
                      <a:moveTo>
                        <a:pt x="27" y="29"/>
                      </a:moveTo>
                      <a:cubicBezTo>
                        <a:pt x="33" y="22"/>
                        <a:pt x="41" y="18"/>
                        <a:pt x="50" y="15"/>
                      </a:cubicBezTo>
                      <a:cubicBezTo>
                        <a:pt x="47" y="19"/>
                        <a:pt x="44" y="24"/>
                        <a:pt x="42" y="29"/>
                      </a:cubicBezTo>
                      <a:lnTo>
                        <a:pt x="27" y="29"/>
                      </a:lnTo>
                      <a:close/>
                      <a:moveTo>
                        <a:pt x="58" y="107"/>
                      </a:moveTo>
                      <a:cubicBezTo>
                        <a:pt x="76" y="107"/>
                        <a:pt x="76" y="107"/>
                        <a:pt x="76" y="107"/>
                      </a:cubicBezTo>
                      <a:cubicBezTo>
                        <a:pt x="74" y="112"/>
                        <a:pt x="71" y="117"/>
                        <a:pt x="67" y="122"/>
                      </a:cubicBezTo>
                      <a:cubicBezTo>
                        <a:pt x="63" y="117"/>
                        <a:pt x="60" y="112"/>
                        <a:pt x="58" y="107"/>
                      </a:cubicBezTo>
                      <a:close/>
                      <a:moveTo>
                        <a:pt x="67" y="124"/>
                      </a:moveTo>
                      <a:cubicBezTo>
                        <a:pt x="67" y="124"/>
                        <a:pt x="67" y="124"/>
                        <a:pt x="67" y="124"/>
                      </a:cubicBezTo>
                      <a:cubicBezTo>
                        <a:pt x="67" y="124"/>
                        <a:pt x="67" y="124"/>
                        <a:pt x="67" y="124"/>
                      </a:cubicBezTo>
                      <a:close/>
                      <a:moveTo>
                        <a:pt x="105" y="107"/>
                      </a:moveTo>
                      <a:cubicBezTo>
                        <a:pt x="99" y="113"/>
                        <a:pt x="91" y="118"/>
                        <a:pt x="82" y="121"/>
                      </a:cubicBezTo>
                      <a:cubicBezTo>
                        <a:pt x="85" y="116"/>
                        <a:pt x="88" y="112"/>
                        <a:pt x="90" y="107"/>
                      </a:cubicBezTo>
                      <a:lnTo>
                        <a:pt x="105" y="107"/>
                      </a:lnTo>
                      <a:close/>
                      <a:moveTo>
                        <a:pt x="99" y="57"/>
                      </a:moveTo>
                      <a:cubicBezTo>
                        <a:pt x="99" y="52"/>
                        <a:pt x="98" y="46"/>
                        <a:pt x="96" y="41"/>
                      </a:cubicBezTo>
                      <a:cubicBezTo>
                        <a:pt x="115" y="41"/>
                        <a:pt x="115" y="41"/>
                        <a:pt x="115" y="41"/>
                      </a:cubicBezTo>
                      <a:cubicBezTo>
                        <a:pt x="118" y="46"/>
                        <a:pt x="120" y="52"/>
                        <a:pt x="121" y="57"/>
                      </a:cubicBezTo>
                      <a:lnTo>
                        <a:pt x="99" y="57"/>
                      </a:lnTo>
                      <a:close/>
                      <a:moveTo>
                        <a:pt x="122" y="69"/>
                      </a:moveTo>
                      <a:cubicBezTo>
                        <a:pt x="122" y="78"/>
                        <a:pt x="119" y="87"/>
                        <a:pt x="115" y="95"/>
                      </a:cubicBezTo>
                      <a:cubicBezTo>
                        <a:pt x="94" y="95"/>
                        <a:pt x="94" y="95"/>
                        <a:pt x="94" y="95"/>
                      </a:cubicBezTo>
                      <a:cubicBezTo>
                        <a:pt x="97" y="86"/>
                        <a:pt x="99" y="78"/>
                        <a:pt x="99" y="69"/>
                      </a:cubicBezTo>
                      <a:lnTo>
                        <a:pt x="122" y="6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endParaRPr>
                </a:p>
              </p:txBody>
            </p:sp>
            <p:sp>
              <p:nvSpPr>
                <p:cNvPr id="97" name="Freeform 67">
                  <a:extLst>
                    <a:ext uri="{FF2B5EF4-FFF2-40B4-BE49-F238E27FC236}">
                      <a16:creationId xmlns:a16="http://schemas.microsoft.com/office/drawing/2014/main" id="{3EC4F062-7AA4-8177-7153-E9D1CC4A94B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650" y="1738"/>
                  <a:ext cx="134" cy="135"/>
                </a:xfrm>
                <a:custGeom>
                  <a:avLst/>
                  <a:gdLst>
                    <a:gd name="T0" fmla="*/ 11 w 91"/>
                    <a:gd name="T1" fmla="*/ 88 h 91"/>
                    <a:gd name="T2" fmla="*/ 45 w 91"/>
                    <a:gd name="T3" fmla="*/ 55 h 91"/>
                    <a:gd name="T4" fmla="*/ 61 w 91"/>
                    <a:gd name="T5" fmla="*/ 60 h 91"/>
                    <a:gd name="T6" fmla="*/ 91 w 91"/>
                    <a:gd name="T7" fmla="*/ 30 h 91"/>
                    <a:gd name="T8" fmla="*/ 61 w 91"/>
                    <a:gd name="T9" fmla="*/ 0 h 91"/>
                    <a:gd name="T10" fmla="*/ 31 w 91"/>
                    <a:gd name="T11" fmla="*/ 30 h 91"/>
                    <a:gd name="T12" fmla="*/ 36 w 91"/>
                    <a:gd name="T13" fmla="*/ 47 h 91"/>
                    <a:gd name="T14" fmla="*/ 3 w 91"/>
                    <a:gd name="T15" fmla="*/ 80 h 91"/>
                    <a:gd name="T16" fmla="*/ 3 w 91"/>
                    <a:gd name="T17" fmla="*/ 88 h 91"/>
                    <a:gd name="T18" fmla="*/ 11 w 91"/>
                    <a:gd name="T19" fmla="*/ 88 h 91"/>
                    <a:gd name="T20" fmla="*/ 61 w 91"/>
                    <a:gd name="T21" fmla="*/ 12 h 91"/>
                    <a:gd name="T22" fmla="*/ 79 w 91"/>
                    <a:gd name="T23" fmla="*/ 30 h 91"/>
                    <a:gd name="T24" fmla="*/ 61 w 91"/>
                    <a:gd name="T25" fmla="*/ 48 h 91"/>
                    <a:gd name="T26" fmla="*/ 43 w 91"/>
                    <a:gd name="T27" fmla="*/ 30 h 91"/>
                    <a:gd name="T28" fmla="*/ 61 w 91"/>
                    <a:gd name="T29" fmla="*/ 1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91" h="91">
                      <a:moveTo>
                        <a:pt x="11" y="88"/>
                      </a:moveTo>
                      <a:cubicBezTo>
                        <a:pt x="45" y="55"/>
                        <a:pt x="45" y="55"/>
                        <a:pt x="45" y="55"/>
                      </a:cubicBezTo>
                      <a:cubicBezTo>
                        <a:pt x="49" y="58"/>
                        <a:pt x="55" y="60"/>
                        <a:pt x="61" y="60"/>
                      </a:cubicBezTo>
                      <a:cubicBezTo>
                        <a:pt x="77" y="60"/>
                        <a:pt x="91" y="46"/>
                        <a:pt x="91" y="30"/>
                      </a:cubicBezTo>
                      <a:cubicBezTo>
                        <a:pt x="91" y="13"/>
                        <a:pt x="77" y="0"/>
                        <a:pt x="61" y="0"/>
                      </a:cubicBezTo>
                      <a:cubicBezTo>
                        <a:pt x="44" y="0"/>
                        <a:pt x="31" y="13"/>
                        <a:pt x="31" y="30"/>
                      </a:cubicBezTo>
                      <a:cubicBezTo>
                        <a:pt x="31" y="36"/>
                        <a:pt x="33" y="42"/>
                        <a:pt x="36" y="47"/>
                      </a:cubicBezTo>
                      <a:cubicBezTo>
                        <a:pt x="3" y="80"/>
                        <a:pt x="3" y="80"/>
                        <a:pt x="3" y="80"/>
                      </a:cubicBezTo>
                      <a:cubicBezTo>
                        <a:pt x="0" y="82"/>
                        <a:pt x="0" y="86"/>
                        <a:pt x="3" y="88"/>
                      </a:cubicBezTo>
                      <a:cubicBezTo>
                        <a:pt x="5" y="91"/>
                        <a:pt x="9" y="91"/>
                        <a:pt x="11" y="88"/>
                      </a:cubicBezTo>
                      <a:close/>
                      <a:moveTo>
                        <a:pt x="61" y="12"/>
                      </a:moveTo>
                      <a:cubicBezTo>
                        <a:pt x="71" y="12"/>
                        <a:pt x="79" y="20"/>
                        <a:pt x="79" y="30"/>
                      </a:cubicBezTo>
                      <a:cubicBezTo>
                        <a:pt x="79" y="40"/>
                        <a:pt x="71" y="48"/>
                        <a:pt x="61" y="48"/>
                      </a:cubicBezTo>
                      <a:cubicBezTo>
                        <a:pt x="51" y="48"/>
                        <a:pt x="43" y="40"/>
                        <a:pt x="43" y="30"/>
                      </a:cubicBezTo>
                      <a:cubicBezTo>
                        <a:pt x="43" y="20"/>
                        <a:pt x="51" y="12"/>
                        <a:pt x="61" y="1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endParaRPr>
                </a:p>
              </p:txBody>
            </p:sp>
            <p:sp>
              <p:nvSpPr>
                <p:cNvPr id="98" name="Freeform 68">
                  <a:extLst>
                    <a:ext uri="{FF2B5EF4-FFF2-40B4-BE49-F238E27FC236}">
                      <a16:creationId xmlns:a16="http://schemas.microsoft.com/office/drawing/2014/main" id="{3448214A-C6F9-1B4B-C028-12B18134788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668" y="2012"/>
                  <a:ext cx="116" cy="117"/>
                </a:xfrm>
                <a:custGeom>
                  <a:avLst/>
                  <a:gdLst>
                    <a:gd name="T0" fmla="*/ 49 w 79"/>
                    <a:gd name="T1" fmla="*/ 19 h 79"/>
                    <a:gd name="T2" fmla="*/ 32 w 79"/>
                    <a:gd name="T3" fmla="*/ 24 h 79"/>
                    <a:gd name="T4" fmla="*/ 11 w 79"/>
                    <a:gd name="T5" fmla="*/ 2 h 79"/>
                    <a:gd name="T6" fmla="*/ 2 w 79"/>
                    <a:gd name="T7" fmla="*/ 2 h 79"/>
                    <a:gd name="T8" fmla="*/ 2 w 79"/>
                    <a:gd name="T9" fmla="*/ 11 h 79"/>
                    <a:gd name="T10" fmla="*/ 24 w 79"/>
                    <a:gd name="T11" fmla="*/ 33 h 79"/>
                    <a:gd name="T12" fmla="*/ 19 w 79"/>
                    <a:gd name="T13" fmla="*/ 49 h 79"/>
                    <a:gd name="T14" fmla="*/ 49 w 79"/>
                    <a:gd name="T15" fmla="*/ 79 h 79"/>
                    <a:gd name="T16" fmla="*/ 79 w 79"/>
                    <a:gd name="T17" fmla="*/ 49 h 79"/>
                    <a:gd name="T18" fmla="*/ 49 w 79"/>
                    <a:gd name="T19" fmla="*/ 19 h 79"/>
                    <a:gd name="T20" fmla="*/ 49 w 79"/>
                    <a:gd name="T21" fmla="*/ 67 h 79"/>
                    <a:gd name="T22" fmla="*/ 31 w 79"/>
                    <a:gd name="T23" fmla="*/ 49 h 79"/>
                    <a:gd name="T24" fmla="*/ 49 w 79"/>
                    <a:gd name="T25" fmla="*/ 31 h 79"/>
                    <a:gd name="T26" fmla="*/ 67 w 79"/>
                    <a:gd name="T27" fmla="*/ 49 h 79"/>
                    <a:gd name="T28" fmla="*/ 49 w 79"/>
                    <a:gd name="T29" fmla="*/ 67 h 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79" h="79">
                      <a:moveTo>
                        <a:pt x="49" y="19"/>
                      </a:moveTo>
                      <a:cubicBezTo>
                        <a:pt x="43" y="19"/>
                        <a:pt x="37" y="21"/>
                        <a:pt x="32" y="24"/>
                      </a:cubicBezTo>
                      <a:cubicBezTo>
                        <a:pt x="11" y="2"/>
                        <a:pt x="11" y="2"/>
                        <a:pt x="11" y="2"/>
                      </a:cubicBezTo>
                      <a:cubicBezTo>
                        <a:pt x="8" y="0"/>
                        <a:pt x="5" y="0"/>
                        <a:pt x="2" y="2"/>
                      </a:cubicBezTo>
                      <a:cubicBezTo>
                        <a:pt x="0" y="5"/>
                        <a:pt x="0" y="9"/>
                        <a:pt x="2" y="11"/>
                      </a:cubicBezTo>
                      <a:cubicBezTo>
                        <a:pt x="24" y="33"/>
                        <a:pt x="24" y="33"/>
                        <a:pt x="24" y="33"/>
                      </a:cubicBezTo>
                      <a:cubicBezTo>
                        <a:pt x="21" y="37"/>
                        <a:pt x="19" y="43"/>
                        <a:pt x="19" y="49"/>
                      </a:cubicBezTo>
                      <a:cubicBezTo>
                        <a:pt x="19" y="65"/>
                        <a:pt x="32" y="79"/>
                        <a:pt x="49" y="79"/>
                      </a:cubicBezTo>
                      <a:cubicBezTo>
                        <a:pt x="65" y="79"/>
                        <a:pt x="79" y="65"/>
                        <a:pt x="79" y="49"/>
                      </a:cubicBezTo>
                      <a:cubicBezTo>
                        <a:pt x="79" y="32"/>
                        <a:pt x="65" y="19"/>
                        <a:pt x="49" y="19"/>
                      </a:cubicBezTo>
                      <a:close/>
                      <a:moveTo>
                        <a:pt x="49" y="67"/>
                      </a:moveTo>
                      <a:cubicBezTo>
                        <a:pt x="39" y="67"/>
                        <a:pt x="31" y="59"/>
                        <a:pt x="31" y="49"/>
                      </a:cubicBezTo>
                      <a:cubicBezTo>
                        <a:pt x="31" y="39"/>
                        <a:pt x="39" y="31"/>
                        <a:pt x="49" y="31"/>
                      </a:cubicBezTo>
                      <a:cubicBezTo>
                        <a:pt x="59" y="31"/>
                        <a:pt x="67" y="39"/>
                        <a:pt x="67" y="49"/>
                      </a:cubicBezTo>
                      <a:cubicBezTo>
                        <a:pt x="67" y="59"/>
                        <a:pt x="59" y="67"/>
                        <a:pt x="49" y="6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endParaRPr>
                </a:p>
              </p:txBody>
            </p:sp>
            <p:sp>
              <p:nvSpPr>
                <p:cNvPr id="99" name="Freeform 69">
                  <a:extLst>
                    <a:ext uri="{FF2B5EF4-FFF2-40B4-BE49-F238E27FC236}">
                      <a16:creationId xmlns:a16="http://schemas.microsoft.com/office/drawing/2014/main" id="{19014DF2-1EA7-9669-CFC4-EF3A39AE62D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359" y="1738"/>
                  <a:ext cx="134" cy="135"/>
                </a:xfrm>
                <a:custGeom>
                  <a:avLst/>
                  <a:gdLst>
                    <a:gd name="T0" fmla="*/ 30 w 91"/>
                    <a:gd name="T1" fmla="*/ 60 h 91"/>
                    <a:gd name="T2" fmla="*/ 46 w 91"/>
                    <a:gd name="T3" fmla="*/ 55 h 91"/>
                    <a:gd name="T4" fmla="*/ 80 w 91"/>
                    <a:gd name="T5" fmla="*/ 88 h 91"/>
                    <a:gd name="T6" fmla="*/ 88 w 91"/>
                    <a:gd name="T7" fmla="*/ 88 h 91"/>
                    <a:gd name="T8" fmla="*/ 88 w 91"/>
                    <a:gd name="T9" fmla="*/ 80 h 91"/>
                    <a:gd name="T10" fmla="*/ 55 w 91"/>
                    <a:gd name="T11" fmla="*/ 47 h 91"/>
                    <a:gd name="T12" fmla="*/ 60 w 91"/>
                    <a:gd name="T13" fmla="*/ 30 h 91"/>
                    <a:gd name="T14" fmla="*/ 30 w 91"/>
                    <a:gd name="T15" fmla="*/ 0 h 91"/>
                    <a:gd name="T16" fmla="*/ 0 w 91"/>
                    <a:gd name="T17" fmla="*/ 30 h 91"/>
                    <a:gd name="T18" fmla="*/ 30 w 91"/>
                    <a:gd name="T19" fmla="*/ 60 h 91"/>
                    <a:gd name="T20" fmla="*/ 30 w 91"/>
                    <a:gd name="T21" fmla="*/ 12 h 91"/>
                    <a:gd name="T22" fmla="*/ 48 w 91"/>
                    <a:gd name="T23" fmla="*/ 30 h 91"/>
                    <a:gd name="T24" fmla="*/ 30 w 91"/>
                    <a:gd name="T25" fmla="*/ 48 h 91"/>
                    <a:gd name="T26" fmla="*/ 12 w 91"/>
                    <a:gd name="T27" fmla="*/ 30 h 91"/>
                    <a:gd name="T28" fmla="*/ 30 w 91"/>
                    <a:gd name="T29" fmla="*/ 1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91" h="91">
                      <a:moveTo>
                        <a:pt x="30" y="60"/>
                      </a:moveTo>
                      <a:cubicBezTo>
                        <a:pt x="36" y="60"/>
                        <a:pt x="42" y="58"/>
                        <a:pt x="46" y="55"/>
                      </a:cubicBezTo>
                      <a:cubicBezTo>
                        <a:pt x="80" y="88"/>
                        <a:pt x="80" y="88"/>
                        <a:pt x="80" y="88"/>
                      </a:cubicBezTo>
                      <a:cubicBezTo>
                        <a:pt x="82" y="91"/>
                        <a:pt x="86" y="91"/>
                        <a:pt x="88" y="88"/>
                      </a:cubicBezTo>
                      <a:cubicBezTo>
                        <a:pt x="91" y="86"/>
                        <a:pt x="91" y="82"/>
                        <a:pt x="88" y="80"/>
                      </a:cubicBezTo>
                      <a:cubicBezTo>
                        <a:pt x="55" y="47"/>
                        <a:pt x="55" y="47"/>
                        <a:pt x="55" y="47"/>
                      </a:cubicBezTo>
                      <a:cubicBezTo>
                        <a:pt x="58" y="42"/>
                        <a:pt x="60" y="36"/>
                        <a:pt x="60" y="30"/>
                      </a:cubicBezTo>
                      <a:cubicBezTo>
                        <a:pt x="60" y="13"/>
                        <a:pt x="47" y="0"/>
                        <a:pt x="30" y="0"/>
                      </a:cubicBezTo>
                      <a:cubicBezTo>
                        <a:pt x="14" y="0"/>
                        <a:pt x="0" y="13"/>
                        <a:pt x="0" y="30"/>
                      </a:cubicBezTo>
                      <a:cubicBezTo>
                        <a:pt x="0" y="46"/>
                        <a:pt x="14" y="60"/>
                        <a:pt x="30" y="60"/>
                      </a:cubicBezTo>
                      <a:close/>
                      <a:moveTo>
                        <a:pt x="30" y="12"/>
                      </a:moveTo>
                      <a:cubicBezTo>
                        <a:pt x="40" y="12"/>
                        <a:pt x="48" y="20"/>
                        <a:pt x="48" y="30"/>
                      </a:cubicBezTo>
                      <a:cubicBezTo>
                        <a:pt x="48" y="40"/>
                        <a:pt x="40" y="48"/>
                        <a:pt x="30" y="48"/>
                      </a:cubicBezTo>
                      <a:cubicBezTo>
                        <a:pt x="20" y="48"/>
                        <a:pt x="12" y="40"/>
                        <a:pt x="12" y="30"/>
                      </a:cubicBezTo>
                      <a:cubicBezTo>
                        <a:pt x="12" y="20"/>
                        <a:pt x="20" y="12"/>
                        <a:pt x="30" y="1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endParaRPr>
                </a:p>
              </p:txBody>
            </p:sp>
            <p:sp>
              <p:nvSpPr>
                <p:cNvPr id="100" name="Freeform 70">
                  <a:extLst>
                    <a:ext uri="{FF2B5EF4-FFF2-40B4-BE49-F238E27FC236}">
                      <a16:creationId xmlns:a16="http://schemas.microsoft.com/office/drawing/2014/main" id="{57571126-64D3-C048-E43A-68CB58FF92B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359" y="2012"/>
                  <a:ext cx="117" cy="117"/>
                </a:xfrm>
                <a:custGeom>
                  <a:avLst/>
                  <a:gdLst>
                    <a:gd name="T0" fmla="*/ 68 w 79"/>
                    <a:gd name="T1" fmla="*/ 2 h 79"/>
                    <a:gd name="T2" fmla="*/ 47 w 79"/>
                    <a:gd name="T3" fmla="*/ 24 h 79"/>
                    <a:gd name="T4" fmla="*/ 30 w 79"/>
                    <a:gd name="T5" fmla="*/ 19 h 79"/>
                    <a:gd name="T6" fmla="*/ 0 w 79"/>
                    <a:gd name="T7" fmla="*/ 49 h 79"/>
                    <a:gd name="T8" fmla="*/ 30 w 79"/>
                    <a:gd name="T9" fmla="*/ 79 h 79"/>
                    <a:gd name="T10" fmla="*/ 60 w 79"/>
                    <a:gd name="T11" fmla="*/ 49 h 79"/>
                    <a:gd name="T12" fmla="*/ 55 w 79"/>
                    <a:gd name="T13" fmla="*/ 33 h 79"/>
                    <a:gd name="T14" fmla="*/ 77 w 79"/>
                    <a:gd name="T15" fmla="*/ 11 h 79"/>
                    <a:gd name="T16" fmla="*/ 77 w 79"/>
                    <a:gd name="T17" fmla="*/ 2 h 79"/>
                    <a:gd name="T18" fmla="*/ 68 w 79"/>
                    <a:gd name="T19" fmla="*/ 2 h 79"/>
                    <a:gd name="T20" fmla="*/ 30 w 79"/>
                    <a:gd name="T21" fmla="*/ 67 h 79"/>
                    <a:gd name="T22" fmla="*/ 12 w 79"/>
                    <a:gd name="T23" fmla="*/ 49 h 79"/>
                    <a:gd name="T24" fmla="*/ 30 w 79"/>
                    <a:gd name="T25" fmla="*/ 31 h 79"/>
                    <a:gd name="T26" fmla="*/ 48 w 79"/>
                    <a:gd name="T27" fmla="*/ 49 h 79"/>
                    <a:gd name="T28" fmla="*/ 30 w 79"/>
                    <a:gd name="T29" fmla="*/ 67 h 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79" h="79">
                      <a:moveTo>
                        <a:pt x="68" y="2"/>
                      </a:moveTo>
                      <a:cubicBezTo>
                        <a:pt x="47" y="24"/>
                        <a:pt x="47" y="24"/>
                        <a:pt x="47" y="24"/>
                      </a:cubicBezTo>
                      <a:cubicBezTo>
                        <a:pt x="42" y="21"/>
                        <a:pt x="36" y="19"/>
                        <a:pt x="30" y="19"/>
                      </a:cubicBezTo>
                      <a:cubicBezTo>
                        <a:pt x="14" y="19"/>
                        <a:pt x="0" y="32"/>
                        <a:pt x="0" y="49"/>
                      </a:cubicBezTo>
                      <a:cubicBezTo>
                        <a:pt x="0" y="65"/>
                        <a:pt x="14" y="79"/>
                        <a:pt x="30" y="79"/>
                      </a:cubicBezTo>
                      <a:cubicBezTo>
                        <a:pt x="47" y="79"/>
                        <a:pt x="60" y="65"/>
                        <a:pt x="60" y="49"/>
                      </a:cubicBezTo>
                      <a:cubicBezTo>
                        <a:pt x="60" y="43"/>
                        <a:pt x="58" y="37"/>
                        <a:pt x="55" y="33"/>
                      </a:cubicBezTo>
                      <a:cubicBezTo>
                        <a:pt x="77" y="11"/>
                        <a:pt x="77" y="11"/>
                        <a:pt x="77" y="11"/>
                      </a:cubicBezTo>
                      <a:cubicBezTo>
                        <a:pt x="79" y="9"/>
                        <a:pt x="79" y="5"/>
                        <a:pt x="77" y="2"/>
                      </a:cubicBezTo>
                      <a:cubicBezTo>
                        <a:pt x="74" y="0"/>
                        <a:pt x="71" y="0"/>
                        <a:pt x="68" y="2"/>
                      </a:cubicBezTo>
                      <a:close/>
                      <a:moveTo>
                        <a:pt x="30" y="67"/>
                      </a:moveTo>
                      <a:cubicBezTo>
                        <a:pt x="20" y="67"/>
                        <a:pt x="12" y="59"/>
                        <a:pt x="12" y="49"/>
                      </a:cubicBezTo>
                      <a:cubicBezTo>
                        <a:pt x="12" y="39"/>
                        <a:pt x="20" y="31"/>
                        <a:pt x="30" y="31"/>
                      </a:cubicBezTo>
                      <a:cubicBezTo>
                        <a:pt x="40" y="31"/>
                        <a:pt x="48" y="39"/>
                        <a:pt x="48" y="49"/>
                      </a:cubicBezTo>
                      <a:cubicBezTo>
                        <a:pt x="48" y="59"/>
                        <a:pt x="40" y="67"/>
                        <a:pt x="30" y="6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endParaRPr>
                </a:p>
              </p:txBody>
            </p:sp>
            <p:sp>
              <p:nvSpPr>
                <p:cNvPr id="101" name="Freeform 71">
                  <a:extLst>
                    <a:ext uri="{FF2B5EF4-FFF2-40B4-BE49-F238E27FC236}">
                      <a16:creationId xmlns:a16="http://schemas.microsoft.com/office/drawing/2014/main" id="{23E1AAE4-F117-0791-1654-DE54980DD5F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654" y="1898"/>
                  <a:ext cx="130" cy="89"/>
                </a:xfrm>
                <a:custGeom>
                  <a:avLst/>
                  <a:gdLst>
                    <a:gd name="T0" fmla="*/ 58 w 88"/>
                    <a:gd name="T1" fmla="*/ 60 h 60"/>
                    <a:gd name="T2" fmla="*/ 88 w 88"/>
                    <a:gd name="T3" fmla="*/ 30 h 60"/>
                    <a:gd name="T4" fmla="*/ 58 w 88"/>
                    <a:gd name="T5" fmla="*/ 0 h 60"/>
                    <a:gd name="T6" fmla="*/ 28 w 88"/>
                    <a:gd name="T7" fmla="*/ 24 h 60"/>
                    <a:gd name="T8" fmla="*/ 6 w 88"/>
                    <a:gd name="T9" fmla="*/ 24 h 60"/>
                    <a:gd name="T10" fmla="*/ 0 w 88"/>
                    <a:gd name="T11" fmla="*/ 30 h 60"/>
                    <a:gd name="T12" fmla="*/ 6 w 88"/>
                    <a:gd name="T13" fmla="*/ 36 h 60"/>
                    <a:gd name="T14" fmla="*/ 28 w 88"/>
                    <a:gd name="T15" fmla="*/ 36 h 60"/>
                    <a:gd name="T16" fmla="*/ 58 w 88"/>
                    <a:gd name="T17" fmla="*/ 60 h 60"/>
                    <a:gd name="T18" fmla="*/ 58 w 88"/>
                    <a:gd name="T19" fmla="*/ 12 h 60"/>
                    <a:gd name="T20" fmla="*/ 76 w 88"/>
                    <a:gd name="T21" fmla="*/ 30 h 60"/>
                    <a:gd name="T22" fmla="*/ 58 w 88"/>
                    <a:gd name="T23" fmla="*/ 48 h 60"/>
                    <a:gd name="T24" fmla="*/ 40 w 88"/>
                    <a:gd name="T25" fmla="*/ 30 h 60"/>
                    <a:gd name="T26" fmla="*/ 40 w 88"/>
                    <a:gd name="T27" fmla="*/ 30 h 60"/>
                    <a:gd name="T28" fmla="*/ 40 w 88"/>
                    <a:gd name="T29" fmla="*/ 30 h 60"/>
                    <a:gd name="T30" fmla="*/ 58 w 88"/>
                    <a:gd name="T31" fmla="*/ 12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88" h="60">
                      <a:moveTo>
                        <a:pt x="58" y="60"/>
                      </a:moveTo>
                      <a:cubicBezTo>
                        <a:pt x="74" y="60"/>
                        <a:pt x="88" y="46"/>
                        <a:pt x="88" y="30"/>
                      </a:cubicBezTo>
                      <a:cubicBezTo>
                        <a:pt x="88" y="13"/>
                        <a:pt x="74" y="0"/>
                        <a:pt x="58" y="0"/>
                      </a:cubicBezTo>
                      <a:cubicBezTo>
                        <a:pt x="43" y="0"/>
                        <a:pt x="31" y="10"/>
                        <a:pt x="28" y="24"/>
                      </a:cubicBezTo>
                      <a:cubicBezTo>
                        <a:pt x="6" y="24"/>
                        <a:pt x="6" y="24"/>
                        <a:pt x="6" y="24"/>
                      </a:cubicBezTo>
                      <a:cubicBezTo>
                        <a:pt x="2" y="24"/>
                        <a:pt x="0" y="26"/>
                        <a:pt x="0" y="30"/>
                      </a:cubicBezTo>
                      <a:cubicBezTo>
                        <a:pt x="0" y="33"/>
                        <a:pt x="2" y="36"/>
                        <a:pt x="6" y="36"/>
                      </a:cubicBezTo>
                      <a:cubicBezTo>
                        <a:pt x="28" y="36"/>
                        <a:pt x="28" y="36"/>
                        <a:pt x="28" y="36"/>
                      </a:cubicBezTo>
                      <a:cubicBezTo>
                        <a:pt x="31" y="49"/>
                        <a:pt x="43" y="60"/>
                        <a:pt x="58" y="60"/>
                      </a:cubicBezTo>
                      <a:close/>
                      <a:moveTo>
                        <a:pt x="58" y="12"/>
                      </a:moveTo>
                      <a:cubicBezTo>
                        <a:pt x="68" y="12"/>
                        <a:pt x="76" y="20"/>
                        <a:pt x="76" y="30"/>
                      </a:cubicBezTo>
                      <a:cubicBezTo>
                        <a:pt x="76" y="40"/>
                        <a:pt x="68" y="48"/>
                        <a:pt x="58" y="48"/>
                      </a:cubicBezTo>
                      <a:cubicBezTo>
                        <a:pt x="48" y="48"/>
                        <a:pt x="40" y="40"/>
                        <a:pt x="40" y="30"/>
                      </a:cubicBezTo>
                      <a:cubicBezTo>
                        <a:pt x="40" y="30"/>
                        <a:pt x="40" y="30"/>
                        <a:pt x="40" y="30"/>
                      </a:cubicBezTo>
                      <a:cubicBezTo>
                        <a:pt x="40" y="30"/>
                        <a:pt x="40" y="30"/>
                        <a:pt x="40" y="30"/>
                      </a:cubicBezTo>
                      <a:cubicBezTo>
                        <a:pt x="40" y="20"/>
                        <a:pt x="48" y="12"/>
                        <a:pt x="58" y="1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endParaRPr>
                </a:p>
              </p:txBody>
            </p:sp>
            <p:sp>
              <p:nvSpPr>
                <p:cNvPr id="102" name="Freeform 72">
                  <a:extLst>
                    <a:ext uri="{FF2B5EF4-FFF2-40B4-BE49-F238E27FC236}">
                      <a16:creationId xmlns:a16="http://schemas.microsoft.com/office/drawing/2014/main" id="{D54B0FDF-328F-94BC-A4D2-E12427EE8A4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359" y="1898"/>
                  <a:ext cx="131" cy="89"/>
                </a:xfrm>
                <a:custGeom>
                  <a:avLst/>
                  <a:gdLst>
                    <a:gd name="T0" fmla="*/ 30 w 89"/>
                    <a:gd name="T1" fmla="*/ 60 h 60"/>
                    <a:gd name="T2" fmla="*/ 60 w 89"/>
                    <a:gd name="T3" fmla="*/ 36 h 60"/>
                    <a:gd name="T4" fmla="*/ 83 w 89"/>
                    <a:gd name="T5" fmla="*/ 36 h 60"/>
                    <a:gd name="T6" fmla="*/ 89 w 89"/>
                    <a:gd name="T7" fmla="*/ 30 h 60"/>
                    <a:gd name="T8" fmla="*/ 83 w 89"/>
                    <a:gd name="T9" fmla="*/ 24 h 60"/>
                    <a:gd name="T10" fmla="*/ 60 w 89"/>
                    <a:gd name="T11" fmla="*/ 24 h 60"/>
                    <a:gd name="T12" fmla="*/ 30 w 89"/>
                    <a:gd name="T13" fmla="*/ 0 h 60"/>
                    <a:gd name="T14" fmla="*/ 0 w 89"/>
                    <a:gd name="T15" fmla="*/ 30 h 60"/>
                    <a:gd name="T16" fmla="*/ 30 w 89"/>
                    <a:gd name="T17" fmla="*/ 60 h 60"/>
                    <a:gd name="T18" fmla="*/ 30 w 89"/>
                    <a:gd name="T19" fmla="*/ 12 h 60"/>
                    <a:gd name="T20" fmla="*/ 48 w 89"/>
                    <a:gd name="T21" fmla="*/ 30 h 60"/>
                    <a:gd name="T22" fmla="*/ 30 w 89"/>
                    <a:gd name="T23" fmla="*/ 48 h 60"/>
                    <a:gd name="T24" fmla="*/ 12 w 89"/>
                    <a:gd name="T25" fmla="*/ 30 h 60"/>
                    <a:gd name="T26" fmla="*/ 30 w 89"/>
                    <a:gd name="T27" fmla="*/ 12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89" h="60">
                      <a:moveTo>
                        <a:pt x="30" y="60"/>
                      </a:moveTo>
                      <a:cubicBezTo>
                        <a:pt x="45" y="60"/>
                        <a:pt x="57" y="49"/>
                        <a:pt x="60" y="36"/>
                      </a:cubicBezTo>
                      <a:cubicBezTo>
                        <a:pt x="83" y="36"/>
                        <a:pt x="83" y="36"/>
                        <a:pt x="83" y="36"/>
                      </a:cubicBezTo>
                      <a:cubicBezTo>
                        <a:pt x="86" y="36"/>
                        <a:pt x="89" y="33"/>
                        <a:pt x="89" y="30"/>
                      </a:cubicBezTo>
                      <a:cubicBezTo>
                        <a:pt x="89" y="26"/>
                        <a:pt x="86" y="24"/>
                        <a:pt x="83" y="24"/>
                      </a:cubicBezTo>
                      <a:cubicBezTo>
                        <a:pt x="60" y="24"/>
                        <a:pt x="60" y="24"/>
                        <a:pt x="60" y="24"/>
                      </a:cubicBezTo>
                      <a:cubicBezTo>
                        <a:pt x="57" y="10"/>
                        <a:pt x="45" y="0"/>
                        <a:pt x="30" y="0"/>
                      </a:cubicBezTo>
                      <a:cubicBezTo>
                        <a:pt x="14" y="0"/>
                        <a:pt x="0" y="13"/>
                        <a:pt x="0" y="30"/>
                      </a:cubicBezTo>
                      <a:cubicBezTo>
                        <a:pt x="0" y="46"/>
                        <a:pt x="14" y="60"/>
                        <a:pt x="30" y="60"/>
                      </a:cubicBezTo>
                      <a:close/>
                      <a:moveTo>
                        <a:pt x="30" y="12"/>
                      </a:moveTo>
                      <a:cubicBezTo>
                        <a:pt x="40" y="12"/>
                        <a:pt x="48" y="20"/>
                        <a:pt x="48" y="30"/>
                      </a:cubicBezTo>
                      <a:cubicBezTo>
                        <a:pt x="48" y="40"/>
                        <a:pt x="40" y="48"/>
                        <a:pt x="30" y="48"/>
                      </a:cubicBezTo>
                      <a:cubicBezTo>
                        <a:pt x="20" y="48"/>
                        <a:pt x="12" y="40"/>
                        <a:pt x="12" y="30"/>
                      </a:cubicBezTo>
                      <a:cubicBezTo>
                        <a:pt x="12" y="20"/>
                        <a:pt x="20" y="12"/>
                        <a:pt x="30" y="1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endParaRPr>
                </a:p>
              </p:txBody>
            </p:sp>
          </p:grpSp>
        </p:grpSp>
        <p:sp>
          <p:nvSpPr>
            <p:cNvPr id="80" name="Freeform 8">
              <a:extLst>
                <a:ext uri="{FF2B5EF4-FFF2-40B4-BE49-F238E27FC236}">
                  <a16:creationId xmlns:a16="http://schemas.microsoft.com/office/drawing/2014/main" id="{3D387136-1595-E1DB-E7E6-C8A1C4D4DBC1}"/>
                </a:ext>
              </a:extLst>
            </p:cNvPr>
            <p:cNvSpPr>
              <a:spLocks/>
            </p:cNvSpPr>
            <p:nvPr/>
          </p:nvSpPr>
          <p:spPr bwMode="auto">
            <a:xfrm rot="2576790">
              <a:off x="6904017" y="3415527"/>
              <a:ext cx="1076626" cy="461646"/>
            </a:xfrm>
            <a:custGeom>
              <a:avLst/>
              <a:gdLst>
                <a:gd name="T0" fmla="*/ 0 w 948"/>
                <a:gd name="T1" fmla="*/ 287 h 406"/>
                <a:gd name="T2" fmla="*/ 704 w 948"/>
                <a:gd name="T3" fmla="*/ 359 h 406"/>
                <a:gd name="T4" fmla="*/ 791 w 948"/>
                <a:gd name="T5" fmla="*/ 103 h 406"/>
                <a:gd name="T6" fmla="*/ 612 w 948"/>
                <a:gd name="T7" fmla="*/ 3 h 406"/>
                <a:gd name="T8" fmla="*/ 0 w 948"/>
                <a:gd name="T9" fmla="*/ 287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8" h="406">
                  <a:moveTo>
                    <a:pt x="0" y="287"/>
                  </a:moveTo>
                  <a:cubicBezTo>
                    <a:pt x="218" y="353"/>
                    <a:pt x="466" y="406"/>
                    <a:pt x="704" y="359"/>
                  </a:cubicBezTo>
                  <a:cubicBezTo>
                    <a:pt x="843" y="331"/>
                    <a:pt x="948" y="247"/>
                    <a:pt x="791" y="103"/>
                  </a:cubicBezTo>
                  <a:cubicBezTo>
                    <a:pt x="742" y="58"/>
                    <a:pt x="676" y="0"/>
                    <a:pt x="612" y="3"/>
                  </a:cubicBezTo>
                  <a:cubicBezTo>
                    <a:pt x="371" y="16"/>
                    <a:pt x="256" y="11"/>
                    <a:pt x="0" y="287"/>
                  </a:cubicBezTo>
                  <a:close/>
                </a:path>
              </a:pathLst>
            </a:custGeom>
            <a:solidFill>
              <a:schemeClr val="accent1"/>
            </a:solidFill>
            <a:ln w="12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48768" tIns="24384" rIns="48768" bIns="2438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876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lt"/>
              </a:endParaRPr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DB562F6D-C55C-EEFE-BA97-C50AE676D377}"/>
              </a:ext>
            </a:extLst>
          </p:cNvPr>
          <p:cNvGrpSpPr/>
          <p:nvPr/>
        </p:nvGrpSpPr>
        <p:grpSpPr>
          <a:xfrm>
            <a:off x="8632694" y="851534"/>
            <a:ext cx="2962273" cy="1067731"/>
            <a:chOff x="8327082" y="443149"/>
            <a:chExt cx="2962273" cy="1067731"/>
          </a:xfrm>
        </p:grpSpPr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909650D8-AC58-47DD-9EF4-7A8D6F7FE7BF}"/>
                </a:ext>
              </a:extLst>
            </p:cNvPr>
            <p:cNvGrpSpPr/>
            <p:nvPr/>
          </p:nvGrpSpPr>
          <p:grpSpPr>
            <a:xfrm>
              <a:off x="8433576" y="443149"/>
              <a:ext cx="2855779" cy="1067731"/>
              <a:chOff x="355599" y="1860195"/>
              <a:chExt cx="2256950" cy="1167044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EEDACBB9-5DB2-C72C-65E1-299191CD3EA8}"/>
                  </a:ext>
                </a:extLst>
              </p:cNvPr>
              <p:cNvSpPr/>
              <p:nvPr/>
            </p:nvSpPr>
            <p:spPr>
              <a:xfrm>
                <a:off x="355599" y="1860195"/>
                <a:ext cx="2256950" cy="1167044"/>
              </a:xfrm>
              <a:prstGeom prst="rect">
                <a:avLst/>
              </a:prstGeom>
              <a:grpFill/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D4441287-6118-584A-7447-4FC816A623EF}"/>
                  </a:ext>
                </a:extLst>
              </p:cNvPr>
              <p:cNvSpPr txBox="1"/>
              <p:nvPr/>
            </p:nvSpPr>
            <p:spPr>
              <a:xfrm>
                <a:off x="355602" y="1860195"/>
                <a:ext cx="2256947" cy="340482"/>
              </a:xfrm>
              <a:prstGeom prst="rect">
                <a:avLst/>
              </a:prstGeom>
              <a:grpFill/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400" b="1" i="0" u="none" strike="noStrike" kern="0" cap="none" spc="30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</a:endParaRPr>
              </a:p>
            </p:txBody>
          </p:sp>
        </p:grp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4C590F3F-4735-2F41-D86E-3611A970F11B}"/>
                </a:ext>
              </a:extLst>
            </p:cNvPr>
            <p:cNvGrpSpPr/>
            <p:nvPr/>
          </p:nvGrpSpPr>
          <p:grpSpPr>
            <a:xfrm>
              <a:off x="8327082" y="642273"/>
              <a:ext cx="2880000" cy="784203"/>
              <a:chOff x="440140" y="3088897"/>
              <a:chExt cx="2617973" cy="155150"/>
            </a:xfrm>
            <a:solidFill>
              <a:schemeClr val="accent1"/>
            </a:solidFill>
          </p:grpSpPr>
          <p:sp>
            <p:nvSpPr>
              <p:cNvPr id="178" name="Right Triangle 177">
                <a:extLst>
                  <a:ext uri="{FF2B5EF4-FFF2-40B4-BE49-F238E27FC236}">
                    <a16:creationId xmlns:a16="http://schemas.microsoft.com/office/drawing/2014/main" id="{ED4BD297-5B45-A9CF-C1A6-025F9B760650}"/>
                  </a:ext>
                </a:extLst>
              </p:cNvPr>
              <p:cNvSpPr/>
              <p:nvPr/>
            </p:nvSpPr>
            <p:spPr>
              <a:xfrm rot="16200000">
                <a:off x="470326" y="3058711"/>
                <a:ext cx="36000" cy="96372"/>
              </a:xfrm>
              <a:prstGeom prst="rtTriangl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975299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7A0C6F10-A1DF-5DAC-8D13-D904D6989F58}"/>
                  </a:ext>
                </a:extLst>
              </p:cNvPr>
              <p:cNvSpPr/>
              <p:nvPr/>
            </p:nvSpPr>
            <p:spPr>
              <a:xfrm>
                <a:off x="440140" y="3124079"/>
                <a:ext cx="2617973" cy="119968"/>
              </a:xfrm>
              <a:prstGeom prst="rect">
                <a:avLst/>
              </a:prstGeom>
              <a:grpFill/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95250" marR="0" lvl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de-DE" sz="120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Sustainable</a:t>
                </a:r>
                <a:r>
                  <a:rPr kumimoji="0" lang="de-DE" sz="12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de-DE" sz="120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processes</a:t>
                </a:r>
                <a:r>
                  <a:rPr kumimoji="0" lang="de-DE" sz="12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de-DE" sz="120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for</a:t>
                </a:r>
                <a:r>
                  <a:rPr kumimoji="0" lang="de-DE" sz="12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de-DE" sz="120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cost</a:t>
                </a:r>
                <a:r>
                  <a:rPr kumimoji="0" lang="de-DE" sz="12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de-DE" sz="120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optimization</a:t>
                </a:r>
                <a:r>
                  <a:rPr kumimoji="0" lang="de-DE" sz="12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de-DE" sz="120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by</a:t>
                </a:r>
                <a:r>
                  <a:rPr kumimoji="0" lang="de-DE" sz="12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de-DE" sz="120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cutting</a:t>
                </a:r>
                <a:r>
                  <a:rPr kumimoji="0" lang="de-DE" sz="12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 down </a:t>
                </a:r>
                <a:r>
                  <a:rPr kumimoji="0" lang="de-DE" sz="120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raw</a:t>
                </a:r>
                <a:r>
                  <a:rPr kumimoji="0" lang="de-DE" sz="12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 material </a:t>
                </a:r>
                <a:r>
                  <a:rPr kumimoji="0" lang="de-DE" sz="120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cost</a:t>
                </a:r>
                <a:r>
                  <a:rPr kumimoji="0" lang="de-DE" sz="12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de-DE" sz="120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through</a:t>
                </a:r>
                <a:r>
                  <a:rPr kumimoji="0" lang="de-DE" sz="12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de-DE" sz="120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recycling</a:t>
                </a:r>
                <a:endParaRPr kumimoji="0" lang="de-DE" sz="120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n-ea"/>
                </a:endParaRPr>
              </a:p>
            </p:txBody>
          </p:sp>
        </p:grp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3F5A3206-BFBD-0546-954C-52FFCD5B1BC3}"/>
              </a:ext>
            </a:extLst>
          </p:cNvPr>
          <p:cNvGrpSpPr/>
          <p:nvPr/>
        </p:nvGrpSpPr>
        <p:grpSpPr>
          <a:xfrm>
            <a:off x="8632694" y="1988682"/>
            <a:ext cx="2962273" cy="1219478"/>
            <a:chOff x="8327082" y="443150"/>
            <a:chExt cx="2962273" cy="1219478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13545A14-4CAB-8EB8-C4FE-5771873CEF5F}"/>
                </a:ext>
              </a:extLst>
            </p:cNvPr>
            <p:cNvGrpSpPr/>
            <p:nvPr/>
          </p:nvGrpSpPr>
          <p:grpSpPr>
            <a:xfrm>
              <a:off x="8433576" y="443150"/>
              <a:ext cx="2855779" cy="1219478"/>
              <a:chOff x="355599" y="1860195"/>
              <a:chExt cx="2256950" cy="1332905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2B907B1D-6360-98DF-66A6-EDCD0B88AD07}"/>
                  </a:ext>
                </a:extLst>
              </p:cNvPr>
              <p:cNvSpPr/>
              <p:nvPr/>
            </p:nvSpPr>
            <p:spPr>
              <a:xfrm>
                <a:off x="355599" y="1860195"/>
                <a:ext cx="2256950" cy="1332905"/>
              </a:xfrm>
              <a:prstGeom prst="rect">
                <a:avLst/>
              </a:prstGeom>
              <a:grpFill/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687299F0-8C4D-9AE0-AAD0-20A0E70079F5}"/>
                  </a:ext>
                </a:extLst>
              </p:cNvPr>
              <p:cNvSpPr txBox="1"/>
              <p:nvPr/>
            </p:nvSpPr>
            <p:spPr>
              <a:xfrm>
                <a:off x="355602" y="1860195"/>
                <a:ext cx="2256947" cy="340482"/>
              </a:xfrm>
              <a:prstGeom prst="rect">
                <a:avLst/>
              </a:prstGeom>
              <a:grpFill/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400" b="1" i="0" u="none" strike="noStrike" kern="0" cap="none" spc="30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</a:endParaRPr>
              </a:p>
            </p:txBody>
          </p: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A0B1F1E-1603-44F6-7DE3-E357A27470ED}"/>
                </a:ext>
              </a:extLst>
            </p:cNvPr>
            <p:cNvGrpSpPr/>
            <p:nvPr/>
          </p:nvGrpSpPr>
          <p:grpSpPr>
            <a:xfrm>
              <a:off x="8327082" y="642272"/>
              <a:ext cx="2880000" cy="929949"/>
              <a:chOff x="440140" y="3088897"/>
              <a:chExt cx="2617973" cy="183985"/>
            </a:xfrm>
            <a:solidFill>
              <a:schemeClr val="accent1"/>
            </a:solidFill>
          </p:grpSpPr>
          <p:sp>
            <p:nvSpPr>
              <p:cNvPr id="186" name="Right Triangle 185">
                <a:extLst>
                  <a:ext uri="{FF2B5EF4-FFF2-40B4-BE49-F238E27FC236}">
                    <a16:creationId xmlns:a16="http://schemas.microsoft.com/office/drawing/2014/main" id="{15C97DE1-B20A-8F09-EC57-8B8125740C2F}"/>
                  </a:ext>
                </a:extLst>
              </p:cNvPr>
              <p:cNvSpPr/>
              <p:nvPr/>
            </p:nvSpPr>
            <p:spPr>
              <a:xfrm rot="16200000">
                <a:off x="470326" y="3058711"/>
                <a:ext cx="36000" cy="96372"/>
              </a:xfrm>
              <a:prstGeom prst="rtTriangl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975299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A3B459D5-CDCE-63D5-8FE8-000FA95C32F2}"/>
                  </a:ext>
                </a:extLst>
              </p:cNvPr>
              <p:cNvSpPr/>
              <p:nvPr/>
            </p:nvSpPr>
            <p:spPr>
              <a:xfrm>
                <a:off x="440140" y="3124077"/>
                <a:ext cx="2617973" cy="148805"/>
              </a:xfrm>
              <a:prstGeom prst="rect">
                <a:avLst/>
              </a:prstGeom>
              <a:grpFill/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95250" marR="0" lvl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de-DE" sz="12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Move </a:t>
                </a:r>
                <a:r>
                  <a:rPr kumimoji="0" lang="de-DE" sz="120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into</a:t>
                </a:r>
                <a:r>
                  <a:rPr kumimoji="0" lang="de-DE" sz="12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 Tier II </a:t>
                </a:r>
                <a:r>
                  <a:rPr kumimoji="0" lang="de-DE" sz="120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cities</a:t>
                </a:r>
                <a:r>
                  <a:rPr kumimoji="0" lang="de-DE" sz="12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de-DE" sz="120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thorugh</a:t>
                </a:r>
                <a:r>
                  <a:rPr kumimoji="0" lang="de-DE" sz="12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 innovative </a:t>
                </a:r>
                <a:r>
                  <a:rPr kumimoji="0" lang="de-DE" sz="120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indirect</a:t>
                </a:r>
                <a:r>
                  <a:rPr kumimoji="0" lang="de-DE" sz="12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de-DE" sz="120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channels</a:t>
                </a:r>
                <a:r>
                  <a:rPr kumimoji="0" lang="de-DE" sz="12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, </a:t>
                </a:r>
                <a:r>
                  <a:rPr kumimoji="0" lang="de-DE" sz="120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increasing</a:t>
                </a:r>
                <a:r>
                  <a:rPr kumimoji="0" lang="de-DE" sz="12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de-DE" sz="120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category</a:t>
                </a:r>
                <a:r>
                  <a:rPr kumimoji="0" lang="de-DE" sz="12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de-DE" sz="120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Arial" panose="020B0604020202020204" pitchFamily="34" charset="0"/>
                  </a:rPr>
                  <a:t>awareness</a:t>
                </a:r>
                <a:endParaRPr kumimoji="0" lang="de-DE" sz="120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n-ea"/>
                </a:endParaRPr>
              </a:p>
            </p:txBody>
          </p:sp>
        </p:grpSp>
      </p:grpSp>
      <p:sp>
        <p:nvSpPr>
          <p:cNvPr id="190" name="TextBox 189">
            <a:extLst>
              <a:ext uri="{FF2B5EF4-FFF2-40B4-BE49-F238E27FC236}">
                <a16:creationId xmlns:a16="http://schemas.microsoft.com/office/drawing/2014/main" id="{8679FF0C-37FB-44F2-F26D-73C73FA5A324}"/>
              </a:ext>
            </a:extLst>
          </p:cNvPr>
          <p:cNvSpPr txBox="1"/>
          <p:nvPr/>
        </p:nvSpPr>
        <p:spPr>
          <a:xfrm>
            <a:off x="8738712" y="881441"/>
            <a:ext cx="2832897" cy="3018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noProof="0" dirty="0">
                <a:solidFill>
                  <a:schemeClr val="accent1"/>
                </a:solidFill>
              </a:rPr>
              <a:t>Circular Supply Chain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A2B90571-C28D-7F46-E7AC-54CB197DED2A}"/>
              </a:ext>
            </a:extLst>
          </p:cNvPr>
          <p:cNvSpPr txBox="1"/>
          <p:nvPr/>
        </p:nvSpPr>
        <p:spPr>
          <a:xfrm>
            <a:off x="8733079" y="2019527"/>
            <a:ext cx="2832897" cy="3018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noProof="0" dirty="0">
                <a:solidFill>
                  <a:schemeClr val="accent1"/>
                </a:solidFill>
              </a:rPr>
              <a:t>Market Penetration</a:t>
            </a:r>
          </a:p>
        </p:txBody>
      </p: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3A90FAB1-9245-D73E-E099-BC54C1A5EB64}"/>
              </a:ext>
            </a:extLst>
          </p:cNvPr>
          <p:cNvGrpSpPr/>
          <p:nvPr/>
        </p:nvGrpSpPr>
        <p:grpSpPr>
          <a:xfrm>
            <a:off x="8632693" y="3258137"/>
            <a:ext cx="2962273" cy="1067731"/>
            <a:chOff x="8327082" y="443149"/>
            <a:chExt cx="2962273" cy="1067731"/>
          </a:xfrm>
        </p:grpSpPr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B89D9C06-B2D6-FD83-03B2-3EE019891CB3}"/>
                </a:ext>
              </a:extLst>
            </p:cNvPr>
            <p:cNvGrpSpPr/>
            <p:nvPr/>
          </p:nvGrpSpPr>
          <p:grpSpPr>
            <a:xfrm>
              <a:off x="8433576" y="443149"/>
              <a:ext cx="2855779" cy="1067731"/>
              <a:chOff x="355599" y="1860195"/>
              <a:chExt cx="2256950" cy="1167044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D2B4ED11-E186-CF11-1ACC-483A97F93362}"/>
                  </a:ext>
                </a:extLst>
              </p:cNvPr>
              <p:cNvSpPr/>
              <p:nvPr/>
            </p:nvSpPr>
            <p:spPr>
              <a:xfrm>
                <a:off x="355599" y="1860195"/>
                <a:ext cx="2256950" cy="1167044"/>
              </a:xfrm>
              <a:prstGeom prst="rect">
                <a:avLst/>
              </a:prstGeom>
              <a:grpFill/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2CDD6351-34DD-C178-380A-1CA21AD8BF34}"/>
                  </a:ext>
                </a:extLst>
              </p:cNvPr>
              <p:cNvSpPr txBox="1"/>
              <p:nvPr/>
            </p:nvSpPr>
            <p:spPr>
              <a:xfrm>
                <a:off x="355602" y="1860195"/>
                <a:ext cx="2256947" cy="340482"/>
              </a:xfrm>
              <a:prstGeom prst="rect">
                <a:avLst/>
              </a:prstGeom>
              <a:grpFill/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400" b="1" i="0" u="none" strike="noStrike" kern="0" cap="none" spc="30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</a:endParaRPr>
              </a:p>
            </p:txBody>
          </p: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97966550-AFEB-4495-F7A6-ECA4BA2E8949}"/>
                </a:ext>
              </a:extLst>
            </p:cNvPr>
            <p:cNvGrpSpPr/>
            <p:nvPr/>
          </p:nvGrpSpPr>
          <p:grpSpPr>
            <a:xfrm>
              <a:off x="8327082" y="642273"/>
              <a:ext cx="2880000" cy="784203"/>
              <a:chOff x="440140" y="3088897"/>
              <a:chExt cx="2617973" cy="155150"/>
            </a:xfrm>
            <a:solidFill>
              <a:schemeClr val="accent1"/>
            </a:solidFill>
          </p:grpSpPr>
          <p:sp>
            <p:nvSpPr>
              <p:cNvPr id="195" name="Right Triangle 194">
                <a:extLst>
                  <a:ext uri="{FF2B5EF4-FFF2-40B4-BE49-F238E27FC236}">
                    <a16:creationId xmlns:a16="http://schemas.microsoft.com/office/drawing/2014/main" id="{77FD8045-1493-0B90-D77C-5CF64F163E9B}"/>
                  </a:ext>
                </a:extLst>
              </p:cNvPr>
              <p:cNvSpPr/>
              <p:nvPr/>
            </p:nvSpPr>
            <p:spPr>
              <a:xfrm rot="16200000">
                <a:off x="470326" y="3058711"/>
                <a:ext cx="36000" cy="96372"/>
              </a:xfrm>
              <a:prstGeom prst="rtTriangl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975299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7521C037-D946-A2FA-9DFC-C3142DF842C8}"/>
                  </a:ext>
                </a:extLst>
              </p:cNvPr>
              <p:cNvSpPr/>
              <p:nvPr/>
            </p:nvSpPr>
            <p:spPr>
              <a:xfrm>
                <a:off x="440140" y="3124079"/>
                <a:ext cx="2617973" cy="119968"/>
              </a:xfrm>
              <a:prstGeom prst="rect">
                <a:avLst/>
              </a:prstGeom>
              <a:grpFill/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95250" marR="0" lvl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200" kern="0" dirty="0">
                    <a:solidFill>
                      <a:prstClr val="white"/>
                    </a:solidFill>
                    <a:latin typeface="+mj-lt"/>
                    <a:cs typeface="Arial" panose="020B0604020202020204" pitchFamily="34" charset="0"/>
                  </a:rPr>
                  <a:t>Meeting Pain Points </a:t>
                </a:r>
                <a:r>
                  <a:rPr lang="de-DE" sz="1200" kern="0" dirty="0" err="1">
                    <a:solidFill>
                      <a:prstClr val="white"/>
                    </a:solidFill>
                    <a:latin typeface="+mj-lt"/>
                    <a:cs typeface="Arial" panose="020B0604020202020204" pitchFamily="34" charset="0"/>
                  </a:rPr>
                  <a:t>of</a:t>
                </a:r>
                <a:r>
                  <a:rPr lang="de-DE" sz="1200" kern="0" dirty="0">
                    <a:solidFill>
                      <a:prstClr val="white"/>
                    </a:solidFill>
                    <a:latin typeface="+mj-lt"/>
                    <a:cs typeface="Arial" panose="020B0604020202020204" pitchFamily="34" charset="0"/>
                  </a:rPr>
                  <a:t> </a:t>
                </a:r>
                <a:r>
                  <a:rPr lang="de-DE" sz="1200" kern="0" dirty="0" err="1">
                    <a:solidFill>
                      <a:prstClr val="white"/>
                    </a:solidFill>
                    <a:latin typeface="+mj-lt"/>
                    <a:cs typeface="Arial" panose="020B0604020202020204" pitchFamily="34" charset="0"/>
                  </a:rPr>
                  <a:t>customers</a:t>
                </a:r>
                <a:r>
                  <a:rPr lang="de-DE" sz="1200" kern="0" dirty="0">
                    <a:solidFill>
                      <a:prstClr val="white"/>
                    </a:solidFill>
                    <a:latin typeface="+mj-lt"/>
                    <a:cs typeface="Arial" panose="020B0604020202020204" pitchFamily="34" charset="0"/>
                  </a:rPr>
                  <a:t> </a:t>
                </a:r>
                <a:r>
                  <a:rPr lang="de-DE" sz="1200" kern="0" dirty="0" err="1">
                    <a:solidFill>
                      <a:prstClr val="white"/>
                    </a:solidFill>
                    <a:latin typeface="+mj-lt"/>
                    <a:cs typeface="Arial" panose="020B0604020202020204" pitchFamily="34" charset="0"/>
                  </a:rPr>
                  <a:t>through</a:t>
                </a:r>
                <a:r>
                  <a:rPr lang="de-DE" sz="1200" kern="0" dirty="0">
                    <a:solidFill>
                      <a:prstClr val="white"/>
                    </a:solidFill>
                    <a:latin typeface="+mj-lt"/>
                    <a:cs typeface="Arial" panose="020B0604020202020204" pitchFamily="34" charset="0"/>
                  </a:rPr>
                  <a:t> </a:t>
                </a:r>
                <a:r>
                  <a:rPr lang="de-DE" sz="1200" kern="0" dirty="0" err="1">
                    <a:solidFill>
                      <a:prstClr val="white"/>
                    </a:solidFill>
                    <a:latin typeface="+mj-lt"/>
                    <a:cs typeface="Arial" panose="020B0604020202020204" pitchFamily="34" charset="0"/>
                  </a:rPr>
                  <a:t>product</a:t>
                </a:r>
                <a:r>
                  <a:rPr lang="de-DE" sz="1200" kern="0" dirty="0">
                    <a:solidFill>
                      <a:prstClr val="white"/>
                    </a:solidFill>
                    <a:latin typeface="+mj-lt"/>
                    <a:cs typeface="Arial" panose="020B0604020202020204" pitchFamily="34" charset="0"/>
                  </a:rPr>
                  <a:t> </a:t>
                </a:r>
                <a:r>
                  <a:rPr lang="de-DE" sz="1200" kern="0" dirty="0" err="1">
                    <a:solidFill>
                      <a:prstClr val="white"/>
                    </a:solidFill>
                    <a:latin typeface="+mj-lt"/>
                    <a:cs typeface="Arial" panose="020B0604020202020204" pitchFamily="34" charset="0"/>
                  </a:rPr>
                  <a:t>innovation</a:t>
                </a:r>
                <a:endParaRPr kumimoji="0" lang="de-DE" sz="120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n-ea"/>
                </a:endParaRPr>
              </a:p>
            </p:txBody>
          </p:sp>
        </p:grpSp>
      </p:grpSp>
      <p:sp>
        <p:nvSpPr>
          <p:cNvPr id="199" name="TextBox 198">
            <a:extLst>
              <a:ext uri="{FF2B5EF4-FFF2-40B4-BE49-F238E27FC236}">
                <a16:creationId xmlns:a16="http://schemas.microsoft.com/office/drawing/2014/main" id="{C34B39F7-02E5-4CD6-2F02-822B7D09C4B5}"/>
              </a:ext>
            </a:extLst>
          </p:cNvPr>
          <p:cNvSpPr txBox="1"/>
          <p:nvPr/>
        </p:nvSpPr>
        <p:spPr>
          <a:xfrm>
            <a:off x="8738711" y="3288044"/>
            <a:ext cx="2832897" cy="3018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noProof="0" dirty="0">
                <a:solidFill>
                  <a:schemeClr val="accent1"/>
                </a:solidFill>
              </a:rPr>
              <a:t>Innovation Lab</a:t>
            </a:r>
          </a:p>
        </p:txBody>
      </p:sp>
      <p:graphicFrame>
        <p:nvGraphicFramePr>
          <p:cNvPr id="200" name="Chart 199">
            <a:extLst>
              <a:ext uri="{FF2B5EF4-FFF2-40B4-BE49-F238E27FC236}">
                <a16:creationId xmlns:a16="http://schemas.microsoft.com/office/drawing/2014/main" id="{35A0ACEA-900D-3B0D-F69A-49747529FF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9230875"/>
              </p:ext>
            </p:extLst>
          </p:nvPr>
        </p:nvGraphicFramePr>
        <p:xfrm>
          <a:off x="7101192" y="4375293"/>
          <a:ext cx="4853680" cy="2203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2BB97175-E1DE-E289-08AF-6ADAB909D62D}"/>
              </a:ext>
            </a:extLst>
          </p:cNvPr>
          <p:cNvCxnSpPr>
            <a:cxnSpLocks/>
          </p:cNvCxnSpPr>
          <p:nvPr/>
        </p:nvCxnSpPr>
        <p:spPr>
          <a:xfrm>
            <a:off x="5090809" y="4489543"/>
            <a:ext cx="6710979" cy="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26590882-331B-DE3A-28FA-031CD9B0C105}"/>
              </a:ext>
            </a:extLst>
          </p:cNvPr>
          <p:cNvCxnSpPr>
            <a:cxnSpLocks/>
          </p:cNvCxnSpPr>
          <p:nvPr/>
        </p:nvCxnSpPr>
        <p:spPr>
          <a:xfrm flipV="1">
            <a:off x="4910570" y="322421"/>
            <a:ext cx="0" cy="6213158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4" name="Rectangle: Rounded Corners 114">
            <a:extLst>
              <a:ext uri="{FF2B5EF4-FFF2-40B4-BE49-F238E27FC236}">
                <a16:creationId xmlns:a16="http://schemas.microsoft.com/office/drawing/2014/main" id="{4C81AFA5-5061-F619-BF15-30719292E3FB}"/>
              </a:ext>
            </a:extLst>
          </p:cNvPr>
          <p:cNvSpPr/>
          <p:nvPr/>
        </p:nvSpPr>
        <p:spPr>
          <a:xfrm>
            <a:off x="238337" y="380552"/>
            <a:ext cx="284395" cy="60341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vert270"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Our Campaigns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16338432-4065-16D2-E404-1F0B1AEE0093}"/>
              </a:ext>
            </a:extLst>
          </p:cNvPr>
          <p:cNvSpPr txBox="1"/>
          <p:nvPr/>
        </p:nvSpPr>
        <p:spPr>
          <a:xfrm>
            <a:off x="6650182" y="357447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F586131E-D1C0-FE0A-E3CD-B633E28DF120}"/>
              </a:ext>
            </a:extLst>
          </p:cNvPr>
          <p:cNvSpPr txBox="1"/>
          <p:nvPr/>
        </p:nvSpPr>
        <p:spPr>
          <a:xfrm>
            <a:off x="5129561" y="227484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04395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B39776-B051-1E97-3297-7EEA3A28E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472243"/>
            <a:ext cx="381001" cy="207843"/>
          </a:xfrm>
        </p:spPr>
        <p:txBody>
          <a:bodyPr/>
          <a:lstStyle/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13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525DE3-A361-902F-55F2-0C74030D9E34}"/>
              </a:ext>
            </a:extLst>
          </p:cNvPr>
          <p:cNvSpPr txBox="1">
            <a:spLocks/>
          </p:cNvSpPr>
          <p:nvPr/>
        </p:nvSpPr>
        <p:spPr>
          <a:xfrm>
            <a:off x="11429998" y="6472243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13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8003B94-2192-A99B-8254-89942AE47555}"/>
              </a:ext>
            </a:extLst>
          </p:cNvPr>
          <p:cNvSpPr txBox="1">
            <a:spLocks/>
          </p:cNvSpPr>
          <p:nvPr/>
        </p:nvSpPr>
        <p:spPr>
          <a:xfrm>
            <a:off x="554298" y="742452"/>
            <a:ext cx="10906125" cy="40382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dirty="0">
                <a:solidFill>
                  <a:schemeClr val="bg1"/>
                </a:solidFill>
              </a:rPr>
              <a:t>ABC continues to balance the Social-Business Continuum</a:t>
            </a: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05DC7EA0-9059-EB1E-8D4A-F0E0DD1C7CDE}"/>
              </a:ext>
            </a:extLst>
          </p:cNvPr>
          <p:cNvSpPr/>
          <p:nvPr/>
        </p:nvSpPr>
        <p:spPr>
          <a:xfrm>
            <a:off x="435429" y="1792037"/>
            <a:ext cx="11375570" cy="1387712"/>
          </a:xfrm>
          <a:custGeom>
            <a:avLst/>
            <a:gdLst/>
            <a:ahLst/>
            <a:cxnLst/>
            <a:rect l="l" t="t" r="r" b="b"/>
            <a:pathLst>
              <a:path w="11729085" h="1426845">
                <a:moveTo>
                  <a:pt x="11490960" y="0"/>
                </a:moveTo>
                <a:lnTo>
                  <a:pt x="237744" y="0"/>
                </a:lnTo>
                <a:lnTo>
                  <a:pt x="189829" y="4829"/>
                </a:lnTo>
                <a:lnTo>
                  <a:pt x="145202" y="18680"/>
                </a:lnTo>
                <a:lnTo>
                  <a:pt x="104817" y="40598"/>
                </a:lnTo>
                <a:lnTo>
                  <a:pt x="69632" y="69627"/>
                </a:lnTo>
                <a:lnTo>
                  <a:pt x="40602" y="104812"/>
                </a:lnTo>
                <a:lnTo>
                  <a:pt x="18682" y="145196"/>
                </a:lnTo>
                <a:lnTo>
                  <a:pt x="4829" y="189825"/>
                </a:lnTo>
                <a:lnTo>
                  <a:pt x="0" y="237743"/>
                </a:lnTo>
                <a:lnTo>
                  <a:pt x="0" y="1188719"/>
                </a:lnTo>
                <a:lnTo>
                  <a:pt x="4829" y="1236638"/>
                </a:lnTo>
                <a:lnTo>
                  <a:pt x="18682" y="1281267"/>
                </a:lnTo>
                <a:lnTo>
                  <a:pt x="40602" y="1321651"/>
                </a:lnTo>
                <a:lnTo>
                  <a:pt x="69632" y="1356836"/>
                </a:lnTo>
                <a:lnTo>
                  <a:pt x="104817" y="1385865"/>
                </a:lnTo>
                <a:lnTo>
                  <a:pt x="145202" y="1407783"/>
                </a:lnTo>
                <a:lnTo>
                  <a:pt x="189829" y="1421634"/>
                </a:lnTo>
                <a:lnTo>
                  <a:pt x="237744" y="1426464"/>
                </a:lnTo>
                <a:lnTo>
                  <a:pt x="11490960" y="1426464"/>
                </a:lnTo>
                <a:lnTo>
                  <a:pt x="11538878" y="1421634"/>
                </a:lnTo>
                <a:lnTo>
                  <a:pt x="11583507" y="1407783"/>
                </a:lnTo>
                <a:lnTo>
                  <a:pt x="11623891" y="1385865"/>
                </a:lnTo>
                <a:lnTo>
                  <a:pt x="11659076" y="1356836"/>
                </a:lnTo>
                <a:lnTo>
                  <a:pt x="11688105" y="1321651"/>
                </a:lnTo>
                <a:lnTo>
                  <a:pt x="11710023" y="1281267"/>
                </a:lnTo>
                <a:lnTo>
                  <a:pt x="11723874" y="1236638"/>
                </a:lnTo>
                <a:lnTo>
                  <a:pt x="11728704" y="1188719"/>
                </a:lnTo>
                <a:lnTo>
                  <a:pt x="11728704" y="237743"/>
                </a:lnTo>
                <a:lnTo>
                  <a:pt x="11723874" y="189825"/>
                </a:lnTo>
                <a:lnTo>
                  <a:pt x="11710023" y="145196"/>
                </a:lnTo>
                <a:lnTo>
                  <a:pt x="11688105" y="104812"/>
                </a:lnTo>
                <a:lnTo>
                  <a:pt x="11659076" y="69627"/>
                </a:lnTo>
                <a:lnTo>
                  <a:pt x="11623891" y="40598"/>
                </a:lnTo>
                <a:lnTo>
                  <a:pt x="11583507" y="18680"/>
                </a:lnTo>
                <a:lnTo>
                  <a:pt x="11538878" y="4829"/>
                </a:lnTo>
                <a:lnTo>
                  <a:pt x="11490960" y="0"/>
                </a:lnTo>
                <a:close/>
              </a:path>
            </a:pathLst>
          </a:cu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3635EE-C852-50DA-43CB-267AE924A096}"/>
              </a:ext>
            </a:extLst>
          </p:cNvPr>
          <p:cNvSpPr/>
          <p:nvPr/>
        </p:nvSpPr>
        <p:spPr>
          <a:xfrm>
            <a:off x="401013" y="1377638"/>
            <a:ext cx="3372285" cy="290063"/>
          </a:xfrm>
          <a:prstGeom prst="rect">
            <a:avLst/>
          </a:prstGeom>
          <a:solidFill>
            <a:srgbClr val="B455AA"/>
          </a:solidFill>
          <a:ln w="12700" cap="flat" cmpd="sng" algn="ctr">
            <a:solidFill>
              <a:srgbClr val="B455AA"/>
            </a:solidFill>
            <a:prstDash val="solid"/>
            <a:miter lim="800000"/>
          </a:ln>
          <a:effectLst/>
        </p:spPr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Product segment &amp; Sample </a:t>
            </a:r>
            <a:r>
              <a:rPr kumimoji="0" 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produc</a:t>
            </a:r>
            <a:r>
              <a:rPr lang="en-US" sz="1400" b="1" kern="0" dirty="0">
                <a:solidFill>
                  <a:srgbClr val="FFFFFF"/>
                </a:solidFill>
                <a:latin typeface="Graphik"/>
              </a:rPr>
              <a:t>t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AB93ED-9E03-AE89-CDD9-CD73E89A4A4C}"/>
              </a:ext>
            </a:extLst>
          </p:cNvPr>
          <p:cNvSpPr/>
          <p:nvPr/>
        </p:nvSpPr>
        <p:spPr>
          <a:xfrm>
            <a:off x="4470560" y="1395330"/>
            <a:ext cx="1990782" cy="290063"/>
          </a:xfrm>
          <a:prstGeom prst="rect">
            <a:avLst/>
          </a:prstGeom>
          <a:solidFill>
            <a:srgbClr val="B455AA"/>
          </a:solidFill>
          <a:ln w="12700" cap="flat" cmpd="sng" algn="ctr">
            <a:solidFill>
              <a:srgbClr val="B455AA"/>
            </a:solidFill>
            <a:prstDash val="solid"/>
            <a:miter lim="800000"/>
          </a:ln>
          <a:effectLst/>
        </p:spPr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Customer personas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26E465-D79C-5171-0062-AEBA6CB83C10}"/>
              </a:ext>
            </a:extLst>
          </p:cNvPr>
          <p:cNvSpPr/>
          <p:nvPr/>
        </p:nvSpPr>
        <p:spPr>
          <a:xfrm>
            <a:off x="7152137" y="1380834"/>
            <a:ext cx="1990782" cy="291600"/>
          </a:xfrm>
          <a:prstGeom prst="rect">
            <a:avLst/>
          </a:prstGeom>
          <a:solidFill>
            <a:srgbClr val="B455AA"/>
          </a:solidFill>
          <a:ln w="12700" cap="flat" cmpd="sng" algn="ctr">
            <a:solidFill>
              <a:srgbClr val="B455AA"/>
            </a:solidFill>
            <a:prstDash val="solid"/>
            <a:miter lim="800000"/>
          </a:ln>
          <a:effectLst/>
        </p:spPr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Media strategy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965937-9A9A-1B3D-FFB1-0663C19AF0BF}"/>
              </a:ext>
            </a:extLst>
          </p:cNvPr>
          <p:cNvSpPr/>
          <p:nvPr/>
        </p:nvSpPr>
        <p:spPr>
          <a:xfrm>
            <a:off x="9646920" y="1395329"/>
            <a:ext cx="1990782" cy="290063"/>
          </a:xfrm>
          <a:prstGeom prst="rect">
            <a:avLst/>
          </a:prstGeom>
          <a:solidFill>
            <a:srgbClr val="B455AA"/>
          </a:solidFill>
          <a:ln w="12700" cap="flat" cmpd="sng" algn="ctr">
            <a:solidFill>
              <a:srgbClr val="B455AA"/>
            </a:solidFill>
            <a:prstDash val="solid"/>
            <a:miter lim="800000"/>
          </a:ln>
          <a:effectLst/>
        </p:spPr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Retail strategy</a:t>
            </a:r>
          </a:p>
        </p:txBody>
      </p:sp>
      <p:pic>
        <p:nvPicPr>
          <p:cNvPr id="11" name="Picture 2" descr="Buy PERFECT SHOPO Polyester and Cotton Body Wrap Bath Robe Cum Towel for  Women (Random, 456615) Online at desertcart Bermuda">
            <a:extLst>
              <a:ext uri="{FF2B5EF4-FFF2-40B4-BE49-F238E27FC236}">
                <a16:creationId xmlns:a16="http://schemas.microsoft.com/office/drawing/2014/main" id="{40151B86-141B-133B-386F-1E40CAC3BD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18" t="17021" r="20939" b="19511"/>
          <a:stretch/>
        </p:blipFill>
        <p:spPr bwMode="auto">
          <a:xfrm>
            <a:off x="2770413" y="1893157"/>
            <a:ext cx="1067313" cy="11854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bject 29">
            <a:extLst>
              <a:ext uri="{FF2B5EF4-FFF2-40B4-BE49-F238E27FC236}">
                <a16:creationId xmlns:a16="http://schemas.microsoft.com/office/drawing/2014/main" id="{465AB6E9-5273-15ED-F83E-D5E7E12B23C4}"/>
              </a:ext>
            </a:extLst>
          </p:cNvPr>
          <p:cNvSpPr txBox="1"/>
          <p:nvPr/>
        </p:nvSpPr>
        <p:spPr>
          <a:xfrm>
            <a:off x="472458" y="1893157"/>
            <a:ext cx="235279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r>
              <a:rPr sz="1400" b="1" i="1" dirty="0">
                <a:solidFill>
                  <a:schemeClr val="bg1"/>
                </a:solidFill>
                <a:latin typeface="Calibri"/>
                <a:cs typeface="Calibri"/>
              </a:rPr>
              <a:t>Mid-High</a:t>
            </a:r>
            <a:r>
              <a:rPr sz="1400" b="1" i="1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400" b="1" i="1" spc="-10" dirty="0">
                <a:solidFill>
                  <a:schemeClr val="bg1"/>
                </a:solidFill>
                <a:latin typeface="Calibri"/>
                <a:cs typeface="Calibri"/>
              </a:rPr>
              <a:t>Price</a:t>
            </a:r>
            <a:r>
              <a:rPr sz="1400" b="1" i="1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400" b="1" i="1" spc="-5" dirty="0">
                <a:solidFill>
                  <a:schemeClr val="bg1"/>
                </a:solidFill>
                <a:latin typeface="Calibri"/>
                <a:cs typeface="Calibri"/>
              </a:rPr>
              <a:t>Premium</a:t>
            </a:r>
            <a:r>
              <a:rPr lang="en-IN" sz="1400" b="1" i="1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endParaRPr sz="14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13" name="object 29">
            <a:extLst>
              <a:ext uri="{FF2B5EF4-FFF2-40B4-BE49-F238E27FC236}">
                <a16:creationId xmlns:a16="http://schemas.microsoft.com/office/drawing/2014/main" id="{76FD7CF7-0CEC-343A-AD6A-065373B66CC8}"/>
              </a:ext>
            </a:extLst>
          </p:cNvPr>
          <p:cNvSpPr txBox="1"/>
          <p:nvPr/>
        </p:nvSpPr>
        <p:spPr>
          <a:xfrm>
            <a:off x="460943" y="2209798"/>
            <a:ext cx="235279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r>
              <a:rPr lang="en-IN" sz="1400" b="1" i="1" dirty="0">
                <a:solidFill>
                  <a:schemeClr val="bg1"/>
                </a:solidFill>
                <a:latin typeface="Calibri"/>
                <a:cs typeface="Calibri"/>
              </a:rPr>
              <a:t>Sustainability driven </a:t>
            </a:r>
            <a:endParaRPr lang="en-IN" sz="14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14" name="object 29">
            <a:extLst>
              <a:ext uri="{FF2B5EF4-FFF2-40B4-BE49-F238E27FC236}">
                <a16:creationId xmlns:a16="http://schemas.microsoft.com/office/drawing/2014/main" id="{E3377311-D137-612A-69D3-0D4A912A9671}"/>
              </a:ext>
            </a:extLst>
          </p:cNvPr>
          <p:cNvSpPr txBox="1"/>
          <p:nvPr/>
        </p:nvSpPr>
        <p:spPr>
          <a:xfrm>
            <a:off x="442366" y="2490994"/>
            <a:ext cx="235279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r>
              <a:rPr lang="en-IN" sz="1400" b="1" i="1" dirty="0">
                <a:solidFill>
                  <a:schemeClr val="bg1"/>
                </a:solidFill>
                <a:latin typeface="Calibri"/>
                <a:cs typeface="Calibri"/>
              </a:rPr>
              <a:t>Towel cum bathrobe</a:t>
            </a:r>
            <a:endParaRPr sz="14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pic>
        <p:nvPicPr>
          <p:cNvPr id="15" name="object 45">
            <a:extLst>
              <a:ext uri="{FF2B5EF4-FFF2-40B4-BE49-F238E27FC236}">
                <a16:creationId xmlns:a16="http://schemas.microsoft.com/office/drawing/2014/main" id="{32CB0059-A3AB-EF22-7D65-0D4DD750B3B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99424" y="1930919"/>
            <a:ext cx="609600" cy="609600"/>
          </a:xfrm>
          <a:prstGeom prst="rect">
            <a:avLst/>
          </a:prstGeom>
        </p:spPr>
      </p:pic>
      <p:pic>
        <p:nvPicPr>
          <p:cNvPr id="16" name="object 51">
            <a:extLst>
              <a:ext uri="{FF2B5EF4-FFF2-40B4-BE49-F238E27FC236}">
                <a16:creationId xmlns:a16="http://schemas.microsoft.com/office/drawing/2014/main" id="{1BE65E86-1BB5-55EF-E17C-4664BF5D3C4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80692" y="1868811"/>
            <a:ext cx="649224" cy="636348"/>
          </a:xfrm>
          <a:prstGeom prst="rect">
            <a:avLst/>
          </a:prstGeom>
        </p:spPr>
      </p:pic>
      <p:sp>
        <p:nvSpPr>
          <p:cNvPr id="17" name="object 46">
            <a:extLst>
              <a:ext uri="{FF2B5EF4-FFF2-40B4-BE49-F238E27FC236}">
                <a16:creationId xmlns:a16="http://schemas.microsoft.com/office/drawing/2014/main" id="{38D476D7-C66F-142F-4235-A49418FF5CF0}"/>
              </a:ext>
            </a:extLst>
          </p:cNvPr>
          <p:cNvSpPr txBox="1"/>
          <p:nvPr/>
        </p:nvSpPr>
        <p:spPr>
          <a:xfrm>
            <a:off x="4160778" y="2644847"/>
            <a:ext cx="807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1920" marR="5080" indent="-109855">
              <a:lnSpc>
                <a:spcPct val="100000"/>
              </a:lnSpc>
              <a:spcBef>
                <a:spcPts val="100"/>
              </a:spcBef>
            </a:pPr>
            <a:r>
              <a:rPr sz="1200" b="1" i="1" spc="-100" dirty="0">
                <a:solidFill>
                  <a:schemeClr val="bg1"/>
                </a:solidFill>
                <a:latin typeface="Calibri"/>
                <a:cs typeface="Calibri"/>
              </a:rPr>
              <a:t>Y</a:t>
            </a:r>
            <a:r>
              <a:rPr sz="1200" b="1" i="1" spc="-5" dirty="0">
                <a:solidFill>
                  <a:schemeClr val="bg1"/>
                </a:solidFill>
                <a:latin typeface="Calibri"/>
                <a:cs typeface="Calibri"/>
              </a:rPr>
              <a:t>o</a:t>
            </a:r>
            <a:r>
              <a:rPr sz="1200" b="1" i="1" spc="5" dirty="0">
                <a:solidFill>
                  <a:schemeClr val="bg1"/>
                </a:solidFill>
                <a:latin typeface="Calibri"/>
                <a:cs typeface="Calibri"/>
              </a:rPr>
              <a:t>u</a:t>
            </a:r>
            <a:r>
              <a:rPr sz="1200" b="1" i="1" spc="-5" dirty="0">
                <a:solidFill>
                  <a:schemeClr val="bg1"/>
                </a:solidFill>
                <a:latin typeface="Calibri"/>
                <a:cs typeface="Calibri"/>
              </a:rPr>
              <a:t>n</a:t>
            </a:r>
            <a:r>
              <a:rPr sz="1200" b="1" i="1" dirty="0">
                <a:solidFill>
                  <a:schemeClr val="bg1"/>
                </a:solidFill>
                <a:latin typeface="Calibri"/>
                <a:cs typeface="Calibri"/>
              </a:rPr>
              <a:t>g,</a:t>
            </a:r>
            <a:r>
              <a:rPr sz="1200" b="1" i="1" spc="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200" b="1" i="1" spc="-25" dirty="0">
                <a:solidFill>
                  <a:schemeClr val="bg1"/>
                </a:solidFill>
                <a:latin typeface="Calibri"/>
                <a:cs typeface="Calibri"/>
              </a:rPr>
              <a:t>E</a:t>
            </a:r>
            <a:r>
              <a:rPr sz="1200" b="1" i="1" dirty="0">
                <a:solidFill>
                  <a:schemeClr val="bg1"/>
                </a:solidFill>
                <a:latin typeface="Calibri"/>
                <a:cs typeface="Calibri"/>
              </a:rPr>
              <a:t>arly  </a:t>
            </a:r>
            <a:r>
              <a:rPr sz="1200" b="1" i="1" spc="-5" dirty="0">
                <a:solidFill>
                  <a:schemeClr val="bg1"/>
                </a:solidFill>
                <a:latin typeface="Calibri"/>
                <a:cs typeface="Calibri"/>
              </a:rPr>
              <a:t>adopters</a:t>
            </a:r>
            <a:endParaRPr sz="12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18" name="object 29">
            <a:extLst>
              <a:ext uri="{FF2B5EF4-FFF2-40B4-BE49-F238E27FC236}">
                <a16:creationId xmlns:a16="http://schemas.microsoft.com/office/drawing/2014/main" id="{AEFE31A0-FE10-99ED-CEFE-611F14B5447D}"/>
              </a:ext>
            </a:extLst>
          </p:cNvPr>
          <p:cNvSpPr txBox="1"/>
          <p:nvPr/>
        </p:nvSpPr>
        <p:spPr>
          <a:xfrm>
            <a:off x="442367" y="2793104"/>
            <a:ext cx="235279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r>
              <a:rPr lang="en-IN" sz="1400" b="1" i="1" dirty="0">
                <a:solidFill>
                  <a:schemeClr val="bg1"/>
                </a:solidFill>
                <a:latin typeface="Calibri"/>
                <a:cs typeface="Calibri"/>
              </a:rPr>
              <a:t>Anti-bacterial self-cleaning</a:t>
            </a:r>
            <a:endParaRPr sz="14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19" name="object 46">
            <a:extLst>
              <a:ext uri="{FF2B5EF4-FFF2-40B4-BE49-F238E27FC236}">
                <a16:creationId xmlns:a16="http://schemas.microsoft.com/office/drawing/2014/main" id="{56574159-D649-4D17-363A-55D24C2EA9A1}"/>
              </a:ext>
            </a:extLst>
          </p:cNvPr>
          <p:cNvSpPr txBox="1"/>
          <p:nvPr/>
        </p:nvSpPr>
        <p:spPr>
          <a:xfrm>
            <a:off x="4992303" y="2557016"/>
            <a:ext cx="169326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marR="5080" indent="-6350" algn="ctr">
              <a:lnSpc>
                <a:spcPct val="100000"/>
              </a:lnSpc>
              <a:spcBef>
                <a:spcPts val="100"/>
              </a:spcBef>
            </a:pPr>
            <a:r>
              <a:rPr lang="en-US" sz="1200" b="1" i="1" spc="-5" dirty="0">
                <a:solidFill>
                  <a:schemeClr val="bg1"/>
                </a:solidFill>
                <a:latin typeface="Calibri"/>
                <a:cs typeface="Calibri"/>
              </a:rPr>
              <a:t>Middle</a:t>
            </a:r>
            <a:r>
              <a:rPr lang="en-US" sz="1200" b="1" i="1" spc="-3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1200" b="1" i="1" dirty="0">
                <a:solidFill>
                  <a:schemeClr val="bg1"/>
                </a:solidFill>
                <a:latin typeface="Calibri"/>
                <a:cs typeface="Calibri"/>
              </a:rPr>
              <a:t>Aged,</a:t>
            </a:r>
            <a:r>
              <a:rPr lang="en-US" sz="1200" b="1" i="1" spc="-35" dirty="0">
                <a:solidFill>
                  <a:schemeClr val="bg1"/>
                </a:solidFill>
                <a:latin typeface="Calibri"/>
                <a:cs typeface="Calibri"/>
              </a:rPr>
              <a:t> working professionals with </a:t>
            </a:r>
            <a:r>
              <a:rPr lang="en-US" sz="1200" b="1" i="1" dirty="0">
                <a:solidFill>
                  <a:schemeClr val="bg1"/>
                </a:solidFill>
                <a:latin typeface="Calibri"/>
                <a:cs typeface="Calibri"/>
              </a:rPr>
              <a:t>High </a:t>
            </a:r>
            <a:r>
              <a:rPr lang="en-US" sz="1200" b="1" i="1" spc="-26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1200" b="1" i="1" dirty="0">
                <a:solidFill>
                  <a:schemeClr val="bg1"/>
                </a:solidFill>
                <a:latin typeface="Calibri"/>
                <a:cs typeface="Calibri"/>
              </a:rPr>
              <a:t>disposable</a:t>
            </a:r>
            <a:r>
              <a:rPr lang="en-US" sz="1200" b="1" i="1" spc="-3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1200" b="1" i="1" spc="-10" dirty="0">
                <a:solidFill>
                  <a:schemeClr val="bg1"/>
                </a:solidFill>
                <a:latin typeface="Calibri"/>
                <a:cs typeface="Calibri"/>
              </a:rPr>
              <a:t>income</a:t>
            </a:r>
            <a:endParaRPr lang="en-US" sz="12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6890874-5395-239D-28AE-A5AD1A84D3BD}"/>
              </a:ext>
            </a:extLst>
          </p:cNvPr>
          <p:cNvGrpSpPr/>
          <p:nvPr/>
        </p:nvGrpSpPr>
        <p:grpSpPr>
          <a:xfrm>
            <a:off x="7036143" y="1938137"/>
            <a:ext cx="2229412" cy="1129466"/>
            <a:chOff x="6477510" y="1909076"/>
            <a:chExt cx="2229412" cy="1129466"/>
          </a:xfrm>
        </p:grpSpPr>
        <p:pic>
          <p:nvPicPr>
            <p:cNvPr id="21" name="object 63">
              <a:extLst>
                <a:ext uri="{FF2B5EF4-FFF2-40B4-BE49-F238E27FC236}">
                  <a16:creationId xmlns:a16="http://schemas.microsoft.com/office/drawing/2014/main" id="{EC4DB720-94A8-F311-2DEB-DC3586A97FA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37887" y="1943900"/>
              <a:ext cx="405383" cy="405384"/>
            </a:xfrm>
            <a:prstGeom prst="rect">
              <a:avLst/>
            </a:prstGeom>
          </p:spPr>
        </p:pic>
        <p:sp>
          <p:nvSpPr>
            <p:cNvPr id="22" name="object 31">
              <a:extLst>
                <a:ext uri="{FF2B5EF4-FFF2-40B4-BE49-F238E27FC236}">
                  <a16:creationId xmlns:a16="http://schemas.microsoft.com/office/drawing/2014/main" id="{8F324771-CABD-8B83-71EF-73259BE2FDE4}"/>
                </a:ext>
              </a:extLst>
            </p:cNvPr>
            <p:cNvSpPr/>
            <p:nvPr/>
          </p:nvSpPr>
          <p:spPr>
            <a:xfrm>
              <a:off x="7117905" y="2027772"/>
              <a:ext cx="216000" cy="252000"/>
            </a:xfrm>
            <a:custGeom>
              <a:avLst/>
              <a:gdLst/>
              <a:ahLst/>
              <a:cxnLst/>
              <a:rect l="l" t="t" r="r" b="b"/>
              <a:pathLst>
                <a:path w="299084" h="298450">
                  <a:moveTo>
                    <a:pt x="298958" y="101600"/>
                  </a:moveTo>
                  <a:lnTo>
                    <a:pt x="197104" y="101600"/>
                  </a:lnTo>
                  <a:lnTo>
                    <a:pt x="197104" y="0"/>
                  </a:lnTo>
                  <a:lnTo>
                    <a:pt x="101854" y="0"/>
                  </a:lnTo>
                  <a:lnTo>
                    <a:pt x="101854" y="101600"/>
                  </a:lnTo>
                  <a:lnTo>
                    <a:pt x="0" y="101600"/>
                  </a:lnTo>
                  <a:lnTo>
                    <a:pt x="0" y="196850"/>
                  </a:lnTo>
                  <a:lnTo>
                    <a:pt x="101854" y="196850"/>
                  </a:lnTo>
                  <a:lnTo>
                    <a:pt x="101854" y="298450"/>
                  </a:lnTo>
                  <a:lnTo>
                    <a:pt x="197104" y="298450"/>
                  </a:lnTo>
                  <a:lnTo>
                    <a:pt x="197104" y="196850"/>
                  </a:lnTo>
                  <a:lnTo>
                    <a:pt x="298958" y="196850"/>
                  </a:lnTo>
                  <a:lnTo>
                    <a:pt x="298958" y="10160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23" name="object 28">
              <a:extLst>
                <a:ext uri="{FF2B5EF4-FFF2-40B4-BE49-F238E27FC236}">
                  <a16:creationId xmlns:a16="http://schemas.microsoft.com/office/drawing/2014/main" id="{A7E4F449-95C1-AFA4-6090-D47E0F24B2DC}"/>
                </a:ext>
              </a:extLst>
            </p:cNvPr>
            <p:cNvSpPr txBox="1"/>
            <p:nvPr/>
          </p:nvSpPr>
          <p:spPr>
            <a:xfrm>
              <a:off x="7158523" y="2644964"/>
              <a:ext cx="985519" cy="3911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 indent="276860">
                <a:lnSpc>
                  <a:spcPct val="100000"/>
                </a:lnSpc>
                <a:spcBef>
                  <a:spcPts val="100"/>
                </a:spcBef>
              </a:pPr>
              <a:r>
                <a:rPr sz="1200" i="1" spc="-5" dirty="0">
                  <a:solidFill>
                    <a:schemeClr val="bg1"/>
                  </a:solidFill>
                  <a:latin typeface="Calibri"/>
                  <a:cs typeface="Calibri"/>
                </a:rPr>
                <a:t>Digital </a:t>
              </a:r>
              <a:r>
                <a:rPr sz="1200" i="1" dirty="0">
                  <a:solidFill>
                    <a:schemeClr val="bg1"/>
                  </a:solidFill>
                  <a:latin typeface="Calibri"/>
                  <a:cs typeface="Calibri"/>
                </a:rPr>
                <a:t> A</a:t>
              </a:r>
              <a:r>
                <a:rPr sz="1200" i="1" spc="-5" dirty="0">
                  <a:solidFill>
                    <a:schemeClr val="bg1"/>
                  </a:solidFill>
                  <a:latin typeface="Calibri"/>
                  <a:cs typeface="Calibri"/>
                </a:rPr>
                <a:t>d</a:t>
              </a:r>
              <a:r>
                <a:rPr sz="1200" i="1" dirty="0">
                  <a:solidFill>
                    <a:schemeClr val="bg1"/>
                  </a:solidFill>
                  <a:latin typeface="Calibri"/>
                  <a:cs typeface="Calibri"/>
                </a:rPr>
                <a:t>vertiseme</a:t>
              </a:r>
              <a:r>
                <a:rPr sz="1200" i="1" spc="-20" dirty="0">
                  <a:solidFill>
                    <a:schemeClr val="bg1"/>
                  </a:solidFill>
                  <a:latin typeface="Calibri"/>
                  <a:cs typeface="Calibri"/>
                </a:rPr>
                <a:t>n</a:t>
              </a:r>
              <a:r>
                <a:rPr sz="1200" i="1" dirty="0">
                  <a:solidFill>
                    <a:schemeClr val="bg1"/>
                  </a:solidFill>
                  <a:latin typeface="Calibri"/>
                  <a:cs typeface="Calibri"/>
                </a:rPr>
                <a:t>ts</a:t>
              </a:r>
              <a:endParaRPr sz="1200" dirty="0">
                <a:solidFill>
                  <a:schemeClr val="bg1"/>
                </a:solidFill>
                <a:latin typeface="Calibri"/>
                <a:cs typeface="Calibri"/>
              </a:endParaRPr>
            </a:p>
          </p:txBody>
        </p:sp>
        <p:pic>
          <p:nvPicPr>
            <p:cNvPr id="24" name="object 32">
              <a:extLst>
                <a:ext uri="{FF2B5EF4-FFF2-40B4-BE49-F238E27FC236}">
                  <a16:creationId xmlns:a16="http://schemas.microsoft.com/office/drawing/2014/main" id="{A6A85073-5C69-F40F-D112-A895B69F301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08540" y="1969174"/>
              <a:ext cx="403859" cy="405384"/>
            </a:xfrm>
            <a:prstGeom prst="rect">
              <a:avLst/>
            </a:prstGeom>
          </p:spPr>
        </p:pic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CEEA0288-208C-6701-4B32-F43EE49B254C}"/>
                </a:ext>
              </a:extLst>
            </p:cNvPr>
            <p:cNvSpPr txBox="1"/>
            <p:nvPr/>
          </p:nvSpPr>
          <p:spPr>
            <a:xfrm>
              <a:off x="6477510" y="2647382"/>
              <a:ext cx="664845" cy="3911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 indent="12065">
                <a:lnSpc>
                  <a:spcPct val="100000"/>
                </a:lnSpc>
                <a:spcBef>
                  <a:spcPts val="100"/>
                </a:spcBef>
              </a:pPr>
              <a:r>
                <a:rPr sz="1200" i="1" spc="-5" dirty="0">
                  <a:solidFill>
                    <a:schemeClr val="bg1"/>
                  </a:solidFill>
                  <a:latin typeface="Calibri"/>
                  <a:cs typeface="Calibri"/>
                </a:rPr>
                <a:t>Influencer </a:t>
              </a:r>
              <a:r>
                <a:rPr sz="1200" i="1" spc="-260" dirty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sz="1200" i="1" dirty="0">
                  <a:solidFill>
                    <a:schemeClr val="bg1"/>
                  </a:solidFill>
                  <a:latin typeface="Calibri"/>
                  <a:cs typeface="Calibri"/>
                </a:rPr>
                <a:t>M</a:t>
              </a:r>
              <a:r>
                <a:rPr sz="1200" i="1" spc="-5" dirty="0">
                  <a:solidFill>
                    <a:schemeClr val="bg1"/>
                  </a:solidFill>
                  <a:latin typeface="Calibri"/>
                  <a:cs typeface="Calibri"/>
                </a:rPr>
                <a:t>a</a:t>
              </a:r>
              <a:r>
                <a:rPr sz="1200" i="1" dirty="0">
                  <a:solidFill>
                    <a:schemeClr val="bg1"/>
                  </a:solidFill>
                  <a:latin typeface="Calibri"/>
                  <a:cs typeface="Calibri"/>
                </a:rPr>
                <a:t>r</a:t>
              </a:r>
              <a:r>
                <a:rPr sz="1200" i="1" spc="-50" dirty="0">
                  <a:solidFill>
                    <a:schemeClr val="bg1"/>
                  </a:solidFill>
                  <a:latin typeface="Calibri"/>
                  <a:cs typeface="Calibri"/>
                </a:rPr>
                <a:t>k</a:t>
              </a:r>
              <a:r>
                <a:rPr sz="1200" i="1" spc="-10" dirty="0">
                  <a:solidFill>
                    <a:schemeClr val="bg1"/>
                  </a:solidFill>
                  <a:latin typeface="Calibri"/>
                  <a:cs typeface="Calibri"/>
                </a:rPr>
                <a:t>e</a:t>
              </a:r>
              <a:r>
                <a:rPr sz="1200" i="1" dirty="0">
                  <a:solidFill>
                    <a:schemeClr val="bg1"/>
                  </a:solidFill>
                  <a:latin typeface="Calibri"/>
                  <a:cs typeface="Calibri"/>
                </a:rPr>
                <a:t>ti</a:t>
              </a:r>
              <a:r>
                <a:rPr sz="1200" i="1" spc="-5" dirty="0">
                  <a:solidFill>
                    <a:schemeClr val="bg1"/>
                  </a:solidFill>
                  <a:latin typeface="Calibri"/>
                  <a:cs typeface="Calibri"/>
                </a:rPr>
                <a:t>n</a:t>
              </a:r>
              <a:r>
                <a:rPr sz="1200" i="1" dirty="0">
                  <a:solidFill>
                    <a:schemeClr val="bg1"/>
                  </a:solidFill>
                  <a:latin typeface="Calibri"/>
                  <a:cs typeface="Calibri"/>
                </a:rPr>
                <a:t>g</a:t>
              </a:r>
              <a:endParaRPr sz="1200" dirty="0">
                <a:solidFill>
                  <a:schemeClr val="bg1"/>
                </a:solidFill>
                <a:latin typeface="Calibri"/>
                <a:cs typeface="Calibri"/>
              </a:endParaRPr>
            </a:p>
          </p:txBody>
        </p:sp>
        <p:sp>
          <p:nvSpPr>
            <p:cNvPr id="26" name="object 31">
              <a:extLst>
                <a:ext uri="{FF2B5EF4-FFF2-40B4-BE49-F238E27FC236}">
                  <a16:creationId xmlns:a16="http://schemas.microsoft.com/office/drawing/2014/main" id="{1FCB4A12-CBD4-E184-B654-70228D3185AD}"/>
                </a:ext>
              </a:extLst>
            </p:cNvPr>
            <p:cNvSpPr/>
            <p:nvPr/>
          </p:nvSpPr>
          <p:spPr>
            <a:xfrm>
              <a:off x="7877432" y="2020489"/>
              <a:ext cx="216000" cy="252000"/>
            </a:xfrm>
            <a:custGeom>
              <a:avLst/>
              <a:gdLst/>
              <a:ahLst/>
              <a:cxnLst/>
              <a:rect l="l" t="t" r="r" b="b"/>
              <a:pathLst>
                <a:path w="299084" h="298450">
                  <a:moveTo>
                    <a:pt x="298958" y="101600"/>
                  </a:moveTo>
                  <a:lnTo>
                    <a:pt x="197104" y="101600"/>
                  </a:lnTo>
                  <a:lnTo>
                    <a:pt x="197104" y="0"/>
                  </a:lnTo>
                  <a:lnTo>
                    <a:pt x="101854" y="0"/>
                  </a:lnTo>
                  <a:lnTo>
                    <a:pt x="101854" y="101600"/>
                  </a:lnTo>
                  <a:lnTo>
                    <a:pt x="0" y="101600"/>
                  </a:lnTo>
                  <a:lnTo>
                    <a:pt x="0" y="196850"/>
                  </a:lnTo>
                  <a:lnTo>
                    <a:pt x="101854" y="196850"/>
                  </a:lnTo>
                  <a:lnTo>
                    <a:pt x="101854" y="298450"/>
                  </a:lnTo>
                  <a:lnTo>
                    <a:pt x="197104" y="298450"/>
                  </a:lnTo>
                  <a:lnTo>
                    <a:pt x="197104" y="196850"/>
                  </a:lnTo>
                  <a:lnTo>
                    <a:pt x="298958" y="196850"/>
                  </a:lnTo>
                  <a:lnTo>
                    <a:pt x="298958" y="10160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pic>
          <p:nvPicPr>
            <p:cNvPr id="27" name="object 54">
              <a:extLst>
                <a:ext uri="{FF2B5EF4-FFF2-40B4-BE49-F238E27FC236}">
                  <a16:creationId xmlns:a16="http://schemas.microsoft.com/office/drawing/2014/main" id="{45EF8144-9EDC-C246-00AC-4D39C11424D6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81642" y="1909076"/>
              <a:ext cx="402644" cy="478013"/>
            </a:xfrm>
            <a:prstGeom prst="rect">
              <a:avLst/>
            </a:prstGeom>
          </p:spPr>
        </p:pic>
        <p:sp>
          <p:nvSpPr>
            <p:cNvPr id="28" name="object 56">
              <a:extLst>
                <a:ext uri="{FF2B5EF4-FFF2-40B4-BE49-F238E27FC236}">
                  <a16:creationId xmlns:a16="http://schemas.microsoft.com/office/drawing/2014/main" id="{69C87DE2-C468-DDD5-A314-E5CAA3BA0A88}"/>
                </a:ext>
              </a:extLst>
            </p:cNvPr>
            <p:cNvSpPr txBox="1"/>
            <p:nvPr/>
          </p:nvSpPr>
          <p:spPr>
            <a:xfrm>
              <a:off x="8304279" y="2747091"/>
              <a:ext cx="402643" cy="19749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200" i="1" spc="-5" dirty="0">
                  <a:solidFill>
                    <a:schemeClr val="bg1"/>
                  </a:solidFill>
                  <a:latin typeface="Calibri"/>
                  <a:cs typeface="Calibri"/>
                </a:rPr>
                <a:t>B</a:t>
              </a:r>
              <a:r>
                <a:rPr sz="1200" i="1" dirty="0">
                  <a:solidFill>
                    <a:schemeClr val="bg1"/>
                  </a:solidFill>
                  <a:latin typeface="Calibri"/>
                  <a:cs typeface="Calibri"/>
                </a:rPr>
                <a:t>l</a:t>
              </a:r>
              <a:r>
                <a:rPr sz="1200" i="1" spc="-5" dirty="0">
                  <a:solidFill>
                    <a:schemeClr val="bg1"/>
                  </a:solidFill>
                  <a:latin typeface="Calibri"/>
                  <a:cs typeface="Calibri"/>
                </a:rPr>
                <a:t>og</a:t>
              </a:r>
              <a:r>
                <a:rPr sz="1200" i="1" dirty="0">
                  <a:solidFill>
                    <a:schemeClr val="bg1"/>
                  </a:solidFill>
                  <a:latin typeface="Calibri"/>
                  <a:cs typeface="Calibri"/>
                </a:rPr>
                <a:t>s</a:t>
              </a:r>
              <a:endParaRPr sz="1200" dirty="0">
                <a:solidFill>
                  <a:schemeClr val="bg1"/>
                </a:solidFill>
                <a:latin typeface="Calibri"/>
                <a:cs typeface="Calibri"/>
              </a:endParaRPr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2EA7528-EEE5-E1AC-E54D-2265A7EEDCE2}"/>
              </a:ext>
            </a:extLst>
          </p:cNvPr>
          <p:cNvCxnSpPr>
            <a:cxnSpLocks/>
          </p:cNvCxnSpPr>
          <p:nvPr/>
        </p:nvCxnSpPr>
        <p:spPr>
          <a:xfrm flipH="1">
            <a:off x="6707657" y="1816333"/>
            <a:ext cx="25594" cy="1387712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6E5E2C2-A2D2-4D9D-80D7-4FC411C284EB}"/>
              </a:ext>
            </a:extLst>
          </p:cNvPr>
          <p:cNvCxnSpPr>
            <a:cxnSpLocks/>
          </p:cNvCxnSpPr>
          <p:nvPr/>
        </p:nvCxnSpPr>
        <p:spPr>
          <a:xfrm flipH="1">
            <a:off x="9508285" y="1786450"/>
            <a:ext cx="25594" cy="1387712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40F63E9-8BC2-1023-DEB2-836C7C2CF385}"/>
              </a:ext>
            </a:extLst>
          </p:cNvPr>
          <p:cNvCxnSpPr>
            <a:cxnSpLocks/>
          </p:cNvCxnSpPr>
          <p:nvPr/>
        </p:nvCxnSpPr>
        <p:spPr>
          <a:xfrm flipH="1">
            <a:off x="4038968" y="1797138"/>
            <a:ext cx="25594" cy="1387712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bject 7">
            <a:extLst>
              <a:ext uri="{FF2B5EF4-FFF2-40B4-BE49-F238E27FC236}">
                <a16:creationId xmlns:a16="http://schemas.microsoft.com/office/drawing/2014/main" id="{71FD5FA7-CDE9-2E4D-EADA-7EAA63199373}"/>
              </a:ext>
            </a:extLst>
          </p:cNvPr>
          <p:cNvSpPr/>
          <p:nvPr/>
        </p:nvSpPr>
        <p:spPr>
          <a:xfrm>
            <a:off x="381001" y="1828447"/>
            <a:ext cx="11375570" cy="1380699"/>
          </a:xfrm>
          <a:custGeom>
            <a:avLst/>
            <a:gdLst/>
            <a:ahLst/>
            <a:cxnLst/>
            <a:rect l="l" t="t" r="r" b="b"/>
            <a:pathLst>
              <a:path w="11729085" h="1426845">
                <a:moveTo>
                  <a:pt x="11490960" y="0"/>
                </a:moveTo>
                <a:lnTo>
                  <a:pt x="237744" y="0"/>
                </a:lnTo>
                <a:lnTo>
                  <a:pt x="189829" y="4829"/>
                </a:lnTo>
                <a:lnTo>
                  <a:pt x="145202" y="18680"/>
                </a:lnTo>
                <a:lnTo>
                  <a:pt x="104817" y="40598"/>
                </a:lnTo>
                <a:lnTo>
                  <a:pt x="69632" y="69627"/>
                </a:lnTo>
                <a:lnTo>
                  <a:pt x="40602" y="104812"/>
                </a:lnTo>
                <a:lnTo>
                  <a:pt x="18682" y="145196"/>
                </a:lnTo>
                <a:lnTo>
                  <a:pt x="4829" y="189825"/>
                </a:lnTo>
                <a:lnTo>
                  <a:pt x="0" y="237743"/>
                </a:lnTo>
                <a:lnTo>
                  <a:pt x="0" y="1188719"/>
                </a:lnTo>
                <a:lnTo>
                  <a:pt x="4829" y="1236638"/>
                </a:lnTo>
                <a:lnTo>
                  <a:pt x="18682" y="1281267"/>
                </a:lnTo>
                <a:lnTo>
                  <a:pt x="40602" y="1321651"/>
                </a:lnTo>
                <a:lnTo>
                  <a:pt x="69632" y="1356836"/>
                </a:lnTo>
                <a:lnTo>
                  <a:pt x="104817" y="1385865"/>
                </a:lnTo>
                <a:lnTo>
                  <a:pt x="145202" y="1407783"/>
                </a:lnTo>
                <a:lnTo>
                  <a:pt x="189829" y="1421634"/>
                </a:lnTo>
                <a:lnTo>
                  <a:pt x="237744" y="1426464"/>
                </a:lnTo>
                <a:lnTo>
                  <a:pt x="11490960" y="1426464"/>
                </a:lnTo>
                <a:lnTo>
                  <a:pt x="11538878" y="1421634"/>
                </a:lnTo>
                <a:lnTo>
                  <a:pt x="11583507" y="1407783"/>
                </a:lnTo>
                <a:lnTo>
                  <a:pt x="11623891" y="1385865"/>
                </a:lnTo>
                <a:lnTo>
                  <a:pt x="11659076" y="1356836"/>
                </a:lnTo>
                <a:lnTo>
                  <a:pt x="11688105" y="1321651"/>
                </a:lnTo>
                <a:lnTo>
                  <a:pt x="11710023" y="1281267"/>
                </a:lnTo>
                <a:lnTo>
                  <a:pt x="11723874" y="1236638"/>
                </a:lnTo>
                <a:lnTo>
                  <a:pt x="11728704" y="1188719"/>
                </a:lnTo>
                <a:lnTo>
                  <a:pt x="11728704" y="237743"/>
                </a:lnTo>
                <a:lnTo>
                  <a:pt x="11723874" y="189825"/>
                </a:lnTo>
                <a:lnTo>
                  <a:pt x="11710023" y="145196"/>
                </a:lnTo>
                <a:lnTo>
                  <a:pt x="11688105" y="104812"/>
                </a:lnTo>
                <a:lnTo>
                  <a:pt x="11659076" y="69627"/>
                </a:lnTo>
                <a:lnTo>
                  <a:pt x="11623891" y="40598"/>
                </a:lnTo>
                <a:lnTo>
                  <a:pt x="11583507" y="18680"/>
                </a:lnTo>
                <a:lnTo>
                  <a:pt x="11538878" y="4829"/>
                </a:lnTo>
                <a:lnTo>
                  <a:pt x="11490960" y="0"/>
                </a:lnTo>
                <a:close/>
              </a:path>
            </a:pathLst>
          </a:custGeom>
          <a:solidFill>
            <a:schemeClr val="accent6">
              <a:alpha val="14509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57">
            <a:extLst>
              <a:ext uri="{FF2B5EF4-FFF2-40B4-BE49-F238E27FC236}">
                <a16:creationId xmlns:a16="http://schemas.microsoft.com/office/drawing/2014/main" id="{1341C498-CB35-A7B7-0355-0656CD8F4944}"/>
              </a:ext>
            </a:extLst>
          </p:cNvPr>
          <p:cNvSpPr txBox="1"/>
          <p:nvPr/>
        </p:nvSpPr>
        <p:spPr>
          <a:xfrm>
            <a:off x="10090728" y="2460472"/>
            <a:ext cx="1369695" cy="534762"/>
          </a:xfrm>
          <a:prstGeom prst="rect">
            <a:avLst/>
          </a:prstGeom>
          <a:solidFill>
            <a:schemeClr val="accent6"/>
          </a:solidFill>
        </p:spPr>
        <p:txBody>
          <a:bodyPr vert="horz" wrap="square" lIns="0" tIns="26670" rIns="0" bIns="0" rtlCol="0">
            <a:spAutoFit/>
          </a:bodyPr>
          <a:lstStyle/>
          <a:p>
            <a:pPr marL="147320" marR="142875" indent="-635" algn="ctr">
              <a:lnSpc>
                <a:spcPct val="100000"/>
              </a:lnSpc>
              <a:spcBef>
                <a:spcPts val="210"/>
              </a:spcBef>
            </a:pPr>
            <a:r>
              <a:rPr sz="1200" b="1" i="1" spc="-5" dirty="0">
                <a:solidFill>
                  <a:schemeClr val="bg1"/>
                </a:solidFill>
                <a:latin typeface="Calibri"/>
                <a:cs typeface="Calibri"/>
              </a:rPr>
              <a:t>E-Commerce </a:t>
            </a:r>
            <a:r>
              <a:rPr sz="1200" b="1" i="1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50" i="1" spc="-5" dirty="0">
                <a:solidFill>
                  <a:schemeClr val="bg1"/>
                </a:solidFill>
                <a:latin typeface="Calibri"/>
                <a:cs typeface="Calibri"/>
              </a:rPr>
              <a:t>Flash Sales, Product </a:t>
            </a:r>
            <a:r>
              <a:rPr sz="1050" i="1" spc="-2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50" i="1" spc="-5" dirty="0">
                <a:solidFill>
                  <a:schemeClr val="bg1"/>
                </a:solidFill>
                <a:latin typeface="Calibri"/>
                <a:cs typeface="Calibri"/>
              </a:rPr>
              <a:t>Promotion</a:t>
            </a:r>
            <a:r>
              <a:rPr sz="1050" i="1" spc="-3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50" i="1" spc="-5" dirty="0">
                <a:solidFill>
                  <a:schemeClr val="bg1"/>
                </a:solidFill>
                <a:latin typeface="Calibri"/>
                <a:cs typeface="Calibri"/>
              </a:rPr>
              <a:t>pages</a:t>
            </a:r>
            <a:endParaRPr sz="105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pic>
        <p:nvPicPr>
          <p:cNvPr id="34" name="object 68">
            <a:extLst>
              <a:ext uri="{FF2B5EF4-FFF2-40B4-BE49-F238E27FC236}">
                <a16:creationId xmlns:a16="http://schemas.microsoft.com/office/drawing/2014/main" id="{F2FA3C37-8E68-5FA1-917F-2B648E74166D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429742" y="1821959"/>
            <a:ext cx="598931" cy="598931"/>
          </a:xfrm>
          <a:prstGeom prst="rect">
            <a:avLst/>
          </a:prstGeom>
        </p:spPr>
      </p:pic>
      <p:grpSp>
        <p:nvGrpSpPr>
          <p:cNvPr id="35" name="object 48">
            <a:extLst>
              <a:ext uri="{FF2B5EF4-FFF2-40B4-BE49-F238E27FC236}">
                <a16:creationId xmlns:a16="http://schemas.microsoft.com/office/drawing/2014/main" id="{DCD89625-2B4E-FF3D-4966-44722B785406}"/>
              </a:ext>
            </a:extLst>
          </p:cNvPr>
          <p:cNvGrpSpPr/>
          <p:nvPr/>
        </p:nvGrpSpPr>
        <p:grpSpPr>
          <a:xfrm>
            <a:off x="564556" y="3273856"/>
            <a:ext cx="2004473" cy="2931001"/>
            <a:chOff x="1071654" y="2715836"/>
            <a:chExt cx="2661285" cy="3955415"/>
          </a:xfrm>
        </p:grpSpPr>
        <p:sp>
          <p:nvSpPr>
            <p:cNvPr id="36" name="object 49">
              <a:extLst>
                <a:ext uri="{FF2B5EF4-FFF2-40B4-BE49-F238E27FC236}">
                  <a16:creationId xmlns:a16="http://schemas.microsoft.com/office/drawing/2014/main" id="{4B06CF25-DB8F-FBF8-33C9-8814019DD6B2}"/>
                </a:ext>
              </a:extLst>
            </p:cNvPr>
            <p:cNvSpPr/>
            <p:nvPr/>
          </p:nvSpPr>
          <p:spPr>
            <a:xfrm>
              <a:off x="1078004" y="2722186"/>
              <a:ext cx="2648585" cy="3942715"/>
            </a:xfrm>
            <a:custGeom>
              <a:avLst/>
              <a:gdLst/>
              <a:ahLst/>
              <a:cxnLst/>
              <a:rect l="l" t="t" r="r" b="b"/>
              <a:pathLst>
                <a:path w="2648585" h="3942715">
                  <a:moveTo>
                    <a:pt x="0" y="441374"/>
                  </a:moveTo>
                  <a:lnTo>
                    <a:pt x="2589" y="393281"/>
                  </a:lnTo>
                  <a:lnTo>
                    <a:pt x="10180" y="346689"/>
                  </a:lnTo>
                  <a:lnTo>
                    <a:pt x="22501" y="301866"/>
                  </a:lnTo>
                  <a:lnTo>
                    <a:pt x="39284" y="259081"/>
                  </a:lnTo>
                  <a:lnTo>
                    <a:pt x="60260" y="218604"/>
                  </a:lnTo>
                  <a:lnTo>
                    <a:pt x="85159" y="180704"/>
                  </a:lnTo>
                  <a:lnTo>
                    <a:pt x="113712" y="145650"/>
                  </a:lnTo>
                  <a:lnTo>
                    <a:pt x="145651" y="113712"/>
                  </a:lnTo>
                  <a:lnTo>
                    <a:pt x="180704" y="85159"/>
                  </a:lnTo>
                  <a:lnTo>
                    <a:pt x="218604" y="60260"/>
                  </a:lnTo>
                  <a:lnTo>
                    <a:pt x="259081" y="39284"/>
                  </a:lnTo>
                  <a:lnTo>
                    <a:pt x="301866" y="22501"/>
                  </a:lnTo>
                  <a:lnTo>
                    <a:pt x="346689" y="10180"/>
                  </a:lnTo>
                  <a:lnTo>
                    <a:pt x="393282" y="2589"/>
                  </a:lnTo>
                  <a:lnTo>
                    <a:pt x="441375" y="0"/>
                  </a:lnTo>
                  <a:lnTo>
                    <a:pt x="2206823" y="0"/>
                  </a:lnTo>
                  <a:lnTo>
                    <a:pt x="2254915" y="2589"/>
                  </a:lnTo>
                  <a:lnTo>
                    <a:pt x="2301508" y="10180"/>
                  </a:lnTo>
                  <a:lnTo>
                    <a:pt x="2346331" y="22501"/>
                  </a:lnTo>
                  <a:lnTo>
                    <a:pt x="2389116" y="39284"/>
                  </a:lnTo>
                  <a:lnTo>
                    <a:pt x="2429593" y="60260"/>
                  </a:lnTo>
                  <a:lnTo>
                    <a:pt x="2467493" y="85159"/>
                  </a:lnTo>
                  <a:lnTo>
                    <a:pt x="2502547" y="113712"/>
                  </a:lnTo>
                  <a:lnTo>
                    <a:pt x="2534485" y="145650"/>
                  </a:lnTo>
                  <a:lnTo>
                    <a:pt x="2563038" y="180704"/>
                  </a:lnTo>
                  <a:lnTo>
                    <a:pt x="2587937" y="218604"/>
                  </a:lnTo>
                  <a:lnTo>
                    <a:pt x="2608913" y="259081"/>
                  </a:lnTo>
                  <a:lnTo>
                    <a:pt x="2625696" y="301866"/>
                  </a:lnTo>
                  <a:lnTo>
                    <a:pt x="2638017" y="346689"/>
                  </a:lnTo>
                  <a:lnTo>
                    <a:pt x="2645608" y="393281"/>
                  </a:lnTo>
                  <a:lnTo>
                    <a:pt x="2648198" y="441374"/>
                  </a:lnTo>
                  <a:lnTo>
                    <a:pt x="2648198" y="3501233"/>
                  </a:lnTo>
                  <a:lnTo>
                    <a:pt x="2645608" y="3549325"/>
                  </a:lnTo>
                  <a:lnTo>
                    <a:pt x="2638017" y="3595918"/>
                  </a:lnTo>
                  <a:lnTo>
                    <a:pt x="2625696" y="3640741"/>
                  </a:lnTo>
                  <a:lnTo>
                    <a:pt x="2608913" y="3683526"/>
                  </a:lnTo>
                  <a:lnTo>
                    <a:pt x="2587937" y="3724003"/>
                  </a:lnTo>
                  <a:lnTo>
                    <a:pt x="2563038" y="3761903"/>
                  </a:lnTo>
                  <a:lnTo>
                    <a:pt x="2534485" y="3796957"/>
                  </a:lnTo>
                  <a:lnTo>
                    <a:pt x="2502547" y="3828895"/>
                  </a:lnTo>
                  <a:lnTo>
                    <a:pt x="2467493" y="3857448"/>
                  </a:lnTo>
                  <a:lnTo>
                    <a:pt x="2429593" y="3882347"/>
                  </a:lnTo>
                  <a:lnTo>
                    <a:pt x="2389116" y="3903323"/>
                  </a:lnTo>
                  <a:lnTo>
                    <a:pt x="2346331" y="3920106"/>
                  </a:lnTo>
                  <a:lnTo>
                    <a:pt x="2301508" y="3932427"/>
                  </a:lnTo>
                  <a:lnTo>
                    <a:pt x="2254915" y="3940018"/>
                  </a:lnTo>
                  <a:lnTo>
                    <a:pt x="2206823" y="3942608"/>
                  </a:lnTo>
                  <a:lnTo>
                    <a:pt x="441375" y="3942608"/>
                  </a:lnTo>
                  <a:lnTo>
                    <a:pt x="393282" y="3940018"/>
                  </a:lnTo>
                  <a:lnTo>
                    <a:pt x="346689" y="3932427"/>
                  </a:lnTo>
                  <a:lnTo>
                    <a:pt x="301866" y="3920106"/>
                  </a:lnTo>
                  <a:lnTo>
                    <a:pt x="259081" y="3903323"/>
                  </a:lnTo>
                  <a:lnTo>
                    <a:pt x="218604" y="3882347"/>
                  </a:lnTo>
                  <a:lnTo>
                    <a:pt x="180704" y="3857448"/>
                  </a:lnTo>
                  <a:lnTo>
                    <a:pt x="145651" y="3828895"/>
                  </a:lnTo>
                  <a:lnTo>
                    <a:pt x="113712" y="3796957"/>
                  </a:lnTo>
                  <a:lnTo>
                    <a:pt x="85159" y="3761903"/>
                  </a:lnTo>
                  <a:lnTo>
                    <a:pt x="60260" y="3724003"/>
                  </a:lnTo>
                  <a:lnTo>
                    <a:pt x="39284" y="3683526"/>
                  </a:lnTo>
                  <a:lnTo>
                    <a:pt x="22501" y="3640741"/>
                  </a:lnTo>
                  <a:lnTo>
                    <a:pt x="10180" y="3595918"/>
                  </a:lnTo>
                  <a:lnTo>
                    <a:pt x="2589" y="3549325"/>
                  </a:lnTo>
                  <a:lnTo>
                    <a:pt x="0" y="3501233"/>
                  </a:lnTo>
                  <a:lnTo>
                    <a:pt x="0" y="441374"/>
                  </a:lnTo>
                  <a:close/>
                </a:path>
              </a:pathLst>
            </a:custGeom>
            <a:ln w="127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50">
              <a:extLst>
                <a:ext uri="{FF2B5EF4-FFF2-40B4-BE49-F238E27FC236}">
                  <a16:creationId xmlns:a16="http://schemas.microsoft.com/office/drawing/2014/main" id="{A9EED4C0-ED72-4D73-982B-EEC4025DCB8D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09471" y="2782823"/>
              <a:ext cx="2569464" cy="984503"/>
            </a:xfrm>
            <a:prstGeom prst="rect">
              <a:avLst/>
            </a:prstGeom>
          </p:spPr>
        </p:pic>
        <p:sp>
          <p:nvSpPr>
            <p:cNvPr id="38" name="object 51">
              <a:extLst>
                <a:ext uri="{FF2B5EF4-FFF2-40B4-BE49-F238E27FC236}">
                  <a16:creationId xmlns:a16="http://schemas.microsoft.com/office/drawing/2014/main" id="{A664893E-DAE2-0A13-A495-0D22798EA6D9}"/>
                </a:ext>
              </a:extLst>
            </p:cNvPr>
            <p:cNvSpPr/>
            <p:nvPr/>
          </p:nvSpPr>
          <p:spPr>
            <a:xfrm>
              <a:off x="1181920" y="2854646"/>
              <a:ext cx="2424430" cy="842010"/>
            </a:xfrm>
            <a:custGeom>
              <a:avLst/>
              <a:gdLst/>
              <a:ahLst/>
              <a:cxnLst/>
              <a:rect l="l" t="t" r="r" b="b"/>
              <a:pathLst>
                <a:path w="2424429" h="842010">
                  <a:moveTo>
                    <a:pt x="2105920" y="0"/>
                  </a:moveTo>
                  <a:lnTo>
                    <a:pt x="318447" y="0"/>
                  </a:lnTo>
                  <a:lnTo>
                    <a:pt x="271390" y="3452"/>
                  </a:lnTo>
                  <a:lnTo>
                    <a:pt x="226476" y="13482"/>
                  </a:lnTo>
                  <a:lnTo>
                    <a:pt x="184198" y="29597"/>
                  </a:lnTo>
                  <a:lnTo>
                    <a:pt x="145049" y="51303"/>
                  </a:lnTo>
                  <a:lnTo>
                    <a:pt x="109522" y="78109"/>
                  </a:lnTo>
                  <a:lnTo>
                    <a:pt x="78110" y="109522"/>
                  </a:lnTo>
                  <a:lnTo>
                    <a:pt x="51304" y="145049"/>
                  </a:lnTo>
                  <a:lnTo>
                    <a:pt x="29597" y="184198"/>
                  </a:lnTo>
                  <a:lnTo>
                    <a:pt x="13482" y="226476"/>
                  </a:lnTo>
                  <a:lnTo>
                    <a:pt x="3452" y="271390"/>
                  </a:lnTo>
                  <a:lnTo>
                    <a:pt x="0" y="318448"/>
                  </a:lnTo>
                  <a:lnTo>
                    <a:pt x="0" y="523452"/>
                  </a:lnTo>
                  <a:lnTo>
                    <a:pt x="3452" y="570509"/>
                  </a:lnTo>
                  <a:lnTo>
                    <a:pt x="13482" y="615423"/>
                  </a:lnTo>
                  <a:lnTo>
                    <a:pt x="29597" y="657701"/>
                  </a:lnTo>
                  <a:lnTo>
                    <a:pt x="51304" y="696849"/>
                  </a:lnTo>
                  <a:lnTo>
                    <a:pt x="78110" y="732376"/>
                  </a:lnTo>
                  <a:lnTo>
                    <a:pt x="109522" y="763789"/>
                  </a:lnTo>
                  <a:lnTo>
                    <a:pt x="145049" y="790595"/>
                  </a:lnTo>
                  <a:lnTo>
                    <a:pt x="184198" y="812302"/>
                  </a:lnTo>
                  <a:lnTo>
                    <a:pt x="226476" y="828416"/>
                  </a:lnTo>
                  <a:lnTo>
                    <a:pt x="271390" y="838446"/>
                  </a:lnTo>
                  <a:lnTo>
                    <a:pt x="318447" y="841899"/>
                  </a:lnTo>
                  <a:lnTo>
                    <a:pt x="2105920" y="841899"/>
                  </a:lnTo>
                  <a:lnTo>
                    <a:pt x="2152978" y="838446"/>
                  </a:lnTo>
                  <a:lnTo>
                    <a:pt x="2197892" y="828416"/>
                  </a:lnTo>
                  <a:lnTo>
                    <a:pt x="2240170" y="812302"/>
                  </a:lnTo>
                  <a:lnTo>
                    <a:pt x="2279318" y="790595"/>
                  </a:lnTo>
                  <a:lnTo>
                    <a:pt x="2314845" y="763789"/>
                  </a:lnTo>
                  <a:lnTo>
                    <a:pt x="2346258" y="732376"/>
                  </a:lnTo>
                  <a:lnTo>
                    <a:pt x="2373064" y="696849"/>
                  </a:lnTo>
                  <a:lnTo>
                    <a:pt x="2394770" y="657701"/>
                  </a:lnTo>
                  <a:lnTo>
                    <a:pt x="2410885" y="615423"/>
                  </a:lnTo>
                  <a:lnTo>
                    <a:pt x="2420915" y="570509"/>
                  </a:lnTo>
                  <a:lnTo>
                    <a:pt x="2424368" y="523452"/>
                  </a:lnTo>
                  <a:lnTo>
                    <a:pt x="2424368" y="318448"/>
                  </a:lnTo>
                  <a:lnTo>
                    <a:pt x="2420915" y="271390"/>
                  </a:lnTo>
                  <a:lnTo>
                    <a:pt x="2410885" y="226476"/>
                  </a:lnTo>
                  <a:lnTo>
                    <a:pt x="2394770" y="184198"/>
                  </a:lnTo>
                  <a:lnTo>
                    <a:pt x="2373064" y="145049"/>
                  </a:lnTo>
                  <a:lnTo>
                    <a:pt x="2346258" y="109522"/>
                  </a:lnTo>
                  <a:lnTo>
                    <a:pt x="2314845" y="78109"/>
                  </a:lnTo>
                  <a:lnTo>
                    <a:pt x="2279318" y="51303"/>
                  </a:lnTo>
                  <a:lnTo>
                    <a:pt x="2240170" y="29597"/>
                  </a:lnTo>
                  <a:lnTo>
                    <a:pt x="2197892" y="13482"/>
                  </a:lnTo>
                  <a:lnTo>
                    <a:pt x="2152978" y="3452"/>
                  </a:lnTo>
                  <a:lnTo>
                    <a:pt x="2105920" y="0"/>
                  </a:lnTo>
                  <a:close/>
                </a:path>
              </a:pathLst>
            </a:custGeom>
            <a:solidFill>
              <a:srgbClr val="8537B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9" name="object 52">
              <a:extLst>
                <a:ext uri="{FF2B5EF4-FFF2-40B4-BE49-F238E27FC236}">
                  <a16:creationId xmlns:a16="http://schemas.microsoft.com/office/drawing/2014/main" id="{1E18A280-B692-EF94-517E-5883664615D2}"/>
                </a:ext>
              </a:extLst>
            </p:cNvPr>
            <p:cNvSpPr/>
            <p:nvPr/>
          </p:nvSpPr>
          <p:spPr>
            <a:xfrm>
              <a:off x="1181920" y="2854646"/>
              <a:ext cx="2424430" cy="842010"/>
            </a:xfrm>
            <a:custGeom>
              <a:avLst/>
              <a:gdLst/>
              <a:ahLst/>
              <a:cxnLst/>
              <a:rect l="l" t="t" r="r" b="b"/>
              <a:pathLst>
                <a:path w="2424429" h="842010">
                  <a:moveTo>
                    <a:pt x="0" y="318448"/>
                  </a:moveTo>
                  <a:lnTo>
                    <a:pt x="3452" y="271390"/>
                  </a:lnTo>
                  <a:lnTo>
                    <a:pt x="13482" y="226476"/>
                  </a:lnTo>
                  <a:lnTo>
                    <a:pt x="29597" y="184198"/>
                  </a:lnTo>
                  <a:lnTo>
                    <a:pt x="51303" y="145049"/>
                  </a:lnTo>
                  <a:lnTo>
                    <a:pt x="78109" y="109522"/>
                  </a:lnTo>
                  <a:lnTo>
                    <a:pt x="109522" y="78109"/>
                  </a:lnTo>
                  <a:lnTo>
                    <a:pt x="145049" y="51303"/>
                  </a:lnTo>
                  <a:lnTo>
                    <a:pt x="184198" y="29597"/>
                  </a:lnTo>
                  <a:lnTo>
                    <a:pt x="226475" y="13482"/>
                  </a:lnTo>
                  <a:lnTo>
                    <a:pt x="271389" y="3452"/>
                  </a:lnTo>
                  <a:lnTo>
                    <a:pt x="318447" y="0"/>
                  </a:lnTo>
                  <a:lnTo>
                    <a:pt x="2105921" y="0"/>
                  </a:lnTo>
                  <a:lnTo>
                    <a:pt x="2152978" y="3452"/>
                  </a:lnTo>
                  <a:lnTo>
                    <a:pt x="2197892" y="13482"/>
                  </a:lnTo>
                  <a:lnTo>
                    <a:pt x="2240170" y="29597"/>
                  </a:lnTo>
                  <a:lnTo>
                    <a:pt x="2279318" y="51303"/>
                  </a:lnTo>
                  <a:lnTo>
                    <a:pt x="2314845" y="78109"/>
                  </a:lnTo>
                  <a:lnTo>
                    <a:pt x="2346258" y="109522"/>
                  </a:lnTo>
                  <a:lnTo>
                    <a:pt x="2373064" y="145049"/>
                  </a:lnTo>
                  <a:lnTo>
                    <a:pt x="2394770" y="184198"/>
                  </a:lnTo>
                  <a:lnTo>
                    <a:pt x="2410885" y="226476"/>
                  </a:lnTo>
                  <a:lnTo>
                    <a:pt x="2420915" y="271390"/>
                  </a:lnTo>
                  <a:lnTo>
                    <a:pt x="2424368" y="318448"/>
                  </a:lnTo>
                  <a:lnTo>
                    <a:pt x="2424368" y="523451"/>
                  </a:lnTo>
                  <a:lnTo>
                    <a:pt x="2420915" y="570508"/>
                  </a:lnTo>
                  <a:lnTo>
                    <a:pt x="2410885" y="615423"/>
                  </a:lnTo>
                  <a:lnTo>
                    <a:pt x="2394770" y="657700"/>
                  </a:lnTo>
                  <a:lnTo>
                    <a:pt x="2373064" y="696849"/>
                  </a:lnTo>
                  <a:lnTo>
                    <a:pt x="2346258" y="732376"/>
                  </a:lnTo>
                  <a:lnTo>
                    <a:pt x="2314845" y="763789"/>
                  </a:lnTo>
                  <a:lnTo>
                    <a:pt x="2279318" y="790595"/>
                  </a:lnTo>
                  <a:lnTo>
                    <a:pt x="2240170" y="812301"/>
                  </a:lnTo>
                  <a:lnTo>
                    <a:pt x="2197892" y="828416"/>
                  </a:lnTo>
                  <a:lnTo>
                    <a:pt x="2152978" y="838446"/>
                  </a:lnTo>
                  <a:lnTo>
                    <a:pt x="2105921" y="841899"/>
                  </a:lnTo>
                  <a:lnTo>
                    <a:pt x="318447" y="841899"/>
                  </a:lnTo>
                  <a:lnTo>
                    <a:pt x="271389" y="838446"/>
                  </a:lnTo>
                  <a:lnTo>
                    <a:pt x="226475" y="828416"/>
                  </a:lnTo>
                  <a:lnTo>
                    <a:pt x="184198" y="812301"/>
                  </a:lnTo>
                  <a:lnTo>
                    <a:pt x="145049" y="790595"/>
                  </a:lnTo>
                  <a:lnTo>
                    <a:pt x="109522" y="763789"/>
                  </a:lnTo>
                  <a:lnTo>
                    <a:pt x="78109" y="732376"/>
                  </a:lnTo>
                  <a:lnTo>
                    <a:pt x="51303" y="696849"/>
                  </a:lnTo>
                  <a:lnTo>
                    <a:pt x="29597" y="657700"/>
                  </a:lnTo>
                  <a:lnTo>
                    <a:pt x="13482" y="615423"/>
                  </a:lnTo>
                  <a:lnTo>
                    <a:pt x="3452" y="570508"/>
                  </a:lnTo>
                  <a:lnTo>
                    <a:pt x="0" y="523451"/>
                  </a:lnTo>
                  <a:lnTo>
                    <a:pt x="0" y="318448"/>
                  </a:lnTo>
                  <a:close/>
                </a:path>
              </a:pathLst>
            </a:custGeom>
            <a:ln w="127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2">
            <a:extLst>
              <a:ext uri="{FF2B5EF4-FFF2-40B4-BE49-F238E27FC236}">
                <a16:creationId xmlns:a16="http://schemas.microsoft.com/office/drawing/2014/main" id="{AF5BD563-4D3E-8916-D00C-29A9B5E75568}"/>
              </a:ext>
            </a:extLst>
          </p:cNvPr>
          <p:cNvGrpSpPr/>
          <p:nvPr/>
        </p:nvGrpSpPr>
        <p:grpSpPr>
          <a:xfrm>
            <a:off x="4591839" y="3612893"/>
            <a:ext cx="7164732" cy="957879"/>
            <a:chOff x="222504" y="1420367"/>
            <a:chExt cx="11673840" cy="1237488"/>
          </a:xfrm>
        </p:grpSpPr>
        <p:pic>
          <p:nvPicPr>
            <p:cNvPr id="41" name="object 3">
              <a:extLst>
                <a:ext uri="{FF2B5EF4-FFF2-40B4-BE49-F238E27FC236}">
                  <a16:creationId xmlns:a16="http://schemas.microsoft.com/office/drawing/2014/main" id="{625A91B4-5D5A-0D7B-1C4E-44C2695658ED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2504" y="1420367"/>
              <a:ext cx="11673840" cy="1237488"/>
            </a:xfrm>
            <a:prstGeom prst="rect">
              <a:avLst/>
            </a:prstGeom>
          </p:spPr>
        </p:pic>
        <p:sp>
          <p:nvSpPr>
            <p:cNvPr id="43" name="object 4">
              <a:extLst>
                <a:ext uri="{FF2B5EF4-FFF2-40B4-BE49-F238E27FC236}">
                  <a16:creationId xmlns:a16="http://schemas.microsoft.com/office/drawing/2014/main" id="{FC7D1491-38B8-5AD2-2D21-0967F7EDC672}"/>
                </a:ext>
              </a:extLst>
            </p:cNvPr>
            <p:cNvSpPr/>
            <p:nvPr/>
          </p:nvSpPr>
          <p:spPr>
            <a:xfrm>
              <a:off x="326872" y="1524407"/>
              <a:ext cx="11467465" cy="1031240"/>
            </a:xfrm>
            <a:custGeom>
              <a:avLst/>
              <a:gdLst/>
              <a:ahLst/>
              <a:cxnLst/>
              <a:rect l="l" t="t" r="r" b="b"/>
              <a:pathLst>
                <a:path w="11467465" h="1031239">
                  <a:moveTo>
                    <a:pt x="11295228" y="0"/>
                  </a:moveTo>
                  <a:lnTo>
                    <a:pt x="171792" y="0"/>
                  </a:lnTo>
                  <a:lnTo>
                    <a:pt x="126122" y="6136"/>
                  </a:lnTo>
                  <a:lnTo>
                    <a:pt x="85085" y="23454"/>
                  </a:lnTo>
                  <a:lnTo>
                    <a:pt x="50316" y="50317"/>
                  </a:lnTo>
                  <a:lnTo>
                    <a:pt x="23454" y="85086"/>
                  </a:lnTo>
                  <a:lnTo>
                    <a:pt x="6136" y="126124"/>
                  </a:lnTo>
                  <a:lnTo>
                    <a:pt x="0" y="171794"/>
                  </a:lnTo>
                  <a:lnTo>
                    <a:pt x="0" y="858946"/>
                  </a:lnTo>
                  <a:lnTo>
                    <a:pt x="6136" y="904616"/>
                  </a:lnTo>
                  <a:lnTo>
                    <a:pt x="23454" y="945654"/>
                  </a:lnTo>
                  <a:lnTo>
                    <a:pt x="50316" y="980423"/>
                  </a:lnTo>
                  <a:lnTo>
                    <a:pt x="85085" y="1007285"/>
                  </a:lnTo>
                  <a:lnTo>
                    <a:pt x="126122" y="1024604"/>
                  </a:lnTo>
                  <a:lnTo>
                    <a:pt x="171792" y="1030740"/>
                  </a:lnTo>
                  <a:lnTo>
                    <a:pt x="11295228" y="1030740"/>
                  </a:lnTo>
                  <a:lnTo>
                    <a:pt x="11340897" y="1024604"/>
                  </a:lnTo>
                  <a:lnTo>
                    <a:pt x="11381935" y="1007285"/>
                  </a:lnTo>
                  <a:lnTo>
                    <a:pt x="11416703" y="980423"/>
                  </a:lnTo>
                  <a:lnTo>
                    <a:pt x="11443565" y="945654"/>
                  </a:lnTo>
                  <a:lnTo>
                    <a:pt x="11460883" y="904616"/>
                  </a:lnTo>
                  <a:lnTo>
                    <a:pt x="11467020" y="858946"/>
                  </a:lnTo>
                  <a:lnTo>
                    <a:pt x="11467020" y="171794"/>
                  </a:lnTo>
                  <a:lnTo>
                    <a:pt x="11460883" y="126124"/>
                  </a:lnTo>
                  <a:lnTo>
                    <a:pt x="11443565" y="85086"/>
                  </a:lnTo>
                  <a:lnTo>
                    <a:pt x="11416703" y="50317"/>
                  </a:lnTo>
                  <a:lnTo>
                    <a:pt x="11381935" y="23454"/>
                  </a:lnTo>
                  <a:lnTo>
                    <a:pt x="11340897" y="6136"/>
                  </a:lnTo>
                  <a:lnTo>
                    <a:pt x="11295228" y="0"/>
                  </a:lnTo>
                  <a:close/>
                </a:path>
              </a:pathLst>
            </a:custGeom>
            <a:solidFill>
              <a:srgbClr val="E7E6E6">
                <a:alpha val="77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44" name="object 5">
              <a:extLst>
                <a:ext uri="{FF2B5EF4-FFF2-40B4-BE49-F238E27FC236}">
                  <a16:creationId xmlns:a16="http://schemas.microsoft.com/office/drawing/2014/main" id="{BD3071BB-284F-610E-D25C-1E50039EBF36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46013" y="1767259"/>
              <a:ext cx="684163" cy="643572"/>
            </a:xfrm>
            <a:prstGeom prst="rect">
              <a:avLst/>
            </a:prstGeom>
          </p:spPr>
        </p:pic>
      </p:grpSp>
      <p:pic>
        <p:nvPicPr>
          <p:cNvPr id="45" name="object 68">
            <a:extLst>
              <a:ext uri="{FF2B5EF4-FFF2-40B4-BE49-F238E27FC236}">
                <a16:creationId xmlns:a16="http://schemas.microsoft.com/office/drawing/2014/main" id="{DD1808AF-F964-98D4-A15C-3E941A2CA7FC}"/>
              </a:ext>
            </a:extLst>
          </p:cNvPr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309364" y="3245107"/>
            <a:ext cx="352751" cy="352752"/>
          </a:xfrm>
          <a:prstGeom prst="rect">
            <a:avLst/>
          </a:prstGeom>
        </p:spPr>
      </p:pic>
      <p:sp>
        <p:nvSpPr>
          <p:cNvPr id="46" name="object 8">
            <a:extLst>
              <a:ext uri="{FF2B5EF4-FFF2-40B4-BE49-F238E27FC236}">
                <a16:creationId xmlns:a16="http://schemas.microsoft.com/office/drawing/2014/main" id="{F549D2FA-C0AA-726D-630E-A55047699B49}"/>
              </a:ext>
            </a:extLst>
          </p:cNvPr>
          <p:cNvSpPr txBox="1"/>
          <p:nvPr/>
        </p:nvSpPr>
        <p:spPr>
          <a:xfrm>
            <a:off x="7745989" y="3299352"/>
            <a:ext cx="1278890" cy="25327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50" spc="125" dirty="0">
                <a:solidFill>
                  <a:schemeClr val="bg1"/>
                </a:solidFill>
                <a:latin typeface="Arial MT"/>
                <a:cs typeface="Arial MT"/>
              </a:rPr>
              <a:t>Vision</a:t>
            </a:r>
            <a:r>
              <a:rPr sz="1550" spc="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50" spc="215" dirty="0">
                <a:solidFill>
                  <a:schemeClr val="bg1"/>
                </a:solidFill>
                <a:latin typeface="Arial MT"/>
                <a:cs typeface="Arial MT"/>
              </a:rPr>
              <a:t>2030</a:t>
            </a:r>
            <a:endParaRPr sz="1550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  <p:grpSp>
        <p:nvGrpSpPr>
          <p:cNvPr id="52" name="object 48">
            <a:extLst>
              <a:ext uri="{FF2B5EF4-FFF2-40B4-BE49-F238E27FC236}">
                <a16:creationId xmlns:a16="http://schemas.microsoft.com/office/drawing/2014/main" id="{3C488202-C4EE-DC40-2FEC-4960E584E5A8}"/>
              </a:ext>
            </a:extLst>
          </p:cNvPr>
          <p:cNvGrpSpPr/>
          <p:nvPr/>
        </p:nvGrpSpPr>
        <p:grpSpPr>
          <a:xfrm>
            <a:off x="2564246" y="3286393"/>
            <a:ext cx="2004473" cy="2931001"/>
            <a:chOff x="1071654" y="2715836"/>
            <a:chExt cx="2661285" cy="3955415"/>
          </a:xfrm>
        </p:grpSpPr>
        <p:sp>
          <p:nvSpPr>
            <p:cNvPr id="53" name="object 49">
              <a:extLst>
                <a:ext uri="{FF2B5EF4-FFF2-40B4-BE49-F238E27FC236}">
                  <a16:creationId xmlns:a16="http://schemas.microsoft.com/office/drawing/2014/main" id="{DBA0AFF7-2422-A4B1-5D0D-B2AE17B1F13F}"/>
                </a:ext>
              </a:extLst>
            </p:cNvPr>
            <p:cNvSpPr/>
            <p:nvPr/>
          </p:nvSpPr>
          <p:spPr>
            <a:xfrm>
              <a:off x="1078004" y="2722186"/>
              <a:ext cx="2648585" cy="3942715"/>
            </a:xfrm>
            <a:custGeom>
              <a:avLst/>
              <a:gdLst/>
              <a:ahLst/>
              <a:cxnLst/>
              <a:rect l="l" t="t" r="r" b="b"/>
              <a:pathLst>
                <a:path w="2648585" h="3942715">
                  <a:moveTo>
                    <a:pt x="0" y="441374"/>
                  </a:moveTo>
                  <a:lnTo>
                    <a:pt x="2589" y="393281"/>
                  </a:lnTo>
                  <a:lnTo>
                    <a:pt x="10180" y="346689"/>
                  </a:lnTo>
                  <a:lnTo>
                    <a:pt x="22501" y="301866"/>
                  </a:lnTo>
                  <a:lnTo>
                    <a:pt x="39284" y="259081"/>
                  </a:lnTo>
                  <a:lnTo>
                    <a:pt x="60260" y="218604"/>
                  </a:lnTo>
                  <a:lnTo>
                    <a:pt x="85159" y="180704"/>
                  </a:lnTo>
                  <a:lnTo>
                    <a:pt x="113712" y="145650"/>
                  </a:lnTo>
                  <a:lnTo>
                    <a:pt x="145651" y="113712"/>
                  </a:lnTo>
                  <a:lnTo>
                    <a:pt x="180704" y="85159"/>
                  </a:lnTo>
                  <a:lnTo>
                    <a:pt x="218604" y="60260"/>
                  </a:lnTo>
                  <a:lnTo>
                    <a:pt x="259081" y="39284"/>
                  </a:lnTo>
                  <a:lnTo>
                    <a:pt x="301866" y="22501"/>
                  </a:lnTo>
                  <a:lnTo>
                    <a:pt x="346689" y="10180"/>
                  </a:lnTo>
                  <a:lnTo>
                    <a:pt x="393282" y="2589"/>
                  </a:lnTo>
                  <a:lnTo>
                    <a:pt x="441375" y="0"/>
                  </a:lnTo>
                  <a:lnTo>
                    <a:pt x="2206823" y="0"/>
                  </a:lnTo>
                  <a:lnTo>
                    <a:pt x="2254915" y="2589"/>
                  </a:lnTo>
                  <a:lnTo>
                    <a:pt x="2301508" y="10180"/>
                  </a:lnTo>
                  <a:lnTo>
                    <a:pt x="2346331" y="22501"/>
                  </a:lnTo>
                  <a:lnTo>
                    <a:pt x="2389116" y="39284"/>
                  </a:lnTo>
                  <a:lnTo>
                    <a:pt x="2429593" y="60260"/>
                  </a:lnTo>
                  <a:lnTo>
                    <a:pt x="2467493" y="85159"/>
                  </a:lnTo>
                  <a:lnTo>
                    <a:pt x="2502547" y="113712"/>
                  </a:lnTo>
                  <a:lnTo>
                    <a:pt x="2534485" y="145650"/>
                  </a:lnTo>
                  <a:lnTo>
                    <a:pt x="2563038" y="180704"/>
                  </a:lnTo>
                  <a:lnTo>
                    <a:pt x="2587937" y="218604"/>
                  </a:lnTo>
                  <a:lnTo>
                    <a:pt x="2608913" y="259081"/>
                  </a:lnTo>
                  <a:lnTo>
                    <a:pt x="2625696" y="301866"/>
                  </a:lnTo>
                  <a:lnTo>
                    <a:pt x="2638017" y="346689"/>
                  </a:lnTo>
                  <a:lnTo>
                    <a:pt x="2645608" y="393281"/>
                  </a:lnTo>
                  <a:lnTo>
                    <a:pt x="2648198" y="441374"/>
                  </a:lnTo>
                  <a:lnTo>
                    <a:pt x="2648198" y="3501233"/>
                  </a:lnTo>
                  <a:lnTo>
                    <a:pt x="2645608" y="3549325"/>
                  </a:lnTo>
                  <a:lnTo>
                    <a:pt x="2638017" y="3595918"/>
                  </a:lnTo>
                  <a:lnTo>
                    <a:pt x="2625696" y="3640741"/>
                  </a:lnTo>
                  <a:lnTo>
                    <a:pt x="2608913" y="3683526"/>
                  </a:lnTo>
                  <a:lnTo>
                    <a:pt x="2587937" y="3724003"/>
                  </a:lnTo>
                  <a:lnTo>
                    <a:pt x="2563038" y="3761903"/>
                  </a:lnTo>
                  <a:lnTo>
                    <a:pt x="2534485" y="3796957"/>
                  </a:lnTo>
                  <a:lnTo>
                    <a:pt x="2502547" y="3828895"/>
                  </a:lnTo>
                  <a:lnTo>
                    <a:pt x="2467493" y="3857448"/>
                  </a:lnTo>
                  <a:lnTo>
                    <a:pt x="2429593" y="3882347"/>
                  </a:lnTo>
                  <a:lnTo>
                    <a:pt x="2389116" y="3903323"/>
                  </a:lnTo>
                  <a:lnTo>
                    <a:pt x="2346331" y="3920106"/>
                  </a:lnTo>
                  <a:lnTo>
                    <a:pt x="2301508" y="3932427"/>
                  </a:lnTo>
                  <a:lnTo>
                    <a:pt x="2254915" y="3940018"/>
                  </a:lnTo>
                  <a:lnTo>
                    <a:pt x="2206823" y="3942608"/>
                  </a:lnTo>
                  <a:lnTo>
                    <a:pt x="441375" y="3942608"/>
                  </a:lnTo>
                  <a:lnTo>
                    <a:pt x="393282" y="3940018"/>
                  </a:lnTo>
                  <a:lnTo>
                    <a:pt x="346689" y="3932427"/>
                  </a:lnTo>
                  <a:lnTo>
                    <a:pt x="301866" y="3920106"/>
                  </a:lnTo>
                  <a:lnTo>
                    <a:pt x="259081" y="3903323"/>
                  </a:lnTo>
                  <a:lnTo>
                    <a:pt x="218604" y="3882347"/>
                  </a:lnTo>
                  <a:lnTo>
                    <a:pt x="180704" y="3857448"/>
                  </a:lnTo>
                  <a:lnTo>
                    <a:pt x="145651" y="3828895"/>
                  </a:lnTo>
                  <a:lnTo>
                    <a:pt x="113712" y="3796957"/>
                  </a:lnTo>
                  <a:lnTo>
                    <a:pt x="85159" y="3761903"/>
                  </a:lnTo>
                  <a:lnTo>
                    <a:pt x="60260" y="3724003"/>
                  </a:lnTo>
                  <a:lnTo>
                    <a:pt x="39284" y="3683526"/>
                  </a:lnTo>
                  <a:lnTo>
                    <a:pt x="22501" y="3640741"/>
                  </a:lnTo>
                  <a:lnTo>
                    <a:pt x="10180" y="3595918"/>
                  </a:lnTo>
                  <a:lnTo>
                    <a:pt x="2589" y="3549325"/>
                  </a:lnTo>
                  <a:lnTo>
                    <a:pt x="0" y="3501233"/>
                  </a:lnTo>
                  <a:lnTo>
                    <a:pt x="0" y="441374"/>
                  </a:lnTo>
                  <a:close/>
                </a:path>
              </a:pathLst>
            </a:custGeom>
            <a:ln w="127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0">
              <a:extLst>
                <a:ext uri="{FF2B5EF4-FFF2-40B4-BE49-F238E27FC236}">
                  <a16:creationId xmlns:a16="http://schemas.microsoft.com/office/drawing/2014/main" id="{9FD7CD0F-A596-7D96-5414-816833362E87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09471" y="2782823"/>
              <a:ext cx="2569464" cy="984503"/>
            </a:xfrm>
            <a:prstGeom prst="rect">
              <a:avLst/>
            </a:prstGeom>
          </p:spPr>
        </p:pic>
        <p:sp>
          <p:nvSpPr>
            <p:cNvPr id="55" name="object 51">
              <a:extLst>
                <a:ext uri="{FF2B5EF4-FFF2-40B4-BE49-F238E27FC236}">
                  <a16:creationId xmlns:a16="http://schemas.microsoft.com/office/drawing/2014/main" id="{13923ED4-9644-ED99-0ADF-6297E2790F0C}"/>
                </a:ext>
              </a:extLst>
            </p:cNvPr>
            <p:cNvSpPr/>
            <p:nvPr/>
          </p:nvSpPr>
          <p:spPr>
            <a:xfrm>
              <a:off x="1181920" y="2854646"/>
              <a:ext cx="2424430" cy="842010"/>
            </a:xfrm>
            <a:custGeom>
              <a:avLst/>
              <a:gdLst/>
              <a:ahLst/>
              <a:cxnLst/>
              <a:rect l="l" t="t" r="r" b="b"/>
              <a:pathLst>
                <a:path w="2424429" h="842010">
                  <a:moveTo>
                    <a:pt x="2105920" y="0"/>
                  </a:moveTo>
                  <a:lnTo>
                    <a:pt x="318447" y="0"/>
                  </a:lnTo>
                  <a:lnTo>
                    <a:pt x="271390" y="3452"/>
                  </a:lnTo>
                  <a:lnTo>
                    <a:pt x="226476" y="13482"/>
                  </a:lnTo>
                  <a:lnTo>
                    <a:pt x="184198" y="29597"/>
                  </a:lnTo>
                  <a:lnTo>
                    <a:pt x="145049" y="51303"/>
                  </a:lnTo>
                  <a:lnTo>
                    <a:pt x="109522" y="78109"/>
                  </a:lnTo>
                  <a:lnTo>
                    <a:pt x="78110" y="109522"/>
                  </a:lnTo>
                  <a:lnTo>
                    <a:pt x="51304" y="145049"/>
                  </a:lnTo>
                  <a:lnTo>
                    <a:pt x="29597" y="184198"/>
                  </a:lnTo>
                  <a:lnTo>
                    <a:pt x="13482" y="226476"/>
                  </a:lnTo>
                  <a:lnTo>
                    <a:pt x="3452" y="271390"/>
                  </a:lnTo>
                  <a:lnTo>
                    <a:pt x="0" y="318448"/>
                  </a:lnTo>
                  <a:lnTo>
                    <a:pt x="0" y="523452"/>
                  </a:lnTo>
                  <a:lnTo>
                    <a:pt x="3452" y="570509"/>
                  </a:lnTo>
                  <a:lnTo>
                    <a:pt x="13482" y="615423"/>
                  </a:lnTo>
                  <a:lnTo>
                    <a:pt x="29597" y="657701"/>
                  </a:lnTo>
                  <a:lnTo>
                    <a:pt x="51304" y="696849"/>
                  </a:lnTo>
                  <a:lnTo>
                    <a:pt x="78110" y="732376"/>
                  </a:lnTo>
                  <a:lnTo>
                    <a:pt x="109522" y="763789"/>
                  </a:lnTo>
                  <a:lnTo>
                    <a:pt x="145049" y="790595"/>
                  </a:lnTo>
                  <a:lnTo>
                    <a:pt x="184198" y="812302"/>
                  </a:lnTo>
                  <a:lnTo>
                    <a:pt x="226476" y="828416"/>
                  </a:lnTo>
                  <a:lnTo>
                    <a:pt x="271390" y="838446"/>
                  </a:lnTo>
                  <a:lnTo>
                    <a:pt x="318447" y="841899"/>
                  </a:lnTo>
                  <a:lnTo>
                    <a:pt x="2105920" y="841899"/>
                  </a:lnTo>
                  <a:lnTo>
                    <a:pt x="2152978" y="838446"/>
                  </a:lnTo>
                  <a:lnTo>
                    <a:pt x="2197892" y="828416"/>
                  </a:lnTo>
                  <a:lnTo>
                    <a:pt x="2240170" y="812302"/>
                  </a:lnTo>
                  <a:lnTo>
                    <a:pt x="2279318" y="790595"/>
                  </a:lnTo>
                  <a:lnTo>
                    <a:pt x="2314845" y="763789"/>
                  </a:lnTo>
                  <a:lnTo>
                    <a:pt x="2346258" y="732376"/>
                  </a:lnTo>
                  <a:lnTo>
                    <a:pt x="2373064" y="696849"/>
                  </a:lnTo>
                  <a:lnTo>
                    <a:pt x="2394770" y="657701"/>
                  </a:lnTo>
                  <a:lnTo>
                    <a:pt x="2410885" y="615423"/>
                  </a:lnTo>
                  <a:lnTo>
                    <a:pt x="2420915" y="570509"/>
                  </a:lnTo>
                  <a:lnTo>
                    <a:pt x="2424368" y="523452"/>
                  </a:lnTo>
                  <a:lnTo>
                    <a:pt x="2424368" y="318448"/>
                  </a:lnTo>
                  <a:lnTo>
                    <a:pt x="2420915" y="271390"/>
                  </a:lnTo>
                  <a:lnTo>
                    <a:pt x="2410885" y="226476"/>
                  </a:lnTo>
                  <a:lnTo>
                    <a:pt x="2394770" y="184198"/>
                  </a:lnTo>
                  <a:lnTo>
                    <a:pt x="2373064" y="145049"/>
                  </a:lnTo>
                  <a:lnTo>
                    <a:pt x="2346258" y="109522"/>
                  </a:lnTo>
                  <a:lnTo>
                    <a:pt x="2314845" y="78109"/>
                  </a:lnTo>
                  <a:lnTo>
                    <a:pt x="2279318" y="51303"/>
                  </a:lnTo>
                  <a:lnTo>
                    <a:pt x="2240170" y="29597"/>
                  </a:lnTo>
                  <a:lnTo>
                    <a:pt x="2197892" y="13482"/>
                  </a:lnTo>
                  <a:lnTo>
                    <a:pt x="2152978" y="3452"/>
                  </a:lnTo>
                  <a:lnTo>
                    <a:pt x="2105920" y="0"/>
                  </a:lnTo>
                  <a:close/>
                </a:path>
              </a:pathLst>
            </a:custGeom>
            <a:solidFill>
              <a:srgbClr val="8537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2">
              <a:extLst>
                <a:ext uri="{FF2B5EF4-FFF2-40B4-BE49-F238E27FC236}">
                  <a16:creationId xmlns:a16="http://schemas.microsoft.com/office/drawing/2014/main" id="{8F6174A5-03B3-BBC5-8B90-928B6F1074DA}"/>
                </a:ext>
              </a:extLst>
            </p:cNvPr>
            <p:cNvSpPr/>
            <p:nvPr/>
          </p:nvSpPr>
          <p:spPr>
            <a:xfrm>
              <a:off x="1181920" y="2854646"/>
              <a:ext cx="2424430" cy="842010"/>
            </a:xfrm>
            <a:custGeom>
              <a:avLst/>
              <a:gdLst/>
              <a:ahLst/>
              <a:cxnLst/>
              <a:rect l="l" t="t" r="r" b="b"/>
              <a:pathLst>
                <a:path w="2424429" h="842010">
                  <a:moveTo>
                    <a:pt x="0" y="318448"/>
                  </a:moveTo>
                  <a:lnTo>
                    <a:pt x="3452" y="271390"/>
                  </a:lnTo>
                  <a:lnTo>
                    <a:pt x="13482" y="226476"/>
                  </a:lnTo>
                  <a:lnTo>
                    <a:pt x="29597" y="184198"/>
                  </a:lnTo>
                  <a:lnTo>
                    <a:pt x="51303" y="145049"/>
                  </a:lnTo>
                  <a:lnTo>
                    <a:pt x="78109" y="109522"/>
                  </a:lnTo>
                  <a:lnTo>
                    <a:pt x="109522" y="78109"/>
                  </a:lnTo>
                  <a:lnTo>
                    <a:pt x="145049" y="51303"/>
                  </a:lnTo>
                  <a:lnTo>
                    <a:pt x="184198" y="29597"/>
                  </a:lnTo>
                  <a:lnTo>
                    <a:pt x="226475" y="13482"/>
                  </a:lnTo>
                  <a:lnTo>
                    <a:pt x="271389" y="3452"/>
                  </a:lnTo>
                  <a:lnTo>
                    <a:pt x="318447" y="0"/>
                  </a:lnTo>
                  <a:lnTo>
                    <a:pt x="2105921" y="0"/>
                  </a:lnTo>
                  <a:lnTo>
                    <a:pt x="2152978" y="3452"/>
                  </a:lnTo>
                  <a:lnTo>
                    <a:pt x="2197892" y="13482"/>
                  </a:lnTo>
                  <a:lnTo>
                    <a:pt x="2240170" y="29597"/>
                  </a:lnTo>
                  <a:lnTo>
                    <a:pt x="2279318" y="51303"/>
                  </a:lnTo>
                  <a:lnTo>
                    <a:pt x="2314845" y="78109"/>
                  </a:lnTo>
                  <a:lnTo>
                    <a:pt x="2346258" y="109522"/>
                  </a:lnTo>
                  <a:lnTo>
                    <a:pt x="2373064" y="145049"/>
                  </a:lnTo>
                  <a:lnTo>
                    <a:pt x="2394770" y="184198"/>
                  </a:lnTo>
                  <a:lnTo>
                    <a:pt x="2410885" y="226476"/>
                  </a:lnTo>
                  <a:lnTo>
                    <a:pt x="2420915" y="271390"/>
                  </a:lnTo>
                  <a:lnTo>
                    <a:pt x="2424368" y="318448"/>
                  </a:lnTo>
                  <a:lnTo>
                    <a:pt x="2424368" y="523451"/>
                  </a:lnTo>
                  <a:lnTo>
                    <a:pt x="2420915" y="570508"/>
                  </a:lnTo>
                  <a:lnTo>
                    <a:pt x="2410885" y="615423"/>
                  </a:lnTo>
                  <a:lnTo>
                    <a:pt x="2394770" y="657700"/>
                  </a:lnTo>
                  <a:lnTo>
                    <a:pt x="2373064" y="696849"/>
                  </a:lnTo>
                  <a:lnTo>
                    <a:pt x="2346258" y="732376"/>
                  </a:lnTo>
                  <a:lnTo>
                    <a:pt x="2314845" y="763789"/>
                  </a:lnTo>
                  <a:lnTo>
                    <a:pt x="2279318" y="790595"/>
                  </a:lnTo>
                  <a:lnTo>
                    <a:pt x="2240170" y="812301"/>
                  </a:lnTo>
                  <a:lnTo>
                    <a:pt x="2197892" y="828416"/>
                  </a:lnTo>
                  <a:lnTo>
                    <a:pt x="2152978" y="838446"/>
                  </a:lnTo>
                  <a:lnTo>
                    <a:pt x="2105921" y="841899"/>
                  </a:lnTo>
                  <a:lnTo>
                    <a:pt x="318447" y="841899"/>
                  </a:lnTo>
                  <a:lnTo>
                    <a:pt x="271389" y="838446"/>
                  </a:lnTo>
                  <a:lnTo>
                    <a:pt x="226475" y="828416"/>
                  </a:lnTo>
                  <a:lnTo>
                    <a:pt x="184198" y="812301"/>
                  </a:lnTo>
                  <a:lnTo>
                    <a:pt x="145049" y="790595"/>
                  </a:lnTo>
                  <a:lnTo>
                    <a:pt x="109522" y="763789"/>
                  </a:lnTo>
                  <a:lnTo>
                    <a:pt x="78109" y="732376"/>
                  </a:lnTo>
                  <a:lnTo>
                    <a:pt x="51303" y="696849"/>
                  </a:lnTo>
                  <a:lnTo>
                    <a:pt x="29597" y="657700"/>
                  </a:lnTo>
                  <a:lnTo>
                    <a:pt x="13482" y="615423"/>
                  </a:lnTo>
                  <a:lnTo>
                    <a:pt x="3452" y="570508"/>
                  </a:lnTo>
                  <a:lnTo>
                    <a:pt x="0" y="523451"/>
                  </a:lnTo>
                  <a:lnTo>
                    <a:pt x="0" y="318448"/>
                  </a:lnTo>
                  <a:close/>
                </a:path>
              </a:pathLst>
            </a:custGeom>
            <a:ln w="127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69">
            <a:extLst>
              <a:ext uri="{FF2B5EF4-FFF2-40B4-BE49-F238E27FC236}">
                <a16:creationId xmlns:a16="http://schemas.microsoft.com/office/drawing/2014/main" id="{8370D860-8BF8-E381-77B0-2B7E1E2F68C0}"/>
              </a:ext>
            </a:extLst>
          </p:cNvPr>
          <p:cNvSpPr txBox="1"/>
          <p:nvPr/>
        </p:nvSpPr>
        <p:spPr>
          <a:xfrm>
            <a:off x="5729184" y="3614310"/>
            <a:ext cx="2480731" cy="863506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778510">
              <a:lnSpc>
                <a:spcPct val="100000"/>
              </a:lnSpc>
              <a:spcBef>
                <a:spcPts val="645"/>
              </a:spcBef>
            </a:pPr>
            <a:r>
              <a:rPr lang="en-US" sz="1350" spc="-15" dirty="0">
                <a:solidFill>
                  <a:schemeClr val="bg1"/>
                </a:solidFill>
                <a:latin typeface="Arial MT"/>
                <a:cs typeface="Arial MT"/>
              </a:rPr>
              <a:t>   1.4</a:t>
            </a:r>
            <a:r>
              <a:rPr lang="en-US" sz="1350" spc="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z="1350" spc="95" dirty="0">
                <a:solidFill>
                  <a:schemeClr val="bg1"/>
                </a:solidFill>
                <a:latin typeface="Arial MT"/>
                <a:cs typeface="Arial MT"/>
              </a:rPr>
              <a:t>MT</a:t>
            </a:r>
            <a:endParaRPr lang="en-US" sz="1350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2700" marR="5080" indent="-1270" algn="ctr">
              <a:lnSpc>
                <a:spcPct val="101800"/>
              </a:lnSpc>
              <a:spcBef>
                <a:spcPts val="405"/>
              </a:spcBef>
            </a:pPr>
            <a:r>
              <a:rPr lang="en-US" sz="1100" spc="65" dirty="0">
                <a:solidFill>
                  <a:schemeClr val="bg1"/>
                </a:solidFill>
                <a:latin typeface="Arial MT"/>
                <a:cs typeface="Arial MT"/>
              </a:rPr>
              <a:t>Carbon </a:t>
            </a:r>
            <a:r>
              <a:rPr lang="en-US" sz="1100" spc="40" dirty="0">
                <a:solidFill>
                  <a:schemeClr val="bg1"/>
                </a:solidFill>
                <a:latin typeface="Arial MT"/>
                <a:cs typeface="Arial MT"/>
              </a:rPr>
              <a:t>emissions </a:t>
            </a:r>
            <a:r>
              <a:rPr lang="en-US" sz="1100" spc="75" dirty="0">
                <a:solidFill>
                  <a:schemeClr val="bg1"/>
                </a:solidFill>
                <a:latin typeface="Arial MT"/>
                <a:cs typeface="Arial MT"/>
              </a:rPr>
              <a:t>offset </a:t>
            </a:r>
            <a:r>
              <a:rPr lang="en-US" sz="1100" spc="70" dirty="0">
                <a:solidFill>
                  <a:schemeClr val="bg1"/>
                </a:solidFill>
                <a:latin typeface="Arial MT"/>
                <a:cs typeface="Arial MT"/>
              </a:rPr>
              <a:t>per </a:t>
            </a:r>
            <a:r>
              <a:rPr lang="en-US" sz="1100" spc="7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z="1100" spc="50" dirty="0">
                <a:solidFill>
                  <a:schemeClr val="bg1"/>
                </a:solidFill>
                <a:latin typeface="Arial MT"/>
                <a:cs typeface="Arial MT"/>
              </a:rPr>
              <a:t>product </a:t>
            </a:r>
            <a:r>
              <a:rPr lang="en-US" sz="1100" spc="70" dirty="0">
                <a:solidFill>
                  <a:schemeClr val="bg1"/>
                </a:solidFill>
                <a:latin typeface="Arial MT"/>
                <a:cs typeface="Arial MT"/>
              </a:rPr>
              <a:t>per</a:t>
            </a:r>
            <a:r>
              <a:rPr lang="en-US" sz="1100" spc="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z="1100" spc="55" dirty="0">
                <a:solidFill>
                  <a:schemeClr val="bg1"/>
                </a:solidFill>
                <a:latin typeface="Arial MT"/>
                <a:cs typeface="Arial MT"/>
              </a:rPr>
              <a:t>year</a:t>
            </a:r>
            <a:r>
              <a:rPr lang="en-US" sz="1100" spc="1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z="1100" spc="100" dirty="0">
                <a:solidFill>
                  <a:schemeClr val="bg1"/>
                </a:solidFill>
                <a:latin typeface="Arial MT"/>
                <a:cs typeface="Arial MT"/>
              </a:rPr>
              <a:t>by</a:t>
            </a:r>
            <a:r>
              <a:rPr lang="en-US" sz="1100" spc="1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z="1100" spc="30" dirty="0">
                <a:solidFill>
                  <a:schemeClr val="bg1"/>
                </a:solidFill>
                <a:latin typeface="Arial MT"/>
                <a:cs typeface="Arial MT"/>
              </a:rPr>
              <a:t>introducing </a:t>
            </a:r>
            <a:r>
              <a:rPr lang="en-US" sz="1200" b="1" spc="30" dirty="0">
                <a:solidFill>
                  <a:schemeClr val="accent3"/>
                </a:solidFill>
                <a:latin typeface="Arial MT"/>
                <a:cs typeface="Arial MT"/>
              </a:rPr>
              <a:t>Sustainable &amp; organic bedding</a:t>
            </a:r>
            <a:endParaRPr lang="en-US" sz="1100" b="1" dirty="0">
              <a:solidFill>
                <a:schemeClr val="accent3"/>
              </a:solidFill>
              <a:latin typeface="Arial MT"/>
              <a:cs typeface="Arial MT"/>
            </a:endParaRPr>
          </a:p>
        </p:txBody>
      </p:sp>
      <p:sp>
        <p:nvSpPr>
          <p:cNvPr id="61" name="object 73">
            <a:extLst>
              <a:ext uri="{FF2B5EF4-FFF2-40B4-BE49-F238E27FC236}">
                <a16:creationId xmlns:a16="http://schemas.microsoft.com/office/drawing/2014/main" id="{1D6BF4C0-35A6-6632-68A9-45F8789BDD14}"/>
              </a:ext>
            </a:extLst>
          </p:cNvPr>
          <p:cNvSpPr/>
          <p:nvPr/>
        </p:nvSpPr>
        <p:spPr>
          <a:xfrm>
            <a:off x="9137136" y="3411251"/>
            <a:ext cx="1660577" cy="349209"/>
          </a:xfrm>
          <a:custGeom>
            <a:avLst/>
            <a:gdLst/>
            <a:ahLst/>
            <a:cxnLst/>
            <a:rect l="l" t="t" r="r" b="b"/>
            <a:pathLst>
              <a:path w="3246754" h="508000">
                <a:moveTo>
                  <a:pt x="3201709" y="431802"/>
                </a:moveTo>
                <a:lnTo>
                  <a:pt x="3169959" y="431802"/>
                </a:lnTo>
                <a:lnTo>
                  <a:pt x="3208059" y="508002"/>
                </a:lnTo>
                <a:lnTo>
                  <a:pt x="3239809" y="444502"/>
                </a:lnTo>
                <a:lnTo>
                  <a:pt x="3201709" y="444502"/>
                </a:lnTo>
                <a:lnTo>
                  <a:pt x="3201709" y="431802"/>
                </a:lnTo>
                <a:close/>
              </a:path>
              <a:path w="3246754" h="508000">
                <a:moveTo>
                  <a:pt x="3201709" y="6350"/>
                </a:moveTo>
                <a:lnTo>
                  <a:pt x="3201709" y="444502"/>
                </a:lnTo>
                <a:lnTo>
                  <a:pt x="3214409" y="444502"/>
                </a:lnTo>
                <a:lnTo>
                  <a:pt x="3214409" y="12700"/>
                </a:lnTo>
                <a:lnTo>
                  <a:pt x="3208059" y="12700"/>
                </a:lnTo>
                <a:lnTo>
                  <a:pt x="3201709" y="6350"/>
                </a:lnTo>
                <a:close/>
              </a:path>
              <a:path w="3246754" h="508000">
                <a:moveTo>
                  <a:pt x="3246159" y="431802"/>
                </a:moveTo>
                <a:lnTo>
                  <a:pt x="3214409" y="431802"/>
                </a:lnTo>
                <a:lnTo>
                  <a:pt x="3214409" y="444502"/>
                </a:lnTo>
                <a:lnTo>
                  <a:pt x="3239809" y="444502"/>
                </a:lnTo>
                <a:lnTo>
                  <a:pt x="3246159" y="431802"/>
                </a:lnTo>
                <a:close/>
              </a:path>
              <a:path w="3246754" h="508000">
                <a:moveTo>
                  <a:pt x="3214409" y="0"/>
                </a:moveTo>
                <a:lnTo>
                  <a:pt x="0" y="0"/>
                </a:lnTo>
                <a:lnTo>
                  <a:pt x="0" y="12700"/>
                </a:lnTo>
                <a:lnTo>
                  <a:pt x="3201709" y="12700"/>
                </a:lnTo>
                <a:lnTo>
                  <a:pt x="3201709" y="6350"/>
                </a:lnTo>
                <a:lnTo>
                  <a:pt x="3214409" y="6350"/>
                </a:lnTo>
                <a:lnTo>
                  <a:pt x="3214409" y="0"/>
                </a:lnTo>
                <a:close/>
              </a:path>
              <a:path w="3246754" h="508000">
                <a:moveTo>
                  <a:pt x="3214409" y="6350"/>
                </a:moveTo>
                <a:lnTo>
                  <a:pt x="3201709" y="6350"/>
                </a:lnTo>
                <a:lnTo>
                  <a:pt x="3208059" y="12700"/>
                </a:lnTo>
                <a:lnTo>
                  <a:pt x="3214409" y="12700"/>
                </a:lnTo>
                <a:lnTo>
                  <a:pt x="3214409" y="635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>
            <a:endParaRPr dirty="0">
              <a:solidFill>
                <a:schemeClr val="accent1"/>
              </a:solidFill>
            </a:endParaRPr>
          </a:p>
        </p:txBody>
      </p:sp>
      <p:sp>
        <p:nvSpPr>
          <p:cNvPr id="62" name="object 70">
            <a:extLst>
              <a:ext uri="{FF2B5EF4-FFF2-40B4-BE49-F238E27FC236}">
                <a16:creationId xmlns:a16="http://schemas.microsoft.com/office/drawing/2014/main" id="{ABFBF697-10AC-4272-3350-7E4499DCD58B}"/>
              </a:ext>
            </a:extLst>
          </p:cNvPr>
          <p:cNvSpPr txBox="1"/>
          <p:nvPr/>
        </p:nvSpPr>
        <p:spPr>
          <a:xfrm>
            <a:off x="8893225" y="3694528"/>
            <a:ext cx="2705735" cy="64787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R="285750" algn="ctr">
              <a:lnSpc>
                <a:spcPct val="100000"/>
              </a:lnSpc>
              <a:spcBef>
                <a:spcPts val="525"/>
              </a:spcBef>
            </a:pPr>
            <a:r>
              <a:rPr sz="1350" spc="130" dirty="0">
                <a:solidFill>
                  <a:schemeClr val="bg1"/>
                </a:solidFill>
                <a:latin typeface="Arial MT"/>
                <a:cs typeface="Arial MT"/>
              </a:rPr>
              <a:t>38</a:t>
            </a:r>
            <a:r>
              <a:rPr sz="1350" spc="5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50" spc="160" dirty="0">
                <a:solidFill>
                  <a:schemeClr val="bg1"/>
                </a:solidFill>
                <a:latin typeface="Arial MT"/>
                <a:cs typeface="Arial MT"/>
              </a:rPr>
              <a:t>kg</a:t>
            </a:r>
            <a:endParaRPr sz="1350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38100" marR="30480" indent="-635" algn="ctr">
              <a:lnSpc>
                <a:spcPct val="101800"/>
              </a:lnSpc>
              <a:spcBef>
                <a:spcPts val="309"/>
              </a:spcBef>
            </a:pPr>
            <a:r>
              <a:rPr sz="1100" spc="30" dirty="0">
                <a:solidFill>
                  <a:schemeClr val="bg1"/>
                </a:solidFill>
                <a:latin typeface="Arial MT"/>
                <a:cs typeface="Arial MT"/>
              </a:rPr>
              <a:t>CO</a:t>
            </a:r>
            <a:r>
              <a:rPr sz="1350" spc="44" baseline="-18518" dirty="0">
                <a:solidFill>
                  <a:schemeClr val="bg1"/>
                </a:solidFill>
                <a:latin typeface="Courier New"/>
                <a:cs typeface="Courier New"/>
              </a:rPr>
              <a:t>2</a:t>
            </a:r>
            <a:r>
              <a:rPr sz="1350" spc="-292" baseline="-18518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100" spc="40" dirty="0">
                <a:solidFill>
                  <a:schemeClr val="bg1"/>
                </a:solidFill>
                <a:latin typeface="Arial MT"/>
                <a:cs typeface="Arial MT"/>
              </a:rPr>
              <a:t>emissions</a:t>
            </a:r>
            <a:r>
              <a:rPr sz="1100" spc="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00" spc="50" dirty="0">
                <a:solidFill>
                  <a:schemeClr val="bg1"/>
                </a:solidFill>
                <a:latin typeface="Arial MT"/>
                <a:cs typeface="Arial MT"/>
              </a:rPr>
              <a:t>saved</a:t>
            </a:r>
            <a:r>
              <a:rPr sz="1100" spc="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00" spc="100" dirty="0">
                <a:solidFill>
                  <a:schemeClr val="bg1"/>
                </a:solidFill>
                <a:latin typeface="Arial MT"/>
                <a:cs typeface="Arial MT"/>
              </a:rPr>
              <a:t>by </a:t>
            </a:r>
            <a:r>
              <a:rPr sz="1100" spc="-29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00" spc="75" dirty="0">
                <a:solidFill>
                  <a:schemeClr val="bg1"/>
                </a:solidFill>
                <a:latin typeface="Arial MT"/>
                <a:cs typeface="Arial MT"/>
              </a:rPr>
              <a:t>deploying</a:t>
            </a:r>
            <a:r>
              <a:rPr lang="en-IN" sz="1100" spc="75" dirty="0">
                <a:solidFill>
                  <a:schemeClr val="bg1"/>
                </a:solidFill>
                <a:latin typeface="Arial MT"/>
                <a:cs typeface="Arial MT"/>
              </a:rPr>
              <a:t> xxx</a:t>
            </a:r>
            <a:endParaRPr sz="1100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  <p:sp>
        <p:nvSpPr>
          <p:cNvPr id="63" name="object 53">
            <a:extLst>
              <a:ext uri="{FF2B5EF4-FFF2-40B4-BE49-F238E27FC236}">
                <a16:creationId xmlns:a16="http://schemas.microsoft.com/office/drawing/2014/main" id="{EBB4EB75-137F-06D1-73D1-C998BC1D4E99}"/>
              </a:ext>
            </a:extLst>
          </p:cNvPr>
          <p:cNvSpPr txBox="1"/>
          <p:nvPr/>
        </p:nvSpPr>
        <p:spPr>
          <a:xfrm>
            <a:off x="762545" y="3488953"/>
            <a:ext cx="1490850" cy="37677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5080" algn="ctr">
              <a:lnSpc>
                <a:spcPct val="104299"/>
              </a:lnSpc>
              <a:spcBef>
                <a:spcPts val="165"/>
              </a:spcBef>
            </a:pPr>
            <a:r>
              <a:rPr lang="en-IN" sz="1150" spc="114" dirty="0">
                <a:solidFill>
                  <a:srgbClr val="FFFFFF"/>
                </a:solidFill>
                <a:latin typeface="Arial MT"/>
                <a:cs typeface="Arial MT"/>
              </a:rPr>
              <a:t>Value chain social impacts</a:t>
            </a:r>
            <a:endParaRPr sz="1150" dirty="0">
              <a:latin typeface="Arial MT"/>
              <a:cs typeface="Arial MT"/>
            </a:endParaRPr>
          </a:p>
        </p:txBody>
      </p:sp>
      <p:sp>
        <p:nvSpPr>
          <p:cNvPr id="64" name="object 53">
            <a:extLst>
              <a:ext uri="{FF2B5EF4-FFF2-40B4-BE49-F238E27FC236}">
                <a16:creationId xmlns:a16="http://schemas.microsoft.com/office/drawing/2014/main" id="{91DF16BE-0479-483E-37B4-F2F7E9832101}"/>
              </a:ext>
            </a:extLst>
          </p:cNvPr>
          <p:cNvSpPr txBox="1"/>
          <p:nvPr/>
        </p:nvSpPr>
        <p:spPr>
          <a:xfrm>
            <a:off x="2813738" y="3401009"/>
            <a:ext cx="1500764" cy="56079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5080" algn="ctr">
              <a:lnSpc>
                <a:spcPct val="104299"/>
              </a:lnSpc>
              <a:spcBef>
                <a:spcPts val="165"/>
              </a:spcBef>
            </a:pPr>
            <a:r>
              <a:rPr lang="en-IN" sz="1150" spc="114" dirty="0">
                <a:solidFill>
                  <a:srgbClr val="FFFFFF"/>
                </a:solidFill>
                <a:latin typeface="Arial MT"/>
                <a:cs typeface="Arial MT"/>
              </a:rPr>
              <a:t>Social dimensions of competitive context</a:t>
            </a:r>
            <a:endParaRPr sz="1150" dirty="0">
              <a:latin typeface="Arial MT"/>
              <a:cs typeface="Arial MT"/>
            </a:endParaRPr>
          </a:p>
        </p:txBody>
      </p:sp>
      <p:sp>
        <p:nvSpPr>
          <p:cNvPr id="66" name="object 62">
            <a:extLst>
              <a:ext uri="{FF2B5EF4-FFF2-40B4-BE49-F238E27FC236}">
                <a16:creationId xmlns:a16="http://schemas.microsoft.com/office/drawing/2014/main" id="{805A3AC1-D0A5-9253-49D0-54F437B493FA}"/>
              </a:ext>
            </a:extLst>
          </p:cNvPr>
          <p:cNvSpPr txBox="1"/>
          <p:nvPr/>
        </p:nvSpPr>
        <p:spPr>
          <a:xfrm>
            <a:off x="955751" y="4284878"/>
            <a:ext cx="166646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spc="40" dirty="0">
                <a:solidFill>
                  <a:schemeClr val="bg1"/>
                </a:solidFill>
                <a:latin typeface="Arial MT"/>
                <a:cs typeface="Arial MT"/>
              </a:rPr>
              <a:t>Mitigating harm from value chain activities</a:t>
            </a:r>
            <a:endParaRPr sz="1200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  <p:sp>
        <p:nvSpPr>
          <p:cNvPr id="77" name="object 62">
            <a:extLst>
              <a:ext uri="{FF2B5EF4-FFF2-40B4-BE49-F238E27FC236}">
                <a16:creationId xmlns:a16="http://schemas.microsoft.com/office/drawing/2014/main" id="{661987ED-02FE-FDCF-3B25-40EB6F9109B1}"/>
              </a:ext>
            </a:extLst>
          </p:cNvPr>
          <p:cNvSpPr txBox="1"/>
          <p:nvPr/>
        </p:nvSpPr>
        <p:spPr>
          <a:xfrm>
            <a:off x="955751" y="5182580"/>
            <a:ext cx="1815652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40" dirty="0">
                <a:solidFill>
                  <a:schemeClr val="accent3"/>
                </a:solidFill>
                <a:latin typeface="Arial MT"/>
                <a:cs typeface="Arial MT"/>
              </a:rPr>
              <a:t>Transforming value chain </a:t>
            </a:r>
            <a:r>
              <a:rPr lang="en-IN" sz="1200" spc="40" dirty="0">
                <a:solidFill>
                  <a:schemeClr val="bg1"/>
                </a:solidFill>
                <a:latin typeface="Arial MT"/>
                <a:cs typeface="Arial MT"/>
              </a:rPr>
              <a:t>activities to become more sustainable</a:t>
            </a:r>
            <a:endParaRPr sz="1200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  <p:sp>
        <p:nvSpPr>
          <p:cNvPr id="78" name="object 62">
            <a:extLst>
              <a:ext uri="{FF2B5EF4-FFF2-40B4-BE49-F238E27FC236}">
                <a16:creationId xmlns:a16="http://schemas.microsoft.com/office/drawing/2014/main" id="{F9B6801E-8708-D1A3-604F-86A8FB164D1A}"/>
              </a:ext>
            </a:extLst>
          </p:cNvPr>
          <p:cNvSpPr txBox="1"/>
          <p:nvPr/>
        </p:nvSpPr>
        <p:spPr>
          <a:xfrm>
            <a:off x="3082788" y="4180690"/>
            <a:ext cx="1666465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40" dirty="0">
                <a:solidFill>
                  <a:schemeClr val="accent3"/>
                </a:solidFill>
                <a:latin typeface="Arial MT"/>
                <a:cs typeface="Arial MT"/>
              </a:rPr>
              <a:t>Strategic philanthropy </a:t>
            </a:r>
            <a:r>
              <a:rPr lang="en-IN" sz="1200" spc="40" dirty="0">
                <a:solidFill>
                  <a:schemeClr val="bg1"/>
                </a:solidFill>
                <a:latin typeface="Arial MT"/>
                <a:cs typeface="Arial MT"/>
              </a:rPr>
              <a:t>by introducing a new sustainable product line</a:t>
            </a:r>
            <a:endParaRPr sz="1200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  <p:pic>
        <p:nvPicPr>
          <p:cNvPr id="81" name="object 55">
            <a:extLst>
              <a:ext uri="{FF2B5EF4-FFF2-40B4-BE49-F238E27FC236}">
                <a16:creationId xmlns:a16="http://schemas.microsoft.com/office/drawing/2014/main" id="{9E7972BA-8432-AC02-9663-4575FEFC34E5}"/>
              </a:ext>
            </a:extLst>
          </p:cNvPr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89693" y="4303104"/>
            <a:ext cx="345704" cy="345704"/>
          </a:xfrm>
          <a:prstGeom prst="rect">
            <a:avLst/>
          </a:prstGeom>
        </p:spPr>
      </p:pic>
      <p:pic>
        <p:nvPicPr>
          <p:cNvPr id="88" name="object 39">
            <a:extLst>
              <a:ext uri="{FF2B5EF4-FFF2-40B4-BE49-F238E27FC236}">
                <a16:creationId xmlns:a16="http://schemas.microsoft.com/office/drawing/2014/main" id="{0665C460-0082-DE28-A949-C6F4616203AF}"/>
              </a:ext>
            </a:extLst>
          </p:cNvPr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05445" y="5198476"/>
            <a:ext cx="281885" cy="281886"/>
          </a:xfrm>
          <a:prstGeom prst="rect">
            <a:avLst/>
          </a:prstGeom>
        </p:spPr>
      </p:pic>
      <p:pic>
        <p:nvPicPr>
          <p:cNvPr id="89" name="object 60">
            <a:extLst>
              <a:ext uri="{FF2B5EF4-FFF2-40B4-BE49-F238E27FC236}">
                <a16:creationId xmlns:a16="http://schemas.microsoft.com/office/drawing/2014/main" id="{3F9201DC-11AA-76D7-F9DE-AC40281F0841}"/>
              </a:ext>
            </a:extLst>
          </p:cNvPr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570676" y="4315807"/>
            <a:ext cx="399473" cy="399473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DB1B5483-6E6D-2EA4-F226-FB2088F853CB}"/>
              </a:ext>
            </a:extLst>
          </p:cNvPr>
          <p:cNvSpPr txBox="1"/>
          <p:nvPr/>
        </p:nvSpPr>
        <p:spPr>
          <a:xfrm>
            <a:off x="2921432" y="5367094"/>
            <a:ext cx="1190629" cy="4844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IN" b="1" dirty="0">
                <a:solidFill>
                  <a:schemeClr val="accent3"/>
                </a:solidFill>
              </a:rPr>
              <a:t>STRATEGIC CSR</a:t>
            </a:r>
            <a:endParaRPr lang="en-IN" b="1" noProof="0" dirty="0">
              <a:solidFill>
                <a:schemeClr val="accent3"/>
              </a:solidFill>
            </a:endParaRP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0CA292E3-300E-4796-3720-5FE0D12BDB57}"/>
              </a:ext>
            </a:extLst>
          </p:cNvPr>
          <p:cNvCxnSpPr>
            <a:cxnSpLocks/>
          </p:cNvCxnSpPr>
          <p:nvPr/>
        </p:nvCxnSpPr>
        <p:spPr>
          <a:xfrm>
            <a:off x="562440" y="4974121"/>
            <a:ext cx="1980000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8" name="object 7">
            <a:extLst>
              <a:ext uri="{FF2B5EF4-FFF2-40B4-BE49-F238E27FC236}">
                <a16:creationId xmlns:a16="http://schemas.microsoft.com/office/drawing/2014/main" id="{B4168A3A-2CCB-9F7C-7BE0-30CA8213E768}"/>
              </a:ext>
            </a:extLst>
          </p:cNvPr>
          <p:cNvSpPr/>
          <p:nvPr/>
        </p:nvSpPr>
        <p:spPr>
          <a:xfrm>
            <a:off x="2622968" y="4038606"/>
            <a:ext cx="1876185" cy="2161545"/>
          </a:xfrm>
          <a:custGeom>
            <a:avLst/>
            <a:gdLst/>
            <a:ahLst/>
            <a:cxnLst/>
            <a:rect l="l" t="t" r="r" b="b"/>
            <a:pathLst>
              <a:path w="11729085" h="1426845">
                <a:moveTo>
                  <a:pt x="11490960" y="0"/>
                </a:moveTo>
                <a:lnTo>
                  <a:pt x="237744" y="0"/>
                </a:lnTo>
                <a:lnTo>
                  <a:pt x="189829" y="4829"/>
                </a:lnTo>
                <a:lnTo>
                  <a:pt x="145202" y="18680"/>
                </a:lnTo>
                <a:lnTo>
                  <a:pt x="104817" y="40598"/>
                </a:lnTo>
                <a:lnTo>
                  <a:pt x="69632" y="69627"/>
                </a:lnTo>
                <a:lnTo>
                  <a:pt x="40602" y="104812"/>
                </a:lnTo>
                <a:lnTo>
                  <a:pt x="18682" y="145196"/>
                </a:lnTo>
                <a:lnTo>
                  <a:pt x="4829" y="189825"/>
                </a:lnTo>
                <a:lnTo>
                  <a:pt x="0" y="237743"/>
                </a:lnTo>
                <a:lnTo>
                  <a:pt x="0" y="1188719"/>
                </a:lnTo>
                <a:lnTo>
                  <a:pt x="4829" y="1236638"/>
                </a:lnTo>
                <a:lnTo>
                  <a:pt x="18682" y="1281267"/>
                </a:lnTo>
                <a:lnTo>
                  <a:pt x="40602" y="1321651"/>
                </a:lnTo>
                <a:lnTo>
                  <a:pt x="69632" y="1356836"/>
                </a:lnTo>
                <a:lnTo>
                  <a:pt x="104817" y="1385865"/>
                </a:lnTo>
                <a:lnTo>
                  <a:pt x="145202" y="1407783"/>
                </a:lnTo>
                <a:lnTo>
                  <a:pt x="189829" y="1421634"/>
                </a:lnTo>
                <a:lnTo>
                  <a:pt x="237744" y="1426464"/>
                </a:lnTo>
                <a:lnTo>
                  <a:pt x="11490960" y="1426464"/>
                </a:lnTo>
                <a:lnTo>
                  <a:pt x="11538878" y="1421634"/>
                </a:lnTo>
                <a:lnTo>
                  <a:pt x="11583507" y="1407783"/>
                </a:lnTo>
                <a:lnTo>
                  <a:pt x="11623891" y="1385865"/>
                </a:lnTo>
                <a:lnTo>
                  <a:pt x="11659076" y="1356836"/>
                </a:lnTo>
                <a:lnTo>
                  <a:pt x="11688105" y="1321651"/>
                </a:lnTo>
                <a:lnTo>
                  <a:pt x="11710023" y="1281267"/>
                </a:lnTo>
                <a:lnTo>
                  <a:pt x="11723874" y="1236638"/>
                </a:lnTo>
                <a:lnTo>
                  <a:pt x="11728704" y="1188719"/>
                </a:lnTo>
                <a:lnTo>
                  <a:pt x="11728704" y="237743"/>
                </a:lnTo>
                <a:lnTo>
                  <a:pt x="11723874" y="189825"/>
                </a:lnTo>
                <a:lnTo>
                  <a:pt x="11710023" y="145196"/>
                </a:lnTo>
                <a:lnTo>
                  <a:pt x="11688105" y="104812"/>
                </a:lnTo>
                <a:lnTo>
                  <a:pt x="11659076" y="69627"/>
                </a:lnTo>
                <a:lnTo>
                  <a:pt x="11623891" y="40598"/>
                </a:lnTo>
                <a:lnTo>
                  <a:pt x="11583507" y="18680"/>
                </a:lnTo>
                <a:lnTo>
                  <a:pt x="11538878" y="4829"/>
                </a:lnTo>
                <a:lnTo>
                  <a:pt x="11490960" y="0"/>
                </a:lnTo>
                <a:close/>
              </a:path>
            </a:pathLst>
          </a:custGeom>
          <a:solidFill>
            <a:schemeClr val="accent6">
              <a:alpha val="14509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9" name="object 7">
            <a:extLst>
              <a:ext uri="{FF2B5EF4-FFF2-40B4-BE49-F238E27FC236}">
                <a16:creationId xmlns:a16="http://schemas.microsoft.com/office/drawing/2014/main" id="{FF1D2F2B-09C3-9B9A-DD81-4F14152CA869}"/>
              </a:ext>
            </a:extLst>
          </p:cNvPr>
          <p:cNvSpPr/>
          <p:nvPr/>
        </p:nvSpPr>
        <p:spPr>
          <a:xfrm>
            <a:off x="5024237" y="5053414"/>
            <a:ext cx="1966245" cy="1111797"/>
          </a:xfrm>
          <a:custGeom>
            <a:avLst/>
            <a:gdLst/>
            <a:ahLst/>
            <a:cxnLst/>
            <a:rect l="l" t="t" r="r" b="b"/>
            <a:pathLst>
              <a:path w="11729085" h="1426845">
                <a:moveTo>
                  <a:pt x="11490960" y="0"/>
                </a:moveTo>
                <a:lnTo>
                  <a:pt x="237744" y="0"/>
                </a:lnTo>
                <a:lnTo>
                  <a:pt x="189829" y="4829"/>
                </a:lnTo>
                <a:lnTo>
                  <a:pt x="145202" y="18680"/>
                </a:lnTo>
                <a:lnTo>
                  <a:pt x="104817" y="40598"/>
                </a:lnTo>
                <a:lnTo>
                  <a:pt x="69632" y="69627"/>
                </a:lnTo>
                <a:lnTo>
                  <a:pt x="40602" y="104812"/>
                </a:lnTo>
                <a:lnTo>
                  <a:pt x="18682" y="145196"/>
                </a:lnTo>
                <a:lnTo>
                  <a:pt x="4829" y="189825"/>
                </a:lnTo>
                <a:lnTo>
                  <a:pt x="0" y="237743"/>
                </a:lnTo>
                <a:lnTo>
                  <a:pt x="0" y="1188719"/>
                </a:lnTo>
                <a:lnTo>
                  <a:pt x="4829" y="1236638"/>
                </a:lnTo>
                <a:lnTo>
                  <a:pt x="18682" y="1281267"/>
                </a:lnTo>
                <a:lnTo>
                  <a:pt x="40602" y="1321651"/>
                </a:lnTo>
                <a:lnTo>
                  <a:pt x="69632" y="1356836"/>
                </a:lnTo>
                <a:lnTo>
                  <a:pt x="104817" y="1385865"/>
                </a:lnTo>
                <a:lnTo>
                  <a:pt x="145202" y="1407783"/>
                </a:lnTo>
                <a:lnTo>
                  <a:pt x="189829" y="1421634"/>
                </a:lnTo>
                <a:lnTo>
                  <a:pt x="237744" y="1426464"/>
                </a:lnTo>
                <a:lnTo>
                  <a:pt x="11490960" y="1426464"/>
                </a:lnTo>
                <a:lnTo>
                  <a:pt x="11538878" y="1421634"/>
                </a:lnTo>
                <a:lnTo>
                  <a:pt x="11583507" y="1407783"/>
                </a:lnTo>
                <a:lnTo>
                  <a:pt x="11623891" y="1385865"/>
                </a:lnTo>
                <a:lnTo>
                  <a:pt x="11659076" y="1356836"/>
                </a:lnTo>
                <a:lnTo>
                  <a:pt x="11688105" y="1321651"/>
                </a:lnTo>
                <a:lnTo>
                  <a:pt x="11710023" y="1281267"/>
                </a:lnTo>
                <a:lnTo>
                  <a:pt x="11723874" y="1236638"/>
                </a:lnTo>
                <a:lnTo>
                  <a:pt x="11728704" y="1188719"/>
                </a:lnTo>
                <a:lnTo>
                  <a:pt x="11728704" y="237743"/>
                </a:lnTo>
                <a:lnTo>
                  <a:pt x="11723874" y="189825"/>
                </a:lnTo>
                <a:lnTo>
                  <a:pt x="11710023" y="145196"/>
                </a:lnTo>
                <a:lnTo>
                  <a:pt x="11688105" y="104812"/>
                </a:lnTo>
                <a:lnTo>
                  <a:pt x="11659076" y="69627"/>
                </a:lnTo>
                <a:lnTo>
                  <a:pt x="11623891" y="40598"/>
                </a:lnTo>
                <a:lnTo>
                  <a:pt x="11583507" y="18680"/>
                </a:lnTo>
                <a:lnTo>
                  <a:pt x="11538878" y="4829"/>
                </a:lnTo>
                <a:lnTo>
                  <a:pt x="11490960" y="0"/>
                </a:lnTo>
                <a:close/>
              </a:path>
            </a:pathLst>
          </a:custGeom>
          <a:solidFill>
            <a:schemeClr val="accent6">
              <a:alpha val="14509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A3E883C6-550A-2143-06B8-F69385DE269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6697" y="3687736"/>
            <a:ext cx="656877" cy="7305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1" name="object 72">
            <a:extLst>
              <a:ext uri="{FF2B5EF4-FFF2-40B4-BE49-F238E27FC236}">
                <a16:creationId xmlns:a16="http://schemas.microsoft.com/office/drawing/2014/main" id="{567C1989-5DEE-6D3F-C63B-FAFF11E27360}"/>
              </a:ext>
            </a:extLst>
          </p:cNvPr>
          <p:cNvSpPr/>
          <p:nvPr/>
        </p:nvSpPr>
        <p:spPr>
          <a:xfrm>
            <a:off x="5496448" y="3373272"/>
            <a:ext cx="1660577" cy="420448"/>
          </a:xfrm>
          <a:custGeom>
            <a:avLst/>
            <a:gdLst/>
            <a:ahLst/>
            <a:cxnLst/>
            <a:rect l="l" t="t" r="r" b="b"/>
            <a:pathLst>
              <a:path w="2670810" h="489585">
                <a:moveTo>
                  <a:pt x="28575" y="413080"/>
                </a:moveTo>
                <a:lnTo>
                  <a:pt x="0" y="413080"/>
                </a:lnTo>
                <a:lnTo>
                  <a:pt x="38100" y="489280"/>
                </a:lnTo>
                <a:lnTo>
                  <a:pt x="69850" y="425780"/>
                </a:lnTo>
                <a:lnTo>
                  <a:pt x="28575" y="425780"/>
                </a:lnTo>
                <a:lnTo>
                  <a:pt x="28575" y="413080"/>
                </a:lnTo>
                <a:close/>
              </a:path>
              <a:path w="2670810" h="489585">
                <a:moveTo>
                  <a:pt x="2670667" y="0"/>
                </a:moveTo>
                <a:lnTo>
                  <a:pt x="28575" y="0"/>
                </a:lnTo>
                <a:lnTo>
                  <a:pt x="28575" y="425780"/>
                </a:lnTo>
                <a:lnTo>
                  <a:pt x="47625" y="425780"/>
                </a:lnTo>
                <a:lnTo>
                  <a:pt x="47625" y="19050"/>
                </a:lnTo>
                <a:lnTo>
                  <a:pt x="38100" y="19050"/>
                </a:lnTo>
                <a:lnTo>
                  <a:pt x="47625" y="9525"/>
                </a:lnTo>
                <a:lnTo>
                  <a:pt x="2670667" y="9525"/>
                </a:lnTo>
                <a:lnTo>
                  <a:pt x="2670667" y="0"/>
                </a:lnTo>
                <a:close/>
              </a:path>
              <a:path w="2670810" h="489585">
                <a:moveTo>
                  <a:pt x="76200" y="413080"/>
                </a:moveTo>
                <a:lnTo>
                  <a:pt x="47625" y="413080"/>
                </a:lnTo>
                <a:lnTo>
                  <a:pt x="47625" y="425780"/>
                </a:lnTo>
                <a:lnTo>
                  <a:pt x="69850" y="425780"/>
                </a:lnTo>
                <a:lnTo>
                  <a:pt x="76200" y="413080"/>
                </a:lnTo>
                <a:close/>
              </a:path>
              <a:path w="2670810" h="489585">
                <a:moveTo>
                  <a:pt x="47625" y="9525"/>
                </a:moveTo>
                <a:lnTo>
                  <a:pt x="38100" y="19050"/>
                </a:lnTo>
                <a:lnTo>
                  <a:pt x="47625" y="19050"/>
                </a:lnTo>
                <a:lnTo>
                  <a:pt x="47625" y="9525"/>
                </a:lnTo>
                <a:close/>
              </a:path>
              <a:path w="2670810" h="489585">
                <a:moveTo>
                  <a:pt x="2670667" y="9525"/>
                </a:moveTo>
                <a:lnTo>
                  <a:pt x="47625" y="9525"/>
                </a:lnTo>
                <a:lnTo>
                  <a:pt x="47625" y="19050"/>
                </a:lnTo>
                <a:lnTo>
                  <a:pt x="2670667" y="19050"/>
                </a:lnTo>
                <a:lnTo>
                  <a:pt x="2670667" y="9525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6981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B39776-B051-1E97-3297-7EEA3A28E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472243"/>
            <a:ext cx="381001" cy="207843"/>
          </a:xfrm>
        </p:spPr>
        <p:txBody>
          <a:bodyPr/>
          <a:lstStyle/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14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525DE3-A361-902F-55F2-0C74030D9E34}"/>
              </a:ext>
            </a:extLst>
          </p:cNvPr>
          <p:cNvSpPr txBox="1">
            <a:spLocks/>
          </p:cNvSpPr>
          <p:nvPr/>
        </p:nvSpPr>
        <p:spPr>
          <a:xfrm>
            <a:off x="11429998" y="6472243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14</a:t>
            </a:fld>
            <a:endParaRPr lang="en-IN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1AB49CED-068A-661D-1E39-A9030A193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75" y="346527"/>
            <a:ext cx="10906125" cy="344710"/>
          </a:xfrm>
        </p:spPr>
        <p:txBody>
          <a:bodyPr/>
          <a:lstStyle/>
          <a:p>
            <a:r>
              <a:rPr lang="en-US" sz="2800" dirty="0"/>
              <a:t>ABC wants to be a front runner by focusing on 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CD6F081F-5AB4-50C0-60B5-DE52918DE4BA}"/>
              </a:ext>
            </a:extLst>
          </p:cNvPr>
          <p:cNvGrpSpPr/>
          <p:nvPr/>
        </p:nvGrpSpPr>
        <p:grpSpPr>
          <a:xfrm>
            <a:off x="501056" y="862006"/>
            <a:ext cx="2245589" cy="2931001"/>
            <a:chOff x="501056" y="1000556"/>
            <a:chExt cx="2245589" cy="2931001"/>
          </a:xfrm>
        </p:grpSpPr>
        <p:grpSp>
          <p:nvGrpSpPr>
            <p:cNvPr id="42" name="object 48">
              <a:extLst>
                <a:ext uri="{FF2B5EF4-FFF2-40B4-BE49-F238E27FC236}">
                  <a16:creationId xmlns:a16="http://schemas.microsoft.com/office/drawing/2014/main" id="{A48A6D8B-78C2-ABBD-33CC-3E12B4907C5B}"/>
                </a:ext>
              </a:extLst>
            </p:cNvPr>
            <p:cNvGrpSpPr/>
            <p:nvPr/>
          </p:nvGrpSpPr>
          <p:grpSpPr>
            <a:xfrm>
              <a:off x="501056" y="1000556"/>
              <a:ext cx="2004473" cy="2931001"/>
              <a:chOff x="1071654" y="2715836"/>
              <a:chExt cx="2661285" cy="3955415"/>
            </a:xfrm>
          </p:grpSpPr>
          <p:sp>
            <p:nvSpPr>
              <p:cNvPr id="47" name="object 49">
                <a:extLst>
                  <a:ext uri="{FF2B5EF4-FFF2-40B4-BE49-F238E27FC236}">
                    <a16:creationId xmlns:a16="http://schemas.microsoft.com/office/drawing/2014/main" id="{0A2E3847-ED83-CA49-BD5E-09B5BE99447A}"/>
                  </a:ext>
                </a:extLst>
              </p:cNvPr>
              <p:cNvSpPr/>
              <p:nvPr/>
            </p:nvSpPr>
            <p:spPr>
              <a:xfrm>
                <a:off x="1078004" y="2722186"/>
                <a:ext cx="2648585" cy="3942715"/>
              </a:xfrm>
              <a:custGeom>
                <a:avLst/>
                <a:gdLst/>
                <a:ahLst/>
                <a:cxnLst/>
                <a:rect l="l" t="t" r="r" b="b"/>
                <a:pathLst>
                  <a:path w="2648585" h="3942715">
                    <a:moveTo>
                      <a:pt x="0" y="441374"/>
                    </a:moveTo>
                    <a:lnTo>
                      <a:pt x="2589" y="393281"/>
                    </a:lnTo>
                    <a:lnTo>
                      <a:pt x="10180" y="346689"/>
                    </a:lnTo>
                    <a:lnTo>
                      <a:pt x="22501" y="301866"/>
                    </a:lnTo>
                    <a:lnTo>
                      <a:pt x="39284" y="259081"/>
                    </a:lnTo>
                    <a:lnTo>
                      <a:pt x="60260" y="218604"/>
                    </a:lnTo>
                    <a:lnTo>
                      <a:pt x="85159" y="180704"/>
                    </a:lnTo>
                    <a:lnTo>
                      <a:pt x="113712" y="145650"/>
                    </a:lnTo>
                    <a:lnTo>
                      <a:pt x="145651" y="113712"/>
                    </a:lnTo>
                    <a:lnTo>
                      <a:pt x="180704" y="85159"/>
                    </a:lnTo>
                    <a:lnTo>
                      <a:pt x="218604" y="60260"/>
                    </a:lnTo>
                    <a:lnTo>
                      <a:pt x="259081" y="39284"/>
                    </a:lnTo>
                    <a:lnTo>
                      <a:pt x="301866" y="22501"/>
                    </a:lnTo>
                    <a:lnTo>
                      <a:pt x="346689" y="10180"/>
                    </a:lnTo>
                    <a:lnTo>
                      <a:pt x="393282" y="2589"/>
                    </a:lnTo>
                    <a:lnTo>
                      <a:pt x="441375" y="0"/>
                    </a:lnTo>
                    <a:lnTo>
                      <a:pt x="2206823" y="0"/>
                    </a:lnTo>
                    <a:lnTo>
                      <a:pt x="2254915" y="2589"/>
                    </a:lnTo>
                    <a:lnTo>
                      <a:pt x="2301508" y="10180"/>
                    </a:lnTo>
                    <a:lnTo>
                      <a:pt x="2346331" y="22501"/>
                    </a:lnTo>
                    <a:lnTo>
                      <a:pt x="2389116" y="39284"/>
                    </a:lnTo>
                    <a:lnTo>
                      <a:pt x="2429593" y="60260"/>
                    </a:lnTo>
                    <a:lnTo>
                      <a:pt x="2467493" y="85159"/>
                    </a:lnTo>
                    <a:lnTo>
                      <a:pt x="2502547" y="113712"/>
                    </a:lnTo>
                    <a:lnTo>
                      <a:pt x="2534485" y="145650"/>
                    </a:lnTo>
                    <a:lnTo>
                      <a:pt x="2563038" y="180704"/>
                    </a:lnTo>
                    <a:lnTo>
                      <a:pt x="2587937" y="218604"/>
                    </a:lnTo>
                    <a:lnTo>
                      <a:pt x="2608913" y="259081"/>
                    </a:lnTo>
                    <a:lnTo>
                      <a:pt x="2625696" y="301866"/>
                    </a:lnTo>
                    <a:lnTo>
                      <a:pt x="2638017" y="346689"/>
                    </a:lnTo>
                    <a:lnTo>
                      <a:pt x="2645608" y="393281"/>
                    </a:lnTo>
                    <a:lnTo>
                      <a:pt x="2648198" y="441374"/>
                    </a:lnTo>
                    <a:lnTo>
                      <a:pt x="2648198" y="3501233"/>
                    </a:lnTo>
                    <a:lnTo>
                      <a:pt x="2645608" y="3549325"/>
                    </a:lnTo>
                    <a:lnTo>
                      <a:pt x="2638017" y="3595918"/>
                    </a:lnTo>
                    <a:lnTo>
                      <a:pt x="2625696" y="3640741"/>
                    </a:lnTo>
                    <a:lnTo>
                      <a:pt x="2608913" y="3683526"/>
                    </a:lnTo>
                    <a:lnTo>
                      <a:pt x="2587937" y="3724003"/>
                    </a:lnTo>
                    <a:lnTo>
                      <a:pt x="2563038" y="3761903"/>
                    </a:lnTo>
                    <a:lnTo>
                      <a:pt x="2534485" y="3796957"/>
                    </a:lnTo>
                    <a:lnTo>
                      <a:pt x="2502547" y="3828895"/>
                    </a:lnTo>
                    <a:lnTo>
                      <a:pt x="2467493" y="3857448"/>
                    </a:lnTo>
                    <a:lnTo>
                      <a:pt x="2429593" y="3882347"/>
                    </a:lnTo>
                    <a:lnTo>
                      <a:pt x="2389116" y="3903323"/>
                    </a:lnTo>
                    <a:lnTo>
                      <a:pt x="2346331" y="3920106"/>
                    </a:lnTo>
                    <a:lnTo>
                      <a:pt x="2301508" y="3932427"/>
                    </a:lnTo>
                    <a:lnTo>
                      <a:pt x="2254915" y="3940018"/>
                    </a:lnTo>
                    <a:lnTo>
                      <a:pt x="2206823" y="3942608"/>
                    </a:lnTo>
                    <a:lnTo>
                      <a:pt x="441375" y="3942608"/>
                    </a:lnTo>
                    <a:lnTo>
                      <a:pt x="393282" y="3940018"/>
                    </a:lnTo>
                    <a:lnTo>
                      <a:pt x="346689" y="3932427"/>
                    </a:lnTo>
                    <a:lnTo>
                      <a:pt x="301866" y="3920106"/>
                    </a:lnTo>
                    <a:lnTo>
                      <a:pt x="259081" y="3903323"/>
                    </a:lnTo>
                    <a:lnTo>
                      <a:pt x="218604" y="3882347"/>
                    </a:lnTo>
                    <a:lnTo>
                      <a:pt x="180704" y="3857448"/>
                    </a:lnTo>
                    <a:lnTo>
                      <a:pt x="145651" y="3828895"/>
                    </a:lnTo>
                    <a:lnTo>
                      <a:pt x="113712" y="3796957"/>
                    </a:lnTo>
                    <a:lnTo>
                      <a:pt x="85159" y="3761903"/>
                    </a:lnTo>
                    <a:lnTo>
                      <a:pt x="60260" y="3724003"/>
                    </a:lnTo>
                    <a:lnTo>
                      <a:pt x="39284" y="3683526"/>
                    </a:lnTo>
                    <a:lnTo>
                      <a:pt x="22501" y="3640741"/>
                    </a:lnTo>
                    <a:lnTo>
                      <a:pt x="10180" y="3595918"/>
                    </a:lnTo>
                    <a:lnTo>
                      <a:pt x="2589" y="3549325"/>
                    </a:lnTo>
                    <a:lnTo>
                      <a:pt x="0" y="3501233"/>
                    </a:lnTo>
                    <a:lnTo>
                      <a:pt x="0" y="441374"/>
                    </a:lnTo>
                    <a:close/>
                  </a:path>
                </a:pathLst>
              </a:custGeom>
              <a:ln w="12700">
                <a:solidFill>
                  <a:srgbClr val="7030A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8" name="object 50">
                <a:extLst>
                  <a:ext uri="{FF2B5EF4-FFF2-40B4-BE49-F238E27FC236}">
                    <a16:creationId xmlns:a16="http://schemas.microsoft.com/office/drawing/2014/main" id="{7751FAA8-5DE8-CD2A-FF7B-5CA432905742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109471" y="2782823"/>
                <a:ext cx="2569464" cy="984503"/>
              </a:xfrm>
              <a:prstGeom prst="rect">
                <a:avLst/>
              </a:prstGeom>
            </p:spPr>
          </p:pic>
          <p:sp>
            <p:nvSpPr>
              <p:cNvPr id="49" name="object 51">
                <a:extLst>
                  <a:ext uri="{FF2B5EF4-FFF2-40B4-BE49-F238E27FC236}">
                    <a16:creationId xmlns:a16="http://schemas.microsoft.com/office/drawing/2014/main" id="{0728F24F-059E-BD90-2F97-F0405639A5D6}"/>
                  </a:ext>
                </a:extLst>
              </p:cNvPr>
              <p:cNvSpPr/>
              <p:nvPr/>
            </p:nvSpPr>
            <p:spPr>
              <a:xfrm>
                <a:off x="1181920" y="2854646"/>
                <a:ext cx="2424430" cy="842010"/>
              </a:xfrm>
              <a:custGeom>
                <a:avLst/>
                <a:gdLst/>
                <a:ahLst/>
                <a:cxnLst/>
                <a:rect l="l" t="t" r="r" b="b"/>
                <a:pathLst>
                  <a:path w="2424429" h="842010">
                    <a:moveTo>
                      <a:pt x="2105920" y="0"/>
                    </a:moveTo>
                    <a:lnTo>
                      <a:pt x="318447" y="0"/>
                    </a:lnTo>
                    <a:lnTo>
                      <a:pt x="271390" y="3452"/>
                    </a:lnTo>
                    <a:lnTo>
                      <a:pt x="226476" y="13482"/>
                    </a:lnTo>
                    <a:lnTo>
                      <a:pt x="184198" y="29597"/>
                    </a:lnTo>
                    <a:lnTo>
                      <a:pt x="145049" y="51303"/>
                    </a:lnTo>
                    <a:lnTo>
                      <a:pt x="109522" y="78109"/>
                    </a:lnTo>
                    <a:lnTo>
                      <a:pt x="78110" y="109522"/>
                    </a:lnTo>
                    <a:lnTo>
                      <a:pt x="51304" y="145049"/>
                    </a:lnTo>
                    <a:lnTo>
                      <a:pt x="29597" y="184198"/>
                    </a:lnTo>
                    <a:lnTo>
                      <a:pt x="13482" y="226476"/>
                    </a:lnTo>
                    <a:lnTo>
                      <a:pt x="3452" y="271390"/>
                    </a:lnTo>
                    <a:lnTo>
                      <a:pt x="0" y="318448"/>
                    </a:lnTo>
                    <a:lnTo>
                      <a:pt x="0" y="523452"/>
                    </a:lnTo>
                    <a:lnTo>
                      <a:pt x="3452" y="570509"/>
                    </a:lnTo>
                    <a:lnTo>
                      <a:pt x="13482" y="615423"/>
                    </a:lnTo>
                    <a:lnTo>
                      <a:pt x="29597" y="657701"/>
                    </a:lnTo>
                    <a:lnTo>
                      <a:pt x="51304" y="696849"/>
                    </a:lnTo>
                    <a:lnTo>
                      <a:pt x="78110" y="732376"/>
                    </a:lnTo>
                    <a:lnTo>
                      <a:pt x="109522" y="763789"/>
                    </a:lnTo>
                    <a:lnTo>
                      <a:pt x="145049" y="790595"/>
                    </a:lnTo>
                    <a:lnTo>
                      <a:pt x="184198" y="812302"/>
                    </a:lnTo>
                    <a:lnTo>
                      <a:pt x="226476" y="828416"/>
                    </a:lnTo>
                    <a:lnTo>
                      <a:pt x="271390" y="838446"/>
                    </a:lnTo>
                    <a:lnTo>
                      <a:pt x="318447" y="841899"/>
                    </a:lnTo>
                    <a:lnTo>
                      <a:pt x="2105920" y="841899"/>
                    </a:lnTo>
                    <a:lnTo>
                      <a:pt x="2152978" y="838446"/>
                    </a:lnTo>
                    <a:lnTo>
                      <a:pt x="2197892" y="828416"/>
                    </a:lnTo>
                    <a:lnTo>
                      <a:pt x="2240170" y="812302"/>
                    </a:lnTo>
                    <a:lnTo>
                      <a:pt x="2279318" y="790595"/>
                    </a:lnTo>
                    <a:lnTo>
                      <a:pt x="2314845" y="763789"/>
                    </a:lnTo>
                    <a:lnTo>
                      <a:pt x="2346258" y="732376"/>
                    </a:lnTo>
                    <a:lnTo>
                      <a:pt x="2373064" y="696849"/>
                    </a:lnTo>
                    <a:lnTo>
                      <a:pt x="2394770" y="657701"/>
                    </a:lnTo>
                    <a:lnTo>
                      <a:pt x="2410885" y="615423"/>
                    </a:lnTo>
                    <a:lnTo>
                      <a:pt x="2420915" y="570509"/>
                    </a:lnTo>
                    <a:lnTo>
                      <a:pt x="2424368" y="523452"/>
                    </a:lnTo>
                    <a:lnTo>
                      <a:pt x="2424368" y="318448"/>
                    </a:lnTo>
                    <a:lnTo>
                      <a:pt x="2420915" y="271390"/>
                    </a:lnTo>
                    <a:lnTo>
                      <a:pt x="2410885" y="226476"/>
                    </a:lnTo>
                    <a:lnTo>
                      <a:pt x="2394770" y="184198"/>
                    </a:lnTo>
                    <a:lnTo>
                      <a:pt x="2373064" y="145049"/>
                    </a:lnTo>
                    <a:lnTo>
                      <a:pt x="2346258" y="109522"/>
                    </a:lnTo>
                    <a:lnTo>
                      <a:pt x="2314845" y="78109"/>
                    </a:lnTo>
                    <a:lnTo>
                      <a:pt x="2279318" y="51303"/>
                    </a:lnTo>
                    <a:lnTo>
                      <a:pt x="2240170" y="29597"/>
                    </a:lnTo>
                    <a:lnTo>
                      <a:pt x="2197892" y="13482"/>
                    </a:lnTo>
                    <a:lnTo>
                      <a:pt x="2152978" y="3452"/>
                    </a:lnTo>
                    <a:lnTo>
                      <a:pt x="2105920" y="0"/>
                    </a:lnTo>
                    <a:close/>
                  </a:path>
                </a:pathLst>
              </a:custGeom>
              <a:solidFill>
                <a:srgbClr val="8537BE"/>
              </a:solidFill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b="1" dirty="0"/>
                  <a:t>Digital First</a:t>
                </a:r>
                <a:endParaRPr b="1" dirty="0"/>
              </a:p>
            </p:txBody>
          </p:sp>
          <p:sp>
            <p:nvSpPr>
              <p:cNvPr id="50" name="object 52">
                <a:extLst>
                  <a:ext uri="{FF2B5EF4-FFF2-40B4-BE49-F238E27FC236}">
                    <a16:creationId xmlns:a16="http://schemas.microsoft.com/office/drawing/2014/main" id="{F42B5314-5494-20E4-8FE9-905903D87FB4}"/>
                  </a:ext>
                </a:extLst>
              </p:cNvPr>
              <p:cNvSpPr/>
              <p:nvPr/>
            </p:nvSpPr>
            <p:spPr>
              <a:xfrm>
                <a:off x="1181920" y="2854646"/>
                <a:ext cx="2424430" cy="842010"/>
              </a:xfrm>
              <a:custGeom>
                <a:avLst/>
                <a:gdLst/>
                <a:ahLst/>
                <a:cxnLst/>
                <a:rect l="l" t="t" r="r" b="b"/>
                <a:pathLst>
                  <a:path w="2424429" h="842010">
                    <a:moveTo>
                      <a:pt x="0" y="318448"/>
                    </a:moveTo>
                    <a:lnTo>
                      <a:pt x="3452" y="271390"/>
                    </a:lnTo>
                    <a:lnTo>
                      <a:pt x="13482" y="226476"/>
                    </a:lnTo>
                    <a:lnTo>
                      <a:pt x="29597" y="184198"/>
                    </a:lnTo>
                    <a:lnTo>
                      <a:pt x="51303" y="145049"/>
                    </a:lnTo>
                    <a:lnTo>
                      <a:pt x="78109" y="109522"/>
                    </a:lnTo>
                    <a:lnTo>
                      <a:pt x="109522" y="78109"/>
                    </a:lnTo>
                    <a:lnTo>
                      <a:pt x="145049" y="51303"/>
                    </a:lnTo>
                    <a:lnTo>
                      <a:pt x="184198" y="29597"/>
                    </a:lnTo>
                    <a:lnTo>
                      <a:pt x="226475" y="13482"/>
                    </a:lnTo>
                    <a:lnTo>
                      <a:pt x="271389" y="3452"/>
                    </a:lnTo>
                    <a:lnTo>
                      <a:pt x="318447" y="0"/>
                    </a:lnTo>
                    <a:lnTo>
                      <a:pt x="2105921" y="0"/>
                    </a:lnTo>
                    <a:lnTo>
                      <a:pt x="2152978" y="3452"/>
                    </a:lnTo>
                    <a:lnTo>
                      <a:pt x="2197892" y="13482"/>
                    </a:lnTo>
                    <a:lnTo>
                      <a:pt x="2240170" y="29597"/>
                    </a:lnTo>
                    <a:lnTo>
                      <a:pt x="2279318" y="51303"/>
                    </a:lnTo>
                    <a:lnTo>
                      <a:pt x="2314845" y="78109"/>
                    </a:lnTo>
                    <a:lnTo>
                      <a:pt x="2346258" y="109522"/>
                    </a:lnTo>
                    <a:lnTo>
                      <a:pt x="2373064" y="145049"/>
                    </a:lnTo>
                    <a:lnTo>
                      <a:pt x="2394770" y="184198"/>
                    </a:lnTo>
                    <a:lnTo>
                      <a:pt x="2410885" y="226476"/>
                    </a:lnTo>
                    <a:lnTo>
                      <a:pt x="2420915" y="271390"/>
                    </a:lnTo>
                    <a:lnTo>
                      <a:pt x="2424368" y="318448"/>
                    </a:lnTo>
                    <a:lnTo>
                      <a:pt x="2424368" y="523451"/>
                    </a:lnTo>
                    <a:lnTo>
                      <a:pt x="2420915" y="570508"/>
                    </a:lnTo>
                    <a:lnTo>
                      <a:pt x="2410885" y="615423"/>
                    </a:lnTo>
                    <a:lnTo>
                      <a:pt x="2394770" y="657700"/>
                    </a:lnTo>
                    <a:lnTo>
                      <a:pt x="2373064" y="696849"/>
                    </a:lnTo>
                    <a:lnTo>
                      <a:pt x="2346258" y="732376"/>
                    </a:lnTo>
                    <a:lnTo>
                      <a:pt x="2314845" y="763789"/>
                    </a:lnTo>
                    <a:lnTo>
                      <a:pt x="2279318" y="790595"/>
                    </a:lnTo>
                    <a:lnTo>
                      <a:pt x="2240170" y="812301"/>
                    </a:lnTo>
                    <a:lnTo>
                      <a:pt x="2197892" y="828416"/>
                    </a:lnTo>
                    <a:lnTo>
                      <a:pt x="2152978" y="838446"/>
                    </a:lnTo>
                    <a:lnTo>
                      <a:pt x="2105921" y="841899"/>
                    </a:lnTo>
                    <a:lnTo>
                      <a:pt x="318447" y="841899"/>
                    </a:lnTo>
                    <a:lnTo>
                      <a:pt x="271389" y="838446"/>
                    </a:lnTo>
                    <a:lnTo>
                      <a:pt x="226475" y="828416"/>
                    </a:lnTo>
                    <a:lnTo>
                      <a:pt x="184198" y="812301"/>
                    </a:lnTo>
                    <a:lnTo>
                      <a:pt x="145049" y="790595"/>
                    </a:lnTo>
                    <a:lnTo>
                      <a:pt x="109522" y="763789"/>
                    </a:lnTo>
                    <a:lnTo>
                      <a:pt x="78109" y="732376"/>
                    </a:lnTo>
                    <a:lnTo>
                      <a:pt x="51303" y="696849"/>
                    </a:lnTo>
                    <a:lnTo>
                      <a:pt x="29597" y="657700"/>
                    </a:lnTo>
                    <a:lnTo>
                      <a:pt x="13482" y="615423"/>
                    </a:lnTo>
                    <a:lnTo>
                      <a:pt x="3452" y="570508"/>
                    </a:lnTo>
                    <a:lnTo>
                      <a:pt x="0" y="523451"/>
                    </a:lnTo>
                    <a:lnTo>
                      <a:pt x="0" y="318448"/>
                    </a:lnTo>
                    <a:close/>
                  </a:path>
                </a:pathLst>
              </a:custGeom>
              <a:ln w="12700">
                <a:solidFill>
                  <a:srgbClr val="7030A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1" name="object 62">
              <a:extLst>
                <a:ext uri="{FF2B5EF4-FFF2-40B4-BE49-F238E27FC236}">
                  <a16:creationId xmlns:a16="http://schemas.microsoft.com/office/drawing/2014/main" id="{060B4D91-8B03-E15D-4AE6-6BBE465C6EBD}"/>
                </a:ext>
              </a:extLst>
            </p:cNvPr>
            <p:cNvSpPr txBox="1"/>
            <p:nvPr/>
          </p:nvSpPr>
          <p:spPr>
            <a:xfrm>
              <a:off x="920356" y="2041378"/>
              <a:ext cx="1666465" cy="5668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1200" spc="40" dirty="0">
                  <a:solidFill>
                    <a:schemeClr val="bg1"/>
                  </a:solidFill>
                  <a:latin typeface="Arial MT"/>
                  <a:cs typeface="Arial MT"/>
                </a:rPr>
                <a:t>Tech for service delivery, metaverse marketplace</a:t>
              </a:r>
              <a:endParaRPr sz="1200" dirty="0">
                <a:solidFill>
                  <a:schemeClr val="bg1"/>
                </a:solidFill>
                <a:latin typeface="Arial MT"/>
                <a:cs typeface="Arial MT"/>
              </a:endParaRPr>
            </a:p>
          </p:txBody>
        </p:sp>
        <p:pic>
          <p:nvPicPr>
            <p:cNvPr id="58" name="object 55">
              <a:extLst>
                <a:ext uri="{FF2B5EF4-FFF2-40B4-BE49-F238E27FC236}">
                  <a16:creationId xmlns:a16="http://schemas.microsoft.com/office/drawing/2014/main" id="{F90ECDD5-AC4D-6B8B-EA48-1B9289A6ACB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4298" y="2059604"/>
              <a:ext cx="345704" cy="345704"/>
            </a:xfrm>
            <a:prstGeom prst="rect">
              <a:avLst/>
            </a:prstGeom>
          </p:spPr>
        </p:pic>
        <p:sp>
          <p:nvSpPr>
            <p:cNvPr id="60" name="object 62">
              <a:extLst>
                <a:ext uri="{FF2B5EF4-FFF2-40B4-BE49-F238E27FC236}">
                  <a16:creationId xmlns:a16="http://schemas.microsoft.com/office/drawing/2014/main" id="{60C3A0ED-A1A1-15EF-A76C-B77FC491F89F}"/>
                </a:ext>
              </a:extLst>
            </p:cNvPr>
            <p:cNvSpPr txBox="1"/>
            <p:nvPr/>
          </p:nvSpPr>
          <p:spPr>
            <a:xfrm>
              <a:off x="930993" y="2798128"/>
              <a:ext cx="1815652" cy="75148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1200" b="1" spc="40" dirty="0">
                  <a:solidFill>
                    <a:schemeClr val="accent3"/>
                  </a:solidFill>
                  <a:latin typeface="Arial MT"/>
                  <a:cs typeface="Arial MT"/>
                </a:rPr>
                <a:t>Transforming value chain </a:t>
              </a:r>
              <a:r>
                <a:rPr lang="en-IN" sz="1200" spc="40" dirty="0">
                  <a:solidFill>
                    <a:schemeClr val="bg1"/>
                  </a:solidFill>
                  <a:latin typeface="Arial MT"/>
                  <a:cs typeface="Arial MT"/>
                </a:rPr>
                <a:t>activities to become more cost optimized</a:t>
              </a:r>
              <a:endParaRPr sz="1200" dirty="0">
                <a:solidFill>
                  <a:schemeClr val="bg1"/>
                </a:solidFill>
                <a:latin typeface="Arial MT"/>
                <a:cs typeface="Arial MT"/>
              </a:endParaRPr>
            </a:p>
          </p:txBody>
        </p:sp>
        <p:pic>
          <p:nvPicPr>
            <p:cNvPr id="65" name="object 39">
              <a:extLst>
                <a:ext uri="{FF2B5EF4-FFF2-40B4-BE49-F238E27FC236}">
                  <a16:creationId xmlns:a16="http://schemas.microsoft.com/office/drawing/2014/main" id="{7D75A5B4-72BD-363C-E837-3FC431948FA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0687" y="2814024"/>
              <a:ext cx="281885" cy="281886"/>
            </a:xfrm>
            <a:prstGeom prst="rect">
              <a:avLst/>
            </a:prstGeom>
          </p:spPr>
        </p:pic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4B192A0E-DC9E-B691-45F8-36CFAF6618FE}"/>
                </a:ext>
              </a:extLst>
            </p:cNvPr>
            <p:cNvCxnSpPr/>
            <p:nvPr/>
          </p:nvCxnSpPr>
          <p:spPr>
            <a:xfrm>
              <a:off x="555287" y="1805120"/>
              <a:ext cx="1884167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1CAA436D-E874-EC4B-41D7-C0F701626191}"/>
              </a:ext>
            </a:extLst>
          </p:cNvPr>
          <p:cNvGrpSpPr/>
          <p:nvPr/>
        </p:nvGrpSpPr>
        <p:grpSpPr>
          <a:xfrm>
            <a:off x="2746645" y="862005"/>
            <a:ext cx="2164297" cy="2931001"/>
            <a:chOff x="501056" y="1000556"/>
            <a:chExt cx="2164297" cy="2931001"/>
          </a:xfrm>
        </p:grpSpPr>
        <p:grpSp>
          <p:nvGrpSpPr>
            <p:cNvPr id="71" name="object 48">
              <a:extLst>
                <a:ext uri="{FF2B5EF4-FFF2-40B4-BE49-F238E27FC236}">
                  <a16:creationId xmlns:a16="http://schemas.microsoft.com/office/drawing/2014/main" id="{B3124783-8771-AED0-EAAA-93E7D9DDAF25}"/>
                </a:ext>
              </a:extLst>
            </p:cNvPr>
            <p:cNvGrpSpPr/>
            <p:nvPr/>
          </p:nvGrpSpPr>
          <p:grpSpPr>
            <a:xfrm>
              <a:off x="501056" y="1000556"/>
              <a:ext cx="2004473" cy="2931001"/>
              <a:chOff x="1071654" y="2715836"/>
              <a:chExt cx="2661285" cy="3955415"/>
            </a:xfrm>
          </p:grpSpPr>
          <p:sp>
            <p:nvSpPr>
              <p:cNvPr id="79" name="object 49">
                <a:extLst>
                  <a:ext uri="{FF2B5EF4-FFF2-40B4-BE49-F238E27FC236}">
                    <a16:creationId xmlns:a16="http://schemas.microsoft.com/office/drawing/2014/main" id="{36A50138-5DCC-C36F-870A-9223715D8FC7}"/>
                  </a:ext>
                </a:extLst>
              </p:cNvPr>
              <p:cNvSpPr/>
              <p:nvPr/>
            </p:nvSpPr>
            <p:spPr>
              <a:xfrm>
                <a:off x="1078004" y="2722186"/>
                <a:ext cx="2648585" cy="3942715"/>
              </a:xfrm>
              <a:custGeom>
                <a:avLst/>
                <a:gdLst/>
                <a:ahLst/>
                <a:cxnLst/>
                <a:rect l="l" t="t" r="r" b="b"/>
                <a:pathLst>
                  <a:path w="2648585" h="3942715">
                    <a:moveTo>
                      <a:pt x="0" y="441374"/>
                    </a:moveTo>
                    <a:lnTo>
                      <a:pt x="2589" y="393281"/>
                    </a:lnTo>
                    <a:lnTo>
                      <a:pt x="10180" y="346689"/>
                    </a:lnTo>
                    <a:lnTo>
                      <a:pt x="22501" y="301866"/>
                    </a:lnTo>
                    <a:lnTo>
                      <a:pt x="39284" y="259081"/>
                    </a:lnTo>
                    <a:lnTo>
                      <a:pt x="60260" y="218604"/>
                    </a:lnTo>
                    <a:lnTo>
                      <a:pt x="85159" y="180704"/>
                    </a:lnTo>
                    <a:lnTo>
                      <a:pt x="113712" y="145650"/>
                    </a:lnTo>
                    <a:lnTo>
                      <a:pt x="145651" y="113712"/>
                    </a:lnTo>
                    <a:lnTo>
                      <a:pt x="180704" y="85159"/>
                    </a:lnTo>
                    <a:lnTo>
                      <a:pt x="218604" y="60260"/>
                    </a:lnTo>
                    <a:lnTo>
                      <a:pt x="259081" y="39284"/>
                    </a:lnTo>
                    <a:lnTo>
                      <a:pt x="301866" y="22501"/>
                    </a:lnTo>
                    <a:lnTo>
                      <a:pt x="346689" y="10180"/>
                    </a:lnTo>
                    <a:lnTo>
                      <a:pt x="393282" y="2589"/>
                    </a:lnTo>
                    <a:lnTo>
                      <a:pt x="441375" y="0"/>
                    </a:lnTo>
                    <a:lnTo>
                      <a:pt x="2206823" y="0"/>
                    </a:lnTo>
                    <a:lnTo>
                      <a:pt x="2254915" y="2589"/>
                    </a:lnTo>
                    <a:lnTo>
                      <a:pt x="2301508" y="10180"/>
                    </a:lnTo>
                    <a:lnTo>
                      <a:pt x="2346331" y="22501"/>
                    </a:lnTo>
                    <a:lnTo>
                      <a:pt x="2389116" y="39284"/>
                    </a:lnTo>
                    <a:lnTo>
                      <a:pt x="2429593" y="60260"/>
                    </a:lnTo>
                    <a:lnTo>
                      <a:pt x="2467493" y="85159"/>
                    </a:lnTo>
                    <a:lnTo>
                      <a:pt x="2502547" y="113712"/>
                    </a:lnTo>
                    <a:lnTo>
                      <a:pt x="2534485" y="145650"/>
                    </a:lnTo>
                    <a:lnTo>
                      <a:pt x="2563038" y="180704"/>
                    </a:lnTo>
                    <a:lnTo>
                      <a:pt x="2587937" y="218604"/>
                    </a:lnTo>
                    <a:lnTo>
                      <a:pt x="2608913" y="259081"/>
                    </a:lnTo>
                    <a:lnTo>
                      <a:pt x="2625696" y="301866"/>
                    </a:lnTo>
                    <a:lnTo>
                      <a:pt x="2638017" y="346689"/>
                    </a:lnTo>
                    <a:lnTo>
                      <a:pt x="2645608" y="393281"/>
                    </a:lnTo>
                    <a:lnTo>
                      <a:pt x="2648198" y="441374"/>
                    </a:lnTo>
                    <a:lnTo>
                      <a:pt x="2648198" y="3501233"/>
                    </a:lnTo>
                    <a:lnTo>
                      <a:pt x="2645608" y="3549325"/>
                    </a:lnTo>
                    <a:lnTo>
                      <a:pt x="2638017" y="3595918"/>
                    </a:lnTo>
                    <a:lnTo>
                      <a:pt x="2625696" y="3640741"/>
                    </a:lnTo>
                    <a:lnTo>
                      <a:pt x="2608913" y="3683526"/>
                    </a:lnTo>
                    <a:lnTo>
                      <a:pt x="2587937" y="3724003"/>
                    </a:lnTo>
                    <a:lnTo>
                      <a:pt x="2563038" y="3761903"/>
                    </a:lnTo>
                    <a:lnTo>
                      <a:pt x="2534485" y="3796957"/>
                    </a:lnTo>
                    <a:lnTo>
                      <a:pt x="2502547" y="3828895"/>
                    </a:lnTo>
                    <a:lnTo>
                      <a:pt x="2467493" y="3857448"/>
                    </a:lnTo>
                    <a:lnTo>
                      <a:pt x="2429593" y="3882347"/>
                    </a:lnTo>
                    <a:lnTo>
                      <a:pt x="2389116" y="3903323"/>
                    </a:lnTo>
                    <a:lnTo>
                      <a:pt x="2346331" y="3920106"/>
                    </a:lnTo>
                    <a:lnTo>
                      <a:pt x="2301508" y="3932427"/>
                    </a:lnTo>
                    <a:lnTo>
                      <a:pt x="2254915" y="3940018"/>
                    </a:lnTo>
                    <a:lnTo>
                      <a:pt x="2206823" y="3942608"/>
                    </a:lnTo>
                    <a:lnTo>
                      <a:pt x="441375" y="3942608"/>
                    </a:lnTo>
                    <a:lnTo>
                      <a:pt x="393282" y="3940018"/>
                    </a:lnTo>
                    <a:lnTo>
                      <a:pt x="346689" y="3932427"/>
                    </a:lnTo>
                    <a:lnTo>
                      <a:pt x="301866" y="3920106"/>
                    </a:lnTo>
                    <a:lnTo>
                      <a:pt x="259081" y="3903323"/>
                    </a:lnTo>
                    <a:lnTo>
                      <a:pt x="218604" y="3882347"/>
                    </a:lnTo>
                    <a:lnTo>
                      <a:pt x="180704" y="3857448"/>
                    </a:lnTo>
                    <a:lnTo>
                      <a:pt x="145651" y="3828895"/>
                    </a:lnTo>
                    <a:lnTo>
                      <a:pt x="113712" y="3796957"/>
                    </a:lnTo>
                    <a:lnTo>
                      <a:pt x="85159" y="3761903"/>
                    </a:lnTo>
                    <a:lnTo>
                      <a:pt x="60260" y="3724003"/>
                    </a:lnTo>
                    <a:lnTo>
                      <a:pt x="39284" y="3683526"/>
                    </a:lnTo>
                    <a:lnTo>
                      <a:pt x="22501" y="3640741"/>
                    </a:lnTo>
                    <a:lnTo>
                      <a:pt x="10180" y="3595918"/>
                    </a:lnTo>
                    <a:lnTo>
                      <a:pt x="2589" y="3549325"/>
                    </a:lnTo>
                    <a:lnTo>
                      <a:pt x="0" y="3501233"/>
                    </a:lnTo>
                    <a:lnTo>
                      <a:pt x="0" y="441374"/>
                    </a:lnTo>
                    <a:close/>
                  </a:path>
                </a:pathLst>
              </a:custGeom>
              <a:ln w="12700">
                <a:solidFill>
                  <a:srgbClr val="7030A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80" name="object 50">
                <a:extLst>
                  <a:ext uri="{FF2B5EF4-FFF2-40B4-BE49-F238E27FC236}">
                    <a16:creationId xmlns:a16="http://schemas.microsoft.com/office/drawing/2014/main" id="{83812F7F-9D8D-D2EC-8104-5BA67E1DFC4B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109471" y="2782823"/>
                <a:ext cx="2569464" cy="984503"/>
              </a:xfrm>
              <a:prstGeom prst="rect">
                <a:avLst/>
              </a:prstGeom>
            </p:spPr>
          </p:pic>
          <p:sp>
            <p:nvSpPr>
              <p:cNvPr id="82" name="object 51">
                <a:extLst>
                  <a:ext uri="{FF2B5EF4-FFF2-40B4-BE49-F238E27FC236}">
                    <a16:creationId xmlns:a16="http://schemas.microsoft.com/office/drawing/2014/main" id="{9120B343-F083-6B75-F5F2-19DB3E11191C}"/>
                  </a:ext>
                </a:extLst>
              </p:cNvPr>
              <p:cNvSpPr/>
              <p:nvPr/>
            </p:nvSpPr>
            <p:spPr>
              <a:xfrm>
                <a:off x="1181920" y="2854646"/>
                <a:ext cx="2424430" cy="842010"/>
              </a:xfrm>
              <a:custGeom>
                <a:avLst/>
                <a:gdLst/>
                <a:ahLst/>
                <a:cxnLst/>
                <a:rect l="l" t="t" r="r" b="b"/>
                <a:pathLst>
                  <a:path w="2424429" h="842010">
                    <a:moveTo>
                      <a:pt x="2105920" y="0"/>
                    </a:moveTo>
                    <a:lnTo>
                      <a:pt x="318447" y="0"/>
                    </a:lnTo>
                    <a:lnTo>
                      <a:pt x="271390" y="3452"/>
                    </a:lnTo>
                    <a:lnTo>
                      <a:pt x="226476" y="13482"/>
                    </a:lnTo>
                    <a:lnTo>
                      <a:pt x="184198" y="29597"/>
                    </a:lnTo>
                    <a:lnTo>
                      <a:pt x="145049" y="51303"/>
                    </a:lnTo>
                    <a:lnTo>
                      <a:pt x="109522" y="78109"/>
                    </a:lnTo>
                    <a:lnTo>
                      <a:pt x="78110" y="109522"/>
                    </a:lnTo>
                    <a:lnTo>
                      <a:pt x="51304" y="145049"/>
                    </a:lnTo>
                    <a:lnTo>
                      <a:pt x="29597" y="184198"/>
                    </a:lnTo>
                    <a:lnTo>
                      <a:pt x="13482" y="226476"/>
                    </a:lnTo>
                    <a:lnTo>
                      <a:pt x="3452" y="271390"/>
                    </a:lnTo>
                    <a:lnTo>
                      <a:pt x="0" y="318448"/>
                    </a:lnTo>
                    <a:lnTo>
                      <a:pt x="0" y="523452"/>
                    </a:lnTo>
                    <a:lnTo>
                      <a:pt x="3452" y="570509"/>
                    </a:lnTo>
                    <a:lnTo>
                      <a:pt x="13482" y="615423"/>
                    </a:lnTo>
                    <a:lnTo>
                      <a:pt x="29597" y="657701"/>
                    </a:lnTo>
                    <a:lnTo>
                      <a:pt x="51304" y="696849"/>
                    </a:lnTo>
                    <a:lnTo>
                      <a:pt x="78110" y="732376"/>
                    </a:lnTo>
                    <a:lnTo>
                      <a:pt x="109522" y="763789"/>
                    </a:lnTo>
                    <a:lnTo>
                      <a:pt x="145049" y="790595"/>
                    </a:lnTo>
                    <a:lnTo>
                      <a:pt x="184198" y="812302"/>
                    </a:lnTo>
                    <a:lnTo>
                      <a:pt x="226476" y="828416"/>
                    </a:lnTo>
                    <a:lnTo>
                      <a:pt x="271390" y="838446"/>
                    </a:lnTo>
                    <a:lnTo>
                      <a:pt x="318447" y="841899"/>
                    </a:lnTo>
                    <a:lnTo>
                      <a:pt x="2105920" y="841899"/>
                    </a:lnTo>
                    <a:lnTo>
                      <a:pt x="2152978" y="838446"/>
                    </a:lnTo>
                    <a:lnTo>
                      <a:pt x="2197892" y="828416"/>
                    </a:lnTo>
                    <a:lnTo>
                      <a:pt x="2240170" y="812302"/>
                    </a:lnTo>
                    <a:lnTo>
                      <a:pt x="2279318" y="790595"/>
                    </a:lnTo>
                    <a:lnTo>
                      <a:pt x="2314845" y="763789"/>
                    </a:lnTo>
                    <a:lnTo>
                      <a:pt x="2346258" y="732376"/>
                    </a:lnTo>
                    <a:lnTo>
                      <a:pt x="2373064" y="696849"/>
                    </a:lnTo>
                    <a:lnTo>
                      <a:pt x="2394770" y="657701"/>
                    </a:lnTo>
                    <a:lnTo>
                      <a:pt x="2410885" y="615423"/>
                    </a:lnTo>
                    <a:lnTo>
                      <a:pt x="2420915" y="570509"/>
                    </a:lnTo>
                    <a:lnTo>
                      <a:pt x="2424368" y="523452"/>
                    </a:lnTo>
                    <a:lnTo>
                      <a:pt x="2424368" y="318448"/>
                    </a:lnTo>
                    <a:lnTo>
                      <a:pt x="2420915" y="271390"/>
                    </a:lnTo>
                    <a:lnTo>
                      <a:pt x="2410885" y="226476"/>
                    </a:lnTo>
                    <a:lnTo>
                      <a:pt x="2394770" y="184198"/>
                    </a:lnTo>
                    <a:lnTo>
                      <a:pt x="2373064" y="145049"/>
                    </a:lnTo>
                    <a:lnTo>
                      <a:pt x="2346258" y="109522"/>
                    </a:lnTo>
                    <a:lnTo>
                      <a:pt x="2314845" y="78109"/>
                    </a:lnTo>
                    <a:lnTo>
                      <a:pt x="2279318" y="51303"/>
                    </a:lnTo>
                    <a:lnTo>
                      <a:pt x="2240170" y="29597"/>
                    </a:lnTo>
                    <a:lnTo>
                      <a:pt x="2197892" y="13482"/>
                    </a:lnTo>
                    <a:lnTo>
                      <a:pt x="2152978" y="3452"/>
                    </a:lnTo>
                    <a:lnTo>
                      <a:pt x="2105920" y="0"/>
                    </a:lnTo>
                    <a:close/>
                  </a:path>
                </a:pathLst>
              </a:custGeom>
              <a:solidFill>
                <a:srgbClr val="8537BE"/>
              </a:solidFill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b="1" dirty="0"/>
                  <a:t>Circular Supply Chain</a:t>
                </a:r>
                <a:endParaRPr b="1" dirty="0"/>
              </a:p>
            </p:txBody>
          </p:sp>
          <p:sp>
            <p:nvSpPr>
              <p:cNvPr id="83" name="object 52">
                <a:extLst>
                  <a:ext uri="{FF2B5EF4-FFF2-40B4-BE49-F238E27FC236}">
                    <a16:creationId xmlns:a16="http://schemas.microsoft.com/office/drawing/2014/main" id="{A8ACC22A-7494-9E07-A26D-E891DA12D1FD}"/>
                  </a:ext>
                </a:extLst>
              </p:cNvPr>
              <p:cNvSpPr/>
              <p:nvPr/>
            </p:nvSpPr>
            <p:spPr>
              <a:xfrm>
                <a:off x="1181920" y="2854646"/>
                <a:ext cx="2424430" cy="842010"/>
              </a:xfrm>
              <a:custGeom>
                <a:avLst/>
                <a:gdLst/>
                <a:ahLst/>
                <a:cxnLst/>
                <a:rect l="l" t="t" r="r" b="b"/>
                <a:pathLst>
                  <a:path w="2424429" h="842010">
                    <a:moveTo>
                      <a:pt x="0" y="318448"/>
                    </a:moveTo>
                    <a:lnTo>
                      <a:pt x="3452" y="271390"/>
                    </a:lnTo>
                    <a:lnTo>
                      <a:pt x="13482" y="226476"/>
                    </a:lnTo>
                    <a:lnTo>
                      <a:pt x="29597" y="184198"/>
                    </a:lnTo>
                    <a:lnTo>
                      <a:pt x="51303" y="145049"/>
                    </a:lnTo>
                    <a:lnTo>
                      <a:pt x="78109" y="109522"/>
                    </a:lnTo>
                    <a:lnTo>
                      <a:pt x="109522" y="78109"/>
                    </a:lnTo>
                    <a:lnTo>
                      <a:pt x="145049" y="51303"/>
                    </a:lnTo>
                    <a:lnTo>
                      <a:pt x="184198" y="29597"/>
                    </a:lnTo>
                    <a:lnTo>
                      <a:pt x="226475" y="13482"/>
                    </a:lnTo>
                    <a:lnTo>
                      <a:pt x="271389" y="3452"/>
                    </a:lnTo>
                    <a:lnTo>
                      <a:pt x="318447" y="0"/>
                    </a:lnTo>
                    <a:lnTo>
                      <a:pt x="2105921" y="0"/>
                    </a:lnTo>
                    <a:lnTo>
                      <a:pt x="2152978" y="3452"/>
                    </a:lnTo>
                    <a:lnTo>
                      <a:pt x="2197892" y="13482"/>
                    </a:lnTo>
                    <a:lnTo>
                      <a:pt x="2240170" y="29597"/>
                    </a:lnTo>
                    <a:lnTo>
                      <a:pt x="2279318" y="51303"/>
                    </a:lnTo>
                    <a:lnTo>
                      <a:pt x="2314845" y="78109"/>
                    </a:lnTo>
                    <a:lnTo>
                      <a:pt x="2346258" y="109522"/>
                    </a:lnTo>
                    <a:lnTo>
                      <a:pt x="2373064" y="145049"/>
                    </a:lnTo>
                    <a:lnTo>
                      <a:pt x="2394770" y="184198"/>
                    </a:lnTo>
                    <a:lnTo>
                      <a:pt x="2410885" y="226476"/>
                    </a:lnTo>
                    <a:lnTo>
                      <a:pt x="2420915" y="271390"/>
                    </a:lnTo>
                    <a:lnTo>
                      <a:pt x="2424368" y="318448"/>
                    </a:lnTo>
                    <a:lnTo>
                      <a:pt x="2424368" y="523451"/>
                    </a:lnTo>
                    <a:lnTo>
                      <a:pt x="2420915" y="570508"/>
                    </a:lnTo>
                    <a:lnTo>
                      <a:pt x="2410885" y="615423"/>
                    </a:lnTo>
                    <a:lnTo>
                      <a:pt x="2394770" y="657700"/>
                    </a:lnTo>
                    <a:lnTo>
                      <a:pt x="2373064" y="696849"/>
                    </a:lnTo>
                    <a:lnTo>
                      <a:pt x="2346258" y="732376"/>
                    </a:lnTo>
                    <a:lnTo>
                      <a:pt x="2314845" y="763789"/>
                    </a:lnTo>
                    <a:lnTo>
                      <a:pt x="2279318" y="790595"/>
                    </a:lnTo>
                    <a:lnTo>
                      <a:pt x="2240170" y="812301"/>
                    </a:lnTo>
                    <a:lnTo>
                      <a:pt x="2197892" y="828416"/>
                    </a:lnTo>
                    <a:lnTo>
                      <a:pt x="2152978" y="838446"/>
                    </a:lnTo>
                    <a:lnTo>
                      <a:pt x="2105921" y="841899"/>
                    </a:lnTo>
                    <a:lnTo>
                      <a:pt x="318447" y="841899"/>
                    </a:lnTo>
                    <a:lnTo>
                      <a:pt x="271389" y="838446"/>
                    </a:lnTo>
                    <a:lnTo>
                      <a:pt x="226475" y="828416"/>
                    </a:lnTo>
                    <a:lnTo>
                      <a:pt x="184198" y="812301"/>
                    </a:lnTo>
                    <a:lnTo>
                      <a:pt x="145049" y="790595"/>
                    </a:lnTo>
                    <a:lnTo>
                      <a:pt x="109522" y="763789"/>
                    </a:lnTo>
                    <a:lnTo>
                      <a:pt x="78109" y="732376"/>
                    </a:lnTo>
                    <a:lnTo>
                      <a:pt x="51303" y="696849"/>
                    </a:lnTo>
                    <a:lnTo>
                      <a:pt x="29597" y="657700"/>
                    </a:lnTo>
                    <a:lnTo>
                      <a:pt x="13482" y="615423"/>
                    </a:lnTo>
                    <a:lnTo>
                      <a:pt x="3452" y="570508"/>
                    </a:lnTo>
                    <a:lnTo>
                      <a:pt x="0" y="523451"/>
                    </a:lnTo>
                    <a:lnTo>
                      <a:pt x="0" y="318448"/>
                    </a:lnTo>
                    <a:close/>
                  </a:path>
                </a:pathLst>
              </a:custGeom>
              <a:ln w="12700">
                <a:solidFill>
                  <a:srgbClr val="7030A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2" name="object 62">
              <a:extLst>
                <a:ext uri="{FF2B5EF4-FFF2-40B4-BE49-F238E27FC236}">
                  <a16:creationId xmlns:a16="http://schemas.microsoft.com/office/drawing/2014/main" id="{63A306B5-45D4-18B7-BA1E-5CB2D6063333}"/>
                </a:ext>
              </a:extLst>
            </p:cNvPr>
            <p:cNvSpPr txBox="1"/>
            <p:nvPr/>
          </p:nvSpPr>
          <p:spPr>
            <a:xfrm>
              <a:off x="920356" y="2041378"/>
              <a:ext cx="1666465" cy="5668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1200" spc="40" dirty="0">
                  <a:solidFill>
                    <a:schemeClr val="bg1"/>
                  </a:solidFill>
                  <a:latin typeface="Arial MT"/>
                  <a:cs typeface="Arial MT"/>
                </a:rPr>
                <a:t>Mitigating affects of fluctuation in raw material prices</a:t>
              </a:r>
              <a:endParaRPr sz="1200" dirty="0">
                <a:solidFill>
                  <a:schemeClr val="bg1"/>
                </a:solidFill>
                <a:latin typeface="Arial MT"/>
                <a:cs typeface="Arial MT"/>
              </a:endParaRPr>
            </a:p>
          </p:txBody>
        </p:sp>
        <p:pic>
          <p:nvPicPr>
            <p:cNvPr id="73" name="object 55">
              <a:extLst>
                <a:ext uri="{FF2B5EF4-FFF2-40B4-BE49-F238E27FC236}">
                  <a16:creationId xmlns:a16="http://schemas.microsoft.com/office/drawing/2014/main" id="{413D3BA1-7E3B-6BE8-879D-A7BB75E635A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4298" y="2059604"/>
              <a:ext cx="345704" cy="345704"/>
            </a:xfrm>
            <a:prstGeom prst="rect">
              <a:avLst/>
            </a:prstGeom>
          </p:spPr>
        </p:pic>
        <p:sp>
          <p:nvSpPr>
            <p:cNvPr id="74" name="object 62">
              <a:extLst>
                <a:ext uri="{FF2B5EF4-FFF2-40B4-BE49-F238E27FC236}">
                  <a16:creationId xmlns:a16="http://schemas.microsoft.com/office/drawing/2014/main" id="{A30FEDCB-4000-6E60-4E60-23D2C9440BC7}"/>
                </a:ext>
              </a:extLst>
            </p:cNvPr>
            <p:cNvSpPr txBox="1"/>
            <p:nvPr/>
          </p:nvSpPr>
          <p:spPr>
            <a:xfrm>
              <a:off x="930993" y="2798128"/>
              <a:ext cx="1734360" cy="75148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1200" b="1" spc="40" dirty="0">
                  <a:solidFill>
                    <a:schemeClr val="accent3"/>
                  </a:solidFill>
                  <a:latin typeface="Arial MT"/>
                  <a:cs typeface="Arial MT"/>
                </a:rPr>
                <a:t>Improving on sustainability</a:t>
              </a:r>
              <a:r>
                <a:rPr lang="en-IN" sz="1200" spc="40" dirty="0">
                  <a:solidFill>
                    <a:schemeClr val="bg1"/>
                  </a:solidFill>
                  <a:latin typeface="Arial MT"/>
                  <a:cs typeface="Arial MT"/>
                </a:rPr>
                <a:t> to recycle and reduce wastage</a:t>
              </a:r>
              <a:endParaRPr sz="1200" dirty="0">
                <a:solidFill>
                  <a:schemeClr val="bg1"/>
                </a:solidFill>
                <a:latin typeface="Arial MT"/>
                <a:cs typeface="Arial MT"/>
              </a:endParaRPr>
            </a:p>
          </p:txBody>
        </p:sp>
        <p:pic>
          <p:nvPicPr>
            <p:cNvPr id="75" name="object 39">
              <a:extLst>
                <a:ext uri="{FF2B5EF4-FFF2-40B4-BE49-F238E27FC236}">
                  <a16:creationId xmlns:a16="http://schemas.microsoft.com/office/drawing/2014/main" id="{A738B449-BD6C-796F-74E2-B21E6790A57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0687" y="2814024"/>
              <a:ext cx="281885" cy="281886"/>
            </a:xfrm>
            <a:prstGeom prst="rect">
              <a:avLst/>
            </a:prstGeom>
          </p:spPr>
        </p:pic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42262940-9727-493F-9703-B005042154B0}"/>
                </a:ext>
              </a:extLst>
            </p:cNvPr>
            <p:cNvCxnSpPr/>
            <p:nvPr/>
          </p:nvCxnSpPr>
          <p:spPr>
            <a:xfrm>
              <a:off x="555287" y="1805120"/>
              <a:ext cx="1884167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60F1EAD3-D67B-C400-78B1-EF32244D116A}"/>
              </a:ext>
            </a:extLst>
          </p:cNvPr>
          <p:cNvGrpSpPr/>
          <p:nvPr/>
        </p:nvGrpSpPr>
        <p:grpSpPr>
          <a:xfrm>
            <a:off x="4992234" y="857299"/>
            <a:ext cx="2068111" cy="2931001"/>
            <a:chOff x="501056" y="1000556"/>
            <a:chExt cx="2068111" cy="2931001"/>
          </a:xfrm>
        </p:grpSpPr>
        <p:grpSp>
          <p:nvGrpSpPr>
            <p:cNvPr id="85" name="object 48">
              <a:extLst>
                <a:ext uri="{FF2B5EF4-FFF2-40B4-BE49-F238E27FC236}">
                  <a16:creationId xmlns:a16="http://schemas.microsoft.com/office/drawing/2014/main" id="{40A25F87-C33C-383E-EC61-E5EFBCC61A5A}"/>
                </a:ext>
              </a:extLst>
            </p:cNvPr>
            <p:cNvGrpSpPr/>
            <p:nvPr/>
          </p:nvGrpSpPr>
          <p:grpSpPr>
            <a:xfrm>
              <a:off x="501056" y="1000556"/>
              <a:ext cx="2004473" cy="2931001"/>
              <a:chOff x="1071654" y="2715836"/>
              <a:chExt cx="2661285" cy="3955415"/>
            </a:xfrm>
          </p:grpSpPr>
          <p:sp>
            <p:nvSpPr>
              <p:cNvPr id="93" name="object 49">
                <a:extLst>
                  <a:ext uri="{FF2B5EF4-FFF2-40B4-BE49-F238E27FC236}">
                    <a16:creationId xmlns:a16="http://schemas.microsoft.com/office/drawing/2014/main" id="{74E16333-71B3-D3EC-9BB3-EBF143CD86BF}"/>
                  </a:ext>
                </a:extLst>
              </p:cNvPr>
              <p:cNvSpPr/>
              <p:nvPr/>
            </p:nvSpPr>
            <p:spPr>
              <a:xfrm>
                <a:off x="1078004" y="2722186"/>
                <a:ext cx="2648585" cy="3942715"/>
              </a:xfrm>
              <a:custGeom>
                <a:avLst/>
                <a:gdLst/>
                <a:ahLst/>
                <a:cxnLst/>
                <a:rect l="l" t="t" r="r" b="b"/>
                <a:pathLst>
                  <a:path w="2648585" h="3942715">
                    <a:moveTo>
                      <a:pt x="0" y="441374"/>
                    </a:moveTo>
                    <a:lnTo>
                      <a:pt x="2589" y="393281"/>
                    </a:lnTo>
                    <a:lnTo>
                      <a:pt x="10180" y="346689"/>
                    </a:lnTo>
                    <a:lnTo>
                      <a:pt x="22501" y="301866"/>
                    </a:lnTo>
                    <a:lnTo>
                      <a:pt x="39284" y="259081"/>
                    </a:lnTo>
                    <a:lnTo>
                      <a:pt x="60260" y="218604"/>
                    </a:lnTo>
                    <a:lnTo>
                      <a:pt x="85159" y="180704"/>
                    </a:lnTo>
                    <a:lnTo>
                      <a:pt x="113712" y="145650"/>
                    </a:lnTo>
                    <a:lnTo>
                      <a:pt x="145651" y="113712"/>
                    </a:lnTo>
                    <a:lnTo>
                      <a:pt x="180704" y="85159"/>
                    </a:lnTo>
                    <a:lnTo>
                      <a:pt x="218604" y="60260"/>
                    </a:lnTo>
                    <a:lnTo>
                      <a:pt x="259081" y="39284"/>
                    </a:lnTo>
                    <a:lnTo>
                      <a:pt x="301866" y="22501"/>
                    </a:lnTo>
                    <a:lnTo>
                      <a:pt x="346689" y="10180"/>
                    </a:lnTo>
                    <a:lnTo>
                      <a:pt x="393282" y="2589"/>
                    </a:lnTo>
                    <a:lnTo>
                      <a:pt x="441375" y="0"/>
                    </a:lnTo>
                    <a:lnTo>
                      <a:pt x="2206823" y="0"/>
                    </a:lnTo>
                    <a:lnTo>
                      <a:pt x="2254915" y="2589"/>
                    </a:lnTo>
                    <a:lnTo>
                      <a:pt x="2301508" y="10180"/>
                    </a:lnTo>
                    <a:lnTo>
                      <a:pt x="2346331" y="22501"/>
                    </a:lnTo>
                    <a:lnTo>
                      <a:pt x="2389116" y="39284"/>
                    </a:lnTo>
                    <a:lnTo>
                      <a:pt x="2429593" y="60260"/>
                    </a:lnTo>
                    <a:lnTo>
                      <a:pt x="2467493" y="85159"/>
                    </a:lnTo>
                    <a:lnTo>
                      <a:pt x="2502547" y="113712"/>
                    </a:lnTo>
                    <a:lnTo>
                      <a:pt x="2534485" y="145650"/>
                    </a:lnTo>
                    <a:lnTo>
                      <a:pt x="2563038" y="180704"/>
                    </a:lnTo>
                    <a:lnTo>
                      <a:pt x="2587937" y="218604"/>
                    </a:lnTo>
                    <a:lnTo>
                      <a:pt x="2608913" y="259081"/>
                    </a:lnTo>
                    <a:lnTo>
                      <a:pt x="2625696" y="301866"/>
                    </a:lnTo>
                    <a:lnTo>
                      <a:pt x="2638017" y="346689"/>
                    </a:lnTo>
                    <a:lnTo>
                      <a:pt x="2645608" y="393281"/>
                    </a:lnTo>
                    <a:lnTo>
                      <a:pt x="2648198" y="441374"/>
                    </a:lnTo>
                    <a:lnTo>
                      <a:pt x="2648198" y="3501233"/>
                    </a:lnTo>
                    <a:lnTo>
                      <a:pt x="2645608" y="3549325"/>
                    </a:lnTo>
                    <a:lnTo>
                      <a:pt x="2638017" y="3595918"/>
                    </a:lnTo>
                    <a:lnTo>
                      <a:pt x="2625696" y="3640741"/>
                    </a:lnTo>
                    <a:lnTo>
                      <a:pt x="2608913" y="3683526"/>
                    </a:lnTo>
                    <a:lnTo>
                      <a:pt x="2587937" y="3724003"/>
                    </a:lnTo>
                    <a:lnTo>
                      <a:pt x="2563038" y="3761903"/>
                    </a:lnTo>
                    <a:lnTo>
                      <a:pt x="2534485" y="3796957"/>
                    </a:lnTo>
                    <a:lnTo>
                      <a:pt x="2502547" y="3828895"/>
                    </a:lnTo>
                    <a:lnTo>
                      <a:pt x="2467493" y="3857448"/>
                    </a:lnTo>
                    <a:lnTo>
                      <a:pt x="2429593" y="3882347"/>
                    </a:lnTo>
                    <a:lnTo>
                      <a:pt x="2389116" y="3903323"/>
                    </a:lnTo>
                    <a:lnTo>
                      <a:pt x="2346331" y="3920106"/>
                    </a:lnTo>
                    <a:lnTo>
                      <a:pt x="2301508" y="3932427"/>
                    </a:lnTo>
                    <a:lnTo>
                      <a:pt x="2254915" y="3940018"/>
                    </a:lnTo>
                    <a:lnTo>
                      <a:pt x="2206823" y="3942608"/>
                    </a:lnTo>
                    <a:lnTo>
                      <a:pt x="441375" y="3942608"/>
                    </a:lnTo>
                    <a:lnTo>
                      <a:pt x="393282" y="3940018"/>
                    </a:lnTo>
                    <a:lnTo>
                      <a:pt x="346689" y="3932427"/>
                    </a:lnTo>
                    <a:lnTo>
                      <a:pt x="301866" y="3920106"/>
                    </a:lnTo>
                    <a:lnTo>
                      <a:pt x="259081" y="3903323"/>
                    </a:lnTo>
                    <a:lnTo>
                      <a:pt x="218604" y="3882347"/>
                    </a:lnTo>
                    <a:lnTo>
                      <a:pt x="180704" y="3857448"/>
                    </a:lnTo>
                    <a:lnTo>
                      <a:pt x="145651" y="3828895"/>
                    </a:lnTo>
                    <a:lnTo>
                      <a:pt x="113712" y="3796957"/>
                    </a:lnTo>
                    <a:lnTo>
                      <a:pt x="85159" y="3761903"/>
                    </a:lnTo>
                    <a:lnTo>
                      <a:pt x="60260" y="3724003"/>
                    </a:lnTo>
                    <a:lnTo>
                      <a:pt x="39284" y="3683526"/>
                    </a:lnTo>
                    <a:lnTo>
                      <a:pt x="22501" y="3640741"/>
                    </a:lnTo>
                    <a:lnTo>
                      <a:pt x="10180" y="3595918"/>
                    </a:lnTo>
                    <a:lnTo>
                      <a:pt x="2589" y="3549325"/>
                    </a:lnTo>
                    <a:lnTo>
                      <a:pt x="0" y="3501233"/>
                    </a:lnTo>
                    <a:lnTo>
                      <a:pt x="0" y="441374"/>
                    </a:lnTo>
                    <a:close/>
                  </a:path>
                </a:pathLst>
              </a:custGeom>
              <a:ln w="12700">
                <a:solidFill>
                  <a:srgbClr val="7030A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94" name="object 50">
                <a:extLst>
                  <a:ext uri="{FF2B5EF4-FFF2-40B4-BE49-F238E27FC236}">
                    <a16:creationId xmlns:a16="http://schemas.microsoft.com/office/drawing/2014/main" id="{0F081682-8E6C-A306-1837-89D60AC60360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109471" y="2782823"/>
                <a:ext cx="2569464" cy="984503"/>
              </a:xfrm>
              <a:prstGeom prst="rect">
                <a:avLst/>
              </a:prstGeom>
            </p:spPr>
          </p:pic>
          <p:sp>
            <p:nvSpPr>
              <p:cNvPr id="96" name="object 51">
                <a:extLst>
                  <a:ext uri="{FF2B5EF4-FFF2-40B4-BE49-F238E27FC236}">
                    <a16:creationId xmlns:a16="http://schemas.microsoft.com/office/drawing/2014/main" id="{C6497225-4E5F-0493-E728-FCD7AE353FE2}"/>
                  </a:ext>
                </a:extLst>
              </p:cNvPr>
              <p:cNvSpPr/>
              <p:nvPr/>
            </p:nvSpPr>
            <p:spPr>
              <a:xfrm>
                <a:off x="1181920" y="2854646"/>
                <a:ext cx="2424430" cy="842010"/>
              </a:xfrm>
              <a:custGeom>
                <a:avLst/>
                <a:gdLst/>
                <a:ahLst/>
                <a:cxnLst/>
                <a:rect l="l" t="t" r="r" b="b"/>
                <a:pathLst>
                  <a:path w="2424429" h="842010">
                    <a:moveTo>
                      <a:pt x="2105920" y="0"/>
                    </a:moveTo>
                    <a:lnTo>
                      <a:pt x="318447" y="0"/>
                    </a:lnTo>
                    <a:lnTo>
                      <a:pt x="271390" y="3452"/>
                    </a:lnTo>
                    <a:lnTo>
                      <a:pt x="226476" y="13482"/>
                    </a:lnTo>
                    <a:lnTo>
                      <a:pt x="184198" y="29597"/>
                    </a:lnTo>
                    <a:lnTo>
                      <a:pt x="145049" y="51303"/>
                    </a:lnTo>
                    <a:lnTo>
                      <a:pt x="109522" y="78109"/>
                    </a:lnTo>
                    <a:lnTo>
                      <a:pt x="78110" y="109522"/>
                    </a:lnTo>
                    <a:lnTo>
                      <a:pt x="51304" y="145049"/>
                    </a:lnTo>
                    <a:lnTo>
                      <a:pt x="29597" y="184198"/>
                    </a:lnTo>
                    <a:lnTo>
                      <a:pt x="13482" y="226476"/>
                    </a:lnTo>
                    <a:lnTo>
                      <a:pt x="3452" y="271390"/>
                    </a:lnTo>
                    <a:lnTo>
                      <a:pt x="0" y="318448"/>
                    </a:lnTo>
                    <a:lnTo>
                      <a:pt x="0" y="523452"/>
                    </a:lnTo>
                    <a:lnTo>
                      <a:pt x="3452" y="570509"/>
                    </a:lnTo>
                    <a:lnTo>
                      <a:pt x="13482" y="615423"/>
                    </a:lnTo>
                    <a:lnTo>
                      <a:pt x="29597" y="657701"/>
                    </a:lnTo>
                    <a:lnTo>
                      <a:pt x="51304" y="696849"/>
                    </a:lnTo>
                    <a:lnTo>
                      <a:pt x="78110" y="732376"/>
                    </a:lnTo>
                    <a:lnTo>
                      <a:pt x="109522" y="763789"/>
                    </a:lnTo>
                    <a:lnTo>
                      <a:pt x="145049" y="790595"/>
                    </a:lnTo>
                    <a:lnTo>
                      <a:pt x="184198" y="812302"/>
                    </a:lnTo>
                    <a:lnTo>
                      <a:pt x="226476" y="828416"/>
                    </a:lnTo>
                    <a:lnTo>
                      <a:pt x="271390" y="838446"/>
                    </a:lnTo>
                    <a:lnTo>
                      <a:pt x="318447" y="841899"/>
                    </a:lnTo>
                    <a:lnTo>
                      <a:pt x="2105920" y="841899"/>
                    </a:lnTo>
                    <a:lnTo>
                      <a:pt x="2152978" y="838446"/>
                    </a:lnTo>
                    <a:lnTo>
                      <a:pt x="2197892" y="828416"/>
                    </a:lnTo>
                    <a:lnTo>
                      <a:pt x="2240170" y="812302"/>
                    </a:lnTo>
                    <a:lnTo>
                      <a:pt x="2279318" y="790595"/>
                    </a:lnTo>
                    <a:lnTo>
                      <a:pt x="2314845" y="763789"/>
                    </a:lnTo>
                    <a:lnTo>
                      <a:pt x="2346258" y="732376"/>
                    </a:lnTo>
                    <a:lnTo>
                      <a:pt x="2373064" y="696849"/>
                    </a:lnTo>
                    <a:lnTo>
                      <a:pt x="2394770" y="657701"/>
                    </a:lnTo>
                    <a:lnTo>
                      <a:pt x="2410885" y="615423"/>
                    </a:lnTo>
                    <a:lnTo>
                      <a:pt x="2420915" y="570509"/>
                    </a:lnTo>
                    <a:lnTo>
                      <a:pt x="2424368" y="523452"/>
                    </a:lnTo>
                    <a:lnTo>
                      <a:pt x="2424368" y="318448"/>
                    </a:lnTo>
                    <a:lnTo>
                      <a:pt x="2420915" y="271390"/>
                    </a:lnTo>
                    <a:lnTo>
                      <a:pt x="2410885" y="226476"/>
                    </a:lnTo>
                    <a:lnTo>
                      <a:pt x="2394770" y="184198"/>
                    </a:lnTo>
                    <a:lnTo>
                      <a:pt x="2373064" y="145049"/>
                    </a:lnTo>
                    <a:lnTo>
                      <a:pt x="2346258" y="109522"/>
                    </a:lnTo>
                    <a:lnTo>
                      <a:pt x="2314845" y="78109"/>
                    </a:lnTo>
                    <a:lnTo>
                      <a:pt x="2279318" y="51303"/>
                    </a:lnTo>
                    <a:lnTo>
                      <a:pt x="2240170" y="29597"/>
                    </a:lnTo>
                    <a:lnTo>
                      <a:pt x="2197892" y="13482"/>
                    </a:lnTo>
                    <a:lnTo>
                      <a:pt x="2152978" y="3452"/>
                    </a:lnTo>
                    <a:lnTo>
                      <a:pt x="2105920" y="0"/>
                    </a:lnTo>
                    <a:close/>
                  </a:path>
                </a:pathLst>
              </a:custGeom>
              <a:solidFill>
                <a:srgbClr val="8537BE"/>
              </a:solidFill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b="1" dirty="0"/>
                  <a:t>Innovation Lab</a:t>
                </a:r>
                <a:endParaRPr b="1" dirty="0"/>
              </a:p>
            </p:txBody>
          </p:sp>
          <p:sp>
            <p:nvSpPr>
              <p:cNvPr id="97" name="object 52">
                <a:extLst>
                  <a:ext uri="{FF2B5EF4-FFF2-40B4-BE49-F238E27FC236}">
                    <a16:creationId xmlns:a16="http://schemas.microsoft.com/office/drawing/2014/main" id="{B5093BD8-F8ED-9FD2-464A-DFBE39B3ADA5}"/>
                  </a:ext>
                </a:extLst>
              </p:cNvPr>
              <p:cNvSpPr/>
              <p:nvPr/>
            </p:nvSpPr>
            <p:spPr>
              <a:xfrm>
                <a:off x="1181920" y="2854646"/>
                <a:ext cx="2424430" cy="842010"/>
              </a:xfrm>
              <a:custGeom>
                <a:avLst/>
                <a:gdLst/>
                <a:ahLst/>
                <a:cxnLst/>
                <a:rect l="l" t="t" r="r" b="b"/>
                <a:pathLst>
                  <a:path w="2424429" h="842010">
                    <a:moveTo>
                      <a:pt x="0" y="318448"/>
                    </a:moveTo>
                    <a:lnTo>
                      <a:pt x="3452" y="271390"/>
                    </a:lnTo>
                    <a:lnTo>
                      <a:pt x="13482" y="226476"/>
                    </a:lnTo>
                    <a:lnTo>
                      <a:pt x="29597" y="184198"/>
                    </a:lnTo>
                    <a:lnTo>
                      <a:pt x="51303" y="145049"/>
                    </a:lnTo>
                    <a:lnTo>
                      <a:pt x="78109" y="109522"/>
                    </a:lnTo>
                    <a:lnTo>
                      <a:pt x="109522" y="78109"/>
                    </a:lnTo>
                    <a:lnTo>
                      <a:pt x="145049" y="51303"/>
                    </a:lnTo>
                    <a:lnTo>
                      <a:pt x="184198" y="29597"/>
                    </a:lnTo>
                    <a:lnTo>
                      <a:pt x="226475" y="13482"/>
                    </a:lnTo>
                    <a:lnTo>
                      <a:pt x="271389" y="3452"/>
                    </a:lnTo>
                    <a:lnTo>
                      <a:pt x="318447" y="0"/>
                    </a:lnTo>
                    <a:lnTo>
                      <a:pt x="2105921" y="0"/>
                    </a:lnTo>
                    <a:lnTo>
                      <a:pt x="2152978" y="3452"/>
                    </a:lnTo>
                    <a:lnTo>
                      <a:pt x="2197892" y="13482"/>
                    </a:lnTo>
                    <a:lnTo>
                      <a:pt x="2240170" y="29597"/>
                    </a:lnTo>
                    <a:lnTo>
                      <a:pt x="2279318" y="51303"/>
                    </a:lnTo>
                    <a:lnTo>
                      <a:pt x="2314845" y="78109"/>
                    </a:lnTo>
                    <a:lnTo>
                      <a:pt x="2346258" y="109522"/>
                    </a:lnTo>
                    <a:lnTo>
                      <a:pt x="2373064" y="145049"/>
                    </a:lnTo>
                    <a:lnTo>
                      <a:pt x="2394770" y="184198"/>
                    </a:lnTo>
                    <a:lnTo>
                      <a:pt x="2410885" y="226476"/>
                    </a:lnTo>
                    <a:lnTo>
                      <a:pt x="2420915" y="271390"/>
                    </a:lnTo>
                    <a:lnTo>
                      <a:pt x="2424368" y="318448"/>
                    </a:lnTo>
                    <a:lnTo>
                      <a:pt x="2424368" y="523451"/>
                    </a:lnTo>
                    <a:lnTo>
                      <a:pt x="2420915" y="570508"/>
                    </a:lnTo>
                    <a:lnTo>
                      <a:pt x="2410885" y="615423"/>
                    </a:lnTo>
                    <a:lnTo>
                      <a:pt x="2394770" y="657700"/>
                    </a:lnTo>
                    <a:lnTo>
                      <a:pt x="2373064" y="696849"/>
                    </a:lnTo>
                    <a:lnTo>
                      <a:pt x="2346258" y="732376"/>
                    </a:lnTo>
                    <a:lnTo>
                      <a:pt x="2314845" y="763789"/>
                    </a:lnTo>
                    <a:lnTo>
                      <a:pt x="2279318" y="790595"/>
                    </a:lnTo>
                    <a:lnTo>
                      <a:pt x="2240170" y="812301"/>
                    </a:lnTo>
                    <a:lnTo>
                      <a:pt x="2197892" y="828416"/>
                    </a:lnTo>
                    <a:lnTo>
                      <a:pt x="2152978" y="838446"/>
                    </a:lnTo>
                    <a:lnTo>
                      <a:pt x="2105921" y="841899"/>
                    </a:lnTo>
                    <a:lnTo>
                      <a:pt x="318447" y="841899"/>
                    </a:lnTo>
                    <a:lnTo>
                      <a:pt x="271389" y="838446"/>
                    </a:lnTo>
                    <a:lnTo>
                      <a:pt x="226475" y="828416"/>
                    </a:lnTo>
                    <a:lnTo>
                      <a:pt x="184198" y="812301"/>
                    </a:lnTo>
                    <a:lnTo>
                      <a:pt x="145049" y="790595"/>
                    </a:lnTo>
                    <a:lnTo>
                      <a:pt x="109522" y="763789"/>
                    </a:lnTo>
                    <a:lnTo>
                      <a:pt x="78109" y="732376"/>
                    </a:lnTo>
                    <a:lnTo>
                      <a:pt x="51303" y="696849"/>
                    </a:lnTo>
                    <a:lnTo>
                      <a:pt x="29597" y="657700"/>
                    </a:lnTo>
                    <a:lnTo>
                      <a:pt x="13482" y="615423"/>
                    </a:lnTo>
                    <a:lnTo>
                      <a:pt x="3452" y="570508"/>
                    </a:lnTo>
                    <a:lnTo>
                      <a:pt x="0" y="523451"/>
                    </a:lnTo>
                    <a:lnTo>
                      <a:pt x="0" y="318448"/>
                    </a:lnTo>
                    <a:close/>
                  </a:path>
                </a:pathLst>
              </a:custGeom>
              <a:ln w="12700">
                <a:solidFill>
                  <a:srgbClr val="7030A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86" name="object 62">
              <a:extLst>
                <a:ext uri="{FF2B5EF4-FFF2-40B4-BE49-F238E27FC236}">
                  <a16:creationId xmlns:a16="http://schemas.microsoft.com/office/drawing/2014/main" id="{C2BB5312-A478-CF99-6058-BF1F69D6C8E5}"/>
                </a:ext>
              </a:extLst>
            </p:cNvPr>
            <p:cNvSpPr txBox="1"/>
            <p:nvPr/>
          </p:nvSpPr>
          <p:spPr>
            <a:xfrm>
              <a:off x="920357" y="2041378"/>
              <a:ext cx="1589956" cy="5668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1200" spc="40" dirty="0">
                  <a:solidFill>
                    <a:schemeClr val="bg1"/>
                  </a:solidFill>
                  <a:latin typeface="Arial MT"/>
                  <a:cs typeface="Arial MT"/>
                </a:rPr>
                <a:t>Solving customer pain points through constant innovation</a:t>
              </a:r>
              <a:endParaRPr sz="1200" dirty="0">
                <a:solidFill>
                  <a:schemeClr val="bg1"/>
                </a:solidFill>
                <a:latin typeface="Arial MT"/>
                <a:cs typeface="Arial MT"/>
              </a:endParaRPr>
            </a:p>
          </p:txBody>
        </p:sp>
        <p:pic>
          <p:nvPicPr>
            <p:cNvPr id="87" name="object 55">
              <a:extLst>
                <a:ext uri="{FF2B5EF4-FFF2-40B4-BE49-F238E27FC236}">
                  <a16:creationId xmlns:a16="http://schemas.microsoft.com/office/drawing/2014/main" id="{8F97F573-6591-7968-DB69-9BD466000DA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4298" y="2059604"/>
              <a:ext cx="345704" cy="345704"/>
            </a:xfrm>
            <a:prstGeom prst="rect">
              <a:avLst/>
            </a:prstGeom>
          </p:spPr>
        </p:pic>
        <p:sp>
          <p:nvSpPr>
            <p:cNvPr id="90" name="object 62">
              <a:extLst>
                <a:ext uri="{FF2B5EF4-FFF2-40B4-BE49-F238E27FC236}">
                  <a16:creationId xmlns:a16="http://schemas.microsoft.com/office/drawing/2014/main" id="{82C300FC-1D57-F9C5-9616-7F960F68D117}"/>
                </a:ext>
              </a:extLst>
            </p:cNvPr>
            <p:cNvSpPr txBox="1"/>
            <p:nvPr/>
          </p:nvSpPr>
          <p:spPr>
            <a:xfrm>
              <a:off x="930993" y="2798128"/>
              <a:ext cx="1638174" cy="75148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1200" b="1" spc="40" dirty="0">
                  <a:solidFill>
                    <a:schemeClr val="accent3"/>
                  </a:solidFill>
                  <a:latin typeface="Arial MT"/>
                  <a:cs typeface="Arial MT"/>
                </a:rPr>
                <a:t>Product Innovation</a:t>
              </a:r>
              <a:r>
                <a:rPr lang="en-IN" sz="1200" spc="40" dirty="0">
                  <a:solidFill>
                    <a:schemeClr val="bg1"/>
                  </a:solidFill>
                  <a:latin typeface="Arial MT"/>
                  <a:cs typeface="Arial MT"/>
                </a:rPr>
                <a:t> through sustained R&amp;D efforts &amp; investment</a:t>
              </a:r>
              <a:endParaRPr sz="1200" dirty="0">
                <a:solidFill>
                  <a:schemeClr val="bg1"/>
                </a:solidFill>
                <a:latin typeface="Arial MT"/>
                <a:cs typeface="Arial MT"/>
              </a:endParaRPr>
            </a:p>
          </p:txBody>
        </p:sp>
        <p:pic>
          <p:nvPicPr>
            <p:cNvPr id="91" name="object 39">
              <a:extLst>
                <a:ext uri="{FF2B5EF4-FFF2-40B4-BE49-F238E27FC236}">
                  <a16:creationId xmlns:a16="http://schemas.microsoft.com/office/drawing/2014/main" id="{31F3707B-1F6A-3EE4-EA5F-63750577BC9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0687" y="2814024"/>
              <a:ext cx="281885" cy="281886"/>
            </a:xfrm>
            <a:prstGeom prst="rect">
              <a:avLst/>
            </a:prstGeom>
          </p:spPr>
        </p:pic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47E2DE3-90AC-DF53-B131-EFE888551045}"/>
                </a:ext>
              </a:extLst>
            </p:cNvPr>
            <p:cNvCxnSpPr/>
            <p:nvPr/>
          </p:nvCxnSpPr>
          <p:spPr>
            <a:xfrm>
              <a:off x="555287" y="1805120"/>
              <a:ext cx="1884167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4825F05F-072E-91C7-B2A9-A40405757BF4}"/>
              </a:ext>
            </a:extLst>
          </p:cNvPr>
          <p:cNvGrpSpPr/>
          <p:nvPr/>
        </p:nvGrpSpPr>
        <p:grpSpPr>
          <a:xfrm>
            <a:off x="7242606" y="862004"/>
            <a:ext cx="2245589" cy="2931001"/>
            <a:chOff x="501056" y="1000556"/>
            <a:chExt cx="2245589" cy="2931001"/>
          </a:xfrm>
        </p:grpSpPr>
        <p:grpSp>
          <p:nvGrpSpPr>
            <p:cNvPr id="99" name="object 48">
              <a:extLst>
                <a:ext uri="{FF2B5EF4-FFF2-40B4-BE49-F238E27FC236}">
                  <a16:creationId xmlns:a16="http://schemas.microsoft.com/office/drawing/2014/main" id="{A1FF4155-C1F2-D26E-0FA5-088238910412}"/>
                </a:ext>
              </a:extLst>
            </p:cNvPr>
            <p:cNvGrpSpPr/>
            <p:nvPr/>
          </p:nvGrpSpPr>
          <p:grpSpPr>
            <a:xfrm>
              <a:off x="501056" y="1000556"/>
              <a:ext cx="2004473" cy="2931001"/>
              <a:chOff x="1071654" y="2715836"/>
              <a:chExt cx="2661285" cy="3955415"/>
            </a:xfrm>
          </p:grpSpPr>
          <p:sp>
            <p:nvSpPr>
              <p:cNvPr id="105" name="object 49">
                <a:extLst>
                  <a:ext uri="{FF2B5EF4-FFF2-40B4-BE49-F238E27FC236}">
                    <a16:creationId xmlns:a16="http://schemas.microsoft.com/office/drawing/2014/main" id="{4D587EF9-23D4-422B-2B05-1C99DEB04748}"/>
                  </a:ext>
                </a:extLst>
              </p:cNvPr>
              <p:cNvSpPr/>
              <p:nvPr/>
            </p:nvSpPr>
            <p:spPr>
              <a:xfrm>
                <a:off x="1078004" y="2722186"/>
                <a:ext cx="2648585" cy="3942715"/>
              </a:xfrm>
              <a:custGeom>
                <a:avLst/>
                <a:gdLst/>
                <a:ahLst/>
                <a:cxnLst/>
                <a:rect l="l" t="t" r="r" b="b"/>
                <a:pathLst>
                  <a:path w="2648585" h="3942715">
                    <a:moveTo>
                      <a:pt x="0" y="441374"/>
                    </a:moveTo>
                    <a:lnTo>
                      <a:pt x="2589" y="393281"/>
                    </a:lnTo>
                    <a:lnTo>
                      <a:pt x="10180" y="346689"/>
                    </a:lnTo>
                    <a:lnTo>
                      <a:pt x="22501" y="301866"/>
                    </a:lnTo>
                    <a:lnTo>
                      <a:pt x="39284" y="259081"/>
                    </a:lnTo>
                    <a:lnTo>
                      <a:pt x="60260" y="218604"/>
                    </a:lnTo>
                    <a:lnTo>
                      <a:pt x="85159" y="180704"/>
                    </a:lnTo>
                    <a:lnTo>
                      <a:pt x="113712" y="145650"/>
                    </a:lnTo>
                    <a:lnTo>
                      <a:pt x="145651" y="113712"/>
                    </a:lnTo>
                    <a:lnTo>
                      <a:pt x="180704" y="85159"/>
                    </a:lnTo>
                    <a:lnTo>
                      <a:pt x="218604" y="60260"/>
                    </a:lnTo>
                    <a:lnTo>
                      <a:pt x="259081" y="39284"/>
                    </a:lnTo>
                    <a:lnTo>
                      <a:pt x="301866" y="22501"/>
                    </a:lnTo>
                    <a:lnTo>
                      <a:pt x="346689" y="10180"/>
                    </a:lnTo>
                    <a:lnTo>
                      <a:pt x="393282" y="2589"/>
                    </a:lnTo>
                    <a:lnTo>
                      <a:pt x="441375" y="0"/>
                    </a:lnTo>
                    <a:lnTo>
                      <a:pt x="2206823" y="0"/>
                    </a:lnTo>
                    <a:lnTo>
                      <a:pt x="2254915" y="2589"/>
                    </a:lnTo>
                    <a:lnTo>
                      <a:pt x="2301508" y="10180"/>
                    </a:lnTo>
                    <a:lnTo>
                      <a:pt x="2346331" y="22501"/>
                    </a:lnTo>
                    <a:lnTo>
                      <a:pt x="2389116" y="39284"/>
                    </a:lnTo>
                    <a:lnTo>
                      <a:pt x="2429593" y="60260"/>
                    </a:lnTo>
                    <a:lnTo>
                      <a:pt x="2467493" y="85159"/>
                    </a:lnTo>
                    <a:lnTo>
                      <a:pt x="2502547" y="113712"/>
                    </a:lnTo>
                    <a:lnTo>
                      <a:pt x="2534485" y="145650"/>
                    </a:lnTo>
                    <a:lnTo>
                      <a:pt x="2563038" y="180704"/>
                    </a:lnTo>
                    <a:lnTo>
                      <a:pt x="2587937" y="218604"/>
                    </a:lnTo>
                    <a:lnTo>
                      <a:pt x="2608913" y="259081"/>
                    </a:lnTo>
                    <a:lnTo>
                      <a:pt x="2625696" y="301866"/>
                    </a:lnTo>
                    <a:lnTo>
                      <a:pt x="2638017" y="346689"/>
                    </a:lnTo>
                    <a:lnTo>
                      <a:pt x="2645608" y="393281"/>
                    </a:lnTo>
                    <a:lnTo>
                      <a:pt x="2648198" y="441374"/>
                    </a:lnTo>
                    <a:lnTo>
                      <a:pt x="2648198" y="3501233"/>
                    </a:lnTo>
                    <a:lnTo>
                      <a:pt x="2645608" y="3549325"/>
                    </a:lnTo>
                    <a:lnTo>
                      <a:pt x="2638017" y="3595918"/>
                    </a:lnTo>
                    <a:lnTo>
                      <a:pt x="2625696" y="3640741"/>
                    </a:lnTo>
                    <a:lnTo>
                      <a:pt x="2608913" y="3683526"/>
                    </a:lnTo>
                    <a:lnTo>
                      <a:pt x="2587937" y="3724003"/>
                    </a:lnTo>
                    <a:lnTo>
                      <a:pt x="2563038" y="3761903"/>
                    </a:lnTo>
                    <a:lnTo>
                      <a:pt x="2534485" y="3796957"/>
                    </a:lnTo>
                    <a:lnTo>
                      <a:pt x="2502547" y="3828895"/>
                    </a:lnTo>
                    <a:lnTo>
                      <a:pt x="2467493" y="3857448"/>
                    </a:lnTo>
                    <a:lnTo>
                      <a:pt x="2429593" y="3882347"/>
                    </a:lnTo>
                    <a:lnTo>
                      <a:pt x="2389116" y="3903323"/>
                    </a:lnTo>
                    <a:lnTo>
                      <a:pt x="2346331" y="3920106"/>
                    </a:lnTo>
                    <a:lnTo>
                      <a:pt x="2301508" y="3932427"/>
                    </a:lnTo>
                    <a:lnTo>
                      <a:pt x="2254915" y="3940018"/>
                    </a:lnTo>
                    <a:lnTo>
                      <a:pt x="2206823" y="3942608"/>
                    </a:lnTo>
                    <a:lnTo>
                      <a:pt x="441375" y="3942608"/>
                    </a:lnTo>
                    <a:lnTo>
                      <a:pt x="393282" y="3940018"/>
                    </a:lnTo>
                    <a:lnTo>
                      <a:pt x="346689" y="3932427"/>
                    </a:lnTo>
                    <a:lnTo>
                      <a:pt x="301866" y="3920106"/>
                    </a:lnTo>
                    <a:lnTo>
                      <a:pt x="259081" y="3903323"/>
                    </a:lnTo>
                    <a:lnTo>
                      <a:pt x="218604" y="3882347"/>
                    </a:lnTo>
                    <a:lnTo>
                      <a:pt x="180704" y="3857448"/>
                    </a:lnTo>
                    <a:lnTo>
                      <a:pt x="145651" y="3828895"/>
                    </a:lnTo>
                    <a:lnTo>
                      <a:pt x="113712" y="3796957"/>
                    </a:lnTo>
                    <a:lnTo>
                      <a:pt x="85159" y="3761903"/>
                    </a:lnTo>
                    <a:lnTo>
                      <a:pt x="60260" y="3724003"/>
                    </a:lnTo>
                    <a:lnTo>
                      <a:pt x="39284" y="3683526"/>
                    </a:lnTo>
                    <a:lnTo>
                      <a:pt x="22501" y="3640741"/>
                    </a:lnTo>
                    <a:lnTo>
                      <a:pt x="10180" y="3595918"/>
                    </a:lnTo>
                    <a:lnTo>
                      <a:pt x="2589" y="3549325"/>
                    </a:lnTo>
                    <a:lnTo>
                      <a:pt x="0" y="3501233"/>
                    </a:lnTo>
                    <a:lnTo>
                      <a:pt x="0" y="441374"/>
                    </a:lnTo>
                    <a:close/>
                  </a:path>
                </a:pathLst>
              </a:custGeom>
              <a:ln w="12700">
                <a:solidFill>
                  <a:srgbClr val="7030A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06" name="object 50">
                <a:extLst>
                  <a:ext uri="{FF2B5EF4-FFF2-40B4-BE49-F238E27FC236}">
                    <a16:creationId xmlns:a16="http://schemas.microsoft.com/office/drawing/2014/main" id="{30E62587-5E0C-7946-0EF7-71BC6E6889BF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109471" y="2782823"/>
                <a:ext cx="2569464" cy="984503"/>
              </a:xfrm>
              <a:prstGeom prst="rect">
                <a:avLst/>
              </a:prstGeom>
            </p:spPr>
          </p:pic>
          <p:sp>
            <p:nvSpPr>
              <p:cNvPr id="107" name="object 51">
                <a:extLst>
                  <a:ext uri="{FF2B5EF4-FFF2-40B4-BE49-F238E27FC236}">
                    <a16:creationId xmlns:a16="http://schemas.microsoft.com/office/drawing/2014/main" id="{2AB9901B-656C-BE4B-8E63-34AA598557D4}"/>
                  </a:ext>
                </a:extLst>
              </p:cNvPr>
              <p:cNvSpPr/>
              <p:nvPr/>
            </p:nvSpPr>
            <p:spPr>
              <a:xfrm>
                <a:off x="1181920" y="2854646"/>
                <a:ext cx="2424430" cy="842010"/>
              </a:xfrm>
              <a:custGeom>
                <a:avLst/>
                <a:gdLst/>
                <a:ahLst/>
                <a:cxnLst/>
                <a:rect l="l" t="t" r="r" b="b"/>
                <a:pathLst>
                  <a:path w="2424429" h="842010">
                    <a:moveTo>
                      <a:pt x="2105920" y="0"/>
                    </a:moveTo>
                    <a:lnTo>
                      <a:pt x="318447" y="0"/>
                    </a:lnTo>
                    <a:lnTo>
                      <a:pt x="271390" y="3452"/>
                    </a:lnTo>
                    <a:lnTo>
                      <a:pt x="226476" y="13482"/>
                    </a:lnTo>
                    <a:lnTo>
                      <a:pt x="184198" y="29597"/>
                    </a:lnTo>
                    <a:lnTo>
                      <a:pt x="145049" y="51303"/>
                    </a:lnTo>
                    <a:lnTo>
                      <a:pt x="109522" y="78109"/>
                    </a:lnTo>
                    <a:lnTo>
                      <a:pt x="78110" y="109522"/>
                    </a:lnTo>
                    <a:lnTo>
                      <a:pt x="51304" y="145049"/>
                    </a:lnTo>
                    <a:lnTo>
                      <a:pt x="29597" y="184198"/>
                    </a:lnTo>
                    <a:lnTo>
                      <a:pt x="13482" y="226476"/>
                    </a:lnTo>
                    <a:lnTo>
                      <a:pt x="3452" y="271390"/>
                    </a:lnTo>
                    <a:lnTo>
                      <a:pt x="0" y="318448"/>
                    </a:lnTo>
                    <a:lnTo>
                      <a:pt x="0" y="523452"/>
                    </a:lnTo>
                    <a:lnTo>
                      <a:pt x="3452" y="570509"/>
                    </a:lnTo>
                    <a:lnTo>
                      <a:pt x="13482" y="615423"/>
                    </a:lnTo>
                    <a:lnTo>
                      <a:pt x="29597" y="657701"/>
                    </a:lnTo>
                    <a:lnTo>
                      <a:pt x="51304" y="696849"/>
                    </a:lnTo>
                    <a:lnTo>
                      <a:pt x="78110" y="732376"/>
                    </a:lnTo>
                    <a:lnTo>
                      <a:pt x="109522" y="763789"/>
                    </a:lnTo>
                    <a:lnTo>
                      <a:pt x="145049" y="790595"/>
                    </a:lnTo>
                    <a:lnTo>
                      <a:pt x="184198" y="812302"/>
                    </a:lnTo>
                    <a:lnTo>
                      <a:pt x="226476" y="828416"/>
                    </a:lnTo>
                    <a:lnTo>
                      <a:pt x="271390" y="838446"/>
                    </a:lnTo>
                    <a:lnTo>
                      <a:pt x="318447" y="841899"/>
                    </a:lnTo>
                    <a:lnTo>
                      <a:pt x="2105920" y="841899"/>
                    </a:lnTo>
                    <a:lnTo>
                      <a:pt x="2152978" y="838446"/>
                    </a:lnTo>
                    <a:lnTo>
                      <a:pt x="2197892" y="828416"/>
                    </a:lnTo>
                    <a:lnTo>
                      <a:pt x="2240170" y="812302"/>
                    </a:lnTo>
                    <a:lnTo>
                      <a:pt x="2279318" y="790595"/>
                    </a:lnTo>
                    <a:lnTo>
                      <a:pt x="2314845" y="763789"/>
                    </a:lnTo>
                    <a:lnTo>
                      <a:pt x="2346258" y="732376"/>
                    </a:lnTo>
                    <a:lnTo>
                      <a:pt x="2373064" y="696849"/>
                    </a:lnTo>
                    <a:lnTo>
                      <a:pt x="2394770" y="657701"/>
                    </a:lnTo>
                    <a:lnTo>
                      <a:pt x="2410885" y="615423"/>
                    </a:lnTo>
                    <a:lnTo>
                      <a:pt x="2420915" y="570509"/>
                    </a:lnTo>
                    <a:lnTo>
                      <a:pt x="2424368" y="523452"/>
                    </a:lnTo>
                    <a:lnTo>
                      <a:pt x="2424368" y="318448"/>
                    </a:lnTo>
                    <a:lnTo>
                      <a:pt x="2420915" y="271390"/>
                    </a:lnTo>
                    <a:lnTo>
                      <a:pt x="2410885" y="226476"/>
                    </a:lnTo>
                    <a:lnTo>
                      <a:pt x="2394770" y="184198"/>
                    </a:lnTo>
                    <a:lnTo>
                      <a:pt x="2373064" y="145049"/>
                    </a:lnTo>
                    <a:lnTo>
                      <a:pt x="2346258" y="109522"/>
                    </a:lnTo>
                    <a:lnTo>
                      <a:pt x="2314845" y="78109"/>
                    </a:lnTo>
                    <a:lnTo>
                      <a:pt x="2279318" y="51303"/>
                    </a:lnTo>
                    <a:lnTo>
                      <a:pt x="2240170" y="29597"/>
                    </a:lnTo>
                    <a:lnTo>
                      <a:pt x="2197892" y="13482"/>
                    </a:lnTo>
                    <a:lnTo>
                      <a:pt x="2152978" y="3452"/>
                    </a:lnTo>
                    <a:lnTo>
                      <a:pt x="2105920" y="0"/>
                    </a:lnTo>
                    <a:close/>
                  </a:path>
                </a:pathLst>
              </a:custGeom>
              <a:solidFill>
                <a:srgbClr val="8537BE"/>
              </a:solidFill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b="1" dirty="0"/>
                  <a:t>Penetration</a:t>
                </a:r>
                <a:endParaRPr b="1" dirty="0"/>
              </a:p>
            </p:txBody>
          </p:sp>
          <p:sp>
            <p:nvSpPr>
              <p:cNvPr id="108" name="object 52">
                <a:extLst>
                  <a:ext uri="{FF2B5EF4-FFF2-40B4-BE49-F238E27FC236}">
                    <a16:creationId xmlns:a16="http://schemas.microsoft.com/office/drawing/2014/main" id="{F3707D97-632D-328E-DC35-73A8A7385BC2}"/>
                  </a:ext>
                </a:extLst>
              </p:cNvPr>
              <p:cNvSpPr/>
              <p:nvPr/>
            </p:nvSpPr>
            <p:spPr>
              <a:xfrm>
                <a:off x="1181920" y="2854646"/>
                <a:ext cx="2424430" cy="842010"/>
              </a:xfrm>
              <a:custGeom>
                <a:avLst/>
                <a:gdLst/>
                <a:ahLst/>
                <a:cxnLst/>
                <a:rect l="l" t="t" r="r" b="b"/>
                <a:pathLst>
                  <a:path w="2424429" h="842010">
                    <a:moveTo>
                      <a:pt x="0" y="318448"/>
                    </a:moveTo>
                    <a:lnTo>
                      <a:pt x="3452" y="271390"/>
                    </a:lnTo>
                    <a:lnTo>
                      <a:pt x="13482" y="226476"/>
                    </a:lnTo>
                    <a:lnTo>
                      <a:pt x="29597" y="184198"/>
                    </a:lnTo>
                    <a:lnTo>
                      <a:pt x="51303" y="145049"/>
                    </a:lnTo>
                    <a:lnTo>
                      <a:pt x="78109" y="109522"/>
                    </a:lnTo>
                    <a:lnTo>
                      <a:pt x="109522" y="78109"/>
                    </a:lnTo>
                    <a:lnTo>
                      <a:pt x="145049" y="51303"/>
                    </a:lnTo>
                    <a:lnTo>
                      <a:pt x="184198" y="29597"/>
                    </a:lnTo>
                    <a:lnTo>
                      <a:pt x="226475" y="13482"/>
                    </a:lnTo>
                    <a:lnTo>
                      <a:pt x="271389" y="3452"/>
                    </a:lnTo>
                    <a:lnTo>
                      <a:pt x="318447" y="0"/>
                    </a:lnTo>
                    <a:lnTo>
                      <a:pt x="2105921" y="0"/>
                    </a:lnTo>
                    <a:lnTo>
                      <a:pt x="2152978" y="3452"/>
                    </a:lnTo>
                    <a:lnTo>
                      <a:pt x="2197892" y="13482"/>
                    </a:lnTo>
                    <a:lnTo>
                      <a:pt x="2240170" y="29597"/>
                    </a:lnTo>
                    <a:lnTo>
                      <a:pt x="2279318" y="51303"/>
                    </a:lnTo>
                    <a:lnTo>
                      <a:pt x="2314845" y="78109"/>
                    </a:lnTo>
                    <a:lnTo>
                      <a:pt x="2346258" y="109522"/>
                    </a:lnTo>
                    <a:lnTo>
                      <a:pt x="2373064" y="145049"/>
                    </a:lnTo>
                    <a:lnTo>
                      <a:pt x="2394770" y="184198"/>
                    </a:lnTo>
                    <a:lnTo>
                      <a:pt x="2410885" y="226476"/>
                    </a:lnTo>
                    <a:lnTo>
                      <a:pt x="2420915" y="271390"/>
                    </a:lnTo>
                    <a:lnTo>
                      <a:pt x="2424368" y="318448"/>
                    </a:lnTo>
                    <a:lnTo>
                      <a:pt x="2424368" y="523451"/>
                    </a:lnTo>
                    <a:lnTo>
                      <a:pt x="2420915" y="570508"/>
                    </a:lnTo>
                    <a:lnTo>
                      <a:pt x="2410885" y="615423"/>
                    </a:lnTo>
                    <a:lnTo>
                      <a:pt x="2394770" y="657700"/>
                    </a:lnTo>
                    <a:lnTo>
                      <a:pt x="2373064" y="696849"/>
                    </a:lnTo>
                    <a:lnTo>
                      <a:pt x="2346258" y="732376"/>
                    </a:lnTo>
                    <a:lnTo>
                      <a:pt x="2314845" y="763789"/>
                    </a:lnTo>
                    <a:lnTo>
                      <a:pt x="2279318" y="790595"/>
                    </a:lnTo>
                    <a:lnTo>
                      <a:pt x="2240170" y="812301"/>
                    </a:lnTo>
                    <a:lnTo>
                      <a:pt x="2197892" y="828416"/>
                    </a:lnTo>
                    <a:lnTo>
                      <a:pt x="2152978" y="838446"/>
                    </a:lnTo>
                    <a:lnTo>
                      <a:pt x="2105921" y="841899"/>
                    </a:lnTo>
                    <a:lnTo>
                      <a:pt x="318447" y="841899"/>
                    </a:lnTo>
                    <a:lnTo>
                      <a:pt x="271389" y="838446"/>
                    </a:lnTo>
                    <a:lnTo>
                      <a:pt x="226475" y="828416"/>
                    </a:lnTo>
                    <a:lnTo>
                      <a:pt x="184198" y="812301"/>
                    </a:lnTo>
                    <a:lnTo>
                      <a:pt x="145049" y="790595"/>
                    </a:lnTo>
                    <a:lnTo>
                      <a:pt x="109522" y="763789"/>
                    </a:lnTo>
                    <a:lnTo>
                      <a:pt x="78109" y="732376"/>
                    </a:lnTo>
                    <a:lnTo>
                      <a:pt x="51303" y="696849"/>
                    </a:lnTo>
                    <a:lnTo>
                      <a:pt x="29597" y="657700"/>
                    </a:lnTo>
                    <a:lnTo>
                      <a:pt x="13482" y="615423"/>
                    </a:lnTo>
                    <a:lnTo>
                      <a:pt x="3452" y="570508"/>
                    </a:lnTo>
                    <a:lnTo>
                      <a:pt x="0" y="523451"/>
                    </a:lnTo>
                    <a:lnTo>
                      <a:pt x="0" y="318448"/>
                    </a:lnTo>
                    <a:close/>
                  </a:path>
                </a:pathLst>
              </a:custGeom>
              <a:ln w="12700">
                <a:solidFill>
                  <a:srgbClr val="7030A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00" name="object 62">
              <a:extLst>
                <a:ext uri="{FF2B5EF4-FFF2-40B4-BE49-F238E27FC236}">
                  <a16:creationId xmlns:a16="http://schemas.microsoft.com/office/drawing/2014/main" id="{A0058581-634B-6F5A-F8DD-F9655FB6DA78}"/>
                </a:ext>
              </a:extLst>
            </p:cNvPr>
            <p:cNvSpPr txBox="1"/>
            <p:nvPr/>
          </p:nvSpPr>
          <p:spPr>
            <a:xfrm>
              <a:off x="920356" y="2041378"/>
              <a:ext cx="1628849" cy="5668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1200" spc="40" dirty="0">
                  <a:solidFill>
                    <a:schemeClr val="bg1"/>
                  </a:solidFill>
                  <a:latin typeface="Arial MT"/>
                  <a:cs typeface="Arial MT"/>
                </a:rPr>
                <a:t>Developing brand &amp; category awareness in Tier II cities</a:t>
              </a:r>
              <a:endParaRPr sz="1200" dirty="0">
                <a:solidFill>
                  <a:schemeClr val="bg1"/>
                </a:solidFill>
                <a:latin typeface="Arial MT"/>
                <a:cs typeface="Arial MT"/>
              </a:endParaRPr>
            </a:p>
          </p:txBody>
        </p:sp>
        <p:pic>
          <p:nvPicPr>
            <p:cNvPr id="101" name="object 55">
              <a:extLst>
                <a:ext uri="{FF2B5EF4-FFF2-40B4-BE49-F238E27FC236}">
                  <a16:creationId xmlns:a16="http://schemas.microsoft.com/office/drawing/2014/main" id="{95E4B935-C16D-D2EB-EE8C-5E2A5CA5AC2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4298" y="2059604"/>
              <a:ext cx="345704" cy="345704"/>
            </a:xfrm>
            <a:prstGeom prst="rect">
              <a:avLst/>
            </a:prstGeom>
          </p:spPr>
        </p:pic>
        <p:sp>
          <p:nvSpPr>
            <p:cNvPr id="102" name="object 62">
              <a:extLst>
                <a:ext uri="{FF2B5EF4-FFF2-40B4-BE49-F238E27FC236}">
                  <a16:creationId xmlns:a16="http://schemas.microsoft.com/office/drawing/2014/main" id="{85C03F96-D818-5E5A-81B2-991B8203D134}"/>
                </a:ext>
              </a:extLst>
            </p:cNvPr>
            <p:cNvSpPr txBox="1"/>
            <p:nvPr/>
          </p:nvSpPr>
          <p:spPr>
            <a:xfrm>
              <a:off x="930993" y="2798128"/>
              <a:ext cx="1815652" cy="936154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1200" b="1" spc="40" dirty="0">
                  <a:solidFill>
                    <a:schemeClr val="accent3"/>
                  </a:solidFill>
                  <a:latin typeface="Arial MT"/>
                  <a:cs typeface="Arial MT"/>
                </a:rPr>
                <a:t>Transformational Delivery Channel </a:t>
              </a:r>
              <a:r>
                <a:rPr lang="en-IN" sz="1200" spc="40" dirty="0">
                  <a:solidFill>
                    <a:schemeClr val="bg1"/>
                  </a:solidFill>
                  <a:latin typeface="Arial MT"/>
                  <a:cs typeface="Arial MT"/>
                </a:rPr>
                <a:t>providing self subsistence opportunities</a:t>
              </a:r>
              <a:endParaRPr sz="1200" dirty="0">
                <a:solidFill>
                  <a:schemeClr val="bg1"/>
                </a:solidFill>
                <a:latin typeface="Arial MT"/>
                <a:cs typeface="Arial MT"/>
              </a:endParaRPr>
            </a:p>
          </p:txBody>
        </p:sp>
        <p:pic>
          <p:nvPicPr>
            <p:cNvPr id="103" name="object 39">
              <a:extLst>
                <a:ext uri="{FF2B5EF4-FFF2-40B4-BE49-F238E27FC236}">
                  <a16:creationId xmlns:a16="http://schemas.microsoft.com/office/drawing/2014/main" id="{862B7221-48CD-73C1-0218-855F681A82C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0687" y="2814024"/>
              <a:ext cx="281885" cy="281886"/>
            </a:xfrm>
            <a:prstGeom prst="rect">
              <a:avLst/>
            </a:prstGeom>
          </p:spPr>
        </p:pic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415C7C2C-0220-9849-2886-9258CF8582D2}"/>
                </a:ext>
              </a:extLst>
            </p:cNvPr>
            <p:cNvCxnSpPr/>
            <p:nvPr/>
          </p:nvCxnSpPr>
          <p:spPr>
            <a:xfrm>
              <a:off x="555287" y="1805120"/>
              <a:ext cx="1884167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6A86746E-64E0-0CA4-D37C-E02FAD98261F}"/>
              </a:ext>
            </a:extLst>
          </p:cNvPr>
          <p:cNvGrpSpPr/>
          <p:nvPr/>
        </p:nvGrpSpPr>
        <p:grpSpPr>
          <a:xfrm>
            <a:off x="9497761" y="862004"/>
            <a:ext cx="2245589" cy="2931001"/>
            <a:chOff x="501056" y="1000556"/>
            <a:chExt cx="2245589" cy="2931001"/>
          </a:xfrm>
        </p:grpSpPr>
        <p:grpSp>
          <p:nvGrpSpPr>
            <p:cNvPr id="110" name="object 48">
              <a:extLst>
                <a:ext uri="{FF2B5EF4-FFF2-40B4-BE49-F238E27FC236}">
                  <a16:creationId xmlns:a16="http://schemas.microsoft.com/office/drawing/2014/main" id="{F12AE9D4-AF32-1168-D7CB-8A57276F4798}"/>
                </a:ext>
              </a:extLst>
            </p:cNvPr>
            <p:cNvGrpSpPr/>
            <p:nvPr/>
          </p:nvGrpSpPr>
          <p:grpSpPr>
            <a:xfrm>
              <a:off x="501056" y="1000556"/>
              <a:ext cx="2004473" cy="2931001"/>
              <a:chOff x="1071654" y="2715836"/>
              <a:chExt cx="2661285" cy="3955415"/>
            </a:xfrm>
          </p:grpSpPr>
          <p:sp>
            <p:nvSpPr>
              <p:cNvPr id="116" name="object 49">
                <a:extLst>
                  <a:ext uri="{FF2B5EF4-FFF2-40B4-BE49-F238E27FC236}">
                    <a16:creationId xmlns:a16="http://schemas.microsoft.com/office/drawing/2014/main" id="{243800FF-1E6D-2624-0FAA-B97CCB940FD5}"/>
                  </a:ext>
                </a:extLst>
              </p:cNvPr>
              <p:cNvSpPr/>
              <p:nvPr/>
            </p:nvSpPr>
            <p:spPr>
              <a:xfrm>
                <a:off x="1078004" y="2722186"/>
                <a:ext cx="2648585" cy="3942715"/>
              </a:xfrm>
              <a:custGeom>
                <a:avLst/>
                <a:gdLst/>
                <a:ahLst/>
                <a:cxnLst/>
                <a:rect l="l" t="t" r="r" b="b"/>
                <a:pathLst>
                  <a:path w="2648585" h="3942715">
                    <a:moveTo>
                      <a:pt x="0" y="441374"/>
                    </a:moveTo>
                    <a:lnTo>
                      <a:pt x="2589" y="393281"/>
                    </a:lnTo>
                    <a:lnTo>
                      <a:pt x="10180" y="346689"/>
                    </a:lnTo>
                    <a:lnTo>
                      <a:pt x="22501" y="301866"/>
                    </a:lnTo>
                    <a:lnTo>
                      <a:pt x="39284" y="259081"/>
                    </a:lnTo>
                    <a:lnTo>
                      <a:pt x="60260" y="218604"/>
                    </a:lnTo>
                    <a:lnTo>
                      <a:pt x="85159" y="180704"/>
                    </a:lnTo>
                    <a:lnTo>
                      <a:pt x="113712" y="145650"/>
                    </a:lnTo>
                    <a:lnTo>
                      <a:pt x="145651" y="113712"/>
                    </a:lnTo>
                    <a:lnTo>
                      <a:pt x="180704" y="85159"/>
                    </a:lnTo>
                    <a:lnTo>
                      <a:pt x="218604" y="60260"/>
                    </a:lnTo>
                    <a:lnTo>
                      <a:pt x="259081" y="39284"/>
                    </a:lnTo>
                    <a:lnTo>
                      <a:pt x="301866" y="22501"/>
                    </a:lnTo>
                    <a:lnTo>
                      <a:pt x="346689" y="10180"/>
                    </a:lnTo>
                    <a:lnTo>
                      <a:pt x="393282" y="2589"/>
                    </a:lnTo>
                    <a:lnTo>
                      <a:pt x="441375" y="0"/>
                    </a:lnTo>
                    <a:lnTo>
                      <a:pt x="2206823" y="0"/>
                    </a:lnTo>
                    <a:lnTo>
                      <a:pt x="2254915" y="2589"/>
                    </a:lnTo>
                    <a:lnTo>
                      <a:pt x="2301508" y="10180"/>
                    </a:lnTo>
                    <a:lnTo>
                      <a:pt x="2346331" y="22501"/>
                    </a:lnTo>
                    <a:lnTo>
                      <a:pt x="2389116" y="39284"/>
                    </a:lnTo>
                    <a:lnTo>
                      <a:pt x="2429593" y="60260"/>
                    </a:lnTo>
                    <a:lnTo>
                      <a:pt x="2467493" y="85159"/>
                    </a:lnTo>
                    <a:lnTo>
                      <a:pt x="2502547" y="113712"/>
                    </a:lnTo>
                    <a:lnTo>
                      <a:pt x="2534485" y="145650"/>
                    </a:lnTo>
                    <a:lnTo>
                      <a:pt x="2563038" y="180704"/>
                    </a:lnTo>
                    <a:lnTo>
                      <a:pt x="2587937" y="218604"/>
                    </a:lnTo>
                    <a:lnTo>
                      <a:pt x="2608913" y="259081"/>
                    </a:lnTo>
                    <a:lnTo>
                      <a:pt x="2625696" y="301866"/>
                    </a:lnTo>
                    <a:lnTo>
                      <a:pt x="2638017" y="346689"/>
                    </a:lnTo>
                    <a:lnTo>
                      <a:pt x="2645608" y="393281"/>
                    </a:lnTo>
                    <a:lnTo>
                      <a:pt x="2648198" y="441374"/>
                    </a:lnTo>
                    <a:lnTo>
                      <a:pt x="2648198" y="3501233"/>
                    </a:lnTo>
                    <a:lnTo>
                      <a:pt x="2645608" y="3549325"/>
                    </a:lnTo>
                    <a:lnTo>
                      <a:pt x="2638017" y="3595918"/>
                    </a:lnTo>
                    <a:lnTo>
                      <a:pt x="2625696" y="3640741"/>
                    </a:lnTo>
                    <a:lnTo>
                      <a:pt x="2608913" y="3683526"/>
                    </a:lnTo>
                    <a:lnTo>
                      <a:pt x="2587937" y="3724003"/>
                    </a:lnTo>
                    <a:lnTo>
                      <a:pt x="2563038" y="3761903"/>
                    </a:lnTo>
                    <a:lnTo>
                      <a:pt x="2534485" y="3796957"/>
                    </a:lnTo>
                    <a:lnTo>
                      <a:pt x="2502547" y="3828895"/>
                    </a:lnTo>
                    <a:lnTo>
                      <a:pt x="2467493" y="3857448"/>
                    </a:lnTo>
                    <a:lnTo>
                      <a:pt x="2429593" y="3882347"/>
                    </a:lnTo>
                    <a:lnTo>
                      <a:pt x="2389116" y="3903323"/>
                    </a:lnTo>
                    <a:lnTo>
                      <a:pt x="2346331" y="3920106"/>
                    </a:lnTo>
                    <a:lnTo>
                      <a:pt x="2301508" y="3932427"/>
                    </a:lnTo>
                    <a:lnTo>
                      <a:pt x="2254915" y="3940018"/>
                    </a:lnTo>
                    <a:lnTo>
                      <a:pt x="2206823" y="3942608"/>
                    </a:lnTo>
                    <a:lnTo>
                      <a:pt x="441375" y="3942608"/>
                    </a:lnTo>
                    <a:lnTo>
                      <a:pt x="393282" y="3940018"/>
                    </a:lnTo>
                    <a:lnTo>
                      <a:pt x="346689" y="3932427"/>
                    </a:lnTo>
                    <a:lnTo>
                      <a:pt x="301866" y="3920106"/>
                    </a:lnTo>
                    <a:lnTo>
                      <a:pt x="259081" y="3903323"/>
                    </a:lnTo>
                    <a:lnTo>
                      <a:pt x="218604" y="3882347"/>
                    </a:lnTo>
                    <a:lnTo>
                      <a:pt x="180704" y="3857448"/>
                    </a:lnTo>
                    <a:lnTo>
                      <a:pt x="145651" y="3828895"/>
                    </a:lnTo>
                    <a:lnTo>
                      <a:pt x="113712" y="3796957"/>
                    </a:lnTo>
                    <a:lnTo>
                      <a:pt x="85159" y="3761903"/>
                    </a:lnTo>
                    <a:lnTo>
                      <a:pt x="60260" y="3724003"/>
                    </a:lnTo>
                    <a:lnTo>
                      <a:pt x="39284" y="3683526"/>
                    </a:lnTo>
                    <a:lnTo>
                      <a:pt x="22501" y="3640741"/>
                    </a:lnTo>
                    <a:lnTo>
                      <a:pt x="10180" y="3595918"/>
                    </a:lnTo>
                    <a:lnTo>
                      <a:pt x="2589" y="3549325"/>
                    </a:lnTo>
                    <a:lnTo>
                      <a:pt x="0" y="3501233"/>
                    </a:lnTo>
                    <a:lnTo>
                      <a:pt x="0" y="441374"/>
                    </a:lnTo>
                    <a:close/>
                  </a:path>
                </a:pathLst>
              </a:custGeom>
              <a:ln w="12700">
                <a:solidFill>
                  <a:srgbClr val="7030A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22" name="object 50">
                <a:extLst>
                  <a:ext uri="{FF2B5EF4-FFF2-40B4-BE49-F238E27FC236}">
                    <a16:creationId xmlns:a16="http://schemas.microsoft.com/office/drawing/2014/main" id="{12795548-BFD6-D49E-1066-EF26D2ED848D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109471" y="2782823"/>
                <a:ext cx="2569464" cy="984503"/>
              </a:xfrm>
              <a:prstGeom prst="rect">
                <a:avLst/>
              </a:prstGeom>
            </p:spPr>
          </p:pic>
          <p:sp>
            <p:nvSpPr>
              <p:cNvPr id="123" name="object 51">
                <a:extLst>
                  <a:ext uri="{FF2B5EF4-FFF2-40B4-BE49-F238E27FC236}">
                    <a16:creationId xmlns:a16="http://schemas.microsoft.com/office/drawing/2014/main" id="{4D077059-E471-68C6-2CE9-5E9E3B4815FE}"/>
                  </a:ext>
                </a:extLst>
              </p:cNvPr>
              <p:cNvSpPr/>
              <p:nvPr/>
            </p:nvSpPr>
            <p:spPr>
              <a:xfrm>
                <a:off x="1181920" y="2854646"/>
                <a:ext cx="2424430" cy="842010"/>
              </a:xfrm>
              <a:custGeom>
                <a:avLst/>
                <a:gdLst/>
                <a:ahLst/>
                <a:cxnLst/>
                <a:rect l="l" t="t" r="r" b="b"/>
                <a:pathLst>
                  <a:path w="2424429" h="842010">
                    <a:moveTo>
                      <a:pt x="2105920" y="0"/>
                    </a:moveTo>
                    <a:lnTo>
                      <a:pt x="318447" y="0"/>
                    </a:lnTo>
                    <a:lnTo>
                      <a:pt x="271390" y="3452"/>
                    </a:lnTo>
                    <a:lnTo>
                      <a:pt x="226476" y="13482"/>
                    </a:lnTo>
                    <a:lnTo>
                      <a:pt x="184198" y="29597"/>
                    </a:lnTo>
                    <a:lnTo>
                      <a:pt x="145049" y="51303"/>
                    </a:lnTo>
                    <a:lnTo>
                      <a:pt x="109522" y="78109"/>
                    </a:lnTo>
                    <a:lnTo>
                      <a:pt x="78110" y="109522"/>
                    </a:lnTo>
                    <a:lnTo>
                      <a:pt x="51304" y="145049"/>
                    </a:lnTo>
                    <a:lnTo>
                      <a:pt x="29597" y="184198"/>
                    </a:lnTo>
                    <a:lnTo>
                      <a:pt x="13482" y="226476"/>
                    </a:lnTo>
                    <a:lnTo>
                      <a:pt x="3452" y="271390"/>
                    </a:lnTo>
                    <a:lnTo>
                      <a:pt x="0" y="318448"/>
                    </a:lnTo>
                    <a:lnTo>
                      <a:pt x="0" y="523452"/>
                    </a:lnTo>
                    <a:lnTo>
                      <a:pt x="3452" y="570509"/>
                    </a:lnTo>
                    <a:lnTo>
                      <a:pt x="13482" y="615423"/>
                    </a:lnTo>
                    <a:lnTo>
                      <a:pt x="29597" y="657701"/>
                    </a:lnTo>
                    <a:lnTo>
                      <a:pt x="51304" y="696849"/>
                    </a:lnTo>
                    <a:lnTo>
                      <a:pt x="78110" y="732376"/>
                    </a:lnTo>
                    <a:lnTo>
                      <a:pt x="109522" y="763789"/>
                    </a:lnTo>
                    <a:lnTo>
                      <a:pt x="145049" y="790595"/>
                    </a:lnTo>
                    <a:lnTo>
                      <a:pt x="184198" y="812302"/>
                    </a:lnTo>
                    <a:lnTo>
                      <a:pt x="226476" y="828416"/>
                    </a:lnTo>
                    <a:lnTo>
                      <a:pt x="271390" y="838446"/>
                    </a:lnTo>
                    <a:lnTo>
                      <a:pt x="318447" y="841899"/>
                    </a:lnTo>
                    <a:lnTo>
                      <a:pt x="2105920" y="841899"/>
                    </a:lnTo>
                    <a:lnTo>
                      <a:pt x="2152978" y="838446"/>
                    </a:lnTo>
                    <a:lnTo>
                      <a:pt x="2197892" y="828416"/>
                    </a:lnTo>
                    <a:lnTo>
                      <a:pt x="2240170" y="812302"/>
                    </a:lnTo>
                    <a:lnTo>
                      <a:pt x="2279318" y="790595"/>
                    </a:lnTo>
                    <a:lnTo>
                      <a:pt x="2314845" y="763789"/>
                    </a:lnTo>
                    <a:lnTo>
                      <a:pt x="2346258" y="732376"/>
                    </a:lnTo>
                    <a:lnTo>
                      <a:pt x="2373064" y="696849"/>
                    </a:lnTo>
                    <a:lnTo>
                      <a:pt x="2394770" y="657701"/>
                    </a:lnTo>
                    <a:lnTo>
                      <a:pt x="2410885" y="615423"/>
                    </a:lnTo>
                    <a:lnTo>
                      <a:pt x="2420915" y="570509"/>
                    </a:lnTo>
                    <a:lnTo>
                      <a:pt x="2424368" y="523452"/>
                    </a:lnTo>
                    <a:lnTo>
                      <a:pt x="2424368" y="318448"/>
                    </a:lnTo>
                    <a:lnTo>
                      <a:pt x="2420915" y="271390"/>
                    </a:lnTo>
                    <a:lnTo>
                      <a:pt x="2410885" y="226476"/>
                    </a:lnTo>
                    <a:lnTo>
                      <a:pt x="2394770" y="184198"/>
                    </a:lnTo>
                    <a:lnTo>
                      <a:pt x="2373064" y="145049"/>
                    </a:lnTo>
                    <a:lnTo>
                      <a:pt x="2346258" y="109522"/>
                    </a:lnTo>
                    <a:lnTo>
                      <a:pt x="2314845" y="78109"/>
                    </a:lnTo>
                    <a:lnTo>
                      <a:pt x="2279318" y="51303"/>
                    </a:lnTo>
                    <a:lnTo>
                      <a:pt x="2240170" y="29597"/>
                    </a:lnTo>
                    <a:lnTo>
                      <a:pt x="2197892" y="13482"/>
                    </a:lnTo>
                    <a:lnTo>
                      <a:pt x="2152978" y="3452"/>
                    </a:lnTo>
                    <a:lnTo>
                      <a:pt x="2105920" y="0"/>
                    </a:lnTo>
                    <a:close/>
                  </a:path>
                </a:pathLst>
              </a:custGeom>
              <a:solidFill>
                <a:srgbClr val="8537BE"/>
              </a:solidFill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b="1" dirty="0"/>
                  <a:t>Human Centricity</a:t>
                </a:r>
                <a:endParaRPr b="1" dirty="0"/>
              </a:p>
            </p:txBody>
          </p:sp>
          <p:sp>
            <p:nvSpPr>
              <p:cNvPr id="124" name="object 52">
                <a:extLst>
                  <a:ext uri="{FF2B5EF4-FFF2-40B4-BE49-F238E27FC236}">
                    <a16:creationId xmlns:a16="http://schemas.microsoft.com/office/drawing/2014/main" id="{C44F4C9B-2158-335B-5CC2-011C19191AB4}"/>
                  </a:ext>
                </a:extLst>
              </p:cNvPr>
              <p:cNvSpPr/>
              <p:nvPr/>
            </p:nvSpPr>
            <p:spPr>
              <a:xfrm>
                <a:off x="1181920" y="2854646"/>
                <a:ext cx="2424430" cy="842010"/>
              </a:xfrm>
              <a:custGeom>
                <a:avLst/>
                <a:gdLst/>
                <a:ahLst/>
                <a:cxnLst/>
                <a:rect l="l" t="t" r="r" b="b"/>
                <a:pathLst>
                  <a:path w="2424429" h="842010">
                    <a:moveTo>
                      <a:pt x="0" y="318448"/>
                    </a:moveTo>
                    <a:lnTo>
                      <a:pt x="3452" y="271390"/>
                    </a:lnTo>
                    <a:lnTo>
                      <a:pt x="13482" y="226476"/>
                    </a:lnTo>
                    <a:lnTo>
                      <a:pt x="29597" y="184198"/>
                    </a:lnTo>
                    <a:lnTo>
                      <a:pt x="51303" y="145049"/>
                    </a:lnTo>
                    <a:lnTo>
                      <a:pt x="78109" y="109522"/>
                    </a:lnTo>
                    <a:lnTo>
                      <a:pt x="109522" y="78109"/>
                    </a:lnTo>
                    <a:lnTo>
                      <a:pt x="145049" y="51303"/>
                    </a:lnTo>
                    <a:lnTo>
                      <a:pt x="184198" y="29597"/>
                    </a:lnTo>
                    <a:lnTo>
                      <a:pt x="226475" y="13482"/>
                    </a:lnTo>
                    <a:lnTo>
                      <a:pt x="271389" y="3452"/>
                    </a:lnTo>
                    <a:lnTo>
                      <a:pt x="318447" y="0"/>
                    </a:lnTo>
                    <a:lnTo>
                      <a:pt x="2105921" y="0"/>
                    </a:lnTo>
                    <a:lnTo>
                      <a:pt x="2152978" y="3452"/>
                    </a:lnTo>
                    <a:lnTo>
                      <a:pt x="2197892" y="13482"/>
                    </a:lnTo>
                    <a:lnTo>
                      <a:pt x="2240170" y="29597"/>
                    </a:lnTo>
                    <a:lnTo>
                      <a:pt x="2279318" y="51303"/>
                    </a:lnTo>
                    <a:lnTo>
                      <a:pt x="2314845" y="78109"/>
                    </a:lnTo>
                    <a:lnTo>
                      <a:pt x="2346258" y="109522"/>
                    </a:lnTo>
                    <a:lnTo>
                      <a:pt x="2373064" y="145049"/>
                    </a:lnTo>
                    <a:lnTo>
                      <a:pt x="2394770" y="184198"/>
                    </a:lnTo>
                    <a:lnTo>
                      <a:pt x="2410885" y="226476"/>
                    </a:lnTo>
                    <a:lnTo>
                      <a:pt x="2420915" y="271390"/>
                    </a:lnTo>
                    <a:lnTo>
                      <a:pt x="2424368" y="318448"/>
                    </a:lnTo>
                    <a:lnTo>
                      <a:pt x="2424368" y="523451"/>
                    </a:lnTo>
                    <a:lnTo>
                      <a:pt x="2420915" y="570508"/>
                    </a:lnTo>
                    <a:lnTo>
                      <a:pt x="2410885" y="615423"/>
                    </a:lnTo>
                    <a:lnTo>
                      <a:pt x="2394770" y="657700"/>
                    </a:lnTo>
                    <a:lnTo>
                      <a:pt x="2373064" y="696849"/>
                    </a:lnTo>
                    <a:lnTo>
                      <a:pt x="2346258" y="732376"/>
                    </a:lnTo>
                    <a:lnTo>
                      <a:pt x="2314845" y="763789"/>
                    </a:lnTo>
                    <a:lnTo>
                      <a:pt x="2279318" y="790595"/>
                    </a:lnTo>
                    <a:lnTo>
                      <a:pt x="2240170" y="812301"/>
                    </a:lnTo>
                    <a:lnTo>
                      <a:pt x="2197892" y="828416"/>
                    </a:lnTo>
                    <a:lnTo>
                      <a:pt x="2152978" y="838446"/>
                    </a:lnTo>
                    <a:lnTo>
                      <a:pt x="2105921" y="841899"/>
                    </a:lnTo>
                    <a:lnTo>
                      <a:pt x="318447" y="841899"/>
                    </a:lnTo>
                    <a:lnTo>
                      <a:pt x="271389" y="838446"/>
                    </a:lnTo>
                    <a:lnTo>
                      <a:pt x="226475" y="828416"/>
                    </a:lnTo>
                    <a:lnTo>
                      <a:pt x="184198" y="812301"/>
                    </a:lnTo>
                    <a:lnTo>
                      <a:pt x="145049" y="790595"/>
                    </a:lnTo>
                    <a:lnTo>
                      <a:pt x="109522" y="763789"/>
                    </a:lnTo>
                    <a:lnTo>
                      <a:pt x="78109" y="732376"/>
                    </a:lnTo>
                    <a:lnTo>
                      <a:pt x="51303" y="696849"/>
                    </a:lnTo>
                    <a:lnTo>
                      <a:pt x="29597" y="657700"/>
                    </a:lnTo>
                    <a:lnTo>
                      <a:pt x="13482" y="615423"/>
                    </a:lnTo>
                    <a:lnTo>
                      <a:pt x="3452" y="570508"/>
                    </a:lnTo>
                    <a:lnTo>
                      <a:pt x="0" y="523451"/>
                    </a:lnTo>
                    <a:lnTo>
                      <a:pt x="0" y="318448"/>
                    </a:lnTo>
                    <a:close/>
                  </a:path>
                </a:pathLst>
              </a:custGeom>
              <a:ln w="12700">
                <a:solidFill>
                  <a:srgbClr val="7030A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11" name="object 62">
              <a:extLst>
                <a:ext uri="{FF2B5EF4-FFF2-40B4-BE49-F238E27FC236}">
                  <a16:creationId xmlns:a16="http://schemas.microsoft.com/office/drawing/2014/main" id="{CA88F908-0C61-973E-E2F8-7B791C2E5C21}"/>
                </a:ext>
              </a:extLst>
            </p:cNvPr>
            <p:cNvSpPr txBox="1"/>
            <p:nvPr/>
          </p:nvSpPr>
          <p:spPr>
            <a:xfrm>
              <a:off x="920356" y="2041378"/>
              <a:ext cx="1666465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1200" spc="40" dirty="0">
                  <a:solidFill>
                    <a:schemeClr val="bg1"/>
                  </a:solidFill>
                  <a:latin typeface="Arial MT"/>
                  <a:cs typeface="Arial MT"/>
                </a:rPr>
                <a:t>Mitigating harm from value chain activities</a:t>
              </a:r>
              <a:endParaRPr sz="1200" dirty="0">
                <a:solidFill>
                  <a:schemeClr val="bg1"/>
                </a:solidFill>
                <a:latin typeface="Arial MT"/>
                <a:cs typeface="Arial MT"/>
              </a:endParaRPr>
            </a:p>
          </p:txBody>
        </p:sp>
        <p:pic>
          <p:nvPicPr>
            <p:cNvPr id="112" name="object 55">
              <a:extLst>
                <a:ext uri="{FF2B5EF4-FFF2-40B4-BE49-F238E27FC236}">
                  <a16:creationId xmlns:a16="http://schemas.microsoft.com/office/drawing/2014/main" id="{FB9ED62C-59CF-0ABF-C9A0-9117F6C6C0D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4298" y="2059604"/>
              <a:ext cx="345704" cy="345704"/>
            </a:xfrm>
            <a:prstGeom prst="rect">
              <a:avLst/>
            </a:prstGeom>
          </p:spPr>
        </p:pic>
        <p:sp>
          <p:nvSpPr>
            <p:cNvPr id="113" name="object 62">
              <a:extLst>
                <a:ext uri="{FF2B5EF4-FFF2-40B4-BE49-F238E27FC236}">
                  <a16:creationId xmlns:a16="http://schemas.microsoft.com/office/drawing/2014/main" id="{A5EE612D-1920-C17B-0C59-212BC2351C7C}"/>
                </a:ext>
              </a:extLst>
            </p:cNvPr>
            <p:cNvSpPr txBox="1"/>
            <p:nvPr/>
          </p:nvSpPr>
          <p:spPr>
            <a:xfrm>
              <a:off x="930993" y="2798128"/>
              <a:ext cx="1815652" cy="75148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1200" b="1" spc="40" dirty="0">
                  <a:solidFill>
                    <a:schemeClr val="accent3"/>
                  </a:solidFill>
                  <a:latin typeface="Arial MT"/>
                  <a:cs typeface="Arial MT"/>
                </a:rPr>
                <a:t>Transforming value chain </a:t>
              </a:r>
              <a:r>
                <a:rPr lang="en-IN" sz="1200" spc="40" dirty="0">
                  <a:solidFill>
                    <a:schemeClr val="bg1"/>
                  </a:solidFill>
                  <a:latin typeface="Arial MT"/>
                  <a:cs typeface="Arial MT"/>
                </a:rPr>
                <a:t>activities to become more sustainable</a:t>
              </a:r>
              <a:endParaRPr sz="1200" dirty="0">
                <a:solidFill>
                  <a:schemeClr val="bg1"/>
                </a:solidFill>
                <a:latin typeface="Arial MT"/>
                <a:cs typeface="Arial MT"/>
              </a:endParaRPr>
            </a:p>
          </p:txBody>
        </p:sp>
        <p:pic>
          <p:nvPicPr>
            <p:cNvPr id="114" name="object 39">
              <a:extLst>
                <a:ext uri="{FF2B5EF4-FFF2-40B4-BE49-F238E27FC236}">
                  <a16:creationId xmlns:a16="http://schemas.microsoft.com/office/drawing/2014/main" id="{C36543DE-5FF1-5411-D28C-350AE8F1A89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0687" y="2814024"/>
              <a:ext cx="281885" cy="281886"/>
            </a:xfrm>
            <a:prstGeom prst="rect">
              <a:avLst/>
            </a:prstGeom>
          </p:spPr>
        </p:pic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E3229B5C-7977-BD3B-9887-2116788263C7}"/>
                </a:ext>
              </a:extLst>
            </p:cNvPr>
            <p:cNvCxnSpPr/>
            <p:nvPr/>
          </p:nvCxnSpPr>
          <p:spPr>
            <a:xfrm>
              <a:off x="555287" y="1805120"/>
              <a:ext cx="1884167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83690EC7-138F-9D68-5DAF-ABAA56BE3124}"/>
              </a:ext>
            </a:extLst>
          </p:cNvPr>
          <p:cNvCxnSpPr/>
          <p:nvPr/>
        </p:nvCxnSpPr>
        <p:spPr>
          <a:xfrm>
            <a:off x="948134" y="2578671"/>
            <a:ext cx="1104825" cy="0"/>
          </a:xfrm>
          <a:prstGeom prst="line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584ACA5C-4922-F901-3DFD-EE62BDF83775}"/>
              </a:ext>
            </a:extLst>
          </p:cNvPr>
          <p:cNvCxnSpPr/>
          <p:nvPr/>
        </p:nvCxnSpPr>
        <p:spPr>
          <a:xfrm>
            <a:off x="3189282" y="2590792"/>
            <a:ext cx="1104825" cy="0"/>
          </a:xfrm>
          <a:prstGeom prst="line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A1C59F59-8279-A60A-9D32-EBBFDCD3F606}"/>
              </a:ext>
            </a:extLst>
          </p:cNvPr>
          <p:cNvCxnSpPr/>
          <p:nvPr/>
        </p:nvCxnSpPr>
        <p:spPr>
          <a:xfrm>
            <a:off x="5462582" y="2590792"/>
            <a:ext cx="1104825" cy="0"/>
          </a:xfrm>
          <a:prstGeom prst="line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D131009E-86F7-B80A-E37F-FC4BC089DFC3}"/>
              </a:ext>
            </a:extLst>
          </p:cNvPr>
          <p:cNvCxnSpPr/>
          <p:nvPr/>
        </p:nvCxnSpPr>
        <p:spPr>
          <a:xfrm>
            <a:off x="7710643" y="2590792"/>
            <a:ext cx="1104825" cy="0"/>
          </a:xfrm>
          <a:prstGeom prst="line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25B5B0C3-7260-C36F-96A3-E39354B7524D}"/>
              </a:ext>
            </a:extLst>
          </p:cNvPr>
          <p:cNvCxnSpPr/>
          <p:nvPr/>
        </p:nvCxnSpPr>
        <p:spPr>
          <a:xfrm>
            <a:off x="9927698" y="2577513"/>
            <a:ext cx="1104825" cy="0"/>
          </a:xfrm>
          <a:prstGeom prst="line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D88CA600-8DC3-DDB7-8831-5155DA51769A}"/>
              </a:ext>
            </a:extLst>
          </p:cNvPr>
          <p:cNvCxnSpPr>
            <a:cxnSpLocks/>
          </p:cNvCxnSpPr>
          <p:nvPr/>
        </p:nvCxnSpPr>
        <p:spPr>
          <a:xfrm>
            <a:off x="652062" y="3914573"/>
            <a:ext cx="10808100" cy="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132" name="Chart 131">
            <a:extLst>
              <a:ext uri="{FF2B5EF4-FFF2-40B4-BE49-F238E27FC236}">
                <a16:creationId xmlns:a16="http://schemas.microsoft.com/office/drawing/2014/main" id="{3563B74E-E2D4-0352-9E76-438C8516159F}"/>
              </a:ext>
            </a:extLst>
          </p:cNvPr>
          <p:cNvGraphicFramePr/>
          <p:nvPr/>
        </p:nvGraphicFramePr>
        <p:xfrm>
          <a:off x="1471075" y="4407130"/>
          <a:ext cx="4612287" cy="22676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3" name="Chart 132">
            <a:extLst>
              <a:ext uri="{FF2B5EF4-FFF2-40B4-BE49-F238E27FC236}">
                <a16:creationId xmlns:a16="http://schemas.microsoft.com/office/drawing/2014/main" id="{0E56D3EC-A3F4-BB27-37F7-3CCED0AE6C64}"/>
              </a:ext>
            </a:extLst>
          </p:cNvPr>
          <p:cNvGraphicFramePr/>
          <p:nvPr/>
        </p:nvGraphicFramePr>
        <p:xfrm>
          <a:off x="6242878" y="4416277"/>
          <a:ext cx="4612287" cy="22676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34" name="Title 3">
            <a:extLst>
              <a:ext uri="{FF2B5EF4-FFF2-40B4-BE49-F238E27FC236}">
                <a16:creationId xmlns:a16="http://schemas.microsoft.com/office/drawing/2014/main" id="{A96D1DC3-EA92-8D43-A086-0ADB7F142019}"/>
              </a:ext>
            </a:extLst>
          </p:cNvPr>
          <p:cNvSpPr txBox="1">
            <a:spLocks/>
          </p:cNvSpPr>
          <p:nvPr/>
        </p:nvSpPr>
        <p:spPr>
          <a:xfrm>
            <a:off x="529540" y="3988497"/>
            <a:ext cx="10906125" cy="29546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0" dirty="0"/>
              <a:t>While ensuring high financial growth…</a:t>
            </a:r>
          </a:p>
        </p:txBody>
      </p:sp>
    </p:spTree>
    <p:extLst>
      <p:ext uri="{BB962C8B-B14F-4D97-AF65-F5344CB8AC3E}">
        <p14:creationId xmlns:p14="http://schemas.microsoft.com/office/powerpoint/2010/main" val="29183625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3" name="Chart 2">
                <a:extLst>
                  <a:ext uri="{FF2B5EF4-FFF2-40B4-BE49-F238E27FC236}">
                    <a16:creationId xmlns:a16="http://schemas.microsoft.com/office/drawing/2014/main" id="{ED462C9E-CD9F-5574-FB8F-5A23D067A311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416311589"/>
                  </p:ext>
                </p:extLst>
              </p:nvPr>
            </p:nvGraphicFramePr>
            <p:xfrm>
              <a:off x="2032000" y="3006436"/>
              <a:ext cx="5255491" cy="3131896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3" name="Chart 2">
                <a:extLst>
                  <a:ext uri="{FF2B5EF4-FFF2-40B4-BE49-F238E27FC236}">
                    <a16:creationId xmlns:a16="http://schemas.microsoft.com/office/drawing/2014/main" id="{ED462C9E-CD9F-5574-FB8F-5A23D067A31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32000" y="3006436"/>
                <a:ext cx="5255491" cy="31318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4F41297D-17F3-EBD2-BA4E-CA45784483B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603744177"/>
                  </p:ext>
                </p:extLst>
              </p:nvPr>
            </p:nvGraphicFramePr>
            <p:xfrm>
              <a:off x="2032000" y="719666"/>
              <a:ext cx="8128000" cy="541866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 xmlns="">
          <p:pic>
            <p:nvPicPr>
              <p:cNvPr id="4" name="Chart 3">
                <a:extLst>
                  <a:ext uri="{FF2B5EF4-FFF2-40B4-BE49-F238E27FC236}">
                    <a16:creationId xmlns:a16="http://schemas.microsoft.com/office/drawing/2014/main" id="{4F41297D-17F3-EBD2-BA4E-CA45784483B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32000" y="719666"/>
                <a:ext cx="8128000" cy="541866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11526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A9103C-2F43-B7AA-EF8B-2D817E2F89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16</a:t>
            </a:fld>
            <a:endParaRPr lang="en-IN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3" name="Chart 2">
                <a:extLst>
                  <a:ext uri="{FF2B5EF4-FFF2-40B4-BE49-F238E27FC236}">
                    <a16:creationId xmlns:a16="http://schemas.microsoft.com/office/drawing/2014/main" id="{78AEB84C-4E98-5B6A-438D-AD52A9C8A4A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5662121"/>
                  </p:ext>
                </p:extLst>
              </p:nvPr>
            </p:nvGraphicFramePr>
            <p:xfrm>
              <a:off x="2032000" y="719666"/>
              <a:ext cx="8128000" cy="541866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3" name="Chart 2">
                <a:extLst>
                  <a:ext uri="{FF2B5EF4-FFF2-40B4-BE49-F238E27FC236}">
                    <a16:creationId xmlns:a16="http://schemas.microsoft.com/office/drawing/2014/main" id="{78AEB84C-4E98-5B6A-438D-AD52A9C8A4A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32000" y="719666"/>
                <a:ext cx="8128000" cy="541866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44964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50D416-70DD-0FC7-1980-136B87430C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17</a:t>
            </a:fld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DA9052-70D2-2D2A-64BA-6B565727C6C1}"/>
              </a:ext>
            </a:extLst>
          </p:cNvPr>
          <p:cNvSpPr/>
          <p:nvPr/>
        </p:nvSpPr>
        <p:spPr>
          <a:xfrm>
            <a:off x="973770" y="651230"/>
            <a:ext cx="3380818" cy="25920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“ Naya </a:t>
            </a:r>
            <a:r>
              <a:rPr lang="en-US" b="1" dirty="0" err="1">
                <a:solidFill>
                  <a:schemeClr val="tx1"/>
                </a:solidFill>
              </a:rPr>
              <a:t>Saaz</a:t>
            </a:r>
            <a:r>
              <a:rPr lang="en-US" b="1" dirty="0">
                <a:solidFill>
                  <a:schemeClr val="tx1"/>
                </a:solidFill>
              </a:rPr>
              <a:t>, Naya Rishta”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1D7ADC-7C04-6594-FC16-61818C018515}"/>
              </a:ext>
            </a:extLst>
          </p:cNvPr>
          <p:cNvSpPr txBox="1"/>
          <p:nvPr/>
        </p:nvSpPr>
        <p:spPr>
          <a:xfrm>
            <a:off x="1150361" y="947543"/>
            <a:ext cx="19856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>
                <a:solidFill>
                  <a:schemeClr val="bg1"/>
                </a:solidFill>
                <a:latin typeface="Carlito"/>
              </a:rPr>
              <a:t>What festivals mean to engaged Customers?</a:t>
            </a:r>
          </a:p>
        </p:txBody>
      </p:sp>
      <p:sp>
        <p:nvSpPr>
          <p:cNvPr id="31" name="TextBox 71">
            <a:extLst>
              <a:ext uri="{FF2B5EF4-FFF2-40B4-BE49-F238E27FC236}">
                <a16:creationId xmlns:a16="http://schemas.microsoft.com/office/drawing/2014/main" id="{9DA6E7C4-172A-2DE7-AE58-ADDACBD7B118}"/>
              </a:ext>
            </a:extLst>
          </p:cNvPr>
          <p:cNvSpPr txBox="1"/>
          <p:nvPr/>
        </p:nvSpPr>
        <p:spPr>
          <a:xfrm>
            <a:off x="483678" y="2840363"/>
            <a:ext cx="3795574" cy="796826"/>
          </a:xfrm>
          <a:prstGeom prst="rect">
            <a:avLst/>
          </a:prstGeom>
          <a:noFill/>
          <a:ln w="19050">
            <a:solidFill>
              <a:schemeClr val="accent4"/>
            </a:solidFill>
            <a:prstDash val="dash"/>
          </a:ln>
        </p:spPr>
        <p:txBody>
          <a:bodyPr wrap="square" lIns="36000" tIns="54000" rIns="36000" bIns="3600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Rationale</a:t>
            </a:r>
            <a:r>
              <a:rPr lang="en-US" sz="1200" dirty="0">
                <a:solidFill>
                  <a:schemeClr val="bg1"/>
                </a:solidFill>
              </a:rPr>
              <a:t>: Traditionally, festivals meant spending time &amp; enjoying with friends, neighbors &amp; family so associating ABC with festivals would garner positive sentiment around the brand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F241CD-A2F0-5CCD-C9EA-C9E9241AA2D8}"/>
              </a:ext>
            </a:extLst>
          </p:cNvPr>
          <p:cNvSpPr txBox="1"/>
          <p:nvPr/>
        </p:nvSpPr>
        <p:spPr>
          <a:xfrm>
            <a:off x="483677" y="1435098"/>
            <a:ext cx="2247203" cy="1243102"/>
          </a:xfrm>
          <a:prstGeom prst="rect">
            <a:avLst/>
          </a:prstGeom>
          <a:noFill/>
          <a:ln w="19050">
            <a:solidFill>
              <a:schemeClr val="accent4"/>
            </a:solidFill>
            <a:prstDash val="dash"/>
          </a:ln>
        </p:spPr>
        <p:txBody>
          <a:bodyPr wrap="square" lIns="36000" tIns="54000" rIns="36000" bIns="3600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Concept</a:t>
            </a:r>
            <a:r>
              <a:rPr lang="en-US" sz="1100" dirty="0">
                <a:solidFill>
                  <a:schemeClr val="bg1"/>
                </a:solidFill>
              </a:rPr>
              <a:t>: Run campaigns like “</a:t>
            </a:r>
            <a:r>
              <a:rPr lang="en-US" sz="1100" b="1" i="1" dirty="0">
                <a:solidFill>
                  <a:schemeClr val="bg1"/>
                </a:solidFill>
              </a:rPr>
              <a:t>This Diwali, Make a change”</a:t>
            </a:r>
            <a:r>
              <a:rPr lang="en-US" sz="1100" dirty="0">
                <a:solidFill>
                  <a:schemeClr val="bg1"/>
                </a:solidFill>
              </a:rPr>
              <a:t> to telling everyone to say </a:t>
            </a:r>
            <a:r>
              <a:rPr lang="en-US" sz="1100" b="1" i="1" dirty="0">
                <a:solidFill>
                  <a:schemeClr val="bg1"/>
                </a:solidFill>
              </a:rPr>
              <a:t>no to crackers</a:t>
            </a:r>
            <a:r>
              <a:rPr lang="en-US" sz="1100" dirty="0">
                <a:solidFill>
                  <a:schemeClr val="bg1"/>
                </a:solidFill>
              </a:rPr>
              <a:t> and showing the family spreading a new air purifying bedsheets and comforters in a home filled with </a:t>
            </a:r>
            <a:r>
              <a:rPr lang="en-US" sz="1100" dirty="0" err="1">
                <a:solidFill>
                  <a:schemeClr val="bg1"/>
                </a:solidFill>
              </a:rPr>
              <a:t>Diyas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1" name="TextBox 71">
            <a:extLst>
              <a:ext uri="{FF2B5EF4-FFF2-40B4-BE49-F238E27FC236}">
                <a16:creationId xmlns:a16="http://schemas.microsoft.com/office/drawing/2014/main" id="{D41F352A-06E1-4CB0-5791-D7E4475BA8C9}"/>
              </a:ext>
            </a:extLst>
          </p:cNvPr>
          <p:cNvSpPr txBox="1"/>
          <p:nvPr/>
        </p:nvSpPr>
        <p:spPr>
          <a:xfrm>
            <a:off x="4493562" y="2878187"/>
            <a:ext cx="3726125" cy="796826"/>
          </a:xfrm>
          <a:prstGeom prst="rect">
            <a:avLst/>
          </a:prstGeom>
          <a:noFill/>
          <a:ln w="19050">
            <a:solidFill>
              <a:schemeClr val="accent4"/>
            </a:solidFill>
            <a:prstDash val="dash"/>
          </a:ln>
        </p:spPr>
        <p:txBody>
          <a:bodyPr wrap="square" lIns="36000" tIns="54000" rIns="36000" bIns="3600" rtlCol="0" anchor="t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Rationale</a:t>
            </a:r>
            <a:r>
              <a:rPr lang="en-US" sz="1200" dirty="0">
                <a:solidFill>
                  <a:schemeClr val="bg1"/>
                </a:solidFill>
              </a:rPr>
              <a:t>: We have long seen this trend that customers usually don't dispose off their old towels &amp; bedsheets. We plan to receive these back from customers in order to recycle the same.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D23FF96-ADCC-B77F-5C67-BA146B903E6D}"/>
              </a:ext>
            </a:extLst>
          </p:cNvPr>
          <p:cNvSpPr/>
          <p:nvPr/>
        </p:nvSpPr>
        <p:spPr>
          <a:xfrm>
            <a:off x="4940043" y="678248"/>
            <a:ext cx="3244232" cy="232182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#GoGreenWithABC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45" name="AutoShape 3" descr="10 Best Mattress Brands in India for 2022 | Expert Tested | Outlook">
            <a:extLst>
              <a:ext uri="{FF2B5EF4-FFF2-40B4-BE49-F238E27FC236}">
                <a16:creationId xmlns:a16="http://schemas.microsoft.com/office/drawing/2014/main" id="{E79FDF0A-C71C-A5DE-9349-4B11D74EDF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59331028-2907-E2A4-01DC-05C00EE7A4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949" y="1053383"/>
            <a:ext cx="1564639" cy="16440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E5CA75FF-6989-D9F6-F6CC-0633A06AF6E8}"/>
              </a:ext>
            </a:extLst>
          </p:cNvPr>
          <p:cNvSpPr txBox="1"/>
          <p:nvPr/>
        </p:nvSpPr>
        <p:spPr>
          <a:xfrm>
            <a:off x="5049584" y="871942"/>
            <a:ext cx="203102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200" i="1" dirty="0">
                <a:solidFill>
                  <a:schemeClr val="bg1"/>
                </a:solidFill>
                <a:latin typeface="Carlito"/>
              </a:rPr>
              <a:t>Our customers are becoming environment conscious by the day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9E7F77-758A-3C9F-D825-F51687F5A76E}"/>
              </a:ext>
            </a:extLst>
          </p:cNvPr>
          <p:cNvSpPr txBox="1"/>
          <p:nvPr/>
        </p:nvSpPr>
        <p:spPr>
          <a:xfrm>
            <a:off x="4491687" y="1473888"/>
            <a:ext cx="2607299" cy="1350824"/>
          </a:xfrm>
          <a:prstGeom prst="rect">
            <a:avLst/>
          </a:prstGeom>
          <a:noFill/>
          <a:ln w="19050">
            <a:solidFill>
              <a:schemeClr val="accent4"/>
            </a:solidFill>
            <a:prstDash val="dash"/>
          </a:ln>
        </p:spPr>
        <p:txBody>
          <a:bodyPr wrap="square" lIns="36000" tIns="54000" rIns="36000" bIns="3600" rtlCol="0" anchor="t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Concept</a:t>
            </a:r>
            <a:r>
              <a:rPr lang="en-US" sz="1200" dirty="0">
                <a:solidFill>
                  <a:schemeClr val="bg1"/>
                </a:solidFill>
              </a:rPr>
              <a:t>: We aim to run social media campaigns with the hashtag #GoGreenWithABC to engage our customers on social media. With this, we will provide our customers discount coupons if they return their used towels &amp; bedsheets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BAEBB19-65BA-9A4C-FCEB-2A281131E1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192074"/>
              </p:ext>
            </p:extLst>
          </p:nvPr>
        </p:nvGraphicFramePr>
        <p:xfrm>
          <a:off x="554048" y="3923321"/>
          <a:ext cx="8354780" cy="2365693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387926">
                  <a:extLst>
                    <a:ext uri="{9D8B030D-6E8A-4147-A177-3AD203B41FA5}">
                      <a16:colId xmlns:a16="http://schemas.microsoft.com/office/drawing/2014/main" val="3045191246"/>
                    </a:ext>
                  </a:extLst>
                </a:gridCol>
                <a:gridCol w="1728106">
                  <a:extLst>
                    <a:ext uri="{9D8B030D-6E8A-4147-A177-3AD203B41FA5}">
                      <a16:colId xmlns:a16="http://schemas.microsoft.com/office/drawing/2014/main" val="801647818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956607906"/>
                    </a:ext>
                  </a:extLst>
                </a:gridCol>
                <a:gridCol w="1360714">
                  <a:extLst>
                    <a:ext uri="{9D8B030D-6E8A-4147-A177-3AD203B41FA5}">
                      <a16:colId xmlns:a16="http://schemas.microsoft.com/office/drawing/2014/main" val="3054079568"/>
                    </a:ext>
                  </a:extLst>
                </a:gridCol>
                <a:gridCol w="1374320">
                  <a:extLst>
                    <a:ext uri="{9D8B030D-6E8A-4147-A177-3AD203B41FA5}">
                      <a16:colId xmlns:a16="http://schemas.microsoft.com/office/drawing/2014/main" val="3020698912"/>
                    </a:ext>
                  </a:extLst>
                </a:gridCol>
                <a:gridCol w="1360714">
                  <a:extLst>
                    <a:ext uri="{9D8B030D-6E8A-4147-A177-3AD203B41FA5}">
                      <a16:colId xmlns:a16="http://schemas.microsoft.com/office/drawing/2014/main" val="362972716"/>
                    </a:ext>
                  </a:extLst>
                </a:gridCol>
              </a:tblGrid>
              <a:tr h="33760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Cost factor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Unit cost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Conversion Rate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Cost in Year 1 (INR)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Cost in Year 2 (INR)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Cost in Year 3 (INR)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35815512"/>
                  </a:ext>
                </a:extLst>
              </a:tr>
              <a:tr h="3376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Website maintenance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-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-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1,50,000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70,000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70,000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92160442"/>
                  </a:ext>
                </a:extLst>
              </a:tr>
              <a:tr h="3376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Paid search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Cost per click = Rs.6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2.50%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36,00,000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36,00,000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36,00,000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60013126"/>
                  </a:ext>
                </a:extLst>
              </a:tr>
              <a:tr h="3376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Paid social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Avg engagement ratio = 5%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5%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30,00,000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31,50,000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33,07,500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68708856"/>
                  </a:ext>
                </a:extLst>
              </a:tr>
              <a:tr h="21100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Affiliates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Cost per sale = 8%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3,40,000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3,40,000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3,40,000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59489124"/>
                  </a:ext>
                </a:extLst>
              </a:tr>
              <a:tr h="3376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Direct reach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Cost per E-mail= INR 0.0425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1.50%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42,500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43,775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45,088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47069748"/>
                  </a:ext>
                </a:extLst>
              </a:tr>
              <a:tr h="168804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effectLst/>
                        </a:rPr>
                        <a:t>Total cost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effectLst/>
                        </a:rPr>
                        <a:t>71,32,500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effectLst/>
                        </a:rPr>
                        <a:t>72,03,775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effectLst/>
                        </a:rPr>
                        <a:t>73,62,588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66708170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0C0ACAA5-E411-5CD5-E12F-0883D5757AA6}"/>
              </a:ext>
            </a:extLst>
          </p:cNvPr>
          <p:cNvGrpSpPr/>
          <p:nvPr/>
        </p:nvGrpSpPr>
        <p:grpSpPr>
          <a:xfrm>
            <a:off x="8184275" y="494808"/>
            <a:ext cx="3555442" cy="914400"/>
            <a:chOff x="-65988" y="324081"/>
            <a:chExt cx="3470200" cy="9144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9DF5690-A34A-0DCC-97EF-5EBBA58BAC50}"/>
                </a:ext>
              </a:extLst>
            </p:cNvPr>
            <p:cNvSpPr/>
            <p:nvPr/>
          </p:nvSpPr>
          <p:spPr>
            <a:xfrm>
              <a:off x="605928" y="504067"/>
              <a:ext cx="2798284" cy="259200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#AbHarGharABC</a:t>
              </a:r>
              <a:endParaRPr lang="en-US" sz="1800" b="1" dirty="0">
                <a:solidFill>
                  <a:schemeClr val="tx1"/>
                </a:solidFill>
              </a:endParaRPr>
            </a:p>
          </p:txBody>
        </p:sp>
        <p:pic>
          <p:nvPicPr>
            <p:cNvPr id="6" name="Graphic 5" descr="Ribbon">
              <a:extLst>
                <a:ext uri="{FF2B5EF4-FFF2-40B4-BE49-F238E27FC236}">
                  <a16:creationId xmlns:a16="http://schemas.microsoft.com/office/drawing/2014/main" id="{B6CF45E6-E1C4-0972-388E-25694B0D26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65988" y="324081"/>
              <a:ext cx="914400" cy="91440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0FD2E91-D117-9602-74DB-0547760799F7}"/>
              </a:ext>
            </a:extLst>
          </p:cNvPr>
          <p:cNvSpPr txBox="1"/>
          <p:nvPr/>
        </p:nvSpPr>
        <p:spPr>
          <a:xfrm>
            <a:off x="8888548" y="971529"/>
            <a:ext cx="254145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200" i="1" dirty="0">
                <a:solidFill>
                  <a:schemeClr val="bg1"/>
                </a:solidFill>
                <a:latin typeface="Carlito"/>
              </a:rPr>
              <a:t>Tier 2 penetration of organized </a:t>
            </a:r>
            <a:r>
              <a:rPr lang="en-US" sz="1200" i="1">
                <a:solidFill>
                  <a:schemeClr val="bg1"/>
                </a:solidFill>
                <a:latin typeface="Carlito"/>
              </a:rPr>
              <a:t>home textile </a:t>
            </a:r>
            <a:r>
              <a:rPr lang="en-US" sz="1200" i="1" dirty="0">
                <a:solidFill>
                  <a:schemeClr val="bg1"/>
                </a:solidFill>
                <a:latin typeface="Carlito"/>
              </a:rPr>
              <a:t>brands is less due to less brand conscious consumers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BF448D-37E1-D7AB-7B3D-4B187BAA7E13}"/>
              </a:ext>
            </a:extLst>
          </p:cNvPr>
          <p:cNvSpPr txBox="1"/>
          <p:nvPr/>
        </p:nvSpPr>
        <p:spPr>
          <a:xfrm>
            <a:off x="8462355" y="1603234"/>
            <a:ext cx="2177753" cy="1166158"/>
          </a:xfrm>
          <a:prstGeom prst="rect">
            <a:avLst/>
          </a:prstGeom>
          <a:noFill/>
          <a:ln w="19050">
            <a:solidFill>
              <a:schemeClr val="accent4"/>
            </a:solidFill>
            <a:prstDash val="dash"/>
          </a:ln>
        </p:spPr>
        <p:txBody>
          <a:bodyPr wrap="square" lIns="36000" tIns="54000" rIns="36000" bIns="3600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Concept</a:t>
            </a:r>
            <a:r>
              <a:rPr lang="en-US" sz="1200" dirty="0">
                <a:solidFill>
                  <a:schemeClr val="bg1"/>
                </a:solidFill>
              </a:rPr>
              <a:t>:</a:t>
            </a:r>
            <a:r>
              <a:rPr lang="en-US" sz="1200" b="0" i="0" dirty="0">
                <a:solidFill>
                  <a:srgbClr val="373E46"/>
                </a:solidFill>
                <a:effectLst/>
                <a:latin typeface="ars-maquette-web"/>
              </a:rPr>
              <a:t> Pioneering the Hostess Group Demonstrations in order to tap into the power of women’s social networks for personalized demonstrations of bed and bath linen products.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TextBox 71">
            <a:extLst>
              <a:ext uri="{FF2B5EF4-FFF2-40B4-BE49-F238E27FC236}">
                <a16:creationId xmlns:a16="http://schemas.microsoft.com/office/drawing/2014/main" id="{4C9778EC-DC82-B035-D0B1-77DEB98DF85C}"/>
              </a:ext>
            </a:extLst>
          </p:cNvPr>
          <p:cNvSpPr txBox="1"/>
          <p:nvPr/>
        </p:nvSpPr>
        <p:spPr>
          <a:xfrm>
            <a:off x="8462355" y="2892025"/>
            <a:ext cx="3033327" cy="796826"/>
          </a:xfrm>
          <a:prstGeom prst="rect">
            <a:avLst/>
          </a:prstGeom>
          <a:noFill/>
          <a:ln w="19050">
            <a:solidFill>
              <a:schemeClr val="accent4"/>
            </a:solidFill>
            <a:prstDash val="dash"/>
          </a:ln>
        </p:spPr>
        <p:txBody>
          <a:bodyPr wrap="square" lIns="36000" tIns="54000" rIns="36000" bIns="3600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Rationale</a:t>
            </a:r>
            <a:r>
              <a:rPr lang="en-US" sz="1200" dirty="0">
                <a:solidFill>
                  <a:schemeClr val="bg1"/>
                </a:solidFill>
              </a:rPr>
              <a:t>: </a:t>
            </a:r>
            <a:r>
              <a:rPr lang="en-US" sz="1200" b="0" i="0" dirty="0">
                <a:solidFill>
                  <a:srgbClr val="373E46"/>
                </a:solidFill>
                <a:effectLst/>
                <a:latin typeface="ars-maquette-web"/>
              </a:rPr>
              <a:t> Expanding reach and building trust in Tier 2 cities is a little tricky in India. Here, we are empowering women to become independent ABC dealers.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2" name="Picture 6" descr="GEM Global Entrepreneurship Monitor">
            <a:extLst>
              <a:ext uri="{FF2B5EF4-FFF2-40B4-BE49-F238E27FC236}">
                <a16:creationId xmlns:a16="http://schemas.microsoft.com/office/drawing/2014/main" id="{49E8BF4D-5F92-BF35-CD73-69B6CEB08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9706" y="1439009"/>
            <a:ext cx="970011" cy="1293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Graphic 12" descr="Ribbon">
            <a:extLst>
              <a:ext uri="{FF2B5EF4-FFF2-40B4-BE49-F238E27FC236}">
                <a16:creationId xmlns:a16="http://schemas.microsoft.com/office/drawing/2014/main" id="{2E419C94-4B90-BDC6-CFDC-81067D819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3008" y="460654"/>
            <a:ext cx="936861" cy="914400"/>
          </a:xfrm>
          <a:prstGeom prst="rect">
            <a:avLst/>
          </a:prstGeom>
        </p:spPr>
      </p:pic>
      <p:pic>
        <p:nvPicPr>
          <p:cNvPr id="14" name="Graphic 13" descr="Ribbon">
            <a:extLst>
              <a:ext uri="{FF2B5EF4-FFF2-40B4-BE49-F238E27FC236}">
                <a16:creationId xmlns:a16="http://schemas.microsoft.com/office/drawing/2014/main" id="{B0EC542F-42F1-7EBA-68F4-DBC07AFCB7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3754" y="496804"/>
            <a:ext cx="936861" cy="914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F1AD9D2-07F5-4572-135E-61BAC7E286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3711" y="1237500"/>
            <a:ext cx="1120702" cy="1527502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23036143-431B-713D-DB41-F0660FA0E579}"/>
              </a:ext>
            </a:extLst>
          </p:cNvPr>
          <p:cNvGrpSpPr/>
          <p:nvPr/>
        </p:nvGrpSpPr>
        <p:grpSpPr>
          <a:xfrm>
            <a:off x="0" y="142951"/>
            <a:ext cx="12192000" cy="378144"/>
            <a:chOff x="522892" y="124260"/>
            <a:chExt cx="10996651" cy="378144"/>
          </a:xfrm>
        </p:grpSpPr>
        <p:sp>
          <p:nvSpPr>
            <p:cNvPr id="17" name="Arrow: Chevron 3">
              <a:extLst>
                <a:ext uri="{FF2B5EF4-FFF2-40B4-BE49-F238E27FC236}">
                  <a16:creationId xmlns:a16="http://schemas.microsoft.com/office/drawing/2014/main" id="{9A917CA6-9AC9-E505-B7F8-78DE1B0A9327}"/>
                </a:ext>
              </a:extLst>
            </p:cNvPr>
            <p:cNvSpPr/>
            <p:nvPr/>
          </p:nvSpPr>
          <p:spPr>
            <a:xfrm>
              <a:off x="522892" y="143574"/>
              <a:ext cx="1855565" cy="35083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Addressable Ecommerce Market</a:t>
              </a:r>
            </a:p>
          </p:txBody>
        </p:sp>
        <p:sp>
          <p:nvSpPr>
            <p:cNvPr id="18" name="Arrow: Chevron 5">
              <a:extLst>
                <a:ext uri="{FF2B5EF4-FFF2-40B4-BE49-F238E27FC236}">
                  <a16:creationId xmlns:a16="http://schemas.microsoft.com/office/drawing/2014/main" id="{5C5E3C33-B35E-E0E5-D8B9-D5F510AAA5DE}"/>
                </a:ext>
              </a:extLst>
            </p:cNvPr>
            <p:cNvSpPr/>
            <p:nvPr/>
          </p:nvSpPr>
          <p:spPr>
            <a:xfrm>
              <a:off x="2291973" y="151322"/>
              <a:ext cx="1955142" cy="35083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Segmentation &amp; Cluster Analysis</a:t>
              </a:r>
            </a:p>
          </p:txBody>
        </p:sp>
        <p:sp>
          <p:nvSpPr>
            <p:cNvPr id="19" name="Arrow: Chevron 6">
              <a:extLst>
                <a:ext uri="{FF2B5EF4-FFF2-40B4-BE49-F238E27FC236}">
                  <a16:creationId xmlns:a16="http://schemas.microsoft.com/office/drawing/2014/main" id="{EFDB892E-92B4-C3A6-EC70-2AD76CE68DB1}"/>
                </a:ext>
              </a:extLst>
            </p:cNvPr>
            <p:cNvSpPr/>
            <p:nvPr/>
          </p:nvSpPr>
          <p:spPr>
            <a:xfrm>
              <a:off x="4140858" y="135602"/>
              <a:ext cx="1955142" cy="36655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Competitor Benchmarking</a:t>
              </a:r>
            </a:p>
          </p:txBody>
        </p:sp>
        <p:sp>
          <p:nvSpPr>
            <p:cNvPr id="20" name="Arrow: Chevron 7">
              <a:extLst>
                <a:ext uri="{FF2B5EF4-FFF2-40B4-BE49-F238E27FC236}">
                  <a16:creationId xmlns:a16="http://schemas.microsoft.com/office/drawing/2014/main" id="{84986969-E93A-504E-C3D1-D4368D55B901}"/>
                </a:ext>
              </a:extLst>
            </p:cNvPr>
            <p:cNvSpPr/>
            <p:nvPr/>
          </p:nvSpPr>
          <p:spPr>
            <a:xfrm>
              <a:off x="6027274" y="134750"/>
              <a:ext cx="1954629" cy="36765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Channel Strategy &amp; Portfolio Strategy</a:t>
              </a:r>
            </a:p>
          </p:txBody>
        </p:sp>
        <p:sp>
          <p:nvSpPr>
            <p:cNvPr id="21" name="Arrow: Chevron 8">
              <a:extLst>
                <a:ext uri="{FF2B5EF4-FFF2-40B4-BE49-F238E27FC236}">
                  <a16:creationId xmlns:a16="http://schemas.microsoft.com/office/drawing/2014/main" id="{60B8315B-9A74-3BCE-689D-B588091CC99C}"/>
                </a:ext>
              </a:extLst>
            </p:cNvPr>
            <p:cNvSpPr/>
            <p:nvPr/>
          </p:nvSpPr>
          <p:spPr>
            <a:xfrm>
              <a:off x="7876159" y="131844"/>
              <a:ext cx="1813329" cy="370311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Digital Marketing Mix</a:t>
              </a:r>
            </a:p>
          </p:txBody>
        </p:sp>
        <p:sp>
          <p:nvSpPr>
            <p:cNvPr id="22" name="Arrow: Chevron 11">
              <a:extLst>
                <a:ext uri="{FF2B5EF4-FFF2-40B4-BE49-F238E27FC236}">
                  <a16:creationId xmlns:a16="http://schemas.microsoft.com/office/drawing/2014/main" id="{79C2CAEB-1E0A-6D87-373C-C14F4B1B1090}"/>
                </a:ext>
              </a:extLst>
            </p:cNvPr>
            <p:cNvSpPr/>
            <p:nvPr/>
          </p:nvSpPr>
          <p:spPr>
            <a:xfrm>
              <a:off x="9584173" y="124260"/>
              <a:ext cx="1935370" cy="359680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Campaigns &amp; Feasibility Analysis</a:t>
              </a:r>
            </a:p>
          </p:txBody>
        </p:sp>
      </p:grp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CA48A07C-200B-9EB1-6147-B34D10F8CE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0553215"/>
              </p:ext>
            </p:extLst>
          </p:nvPr>
        </p:nvGraphicFramePr>
        <p:xfrm>
          <a:off x="8993529" y="3923321"/>
          <a:ext cx="2782320" cy="23656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69E501BB-78B2-A477-99A2-AA43DE144104}"/>
              </a:ext>
            </a:extLst>
          </p:cNvPr>
          <p:cNvSpPr txBox="1"/>
          <p:nvPr/>
        </p:nvSpPr>
        <p:spPr>
          <a:xfrm>
            <a:off x="4002493" y="3712001"/>
            <a:ext cx="3522312" cy="23447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1200" b="1" noProof="0" dirty="0">
                <a:solidFill>
                  <a:schemeClr val="bg1"/>
                </a:solidFill>
              </a:rPr>
              <a:t>Feasibility Analysis</a:t>
            </a:r>
          </a:p>
        </p:txBody>
      </p:sp>
    </p:spTree>
    <p:extLst>
      <p:ext uri="{BB962C8B-B14F-4D97-AF65-F5344CB8AC3E}">
        <p14:creationId xmlns:p14="http://schemas.microsoft.com/office/powerpoint/2010/main" val="206374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ED133C0-C2BB-4004-9C70-EA103922D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630" y="779437"/>
            <a:ext cx="10906125" cy="344710"/>
          </a:xfrm>
        </p:spPr>
        <p:txBody>
          <a:bodyPr/>
          <a:lstStyle/>
          <a:p>
            <a:r>
              <a:rPr lang="en-IN" sz="2800" dirty="0"/>
              <a:t>Addressable Ecommerce Market Size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39069CE-9684-B11F-06F1-229C8F7243B9}"/>
              </a:ext>
            </a:extLst>
          </p:cNvPr>
          <p:cNvGrpSpPr/>
          <p:nvPr/>
        </p:nvGrpSpPr>
        <p:grpSpPr>
          <a:xfrm>
            <a:off x="642934" y="1794953"/>
            <a:ext cx="6052113" cy="1666217"/>
            <a:chOff x="503964" y="1628189"/>
            <a:chExt cx="6052113" cy="2683457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D2AB5073-D959-DFD2-A7D7-9F2E631624BD}"/>
                </a:ext>
              </a:extLst>
            </p:cNvPr>
            <p:cNvSpPr/>
            <p:nvPr/>
          </p:nvSpPr>
          <p:spPr>
            <a:xfrm>
              <a:off x="503964" y="2723048"/>
              <a:ext cx="2009955" cy="608289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/>
                <a:t>Home Textile Market Size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0898F52-29EA-AF0B-C8CA-8E848DBA731B}"/>
                </a:ext>
              </a:extLst>
            </p:cNvPr>
            <p:cNvSpPr/>
            <p:nvPr/>
          </p:nvSpPr>
          <p:spPr>
            <a:xfrm>
              <a:off x="3066894" y="1628189"/>
              <a:ext cx="1539296" cy="7267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/>
                <a:t>Supermarkets &amp; Hypermarkets 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79991C2-FBD8-67A5-EF6A-63138A64297C}"/>
                </a:ext>
              </a:extLst>
            </p:cNvPr>
            <p:cNvSpPr/>
            <p:nvPr/>
          </p:nvSpPr>
          <p:spPr>
            <a:xfrm>
              <a:off x="5296625" y="1630716"/>
              <a:ext cx="1242199" cy="568068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/>
                <a:t>Bedsheets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8331F7AC-57CD-85B2-A298-D1842F3170DF}"/>
                </a:ext>
              </a:extLst>
            </p:cNvPr>
            <p:cNvSpPr/>
            <p:nvPr/>
          </p:nvSpPr>
          <p:spPr>
            <a:xfrm>
              <a:off x="5267484" y="2730408"/>
              <a:ext cx="1276706" cy="433351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/>
                <a:t>Towels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4E8A485E-12B2-7850-963D-3BB1085A3C43}"/>
                </a:ext>
              </a:extLst>
            </p:cNvPr>
            <p:cNvSpPr/>
            <p:nvPr/>
          </p:nvSpPr>
          <p:spPr>
            <a:xfrm>
              <a:off x="5279370" y="3601370"/>
              <a:ext cx="1276707" cy="496589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/>
                <a:t> Top of Bed </a:t>
              </a: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999DDFB-D3EC-3A52-DF2F-E5BC29204F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91572" y="2271688"/>
              <a:ext cx="350819" cy="58947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35FAC1D-84FA-2940-4370-0C05AC337C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29300" y="2178107"/>
              <a:ext cx="593103" cy="741789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AF670AF-AC56-5E8C-32A0-F36EE415BE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36854" y="3041714"/>
              <a:ext cx="540591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BCFB945A-AC21-A339-2AF8-AB3127CA7B0E}"/>
                </a:ext>
              </a:extLst>
            </p:cNvPr>
            <p:cNvSpPr/>
            <p:nvPr/>
          </p:nvSpPr>
          <p:spPr>
            <a:xfrm>
              <a:off x="3034400" y="2769611"/>
              <a:ext cx="1311215" cy="433351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/>
                <a:t>Online</a:t>
              </a: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10EE654B-190F-D2D5-77DB-40A22CDD0C22}"/>
                </a:ext>
              </a:extLst>
            </p:cNvPr>
            <p:cNvSpPr/>
            <p:nvPr/>
          </p:nvSpPr>
          <p:spPr>
            <a:xfrm>
              <a:off x="3044562" y="3686527"/>
              <a:ext cx="1311215" cy="625119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/>
                <a:t>Speciality Stores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97E4E83-54DB-7965-AB65-6AFB9CFA3D02}"/>
                </a:ext>
              </a:extLst>
            </p:cNvPr>
            <p:cNvCxnSpPr/>
            <p:nvPr/>
          </p:nvCxnSpPr>
          <p:spPr>
            <a:xfrm flipH="1">
              <a:off x="2591572" y="3001223"/>
              <a:ext cx="345057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FFD6052-C8FA-385F-8095-A5BC9F31B7D7}"/>
                </a:ext>
              </a:extLst>
            </p:cNvPr>
            <p:cNvCxnSpPr>
              <a:cxnSpLocks/>
            </p:cNvCxnSpPr>
            <p:nvPr/>
          </p:nvCxnSpPr>
          <p:spPr>
            <a:xfrm>
              <a:off x="2585832" y="3249750"/>
              <a:ext cx="356536" cy="58947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BD1534B-F4A5-0E24-4052-FCCB9122A03E}"/>
                </a:ext>
              </a:extLst>
            </p:cNvPr>
            <p:cNvCxnSpPr>
              <a:cxnSpLocks/>
            </p:cNvCxnSpPr>
            <p:nvPr/>
          </p:nvCxnSpPr>
          <p:spPr>
            <a:xfrm>
              <a:off x="4535396" y="3156871"/>
              <a:ext cx="552469" cy="621056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F9B15DAC-335D-787E-E9C9-412679E4E662}"/>
              </a:ext>
            </a:extLst>
          </p:cNvPr>
          <p:cNvSpPr/>
          <p:nvPr/>
        </p:nvSpPr>
        <p:spPr>
          <a:xfrm>
            <a:off x="2568426" y="1263984"/>
            <a:ext cx="2796715" cy="4217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 dirty="0"/>
              <a:t>Total Addressable Market (By Category)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AECE792-1DB3-A677-5D23-2B24AF32DB0C}"/>
              </a:ext>
            </a:extLst>
          </p:cNvPr>
          <p:cNvCxnSpPr>
            <a:cxnSpLocks/>
          </p:cNvCxnSpPr>
          <p:nvPr/>
        </p:nvCxnSpPr>
        <p:spPr>
          <a:xfrm flipV="1">
            <a:off x="7362825" y="723874"/>
            <a:ext cx="0" cy="5648325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C8D9A485-A8C1-0FA2-C687-4C2FBCAB6716}"/>
              </a:ext>
            </a:extLst>
          </p:cNvPr>
          <p:cNvCxnSpPr>
            <a:cxnSpLocks/>
          </p:cNvCxnSpPr>
          <p:nvPr/>
        </p:nvCxnSpPr>
        <p:spPr>
          <a:xfrm>
            <a:off x="489642" y="3581400"/>
            <a:ext cx="6744876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D027A5FA-3EA1-E3DD-2584-4EC67D963C72}"/>
              </a:ext>
            </a:extLst>
          </p:cNvPr>
          <p:cNvSpPr/>
          <p:nvPr/>
        </p:nvSpPr>
        <p:spPr>
          <a:xfrm>
            <a:off x="638903" y="3670465"/>
            <a:ext cx="2540440" cy="377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 dirty="0"/>
              <a:t>Serviceable Addressable Market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B267D66-9A0F-F1EF-C1F3-08448828509E}"/>
              </a:ext>
            </a:extLst>
          </p:cNvPr>
          <p:cNvGrpSpPr/>
          <p:nvPr/>
        </p:nvGrpSpPr>
        <p:grpSpPr>
          <a:xfrm>
            <a:off x="8357757" y="2971359"/>
            <a:ext cx="2578360" cy="1840760"/>
            <a:chOff x="7371869" y="3595211"/>
            <a:chExt cx="2910840" cy="2987623"/>
          </a:xfrm>
        </p:grpSpPr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F9A817EE-7576-7DAC-1FDA-2934E5F12834}"/>
                </a:ext>
              </a:extLst>
            </p:cNvPr>
            <p:cNvGrpSpPr/>
            <p:nvPr/>
          </p:nvGrpSpPr>
          <p:grpSpPr>
            <a:xfrm>
              <a:off x="7371869" y="3646627"/>
              <a:ext cx="2910840" cy="2936207"/>
              <a:chOff x="7371869" y="3646627"/>
              <a:chExt cx="2910840" cy="2936207"/>
            </a:xfrm>
          </p:grpSpPr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E28BBE9A-8B9E-9C18-BA79-D25CE857C6BA}"/>
                  </a:ext>
                </a:extLst>
              </p:cNvPr>
              <p:cNvSpPr/>
              <p:nvPr/>
            </p:nvSpPr>
            <p:spPr>
              <a:xfrm>
                <a:off x="7371869" y="3646627"/>
                <a:ext cx="2910840" cy="2936207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1C729522-28BF-3E82-F17F-2D4ACFB0C1C1}"/>
                  </a:ext>
                </a:extLst>
              </p:cNvPr>
              <p:cNvSpPr/>
              <p:nvPr/>
            </p:nvSpPr>
            <p:spPr>
              <a:xfrm>
                <a:off x="7655639" y="4247823"/>
                <a:ext cx="2303700" cy="2331721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896DDCE6-757B-1CF0-DB1F-CF72C5003296}"/>
                  </a:ext>
                </a:extLst>
              </p:cNvPr>
              <p:cNvSpPr/>
              <p:nvPr/>
            </p:nvSpPr>
            <p:spPr>
              <a:xfrm>
                <a:off x="7869693" y="4922232"/>
                <a:ext cx="1899132" cy="164669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FF093EB-9C20-CCFC-BE02-6A0F4A6800DB}"/>
                </a:ext>
              </a:extLst>
            </p:cNvPr>
            <p:cNvSpPr txBox="1"/>
            <p:nvPr/>
          </p:nvSpPr>
          <p:spPr>
            <a:xfrm>
              <a:off x="8209962" y="3595211"/>
              <a:ext cx="1234655" cy="749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TAM</a:t>
              </a:r>
            </a:p>
            <a:p>
              <a:pPr algn="ctr"/>
              <a:r>
                <a:rPr lang="en-IN" sz="1200" dirty="0">
                  <a:latin typeface="Arial" panose="020B0604020202020204" pitchFamily="34" charset="0"/>
                  <a:cs typeface="Arial" panose="020B0604020202020204" pitchFamily="34" charset="0"/>
                </a:rPr>
                <a:t>$ 0.49Bn 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F07B0EB-CEFE-9014-71E1-04C711EAAF96}"/>
                </a:ext>
              </a:extLst>
            </p:cNvPr>
            <p:cNvSpPr txBox="1"/>
            <p:nvPr/>
          </p:nvSpPr>
          <p:spPr>
            <a:xfrm>
              <a:off x="8036401" y="4223632"/>
              <a:ext cx="1613216" cy="749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SAM</a:t>
              </a:r>
            </a:p>
            <a:p>
              <a:pPr algn="ctr"/>
              <a:r>
                <a:rPr lang="en-IN" sz="1200" dirty="0">
                  <a:latin typeface="Arial" panose="020B0604020202020204" pitchFamily="34" charset="0"/>
                  <a:cs typeface="Arial" panose="020B0604020202020204" pitchFamily="34" charset="0"/>
                </a:rPr>
                <a:t> $ 0.31Bn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39E8C376-2A3B-600D-D65F-BD1C3C5591AB}"/>
                </a:ext>
              </a:extLst>
            </p:cNvPr>
            <p:cNvSpPr txBox="1"/>
            <p:nvPr/>
          </p:nvSpPr>
          <p:spPr>
            <a:xfrm>
              <a:off x="8225397" y="5057048"/>
              <a:ext cx="1221617" cy="749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SOM</a:t>
              </a:r>
            </a:p>
            <a:p>
              <a:pPr algn="ctr"/>
              <a:r>
                <a:rPr lang="en-IN" sz="1200" dirty="0">
                  <a:latin typeface="Arial" panose="020B0604020202020204" pitchFamily="34" charset="0"/>
                  <a:cs typeface="Arial" panose="020B0604020202020204" pitchFamily="34" charset="0"/>
                </a:rPr>
                <a:t>$ 0.05Bn</a:t>
              </a:r>
            </a:p>
          </p:txBody>
        </p: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58958EC7-A1E3-E31D-6870-DFEF9D40E2A7}"/>
              </a:ext>
            </a:extLst>
          </p:cNvPr>
          <p:cNvSpPr txBox="1"/>
          <p:nvPr/>
        </p:nvSpPr>
        <p:spPr>
          <a:xfrm>
            <a:off x="1370426" y="2876814"/>
            <a:ext cx="542839" cy="20633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$7 Bn</a:t>
            </a:r>
            <a:endParaRPr lang="en-IN" sz="1200" noProof="0" dirty="0">
              <a:solidFill>
                <a:schemeClr val="bg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A8AD03C-8863-34D8-3083-5E2C0DD80AEF}"/>
              </a:ext>
            </a:extLst>
          </p:cNvPr>
          <p:cNvSpPr txBox="1"/>
          <p:nvPr/>
        </p:nvSpPr>
        <p:spPr>
          <a:xfrm>
            <a:off x="2859401" y="2460914"/>
            <a:ext cx="228821" cy="16064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>
                <a:solidFill>
                  <a:schemeClr val="bg1"/>
                </a:solidFill>
              </a:rPr>
              <a:t>7%</a:t>
            </a:r>
            <a:endParaRPr lang="en-IN" sz="1200" noProof="0">
              <a:solidFill>
                <a:schemeClr val="bg1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B779B41-C875-7775-769F-844CE2F004B4}"/>
              </a:ext>
            </a:extLst>
          </p:cNvPr>
          <p:cNvSpPr txBox="1"/>
          <p:nvPr/>
        </p:nvSpPr>
        <p:spPr>
          <a:xfrm>
            <a:off x="3486014" y="2800986"/>
            <a:ext cx="1024516" cy="2293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$0.49 Bn</a:t>
            </a:r>
          </a:p>
          <a:p>
            <a:pPr algn="l" defTabSz="228600">
              <a:spcAft>
                <a:spcPts val="1200"/>
              </a:spcAft>
            </a:pPr>
            <a:endParaRPr lang="en-IN" sz="1200" noProof="0" dirty="0">
              <a:solidFill>
                <a:schemeClr val="bg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9D2730C-EFE4-4D83-90A0-5B8909623FF9}"/>
              </a:ext>
            </a:extLst>
          </p:cNvPr>
          <p:cNvSpPr txBox="1"/>
          <p:nvPr/>
        </p:nvSpPr>
        <p:spPr>
          <a:xfrm>
            <a:off x="4866115" y="2071190"/>
            <a:ext cx="637801" cy="1882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>
                <a:solidFill>
                  <a:schemeClr val="bg1"/>
                </a:solidFill>
              </a:rPr>
              <a:t>45%</a:t>
            </a:r>
          </a:p>
          <a:p>
            <a:pPr algn="l" defTabSz="228600">
              <a:spcAft>
                <a:spcPts val="1200"/>
              </a:spcAft>
            </a:pPr>
            <a:endParaRPr lang="en-IN" sz="1200" noProof="0">
              <a:solidFill>
                <a:schemeClr val="bg1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EB5DDE7-091F-8632-E3CE-D0D309D156DC}"/>
              </a:ext>
            </a:extLst>
          </p:cNvPr>
          <p:cNvSpPr txBox="1"/>
          <p:nvPr/>
        </p:nvSpPr>
        <p:spPr>
          <a:xfrm>
            <a:off x="4866115" y="2490836"/>
            <a:ext cx="637801" cy="1882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>
                <a:solidFill>
                  <a:schemeClr val="bg1"/>
                </a:solidFill>
              </a:rPr>
              <a:t>15%</a:t>
            </a:r>
          </a:p>
          <a:p>
            <a:pPr algn="l" defTabSz="228600">
              <a:spcAft>
                <a:spcPts val="1200"/>
              </a:spcAft>
            </a:pPr>
            <a:endParaRPr lang="en-IN" sz="1200" noProof="0">
              <a:solidFill>
                <a:schemeClr val="bg1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73165AB-67A5-F778-C64D-0D271EE1738D}"/>
              </a:ext>
            </a:extLst>
          </p:cNvPr>
          <p:cNvSpPr txBox="1"/>
          <p:nvPr/>
        </p:nvSpPr>
        <p:spPr>
          <a:xfrm>
            <a:off x="4858919" y="2760115"/>
            <a:ext cx="566491" cy="1688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IN" sz="1200">
              <a:solidFill>
                <a:schemeClr val="bg1"/>
              </a:solidFill>
            </a:endParaRPr>
          </a:p>
          <a:p>
            <a:pPr algn="l" defTabSz="228600">
              <a:spcAft>
                <a:spcPts val="1200"/>
              </a:spcAft>
            </a:pPr>
            <a:r>
              <a:rPr lang="en-IN" sz="1200" noProof="0">
                <a:solidFill>
                  <a:schemeClr val="bg1"/>
                </a:solidFill>
              </a:rPr>
              <a:t>20%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E301CAA-CA13-9AB7-8617-112457B9F6D3}"/>
              </a:ext>
            </a:extLst>
          </p:cNvPr>
          <p:cNvSpPr txBox="1"/>
          <p:nvPr/>
        </p:nvSpPr>
        <p:spPr>
          <a:xfrm>
            <a:off x="5703353" y="2183932"/>
            <a:ext cx="1024516" cy="2293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$0.22 Bn</a:t>
            </a:r>
          </a:p>
          <a:p>
            <a:pPr algn="l" defTabSz="228600">
              <a:spcAft>
                <a:spcPts val="1200"/>
              </a:spcAft>
            </a:pPr>
            <a:endParaRPr lang="en-IN" sz="1200" noProof="0" dirty="0">
              <a:solidFill>
                <a:schemeClr val="bg1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FA8A23B-29CE-0297-62AB-D780A844D76F}"/>
              </a:ext>
            </a:extLst>
          </p:cNvPr>
          <p:cNvSpPr txBox="1"/>
          <p:nvPr/>
        </p:nvSpPr>
        <p:spPr>
          <a:xfrm>
            <a:off x="5663141" y="2755482"/>
            <a:ext cx="1024516" cy="2293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$0.075 Bn</a:t>
            </a:r>
          </a:p>
          <a:p>
            <a:pPr algn="l" defTabSz="228600">
              <a:spcAft>
                <a:spcPts val="1200"/>
              </a:spcAft>
            </a:pPr>
            <a:endParaRPr lang="en-IN" sz="1200" noProof="0" dirty="0">
              <a:solidFill>
                <a:schemeClr val="bg1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F28EBBF-5366-2878-0016-B5DE9B541744}"/>
              </a:ext>
            </a:extLst>
          </p:cNvPr>
          <p:cNvSpPr txBox="1"/>
          <p:nvPr/>
        </p:nvSpPr>
        <p:spPr>
          <a:xfrm>
            <a:off x="5703353" y="3345307"/>
            <a:ext cx="1024516" cy="2293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$0.10 Bn</a:t>
            </a:r>
          </a:p>
          <a:p>
            <a:pPr algn="l" defTabSz="228600">
              <a:spcAft>
                <a:spcPts val="1200"/>
              </a:spcAft>
            </a:pPr>
            <a:endParaRPr lang="en-IN" sz="1200" noProof="0" dirty="0">
              <a:solidFill>
                <a:schemeClr val="bg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5B6542D-C672-95E1-FA7D-D42273C7F5EA}"/>
              </a:ext>
            </a:extLst>
          </p:cNvPr>
          <p:cNvGrpSpPr/>
          <p:nvPr/>
        </p:nvGrpSpPr>
        <p:grpSpPr>
          <a:xfrm>
            <a:off x="470333" y="4489662"/>
            <a:ext cx="2817028" cy="908130"/>
            <a:chOff x="-1573847" y="1815418"/>
            <a:chExt cx="2817028" cy="90813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DF548861-ABA6-DF35-3044-2258514BE1DF}"/>
                </a:ext>
              </a:extLst>
            </p:cNvPr>
            <p:cNvSpPr/>
            <p:nvPr/>
          </p:nvSpPr>
          <p:spPr>
            <a:xfrm>
              <a:off x="-1573847" y="2317363"/>
              <a:ext cx="955528" cy="40618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/>
                <a:t>Tier 1/ Metro 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5616E88-2171-F4F2-0005-E6D26FB9AC1A}"/>
                </a:ext>
              </a:extLst>
            </p:cNvPr>
            <p:cNvCxnSpPr>
              <a:cxnSpLocks/>
              <a:endCxn id="50" idx="0"/>
            </p:cNvCxnSpPr>
            <p:nvPr/>
          </p:nvCxnSpPr>
          <p:spPr>
            <a:xfrm flipH="1">
              <a:off x="-584289" y="1815418"/>
              <a:ext cx="329185" cy="24898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9FB6CAF-75BE-B02C-480E-68A8C68545E4}"/>
                </a:ext>
              </a:extLst>
            </p:cNvPr>
            <p:cNvSpPr/>
            <p:nvPr/>
          </p:nvSpPr>
          <p:spPr>
            <a:xfrm>
              <a:off x="-496512" y="2317363"/>
              <a:ext cx="691746" cy="40618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/>
                <a:t>Tier 2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E22642E-B919-92A7-9D5D-0220F803D260}"/>
                </a:ext>
              </a:extLst>
            </p:cNvPr>
            <p:cNvSpPr/>
            <p:nvPr/>
          </p:nvSpPr>
          <p:spPr>
            <a:xfrm>
              <a:off x="471687" y="2321683"/>
              <a:ext cx="771494" cy="366017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/>
                <a:t>Tier 3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A2C9338-CBC8-69A3-CD56-AD4DCCE7A0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77862" y="1843908"/>
              <a:ext cx="0" cy="17312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4EBC202-5AE9-EF22-68CD-B6C1AE04A4D1}"/>
                </a:ext>
              </a:extLst>
            </p:cNvPr>
            <p:cNvCxnSpPr>
              <a:cxnSpLocks/>
            </p:cNvCxnSpPr>
            <p:nvPr/>
          </p:nvCxnSpPr>
          <p:spPr>
            <a:xfrm>
              <a:off x="-121609" y="1829904"/>
              <a:ext cx="374312" cy="30112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6B7511B-E3A0-E8FC-C101-5635CEB789C3}"/>
              </a:ext>
            </a:extLst>
          </p:cNvPr>
          <p:cNvSpPr/>
          <p:nvPr/>
        </p:nvSpPr>
        <p:spPr>
          <a:xfrm>
            <a:off x="874010" y="4112472"/>
            <a:ext cx="2009955" cy="343365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 dirty="0"/>
              <a:t>Total Addressable Market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116385-0697-D08A-88CC-644812B7787C}"/>
              </a:ext>
            </a:extLst>
          </p:cNvPr>
          <p:cNvSpPr txBox="1"/>
          <p:nvPr/>
        </p:nvSpPr>
        <p:spPr>
          <a:xfrm>
            <a:off x="3002912" y="4174691"/>
            <a:ext cx="1024516" cy="2293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$0.49 Bn</a:t>
            </a:r>
          </a:p>
          <a:p>
            <a:pPr algn="l" defTabSz="228600">
              <a:spcAft>
                <a:spcPts val="1200"/>
              </a:spcAft>
            </a:pPr>
            <a:endParaRPr lang="en-IN" sz="1200" noProof="0" dirty="0">
              <a:solidFill>
                <a:schemeClr val="bg1"/>
              </a:solidFill>
            </a:endParaRPr>
          </a:p>
        </p:txBody>
      </p:sp>
      <p:graphicFrame>
        <p:nvGraphicFramePr>
          <p:cNvPr id="36" name="Chart 35">
            <a:extLst>
              <a:ext uri="{FF2B5EF4-FFF2-40B4-BE49-F238E27FC236}">
                <a16:creationId xmlns:a16="http://schemas.microsoft.com/office/drawing/2014/main" id="{565606D5-3910-11D5-558F-49A034D811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0098865"/>
              </p:ext>
            </p:extLst>
          </p:nvPr>
        </p:nvGraphicFramePr>
        <p:xfrm>
          <a:off x="7981908" y="808092"/>
          <a:ext cx="3406892" cy="19473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A6C9335-DB44-49ED-984E-7C0E004042EB}"/>
              </a:ext>
            </a:extLst>
          </p:cNvPr>
          <p:cNvCxnSpPr>
            <a:cxnSpLocks/>
          </p:cNvCxnSpPr>
          <p:nvPr/>
        </p:nvCxnSpPr>
        <p:spPr>
          <a:xfrm flipV="1">
            <a:off x="3782130" y="3692515"/>
            <a:ext cx="7404" cy="2480148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71885F4D-5309-F095-853A-59A58B11E9A1}"/>
              </a:ext>
            </a:extLst>
          </p:cNvPr>
          <p:cNvSpPr txBox="1"/>
          <p:nvPr/>
        </p:nvSpPr>
        <p:spPr>
          <a:xfrm>
            <a:off x="1140990" y="4738650"/>
            <a:ext cx="637801" cy="1882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>
                <a:solidFill>
                  <a:schemeClr val="bg1"/>
                </a:solidFill>
              </a:rPr>
              <a:t>22%</a:t>
            </a:r>
          </a:p>
          <a:p>
            <a:pPr algn="l" defTabSz="228600">
              <a:spcAft>
                <a:spcPts val="1200"/>
              </a:spcAft>
            </a:pPr>
            <a:endParaRPr lang="en-IN" sz="1200" noProof="0">
              <a:solidFill>
                <a:schemeClr val="bg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1B3F157-53F4-075D-3CFE-CF60FBE551BE}"/>
              </a:ext>
            </a:extLst>
          </p:cNvPr>
          <p:cNvSpPr txBox="1"/>
          <p:nvPr/>
        </p:nvSpPr>
        <p:spPr>
          <a:xfrm>
            <a:off x="1716341" y="4739911"/>
            <a:ext cx="329185" cy="1839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40%</a:t>
            </a:r>
          </a:p>
          <a:p>
            <a:pPr algn="l" defTabSz="228600">
              <a:spcAft>
                <a:spcPts val="1200"/>
              </a:spcAft>
            </a:pPr>
            <a:endParaRPr lang="en-IN" sz="1200" noProof="0" dirty="0">
              <a:solidFill>
                <a:schemeClr val="bg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59BF441-B084-727E-400A-F8EAC5391AAF}"/>
              </a:ext>
            </a:extLst>
          </p:cNvPr>
          <p:cNvSpPr txBox="1"/>
          <p:nvPr/>
        </p:nvSpPr>
        <p:spPr>
          <a:xfrm>
            <a:off x="2435820" y="4783150"/>
            <a:ext cx="637801" cy="1882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38%</a:t>
            </a:r>
          </a:p>
          <a:p>
            <a:pPr algn="l" defTabSz="228600">
              <a:spcAft>
                <a:spcPts val="1200"/>
              </a:spcAft>
            </a:pPr>
            <a:endParaRPr lang="en-IN" sz="1200" noProof="0" dirty="0">
              <a:solidFill>
                <a:schemeClr val="bg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7CE1EBB-0B6D-E47C-8367-C0F08432C345}"/>
              </a:ext>
            </a:extLst>
          </p:cNvPr>
          <p:cNvSpPr txBox="1"/>
          <p:nvPr/>
        </p:nvSpPr>
        <p:spPr>
          <a:xfrm>
            <a:off x="642934" y="5410920"/>
            <a:ext cx="735507" cy="1978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$0.11 Bn</a:t>
            </a:r>
          </a:p>
          <a:p>
            <a:pPr algn="l" defTabSz="228600">
              <a:spcAft>
                <a:spcPts val="1200"/>
              </a:spcAft>
            </a:pPr>
            <a:endParaRPr lang="en-IN" sz="1200" noProof="0" dirty="0">
              <a:solidFill>
                <a:schemeClr val="bg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84EA5D1-8925-CA2C-5EE5-1D2D39217E89}"/>
              </a:ext>
            </a:extLst>
          </p:cNvPr>
          <p:cNvSpPr txBox="1"/>
          <p:nvPr/>
        </p:nvSpPr>
        <p:spPr>
          <a:xfrm>
            <a:off x="1636270" y="5410920"/>
            <a:ext cx="735507" cy="1978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$0.20 Bn</a:t>
            </a:r>
          </a:p>
          <a:p>
            <a:pPr algn="l" defTabSz="228600">
              <a:spcAft>
                <a:spcPts val="1200"/>
              </a:spcAft>
            </a:pPr>
            <a:endParaRPr lang="en-IN" sz="1200" noProof="0" dirty="0">
              <a:solidFill>
                <a:schemeClr val="bg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4DC6FC9-BC2C-6A80-919E-D699E45F07A4}"/>
              </a:ext>
            </a:extLst>
          </p:cNvPr>
          <p:cNvSpPr txBox="1"/>
          <p:nvPr/>
        </p:nvSpPr>
        <p:spPr>
          <a:xfrm>
            <a:off x="2630944" y="5410920"/>
            <a:ext cx="735507" cy="1978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$0.18 Bn</a:t>
            </a:r>
          </a:p>
          <a:p>
            <a:pPr algn="l" defTabSz="228600">
              <a:spcAft>
                <a:spcPts val="1200"/>
              </a:spcAft>
            </a:pPr>
            <a:endParaRPr lang="en-IN" sz="1200" noProof="0" dirty="0">
              <a:solidFill>
                <a:schemeClr val="bg1"/>
              </a:solidFill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A3C3F98B-2BD9-CEE3-5671-6630D7125125}"/>
              </a:ext>
            </a:extLst>
          </p:cNvPr>
          <p:cNvSpPr/>
          <p:nvPr/>
        </p:nvSpPr>
        <p:spPr>
          <a:xfrm>
            <a:off x="786767" y="5802636"/>
            <a:ext cx="2291574" cy="30829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 dirty="0"/>
              <a:t>SAM = 0.11 + 0.20 = 0.31 Bn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7FCD896-8D70-C46E-25DC-9F46A7515DBD}"/>
              </a:ext>
            </a:extLst>
          </p:cNvPr>
          <p:cNvSpPr/>
          <p:nvPr/>
        </p:nvSpPr>
        <p:spPr>
          <a:xfrm>
            <a:off x="4368059" y="3718904"/>
            <a:ext cx="2615904" cy="4067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 dirty="0"/>
              <a:t>Serviceable Obtainable Market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58E7DC-4306-7ECC-2F11-9EEF495DEA94}"/>
              </a:ext>
            </a:extLst>
          </p:cNvPr>
          <p:cNvSpPr/>
          <p:nvPr/>
        </p:nvSpPr>
        <p:spPr>
          <a:xfrm>
            <a:off x="4318993" y="4334267"/>
            <a:ext cx="2718363" cy="4507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 dirty="0"/>
              <a:t>Current Share of ABC = 10%</a:t>
            </a:r>
          </a:p>
          <a:p>
            <a:pPr algn="ctr"/>
            <a:r>
              <a:rPr lang="en-IN" sz="1200" dirty="0"/>
              <a:t>(leading home textile player)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31A527A-40D2-66D2-51D4-ADBE18C9C20E}"/>
              </a:ext>
            </a:extLst>
          </p:cNvPr>
          <p:cNvSpPr/>
          <p:nvPr/>
        </p:nvSpPr>
        <p:spPr>
          <a:xfrm>
            <a:off x="4278139" y="4828484"/>
            <a:ext cx="2757657" cy="6506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 dirty="0"/>
              <a:t>Potential increase in share = 5%</a:t>
            </a:r>
          </a:p>
          <a:p>
            <a:pPr algn="ctr"/>
            <a:r>
              <a:rPr lang="en-IN" sz="1200" dirty="0"/>
              <a:t>(campaigns and ideal portfolio mix)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5630131-98F2-DDFA-AE6E-68BBA58C6ABB}"/>
              </a:ext>
            </a:extLst>
          </p:cNvPr>
          <p:cNvSpPr/>
          <p:nvPr/>
        </p:nvSpPr>
        <p:spPr>
          <a:xfrm>
            <a:off x="4386220" y="5799909"/>
            <a:ext cx="2291574" cy="30829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 dirty="0"/>
              <a:t>SOM = 0.15*0.31 = 0.05 Bn 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BA72617-FC16-6FEE-6EC2-9AE81787A07F}"/>
              </a:ext>
            </a:extLst>
          </p:cNvPr>
          <p:cNvCxnSpPr>
            <a:cxnSpLocks/>
          </p:cNvCxnSpPr>
          <p:nvPr/>
        </p:nvCxnSpPr>
        <p:spPr>
          <a:xfrm>
            <a:off x="7556873" y="2915657"/>
            <a:ext cx="4256962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A34A6086-C0F7-6CE6-0CB3-6A713DC4F515}"/>
              </a:ext>
            </a:extLst>
          </p:cNvPr>
          <p:cNvSpPr/>
          <p:nvPr/>
        </p:nvSpPr>
        <p:spPr>
          <a:xfrm>
            <a:off x="7527598" y="5167628"/>
            <a:ext cx="4168587" cy="10050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/>
              <a:t>Assumptions:</a:t>
            </a:r>
          </a:p>
          <a:p>
            <a:pPr marL="228600" indent="-228600">
              <a:buAutoNum type="arabicPeriod"/>
            </a:pPr>
            <a:r>
              <a:rPr lang="en-IN" sz="1200"/>
              <a:t>Current share of ABC is 10% as it is a leading player</a:t>
            </a:r>
          </a:p>
          <a:p>
            <a:pPr marL="228600" indent="-228600">
              <a:buAutoNum type="arabicPeriod"/>
            </a:pPr>
            <a:r>
              <a:rPr lang="en-IN" sz="1200"/>
              <a:t>People are willing to switch between brands and there is scope to gain market share</a:t>
            </a:r>
          </a:p>
          <a:p>
            <a:pPr marL="228600" indent="-228600">
              <a:buAutoNum type="arabicPeriod"/>
            </a:pPr>
            <a:r>
              <a:rPr lang="en-IN" sz="1200"/>
              <a:t>Only targeting tier 1 and 2 cities and ignoring tier 3 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37051C8-2AB7-98F8-ECAF-5336E87AE7D2}"/>
              </a:ext>
            </a:extLst>
          </p:cNvPr>
          <p:cNvCxnSpPr>
            <a:cxnSpLocks/>
          </p:cNvCxnSpPr>
          <p:nvPr/>
        </p:nvCxnSpPr>
        <p:spPr>
          <a:xfrm>
            <a:off x="7439223" y="4909383"/>
            <a:ext cx="4256962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B6442CD-4D87-671E-2BD2-125E231F5A70}"/>
              </a:ext>
            </a:extLst>
          </p:cNvPr>
          <p:cNvGrpSpPr/>
          <p:nvPr/>
        </p:nvGrpSpPr>
        <p:grpSpPr>
          <a:xfrm>
            <a:off x="0" y="142951"/>
            <a:ext cx="12192000" cy="378144"/>
            <a:chOff x="522892" y="124260"/>
            <a:chExt cx="10996651" cy="378144"/>
          </a:xfrm>
        </p:grpSpPr>
        <p:sp>
          <p:nvSpPr>
            <p:cNvPr id="27" name="Arrow: Chevron 3">
              <a:extLst>
                <a:ext uri="{FF2B5EF4-FFF2-40B4-BE49-F238E27FC236}">
                  <a16:creationId xmlns:a16="http://schemas.microsoft.com/office/drawing/2014/main" id="{156A7A39-961F-9DC5-49A5-A44202BD4D30}"/>
                </a:ext>
              </a:extLst>
            </p:cNvPr>
            <p:cNvSpPr/>
            <p:nvPr/>
          </p:nvSpPr>
          <p:spPr>
            <a:xfrm>
              <a:off x="522892" y="143574"/>
              <a:ext cx="1855565" cy="350834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Addressable Ecommerce Market</a:t>
              </a:r>
            </a:p>
          </p:txBody>
        </p:sp>
        <p:sp>
          <p:nvSpPr>
            <p:cNvPr id="28" name="Arrow: Chevron 5">
              <a:extLst>
                <a:ext uri="{FF2B5EF4-FFF2-40B4-BE49-F238E27FC236}">
                  <a16:creationId xmlns:a16="http://schemas.microsoft.com/office/drawing/2014/main" id="{1806727A-6CAA-999B-FFD6-9EB6CDE84050}"/>
                </a:ext>
              </a:extLst>
            </p:cNvPr>
            <p:cNvSpPr/>
            <p:nvPr/>
          </p:nvSpPr>
          <p:spPr>
            <a:xfrm>
              <a:off x="2291973" y="151322"/>
              <a:ext cx="1955142" cy="35083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Segmentation &amp; Cluster Analysis</a:t>
              </a:r>
            </a:p>
          </p:txBody>
        </p:sp>
        <p:sp>
          <p:nvSpPr>
            <p:cNvPr id="29" name="Arrow: Chevron 6">
              <a:extLst>
                <a:ext uri="{FF2B5EF4-FFF2-40B4-BE49-F238E27FC236}">
                  <a16:creationId xmlns:a16="http://schemas.microsoft.com/office/drawing/2014/main" id="{48E05D30-6217-D298-83B8-863904C0EFF4}"/>
                </a:ext>
              </a:extLst>
            </p:cNvPr>
            <p:cNvSpPr/>
            <p:nvPr/>
          </p:nvSpPr>
          <p:spPr>
            <a:xfrm>
              <a:off x="4140858" y="135602"/>
              <a:ext cx="1955142" cy="36655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Competitor Benchmarking</a:t>
              </a:r>
            </a:p>
          </p:txBody>
        </p:sp>
        <p:sp>
          <p:nvSpPr>
            <p:cNvPr id="30" name="Arrow: Chevron 7">
              <a:extLst>
                <a:ext uri="{FF2B5EF4-FFF2-40B4-BE49-F238E27FC236}">
                  <a16:creationId xmlns:a16="http://schemas.microsoft.com/office/drawing/2014/main" id="{FD665519-887A-1C62-FE5A-E6C9D89DE7DB}"/>
                </a:ext>
              </a:extLst>
            </p:cNvPr>
            <p:cNvSpPr/>
            <p:nvPr/>
          </p:nvSpPr>
          <p:spPr>
            <a:xfrm>
              <a:off x="6027274" y="134750"/>
              <a:ext cx="1954629" cy="36765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Channel Strategy &amp; Portfolio Strategy</a:t>
              </a:r>
            </a:p>
          </p:txBody>
        </p:sp>
        <p:sp>
          <p:nvSpPr>
            <p:cNvPr id="31" name="Arrow: Chevron 8">
              <a:extLst>
                <a:ext uri="{FF2B5EF4-FFF2-40B4-BE49-F238E27FC236}">
                  <a16:creationId xmlns:a16="http://schemas.microsoft.com/office/drawing/2014/main" id="{06F75E20-BB53-6936-7758-A00BEE9FB923}"/>
                </a:ext>
              </a:extLst>
            </p:cNvPr>
            <p:cNvSpPr/>
            <p:nvPr/>
          </p:nvSpPr>
          <p:spPr>
            <a:xfrm>
              <a:off x="7876159" y="131844"/>
              <a:ext cx="1813329" cy="370311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Digital Marketing Mix</a:t>
              </a:r>
            </a:p>
          </p:txBody>
        </p:sp>
        <p:sp>
          <p:nvSpPr>
            <p:cNvPr id="32" name="Arrow: Chevron 11">
              <a:extLst>
                <a:ext uri="{FF2B5EF4-FFF2-40B4-BE49-F238E27FC236}">
                  <a16:creationId xmlns:a16="http://schemas.microsoft.com/office/drawing/2014/main" id="{FE6DA11E-3DE7-E864-4E30-7C95B3D19ABD}"/>
                </a:ext>
              </a:extLst>
            </p:cNvPr>
            <p:cNvSpPr/>
            <p:nvPr/>
          </p:nvSpPr>
          <p:spPr>
            <a:xfrm>
              <a:off x="9584173" y="124260"/>
              <a:ext cx="1935370" cy="359680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Campaigns &amp; Feasibility Analysis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99CCE2E-302D-5692-A9B3-885B85272C3C}"/>
              </a:ext>
            </a:extLst>
          </p:cNvPr>
          <p:cNvSpPr txBox="1"/>
          <p:nvPr/>
        </p:nvSpPr>
        <p:spPr>
          <a:xfrm>
            <a:off x="786767" y="6695735"/>
            <a:ext cx="5111757" cy="1622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1100" noProof="0" dirty="0">
                <a:solidFill>
                  <a:schemeClr val="bg1"/>
                </a:solidFill>
              </a:rPr>
              <a:t>Source: EMIS Reports, Textile Ministry</a:t>
            </a:r>
          </a:p>
        </p:txBody>
      </p:sp>
    </p:spTree>
    <p:extLst>
      <p:ext uri="{BB962C8B-B14F-4D97-AF65-F5344CB8AC3E}">
        <p14:creationId xmlns:p14="http://schemas.microsoft.com/office/powerpoint/2010/main" val="1000656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able 88">
            <a:extLst>
              <a:ext uri="{FF2B5EF4-FFF2-40B4-BE49-F238E27FC236}">
                <a16:creationId xmlns:a16="http://schemas.microsoft.com/office/drawing/2014/main" id="{6B3C666A-AB5E-CED9-7905-D6AAA2673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118857"/>
              </p:ext>
            </p:extLst>
          </p:nvPr>
        </p:nvGraphicFramePr>
        <p:xfrm>
          <a:off x="3683743" y="1004759"/>
          <a:ext cx="3503290" cy="2928161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340930">
                  <a:extLst>
                    <a:ext uri="{9D8B030D-6E8A-4147-A177-3AD203B41FA5}">
                      <a16:colId xmlns:a16="http://schemas.microsoft.com/office/drawing/2014/main" val="3087952110"/>
                    </a:ext>
                  </a:extLst>
                </a:gridCol>
                <a:gridCol w="648866">
                  <a:extLst>
                    <a:ext uri="{9D8B030D-6E8A-4147-A177-3AD203B41FA5}">
                      <a16:colId xmlns:a16="http://schemas.microsoft.com/office/drawing/2014/main" val="1634314632"/>
                    </a:ext>
                  </a:extLst>
                </a:gridCol>
                <a:gridCol w="792708">
                  <a:extLst>
                    <a:ext uri="{9D8B030D-6E8A-4147-A177-3AD203B41FA5}">
                      <a16:colId xmlns:a16="http://schemas.microsoft.com/office/drawing/2014/main" val="405670508"/>
                    </a:ext>
                  </a:extLst>
                </a:gridCol>
                <a:gridCol w="720786">
                  <a:extLst>
                    <a:ext uri="{9D8B030D-6E8A-4147-A177-3AD203B41FA5}">
                      <a16:colId xmlns:a16="http://schemas.microsoft.com/office/drawing/2014/main" val="2897957749"/>
                    </a:ext>
                  </a:extLst>
                </a:gridCol>
              </a:tblGrid>
              <a:tr h="2289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sz="1200" b="1" i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sz="1200" b="1" i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sz="1200" b="1" i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3317784"/>
                  </a:ext>
                </a:extLst>
              </a:tr>
              <a:tr h="2289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marL="0" indent="0" algn="l" rtl="0" fontAlgn="ctr"/>
                      <a:r>
                        <a:rPr lang="en-US" sz="12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Lacks_Time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 b="1">
                          <a:solidFill>
                            <a:srgbClr val="FF0000"/>
                          </a:solidFill>
                        </a:rPr>
                        <a:t>4.15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2.65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2.00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41853107"/>
                  </a:ext>
                </a:extLst>
              </a:tr>
              <a:tr h="2289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rtl="0" fontAlgn="ctr"/>
                      <a:r>
                        <a:rPr lang="en-US" sz="12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Lacks_Knowledge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3.02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 b="1" kern="1200">
                          <a:solidFill>
                            <a:srgbClr val="FF0000"/>
                          </a:solidFill>
                        </a:rPr>
                        <a:t>3.90</a:t>
                      </a:r>
                      <a:endParaRPr lang="en-US" sz="1200" b="1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3.07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03990277"/>
                  </a:ext>
                </a:extLst>
              </a:tr>
              <a:tr h="2289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rtl="0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Ecofriendly_Finishes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3.80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2.71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1.93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41815840"/>
                  </a:ext>
                </a:extLst>
              </a:tr>
              <a:tr h="2289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Designs</a:t>
                      </a: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 b="1" kern="1200">
                          <a:solidFill>
                            <a:srgbClr val="FF0000"/>
                          </a:solidFill>
                        </a:rPr>
                        <a:t>3.78</a:t>
                      </a:r>
                      <a:endParaRPr lang="en-US" sz="1200" b="1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3.90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1.64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3461355"/>
                  </a:ext>
                </a:extLst>
              </a:tr>
              <a:tr h="2289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rtl="0" fontAlgn="ctr"/>
                      <a:r>
                        <a:rPr lang="en-US" sz="12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Wellness_Hygiene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3.22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 b="0" kern="1200">
                          <a:solidFill>
                            <a:schemeClr val="bg1"/>
                          </a:solidFill>
                        </a:rPr>
                        <a:t>4.03</a:t>
                      </a:r>
                      <a:endParaRPr lang="en-US" sz="1200" b="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3.21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51759244"/>
                  </a:ext>
                </a:extLst>
              </a:tr>
              <a:tr h="2289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Durability</a:t>
                      </a: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 b="1" kern="1200">
                          <a:solidFill>
                            <a:srgbClr val="FF0000"/>
                          </a:solidFill>
                        </a:rPr>
                        <a:t>3.64</a:t>
                      </a:r>
                      <a:endParaRPr lang="en-US" sz="1200" b="1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2.30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1.92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58636958"/>
                  </a:ext>
                </a:extLst>
              </a:tr>
              <a:tr h="2289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rtl="0" fontAlgn="ctr"/>
                      <a:r>
                        <a:rPr lang="en-US" sz="12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Cost_Saving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3.00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3.68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 b="1" kern="1200">
                          <a:solidFill>
                            <a:srgbClr val="FF0000"/>
                          </a:solidFill>
                        </a:rPr>
                        <a:t>4.21</a:t>
                      </a:r>
                      <a:endParaRPr lang="en-US" sz="1200" b="1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19989143"/>
                  </a:ext>
                </a:extLst>
              </a:tr>
              <a:tr h="2289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rtl="0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Age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 b="1">
                          <a:solidFill>
                            <a:srgbClr val="FF0000"/>
                          </a:solidFill>
                        </a:rPr>
                        <a:t>3.69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 b="1" kern="1200" dirty="0">
                          <a:solidFill>
                            <a:srgbClr val="FF0000"/>
                          </a:solidFill>
                        </a:rPr>
                        <a:t>4.10</a:t>
                      </a:r>
                      <a:endParaRPr lang="en-US" sz="12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4.29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26754759"/>
                  </a:ext>
                </a:extLst>
              </a:tr>
              <a:tr h="2289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rtl="0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Functional benefits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2.31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3.61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 b="1" kern="1200">
                          <a:solidFill>
                            <a:srgbClr val="FF0000"/>
                          </a:solidFill>
                        </a:rPr>
                        <a:t>4.14</a:t>
                      </a:r>
                      <a:endParaRPr lang="en-US" sz="1200" b="1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59157456"/>
                  </a:ext>
                </a:extLst>
              </a:tr>
              <a:tr h="2289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rtl="0" fontAlgn="ctr"/>
                      <a:r>
                        <a:rPr lang="en-US" sz="12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Brand_Conscious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3.20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3.79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 b="0" kern="1200">
                          <a:solidFill>
                            <a:schemeClr val="bg1"/>
                          </a:solidFill>
                        </a:rPr>
                        <a:t>2.21</a:t>
                      </a:r>
                      <a:endParaRPr lang="en-US" sz="1200" b="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14062603"/>
                  </a:ext>
                </a:extLst>
              </a:tr>
              <a:tr h="2271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rtl="0" fontAlgn="ctr"/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Trend_conscious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2.15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 b="1" kern="1200">
                          <a:solidFill>
                            <a:srgbClr val="FF0000"/>
                          </a:solidFill>
                        </a:rPr>
                        <a:t>3.81</a:t>
                      </a:r>
                      <a:endParaRPr lang="en-US" sz="1200" b="1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3.30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028876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4FB42633-D36B-1898-A144-D7751ED1EDA9}"/>
              </a:ext>
            </a:extLst>
          </p:cNvPr>
          <p:cNvSpPr/>
          <p:nvPr/>
        </p:nvSpPr>
        <p:spPr>
          <a:xfrm>
            <a:off x="3840502" y="587873"/>
            <a:ext cx="3374402" cy="234771"/>
          </a:xfrm>
          <a:prstGeom prst="rect">
            <a:avLst/>
          </a:prstGeom>
          <a:solidFill>
            <a:srgbClr val="B455AA"/>
          </a:solidFill>
          <a:ln w="12700" cap="flat" cmpd="sng" algn="ctr">
            <a:solidFill>
              <a:srgbClr val="B455AA"/>
            </a:solidFill>
            <a:prstDash val="solid"/>
            <a:miter lim="800000"/>
          </a:ln>
          <a:effectLst/>
        </p:spPr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Cluster Analysis for Segmentation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DB332C4-F28C-949B-9817-2D61DB5854C3}"/>
              </a:ext>
            </a:extLst>
          </p:cNvPr>
          <p:cNvGrpSpPr/>
          <p:nvPr/>
        </p:nvGrpSpPr>
        <p:grpSpPr>
          <a:xfrm>
            <a:off x="6903629" y="914203"/>
            <a:ext cx="7001529" cy="2776877"/>
            <a:chOff x="-300655" y="660367"/>
            <a:chExt cx="6491927" cy="2776877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F1EDE426-B004-A8A1-72B1-A5A3823A3682}"/>
                </a:ext>
              </a:extLst>
            </p:cNvPr>
            <p:cNvGrpSpPr/>
            <p:nvPr/>
          </p:nvGrpSpPr>
          <p:grpSpPr>
            <a:xfrm>
              <a:off x="-300655" y="660367"/>
              <a:ext cx="423363" cy="2776877"/>
              <a:chOff x="-268082" y="4837974"/>
              <a:chExt cx="384523" cy="1573639"/>
            </a:xfrm>
          </p:grpSpPr>
          <p:sp>
            <p:nvSpPr>
              <p:cNvPr id="35" name="Arrow: Up 34">
                <a:extLst>
                  <a:ext uri="{FF2B5EF4-FFF2-40B4-BE49-F238E27FC236}">
                    <a16:creationId xmlns:a16="http://schemas.microsoft.com/office/drawing/2014/main" id="{89D55FC3-7C09-479D-3EA4-8687C0BAA74F}"/>
                  </a:ext>
                </a:extLst>
              </p:cNvPr>
              <p:cNvSpPr/>
              <p:nvPr/>
            </p:nvSpPr>
            <p:spPr>
              <a:xfrm>
                <a:off x="2001" y="4837974"/>
                <a:ext cx="114440" cy="1573639"/>
              </a:xfrm>
              <a:prstGeom prst="upArrow">
                <a:avLst/>
              </a:prstGeom>
              <a:solidFill>
                <a:srgbClr val="7030A0"/>
              </a:solidFill>
              <a:ln w="12700" cap="flat" cmpd="sng" algn="ctr">
                <a:solidFill>
                  <a:srgbClr val="A100FF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FD84BD6-67E8-2555-4C18-B296C0366D09}"/>
                  </a:ext>
                </a:extLst>
              </p:cNvPr>
              <p:cNvSpPr txBox="1"/>
              <p:nvPr/>
            </p:nvSpPr>
            <p:spPr>
              <a:xfrm>
                <a:off x="-268082" y="6122530"/>
                <a:ext cx="311033" cy="52361"/>
              </a:xfrm>
              <a:prstGeom prst="rect">
                <a:avLst/>
              </a:prstGeom>
              <a:noFill/>
            </p:spPr>
            <p:txBody>
              <a:bodyPr vert="vert270"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B9AE433-12B0-772F-55D4-12445A9FA34A}"/>
                </a:ext>
              </a:extLst>
            </p:cNvPr>
            <p:cNvSpPr txBox="1"/>
            <p:nvPr/>
          </p:nvSpPr>
          <p:spPr>
            <a:xfrm>
              <a:off x="3404193" y="2598315"/>
              <a:ext cx="27568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69863" marR="0" lvl="0" indent="-169863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F657F8D-1A7A-A49F-B97B-24FA67114C82}"/>
                </a:ext>
              </a:extLst>
            </p:cNvPr>
            <p:cNvSpPr txBox="1"/>
            <p:nvPr/>
          </p:nvSpPr>
          <p:spPr>
            <a:xfrm>
              <a:off x="3398141" y="1583116"/>
              <a:ext cx="2793131" cy="184666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marL="169863" marR="0" lvl="0" indent="-169863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8E98024C-5E7C-07FF-E960-C9594FDC8128}"/>
              </a:ext>
            </a:extLst>
          </p:cNvPr>
          <p:cNvSpPr txBox="1"/>
          <p:nvPr/>
        </p:nvSpPr>
        <p:spPr>
          <a:xfrm>
            <a:off x="10724451" y="764621"/>
            <a:ext cx="105968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sng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Priority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DC48F10-BFCA-6884-702D-4C83B1DFB970}"/>
              </a:ext>
            </a:extLst>
          </p:cNvPr>
          <p:cNvCxnSpPr>
            <a:cxnSpLocks/>
          </p:cNvCxnSpPr>
          <p:nvPr/>
        </p:nvCxnSpPr>
        <p:spPr>
          <a:xfrm>
            <a:off x="10983757" y="804987"/>
            <a:ext cx="0" cy="3088796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2A1EC1F-00EE-BA1F-CB15-F59E72D82712}"/>
              </a:ext>
            </a:extLst>
          </p:cNvPr>
          <p:cNvGrpSpPr/>
          <p:nvPr/>
        </p:nvGrpSpPr>
        <p:grpSpPr>
          <a:xfrm>
            <a:off x="11032564" y="1326309"/>
            <a:ext cx="425011" cy="232183"/>
            <a:chOff x="9740739" y="925074"/>
            <a:chExt cx="425011" cy="232183"/>
          </a:xfrm>
        </p:grpSpPr>
        <p:pic>
          <p:nvPicPr>
            <p:cNvPr id="74" name="Picture 18" descr="How to Insert a Tick Symbol In Microsoft Word - Simul Docs">
              <a:extLst>
                <a:ext uri="{FF2B5EF4-FFF2-40B4-BE49-F238E27FC236}">
                  <a16:creationId xmlns:a16="http://schemas.microsoft.com/office/drawing/2014/main" id="{0E88AAE9-86BA-D5DA-4F4E-0B331C9136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40739" y="925074"/>
              <a:ext cx="177499" cy="2132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5" name="Picture 18" descr="How to Insert a Tick Symbol In Microsoft Word - Simul Docs">
              <a:extLst>
                <a:ext uri="{FF2B5EF4-FFF2-40B4-BE49-F238E27FC236}">
                  <a16:creationId xmlns:a16="http://schemas.microsoft.com/office/drawing/2014/main" id="{DB6000A3-C4B3-76A0-4B26-39490806D1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61258" y="943993"/>
              <a:ext cx="177499" cy="2132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6" name="Picture 18" descr="How to Insert a Tick Symbol In Microsoft Word - Simul Docs">
              <a:extLst>
                <a:ext uri="{FF2B5EF4-FFF2-40B4-BE49-F238E27FC236}">
                  <a16:creationId xmlns:a16="http://schemas.microsoft.com/office/drawing/2014/main" id="{C8D1BDAD-29EE-AC11-FC7D-B52D4D86DF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88251" y="936449"/>
              <a:ext cx="177499" cy="2132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1B07FD4-0612-6317-0EE1-C610473C4D3C}"/>
              </a:ext>
            </a:extLst>
          </p:cNvPr>
          <p:cNvGrpSpPr/>
          <p:nvPr/>
        </p:nvGrpSpPr>
        <p:grpSpPr>
          <a:xfrm>
            <a:off x="11075338" y="2246811"/>
            <a:ext cx="323961" cy="213264"/>
            <a:chOff x="9783513" y="1845576"/>
            <a:chExt cx="323961" cy="213264"/>
          </a:xfrm>
        </p:grpSpPr>
        <p:pic>
          <p:nvPicPr>
            <p:cNvPr id="72" name="Picture 18" descr="How to Insert a Tick Symbol In Microsoft Word - Simul Docs">
              <a:extLst>
                <a:ext uri="{FF2B5EF4-FFF2-40B4-BE49-F238E27FC236}">
                  <a16:creationId xmlns:a16="http://schemas.microsoft.com/office/drawing/2014/main" id="{730C46B1-506A-EBF7-FABE-59412261A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83513" y="1845576"/>
              <a:ext cx="177499" cy="2132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3" name="Picture 18" descr="How to Insert a Tick Symbol In Microsoft Word - Simul Docs">
              <a:extLst>
                <a:ext uri="{FF2B5EF4-FFF2-40B4-BE49-F238E27FC236}">
                  <a16:creationId xmlns:a16="http://schemas.microsoft.com/office/drawing/2014/main" id="{CD9ED2B4-F08E-8473-9321-7F23140E33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29975" y="1845576"/>
              <a:ext cx="177499" cy="2132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0" name="Picture 18" descr="How to Insert a Tick Symbol In Microsoft Word - Simul Docs">
            <a:extLst>
              <a:ext uri="{FF2B5EF4-FFF2-40B4-BE49-F238E27FC236}">
                <a16:creationId xmlns:a16="http://schemas.microsoft.com/office/drawing/2014/main" id="{30E2C15E-4553-4A59-E5DD-6BAEF2C4D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5337" y="3307700"/>
            <a:ext cx="177499" cy="213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3753E432-938C-46AF-C7C6-E9BDF91564A3}"/>
              </a:ext>
            </a:extLst>
          </p:cNvPr>
          <p:cNvCxnSpPr>
            <a:cxnSpLocks/>
          </p:cNvCxnSpPr>
          <p:nvPr/>
        </p:nvCxnSpPr>
        <p:spPr>
          <a:xfrm>
            <a:off x="11516276" y="811519"/>
            <a:ext cx="0" cy="315088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A8380A19-7218-DC83-1C24-96CB9CA910A7}"/>
              </a:ext>
            </a:extLst>
          </p:cNvPr>
          <p:cNvSpPr txBox="1"/>
          <p:nvPr/>
        </p:nvSpPr>
        <p:spPr>
          <a:xfrm>
            <a:off x="10753573" y="585669"/>
            <a:ext cx="105968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Priority</a:t>
            </a:r>
          </a:p>
        </p:txBody>
      </p: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0D2B38B2-94A5-CEA4-CBE1-3E17CE41570C}"/>
              </a:ext>
            </a:extLst>
          </p:cNvPr>
          <p:cNvGrpSpPr/>
          <p:nvPr/>
        </p:nvGrpSpPr>
        <p:grpSpPr>
          <a:xfrm>
            <a:off x="7300717" y="790190"/>
            <a:ext cx="4081987" cy="3080655"/>
            <a:chOff x="4401634" y="760893"/>
            <a:chExt cx="4081987" cy="3080655"/>
          </a:xfrm>
        </p:grpSpPr>
        <p:sp>
          <p:nvSpPr>
            <p:cNvPr id="176" name="Rectangle: Rounded Corners 175">
              <a:extLst>
                <a:ext uri="{FF2B5EF4-FFF2-40B4-BE49-F238E27FC236}">
                  <a16:creationId xmlns:a16="http://schemas.microsoft.com/office/drawing/2014/main" id="{EEACD135-1E64-6F23-EAF7-6C6FF07D9F61}"/>
                </a:ext>
              </a:extLst>
            </p:cNvPr>
            <p:cNvSpPr/>
            <p:nvPr/>
          </p:nvSpPr>
          <p:spPr>
            <a:xfrm>
              <a:off x="4666893" y="761753"/>
              <a:ext cx="3411067" cy="968863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77" name="Rectangle: Rounded Corners 176">
              <a:extLst>
                <a:ext uri="{FF2B5EF4-FFF2-40B4-BE49-F238E27FC236}">
                  <a16:creationId xmlns:a16="http://schemas.microsoft.com/office/drawing/2014/main" id="{59B87C70-1365-9F83-93AA-B34A5A079DD0}"/>
                </a:ext>
              </a:extLst>
            </p:cNvPr>
            <p:cNvSpPr/>
            <p:nvPr/>
          </p:nvSpPr>
          <p:spPr>
            <a:xfrm>
              <a:off x="4666893" y="1862972"/>
              <a:ext cx="3375789" cy="948287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78" name="Rectangle: Rounded Corners 177">
              <a:extLst>
                <a:ext uri="{FF2B5EF4-FFF2-40B4-BE49-F238E27FC236}">
                  <a16:creationId xmlns:a16="http://schemas.microsoft.com/office/drawing/2014/main" id="{8D7FC310-5447-94E4-B14C-55E01BEA9F5B}"/>
                </a:ext>
              </a:extLst>
            </p:cNvPr>
            <p:cNvSpPr/>
            <p:nvPr/>
          </p:nvSpPr>
          <p:spPr>
            <a:xfrm>
              <a:off x="4666893" y="2919847"/>
              <a:ext cx="3375785" cy="921701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pic>
          <p:nvPicPr>
            <p:cNvPr id="179" name="Picture 178">
              <a:extLst>
                <a:ext uri="{FF2B5EF4-FFF2-40B4-BE49-F238E27FC236}">
                  <a16:creationId xmlns:a16="http://schemas.microsoft.com/office/drawing/2014/main" id="{1AA61D7E-D164-92DA-92C8-7EE5747BF41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  <a14:imgEffect>
                        <a14:brightnessContrast bright="2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8829" y="1997007"/>
              <a:ext cx="741213" cy="654239"/>
            </a:xfrm>
            <a:prstGeom prst="rect">
              <a:avLst/>
            </a:prstGeom>
          </p:spPr>
        </p:pic>
        <p:pic>
          <p:nvPicPr>
            <p:cNvPr id="180" name="Picture 179">
              <a:extLst>
                <a:ext uri="{FF2B5EF4-FFF2-40B4-BE49-F238E27FC236}">
                  <a16:creationId xmlns:a16="http://schemas.microsoft.com/office/drawing/2014/main" id="{C39D9DFC-9F04-5F91-22B3-38EF1D585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8360" y="910465"/>
              <a:ext cx="658563" cy="658563"/>
            </a:xfrm>
            <a:prstGeom prst="rect">
              <a:avLst/>
            </a:prstGeom>
          </p:spPr>
        </p:pic>
        <p:pic>
          <p:nvPicPr>
            <p:cNvPr id="181" name="Picture 180">
              <a:extLst>
                <a:ext uri="{FF2B5EF4-FFF2-40B4-BE49-F238E27FC236}">
                  <a16:creationId xmlns:a16="http://schemas.microsoft.com/office/drawing/2014/main" id="{DF94605E-7E6D-48D7-2D06-504C253F75E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3115" y="3094455"/>
              <a:ext cx="704832" cy="580834"/>
            </a:xfrm>
            <a:prstGeom prst="rect">
              <a:avLst/>
            </a:prstGeom>
          </p:spPr>
        </p:pic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1339C143-232F-CD36-72BC-17A846235773}"/>
                </a:ext>
              </a:extLst>
            </p:cNvPr>
            <p:cNvSpPr txBox="1"/>
            <p:nvPr/>
          </p:nvSpPr>
          <p:spPr>
            <a:xfrm>
              <a:off x="5520080" y="1871311"/>
              <a:ext cx="2963541" cy="7182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                 Explorers</a:t>
              </a:r>
            </a:p>
            <a:p>
              <a:pPr marL="171450" marR="0" lvl="0" indent="-17145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I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Leisure shoppers, Tier 1 cities</a:t>
              </a:r>
            </a:p>
            <a:p>
              <a:pPr marL="171450" marR="0" lvl="0" indent="-17145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Young</a:t>
              </a:r>
              <a:r>
                <a:rPr kumimoji="0" lang="en-US" sz="1200" b="0" i="0" u="none" strike="noStrike" kern="1200" cap="none" spc="-5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 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(20-30</a:t>
              </a:r>
              <a:r>
                <a:rPr kumimoji="0" lang="en-US" sz="1200" b="0" i="0" u="none" strike="noStrike" kern="1200" cap="none" spc="-2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 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yrs.)</a:t>
              </a:r>
            </a:p>
            <a:p>
              <a:pPr marL="171450" marR="0" lvl="0" indent="-17145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sz="1200" b="0" i="0" u="none" strike="noStrike" kern="1200" cap="none" spc="-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Tech-Savvy</a:t>
              </a:r>
              <a:r>
                <a:rPr kumimoji="0" lang="en-US" sz="1200" b="0" i="0" u="none" strike="noStrike" kern="1200" cap="none" spc="-5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 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early</a:t>
              </a:r>
              <a:r>
                <a:rPr kumimoji="0" lang="en-US" sz="1200" b="0" i="0" u="none" strike="noStrike" kern="1200" cap="none" spc="-1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 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adopters</a:t>
              </a:r>
            </a:p>
            <a:p>
              <a:pPr marL="171450" marR="0" lvl="0" indent="-17145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Limited</a:t>
              </a:r>
              <a:r>
                <a:rPr kumimoji="0" lang="en-US" sz="1200" b="0" i="0" u="none" strike="noStrike" kern="1200" cap="none" spc="-3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 </a:t>
              </a:r>
              <a:r>
                <a:rPr kumimoji="0" lang="en-US" sz="1200" b="0" i="0" u="none" strike="noStrike" kern="1200" cap="none" spc="-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d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is</a:t>
              </a:r>
              <a:r>
                <a:rPr kumimoji="0" lang="en-US" sz="1200" b="0" i="0" u="none" strike="noStrike" kern="1200" cap="none" spc="-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p</a:t>
              </a:r>
              <a:r>
                <a:rPr kumimoji="0" lang="en-US" sz="1200" b="0" i="0" u="none" strike="noStrike" kern="1200" cap="none" spc="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o</a:t>
              </a:r>
              <a:r>
                <a:rPr kumimoji="0" lang="en-US" sz="1200" b="0" i="0" u="none" strike="noStrike" kern="1200" cap="none" spc="-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sab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le</a:t>
              </a:r>
              <a:r>
                <a:rPr kumimoji="0" lang="en-US" sz="1200" b="0" i="0" u="none" strike="noStrike" kern="1200" cap="none" spc="-4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 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i</a:t>
              </a:r>
              <a:r>
                <a:rPr kumimoji="0" lang="en-US" sz="1200" b="0" i="0" u="none" strike="noStrike" kern="1200" cap="none" spc="-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n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c</a:t>
              </a:r>
              <a:r>
                <a:rPr kumimoji="0" lang="en-US" sz="1200" b="0" i="0" u="none" strike="noStrike" kern="1200" cap="none" spc="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o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me</a:t>
              </a:r>
            </a:p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968716AB-D350-2AEC-B584-A4545A84D2C5}"/>
                </a:ext>
              </a:extLst>
            </p:cNvPr>
            <p:cNvSpPr txBox="1"/>
            <p:nvPr/>
          </p:nvSpPr>
          <p:spPr>
            <a:xfrm>
              <a:off x="5473530" y="760893"/>
              <a:ext cx="2648127" cy="7620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              Product focused</a:t>
              </a:r>
            </a:p>
            <a:p>
              <a:pPr marL="184785" marR="0" lvl="0" indent="-172720" algn="l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 typeface="Wingdings"/>
                <a:buChar char=""/>
                <a:tabLst>
                  <a:tab pos="185420" algn="l"/>
                </a:tabLst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Middle</a:t>
              </a:r>
              <a:r>
                <a:rPr kumimoji="0" lang="en-US" sz="1200" b="0" i="0" u="none" strike="noStrike" kern="1200" cap="none" spc="-4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 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aged</a:t>
              </a:r>
              <a:r>
                <a:rPr kumimoji="0" lang="en-US" sz="1200" b="0" i="0" u="none" strike="noStrike" kern="1200" cap="none" spc="-3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 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(25-50</a:t>
              </a:r>
              <a:r>
                <a:rPr kumimoji="0" lang="en-US" sz="1200" b="0" i="0" u="none" strike="noStrike" kern="1200" cap="none" spc="-2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 </a:t>
              </a:r>
              <a:r>
                <a:rPr kumimoji="0" lang="en-US" sz="12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yr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), Tier 1&amp;2 cities</a:t>
              </a:r>
            </a:p>
            <a:p>
              <a:pPr marL="184785" marR="0" lvl="0" indent="-172720" algn="l" defTabSz="914400" rtl="0" eaLnBrk="1" fontAlgn="auto" latinLnBrk="0" hangingPunct="1">
                <a:lnSpc>
                  <a:spcPct val="100000"/>
                </a:lnSpc>
                <a:spcBef>
                  <a:spcPts val="5"/>
                </a:spcBef>
                <a:spcAft>
                  <a:spcPts val="0"/>
                </a:spcAft>
                <a:buClrTx/>
                <a:buSzTx/>
                <a:buFont typeface="Wingdings"/>
                <a:buChar char=""/>
                <a:tabLst>
                  <a:tab pos="185420" algn="l"/>
                </a:tabLst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Sustainability </a:t>
              </a:r>
              <a:r>
                <a:rPr kumimoji="0" lang="en-US" sz="1200" b="0" i="0" u="none" strike="noStrike" kern="1200" cap="none" spc="-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conscious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endParaRPr>
            </a:p>
            <a:p>
              <a:pPr marL="184785" marR="0" lvl="0" indent="-17272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/>
                <a:buChar char=""/>
                <a:tabLst>
                  <a:tab pos="185420" algn="l"/>
                </a:tabLst>
                <a:defRPr/>
              </a:pPr>
              <a:r>
                <a:rPr kumimoji="0" lang="en-US" sz="1200" b="0" i="0" u="none" strike="noStrike" kern="1200" cap="none" spc="-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Awareness regarding finishes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endParaRPr>
            </a:p>
            <a:p>
              <a:pPr marL="184785" marR="0" lvl="0" indent="-17272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/>
                <a:buChar char=""/>
                <a:tabLst>
                  <a:tab pos="185420" algn="l"/>
                </a:tabLst>
                <a:defRPr/>
              </a:pPr>
              <a:r>
                <a:rPr kumimoji="0" lang="en-US" sz="1200" b="0" i="0" u="none" strike="noStrike" kern="1200" cap="none" spc="-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High</a:t>
              </a:r>
              <a:r>
                <a:rPr kumimoji="0" lang="en-US" sz="1200" b="0" i="0" u="none" strike="noStrike" kern="1200" cap="none" spc="-1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 </a:t>
              </a:r>
              <a:r>
                <a:rPr kumimoji="0" lang="en-US" sz="1200" b="0" i="0" u="none" strike="noStrike" kern="1200" cap="none" spc="-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willingness</a:t>
              </a:r>
              <a:r>
                <a:rPr kumimoji="0" lang="en-US" sz="1200" b="0" i="0" u="none" strike="noStrike" kern="1200" cap="none" spc="-3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 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to</a:t>
              </a:r>
              <a:r>
                <a:rPr kumimoji="0" lang="en-US" sz="1200" b="0" i="0" u="none" strike="noStrike" kern="1200" cap="none" spc="-2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 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pay</a:t>
              </a:r>
            </a:p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DA07585E-E9B1-E8D2-5D3A-0E2B0E95D975}"/>
                </a:ext>
              </a:extLst>
            </p:cNvPr>
            <p:cNvSpPr txBox="1"/>
            <p:nvPr/>
          </p:nvSpPr>
          <p:spPr>
            <a:xfrm>
              <a:off x="5436923" y="2919847"/>
              <a:ext cx="3000147" cy="6796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457200" marR="0" lvl="1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Bargain Hunters</a:t>
              </a:r>
            </a:p>
            <a:p>
              <a:pPr marL="171450" marR="0" lvl="0" indent="-17145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Cost conscious, Tier 2  cities</a:t>
              </a:r>
            </a:p>
            <a:p>
              <a:pPr marL="171450" marR="0" lvl="0" indent="-17145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Durability and fabric of product</a:t>
              </a:r>
            </a:p>
            <a:p>
              <a:pPr marL="171450" marR="0" lvl="0" indent="-17145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Medium </a:t>
              </a:r>
              <a:r>
                <a:rPr kumimoji="0" lang="en-US" sz="1200" b="0" i="0" u="none" strike="noStrike" kern="1200" cap="none" spc="-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d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is</a:t>
              </a:r>
              <a:r>
                <a:rPr kumimoji="0" lang="en-US" sz="1200" b="0" i="0" u="none" strike="noStrike" kern="1200" cap="none" spc="-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p</a:t>
              </a:r>
              <a:r>
                <a:rPr kumimoji="0" lang="en-US" sz="1200" b="0" i="0" u="none" strike="noStrike" kern="1200" cap="none" spc="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o</a:t>
              </a:r>
              <a:r>
                <a:rPr kumimoji="0" lang="en-US" sz="1200" b="0" i="0" u="none" strike="noStrike" kern="1200" cap="none" spc="-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sab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le</a:t>
              </a:r>
              <a:r>
                <a:rPr kumimoji="0" lang="en-US" sz="1200" b="0" i="0" u="none" strike="noStrike" kern="1200" cap="none" spc="-4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 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i</a:t>
              </a:r>
              <a:r>
                <a:rPr kumimoji="0" lang="en-US" sz="1200" b="0" i="0" u="none" strike="noStrike" kern="1200" cap="none" spc="-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n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c</a:t>
              </a:r>
              <a:r>
                <a:rPr kumimoji="0" lang="en-US" sz="1200" b="0" i="0" u="none" strike="noStrike" kern="1200" cap="none" spc="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o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me</a:t>
              </a:r>
            </a:p>
            <a:p>
              <a:pPr marL="171450" marR="0" lvl="0" indent="-17145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Not brand conscious</a:t>
              </a:r>
            </a:p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5B910D71-93EF-7F93-DCF2-B4A61F32F5BA}"/>
                </a:ext>
              </a:extLst>
            </p:cNvPr>
            <p:cNvSpPr txBox="1"/>
            <p:nvPr/>
          </p:nvSpPr>
          <p:spPr>
            <a:xfrm>
              <a:off x="4401634" y="826834"/>
              <a:ext cx="184666" cy="743144"/>
            </a:xfrm>
            <a:prstGeom prst="rect">
              <a:avLst/>
            </a:prstGeom>
            <a:noFill/>
          </p:spPr>
          <p:txBody>
            <a:bodyPr vert="vert270"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Cluster 1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A624A36C-B209-0539-645B-A17106AC8D36}"/>
                </a:ext>
              </a:extLst>
            </p:cNvPr>
            <p:cNvSpPr txBox="1"/>
            <p:nvPr/>
          </p:nvSpPr>
          <p:spPr>
            <a:xfrm>
              <a:off x="4422263" y="1925353"/>
              <a:ext cx="184666" cy="709856"/>
            </a:xfrm>
            <a:prstGeom prst="rect">
              <a:avLst/>
            </a:prstGeom>
            <a:noFill/>
          </p:spPr>
          <p:txBody>
            <a:bodyPr vert="vert270"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Cluster 2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C316C30D-00B9-F2FE-CD0D-2A573A03C013}"/>
                </a:ext>
              </a:extLst>
            </p:cNvPr>
            <p:cNvSpPr txBox="1"/>
            <p:nvPr/>
          </p:nvSpPr>
          <p:spPr>
            <a:xfrm>
              <a:off x="4422263" y="2911167"/>
              <a:ext cx="184666" cy="745598"/>
            </a:xfrm>
            <a:prstGeom prst="rect">
              <a:avLst/>
            </a:prstGeom>
            <a:noFill/>
          </p:spPr>
          <p:txBody>
            <a:bodyPr vert="vert270"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Cluster 3</a:t>
              </a:r>
            </a:p>
          </p:txBody>
        </p:sp>
      </p:grpSp>
      <p:sp>
        <p:nvSpPr>
          <p:cNvPr id="210" name="TextBox 209">
            <a:extLst>
              <a:ext uri="{FF2B5EF4-FFF2-40B4-BE49-F238E27FC236}">
                <a16:creationId xmlns:a16="http://schemas.microsoft.com/office/drawing/2014/main" id="{CF13EE3F-162C-A2F2-DB11-AE279A5F322E}"/>
              </a:ext>
            </a:extLst>
          </p:cNvPr>
          <p:cNvSpPr txBox="1"/>
          <p:nvPr/>
        </p:nvSpPr>
        <p:spPr>
          <a:xfrm>
            <a:off x="4412326" y="812302"/>
            <a:ext cx="2114127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5 point agreement scale</a:t>
            </a: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4EC1F802-B1B7-63F1-1E12-BC4F83598020}"/>
              </a:ext>
            </a:extLst>
          </p:cNvPr>
          <p:cNvSpPr/>
          <p:nvPr/>
        </p:nvSpPr>
        <p:spPr>
          <a:xfrm>
            <a:off x="3976273" y="3974275"/>
            <a:ext cx="7775951" cy="25920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Consumer Life-Cycle (Micro Analysis)</a:t>
            </a:r>
          </a:p>
        </p:txBody>
      </p:sp>
      <p:sp>
        <p:nvSpPr>
          <p:cNvPr id="224" name="Rectangle: Rounded Corners 223">
            <a:extLst>
              <a:ext uri="{FF2B5EF4-FFF2-40B4-BE49-F238E27FC236}">
                <a16:creationId xmlns:a16="http://schemas.microsoft.com/office/drawing/2014/main" id="{8C5D5E6B-01E7-4C82-39EB-0D6ABD31847B}"/>
              </a:ext>
            </a:extLst>
          </p:cNvPr>
          <p:cNvSpPr/>
          <p:nvPr/>
        </p:nvSpPr>
        <p:spPr>
          <a:xfrm>
            <a:off x="-3659543" y="168542"/>
            <a:ext cx="605726" cy="62732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7A20848-8C23-5A49-E54E-BF7D1BD93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84" y="1284051"/>
            <a:ext cx="706953" cy="213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yntra logo DOWNLOAD in SVG or PNG format - LogosArchive">
            <a:extLst>
              <a:ext uri="{FF2B5EF4-FFF2-40B4-BE49-F238E27FC236}">
                <a16:creationId xmlns:a16="http://schemas.microsoft.com/office/drawing/2014/main" id="{ADBAAE59-BC24-486D-EB07-AF151D57A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58" y="1751617"/>
            <a:ext cx="548836" cy="376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lipkart Logo PNG, Transparent HQ Flipkart Logos Download - Free Transparent  PNG Logos">
            <a:extLst>
              <a:ext uri="{FF2B5EF4-FFF2-40B4-BE49-F238E27FC236}">
                <a16:creationId xmlns:a16="http://schemas.microsoft.com/office/drawing/2014/main" id="{B4F6FFFB-1F19-A09E-FCE3-A6A050B02D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9" t="31179" r="1" b="28694"/>
          <a:stretch/>
        </p:blipFill>
        <p:spPr bwMode="auto">
          <a:xfrm>
            <a:off x="394772" y="2301807"/>
            <a:ext cx="934960" cy="282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73EF97CD-6703-B33D-B9CC-90ABB18A7C3F}"/>
              </a:ext>
            </a:extLst>
          </p:cNvPr>
          <p:cNvCxnSpPr>
            <a:cxnSpLocks/>
          </p:cNvCxnSpPr>
          <p:nvPr/>
        </p:nvCxnSpPr>
        <p:spPr>
          <a:xfrm flipH="1">
            <a:off x="2512910" y="795864"/>
            <a:ext cx="22729" cy="1734605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DCEADB51-5A09-BC33-C9FE-D31D97FE251D}"/>
              </a:ext>
            </a:extLst>
          </p:cNvPr>
          <p:cNvCxnSpPr>
            <a:cxnSpLocks/>
          </p:cNvCxnSpPr>
          <p:nvPr/>
        </p:nvCxnSpPr>
        <p:spPr>
          <a:xfrm flipH="1">
            <a:off x="1294645" y="787293"/>
            <a:ext cx="6510" cy="1743176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TextBox 234">
            <a:extLst>
              <a:ext uri="{FF2B5EF4-FFF2-40B4-BE49-F238E27FC236}">
                <a16:creationId xmlns:a16="http://schemas.microsoft.com/office/drawing/2014/main" id="{08C2DE2F-A958-ACAB-1672-F647A1118139}"/>
              </a:ext>
            </a:extLst>
          </p:cNvPr>
          <p:cNvSpPr txBox="1"/>
          <p:nvPr/>
        </p:nvSpPr>
        <p:spPr>
          <a:xfrm>
            <a:off x="1578429" y="835543"/>
            <a:ext cx="867591" cy="19315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Towels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6DF9C9C9-5964-AFBE-310C-25155A51C1E2}"/>
              </a:ext>
            </a:extLst>
          </p:cNvPr>
          <p:cNvSpPr txBox="1"/>
          <p:nvPr/>
        </p:nvSpPr>
        <p:spPr>
          <a:xfrm>
            <a:off x="2607145" y="833388"/>
            <a:ext cx="1023893" cy="25824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Bedsheets</a:t>
            </a:r>
          </a:p>
        </p:txBody>
      </p: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435E3959-0517-C0C4-4DEF-FC139CF1237A}"/>
              </a:ext>
            </a:extLst>
          </p:cNvPr>
          <p:cNvCxnSpPr>
            <a:cxnSpLocks/>
          </p:cNvCxnSpPr>
          <p:nvPr/>
        </p:nvCxnSpPr>
        <p:spPr>
          <a:xfrm flipH="1">
            <a:off x="421417" y="1128723"/>
            <a:ext cx="3037773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C89FC4E-114C-C5F9-8E38-6C4573565D5F}"/>
              </a:ext>
            </a:extLst>
          </p:cNvPr>
          <p:cNvGraphicFramePr/>
          <p:nvPr/>
        </p:nvGraphicFramePr>
        <p:xfrm>
          <a:off x="1087096" y="1186577"/>
          <a:ext cx="1567796" cy="15034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116058B0-C593-B7F6-563F-609254B6CEE0}"/>
              </a:ext>
            </a:extLst>
          </p:cNvPr>
          <p:cNvSpPr txBox="1"/>
          <p:nvPr/>
        </p:nvSpPr>
        <p:spPr>
          <a:xfrm>
            <a:off x="1361761" y="1830193"/>
            <a:ext cx="521010" cy="3413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Low</a:t>
            </a: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price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E4852B-330B-9AED-D763-4D199A2628A4}"/>
              </a:ext>
            </a:extLst>
          </p:cNvPr>
          <p:cNvSpPr txBox="1"/>
          <p:nvPr/>
        </p:nvSpPr>
        <p:spPr>
          <a:xfrm>
            <a:off x="1606419" y="1254893"/>
            <a:ext cx="586074" cy="21075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Mid price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68B7E6-BF76-E430-0295-201A3B09DA2D}"/>
              </a:ext>
            </a:extLst>
          </p:cNvPr>
          <p:cNvSpPr txBox="1"/>
          <p:nvPr/>
        </p:nvSpPr>
        <p:spPr>
          <a:xfrm>
            <a:off x="1933923" y="1297613"/>
            <a:ext cx="772959" cy="3628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Premium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E54318-8C83-2CDB-1F48-A81B7FE8CA82}"/>
              </a:ext>
            </a:extLst>
          </p:cNvPr>
          <p:cNvSpPr txBox="1"/>
          <p:nvPr/>
        </p:nvSpPr>
        <p:spPr>
          <a:xfrm>
            <a:off x="2638470" y="1235120"/>
            <a:ext cx="586074" cy="21075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Mid price</a:t>
            </a:r>
          </a:p>
        </p:txBody>
      </p: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2E5E2204-8896-889B-8BCD-769E3FB1BFE8}"/>
              </a:ext>
            </a:extLst>
          </p:cNvPr>
          <p:cNvGraphicFramePr/>
          <p:nvPr/>
        </p:nvGraphicFramePr>
        <p:xfrm>
          <a:off x="2395176" y="1175156"/>
          <a:ext cx="1567796" cy="15034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FD268F7E-7CC2-7035-B955-8B2C9A484087}"/>
              </a:ext>
            </a:extLst>
          </p:cNvPr>
          <p:cNvSpPr txBox="1"/>
          <p:nvPr/>
        </p:nvSpPr>
        <p:spPr>
          <a:xfrm>
            <a:off x="2971811" y="1295658"/>
            <a:ext cx="772959" cy="3628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Premium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981EBD-1395-E0D6-6CF3-B1E492FCD512}"/>
              </a:ext>
            </a:extLst>
          </p:cNvPr>
          <p:cNvSpPr/>
          <p:nvPr/>
        </p:nvSpPr>
        <p:spPr>
          <a:xfrm>
            <a:off x="508665" y="3085549"/>
            <a:ext cx="2894299" cy="210145"/>
          </a:xfrm>
          <a:prstGeom prst="rect">
            <a:avLst/>
          </a:prstGeom>
          <a:solidFill>
            <a:srgbClr val="B455AA"/>
          </a:solidFill>
          <a:ln w="12700" cap="flat" cmpd="sng" algn="ctr">
            <a:solidFill>
              <a:srgbClr val="B455AA"/>
            </a:solidFill>
            <a:prstDash val="solid"/>
            <a:miter lim="800000"/>
          </a:ln>
          <a:effectLst/>
        </p:spPr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Geographic presence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D284FF7-81BD-3842-E135-2DFF2455C829}"/>
              </a:ext>
            </a:extLst>
          </p:cNvPr>
          <p:cNvSpPr/>
          <p:nvPr/>
        </p:nvSpPr>
        <p:spPr>
          <a:xfrm>
            <a:off x="3915238" y="3950786"/>
            <a:ext cx="7970257" cy="2378269"/>
          </a:xfrm>
          <a:prstGeom prst="rect">
            <a:avLst/>
          </a:prstGeom>
          <a:noFill/>
          <a:ln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graphicFrame>
        <p:nvGraphicFramePr>
          <p:cNvPr id="39" name="Table 39">
            <a:extLst>
              <a:ext uri="{FF2B5EF4-FFF2-40B4-BE49-F238E27FC236}">
                <a16:creationId xmlns:a16="http://schemas.microsoft.com/office/drawing/2014/main" id="{379E6511-4E4E-E127-6F75-95BF45FD0DAC}"/>
              </a:ext>
            </a:extLst>
          </p:cNvPr>
          <p:cNvGraphicFramePr>
            <a:graphicFrameLocks noGrp="1"/>
          </p:cNvGraphicFramePr>
          <p:nvPr/>
        </p:nvGraphicFramePr>
        <p:xfrm>
          <a:off x="517756" y="3288850"/>
          <a:ext cx="2894300" cy="64008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447150">
                  <a:extLst>
                    <a:ext uri="{9D8B030D-6E8A-4147-A177-3AD203B41FA5}">
                      <a16:colId xmlns:a16="http://schemas.microsoft.com/office/drawing/2014/main" val="2896764032"/>
                    </a:ext>
                  </a:extLst>
                </a:gridCol>
                <a:gridCol w="1447150">
                  <a:extLst>
                    <a:ext uri="{9D8B030D-6E8A-4147-A177-3AD203B41FA5}">
                      <a16:colId xmlns:a16="http://schemas.microsoft.com/office/drawing/2014/main" val="2295638832"/>
                    </a:ext>
                  </a:extLst>
                </a:gridCol>
              </a:tblGrid>
              <a:tr h="288075"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accent3"/>
                          </a:solidFill>
                        </a:rPr>
                        <a:t>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accent3"/>
                          </a:solidFill>
                        </a:rPr>
                        <a:t>Proposed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435786"/>
                  </a:ext>
                </a:extLst>
              </a:tr>
              <a:tr h="288075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accent3"/>
                          </a:solidFill>
                        </a:rPr>
                        <a:t>Metro cities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accent3"/>
                          </a:solidFill>
                        </a:rPr>
                        <a:t>Tier 1 &amp; 2 cities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3421348"/>
                  </a:ext>
                </a:extLst>
              </a:tr>
            </a:tbl>
          </a:graphicData>
        </a:graphic>
      </p:graphicFrame>
      <p:sp>
        <p:nvSpPr>
          <p:cNvPr id="41" name="Rectangle 40">
            <a:extLst>
              <a:ext uri="{FF2B5EF4-FFF2-40B4-BE49-F238E27FC236}">
                <a16:creationId xmlns:a16="http://schemas.microsoft.com/office/drawing/2014/main" id="{9A999F54-88FD-0C94-A3BE-1A019D5566EC}"/>
              </a:ext>
            </a:extLst>
          </p:cNvPr>
          <p:cNvSpPr/>
          <p:nvPr/>
        </p:nvSpPr>
        <p:spPr>
          <a:xfrm>
            <a:off x="503188" y="567286"/>
            <a:ext cx="3065714" cy="231791"/>
          </a:xfrm>
          <a:prstGeom prst="rect">
            <a:avLst/>
          </a:prstGeom>
          <a:solidFill>
            <a:srgbClr val="B455AA"/>
          </a:solidFill>
          <a:ln w="12700" cap="flat" cmpd="sng" algn="ctr">
            <a:solidFill>
              <a:srgbClr val="B455AA"/>
            </a:solidFill>
            <a:prstDash val="solid"/>
            <a:miter lim="800000"/>
          </a:ln>
          <a:effectLst/>
        </p:spPr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Income based segmentation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4D37A5C-CAED-8EBC-FBBF-2621B57B3BBB}"/>
              </a:ext>
            </a:extLst>
          </p:cNvPr>
          <p:cNvSpPr/>
          <p:nvPr/>
        </p:nvSpPr>
        <p:spPr>
          <a:xfrm>
            <a:off x="472784" y="2618959"/>
            <a:ext cx="2888586" cy="384798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*Weighted avg of prod portfolio across segments on 3 platforms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75789E8-9078-12A0-A4BD-2D82F5046170}"/>
              </a:ext>
            </a:extLst>
          </p:cNvPr>
          <p:cNvSpPr/>
          <p:nvPr/>
        </p:nvSpPr>
        <p:spPr>
          <a:xfrm>
            <a:off x="4244607" y="4273203"/>
            <a:ext cx="1310270" cy="253909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Awareness</a:t>
            </a:r>
          </a:p>
        </p:txBody>
      </p:sp>
      <p:sp>
        <p:nvSpPr>
          <p:cNvPr id="52" name="Arrow: Pentagon 51">
            <a:extLst>
              <a:ext uri="{FF2B5EF4-FFF2-40B4-BE49-F238E27FC236}">
                <a16:creationId xmlns:a16="http://schemas.microsoft.com/office/drawing/2014/main" id="{320A5C42-7A7F-6DFA-4849-92C9960975AD}"/>
              </a:ext>
            </a:extLst>
          </p:cNvPr>
          <p:cNvSpPr/>
          <p:nvPr/>
        </p:nvSpPr>
        <p:spPr>
          <a:xfrm>
            <a:off x="3949557" y="4827667"/>
            <a:ext cx="917086" cy="290249"/>
          </a:xfrm>
          <a:prstGeom prst="homePlat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Gap</a:t>
            </a:r>
          </a:p>
        </p:txBody>
      </p:sp>
      <p:sp>
        <p:nvSpPr>
          <p:cNvPr id="54" name="Arrow: Pentagon 53">
            <a:extLst>
              <a:ext uri="{FF2B5EF4-FFF2-40B4-BE49-F238E27FC236}">
                <a16:creationId xmlns:a16="http://schemas.microsoft.com/office/drawing/2014/main" id="{15275758-5AE3-6FC9-67DB-47D102F42F14}"/>
              </a:ext>
            </a:extLst>
          </p:cNvPr>
          <p:cNvSpPr/>
          <p:nvPr/>
        </p:nvSpPr>
        <p:spPr>
          <a:xfrm>
            <a:off x="3942827" y="5325905"/>
            <a:ext cx="917086" cy="290249"/>
          </a:xfrm>
          <a:prstGeom prst="homePlat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Need</a:t>
            </a:r>
          </a:p>
        </p:txBody>
      </p:sp>
      <p:sp>
        <p:nvSpPr>
          <p:cNvPr id="55" name="Arrow: Pentagon 54">
            <a:extLst>
              <a:ext uri="{FF2B5EF4-FFF2-40B4-BE49-F238E27FC236}">
                <a16:creationId xmlns:a16="http://schemas.microsoft.com/office/drawing/2014/main" id="{D0912B7C-05BF-B0FC-CAAE-8A9A41DD7D63}"/>
              </a:ext>
            </a:extLst>
          </p:cNvPr>
          <p:cNvSpPr/>
          <p:nvPr/>
        </p:nvSpPr>
        <p:spPr>
          <a:xfrm>
            <a:off x="3942827" y="5840493"/>
            <a:ext cx="958134" cy="347213"/>
          </a:xfrm>
          <a:prstGeom prst="homePlat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Solution</a:t>
            </a:r>
          </a:p>
        </p:txBody>
      </p:sp>
      <p:pic>
        <p:nvPicPr>
          <p:cNvPr id="56" name="Picture 18" descr="How to Insert a Tick Symbol In Microsoft Word - Simul Docs">
            <a:extLst>
              <a:ext uri="{FF2B5EF4-FFF2-40B4-BE49-F238E27FC236}">
                <a16:creationId xmlns:a16="http://schemas.microsoft.com/office/drawing/2014/main" id="{6D247A96-705D-FA64-5956-C94D30CDE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3884" y="3296468"/>
            <a:ext cx="177499" cy="213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88E797BE-FAE4-CA11-D9C9-ED22943ABC94}"/>
              </a:ext>
            </a:extLst>
          </p:cNvPr>
          <p:cNvSpPr/>
          <p:nvPr/>
        </p:nvSpPr>
        <p:spPr>
          <a:xfrm>
            <a:off x="6163252" y="4270862"/>
            <a:ext cx="1235047" cy="28871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Acquisition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FEF5FD3-4314-CC99-21F3-0487D70E7FBE}"/>
              </a:ext>
            </a:extLst>
          </p:cNvPr>
          <p:cNvSpPr/>
          <p:nvPr/>
        </p:nvSpPr>
        <p:spPr>
          <a:xfrm>
            <a:off x="8000886" y="4256348"/>
            <a:ext cx="1235047" cy="29912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Conversion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768DE129-84D3-1423-0BD9-BD37E4163CDC}"/>
              </a:ext>
            </a:extLst>
          </p:cNvPr>
          <p:cNvSpPr/>
          <p:nvPr/>
        </p:nvSpPr>
        <p:spPr>
          <a:xfrm>
            <a:off x="9940995" y="4261857"/>
            <a:ext cx="1184246" cy="286419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Retention</a:t>
            </a:r>
          </a:p>
        </p:txBody>
      </p:sp>
      <p:sp>
        <p:nvSpPr>
          <p:cNvPr id="88" name="Half Frame 87">
            <a:extLst>
              <a:ext uri="{FF2B5EF4-FFF2-40B4-BE49-F238E27FC236}">
                <a16:creationId xmlns:a16="http://schemas.microsoft.com/office/drawing/2014/main" id="{0013AF09-C9EB-F412-6FCC-5FC2190D1FD6}"/>
              </a:ext>
            </a:extLst>
          </p:cNvPr>
          <p:cNvSpPr/>
          <p:nvPr/>
        </p:nvSpPr>
        <p:spPr>
          <a:xfrm>
            <a:off x="480454" y="3956287"/>
            <a:ext cx="583908" cy="562404"/>
          </a:xfrm>
          <a:prstGeom prst="halfFrame">
            <a:avLst>
              <a:gd name="adj1" fmla="val 11669"/>
              <a:gd name="adj2" fmla="val 11601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89" name="Half Frame 88">
            <a:extLst>
              <a:ext uri="{FF2B5EF4-FFF2-40B4-BE49-F238E27FC236}">
                <a16:creationId xmlns:a16="http://schemas.microsoft.com/office/drawing/2014/main" id="{991BA1DB-D37E-ED43-AA71-2CD4A16290BD}"/>
              </a:ext>
            </a:extLst>
          </p:cNvPr>
          <p:cNvSpPr/>
          <p:nvPr/>
        </p:nvSpPr>
        <p:spPr>
          <a:xfrm flipH="1">
            <a:off x="3250208" y="3981376"/>
            <a:ext cx="588831" cy="640080"/>
          </a:xfrm>
          <a:prstGeom prst="halfFrame">
            <a:avLst>
              <a:gd name="adj1" fmla="val 11669"/>
              <a:gd name="adj2" fmla="val 11601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90" name="Half Frame 89">
            <a:extLst>
              <a:ext uri="{FF2B5EF4-FFF2-40B4-BE49-F238E27FC236}">
                <a16:creationId xmlns:a16="http://schemas.microsoft.com/office/drawing/2014/main" id="{77D93F44-3091-8EFC-757A-108F5272DB99}"/>
              </a:ext>
            </a:extLst>
          </p:cNvPr>
          <p:cNvSpPr/>
          <p:nvPr/>
        </p:nvSpPr>
        <p:spPr>
          <a:xfrm rot="16200000">
            <a:off x="410665" y="5755900"/>
            <a:ext cx="583908" cy="562404"/>
          </a:xfrm>
          <a:prstGeom prst="halfFrame">
            <a:avLst>
              <a:gd name="adj1" fmla="val 11669"/>
              <a:gd name="adj2" fmla="val 11601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91" name="Half Frame 90">
            <a:extLst>
              <a:ext uri="{FF2B5EF4-FFF2-40B4-BE49-F238E27FC236}">
                <a16:creationId xmlns:a16="http://schemas.microsoft.com/office/drawing/2014/main" id="{DC6DFD75-8409-E1A3-0D21-6CF6EBB0A7AE}"/>
              </a:ext>
            </a:extLst>
          </p:cNvPr>
          <p:cNvSpPr/>
          <p:nvPr/>
        </p:nvSpPr>
        <p:spPr>
          <a:xfrm rot="5400000" flipH="1">
            <a:off x="3275832" y="5687899"/>
            <a:ext cx="588831" cy="640080"/>
          </a:xfrm>
          <a:prstGeom prst="halfFrame">
            <a:avLst>
              <a:gd name="adj1" fmla="val 11669"/>
              <a:gd name="adj2" fmla="val 11601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59E086A-05E4-4BA3-97D6-6ABD16E69389}"/>
              </a:ext>
            </a:extLst>
          </p:cNvPr>
          <p:cNvSpPr/>
          <p:nvPr/>
        </p:nvSpPr>
        <p:spPr>
          <a:xfrm>
            <a:off x="1104453" y="4069285"/>
            <a:ext cx="27365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Expert talks &amp; secondary research</a:t>
            </a:r>
          </a:p>
        </p:txBody>
      </p:sp>
      <p:grpSp>
        <p:nvGrpSpPr>
          <p:cNvPr id="95" name="Manager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7D1632B1-0892-1044-579A-69339FBEED96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816104" y="4056630"/>
            <a:ext cx="325012" cy="320150"/>
            <a:chOff x="5354638" y="3213100"/>
            <a:chExt cx="860426" cy="823913"/>
          </a:xfrm>
          <a:solidFill>
            <a:schemeClr val="accent1">
              <a:lumMod val="50000"/>
            </a:schemeClr>
          </a:solidFill>
        </p:grpSpPr>
        <p:sp>
          <p:nvSpPr>
            <p:cNvPr id="96" name="Freeform 64">
              <a:extLst>
                <a:ext uri="{FF2B5EF4-FFF2-40B4-BE49-F238E27FC236}">
                  <a16:creationId xmlns:a16="http://schemas.microsoft.com/office/drawing/2014/main" id="{7AC0ACDA-BD43-BE83-297B-EC15C4C7DDA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0576" y="3616325"/>
              <a:ext cx="169863" cy="144463"/>
            </a:xfrm>
            <a:custGeom>
              <a:avLst/>
              <a:gdLst>
                <a:gd name="T0" fmla="*/ 72 w 107"/>
                <a:gd name="T1" fmla="*/ 72 h 91"/>
                <a:gd name="T2" fmla="*/ 53 w 107"/>
                <a:gd name="T3" fmla="*/ 91 h 91"/>
                <a:gd name="T4" fmla="*/ 60 w 107"/>
                <a:gd name="T5" fmla="*/ 91 h 91"/>
                <a:gd name="T6" fmla="*/ 107 w 107"/>
                <a:gd name="T7" fmla="*/ 91 h 91"/>
                <a:gd name="T8" fmla="*/ 107 w 107"/>
                <a:gd name="T9" fmla="*/ 43 h 91"/>
                <a:gd name="T10" fmla="*/ 107 w 107"/>
                <a:gd name="T11" fmla="*/ 38 h 91"/>
                <a:gd name="T12" fmla="*/ 89 w 107"/>
                <a:gd name="T13" fmla="*/ 55 h 91"/>
                <a:gd name="T14" fmla="*/ 34 w 107"/>
                <a:gd name="T15" fmla="*/ 0 h 91"/>
                <a:gd name="T16" fmla="*/ 0 w 107"/>
                <a:gd name="T17" fmla="*/ 0 h 91"/>
                <a:gd name="T18" fmla="*/ 72 w 107"/>
                <a:gd name="T19" fmla="*/ 72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7" h="91">
                  <a:moveTo>
                    <a:pt x="72" y="72"/>
                  </a:moveTo>
                  <a:lnTo>
                    <a:pt x="53" y="91"/>
                  </a:lnTo>
                  <a:lnTo>
                    <a:pt x="60" y="91"/>
                  </a:lnTo>
                  <a:lnTo>
                    <a:pt x="107" y="91"/>
                  </a:lnTo>
                  <a:lnTo>
                    <a:pt x="107" y="43"/>
                  </a:lnTo>
                  <a:lnTo>
                    <a:pt x="107" y="38"/>
                  </a:lnTo>
                  <a:lnTo>
                    <a:pt x="89" y="55"/>
                  </a:lnTo>
                  <a:lnTo>
                    <a:pt x="34" y="0"/>
                  </a:lnTo>
                  <a:lnTo>
                    <a:pt x="0" y="0"/>
                  </a:lnTo>
                  <a:lnTo>
                    <a:pt x="72" y="7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7" name="Freeform 65">
              <a:extLst>
                <a:ext uri="{FF2B5EF4-FFF2-40B4-BE49-F238E27FC236}">
                  <a16:creationId xmlns:a16="http://schemas.microsoft.com/office/drawing/2014/main" id="{E3BF66B2-C9A4-F071-F3EC-53C05407B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9263" y="3617913"/>
              <a:ext cx="157163" cy="149225"/>
            </a:xfrm>
            <a:custGeom>
              <a:avLst/>
              <a:gdLst>
                <a:gd name="T0" fmla="*/ 167 w 205"/>
                <a:gd name="T1" fmla="*/ 73 h 197"/>
                <a:gd name="T2" fmla="*/ 205 w 205"/>
                <a:gd name="T3" fmla="*/ 111 h 197"/>
                <a:gd name="T4" fmla="*/ 205 w 205"/>
                <a:gd name="T5" fmla="*/ 0 h 197"/>
                <a:gd name="T6" fmla="*/ 162 w 205"/>
                <a:gd name="T7" fmla="*/ 0 h 197"/>
                <a:gd name="T8" fmla="*/ 94 w 205"/>
                <a:gd name="T9" fmla="*/ 0 h 197"/>
                <a:gd name="T10" fmla="*/ 131 w 205"/>
                <a:gd name="T11" fmla="*/ 38 h 197"/>
                <a:gd name="T12" fmla="*/ 0 w 205"/>
                <a:gd name="T13" fmla="*/ 169 h 197"/>
                <a:gd name="T14" fmla="*/ 43 w 205"/>
                <a:gd name="T15" fmla="*/ 197 h 197"/>
                <a:gd name="T16" fmla="*/ 167 w 205"/>
                <a:gd name="T17" fmla="*/ 73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5" h="197">
                  <a:moveTo>
                    <a:pt x="167" y="73"/>
                  </a:moveTo>
                  <a:lnTo>
                    <a:pt x="205" y="111"/>
                  </a:lnTo>
                  <a:lnTo>
                    <a:pt x="205" y="0"/>
                  </a:lnTo>
                  <a:lnTo>
                    <a:pt x="162" y="0"/>
                  </a:lnTo>
                  <a:lnTo>
                    <a:pt x="94" y="0"/>
                  </a:lnTo>
                  <a:lnTo>
                    <a:pt x="131" y="38"/>
                  </a:lnTo>
                  <a:lnTo>
                    <a:pt x="0" y="169"/>
                  </a:lnTo>
                  <a:cubicBezTo>
                    <a:pt x="16" y="175"/>
                    <a:pt x="30" y="185"/>
                    <a:pt x="43" y="197"/>
                  </a:cubicBezTo>
                  <a:lnTo>
                    <a:pt x="167" y="73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" name="Freeform 66">
              <a:extLst>
                <a:ext uri="{FF2B5EF4-FFF2-40B4-BE49-F238E27FC236}">
                  <a16:creationId xmlns:a16="http://schemas.microsoft.com/office/drawing/2014/main" id="{195BAB86-B7C5-F06A-36BB-B7806BBE8D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8163" y="3438525"/>
              <a:ext cx="333375" cy="139700"/>
            </a:xfrm>
            <a:custGeom>
              <a:avLst/>
              <a:gdLst>
                <a:gd name="T0" fmla="*/ 439 w 439"/>
                <a:gd name="T1" fmla="*/ 159 h 182"/>
                <a:gd name="T2" fmla="*/ 288 w 439"/>
                <a:gd name="T3" fmla="*/ 0 h 182"/>
                <a:gd name="T4" fmla="*/ 220 w 439"/>
                <a:gd name="T5" fmla="*/ 68 h 182"/>
                <a:gd name="T6" fmla="*/ 151 w 439"/>
                <a:gd name="T7" fmla="*/ 0 h 182"/>
                <a:gd name="T8" fmla="*/ 0 w 439"/>
                <a:gd name="T9" fmla="*/ 159 h 182"/>
                <a:gd name="T10" fmla="*/ 0 w 439"/>
                <a:gd name="T11" fmla="*/ 182 h 182"/>
                <a:gd name="T12" fmla="*/ 439 w 439"/>
                <a:gd name="T13" fmla="*/ 182 h 182"/>
                <a:gd name="T14" fmla="*/ 439 w 439"/>
                <a:gd name="T15" fmla="*/ 159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9" h="182">
                  <a:moveTo>
                    <a:pt x="439" y="159"/>
                  </a:moveTo>
                  <a:cubicBezTo>
                    <a:pt x="439" y="62"/>
                    <a:pt x="376" y="15"/>
                    <a:pt x="288" y="0"/>
                  </a:cubicBezTo>
                  <a:lnTo>
                    <a:pt x="220" y="68"/>
                  </a:lnTo>
                  <a:lnTo>
                    <a:pt x="151" y="0"/>
                  </a:lnTo>
                  <a:cubicBezTo>
                    <a:pt x="64" y="15"/>
                    <a:pt x="0" y="62"/>
                    <a:pt x="0" y="159"/>
                  </a:cubicBezTo>
                  <a:lnTo>
                    <a:pt x="0" y="182"/>
                  </a:lnTo>
                  <a:lnTo>
                    <a:pt x="439" y="182"/>
                  </a:lnTo>
                  <a:lnTo>
                    <a:pt x="439" y="15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9" name="Oval 67">
              <a:extLst>
                <a:ext uri="{FF2B5EF4-FFF2-40B4-BE49-F238E27FC236}">
                  <a16:creationId xmlns:a16="http://schemas.microsoft.com/office/drawing/2014/main" id="{E021F9C4-6CC6-C9D6-48DD-BA70587AD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86426" y="3213100"/>
              <a:ext cx="196850" cy="1952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0" name="Freeform 68">
              <a:extLst>
                <a:ext uri="{FF2B5EF4-FFF2-40B4-BE49-F238E27FC236}">
                  <a16:creationId xmlns:a16="http://schemas.microsoft.com/office/drawing/2014/main" id="{A78CB8C1-7B4E-AAE8-0658-FB4B00B134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4638" y="3938588"/>
              <a:ext cx="249238" cy="98425"/>
            </a:xfrm>
            <a:custGeom>
              <a:avLst/>
              <a:gdLst>
                <a:gd name="T0" fmla="*/ 221 w 326"/>
                <a:gd name="T1" fmla="*/ 0 h 129"/>
                <a:gd name="T2" fmla="*/ 164 w 326"/>
                <a:gd name="T3" fmla="*/ 57 h 129"/>
                <a:gd name="T4" fmla="*/ 107 w 326"/>
                <a:gd name="T5" fmla="*/ 0 h 129"/>
                <a:gd name="T6" fmla="*/ 0 w 326"/>
                <a:gd name="T7" fmla="*/ 118 h 129"/>
                <a:gd name="T8" fmla="*/ 0 w 326"/>
                <a:gd name="T9" fmla="*/ 129 h 129"/>
                <a:gd name="T10" fmla="*/ 326 w 326"/>
                <a:gd name="T11" fmla="*/ 129 h 129"/>
                <a:gd name="T12" fmla="*/ 326 w 326"/>
                <a:gd name="T13" fmla="*/ 118 h 129"/>
                <a:gd name="T14" fmla="*/ 221 w 326"/>
                <a:gd name="T15" fmla="*/ 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6" h="129">
                  <a:moveTo>
                    <a:pt x="221" y="0"/>
                  </a:moveTo>
                  <a:lnTo>
                    <a:pt x="164" y="57"/>
                  </a:lnTo>
                  <a:lnTo>
                    <a:pt x="107" y="0"/>
                  </a:lnTo>
                  <a:cubicBezTo>
                    <a:pt x="45" y="12"/>
                    <a:pt x="0" y="48"/>
                    <a:pt x="0" y="118"/>
                  </a:cubicBezTo>
                  <a:lnTo>
                    <a:pt x="0" y="129"/>
                  </a:lnTo>
                  <a:lnTo>
                    <a:pt x="326" y="129"/>
                  </a:lnTo>
                  <a:lnTo>
                    <a:pt x="326" y="118"/>
                  </a:lnTo>
                  <a:cubicBezTo>
                    <a:pt x="326" y="48"/>
                    <a:pt x="282" y="13"/>
                    <a:pt x="221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Freeform 69">
              <a:extLst>
                <a:ext uri="{FF2B5EF4-FFF2-40B4-BE49-F238E27FC236}">
                  <a16:creationId xmlns:a16="http://schemas.microsoft.com/office/drawing/2014/main" id="{4AEE395B-EE92-6731-BDD0-95574DB795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5826" y="3938588"/>
              <a:ext cx="249238" cy="98425"/>
            </a:xfrm>
            <a:custGeom>
              <a:avLst/>
              <a:gdLst>
                <a:gd name="T0" fmla="*/ 220 w 326"/>
                <a:gd name="T1" fmla="*/ 0 h 129"/>
                <a:gd name="T2" fmla="*/ 163 w 326"/>
                <a:gd name="T3" fmla="*/ 57 h 129"/>
                <a:gd name="T4" fmla="*/ 106 w 326"/>
                <a:gd name="T5" fmla="*/ 0 h 129"/>
                <a:gd name="T6" fmla="*/ 0 w 326"/>
                <a:gd name="T7" fmla="*/ 118 h 129"/>
                <a:gd name="T8" fmla="*/ 0 w 326"/>
                <a:gd name="T9" fmla="*/ 129 h 129"/>
                <a:gd name="T10" fmla="*/ 326 w 326"/>
                <a:gd name="T11" fmla="*/ 129 h 129"/>
                <a:gd name="T12" fmla="*/ 326 w 326"/>
                <a:gd name="T13" fmla="*/ 118 h 129"/>
                <a:gd name="T14" fmla="*/ 220 w 326"/>
                <a:gd name="T15" fmla="*/ 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6" h="129">
                  <a:moveTo>
                    <a:pt x="220" y="0"/>
                  </a:moveTo>
                  <a:lnTo>
                    <a:pt x="163" y="57"/>
                  </a:lnTo>
                  <a:lnTo>
                    <a:pt x="106" y="0"/>
                  </a:lnTo>
                  <a:cubicBezTo>
                    <a:pt x="44" y="12"/>
                    <a:pt x="0" y="48"/>
                    <a:pt x="0" y="118"/>
                  </a:cubicBezTo>
                  <a:lnTo>
                    <a:pt x="0" y="129"/>
                  </a:lnTo>
                  <a:lnTo>
                    <a:pt x="326" y="129"/>
                  </a:lnTo>
                  <a:lnTo>
                    <a:pt x="326" y="118"/>
                  </a:lnTo>
                  <a:cubicBezTo>
                    <a:pt x="326" y="48"/>
                    <a:pt x="282" y="13"/>
                    <a:pt x="220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Oval 70">
              <a:extLst>
                <a:ext uri="{FF2B5EF4-FFF2-40B4-BE49-F238E27FC236}">
                  <a16:creationId xmlns:a16="http://schemas.microsoft.com/office/drawing/2014/main" id="{7DC515CC-85D6-72CA-997B-547DCF0DB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7026" y="3770313"/>
              <a:ext cx="144463" cy="1444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Freeform 71">
              <a:extLst>
                <a:ext uri="{FF2B5EF4-FFF2-40B4-BE49-F238E27FC236}">
                  <a16:creationId xmlns:a16="http://schemas.microsoft.com/office/drawing/2014/main" id="{3F513CAD-B8B9-4D90-EF0A-59616A13E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6263" y="3938588"/>
              <a:ext cx="249238" cy="98425"/>
            </a:xfrm>
            <a:custGeom>
              <a:avLst/>
              <a:gdLst>
                <a:gd name="T0" fmla="*/ 221 w 326"/>
                <a:gd name="T1" fmla="*/ 0 h 129"/>
                <a:gd name="T2" fmla="*/ 164 w 326"/>
                <a:gd name="T3" fmla="*/ 57 h 129"/>
                <a:gd name="T4" fmla="*/ 106 w 326"/>
                <a:gd name="T5" fmla="*/ 0 h 129"/>
                <a:gd name="T6" fmla="*/ 0 w 326"/>
                <a:gd name="T7" fmla="*/ 118 h 129"/>
                <a:gd name="T8" fmla="*/ 0 w 326"/>
                <a:gd name="T9" fmla="*/ 129 h 129"/>
                <a:gd name="T10" fmla="*/ 326 w 326"/>
                <a:gd name="T11" fmla="*/ 129 h 129"/>
                <a:gd name="T12" fmla="*/ 326 w 326"/>
                <a:gd name="T13" fmla="*/ 118 h 129"/>
                <a:gd name="T14" fmla="*/ 221 w 326"/>
                <a:gd name="T15" fmla="*/ 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6" h="129">
                  <a:moveTo>
                    <a:pt x="221" y="0"/>
                  </a:moveTo>
                  <a:lnTo>
                    <a:pt x="164" y="57"/>
                  </a:lnTo>
                  <a:lnTo>
                    <a:pt x="106" y="0"/>
                  </a:lnTo>
                  <a:cubicBezTo>
                    <a:pt x="44" y="12"/>
                    <a:pt x="0" y="48"/>
                    <a:pt x="0" y="118"/>
                  </a:cubicBezTo>
                  <a:lnTo>
                    <a:pt x="0" y="129"/>
                  </a:lnTo>
                  <a:lnTo>
                    <a:pt x="326" y="129"/>
                  </a:lnTo>
                  <a:lnTo>
                    <a:pt x="326" y="118"/>
                  </a:lnTo>
                  <a:cubicBezTo>
                    <a:pt x="326" y="48"/>
                    <a:pt x="282" y="13"/>
                    <a:pt x="221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" name="Oval 72">
              <a:extLst>
                <a:ext uri="{FF2B5EF4-FFF2-40B4-BE49-F238E27FC236}">
                  <a16:creationId xmlns:a16="http://schemas.microsoft.com/office/drawing/2014/main" id="{1292B1AD-7C59-729A-EF66-C0A246435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8651" y="3770313"/>
              <a:ext cx="144463" cy="1444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" name="Oval 73">
              <a:extLst>
                <a:ext uri="{FF2B5EF4-FFF2-40B4-BE49-F238E27FC236}">
                  <a16:creationId xmlns:a16="http://schemas.microsoft.com/office/drawing/2014/main" id="{AD7E9C4C-313D-B40F-57E1-CE5BF7FC4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8213" y="3770313"/>
              <a:ext cx="144463" cy="1444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9032F25-86FB-3C63-1124-1F8C4A12D3C0}"/>
              </a:ext>
            </a:extLst>
          </p:cNvPr>
          <p:cNvSpPr/>
          <p:nvPr/>
        </p:nvSpPr>
        <p:spPr>
          <a:xfrm>
            <a:off x="653216" y="4400704"/>
            <a:ext cx="318977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Telephonic discussion with </a:t>
            </a: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8 interior designers, </a:t>
            </a: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from Gujarat across tier-I,II cities. Research report on home textiles market on Euromonitor, CRISIL on e-commerce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CE50F7CB-B5D7-6960-4B49-10B0ADBDA1AC}"/>
              </a:ext>
            </a:extLst>
          </p:cNvPr>
          <p:cNvSpPr/>
          <p:nvPr/>
        </p:nvSpPr>
        <p:spPr>
          <a:xfrm>
            <a:off x="978610" y="5178262"/>
            <a:ext cx="293575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Customer Interviews &amp; Survey</a:t>
            </a:r>
          </a:p>
        </p:txBody>
      </p:sp>
      <p:grpSp>
        <p:nvGrpSpPr>
          <p:cNvPr id="108" name="Interview3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ECED882D-7EDB-755A-8B7D-DAA76670B6DB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755030" y="5206763"/>
            <a:ext cx="389593" cy="232727"/>
            <a:chOff x="7069138" y="4486275"/>
            <a:chExt cx="949326" cy="779463"/>
          </a:xfrm>
          <a:solidFill>
            <a:schemeClr val="accent1">
              <a:lumMod val="50000"/>
            </a:schemeClr>
          </a:solidFill>
        </p:grpSpPr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C3700CED-E89C-4494-76A3-352D8734E405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9138" y="4805363"/>
              <a:ext cx="538163" cy="419100"/>
            </a:xfrm>
            <a:custGeom>
              <a:avLst/>
              <a:gdLst>
                <a:gd name="T0" fmla="*/ 76 w 707"/>
                <a:gd name="T1" fmla="*/ 230 h 551"/>
                <a:gd name="T2" fmla="*/ 76 w 707"/>
                <a:gd name="T3" fmla="*/ 306 h 551"/>
                <a:gd name="T4" fmla="*/ 0 w 707"/>
                <a:gd name="T5" fmla="*/ 306 h 551"/>
                <a:gd name="T6" fmla="*/ 0 w 707"/>
                <a:gd name="T7" fmla="*/ 353 h 551"/>
                <a:gd name="T8" fmla="*/ 122 w 707"/>
                <a:gd name="T9" fmla="*/ 353 h 551"/>
                <a:gd name="T10" fmla="*/ 122 w 707"/>
                <a:gd name="T11" fmla="*/ 410 h 551"/>
                <a:gd name="T12" fmla="*/ 98 w 707"/>
                <a:gd name="T13" fmla="*/ 410 h 551"/>
                <a:gd name="T14" fmla="*/ 79 w 707"/>
                <a:gd name="T15" fmla="*/ 420 h 551"/>
                <a:gd name="T16" fmla="*/ 76 w 707"/>
                <a:gd name="T17" fmla="*/ 441 h 551"/>
                <a:gd name="T18" fmla="*/ 111 w 707"/>
                <a:gd name="T19" fmla="*/ 536 h 551"/>
                <a:gd name="T20" fmla="*/ 133 w 707"/>
                <a:gd name="T21" fmla="*/ 551 h 551"/>
                <a:gd name="T22" fmla="*/ 444 w 707"/>
                <a:gd name="T23" fmla="*/ 551 h 551"/>
                <a:gd name="T24" fmla="*/ 444 w 707"/>
                <a:gd name="T25" fmla="*/ 515 h 551"/>
                <a:gd name="T26" fmla="*/ 157 w 707"/>
                <a:gd name="T27" fmla="*/ 515 h 551"/>
                <a:gd name="T28" fmla="*/ 157 w 707"/>
                <a:gd name="T29" fmla="*/ 212 h 551"/>
                <a:gd name="T30" fmla="*/ 176 w 707"/>
                <a:gd name="T31" fmla="*/ 194 h 551"/>
                <a:gd name="T32" fmla="*/ 587 w 707"/>
                <a:gd name="T33" fmla="*/ 194 h 551"/>
                <a:gd name="T34" fmla="*/ 707 w 707"/>
                <a:gd name="T35" fmla="*/ 139 h 551"/>
                <a:gd name="T36" fmla="*/ 516 w 707"/>
                <a:gd name="T37" fmla="*/ 3 h 551"/>
                <a:gd name="T38" fmla="*/ 402 w 707"/>
                <a:gd name="T39" fmla="*/ 86 h 551"/>
                <a:gd name="T40" fmla="*/ 284 w 707"/>
                <a:gd name="T41" fmla="*/ 0 h 551"/>
                <a:gd name="T42" fmla="*/ 76 w 707"/>
                <a:gd name="T43" fmla="*/ 23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7" h="551">
                  <a:moveTo>
                    <a:pt x="76" y="230"/>
                  </a:moveTo>
                  <a:lnTo>
                    <a:pt x="76" y="306"/>
                  </a:lnTo>
                  <a:lnTo>
                    <a:pt x="0" y="306"/>
                  </a:lnTo>
                  <a:lnTo>
                    <a:pt x="0" y="353"/>
                  </a:lnTo>
                  <a:lnTo>
                    <a:pt x="122" y="353"/>
                  </a:lnTo>
                  <a:lnTo>
                    <a:pt x="122" y="410"/>
                  </a:lnTo>
                  <a:lnTo>
                    <a:pt x="98" y="410"/>
                  </a:lnTo>
                  <a:cubicBezTo>
                    <a:pt x="91" y="410"/>
                    <a:pt x="84" y="414"/>
                    <a:pt x="79" y="420"/>
                  </a:cubicBezTo>
                  <a:cubicBezTo>
                    <a:pt x="75" y="426"/>
                    <a:pt x="74" y="434"/>
                    <a:pt x="76" y="441"/>
                  </a:cubicBezTo>
                  <a:lnTo>
                    <a:pt x="111" y="536"/>
                  </a:lnTo>
                  <a:cubicBezTo>
                    <a:pt x="114" y="545"/>
                    <a:pt x="123" y="551"/>
                    <a:pt x="133" y="551"/>
                  </a:cubicBezTo>
                  <a:lnTo>
                    <a:pt x="444" y="551"/>
                  </a:lnTo>
                  <a:lnTo>
                    <a:pt x="444" y="515"/>
                  </a:lnTo>
                  <a:lnTo>
                    <a:pt x="157" y="515"/>
                  </a:lnTo>
                  <a:lnTo>
                    <a:pt x="157" y="212"/>
                  </a:lnTo>
                  <a:cubicBezTo>
                    <a:pt x="157" y="202"/>
                    <a:pt x="165" y="194"/>
                    <a:pt x="176" y="194"/>
                  </a:cubicBezTo>
                  <a:lnTo>
                    <a:pt x="587" y="194"/>
                  </a:lnTo>
                  <a:cubicBezTo>
                    <a:pt x="620" y="170"/>
                    <a:pt x="660" y="152"/>
                    <a:pt x="707" y="139"/>
                  </a:cubicBezTo>
                  <a:cubicBezTo>
                    <a:pt x="674" y="71"/>
                    <a:pt x="604" y="24"/>
                    <a:pt x="516" y="3"/>
                  </a:cubicBezTo>
                  <a:lnTo>
                    <a:pt x="402" y="86"/>
                  </a:lnTo>
                  <a:lnTo>
                    <a:pt x="284" y="0"/>
                  </a:lnTo>
                  <a:cubicBezTo>
                    <a:pt x="162" y="23"/>
                    <a:pt x="76" y="89"/>
                    <a:pt x="76" y="23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" name="Oval 157">
              <a:extLst>
                <a:ext uri="{FF2B5EF4-FFF2-40B4-BE49-F238E27FC236}">
                  <a16:creationId xmlns:a16="http://schemas.microsoft.com/office/drawing/2014/main" id="{0085F2A6-2447-F797-F965-7EE2147E7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2651" y="4486275"/>
              <a:ext cx="282575" cy="282575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" name="Oval 158">
              <a:extLst>
                <a:ext uri="{FF2B5EF4-FFF2-40B4-BE49-F238E27FC236}">
                  <a16:creationId xmlns:a16="http://schemas.microsoft.com/office/drawing/2014/main" id="{C594DBFF-60A8-9C29-D43C-EEA1C471B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42188" y="5046663"/>
              <a:ext cx="65088" cy="65088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65C6A0B5-98F2-E79C-BADF-E547FFD6400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8551" y="4935538"/>
              <a:ext cx="569913" cy="330200"/>
            </a:xfrm>
            <a:custGeom>
              <a:avLst/>
              <a:gdLst>
                <a:gd name="T0" fmla="*/ 375 w 749"/>
                <a:gd name="T1" fmla="*/ 0 h 434"/>
                <a:gd name="T2" fmla="*/ 59 w 749"/>
                <a:gd name="T3" fmla="*/ 139 h 434"/>
                <a:gd name="T4" fmla="*/ 0 w 749"/>
                <a:gd name="T5" fmla="*/ 208 h 434"/>
                <a:gd name="T6" fmla="*/ 0 w 749"/>
                <a:gd name="T7" fmla="*/ 434 h 434"/>
                <a:gd name="T8" fmla="*/ 58 w 749"/>
                <a:gd name="T9" fmla="*/ 434 h 434"/>
                <a:gd name="T10" fmla="*/ 58 w 749"/>
                <a:gd name="T11" fmla="*/ 208 h 434"/>
                <a:gd name="T12" fmla="*/ 75 w 749"/>
                <a:gd name="T13" fmla="*/ 191 h 434"/>
                <a:gd name="T14" fmla="*/ 673 w 749"/>
                <a:gd name="T15" fmla="*/ 191 h 434"/>
                <a:gd name="T16" fmla="*/ 690 w 749"/>
                <a:gd name="T17" fmla="*/ 208 h 434"/>
                <a:gd name="T18" fmla="*/ 690 w 749"/>
                <a:gd name="T19" fmla="*/ 434 h 434"/>
                <a:gd name="T20" fmla="*/ 749 w 749"/>
                <a:gd name="T21" fmla="*/ 434 h 434"/>
                <a:gd name="T22" fmla="*/ 749 w 749"/>
                <a:gd name="T23" fmla="*/ 208 h 434"/>
                <a:gd name="T24" fmla="*/ 690 w 749"/>
                <a:gd name="T25" fmla="*/ 139 h 434"/>
                <a:gd name="T26" fmla="*/ 375 w 749"/>
                <a:gd name="T27" fmla="*/ 0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9" h="434">
                  <a:moveTo>
                    <a:pt x="375" y="0"/>
                  </a:moveTo>
                  <a:cubicBezTo>
                    <a:pt x="178" y="0"/>
                    <a:pt x="88" y="75"/>
                    <a:pt x="59" y="139"/>
                  </a:cubicBezTo>
                  <a:cubicBezTo>
                    <a:pt x="25" y="145"/>
                    <a:pt x="0" y="173"/>
                    <a:pt x="0" y="208"/>
                  </a:cubicBezTo>
                  <a:lnTo>
                    <a:pt x="0" y="434"/>
                  </a:lnTo>
                  <a:lnTo>
                    <a:pt x="58" y="434"/>
                  </a:lnTo>
                  <a:lnTo>
                    <a:pt x="58" y="208"/>
                  </a:lnTo>
                  <a:cubicBezTo>
                    <a:pt x="58" y="199"/>
                    <a:pt x="65" y="191"/>
                    <a:pt x="75" y="191"/>
                  </a:cubicBezTo>
                  <a:lnTo>
                    <a:pt x="673" y="191"/>
                  </a:lnTo>
                  <a:cubicBezTo>
                    <a:pt x="682" y="191"/>
                    <a:pt x="690" y="199"/>
                    <a:pt x="690" y="208"/>
                  </a:cubicBezTo>
                  <a:lnTo>
                    <a:pt x="690" y="434"/>
                  </a:lnTo>
                  <a:lnTo>
                    <a:pt x="749" y="434"/>
                  </a:lnTo>
                  <a:lnTo>
                    <a:pt x="749" y="208"/>
                  </a:lnTo>
                  <a:cubicBezTo>
                    <a:pt x="749" y="173"/>
                    <a:pt x="724" y="145"/>
                    <a:pt x="690" y="139"/>
                  </a:cubicBezTo>
                  <a:cubicBezTo>
                    <a:pt x="661" y="75"/>
                    <a:pt x="571" y="0"/>
                    <a:pt x="375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" name="Oval 160">
              <a:extLst>
                <a:ext uri="{FF2B5EF4-FFF2-40B4-BE49-F238E27FC236}">
                  <a16:creationId xmlns:a16="http://schemas.microsoft.com/office/drawing/2014/main" id="{0B04026A-6E29-6076-1163-24A200A3E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5076" y="4603750"/>
              <a:ext cx="296863" cy="2968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286E2D2-AC9D-3D48-7E1A-2E2556F324B5}"/>
              </a:ext>
            </a:extLst>
          </p:cNvPr>
          <p:cNvSpPr/>
          <p:nvPr/>
        </p:nvSpPr>
        <p:spPr>
          <a:xfrm>
            <a:off x="547262" y="5541376"/>
            <a:ext cx="33460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In-depth interviews of </a:t>
            </a: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7</a:t>
            </a: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homeowners, </a:t>
            </a: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5</a:t>
            </a: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on rentals &amp; assisted online survey of </a:t>
            </a: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100</a:t>
            </a: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people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tier-I, II, III cities; age: 25 to 50.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1F648EFC-83AC-B5E0-6BEC-1372CD167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912030"/>
              </p:ext>
            </p:extLst>
          </p:nvPr>
        </p:nvGraphicFramePr>
        <p:xfrm>
          <a:off x="4900961" y="4622172"/>
          <a:ext cx="6984540" cy="173736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328180">
                  <a:extLst>
                    <a:ext uri="{9D8B030D-6E8A-4147-A177-3AD203B41FA5}">
                      <a16:colId xmlns:a16="http://schemas.microsoft.com/office/drawing/2014/main" val="867598811"/>
                    </a:ext>
                  </a:extLst>
                </a:gridCol>
                <a:gridCol w="2328180">
                  <a:extLst>
                    <a:ext uri="{9D8B030D-6E8A-4147-A177-3AD203B41FA5}">
                      <a16:colId xmlns:a16="http://schemas.microsoft.com/office/drawing/2014/main" val="1493971915"/>
                    </a:ext>
                  </a:extLst>
                </a:gridCol>
                <a:gridCol w="2328180">
                  <a:extLst>
                    <a:ext uri="{9D8B030D-6E8A-4147-A177-3AD203B41FA5}">
                      <a16:colId xmlns:a16="http://schemas.microsoft.com/office/drawing/2014/main" val="2663337145"/>
                    </a:ext>
                  </a:extLst>
                </a:gridCol>
              </a:tblGrid>
              <a:tr h="597259">
                <a:tc>
                  <a:txBody>
                    <a:bodyPr/>
                    <a:lstStyle/>
                    <a:p>
                      <a:pPr algn="ctr"/>
                      <a:r>
                        <a:rPr lang="en-IN" sz="1200" b="0" i="1">
                          <a:solidFill>
                            <a:schemeClr val="bg1"/>
                          </a:solidFill>
                        </a:rPr>
                        <a:t>Inertia, less brand awareness</a:t>
                      </a:r>
                    </a:p>
                    <a:p>
                      <a:pPr algn="ctr"/>
                      <a:r>
                        <a:rPr lang="en-IN" sz="1200" b="0" i="1">
                          <a:solidFill>
                            <a:schemeClr val="bg1"/>
                          </a:solidFill>
                        </a:rPr>
                        <a:t>Sustainability, Unorganized market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1">
                          <a:solidFill>
                            <a:schemeClr val="bg1"/>
                          </a:solidFill>
                        </a:rPr>
                        <a:t>Reluctance to commit on online platforms, less reviews on e-commerce platforms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1" dirty="0">
                          <a:solidFill>
                            <a:schemeClr val="bg1"/>
                          </a:solidFill>
                        </a:rPr>
                        <a:t>High bargaining power of buyers, less brand conscious, variety of options available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1962214"/>
                  </a:ext>
                </a:extLst>
              </a:tr>
              <a:tr h="426613">
                <a:tc>
                  <a:txBody>
                    <a:bodyPr/>
                    <a:lstStyle/>
                    <a:p>
                      <a:pPr algn="ctr"/>
                      <a:r>
                        <a:rPr lang="en-IN" sz="1200" b="0" i="1">
                          <a:solidFill>
                            <a:schemeClr val="bg1"/>
                          </a:solidFill>
                        </a:rPr>
                        <a:t>Brand awareness &amp; educate,</a:t>
                      </a:r>
                    </a:p>
                    <a:p>
                      <a:pPr algn="ctr"/>
                      <a:r>
                        <a:rPr lang="en-IN" sz="1200" b="0" i="1">
                          <a:solidFill>
                            <a:schemeClr val="bg1"/>
                          </a:solidFill>
                        </a:rPr>
                        <a:t>Identify and activate triggers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1">
                          <a:solidFill>
                            <a:schemeClr val="bg1"/>
                          </a:solidFill>
                        </a:rPr>
                        <a:t>Testimonials, blogs, featured on credible pages for trust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1">
                          <a:solidFill>
                            <a:schemeClr val="bg1"/>
                          </a:solidFill>
                        </a:rPr>
                        <a:t>Tracking and redeeming customers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723883"/>
                  </a:ext>
                </a:extLst>
              </a:tr>
              <a:tr h="597259">
                <a:tc>
                  <a:txBody>
                    <a:bodyPr/>
                    <a:lstStyle/>
                    <a:p>
                      <a:pPr algn="ctr"/>
                      <a:r>
                        <a:rPr lang="en-IN" sz="1200" b="0" i="1" dirty="0">
                          <a:solidFill>
                            <a:schemeClr val="bg1"/>
                          </a:solidFill>
                        </a:rPr>
                        <a:t>Bacteria free bedding, Influencer marketing,</a:t>
                      </a:r>
                    </a:p>
                    <a:p>
                      <a:pPr algn="ctr"/>
                      <a:r>
                        <a:rPr lang="en-IN" sz="1200" b="0" i="1" dirty="0">
                          <a:solidFill>
                            <a:schemeClr val="bg1"/>
                          </a:solidFill>
                        </a:rPr>
                        <a:t>Bundle pricing,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1" dirty="0">
                          <a:solidFill>
                            <a:schemeClr val="bg1"/>
                          </a:solidFill>
                        </a:rPr>
                        <a:t>Video marketing,  Discounts, coupons, e-commerce catalogues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1" dirty="0">
                          <a:solidFill>
                            <a:schemeClr val="bg1"/>
                          </a:solidFill>
                        </a:rPr>
                        <a:t>Rewards programme, old towel exchange campaign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8885550"/>
                  </a:ext>
                </a:extLst>
              </a:tr>
            </a:tbl>
          </a:graphicData>
        </a:graphic>
      </p:graphicFrame>
      <p:sp>
        <p:nvSpPr>
          <p:cNvPr id="49" name="Arrow: Curved Up 48">
            <a:extLst>
              <a:ext uri="{FF2B5EF4-FFF2-40B4-BE49-F238E27FC236}">
                <a16:creationId xmlns:a16="http://schemas.microsoft.com/office/drawing/2014/main" id="{450DDA34-3238-43F7-47A1-8641A3052D05}"/>
              </a:ext>
            </a:extLst>
          </p:cNvPr>
          <p:cNvSpPr/>
          <p:nvPr/>
        </p:nvSpPr>
        <p:spPr>
          <a:xfrm>
            <a:off x="5420307" y="4445101"/>
            <a:ext cx="846176" cy="147577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0" name="Arrow: Curved Up 49">
            <a:extLst>
              <a:ext uri="{FF2B5EF4-FFF2-40B4-BE49-F238E27FC236}">
                <a16:creationId xmlns:a16="http://schemas.microsoft.com/office/drawing/2014/main" id="{CA71B35E-1E0A-7F8A-114B-7BD43EC98007}"/>
              </a:ext>
            </a:extLst>
          </p:cNvPr>
          <p:cNvSpPr/>
          <p:nvPr/>
        </p:nvSpPr>
        <p:spPr>
          <a:xfrm>
            <a:off x="7264932" y="4420408"/>
            <a:ext cx="846176" cy="147577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1" name="Arrow: Curved Up 50">
            <a:extLst>
              <a:ext uri="{FF2B5EF4-FFF2-40B4-BE49-F238E27FC236}">
                <a16:creationId xmlns:a16="http://schemas.microsoft.com/office/drawing/2014/main" id="{C9F99DFD-D192-04E7-61CC-78DFD5A62FF7}"/>
              </a:ext>
            </a:extLst>
          </p:cNvPr>
          <p:cNvSpPr/>
          <p:nvPr/>
        </p:nvSpPr>
        <p:spPr>
          <a:xfrm>
            <a:off x="9174062" y="4431291"/>
            <a:ext cx="846176" cy="147577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374FB9-18B7-C327-2B6D-2B1C4F39EC4B}"/>
              </a:ext>
            </a:extLst>
          </p:cNvPr>
          <p:cNvSpPr/>
          <p:nvPr/>
        </p:nvSpPr>
        <p:spPr>
          <a:xfrm>
            <a:off x="7826606" y="582880"/>
            <a:ext cx="3014247" cy="204521"/>
          </a:xfrm>
          <a:prstGeom prst="rect">
            <a:avLst/>
          </a:prstGeom>
          <a:solidFill>
            <a:srgbClr val="B455AA"/>
          </a:solidFill>
          <a:ln w="12700" cap="flat" cmpd="sng" algn="ctr">
            <a:solidFill>
              <a:srgbClr val="B455AA"/>
            </a:solidFill>
            <a:prstDash val="solid"/>
            <a:miter lim="800000"/>
          </a:ln>
          <a:effectLst/>
        </p:spPr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Target market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C4BF66E-E184-1F4F-27B5-264BC7604411}"/>
              </a:ext>
            </a:extLst>
          </p:cNvPr>
          <p:cNvGrpSpPr/>
          <p:nvPr/>
        </p:nvGrpSpPr>
        <p:grpSpPr>
          <a:xfrm>
            <a:off x="0" y="142951"/>
            <a:ext cx="12192000" cy="378144"/>
            <a:chOff x="522892" y="124260"/>
            <a:chExt cx="10996651" cy="378144"/>
          </a:xfrm>
        </p:grpSpPr>
        <p:sp>
          <p:nvSpPr>
            <p:cNvPr id="3" name="Arrow: Chevron 3">
              <a:extLst>
                <a:ext uri="{FF2B5EF4-FFF2-40B4-BE49-F238E27FC236}">
                  <a16:creationId xmlns:a16="http://schemas.microsoft.com/office/drawing/2014/main" id="{8FA98204-8B7F-E24A-8D6F-DC6C644E99BC}"/>
                </a:ext>
              </a:extLst>
            </p:cNvPr>
            <p:cNvSpPr/>
            <p:nvPr/>
          </p:nvSpPr>
          <p:spPr>
            <a:xfrm>
              <a:off x="522892" y="143574"/>
              <a:ext cx="1855565" cy="35083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Addressable Ecommerce Market</a:t>
              </a:r>
            </a:p>
          </p:txBody>
        </p:sp>
        <p:sp>
          <p:nvSpPr>
            <p:cNvPr id="4" name="Arrow: Chevron 5">
              <a:extLst>
                <a:ext uri="{FF2B5EF4-FFF2-40B4-BE49-F238E27FC236}">
                  <a16:creationId xmlns:a16="http://schemas.microsoft.com/office/drawing/2014/main" id="{D4769E26-09EE-8BC9-8BD6-D3F043346C7C}"/>
                </a:ext>
              </a:extLst>
            </p:cNvPr>
            <p:cNvSpPr/>
            <p:nvPr/>
          </p:nvSpPr>
          <p:spPr>
            <a:xfrm>
              <a:off x="2291973" y="151322"/>
              <a:ext cx="1955142" cy="350834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Segmentation &amp; Cluster Analysis</a:t>
              </a:r>
            </a:p>
          </p:txBody>
        </p:sp>
        <p:sp>
          <p:nvSpPr>
            <p:cNvPr id="6" name="Arrow: Chevron 6">
              <a:extLst>
                <a:ext uri="{FF2B5EF4-FFF2-40B4-BE49-F238E27FC236}">
                  <a16:creationId xmlns:a16="http://schemas.microsoft.com/office/drawing/2014/main" id="{5E0FDDEB-52AB-B7AF-BBBB-F20283BC6500}"/>
                </a:ext>
              </a:extLst>
            </p:cNvPr>
            <p:cNvSpPr/>
            <p:nvPr/>
          </p:nvSpPr>
          <p:spPr>
            <a:xfrm>
              <a:off x="4140858" y="135602"/>
              <a:ext cx="1955142" cy="36655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Competitor Benchmarking</a:t>
              </a:r>
            </a:p>
          </p:txBody>
        </p:sp>
        <p:sp>
          <p:nvSpPr>
            <p:cNvPr id="7" name="Arrow: Chevron 7">
              <a:extLst>
                <a:ext uri="{FF2B5EF4-FFF2-40B4-BE49-F238E27FC236}">
                  <a16:creationId xmlns:a16="http://schemas.microsoft.com/office/drawing/2014/main" id="{FA96EC27-29EB-6D13-CFC6-44D8DEEF797D}"/>
                </a:ext>
              </a:extLst>
            </p:cNvPr>
            <p:cNvSpPr/>
            <p:nvPr/>
          </p:nvSpPr>
          <p:spPr>
            <a:xfrm>
              <a:off x="6027274" y="134750"/>
              <a:ext cx="1954629" cy="36765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Channel Strategy &amp; Portfolio Strategy</a:t>
              </a:r>
            </a:p>
          </p:txBody>
        </p:sp>
        <p:sp>
          <p:nvSpPr>
            <p:cNvPr id="8" name="Arrow: Chevron 8">
              <a:extLst>
                <a:ext uri="{FF2B5EF4-FFF2-40B4-BE49-F238E27FC236}">
                  <a16:creationId xmlns:a16="http://schemas.microsoft.com/office/drawing/2014/main" id="{41C439FB-C05C-659A-4AB5-824B739F3E6F}"/>
                </a:ext>
              </a:extLst>
            </p:cNvPr>
            <p:cNvSpPr/>
            <p:nvPr/>
          </p:nvSpPr>
          <p:spPr>
            <a:xfrm>
              <a:off x="7876159" y="131844"/>
              <a:ext cx="1813329" cy="370311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Digital Marketing Mix</a:t>
              </a:r>
            </a:p>
          </p:txBody>
        </p:sp>
        <p:sp>
          <p:nvSpPr>
            <p:cNvPr id="9" name="Arrow: Chevron 11">
              <a:extLst>
                <a:ext uri="{FF2B5EF4-FFF2-40B4-BE49-F238E27FC236}">
                  <a16:creationId xmlns:a16="http://schemas.microsoft.com/office/drawing/2014/main" id="{9432ECB3-164A-981C-F902-9DABB0950CD8}"/>
                </a:ext>
              </a:extLst>
            </p:cNvPr>
            <p:cNvSpPr/>
            <p:nvPr/>
          </p:nvSpPr>
          <p:spPr>
            <a:xfrm>
              <a:off x="9584173" y="124260"/>
              <a:ext cx="1935370" cy="359680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Campaigns &amp; Feasibility Analysis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9874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8C2A7DE-11F0-3110-81FF-4F89FDE992B2}"/>
              </a:ext>
            </a:extLst>
          </p:cNvPr>
          <p:cNvSpPr txBox="1"/>
          <p:nvPr/>
        </p:nvSpPr>
        <p:spPr>
          <a:xfrm>
            <a:off x="427377" y="4579071"/>
            <a:ext cx="2443173" cy="6828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1450" indent="-171450" algn="l" defTabSz="228600">
              <a:buFont typeface="Wingdings" panose="05000000000000000000" pitchFamily="2" charset="2"/>
              <a:buChar char="Ø"/>
            </a:pPr>
            <a:r>
              <a:rPr lang="en-IN" sz="1200" dirty="0">
                <a:solidFill>
                  <a:schemeClr val="bg1"/>
                </a:solidFill>
              </a:rPr>
              <a:t>Value Based pricing across all the segments</a:t>
            </a:r>
          </a:p>
          <a:p>
            <a:pPr marL="171450" indent="-171450" algn="l" defTabSz="228600">
              <a:buFont typeface="Wingdings" panose="05000000000000000000" pitchFamily="2" charset="2"/>
              <a:buChar char="Ø"/>
            </a:pPr>
            <a:r>
              <a:rPr lang="en-IN" sz="1200" dirty="0">
                <a:solidFill>
                  <a:schemeClr val="bg1"/>
                </a:solidFill>
              </a:rPr>
              <a:t>Penetration in market that is not brand loyal</a:t>
            </a:r>
          </a:p>
          <a:p>
            <a:pPr marL="171450" indent="-171450" algn="l" defTabSz="228600">
              <a:buFont typeface="Wingdings" panose="05000000000000000000" pitchFamily="2" charset="2"/>
              <a:buChar char="Ø"/>
            </a:pPr>
            <a:endParaRPr lang="en-IN" sz="1200" dirty="0">
              <a:solidFill>
                <a:schemeClr val="bg1"/>
              </a:solidFill>
            </a:endParaRPr>
          </a:p>
        </p:txBody>
      </p:sp>
      <p:graphicFrame>
        <p:nvGraphicFramePr>
          <p:cNvPr id="83" name="Table 83">
            <a:extLst>
              <a:ext uri="{FF2B5EF4-FFF2-40B4-BE49-F238E27FC236}">
                <a16:creationId xmlns:a16="http://schemas.microsoft.com/office/drawing/2014/main" id="{05379084-44DA-857E-00C0-19D864B15580}"/>
              </a:ext>
            </a:extLst>
          </p:cNvPr>
          <p:cNvGraphicFramePr>
            <a:graphicFrameLocks noGrp="1"/>
          </p:cNvGraphicFramePr>
          <p:nvPr/>
        </p:nvGraphicFramePr>
        <p:xfrm>
          <a:off x="7817460" y="577636"/>
          <a:ext cx="3683826" cy="177143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48736">
                  <a:extLst>
                    <a:ext uri="{9D8B030D-6E8A-4147-A177-3AD203B41FA5}">
                      <a16:colId xmlns:a16="http://schemas.microsoft.com/office/drawing/2014/main" val="305229609"/>
                    </a:ext>
                  </a:extLst>
                </a:gridCol>
                <a:gridCol w="948736">
                  <a:extLst>
                    <a:ext uri="{9D8B030D-6E8A-4147-A177-3AD203B41FA5}">
                      <a16:colId xmlns:a16="http://schemas.microsoft.com/office/drawing/2014/main" val="1178836432"/>
                    </a:ext>
                  </a:extLst>
                </a:gridCol>
                <a:gridCol w="948736">
                  <a:extLst>
                    <a:ext uri="{9D8B030D-6E8A-4147-A177-3AD203B41FA5}">
                      <a16:colId xmlns:a16="http://schemas.microsoft.com/office/drawing/2014/main" val="1247978657"/>
                    </a:ext>
                  </a:extLst>
                </a:gridCol>
                <a:gridCol w="837618">
                  <a:extLst>
                    <a:ext uri="{9D8B030D-6E8A-4147-A177-3AD203B41FA5}">
                      <a16:colId xmlns:a16="http://schemas.microsoft.com/office/drawing/2014/main" val="2842272435"/>
                    </a:ext>
                  </a:extLst>
                </a:gridCol>
              </a:tblGrid>
              <a:tr h="44285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594538"/>
                  </a:ext>
                </a:extLst>
              </a:tr>
              <a:tr h="44285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89250"/>
                  </a:ext>
                </a:extLst>
              </a:tr>
              <a:tr h="44285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043770"/>
                  </a:ext>
                </a:extLst>
              </a:tr>
              <a:tr h="44285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294524"/>
                  </a:ext>
                </a:extLst>
              </a:tr>
            </a:tbl>
          </a:graphicData>
        </a:graphic>
      </p:graphicFrame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A620780B-3EE5-9C91-E331-5A65CD8CE19E}"/>
              </a:ext>
            </a:extLst>
          </p:cNvPr>
          <p:cNvCxnSpPr>
            <a:cxnSpLocks/>
          </p:cNvCxnSpPr>
          <p:nvPr/>
        </p:nvCxnSpPr>
        <p:spPr>
          <a:xfrm>
            <a:off x="9714237" y="577636"/>
            <a:ext cx="0" cy="177143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33929E2F-C690-9E60-FFCF-EA78EB0BA12F}"/>
              </a:ext>
            </a:extLst>
          </p:cNvPr>
          <p:cNvCxnSpPr>
            <a:cxnSpLocks/>
            <a:stCxn id="83" idx="1"/>
            <a:endCxn id="83" idx="3"/>
          </p:cNvCxnSpPr>
          <p:nvPr/>
        </p:nvCxnSpPr>
        <p:spPr>
          <a:xfrm>
            <a:off x="7817460" y="1463354"/>
            <a:ext cx="3683826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8" name="Table 83">
            <a:extLst>
              <a:ext uri="{FF2B5EF4-FFF2-40B4-BE49-F238E27FC236}">
                <a16:creationId xmlns:a16="http://schemas.microsoft.com/office/drawing/2014/main" id="{5F085202-BB9A-3F88-75C4-2EFC8A5CA8FD}"/>
              </a:ext>
            </a:extLst>
          </p:cNvPr>
          <p:cNvGraphicFramePr>
            <a:graphicFrameLocks noGrp="1"/>
          </p:cNvGraphicFramePr>
          <p:nvPr/>
        </p:nvGraphicFramePr>
        <p:xfrm>
          <a:off x="7861686" y="2566110"/>
          <a:ext cx="3639600" cy="1793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09900">
                  <a:extLst>
                    <a:ext uri="{9D8B030D-6E8A-4147-A177-3AD203B41FA5}">
                      <a16:colId xmlns:a16="http://schemas.microsoft.com/office/drawing/2014/main" val="305229609"/>
                    </a:ext>
                  </a:extLst>
                </a:gridCol>
                <a:gridCol w="909900">
                  <a:extLst>
                    <a:ext uri="{9D8B030D-6E8A-4147-A177-3AD203B41FA5}">
                      <a16:colId xmlns:a16="http://schemas.microsoft.com/office/drawing/2014/main" val="1178836432"/>
                    </a:ext>
                  </a:extLst>
                </a:gridCol>
                <a:gridCol w="909900">
                  <a:extLst>
                    <a:ext uri="{9D8B030D-6E8A-4147-A177-3AD203B41FA5}">
                      <a16:colId xmlns:a16="http://schemas.microsoft.com/office/drawing/2014/main" val="1247978657"/>
                    </a:ext>
                  </a:extLst>
                </a:gridCol>
                <a:gridCol w="909900">
                  <a:extLst>
                    <a:ext uri="{9D8B030D-6E8A-4147-A177-3AD203B41FA5}">
                      <a16:colId xmlns:a16="http://schemas.microsoft.com/office/drawing/2014/main" val="2842272435"/>
                    </a:ext>
                  </a:extLst>
                </a:gridCol>
              </a:tblGrid>
              <a:tr h="448430"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594538"/>
                  </a:ext>
                </a:extLst>
              </a:tr>
              <a:tr h="448430"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89250"/>
                  </a:ext>
                </a:extLst>
              </a:tr>
              <a:tr h="448430"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043770"/>
                  </a:ext>
                </a:extLst>
              </a:tr>
              <a:tr h="448430"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294524"/>
                  </a:ext>
                </a:extLst>
              </a:tr>
            </a:tbl>
          </a:graphicData>
        </a:graphic>
      </p:graphicFrame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C874A81E-162C-220D-5FFB-FE89474B2D0E}"/>
              </a:ext>
            </a:extLst>
          </p:cNvPr>
          <p:cNvCxnSpPr>
            <a:cxnSpLocks/>
            <a:stCxn id="88" idx="1"/>
            <a:endCxn id="88" idx="3"/>
          </p:cNvCxnSpPr>
          <p:nvPr/>
        </p:nvCxnSpPr>
        <p:spPr>
          <a:xfrm>
            <a:off x="7861686" y="3462970"/>
            <a:ext cx="363960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E839D94-5C81-4184-C77D-D2EF33F5BE89}"/>
              </a:ext>
            </a:extLst>
          </p:cNvPr>
          <p:cNvCxnSpPr>
            <a:cxnSpLocks/>
            <a:stCxn id="88" idx="0"/>
            <a:endCxn id="88" idx="2"/>
          </p:cNvCxnSpPr>
          <p:nvPr/>
        </p:nvCxnSpPr>
        <p:spPr>
          <a:xfrm>
            <a:off x="9681486" y="2566110"/>
            <a:ext cx="0" cy="179372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2" name="Table 83">
            <a:extLst>
              <a:ext uri="{FF2B5EF4-FFF2-40B4-BE49-F238E27FC236}">
                <a16:creationId xmlns:a16="http://schemas.microsoft.com/office/drawing/2014/main" id="{B66A3110-79EA-A1A8-FCD0-7B8A2A765B16}"/>
              </a:ext>
            </a:extLst>
          </p:cNvPr>
          <p:cNvGraphicFramePr>
            <a:graphicFrameLocks noGrp="1"/>
          </p:cNvGraphicFramePr>
          <p:nvPr/>
        </p:nvGraphicFramePr>
        <p:xfrm>
          <a:off x="7877071" y="4554585"/>
          <a:ext cx="3642504" cy="174279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10626">
                  <a:extLst>
                    <a:ext uri="{9D8B030D-6E8A-4147-A177-3AD203B41FA5}">
                      <a16:colId xmlns:a16="http://schemas.microsoft.com/office/drawing/2014/main" val="305229609"/>
                    </a:ext>
                  </a:extLst>
                </a:gridCol>
                <a:gridCol w="910626">
                  <a:extLst>
                    <a:ext uri="{9D8B030D-6E8A-4147-A177-3AD203B41FA5}">
                      <a16:colId xmlns:a16="http://schemas.microsoft.com/office/drawing/2014/main" val="1178836432"/>
                    </a:ext>
                  </a:extLst>
                </a:gridCol>
                <a:gridCol w="910626">
                  <a:extLst>
                    <a:ext uri="{9D8B030D-6E8A-4147-A177-3AD203B41FA5}">
                      <a16:colId xmlns:a16="http://schemas.microsoft.com/office/drawing/2014/main" val="1247978657"/>
                    </a:ext>
                  </a:extLst>
                </a:gridCol>
                <a:gridCol w="910626">
                  <a:extLst>
                    <a:ext uri="{9D8B030D-6E8A-4147-A177-3AD203B41FA5}">
                      <a16:colId xmlns:a16="http://schemas.microsoft.com/office/drawing/2014/main" val="2842272435"/>
                    </a:ext>
                  </a:extLst>
                </a:gridCol>
              </a:tblGrid>
              <a:tr h="43569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594538"/>
                  </a:ext>
                </a:extLst>
              </a:tr>
              <a:tr h="43569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89250"/>
                  </a:ext>
                </a:extLst>
              </a:tr>
              <a:tr h="43569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043770"/>
                  </a:ext>
                </a:extLst>
              </a:tr>
              <a:tr h="43569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294524"/>
                  </a:ext>
                </a:extLst>
              </a:tr>
            </a:tbl>
          </a:graphicData>
        </a:graphic>
      </p:graphicFrame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D80FA994-6649-F332-2C66-5C58C6D98637}"/>
              </a:ext>
            </a:extLst>
          </p:cNvPr>
          <p:cNvCxnSpPr>
            <a:cxnSpLocks/>
            <a:stCxn id="102" idx="1"/>
            <a:endCxn id="102" idx="3"/>
          </p:cNvCxnSpPr>
          <p:nvPr/>
        </p:nvCxnSpPr>
        <p:spPr>
          <a:xfrm>
            <a:off x="7877071" y="5425983"/>
            <a:ext cx="3642504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5D806F3E-4544-884F-57B3-0DCEACA8EF13}"/>
              </a:ext>
            </a:extLst>
          </p:cNvPr>
          <p:cNvCxnSpPr>
            <a:cxnSpLocks/>
            <a:endCxn id="102" idx="2"/>
          </p:cNvCxnSpPr>
          <p:nvPr/>
        </p:nvCxnSpPr>
        <p:spPr>
          <a:xfrm>
            <a:off x="9696183" y="4565402"/>
            <a:ext cx="2140" cy="1731979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6B11DFA5-5833-B5C4-F8F0-63A81167C2B9}"/>
              </a:ext>
            </a:extLst>
          </p:cNvPr>
          <p:cNvSpPr/>
          <p:nvPr/>
        </p:nvSpPr>
        <p:spPr>
          <a:xfrm>
            <a:off x="6931152" y="756009"/>
            <a:ext cx="553765" cy="161469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vert270"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Bed Linen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69F9139-4611-26B9-BE20-5BD5CD36BD7E}"/>
              </a:ext>
            </a:extLst>
          </p:cNvPr>
          <p:cNvSpPr txBox="1"/>
          <p:nvPr/>
        </p:nvSpPr>
        <p:spPr>
          <a:xfrm>
            <a:off x="8400216" y="552750"/>
            <a:ext cx="780360" cy="18545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C3FAC33-AFA8-0AC3-0186-70A48A1058BB}"/>
              </a:ext>
            </a:extLst>
          </p:cNvPr>
          <p:cNvSpPr txBox="1"/>
          <p:nvPr/>
        </p:nvSpPr>
        <p:spPr>
          <a:xfrm>
            <a:off x="10320151" y="555204"/>
            <a:ext cx="684953" cy="20400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Low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199147B7-2CA8-E585-543C-5E6D8A108DBD}"/>
              </a:ext>
            </a:extLst>
          </p:cNvPr>
          <p:cNvSpPr/>
          <p:nvPr/>
        </p:nvSpPr>
        <p:spPr>
          <a:xfrm>
            <a:off x="6931152" y="2772333"/>
            <a:ext cx="553764" cy="161469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vert270"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Bath Linen</a:t>
            </a: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BAEDDA7D-CCF4-7FF4-EDAC-348B0F2A5A1B}"/>
              </a:ext>
            </a:extLst>
          </p:cNvPr>
          <p:cNvSpPr/>
          <p:nvPr/>
        </p:nvSpPr>
        <p:spPr>
          <a:xfrm>
            <a:off x="6931152" y="4735439"/>
            <a:ext cx="549484" cy="161469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vert270"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Others*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42E8F32C-CCD5-5FB8-606D-2CAF388887F5}"/>
              </a:ext>
            </a:extLst>
          </p:cNvPr>
          <p:cNvCxnSpPr/>
          <p:nvPr/>
        </p:nvCxnSpPr>
        <p:spPr>
          <a:xfrm>
            <a:off x="6859039" y="2566111"/>
            <a:ext cx="4955009" cy="10816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FBAA51F6-5A19-CBA9-F38A-B302D884F485}"/>
              </a:ext>
            </a:extLst>
          </p:cNvPr>
          <p:cNvCxnSpPr/>
          <p:nvPr/>
        </p:nvCxnSpPr>
        <p:spPr>
          <a:xfrm>
            <a:off x="6843127" y="4549177"/>
            <a:ext cx="4955009" cy="10816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40987527-2F8C-D113-C82C-176636FFC779}"/>
              </a:ext>
            </a:extLst>
          </p:cNvPr>
          <p:cNvCxnSpPr>
            <a:cxnSpLocks/>
          </p:cNvCxnSpPr>
          <p:nvPr/>
        </p:nvCxnSpPr>
        <p:spPr>
          <a:xfrm>
            <a:off x="7550935" y="605912"/>
            <a:ext cx="0" cy="5657304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0EA94805-26DB-3FB7-8ED1-264C2ACE0EC2}"/>
              </a:ext>
            </a:extLst>
          </p:cNvPr>
          <p:cNvSpPr txBox="1"/>
          <p:nvPr/>
        </p:nvSpPr>
        <p:spPr>
          <a:xfrm rot="5400000">
            <a:off x="11290444" y="918383"/>
            <a:ext cx="647736" cy="20777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High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3E07E454-4194-DFB8-2618-B74FFC6B43CC}"/>
              </a:ext>
            </a:extLst>
          </p:cNvPr>
          <p:cNvSpPr txBox="1"/>
          <p:nvPr/>
        </p:nvSpPr>
        <p:spPr>
          <a:xfrm rot="5400000">
            <a:off x="11290196" y="1781154"/>
            <a:ext cx="643360" cy="2077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Low</a:t>
            </a:r>
          </a:p>
        </p:txBody>
      </p: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491B485E-3088-5C98-ACE8-81C7906EC31E}"/>
              </a:ext>
            </a:extLst>
          </p:cNvPr>
          <p:cNvSpPr/>
          <p:nvPr/>
        </p:nvSpPr>
        <p:spPr>
          <a:xfrm>
            <a:off x="7616952" y="757106"/>
            <a:ext cx="164592" cy="159306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vert270"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Price</a:t>
            </a:r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209DBA0F-1BD6-38EB-32BF-EC2D2855EC05}"/>
              </a:ext>
            </a:extLst>
          </p:cNvPr>
          <p:cNvSpPr/>
          <p:nvPr/>
        </p:nvSpPr>
        <p:spPr>
          <a:xfrm rot="5400000">
            <a:off x="9577076" y="1648618"/>
            <a:ext cx="164592" cy="159306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vert270"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Quality</a:t>
            </a:r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9702D2FF-2621-F8F9-8E5D-BFAC32DB581D}"/>
              </a:ext>
            </a:extLst>
          </p:cNvPr>
          <p:cNvSpPr/>
          <p:nvPr/>
        </p:nvSpPr>
        <p:spPr>
          <a:xfrm>
            <a:off x="7628893" y="2766461"/>
            <a:ext cx="164592" cy="159306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vert270"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Price</a:t>
            </a:r>
          </a:p>
        </p:txBody>
      </p: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1BD284AD-BBCF-3A8B-F04F-6AF8E30A3785}"/>
              </a:ext>
            </a:extLst>
          </p:cNvPr>
          <p:cNvSpPr/>
          <p:nvPr/>
        </p:nvSpPr>
        <p:spPr>
          <a:xfrm rot="5400000">
            <a:off x="9589017" y="3657973"/>
            <a:ext cx="164592" cy="159306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vert270"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Softness</a:t>
            </a:r>
          </a:p>
        </p:txBody>
      </p: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1704C63D-45E3-BD5E-F314-D03414737DCC}"/>
              </a:ext>
            </a:extLst>
          </p:cNvPr>
          <p:cNvSpPr/>
          <p:nvPr/>
        </p:nvSpPr>
        <p:spPr>
          <a:xfrm>
            <a:off x="7653762" y="4727064"/>
            <a:ext cx="164592" cy="159306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vert270"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Price</a:t>
            </a:r>
          </a:p>
        </p:txBody>
      </p: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78E43526-4C80-5FB8-E304-383A4CFDE50E}"/>
              </a:ext>
            </a:extLst>
          </p:cNvPr>
          <p:cNvSpPr/>
          <p:nvPr/>
        </p:nvSpPr>
        <p:spPr>
          <a:xfrm rot="5400000">
            <a:off x="9613886" y="5618576"/>
            <a:ext cx="164592" cy="159306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vert270"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Design</a:t>
            </a:r>
          </a:p>
        </p:txBody>
      </p:sp>
      <p:pic>
        <p:nvPicPr>
          <p:cNvPr id="181" name="Picture 180">
            <a:extLst>
              <a:ext uri="{FF2B5EF4-FFF2-40B4-BE49-F238E27FC236}">
                <a16:creationId xmlns:a16="http://schemas.microsoft.com/office/drawing/2014/main" id="{6BB89C16-C3E6-2829-4008-93B823E60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239" y="1539730"/>
            <a:ext cx="569078" cy="303983"/>
          </a:xfrm>
          <a:prstGeom prst="rect">
            <a:avLst/>
          </a:prstGeom>
        </p:spPr>
      </p:pic>
      <p:pic>
        <p:nvPicPr>
          <p:cNvPr id="183" name="Picture 182">
            <a:extLst>
              <a:ext uri="{FF2B5EF4-FFF2-40B4-BE49-F238E27FC236}">
                <a16:creationId xmlns:a16="http://schemas.microsoft.com/office/drawing/2014/main" id="{EECBA271-ACC5-059F-597E-7407715785A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003" r="74252"/>
          <a:stretch/>
        </p:blipFill>
        <p:spPr>
          <a:xfrm>
            <a:off x="8423014" y="798214"/>
            <a:ext cx="338198" cy="320013"/>
          </a:xfrm>
          <a:prstGeom prst="rect">
            <a:avLst/>
          </a:prstGeom>
        </p:spPr>
      </p:pic>
      <p:pic>
        <p:nvPicPr>
          <p:cNvPr id="186" name="Picture 185">
            <a:extLst>
              <a:ext uri="{FF2B5EF4-FFF2-40B4-BE49-F238E27FC236}">
                <a16:creationId xmlns:a16="http://schemas.microsoft.com/office/drawing/2014/main" id="{CC15D9F2-7FE0-F136-2BDB-433A197F3F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3409" y="1705700"/>
            <a:ext cx="381984" cy="303978"/>
          </a:xfrm>
          <a:prstGeom prst="rect">
            <a:avLst/>
          </a:prstGeom>
        </p:spPr>
      </p:pic>
      <p:pic>
        <p:nvPicPr>
          <p:cNvPr id="188" name="Picture 187">
            <a:extLst>
              <a:ext uri="{FF2B5EF4-FFF2-40B4-BE49-F238E27FC236}">
                <a16:creationId xmlns:a16="http://schemas.microsoft.com/office/drawing/2014/main" id="{438345A5-673C-E5A8-F072-B0F30AD970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8960" y="880871"/>
            <a:ext cx="544900" cy="365444"/>
          </a:xfrm>
          <a:prstGeom prst="rect">
            <a:avLst/>
          </a:prstGeom>
        </p:spPr>
      </p:pic>
      <p:pic>
        <p:nvPicPr>
          <p:cNvPr id="190" name="Picture 189">
            <a:extLst>
              <a:ext uri="{FF2B5EF4-FFF2-40B4-BE49-F238E27FC236}">
                <a16:creationId xmlns:a16="http://schemas.microsoft.com/office/drawing/2014/main" id="{18FC32D4-17A8-7EA6-640E-557B3F0B7B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9346" y="1157329"/>
            <a:ext cx="544182" cy="245691"/>
          </a:xfrm>
          <a:prstGeom prst="rect">
            <a:avLst/>
          </a:prstGeom>
        </p:spPr>
      </p:pic>
      <p:pic>
        <p:nvPicPr>
          <p:cNvPr id="196" name="Picture 195">
            <a:extLst>
              <a:ext uri="{FF2B5EF4-FFF2-40B4-BE49-F238E27FC236}">
                <a16:creationId xmlns:a16="http://schemas.microsoft.com/office/drawing/2014/main" id="{54C6372E-C8EE-331A-ACDD-F8D4B5B16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9782" y="3520990"/>
            <a:ext cx="569078" cy="303983"/>
          </a:xfrm>
          <a:prstGeom prst="rect">
            <a:avLst/>
          </a:prstGeom>
        </p:spPr>
      </p:pic>
      <p:pic>
        <p:nvPicPr>
          <p:cNvPr id="198" name="Picture 197">
            <a:extLst>
              <a:ext uri="{FF2B5EF4-FFF2-40B4-BE49-F238E27FC236}">
                <a16:creationId xmlns:a16="http://schemas.microsoft.com/office/drawing/2014/main" id="{084E15E4-399C-EF32-9841-08B2E18EED2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003" r="74252"/>
          <a:stretch/>
        </p:blipFill>
        <p:spPr>
          <a:xfrm>
            <a:off x="8007712" y="2806969"/>
            <a:ext cx="338198" cy="320013"/>
          </a:xfrm>
          <a:prstGeom prst="rect">
            <a:avLst/>
          </a:prstGeom>
        </p:spPr>
      </p:pic>
      <p:pic>
        <p:nvPicPr>
          <p:cNvPr id="200" name="Picture 199">
            <a:extLst>
              <a:ext uri="{FF2B5EF4-FFF2-40B4-BE49-F238E27FC236}">
                <a16:creationId xmlns:a16="http://schemas.microsoft.com/office/drawing/2014/main" id="{6F6E3297-9DF5-9956-B957-E5A1610E18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7939" y="3935073"/>
            <a:ext cx="381984" cy="303978"/>
          </a:xfrm>
          <a:prstGeom prst="rect">
            <a:avLst/>
          </a:prstGeom>
        </p:spPr>
      </p:pic>
      <p:pic>
        <p:nvPicPr>
          <p:cNvPr id="202" name="Picture 201">
            <a:extLst>
              <a:ext uri="{FF2B5EF4-FFF2-40B4-BE49-F238E27FC236}">
                <a16:creationId xmlns:a16="http://schemas.microsoft.com/office/drawing/2014/main" id="{7AC2DD52-FAB5-28DD-4594-DE77E57F71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7171" y="2655560"/>
            <a:ext cx="544900" cy="365444"/>
          </a:xfrm>
          <a:prstGeom prst="rect">
            <a:avLst/>
          </a:prstGeom>
        </p:spPr>
      </p:pic>
      <p:pic>
        <p:nvPicPr>
          <p:cNvPr id="204" name="Picture 203">
            <a:extLst>
              <a:ext uri="{FF2B5EF4-FFF2-40B4-BE49-F238E27FC236}">
                <a16:creationId xmlns:a16="http://schemas.microsoft.com/office/drawing/2014/main" id="{2FF48873-8E44-37DD-67AB-87BB1FEB2F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9155" y="3226192"/>
            <a:ext cx="544182" cy="245691"/>
          </a:xfrm>
          <a:prstGeom prst="rect">
            <a:avLst/>
          </a:pr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CD7E936D-33DF-510C-C34F-9BD47B669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5490" y="5471015"/>
            <a:ext cx="569078" cy="303983"/>
          </a:xfrm>
          <a:prstGeom prst="rect">
            <a:avLst/>
          </a:prstGeom>
        </p:spPr>
      </p:pic>
      <p:pic>
        <p:nvPicPr>
          <p:cNvPr id="212" name="Picture 211">
            <a:extLst>
              <a:ext uri="{FF2B5EF4-FFF2-40B4-BE49-F238E27FC236}">
                <a16:creationId xmlns:a16="http://schemas.microsoft.com/office/drawing/2014/main" id="{D8BEBF84-2DC6-8540-DCCA-8AE3AAF792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2263" y="4759384"/>
            <a:ext cx="544900" cy="365444"/>
          </a:xfrm>
          <a:prstGeom prst="rect">
            <a:avLst/>
          </a:prstGeom>
        </p:spPr>
      </p:pic>
      <p:pic>
        <p:nvPicPr>
          <p:cNvPr id="214" name="Picture 213">
            <a:extLst>
              <a:ext uri="{FF2B5EF4-FFF2-40B4-BE49-F238E27FC236}">
                <a16:creationId xmlns:a16="http://schemas.microsoft.com/office/drawing/2014/main" id="{907523AD-E5BD-15E8-C154-10741BED25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7304" y="5130439"/>
            <a:ext cx="544182" cy="208840"/>
          </a:xfrm>
          <a:prstGeom prst="rect">
            <a:avLst/>
          </a:prstGeom>
        </p:spPr>
      </p:pic>
      <p:grpSp>
        <p:nvGrpSpPr>
          <p:cNvPr id="258" name="Group 257">
            <a:extLst>
              <a:ext uri="{FF2B5EF4-FFF2-40B4-BE49-F238E27FC236}">
                <a16:creationId xmlns:a16="http://schemas.microsoft.com/office/drawing/2014/main" id="{FB526613-C90D-BAC1-C9A4-CBD13EEF0C1E}"/>
              </a:ext>
            </a:extLst>
          </p:cNvPr>
          <p:cNvGrpSpPr/>
          <p:nvPr/>
        </p:nvGrpSpPr>
        <p:grpSpPr>
          <a:xfrm>
            <a:off x="2090176" y="5065790"/>
            <a:ext cx="3094472" cy="598321"/>
            <a:chOff x="7681522" y="2322835"/>
            <a:chExt cx="3795649" cy="533333"/>
          </a:xfrm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A14CE1D9-0E13-BFA0-9A05-74311A5A441A}"/>
                </a:ext>
              </a:extLst>
            </p:cNvPr>
            <p:cNvGrpSpPr/>
            <p:nvPr/>
          </p:nvGrpSpPr>
          <p:grpSpPr>
            <a:xfrm>
              <a:off x="7681522" y="2322835"/>
              <a:ext cx="3795649" cy="533333"/>
              <a:chOff x="7681518" y="2315181"/>
              <a:chExt cx="3700670" cy="516420"/>
            </a:xfrm>
          </p:grpSpPr>
          <p:sp>
            <p:nvSpPr>
              <p:cNvPr id="261" name="Arrow: Pentagon 260">
                <a:extLst>
                  <a:ext uri="{FF2B5EF4-FFF2-40B4-BE49-F238E27FC236}">
                    <a16:creationId xmlns:a16="http://schemas.microsoft.com/office/drawing/2014/main" id="{E5A8E16C-0426-628B-8EE1-721B4374618B}"/>
                  </a:ext>
                </a:extLst>
              </p:cNvPr>
              <p:cNvSpPr/>
              <p:nvPr/>
            </p:nvSpPr>
            <p:spPr>
              <a:xfrm rot="10800000">
                <a:off x="7681518" y="2599559"/>
                <a:ext cx="915671" cy="230070"/>
              </a:xfrm>
              <a:prstGeom prst="homePlat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262" name="Arrow: Pentagon 261">
                <a:extLst>
                  <a:ext uri="{FF2B5EF4-FFF2-40B4-BE49-F238E27FC236}">
                    <a16:creationId xmlns:a16="http://schemas.microsoft.com/office/drawing/2014/main" id="{F6DEDBCA-5105-429D-5565-71ABF38392BF}"/>
                  </a:ext>
                </a:extLst>
              </p:cNvPr>
              <p:cNvSpPr/>
              <p:nvPr/>
            </p:nvSpPr>
            <p:spPr>
              <a:xfrm rot="10800000">
                <a:off x="7681519" y="2359803"/>
                <a:ext cx="915671" cy="190140"/>
              </a:xfrm>
              <a:prstGeom prst="homePlat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263" name="Arrow: Pentagon 262">
                <a:extLst>
                  <a:ext uri="{FF2B5EF4-FFF2-40B4-BE49-F238E27FC236}">
                    <a16:creationId xmlns:a16="http://schemas.microsoft.com/office/drawing/2014/main" id="{6E87FBC2-0DB6-9B75-7D5F-B412D5F84239}"/>
                  </a:ext>
                </a:extLst>
              </p:cNvPr>
              <p:cNvSpPr/>
              <p:nvPr/>
            </p:nvSpPr>
            <p:spPr>
              <a:xfrm>
                <a:off x="10453979" y="2601530"/>
                <a:ext cx="915671" cy="230071"/>
              </a:xfrm>
              <a:prstGeom prst="homePlat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264" name="Arrow: Pentagon 263">
                <a:extLst>
                  <a:ext uri="{FF2B5EF4-FFF2-40B4-BE49-F238E27FC236}">
                    <a16:creationId xmlns:a16="http://schemas.microsoft.com/office/drawing/2014/main" id="{E2D278CB-757A-C2B7-4319-15BFBA0D5191}"/>
                  </a:ext>
                </a:extLst>
              </p:cNvPr>
              <p:cNvSpPr/>
              <p:nvPr/>
            </p:nvSpPr>
            <p:spPr>
              <a:xfrm>
                <a:off x="10466517" y="2342769"/>
                <a:ext cx="915671" cy="190141"/>
              </a:xfrm>
              <a:prstGeom prst="homePlat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266" name="TextBox 9">
                <a:extLst>
                  <a:ext uri="{FF2B5EF4-FFF2-40B4-BE49-F238E27FC236}">
                    <a16:creationId xmlns:a16="http://schemas.microsoft.com/office/drawing/2014/main" id="{0E94AE9F-31DA-8092-B87E-8601A278424A}"/>
                  </a:ext>
                </a:extLst>
              </p:cNvPr>
              <p:cNvSpPr txBox="1"/>
              <p:nvPr/>
            </p:nvSpPr>
            <p:spPr>
              <a:xfrm>
                <a:off x="10505108" y="2315181"/>
                <a:ext cx="617666" cy="2125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Place</a:t>
                </a:r>
              </a:p>
            </p:txBody>
          </p:sp>
          <p:sp>
            <p:nvSpPr>
              <p:cNvPr id="265" name="TextBox 8">
                <a:extLst>
                  <a:ext uri="{FF2B5EF4-FFF2-40B4-BE49-F238E27FC236}">
                    <a16:creationId xmlns:a16="http://schemas.microsoft.com/office/drawing/2014/main" id="{E447A8BB-DE2B-9904-D98C-CBC4F6B6631E}"/>
                  </a:ext>
                </a:extLst>
              </p:cNvPr>
              <p:cNvSpPr txBox="1"/>
              <p:nvPr/>
            </p:nvSpPr>
            <p:spPr>
              <a:xfrm>
                <a:off x="7688582" y="2590739"/>
                <a:ext cx="987652" cy="2125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Promotion</a:t>
                </a:r>
              </a:p>
            </p:txBody>
          </p:sp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4BAE329B-94C5-A2AB-E554-A62BBBC6E9FE}"/>
                  </a:ext>
                </a:extLst>
              </p:cNvPr>
              <p:cNvSpPr txBox="1"/>
              <p:nvPr/>
            </p:nvSpPr>
            <p:spPr>
              <a:xfrm>
                <a:off x="7901166" y="2332529"/>
                <a:ext cx="592745" cy="2125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Price</a:t>
                </a:r>
              </a:p>
            </p:txBody>
          </p:sp>
        </p:grpSp>
        <p:sp>
          <p:nvSpPr>
            <p:cNvPr id="260" name="TextBox 3">
              <a:extLst>
                <a:ext uri="{FF2B5EF4-FFF2-40B4-BE49-F238E27FC236}">
                  <a16:creationId xmlns:a16="http://schemas.microsoft.com/office/drawing/2014/main" id="{2FB9FD41-5F67-4D15-10A8-66DA1EF804BD}"/>
                </a:ext>
              </a:extLst>
            </p:cNvPr>
            <p:cNvSpPr txBox="1"/>
            <p:nvPr/>
          </p:nvSpPr>
          <p:spPr>
            <a:xfrm>
              <a:off x="10496042" y="2608912"/>
              <a:ext cx="939172" cy="2194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Products</a:t>
              </a:r>
            </a:p>
          </p:txBody>
        </p:sp>
      </p:grpSp>
      <p:sp>
        <p:nvSpPr>
          <p:cNvPr id="272" name="Oval 271">
            <a:extLst>
              <a:ext uri="{FF2B5EF4-FFF2-40B4-BE49-F238E27FC236}">
                <a16:creationId xmlns:a16="http://schemas.microsoft.com/office/drawing/2014/main" id="{07B6A27B-0A2E-29CE-E0A0-101DE46078E5}"/>
              </a:ext>
            </a:extLst>
          </p:cNvPr>
          <p:cNvSpPr/>
          <p:nvPr/>
        </p:nvSpPr>
        <p:spPr>
          <a:xfrm>
            <a:off x="9436771" y="814100"/>
            <a:ext cx="883376" cy="127990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89" name="Oval 288">
            <a:extLst>
              <a:ext uri="{FF2B5EF4-FFF2-40B4-BE49-F238E27FC236}">
                <a16:creationId xmlns:a16="http://schemas.microsoft.com/office/drawing/2014/main" id="{4772668F-9820-7EF5-DCE2-68A33D36A5E9}"/>
              </a:ext>
            </a:extLst>
          </p:cNvPr>
          <p:cNvSpPr/>
          <p:nvPr/>
        </p:nvSpPr>
        <p:spPr>
          <a:xfrm>
            <a:off x="8400216" y="3059894"/>
            <a:ext cx="1536844" cy="831427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7500C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0141AAEC-2298-FDA6-C367-E0B696E31EA9}"/>
              </a:ext>
            </a:extLst>
          </p:cNvPr>
          <p:cNvSpPr/>
          <p:nvPr/>
        </p:nvSpPr>
        <p:spPr>
          <a:xfrm>
            <a:off x="386992" y="5394759"/>
            <a:ext cx="2466963" cy="835248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B455AA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92" name="Oval 291">
            <a:extLst>
              <a:ext uri="{FF2B5EF4-FFF2-40B4-BE49-F238E27FC236}">
                <a16:creationId xmlns:a16="http://schemas.microsoft.com/office/drawing/2014/main" id="{4CF8D6DD-3A64-8EEC-3B79-26CF1840720A}"/>
              </a:ext>
            </a:extLst>
          </p:cNvPr>
          <p:cNvSpPr/>
          <p:nvPr/>
        </p:nvSpPr>
        <p:spPr>
          <a:xfrm>
            <a:off x="8857171" y="4554585"/>
            <a:ext cx="1176357" cy="1033421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A100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3806ABA-CA55-5766-A65B-6A5CA1BA6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6291" y="4704852"/>
            <a:ext cx="2391437" cy="1652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5" name="Rectangle 294">
            <a:extLst>
              <a:ext uri="{FF2B5EF4-FFF2-40B4-BE49-F238E27FC236}">
                <a16:creationId xmlns:a16="http://schemas.microsoft.com/office/drawing/2014/main" id="{297CCFF4-5CF9-85DB-6584-B4A773D4261B}"/>
              </a:ext>
            </a:extLst>
          </p:cNvPr>
          <p:cNvSpPr/>
          <p:nvPr/>
        </p:nvSpPr>
        <p:spPr>
          <a:xfrm>
            <a:off x="388890" y="4533391"/>
            <a:ext cx="2466963" cy="799387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B455AA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AD1FECE1-A955-9239-6977-72A113714450}"/>
              </a:ext>
            </a:extLst>
          </p:cNvPr>
          <p:cNvSpPr/>
          <p:nvPr/>
        </p:nvSpPr>
        <p:spPr>
          <a:xfrm>
            <a:off x="4415593" y="5382673"/>
            <a:ext cx="2364543" cy="835248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B455AA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ABBF9369-E61E-30AB-8E24-B736663D11D5}"/>
              </a:ext>
            </a:extLst>
          </p:cNvPr>
          <p:cNvSpPr/>
          <p:nvPr/>
        </p:nvSpPr>
        <p:spPr>
          <a:xfrm>
            <a:off x="4417491" y="4540814"/>
            <a:ext cx="2364543" cy="779878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B455AA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D0F4EE21-0721-E58E-264D-7200AB30CAEE}"/>
              </a:ext>
            </a:extLst>
          </p:cNvPr>
          <p:cNvCxnSpPr/>
          <p:nvPr/>
        </p:nvCxnSpPr>
        <p:spPr>
          <a:xfrm>
            <a:off x="6843127" y="605912"/>
            <a:ext cx="15912" cy="569146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AC14B8F-C474-1106-A01C-1DE64F62004D}"/>
              </a:ext>
            </a:extLst>
          </p:cNvPr>
          <p:cNvSpPr txBox="1"/>
          <p:nvPr/>
        </p:nvSpPr>
        <p:spPr>
          <a:xfrm>
            <a:off x="4457569" y="5661827"/>
            <a:ext cx="2362511" cy="6828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1450" indent="-171450" algn="l" defTabSz="228600">
              <a:buFont typeface="Wingdings" panose="05000000000000000000" pitchFamily="2" charset="2"/>
              <a:buChar char="Ø"/>
            </a:pPr>
            <a:r>
              <a:rPr lang="en-IN" sz="1200" noProof="0" dirty="0">
                <a:solidFill>
                  <a:schemeClr val="bg1"/>
                </a:solidFill>
              </a:rPr>
              <a:t>Super soft</a:t>
            </a:r>
            <a:r>
              <a:rPr lang="en-IN" sz="1200" dirty="0">
                <a:solidFill>
                  <a:schemeClr val="bg1"/>
                </a:solidFill>
              </a:rPr>
              <a:t>, quick dryer, anti microbial towels. High quality designs matching any decor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102C1C-7D86-A3D7-7FDC-CCD9F6038063}"/>
              </a:ext>
            </a:extLst>
          </p:cNvPr>
          <p:cNvSpPr txBox="1"/>
          <p:nvPr/>
        </p:nvSpPr>
        <p:spPr>
          <a:xfrm>
            <a:off x="415324" y="5450966"/>
            <a:ext cx="2339747" cy="7669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1450" indent="-171450" algn="l" defTabSz="228600">
              <a:buFont typeface="Wingdings" panose="05000000000000000000" pitchFamily="2" charset="2"/>
              <a:buChar char="Ø"/>
            </a:pPr>
            <a:r>
              <a:rPr lang="en-IN" sz="1200" dirty="0">
                <a:solidFill>
                  <a:schemeClr val="bg1"/>
                </a:solidFill>
              </a:rPr>
              <a:t>Widening the              marketing funnel to increase brand awareness, desire to transact &amp; purchase intent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EE3288-2A66-0C89-8BC6-4E32F529F0C3}"/>
              </a:ext>
            </a:extLst>
          </p:cNvPr>
          <p:cNvSpPr txBox="1"/>
          <p:nvPr/>
        </p:nvSpPr>
        <p:spPr>
          <a:xfrm>
            <a:off x="4442073" y="4555921"/>
            <a:ext cx="2364543" cy="7669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1450" indent="-171450" algn="l" defTabSz="228600">
              <a:buFont typeface="Wingdings" panose="05000000000000000000" pitchFamily="2" charset="2"/>
              <a:buChar char="Ø"/>
            </a:pPr>
            <a:r>
              <a:rPr lang="en-IN" sz="1200" dirty="0">
                <a:solidFill>
                  <a:schemeClr val="bg1"/>
                </a:solidFill>
              </a:rPr>
              <a:t>Promotional campaigns focused on increasing  revenue from Amazon, Flipkart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CD0907-043C-CB57-2697-07D4BFAB336A}"/>
              </a:ext>
            </a:extLst>
          </p:cNvPr>
          <p:cNvGrpSpPr/>
          <p:nvPr/>
        </p:nvGrpSpPr>
        <p:grpSpPr>
          <a:xfrm>
            <a:off x="386992" y="627993"/>
            <a:ext cx="6450734" cy="4228955"/>
            <a:chOff x="386992" y="627993"/>
            <a:chExt cx="6450734" cy="4228955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BADA6BE-07EE-4F86-FAD6-3DA92F0EB5F1}"/>
                </a:ext>
              </a:extLst>
            </p:cNvPr>
            <p:cNvGrpSpPr/>
            <p:nvPr/>
          </p:nvGrpSpPr>
          <p:grpSpPr>
            <a:xfrm>
              <a:off x="447744" y="627993"/>
              <a:ext cx="6324705" cy="3780378"/>
              <a:chOff x="447744" y="627993"/>
              <a:chExt cx="6324705" cy="3780378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48E6F36E-09FE-F195-22D8-B1A80033AAF1}"/>
                  </a:ext>
                </a:extLst>
              </p:cNvPr>
              <p:cNvGrpSpPr/>
              <p:nvPr/>
            </p:nvGrpSpPr>
            <p:grpSpPr>
              <a:xfrm>
                <a:off x="447744" y="1373608"/>
                <a:ext cx="6309672" cy="3034763"/>
                <a:chOff x="114714" y="1765072"/>
                <a:chExt cx="4530617" cy="2973370"/>
              </a:xfrm>
            </p:grpSpPr>
            <p:graphicFrame>
              <p:nvGraphicFramePr>
                <p:cNvPr id="40" name="Table 11">
                  <a:extLst>
                    <a:ext uri="{FF2B5EF4-FFF2-40B4-BE49-F238E27FC236}">
                      <a16:creationId xmlns:a16="http://schemas.microsoft.com/office/drawing/2014/main" id="{0755529C-53B1-F561-3235-F9931CD71D3D}"/>
                    </a:ext>
                  </a:extLst>
                </p:cNvPr>
                <p:cNvGraphicFramePr>
                  <a:graphicFrameLocks/>
                </p:cNvGraphicFramePr>
                <p:nvPr/>
              </p:nvGraphicFramePr>
              <p:xfrm>
                <a:off x="114714" y="1765072"/>
                <a:ext cx="4530617" cy="2973370"/>
              </p:xfrm>
              <a:graphic>
                <a:graphicData uri="http://schemas.openxmlformats.org/drawingml/2006/table">
                  <a:tbl>
                    <a:tblPr firstRow="1" bandRow="1"/>
                    <a:tblGrid>
                      <a:gridCol w="1051612">
                        <a:extLst>
                          <a:ext uri="{9D8B030D-6E8A-4147-A177-3AD203B41FA5}">
                            <a16:colId xmlns:a16="http://schemas.microsoft.com/office/drawing/2014/main" val="3050072784"/>
                          </a:ext>
                        </a:extLst>
                      </a:gridCol>
                      <a:gridCol w="1051612">
                        <a:extLst>
                          <a:ext uri="{9D8B030D-6E8A-4147-A177-3AD203B41FA5}">
                            <a16:colId xmlns:a16="http://schemas.microsoft.com/office/drawing/2014/main" val="2012927551"/>
                          </a:ext>
                        </a:extLst>
                      </a:gridCol>
                      <a:gridCol w="1051612">
                        <a:extLst>
                          <a:ext uri="{9D8B030D-6E8A-4147-A177-3AD203B41FA5}">
                            <a16:colId xmlns:a16="http://schemas.microsoft.com/office/drawing/2014/main" val="495890647"/>
                          </a:ext>
                        </a:extLst>
                      </a:gridCol>
                      <a:gridCol w="1051612">
                        <a:extLst>
                          <a:ext uri="{9D8B030D-6E8A-4147-A177-3AD203B41FA5}">
                            <a16:colId xmlns:a16="http://schemas.microsoft.com/office/drawing/2014/main" val="1548761734"/>
                          </a:ext>
                        </a:extLst>
                      </a:gridCol>
                      <a:gridCol w="1079096">
                        <a:extLst>
                          <a:ext uri="{9D8B030D-6E8A-4147-A177-3AD203B41FA5}">
                            <a16:colId xmlns:a16="http://schemas.microsoft.com/office/drawing/2014/main" val="3771332836"/>
                          </a:ext>
                        </a:extLst>
                      </a:gridCol>
                      <a:gridCol w="1024128">
                        <a:extLst>
                          <a:ext uri="{9D8B030D-6E8A-4147-A177-3AD203B41FA5}">
                            <a16:colId xmlns:a16="http://schemas.microsoft.com/office/drawing/2014/main" val="3572802092"/>
                          </a:ext>
                        </a:extLst>
                      </a:gridCol>
                    </a:tblGrid>
                    <a:tr h="454531"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pPr algn="ctr"/>
                            <a:r>
                              <a:rPr lang="en-IN" sz="1200"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Category of Products</a:t>
                            </a: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/>
                          </a:solidFill>
                        </a:tcPr>
                      </a:tc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pPr algn="ctr"/>
                            <a:r>
                              <a:rPr lang="en-IN" sz="1200" b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Bed Linen, Bath Linen, Flooring</a:t>
                            </a: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pPr algn="ctr"/>
                            <a:r>
                              <a:rPr lang="en-IN" sz="1200" b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Bed Linen, Bath Linen</a:t>
                            </a: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pPr algn="ctr"/>
                            <a:r>
                              <a:rPr lang="en-IN" sz="1200" b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Bed Linen, Bath Linen</a:t>
                            </a: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IN" sz="1200" b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Bed Linen, Bath Linen, Flooring, Others</a:t>
                            </a: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IN" sz="1200" b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Bed Linen, Bath Linen, Flooring</a:t>
                            </a: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834200168"/>
                        </a:ext>
                      </a:extLst>
                    </a:tr>
                    <a:tr h="454531"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pPr algn="ctr"/>
                            <a:r>
                              <a:rPr lang="en-IN" sz="1200"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Consumer Needs</a:t>
                            </a: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/>
                          </a:solidFill>
                        </a:tcPr>
                      </a:tc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pPr algn="ctr"/>
                            <a:r>
                              <a:rPr lang="en-IN" sz="1200" b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Essential</a:t>
                            </a: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pPr algn="ctr"/>
                            <a:r>
                              <a:rPr lang="en-IN" sz="1200" b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Luxury, Essential, Design, Gifting</a:t>
                            </a: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pPr marL="0" marR="0" lvl="0" indent="0" algn="ctr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lang="en-IN" sz="1200" b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 Essential, Design, Gifting</a:t>
                            </a: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IN" sz="1200" b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Luxury, Design, Gifting</a:t>
                            </a: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IN" sz="1200" b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Grey area</a:t>
                            </a: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663745327"/>
                        </a:ext>
                      </a:extLst>
                    </a:tr>
                    <a:tr h="713711"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pPr algn="ctr"/>
                            <a:r>
                              <a:rPr lang="en-IN" sz="1200"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Price</a:t>
                            </a:r>
                          </a:p>
                          <a:p>
                            <a:pPr algn="ctr"/>
                            <a:r>
                              <a:rPr lang="en-IN" sz="1200"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Segment</a:t>
                            </a: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/>
                          </a:solidFill>
                        </a:tcPr>
                      </a:tc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endParaRPr lang="en-IN" sz="1400" b="0">
                              <a:solidFill>
                                <a:schemeClr val="bg1"/>
                              </a:solidFill>
                            </a:endParaRP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endParaRPr lang="en-IN" sz="1400" b="0">
                              <a:solidFill>
                                <a:schemeClr val="bg1"/>
                              </a:solidFill>
                            </a:endParaRP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endParaRPr lang="en-IN" sz="1400" b="0">
                              <a:solidFill>
                                <a:schemeClr val="bg1"/>
                              </a:solidFill>
                            </a:endParaRP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IN" sz="1400" b="0">
                              <a:solidFill>
                                <a:schemeClr val="bg1"/>
                              </a:solidFill>
                            </a:endParaRP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IN" sz="1400" b="0">
                              <a:solidFill>
                                <a:schemeClr val="bg1"/>
                              </a:solidFill>
                            </a:endParaRP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12231252"/>
                        </a:ext>
                      </a:extLst>
                    </a:tr>
                    <a:tr h="675132"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pPr algn="ctr"/>
                            <a:r>
                              <a:rPr lang="en-IN" sz="1200"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Willingness to act sustainably</a:t>
                            </a: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/>
                          </a:solidFill>
                        </a:tcPr>
                      </a:tc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endParaRPr lang="en-IN" sz="1400" b="0">
                              <a:solidFill>
                                <a:schemeClr val="bg1"/>
                              </a:solidFill>
                            </a:endParaRP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endParaRPr lang="en-IN" sz="1400" b="0">
                              <a:solidFill>
                                <a:schemeClr val="bg1"/>
                              </a:solidFill>
                            </a:endParaRP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dk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endParaRPr lang="en-IN" sz="1400" b="0">
                              <a:solidFill>
                                <a:schemeClr val="bg1"/>
                              </a:solidFill>
                            </a:endParaRP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IN" sz="1400" b="0">
                              <a:solidFill>
                                <a:schemeClr val="bg1"/>
                              </a:solidFill>
                            </a:endParaRP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IN" sz="1400" b="0">
                              <a:solidFill>
                                <a:schemeClr val="bg1"/>
                              </a:solidFill>
                            </a:endParaRPr>
                          </a:p>
                        </a:txBody>
                        <a:tcPr anchor="ctr">
                          <a:lnL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3175" cap="flat" cmpd="sng" algn="ctr">
                            <a:solidFill>
                              <a:schemeClr val="tx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3169291331"/>
                        </a:ext>
                      </a:extLst>
                    </a:tr>
                  </a:tbl>
                </a:graphicData>
              </a:graphic>
            </p:graphicFrame>
            <p:graphicFrame>
              <p:nvGraphicFramePr>
                <p:cNvPr id="42" name="Table 27">
                  <a:extLst>
                    <a:ext uri="{FF2B5EF4-FFF2-40B4-BE49-F238E27FC236}">
                      <a16:creationId xmlns:a16="http://schemas.microsoft.com/office/drawing/2014/main" id="{86F380D5-DE5A-E44E-1699-2127EB6C3A4B}"/>
                    </a:ext>
                  </a:extLst>
                </p:cNvPr>
                <p:cNvGraphicFramePr>
                  <a:graphicFrameLocks/>
                </p:cNvGraphicFramePr>
                <p:nvPr/>
              </p:nvGraphicFramePr>
              <p:xfrm>
                <a:off x="882008" y="3581533"/>
                <a:ext cx="733559" cy="295729"/>
              </p:xfrm>
              <a:graphic>
                <a:graphicData uri="http://schemas.openxmlformats.org/drawingml/2006/table">
                  <a:tbl>
                    <a:tblPr firstRow="1" bandRow="1"/>
                    <a:tblGrid>
                      <a:gridCol w="170268">
                        <a:extLst>
                          <a:ext uri="{9D8B030D-6E8A-4147-A177-3AD203B41FA5}">
                            <a16:colId xmlns:a16="http://schemas.microsoft.com/office/drawing/2014/main" val="4144800204"/>
                          </a:ext>
                        </a:extLst>
                      </a:gridCol>
                      <a:gridCol w="170268">
                        <a:extLst>
                          <a:ext uri="{9D8B030D-6E8A-4147-A177-3AD203B41FA5}">
                            <a16:colId xmlns:a16="http://schemas.microsoft.com/office/drawing/2014/main" val="2667686244"/>
                          </a:ext>
                        </a:extLst>
                      </a:gridCol>
                      <a:gridCol w="170268">
                        <a:extLst>
                          <a:ext uri="{9D8B030D-6E8A-4147-A177-3AD203B41FA5}">
                            <a16:colId xmlns:a16="http://schemas.microsoft.com/office/drawing/2014/main" val="1186997789"/>
                          </a:ext>
                        </a:extLst>
                      </a:gridCol>
                      <a:gridCol w="170268">
                        <a:extLst>
                          <a:ext uri="{9D8B030D-6E8A-4147-A177-3AD203B41FA5}">
                            <a16:colId xmlns:a16="http://schemas.microsoft.com/office/drawing/2014/main" val="322609687"/>
                          </a:ext>
                        </a:extLst>
                      </a:gridCol>
                      <a:gridCol w="170268">
                        <a:extLst>
                          <a:ext uri="{9D8B030D-6E8A-4147-A177-3AD203B41FA5}">
                            <a16:colId xmlns:a16="http://schemas.microsoft.com/office/drawing/2014/main" val="4231428382"/>
                          </a:ext>
                        </a:extLst>
                      </a:gridCol>
                      <a:gridCol w="170268">
                        <a:extLst>
                          <a:ext uri="{9D8B030D-6E8A-4147-A177-3AD203B41FA5}">
                            <a16:colId xmlns:a16="http://schemas.microsoft.com/office/drawing/2014/main" val="3989598063"/>
                          </a:ext>
                        </a:extLst>
                      </a:gridCol>
                    </a:tblGrid>
                    <a:tr h="301835"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endParaRPr lang="en-IN" sz="1400"/>
                          </a:p>
                        </a:txBody>
                        <a:tcPr marL="71147" marR="71147" marT="35573" marB="35573">
                          <a:lnL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endParaRPr lang="en-IN" sz="1400"/>
                          </a:p>
                        </a:txBody>
                        <a:tcPr marL="71147" marR="71147" marT="35573" marB="35573">
                          <a:lnL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endParaRPr lang="en-IN" sz="1400"/>
                          </a:p>
                        </a:txBody>
                        <a:tcPr marL="71147" marR="71147" marT="35573" marB="35573">
                          <a:lnL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endParaRPr lang="en-IN" sz="1400"/>
                          </a:p>
                        </a:txBody>
                        <a:tcPr marL="71147" marR="71147" marT="35573" marB="35573">
                          <a:lnL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endParaRPr lang="en-IN" sz="1400"/>
                          </a:p>
                        </a:txBody>
                        <a:tcPr marL="71147" marR="71147" marT="35573" marB="35573">
                          <a:lnL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>
                            <a:lvl1pPr marL="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1pPr>
                            <a:lvl2pPr marL="457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2pPr>
                            <a:lvl3pPr marL="914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3pPr>
                            <a:lvl4pPr marL="1371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4pPr>
                            <a:lvl5pPr marL="18288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5pPr>
                            <a:lvl6pPr marL="22860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6pPr>
                            <a:lvl7pPr marL="27432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7pPr>
                            <a:lvl8pPr marL="32004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8pPr>
                            <a:lvl9pPr marL="3657600" algn="l" defTabSz="914400" rtl="0" eaLnBrk="1" latinLnBrk="0" hangingPunct="1">
                              <a:defRPr sz="1800" b="1" kern="1200">
                                <a:solidFill>
                                  <a:schemeClr val="lt1"/>
                                </a:solidFill>
                                <a:latin typeface="Graphik"/>
                              </a:defRPr>
                            </a:lvl9pPr>
                          </a:lstStyle>
                          <a:p>
                            <a:endParaRPr lang="en-IN" sz="1400"/>
                          </a:p>
                        </a:txBody>
                        <a:tcPr marL="71147" marR="71147" marT="35573" marB="35573">
                          <a:lnL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768319533"/>
                        </a:ext>
                      </a:extLst>
                    </a:tr>
                  </a:tbl>
                </a:graphicData>
              </a:graphic>
            </p:graphicFrame>
          </p:grpSp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B9A66551-91BB-A35C-D9A4-2FA08270F6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33537" y="710055"/>
                <a:ext cx="1190792" cy="636082"/>
              </a:xfrm>
              <a:prstGeom prst="rect">
                <a:avLst/>
              </a:prstGeom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382B69A9-3C1E-DE80-1F01-5FEF6DB5946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2003" r="74252"/>
              <a:stretch/>
            </p:blipFill>
            <p:spPr>
              <a:xfrm>
                <a:off x="2708367" y="627993"/>
                <a:ext cx="758951" cy="718143"/>
              </a:xfrm>
              <a:prstGeom prst="rect">
                <a:avLst/>
              </a:prstGeom>
            </p:spPr>
          </p:pic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B87EED8D-B471-FB33-C99D-E97B41EC5C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98507" y="640079"/>
                <a:ext cx="862953" cy="686728"/>
              </a:xfrm>
              <a:prstGeom prst="rect">
                <a:avLst/>
              </a:prstGeom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7AA0282C-7F67-D331-92CB-66366CCB4D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80563" y="627994"/>
                <a:ext cx="1023956" cy="686728"/>
              </a:xfrm>
              <a:prstGeom prst="rect">
                <a:avLst/>
              </a:prstGeom>
            </p:spPr>
          </p:pic>
          <p:pic>
            <p:nvPicPr>
              <p:cNvPr id="130" name="Picture 129">
                <a:extLst>
                  <a:ext uri="{FF2B5EF4-FFF2-40B4-BE49-F238E27FC236}">
                    <a16:creationId xmlns:a16="http://schemas.microsoft.com/office/drawing/2014/main" id="{0289446B-21C0-FF94-DD3D-0471872038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30306" y="756009"/>
                <a:ext cx="1042143" cy="507344"/>
              </a:xfrm>
              <a:prstGeom prst="rect">
                <a:avLst/>
              </a:prstGeom>
            </p:spPr>
          </p:pic>
        </p:grpSp>
        <p:graphicFrame>
          <p:nvGraphicFramePr>
            <p:cNvPr id="230" name="Table 27">
              <a:extLst>
                <a:ext uri="{FF2B5EF4-FFF2-40B4-BE49-F238E27FC236}">
                  <a16:creationId xmlns:a16="http://schemas.microsoft.com/office/drawing/2014/main" id="{F86D6C34-EA26-FF31-1B5D-6A2440BA3EC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576292" y="3227575"/>
            <a:ext cx="1021608" cy="301835"/>
          </p:xfrm>
          <a:graphic>
            <a:graphicData uri="http://schemas.openxmlformats.org/drawingml/2006/table">
              <a:tbl>
                <a:tblPr firstRow="1" bandRow="1"/>
                <a:tblGrid>
                  <a:gridCol w="170268">
                    <a:extLst>
                      <a:ext uri="{9D8B030D-6E8A-4147-A177-3AD203B41FA5}">
                        <a16:colId xmlns:a16="http://schemas.microsoft.com/office/drawing/2014/main" val="414480020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266768624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1186997789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22609687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4231428382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989598063"/>
                      </a:ext>
                    </a:extLst>
                  </a:gridCol>
                </a:tblGrid>
                <a:tr h="301835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768319533"/>
                    </a:ext>
                  </a:extLst>
                </a:tr>
              </a:tbl>
            </a:graphicData>
          </a:graphic>
        </p:graphicFrame>
        <p:graphicFrame>
          <p:nvGraphicFramePr>
            <p:cNvPr id="232" name="Table 27">
              <a:extLst>
                <a:ext uri="{FF2B5EF4-FFF2-40B4-BE49-F238E27FC236}">
                  <a16:creationId xmlns:a16="http://schemas.microsoft.com/office/drawing/2014/main" id="{BDD3950A-3E86-9D33-352E-C1E02C883A2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628324" y="3231914"/>
            <a:ext cx="1021608" cy="301835"/>
          </p:xfrm>
          <a:graphic>
            <a:graphicData uri="http://schemas.openxmlformats.org/drawingml/2006/table">
              <a:tbl>
                <a:tblPr firstRow="1" bandRow="1"/>
                <a:tblGrid>
                  <a:gridCol w="170268">
                    <a:extLst>
                      <a:ext uri="{9D8B030D-6E8A-4147-A177-3AD203B41FA5}">
                        <a16:colId xmlns:a16="http://schemas.microsoft.com/office/drawing/2014/main" val="414480020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266768624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1186997789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22609687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4231428382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989598063"/>
                      </a:ext>
                    </a:extLst>
                  </a:gridCol>
                </a:tblGrid>
                <a:tr h="301835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768319533"/>
                    </a:ext>
                  </a:extLst>
                </a:tr>
              </a:tbl>
            </a:graphicData>
          </a:graphic>
        </p:graphicFrame>
        <p:graphicFrame>
          <p:nvGraphicFramePr>
            <p:cNvPr id="234" name="Table 27">
              <a:extLst>
                <a:ext uri="{FF2B5EF4-FFF2-40B4-BE49-F238E27FC236}">
                  <a16:creationId xmlns:a16="http://schemas.microsoft.com/office/drawing/2014/main" id="{AD97839D-B365-87E4-C976-F7EADACA4F8C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680741" y="3227575"/>
            <a:ext cx="1021608" cy="301835"/>
          </p:xfrm>
          <a:graphic>
            <a:graphicData uri="http://schemas.openxmlformats.org/drawingml/2006/table">
              <a:tbl>
                <a:tblPr firstRow="1" bandRow="1"/>
                <a:tblGrid>
                  <a:gridCol w="170268">
                    <a:extLst>
                      <a:ext uri="{9D8B030D-6E8A-4147-A177-3AD203B41FA5}">
                        <a16:colId xmlns:a16="http://schemas.microsoft.com/office/drawing/2014/main" val="414480020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266768624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1186997789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22609687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4231428382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989598063"/>
                      </a:ext>
                    </a:extLst>
                  </a:gridCol>
                </a:tblGrid>
                <a:tr h="301835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768319533"/>
                    </a:ext>
                  </a:extLst>
                </a:tr>
              </a:tbl>
            </a:graphicData>
          </a:graphic>
        </p:graphicFrame>
        <p:graphicFrame>
          <p:nvGraphicFramePr>
            <p:cNvPr id="236" name="Table 27">
              <a:extLst>
                <a:ext uri="{FF2B5EF4-FFF2-40B4-BE49-F238E27FC236}">
                  <a16:creationId xmlns:a16="http://schemas.microsoft.com/office/drawing/2014/main" id="{AADE2B50-1838-6346-D609-18B83D6AA8A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728670" y="3224527"/>
            <a:ext cx="1021608" cy="301835"/>
          </p:xfrm>
          <a:graphic>
            <a:graphicData uri="http://schemas.openxmlformats.org/drawingml/2006/table">
              <a:tbl>
                <a:tblPr firstRow="1" bandRow="1"/>
                <a:tblGrid>
                  <a:gridCol w="170268">
                    <a:extLst>
                      <a:ext uri="{9D8B030D-6E8A-4147-A177-3AD203B41FA5}">
                        <a16:colId xmlns:a16="http://schemas.microsoft.com/office/drawing/2014/main" val="414480020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266768624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1186997789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22609687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4231428382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989598063"/>
                      </a:ext>
                    </a:extLst>
                  </a:gridCol>
                </a:tblGrid>
                <a:tr h="301835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768319533"/>
                    </a:ext>
                  </a:extLst>
                </a:tr>
              </a:tbl>
            </a:graphicData>
          </a:graphic>
        </p:graphicFrame>
        <p:graphicFrame>
          <p:nvGraphicFramePr>
            <p:cNvPr id="238" name="Table 27">
              <a:extLst>
                <a:ext uri="{FF2B5EF4-FFF2-40B4-BE49-F238E27FC236}">
                  <a16:creationId xmlns:a16="http://schemas.microsoft.com/office/drawing/2014/main" id="{B09B024A-F268-9A7C-CC2D-BBA774B2FA9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518162" y="3923569"/>
            <a:ext cx="1021608" cy="301835"/>
          </p:xfrm>
          <a:graphic>
            <a:graphicData uri="http://schemas.openxmlformats.org/drawingml/2006/table">
              <a:tbl>
                <a:tblPr firstRow="1" bandRow="1"/>
                <a:tblGrid>
                  <a:gridCol w="170268">
                    <a:extLst>
                      <a:ext uri="{9D8B030D-6E8A-4147-A177-3AD203B41FA5}">
                        <a16:colId xmlns:a16="http://schemas.microsoft.com/office/drawing/2014/main" val="414480020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266768624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1186997789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22609687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4231428382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989598063"/>
                      </a:ext>
                    </a:extLst>
                  </a:gridCol>
                </a:tblGrid>
                <a:tr h="301835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768319533"/>
                    </a:ext>
                  </a:extLst>
                </a:tr>
              </a:tbl>
            </a:graphicData>
          </a:graphic>
        </p:graphicFrame>
        <p:graphicFrame>
          <p:nvGraphicFramePr>
            <p:cNvPr id="240" name="Table 27">
              <a:extLst>
                <a:ext uri="{FF2B5EF4-FFF2-40B4-BE49-F238E27FC236}">
                  <a16:creationId xmlns:a16="http://schemas.microsoft.com/office/drawing/2014/main" id="{DFA0461A-344F-C071-B57F-75AF87591F5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583437" y="3921405"/>
            <a:ext cx="1021608" cy="301835"/>
          </p:xfrm>
          <a:graphic>
            <a:graphicData uri="http://schemas.openxmlformats.org/drawingml/2006/table">
              <a:tbl>
                <a:tblPr firstRow="1" bandRow="1"/>
                <a:tblGrid>
                  <a:gridCol w="170268">
                    <a:extLst>
                      <a:ext uri="{9D8B030D-6E8A-4147-A177-3AD203B41FA5}">
                        <a16:colId xmlns:a16="http://schemas.microsoft.com/office/drawing/2014/main" val="414480020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266768624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1186997789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22609687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4231428382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989598063"/>
                      </a:ext>
                    </a:extLst>
                  </a:gridCol>
                </a:tblGrid>
                <a:tr h="301835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768319533"/>
                    </a:ext>
                  </a:extLst>
                </a:tr>
              </a:tbl>
            </a:graphicData>
          </a:graphic>
        </p:graphicFrame>
        <p:graphicFrame>
          <p:nvGraphicFramePr>
            <p:cNvPr id="242" name="Table 27">
              <a:extLst>
                <a:ext uri="{FF2B5EF4-FFF2-40B4-BE49-F238E27FC236}">
                  <a16:creationId xmlns:a16="http://schemas.microsoft.com/office/drawing/2014/main" id="{14117D0F-9A15-AD77-4C1D-9DED44ED583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640412" y="3918967"/>
            <a:ext cx="1021608" cy="301835"/>
          </p:xfrm>
          <a:graphic>
            <a:graphicData uri="http://schemas.openxmlformats.org/drawingml/2006/table">
              <a:tbl>
                <a:tblPr firstRow="1" bandRow="1"/>
                <a:tblGrid>
                  <a:gridCol w="170268">
                    <a:extLst>
                      <a:ext uri="{9D8B030D-6E8A-4147-A177-3AD203B41FA5}">
                        <a16:colId xmlns:a16="http://schemas.microsoft.com/office/drawing/2014/main" val="414480020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266768624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1186997789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22609687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4231428382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989598063"/>
                      </a:ext>
                    </a:extLst>
                  </a:gridCol>
                </a:tblGrid>
                <a:tr h="301835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768319533"/>
                    </a:ext>
                  </a:extLst>
                </a:tr>
              </a:tbl>
            </a:graphicData>
          </a:graphic>
        </p:graphicFrame>
        <p:graphicFrame>
          <p:nvGraphicFramePr>
            <p:cNvPr id="244" name="Table 27">
              <a:extLst>
                <a:ext uri="{FF2B5EF4-FFF2-40B4-BE49-F238E27FC236}">
                  <a16:creationId xmlns:a16="http://schemas.microsoft.com/office/drawing/2014/main" id="{DB95AEBA-8B04-01ED-48E8-CE439E1F4F8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688774" y="3918978"/>
            <a:ext cx="1021608" cy="301835"/>
          </p:xfrm>
          <a:graphic>
            <a:graphicData uri="http://schemas.openxmlformats.org/drawingml/2006/table">
              <a:tbl>
                <a:tblPr firstRow="1" bandRow="1"/>
                <a:tblGrid>
                  <a:gridCol w="170268">
                    <a:extLst>
                      <a:ext uri="{9D8B030D-6E8A-4147-A177-3AD203B41FA5}">
                        <a16:colId xmlns:a16="http://schemas.microsoft.com/office/drawing/2014/main" val="414480020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266768624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1186997789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22609687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4231428382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989598063"/>
                      </a:ext>
                    </a:extLst>
                  </a:gridCol>
                </a:tblGrid>
                <a:tr h="301835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768319533"/>
                    </a:ext>
                  </a:extLst>
                </a:tr>
              </a:tbl>
            </a:graphicData>
          </a:graphic>
        </p:graphicFrame>
        <p:graphicFrame>
          <p:nvGraphicFramePr>
            <p:cNvPr id="246" name="Table 27">
              <a:extLst>
                <a:ext uri="{FF2B5EF4-FFF2-40B4-BE49-F238E27FC236}">
                  <a16:creationId xmlns:a16="http://schemas.microsoft.com/office/drawing/2014/main" id="{7619F7EA-7042-C9D9-FA5F-E06A7C0D2F2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750528" y="3924329"/>
            <a:ext cx="1021608" cy="301835"/>
          </p:xfrm>
          <a:graphic>
            <a:graphicData uri="http://schemas.openxmlformats.org/drawingml/2006/table">
              <a:tbl>
                <a:tblPr firstRow="1" bandRow="1"/>
                <a:tblGrid>
                  <a:gridCol w="170268">
                    <a:extLst>
                      <a:ext uri="{9D8B030D-6E8A-4147-A177-3AD203B41FA5}">
                        <a16:colId xmlns:a16="http://schemas.microsoft.com/office/drawing/2014/main" val="414480020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266768624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1186997789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22609687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4231428382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989598063"/>
                      </a:ext>
                    </a:extLst>
                  </a:gridCol>
                </a:tblGrid>
                <a:tr h="301835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768319533"/>
                    </a:ext>
                  </a:extLst>
                </a:tr>
              </a:tbl>
            </a:graphicData>
          </a:graphic>
        </p:graphicFrame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AF4A625F-962C-6F37-0AFA-AA38BE133E7E}"/>
                </a:ext>
              </a:extLst>
            </p:cNvPr>
            <p:cNvSpPr/>
            <p:nvPr/>
          </p:nvSpPr>
          <p:spPr>
            <a:xfrm>
              <a:off x="2036282" y="3072082"/>
              <a:ext cx="158278" cy="596652"/>
            </a:xfrm>
            <a:prstGeom prst="rect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C84D64D2-3451-9A13-A9FE-A99C5CEC0E5A}"/>
                </a:ext>
              </a:extLst>
            </p:cNvPr>
            <p:cNvSpPr/>
            <p:nvPr/>
          </p:nvSpPr>
          <p:spPr>
            <a:xfrm>
              <a:off x="2673284" y="3069316"/>
              <a:ext cx="158278" cy="596652"/>
            </a:xfrm>
            <a:prstGeom prst="rect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D8C2C20A-2A20-5433-AF66-9AFE76EDE57E}"/>
                </a:ext>
              </a:extLst>
            </p:cNvPr>
            <p:cNvSpPr/>
            <p:nvPr/>
          </p:nvSpPr>
          <p:spPr>
            <a:xfrm>
              <a:off x="4026816" y="3076329"/>
              <a:ext cx="158278" cy="596652"/>
            </a:xfrm>
            <a:prstGeom prst="rect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7DBCE521-3965-E617-1B3B-CAC35C26E45A}"/>
                </a:ext>
              </a:extLst>
            </p:cNvPr>
            <p:cNvSpPr/>
            <p:nvPr/>
          </p:nvSpPr>
          <p:spPr>
            <a:xfrm>
              <a:off x="4717745" y="3076329"/>
              <a:ext cx="158278" cy="596652"/>
            </a:xfrm>
            <a:prstGeom prst="rect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44AE7A1E-D581-7EDB-4C54-D7BFA95AC411}"/>
                </a:ext>
              </a:extLst>
            </p:cNvPr>
            <p:cNvSpPr/>
            <p:nvPr/>
          </p:nvSpPr>
          <p:spPr>
            <a:xfrm>
              <a:off x="6004789" y="3084505"/>
              <a:ext cx="158278" cy="596652"/>
            </a:xfrm>
            <a:prstGeom prst="rect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7D303B8A-F5DC-A213-6696-33A39AD82E53}"/>
                </a:ext>
              </a:extLst>
            </p:cNvPr>
            <p:cNvCxnSpPr>
              <a:cxnSpLocks/>
            </p:cNvCxnSpPr>
            <p:nvPr/>
          </p:nvCxnSpPr>
          <p:spPr>
            <a:xfrm>
              <a:off x="386992" y="4533391"/>
              <a:ext cx="6450734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CB8693E3-A739-405D-DB9A-B2DE7F59BB1B}"/>
                </a:ext>
              </a:extLst>
            </p:cNvPr>
            <p:cNvSpPr/>
            <p:nvPr/>
          </p:nvSpPr>
          <p:spPr>
            <a:xfrm>
              <a:off x="3043254" y="4575208"/>
              <a:ext cx="1237686" cy="281740"/>
            </a:xfrm>
            <a:prstGeom prst="round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100" b="1" dirty="0"/>
                <a:t>Differentiated play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9060305-B052-66FD-D15A-A0244F1C420D}"/>
                </a:ext>
              </a:extLst>
            </p:cNvPr>
            <p:cNvSpPr/>
            <p:nvPr/>
          </p:nvSpPr>
          <p:spPr>
            <a:xfrm>
              <a:off x="1618617" y="3790377"/>
              <a:ext cx="158278" cy="596652"/>
            </a:xfrm>
            <a:prstGeom prst="rect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BD25697-9D4B-25B1-7836-BD4FA9D0A590}"/>
                </a:ext>
              </a:extLst>
            </p:cNvPr>
            <p:cNvSpPr/>
            <p:nvPr/>
          </p:nvSpPr>
          <p:spPr>
            <a:xfrm>
              <a:off x="2781485" y="3776160"/>
              <a:ext cx="158278" cy="596652"/>
            </a:xfrm>
            <a:prstGeom prst="rect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33C7B76-0579-B65F-0EE5-246BB07C2D80}"/>
                </a:ext>
              </a:extLst>
            </p:cNvPr>
            <p:cNvSpPr/>
            <p:nvPr/>
          </p:nvSpPr>
          <p:spPr>
            <a:xfrm>
              <a:off x="3858547" y="3776012"/>
              <a:ext cx="158278" cy="596652"/>
            </a:xfrm>
            <a:prstGeom prst="rect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E87BA45-145F-F15F-79D4-53A21900C094}"/>
                </a:ext>
              </a:extLst>
            </p:cNvPr>
            <p:cNvSpPr/>
            <p:nvPr/>
          </p:nvSpPr>
          <p:spPr>
            <a:xfrm>
              <a:off x="5105509" y="3804120"/>
              <a:ext cx="158278" cy="596652"/>
            </a:xfrm>
            <a:prstGeom prst="rect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37B8346-1945-6DD2-51E2-3EF2289468C6}"/>
                </a:ext>
              </a:extLst>
            </p:cNvPr>
            <p:cNvSpPr/>
            <p:nvPr/>
          </p:nvSpPr>
          <p:spPr>
            <a:xfrm>
              <a:off x="5759029" y="3790377"/>
              <a:ext cx="158278" cy="596652"/>
            </a:xfrm>
            <a:prstGeom prst="rect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DAA6484-E025-B715-4F40-B625C819C8AB}"/>
              </a:ext>
            </a:extLst>
          </p:cNvPr>
          <p:cNvGrpSpPr/>
          <p:nvPr/>
        </p:nvGrpSpPr>
        <p:grpSpPr>
          <a:xfrm>
            <a:off x="0" y="142951"/>
            <a:ext cx="12192000" cy="378144"/>
            <a:chOff x="522892" y="124260"/>
            <a:chExt cx="10996651" cy="378144"/>
          </a:xfrm>
        </p:grpSpPr>
        <p:sp>
          <p:nvSpPr>
            <p:cNvPr id="12" name="Arrow: Chevron 3">
              <a:extLst>
                <a:ext uri="{FF2B5EF4-FFF2-40B4-BE49-F238E27FC236}">
                  <a16:creationId xmlns:a16="http://schemas.microsoft.com/office/drawing/2014/main" id="{7DC6835C-9220-6C75-A06B-174104A7EEFA}"/>
                </a:ext>
              </a:extLst>
            </p:cNvPr>
            <p:cNvSpPr/>
            <p:nvPr/>
          </p:nvSpPr>
          <p:spPr>
            <a:xfrm>
              <a:off x="522892" y="143574"/>
              <a:ext cx="1855565" cy="35083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Addressable Ecommerce Market</a:t>
              </a:r>
            </a:p>
          </p:txBody>
        </p:sp>
        <p:sp>
          <p:nvSpPr>
            <p:cNvPr id="14" name="Arrow: Chevron 5">
              <a:extLst>
                <a:ext uri="{FF2B5EF4-FFF2-40B4-BE49-F238E27FC236}">
                  <a16:creationId xmlns:a16="http://schemas.microsoft.com/office/drawing/2014/main" id="{071A15C0-C817-C52C-188B-1CE82D554C40}"/>
                </a:ext>
              </a:extLst>
            </p:cNvPr>
            <p:cNvSpPr/>
            <p:nvPr/>
          </p:nvSpPr>
          <p:spPr>
            <a:xfrm>
              <a:off x="2291973" y="151322"/>
              <a:ext cx="1955142" cy="35083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Segmentation &amp; Cluster Analysis</a:t>
              </a:r>
            </a:p>
          </p:txBody>
        </p:sp>
        <p:sp>
          <p:nvSpPr>
            <p:cNvPr id="15" name="Arrow: Chevron 6">
              <a:extLst>
                <a:ext uri="{FF2B5EF4-FFF2-40B4-BE49-F238E27FC236}">
                  <a16:creationId xmlns:a16="http://schemas.microsoft.com/office/drawing/2014/main" id="{C844DD22-3B34-AF40-5116-46324F0F9747}"/>
                </a:ext>
              </a:extLst>
            </p:cNvPr>
            <p:cNvSpPr/>
            <p:nvPr/>
          </p:nvSpPr>
          <p:spPr>
            <a:xfrm>
              <a:off x="4140858" y="135602"/>
              <a:ext cx="1955142" cy="366554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Competitor Benchmarking</a:t>
              </a:r>
            </a:p>
          </p:txBody>
        </p:sp>
        <p:sp>
          <p:nvSpPr>
            <p:cNvPr id="16" name="Arrow: Chevron 7">
              <a:extLst>
                <a:ext uri="{FF2B5EF4-FFF2-40B4-BE49-F238E27FC236}">
                  <a16:creationId xmlns:a16="http://schemas.microsoft.com/office/drawing/2014/main" id="{F253C181-5072-F61A-F381-4256EF8A3308}"/>
                </a:ext>
              </a:extLst>
            </p:cNvPr>
            <p:cNvSpPr/>
            <p:nvPr/>
          </p:nvSpPr>
          <p:spPr>
            <a:xfrm>
              <a:off x="6027274" y="134750"/>
              <a:ext cx="1954629" cy="36765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Channel Strategy &amp; Portfolio Strategy</a:t>
              </a:r>
            </a:p>
          </p:txBody>
        </p:sp>
        <p:sp>
          <p:nvSpPr>
            <p:cNvPr id="17" name="Arrow: Chevron 8">
              <a:extLst>
                <a:ext uri="{FF2B5EF4-FFF2-40B4-BE49-F238E27FC236}">
                  <a16:creationId xmlns:a16="http://schemas.microsoft.com/office/drawing/2014/main" id="{32D7C437-6062-63F1-A0FB-D758E247727D}"/>
                </a:ext>
              </a:extLst>
            </p:cNvPr>
            <p:cNvSpPr/>
            <p:nvPr/>
          </p:nvSpPr>
          <p:spPr>
            <a:xfrm>
              <a:off x="7876159" y="131844"/>
              <a:ext cx="1813329" cy="370311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Digital Marketing Mix</a:t>
              </a:r>
            </a:p>
          </p:txBody>
        </p:sp>
        <p:sp>
          <p:nvSpPr>
            <p:cNvPr id="18" name="Arrow: Chevron 11">
              <a:extLst>
                <a:ext uri="{FF2B5EF4-FFF2-40B4-BE49-F238E27FC236}">
                  <a16:creationId xmlns:a16="http://schemas.microsoft.com/office/drawing/2014/main" id="{A885BC2E-7D98-3E0C-9B5A-BC951EA81C18}"/>
                </a:ext>
              </a:extLst>
            </p:cNvPr>
            <p:cNvSpPr/>
            <p:nvPr/>
          </p:nvSpPr>
          <p:spPr>
            <a:xfrm>
              <a:off x="9584173" y="124260"/>
              <a:ext cx="1935370" cy="359680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Campaigns &amp; Feasibility Analysis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59464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7064D1-507B-6859-5A50-0A74D7EFF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21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56197E-4EEA-A115-3DDF-C46D6AFE4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974" y="774261"/>
            <a:ext cx="10906125" cy="403828"/>
          </a:xfrm>
        </p:spPr>
        <p:txBody>
          <a:bodyPr/>
          <a:lstStyle/>
          <a:p>
            <a:r>
              <a:rPr lang="en-US" dirty="0"/>
              <a:t>Having an omni-platform presence will facilitate high growth 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30B473C-6EC6-D346-00F8-37069274550B}"/>
              </a:ext>
            </a:extLst>
          </p:cNvPr>
          <p:cNvGrpSpPr/>
          <p:nvPr/>
        </p:nvGrpSpPr>
        <p:grpSpPr>
          <a:xfrm>
            <a:off x="503344" y="1338943"/>
            <a:ext cx="5427088" cy="4819732"/>
            <a:chOff x="503344" y="1338943"/>
            <a:chExt cx="5427088" cy="4819732"/>
          </a:xfrm>
        </p:grpSpPr>
        <p:graphicFrame>
          <p:nvGraphicFramePr>
            <p:cNvPr id="6" name="Chart 5">
              <a:extLst>
                <a:ext uri="{FF2B5EF4-FFF2-40B4-BE49-F238E27FC236}">
                  <a16:creationId xmlns:a16="http://schemas.microsoft.com/office/drawing/2014/main" id="{38728F7B-2429-46F7-8FD1-12E7B0072426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901839113"/>
                </p:ext>
              </p:extLst>
            </p:nvPr>
          </p:nvGraphicFramePr>
          <p:xfrm>
            <a:off x="503344" y="1338943"/>
            <a:ext cx="5427088" cy="481973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7" name="Arrow: Up 6">
              <a:extLst>
                <a:ext uri="{FF2B5EF4-FFF2-40B4-BE49-F238E27FC236}">
                  <a16:creationId xmlns:a16="http://schemas.microsoft.com/office/drawing/2014/main" id="{C2944409-079A-53B4-DBB9-2219619820BC}"/>
                </a:ext>
              </a:extLst>
            </p:cNvPr>
            <p:cNvSpPr/>
            <p:nvPr/>
          </p:nvSpPr>
          <p:spPr>
            <a:xfrm>
              <a:off x="1414792" y="4181522"/>
              <a:ext cx="381000" cy="780951"/>
            </a:xfrm>
            <a:prstGeom prst="up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IN" err="1"/>
            </a:p>
          </p:txBody>
        </p:sp>
        <p:sp>
          <p:nvSpPr>
            <p:cNvPr id="8" name="Arrow: Up 7">
              <a:extLst>
                <a:ext uri="{FF2B5EF4-FFF2-40B4-BE49-F238E27FC236}">
                  <a16:creationId xmlns:a16="http://schemas.microsoft.com/office/drawing/2014/main" id="{272E6629-028C-A1AA-17E7-FA38901D0AEE}"/>
                </a:ext>
              </a:extLst>
            </p:cNvPr>
            <p:cNvSpPr/>
            <p:nvPr/>
          </p:nvSpPr>
          <p:spPr>
            <a:xfrm>
              <a:off x="2473547" y="3827734"/>
              <a:ext cx="381000" cy="780951"/>
            </a:xfrm>
            <a:prstGeom prst="up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IN" err="1"/>
            </a:p>
          </p:txBody>
        </p:sp>
        <p:sp>
          <p:nvSpPr>
            <p:cNvPr id="9" name="Arrow: Up 8">
              <a:extLst>
                <a:ext uri="{FF2B5EF4-FFF2-40B4-BE49-F238E27FC236}">
                  <a16:creationId xmlns:a16="http://schemas.microsoft.com/office/drawing/2014/main" id="{2D75870C-721A-D9B7-152F-58CEEE21B2A1}"/>
                </a:ext>
              </a:extLst>
            </p:cNvPr>
            <p:cNvSpPr/>
            <p:nvPr/>
          </p:nvSpPr>
          <p:spPr>
            <a:xfrm>
              <a:off x="1953635" y="3996464"/>
              <a:ext cx="381000" cy="780951"/>
            </a:xfrm>
            <a:prstGeom prst="up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IN" err="1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F8BCCE0-1DAF-8784-97C6-7BA4C2189C24}"/>
                </a:ext>
              </a:extLst>
            </p:cNvPr>
            <p:cNvSpPr txBox="1"/>
            <p:nvPr/>
          </p:nvSpPr>
          <p:spPr>
            <a:xfrm>
              <a:off x="1174336" y="2063454"/>
              <a:ext cx="2703802" cy="10885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IN" sz="1200" b="1" dirty="0">
                  <a:solidFill>
                    <a:srgbClr val="5F0289"/>
                  </a:solidFill>
                </a:rPr>
                <a:t>Having and Omni-Channel platform presence will enable:</a:t>
              </a:r>
              <a:br>
                <a:rPr lang="en-IN" sz="1200" b="1" dirty="0">
                  <a:solidFill>
                    <a:srgbClr val="5F0289"/>
                  </a:solidFill>
                </a:rPr>
              </a:br>
              <a:br>
                <a:rPr lang="en-IN" sz="600" b="1" dirty="0">
                  <a:solidFill>
                    <a:srgbClr val="5F0289"/>
                  </a:solidFill>
                </a:rPr>
              </a:br>
              <a:r>
                <a:rPr lang="en-IN" sz="1200" b="1" dirty="0">
                  <a:solidFill>
                    <a:srgbClr val="5F0289"/>
                  </a:solidFill>
                </a:rPr>
                <a:t>1) Access to larger TAM</a:t>
              </a:r>
              <a:br>
                <a:rPr lang="en-IN" sz="1200" b="1" dirty="0">
                  <a:solidFill>
                    <a:srgbClr val="5F0289"/>
                  </a:solidFill>
                </a:rPr>
              </a:br>
              <a:r>
                <a:rPr lang="en-IN" sz="1200" b="1" dirty="0">
                  <a:solidFill>
                    <a:srgbClr val="5F0289"/>
                  </a:solidFill>
                </a:rPr>
                <a:t>2) Reduce threat due to single provider</a:t>
              </a:r>
              <a:br>
                <a:rPr lang="en-IN" sz="1200" b="1" dirty="0">
                  <a:solidFill>
                    <a:srgbClr val="5F0289"/>
                  </a:solidFill>
                </a:rPr>
              </a:br>
              <a:r>
                <a:rPr lang="en-IN" sz="1200" b="1" dirty="0">
                  <a:solidFill>
                    <a:srgbClr val="5F0289"/>
                  </a:solidFill>
                </a:rPr>
                <a:t>3) Match accessibility with competitors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77DDF34-1A44-EBD5-DAAF-C99A73B7BDB3}"/>
              </a:ext>
            </a:extLst>
          </p:cNvPr>
          <p:cNvSpPr txBox="1"/>
          <p:nvPr/>
        </p:nvSpPr>
        <p:spPr>
          <a:xfrm>
            <a:off x="7715504" y="1837836"/>
            <a:ext cx="1300977" cy="1964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400" b="1" i="1" noProof="0" dirty="0">
                <a:solidFill>
                  <a:srgbClr val="7310A0"/>
                </a:solidFill>
              </a:rPr>
              <a:t>Unfavourable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DB5291-39E3-2492-D760-F2F29278959B}"/>
              </a:ext>
            </a:extLst>
          </p:cNvPr>
          <p:cNvSpPr txBox="1"/>
          <p:nvPr/>
        </p:nvSpPr>
        <p:spPr>
          <a:xfrm>
            <a:off x="10421898" y="1874661"/>
            <a:ext cx="1057202" cy="159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400" b="1" i="1" noProof="0" dirty="0">
                <a:solidFill>
                  <a:srgbClr val="7310A0"/>
                </a:solidFill>
              </a:rPr>
              <a:t>Favourable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A36648-CCEB-0937-D892-26ECE885B1E0}"/>
              </a:ext>
            </a:extLst>
          </p:cNvPr>
          <p:cNvSpPr txBox="1"/>
          <p:nvPr/>
        </p:nvSpPr>
        <p:spPr>
          <a:xfrm>
            <a:off x="6112568" y="1980269"/>
            <a:ext cx="1706218" cy="48887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IN" sz="1400" b="1">
                <a:solidFill>
                  <a:schemeClr val="bg1"/>
                </a:solidFill>
              </a:rPr>
              <a:t>Market Size</a:t>
            </a:r>
            <a:endParaRPr lang="en-IN" sz="1400" b="1" noProof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E0C5EC-8A5F-6654-7A23-8CC47E0DD02A}"/>
              </a:ext>
            </a:extLst>
          </p:cNvPr>
          <p:cNvSpPr txBox="1"/>
          <p:nvPr/>
        </p:nvSpPr>
        <p:spPr>
          <a:xfrm>
            <a:off x="6096000" y="2453551"/>
            <a:ext cx="1706218" cy="48887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IN" sz="1400" b="1">
                <a:solidFill>
                  <a:schemeClr val="bg1"/>
                </a:solidFill>
              </a:rPr>
              <a:t>Online experience store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E061EF-F227-2C60-BE72-3DB5D0630442}"/>
              </a:ext>
            </a:extLst>
          </p:cNvPr>
          <p:cNvSpPr txBox="1"/>
          <p:nvPr/>
        </p:nvSpPr>
        <p:spPr>
          <a:xfrm>
            <a:off x="6112568" y="2926833"/>
            <a:ext cx="1706218" cy="48887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IN" sz="1400" b="1" noProof="0">
                <a:solidFill>
                  <a:schemeClr val="bg1"/>
                </a:solidFill>
              </a:rPr>
              <a:t>Commission Cost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A7AFC9-87D7-5BE7-7F0D-60D7A8D74995}"/>
              </a:ext>
            </a:extLst>
          </p:cNvPr>
          <p:cNvSpPr txBox="1"/>
          <p:nvPr/>
        </p:nvSpPr>
        <p:spPr>
          <a:xfrm>
            <a:off x="6106886" y="3873398"/>
            <a:ext cx="1706218" cy="48887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IN" sz="1400" b="1">
                <a:solidFill>
                  <a:schemeClr val="bg1"/>
                </a:solidFill>
              </a:rPr>
              <a:t>Category Relevance</a:t>
            </a:r>
            <a:endParaRPr lang="en-IN" sz="1400" b="1" noProof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5C31C1-26E9-A9AE-B845-63F58241EA9D}"/>
              </a:ext>
            </a:extLst>
          </p:cNvPr>
          <p:cNvSpPr txBox="1"/>
          <p:nvPr/>
        </p:nvSpPr>
        <p:spPr>
          <a:xfrm>
            <a:off x="6096000" y="3400115"/>
            <a:ext cx="1706218" cy="48887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IN" sz="1400" b="1" noProof="0">
                <a:solidFill>
                  <a:schemeClr val="bg1"/>
                </a:solidFill>
              </a:rPr>
              <a:t>Envelopment Threat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C84796-6C31-4747-1BAA-1FA461592C93}"/>
              </a:ext>
            </a:extLst>
          </p:cNvPr>
          <p:cNvSpPr txBox="1"/>
          <p:nvPr/>
        </p:nvSpPr>
        <p:spPr>
          <a:xfrm>
            <a:off x="5987143" y="1251974"/>
            <a:ext cx="5592654" cy="48887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IN" b="1" noProof="0">
                <a:solidFill>
                  <a:srgbClr val="7310A0"/>
                </a:solidFill>
              </a:rPr>
              <a:t>Comparative favourability of platforms </a:t>
            </a:r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10EE2E32-0706-C1AF-06FB-82D752A6A46F}"/>
              </a:ext>
            </a:extLst>
          </p:cNvPr>
          <p:cNvSpPr/>
          <p:nvPr/>
        </p:nvSpPr>
        <p:spPr>
          <a:xfrm>
            <a:off x="7715504" y="2123145"/>
            <a:ext cx="3709167" cy="295983"/>
          </a:xfrm>
          <a:prstGeom prst="left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err="1"/>
          </a:p>
        </p:txBody>
      </p:sp>
      <p:sp>
        <p:nvSpPr>
          <p:cNvPr id="12" name="Arrow: Left-Right 11">
            <a:extLst>
              <a:ext uri="{FF2B5EF4-FFF2-40B4-BE49-F238E27FC236}">
                <a16:creationId xmlns:a16="http://schemas.microsoft.com/office/drawing/2014/main" id="{BE5EFFE2-8340-C8BF-CE2C-BDA641D1E751}"/>
              </a:ext>
            </a:extLst>
          </p:cNvPr>
          <p:cNvSpPr/>
          <p:nvPr/>
        </p:nvSpPr>
        <p:spPr>
          <a:xfrm>
            <a:off x="7715504" y="2584819"/>
            <a:ext cx="3709167" cy="295983"/>
          </a:xfrm>
          <a:prstGeom prst="left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err="1"/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86F9FEEF-6AC2-1D39-8E15-DFBE8A3C6A7D}"/>
              </a:ext>
            </a:extLst>
          </p:cNvPr>
          <p:cNvSpPr/>
          <p:nvPr/>
        </p:nvSpPr>
        <p:spPr>
          <a:xfrm>
            <a:off x="7715504" y="3046493"/>
            <a:ext cx="3709167" cy="295983"/>
          </a:xfrm>
          <a:prstGeom prst="left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err="1"/>
          </a:p>
        </p:txBody>
      </p:sp>
      <p:sp>
        <p:nvSpPr>
          <p:cNvPr id="14" name="Arrow: Left-Right 13">
            <a:extLst>
              <a:ext uri="{FF2B5EF4-FFF2-40B4-BE49-F238E27FC236}">
                <a16:creationId xmlns:a16="http://schemas.microsoft.com/office/drawing/2014/main" id="{744BE279-FFF3-492B-1FE3-6F44627ED483}"/>
              </a:ext>
            </a:extLst>
          </p:cNvPr>
          <p:cNvSpPr/>
          <p:nvPr/>
        </p:nvSpPr>
        <p:spPr>
          <a:xfrm>
            <a:off x="7715504" y="3969842"/>
            <a:ext cx="3709167" cy="295983"/>
          </a:xfrm>
          <a:prstGeom prst="left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err="1"/>
          </a:p>
        </p:txBody>
      </p:sp>
      <p:sp>
        <p:nvSpPr>
          <p:cNvPr id="15" name="Arrow: Left-Right 14">
            <a:extLst>
              <a:ext uri="{FF2B5EF4-FFF2-40B4-BE49-F238E27FC236}">
                <a16:creationId xmlns:a16="http://schemas.microsoft.com/office/drawing/2014/main" id="{54E7876A-36FB-AED2-7436-8B4784BAEA8B}"/>
              </a:ext>
            </a:extLst>
          </p:cNvPr>
          <p:cNvSpPr/>
          <p:nvPr/>
        </p:nvSpPr>
        <p:spPr>
          <a:xfrm>
            <a:off x="7715504" y="3508167"/>
            <a:ext cx="3709167" cy="295983"/>
          </a:xfrm>
          <a:prstGeom prst="left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err="1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BB88CA7-6611-9FFE-B883-5502B367CA2F}"/>
              </a:ext>
            </a:extLst>
          </p:cNvPr>
          <p:cNvSpPr/>
          <p:nvPr/>
        </p:nvSpPr>
        <p:spPr>
          <a:xfrm>
            <a:off x="5987143" y="1779340"/>
            <a:ext cx="5592656" cy="257113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err="1"/>
          </a:p>
        </p:txBody>
      </p: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7314694E-2633-5A3B-2817-C0D9C0A2A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769066"/>
              </p:ext>
            </p:extLst>
          </p:nvPr>
        </p:nvGraphicFramePr>
        <p:xfrm>
          <a:off x="5987143" y="4401713"/>
          <a:ext cx="5592654" cy="1743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109">
                  <a:extLst>
                    <a:ext uri="{9D8B030D-6E8A-4147-A177-3AD203B41FA5}">
                      <a16:colId xmlns:a16="http://schemas.microsoft.com/office/drawing/2014/main" val="1039826539"/>
                    </a:ext>
                  </a:extLst>
                </a:gridCol>
                <a:gridCol w="559234">
                  <a:extLst>
                    <a:ext uri="{9D8B030D-6E8A-4147-A177-3AD203B41FA5}">
                      <a16:colId xmlns:a16="http://schemas.microsoft.com/office/drawing/2014/main" val="777795203"/>
                    </a:ext>
                  </a:extLst>
                </a:gridCol>
                <a:gridCol w="707571">
                  <a:extLst>
                    <a:ext uri="{9D8B030D-6E8A-4147-A177-3AD203B41FA5}">
                      <a16:colId xmlns:a16="http://schemas.microsoft.com/office/drawing/2014/main" val="285068563"/>
                    </a:ext>
                  </a:extLst>
                </a:gridCol>
                <a:gridCol w="1077686">
                  <a:extLst>
                    <a:ext uri="{9D8B030D-6E8A-4147-A177-3AD203B41FA5}">
                      <a16:colId xmlns:a16="http://schemas.microsoft.com/office/drawing/2014/main" val="3107901916"/>
                    </a:ext>
                  </a:extLst>
                </a:gridCol>
                <a:gridCol w="1088571">
                  <a:extLst>
                    <a:ext uri="{9D8B030D-6E8A-4147-A177-3AD203B41FA5}">
                      <a16:colId xmlns:a16="http://schemas.microsoft.com/office/drawing/2014/main" val="3042167659"/>
                    </a:ext>
                  </a:extLst>
                </a:gridCol>
                <a:gridCol w="1227483">
                  <a:extLst>
                    <a:ext uri="{9D8B030D-6E8A-4147-A177-3AD203B41FA5}">
                      <a16:colId xmlns:a16="http://schemas.microsoft.com/office/drawing/2014/main" val="3308288125"/>
                    </a:ext>
                  </a:extLst>
                </a:gridCol>
              </a:tblGrid>
              <a:tr h="435782">
                <a:tc gridSpan="2"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Favourable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r>
                        <a:rPr lang="en-IN"/>
                        <a:t>Favourable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Factoring in  growth rate (Exhibit 3)</a:t>
                      </a:r>
                    </a:p>
                  </a:txBody>
                  <a:tcPr vert="vert2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Bedsheet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Towel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Top of bed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7480001"/>
                  </a:ext>
                </a:extLst>
              </a:tr>
              <a:tr h="435782">
                <a:tc>
                  <a:txBody>
                    <a:bodyPr/>
                    <a:lstStyle/>
                    <a:p>
                      <a:r>
                        <a:rPr lang="en-IN" sz="1200" dirty="0"/>
                        <a:t>Amazon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70%</a:t>
                      </a:r>
                    </a:p>
                  </a:txBody>
                  <a:tcPr anchor="ctr">
                    <a:lnL w="12700" cmpd="sng">
                      <a:noFill/>
                    </a:lnL>
                    <a:lnR w="381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 34%</a:t>
                      </a:r>
                    </a:p>
                  </a:txBody>
                  <a:tcPr anchor="ctr">
                    <a:lnL w="381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 41%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 39%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4687218"/>
                  </a:ext>
                </a:extLst>
              </a:tr>
              <a:tr h="435782">
                <a:tc>
                  <a:txBody>
                    <a:bodyPr/>
                    <a:lstStyle/>
                    <a:p>
                      <a:r>
                        <a:rPr lang="en-IN" sz="1200"/>
                        <a:t>Flipkart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58%</a:t>
                      </a:r>
                    </a:p>
                  </a:txBody>
                  <a:tcPr anchor="ctr">
                    <a:lnL w="12700" cmpd="sng">
                      <a:noFill/>
                    </a:lnL>
                    <a:lnR w="381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 25%</a:t>
                      </a:r>
                    </a:p>
                  </a:txBody>
                  <a:tcPr anchor="ctr">
                    <a:lnL w="381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 21%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 23%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1980442"/>
                  </a:ext>
                </a:extLst>
              </a:tr>
              <a:tr h="435782">
                <a:tc>
                  <a:txBody>
                    <a:bodyPr/>
                    <a:lstStyle/>
                    <a:p>
                      <a:r>
                        <a:rPr lang="en-IN" sz="1200" dirty="0"/>
                        <a:t>Myntra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66%</a:t>
                      </a:r>
                    </a:p>
                  </a:txBody>
                  <a:tcPr anchor="ctr">
                    <a:lnL w="12700" cmpd="sng">
                      <a:noFill/>
                    </a:lnL>
                    <a:lnR w="381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 41%</a:t>
                      </a:r>
                    </a:p>
                  </a:txBody>
                  <a:tcPr anchor="ctr">
                    <a:lnL w="381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 38%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 37%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7171417"/>
                  </a:ext>
                </a:extLst>
              </a:tr>
            </a:tbl>
          </a:graphicData>
        </a:graphic>
      </p:graphicFrame>
      <p:pic>
        <p:nvPicPr>
          <p:cNvPr id="1028" name="Picture 4" descr="Amazon, buy, logo, online, shop icon - Free download">
            <a:extLst>
              <a:ext uri="{FF2B5EF4-FFF2-40B4-BE49-F238E27FC236}">
                <a16:creationId xmlns:a16="http://schemas.microsoft.com/office/drawing/2014/main" id="{76C3D4C2-A501-D8FB-3B7A-91AED1415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89" b="96000" l="1778" r="99111">
                        <a14:foregroundMark x1="25778" y1="37778" x2="25778" y2="37778"/>
                        <a14:foregroundMark x1="10222" y1="55556" x2="20000" y2="28444"/>
                        <a14:foregroundMark x1="20000" y1="28444" x2="34222" y2="10667"/>
                        <a14:foregroundMark x1="34222" y1="10667" x2="35111" y2="11111"/>
                        <a14:foregroundMark x1="13778" y1="49333" x2="60444" y2="81333"/>
                        <a14:foregroundMark x1="60444" y1="81333" x2="83111" y2="55556"/>
                        <a14:foregroundMark x1="83111" y1="55556" x2="80889" y2="32000"/>
                        <a14:foregroundMark x1="80889" y1="32000" x2="63111" y2="20444"/>
                        <a14:foregroundMark x1="63111" y1="20444" x2="31111" y2="18222"/>
                        <a14:foregroundMark x1="31111" y1="18222" x2="28444" y2="19111"/>
                        <a14:foregroundMark x1="0" y1="54222" x2="7111" y2="32889"/>
                        <a14:foregroundMark x1="7111" y1="32889" x2="25333" y2="9333"/>
                        <a14:foregroundMark x1="25333" y1="9333" x2="51556" y2="1333"/>
                        <a14:foregroundMark x1="51556" y1="1333" x2="56889" y2="1778"/>
                        <a14:foregroundMark x1="63111" y1="4000" x2="84444" y2="19111"/>
                        <a14:foregroundMark x1="84444" y1="19111" x2="92444" y2="38222"/>
                        <a14:foregroundMark x1="92444" y1="38222" x2="90222" y2="64444"/>
                        <a14:foregroundMark x1="90222" y1="64444" x2="74222" y2="82667"/>
                        <a14:foregroundMark x1="74222" y1="82667" x2="46667" y2="96444"/>
                        <a14:foregroundMark x1="46667" y1="96444" x2="28000" y2="84889"/>
                        <a14:foregroundMark x1="28000" y1="84889" x2="11556" y2="68000"/>
                        <a14:foregroundMark x1="11556" y1="68000" x2="11111" y2="47556"/>
                        <a14:foregroundMark x1="11111" y1="47556" x2="12000" y2="45778"/>
                        <a14:foregroundMark x1="6667" y1="72889" x2="1778" y2="52889"/>
                        <a14:foregroundMark x1="1778" y1="52889" x2="6667" y2="38222"/>
                        <a14:foregroundMark x1="62222" y1="51111" x2="62222" y2="51111"/>
                        <a14:foregroundMark x1="62222" y1="51111" x2="56889" y2="21778"/>
                        <a14:foregroundMark x1="56889" y1="21778" x2="48000" y2="47111"/>
                        <a14:foregroundMark x1="48000" y1="47111" x2="49778" y2="48889"/>
                        <a14:foregroundMark x1="42222" y1="19556" x2="21778" y2="48444"/>
                        <a14:foregroundMark x1="21778" y1="48444" x2="40000" y2="70222"/>
                        <a14:foregroundMark x1="40000" y1="70222" x2="68889" y2="58222"/>
                        <a14:foregroundMark x1="68889" y1="58222" x2="62667" y2="28444"/>
                        <a14:foregroundMark x1="62667" y1="28444" x2="44889" y2="16889"/>
                        <a14:foregroundMark x1="44889" y1="16889" x2="39111" y2="21333"/>
                        <a14:foregroundMark x1="52444" y1="37333" x2="31111" y2="52889"/>
                        <a14:foregroundMark x1="31111" y1="52889" x2="45778" y2="68889"/>
                        <a14:foregroundMark x1="45778" y1="68889" x2="64444" y2="60000"/>
                        <a14:foregroundMark x1="64444" y1="60000" x2="65333" y2="47556"/>
                        <a14:foregroundMark x1="96444" y1="67556" x2="99111" y2="45778"/>
                        <a14:foregroundMark x1="99111" y1="45778" x2="95556" y2="31556"/>
                        <a14:foregroundMark x1="37778" y1="26222" x2="51111" y2="32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5418" y="2109316"/>
            <a:ext cx="350417" cy="350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4" descr="Amazon, buy, logo, online, shop icon - Free download">
            <a:extLst>
              <a:ext uri="{FF2B5EF4-FFF2-40B4-BE49-F238E27FC236}">
                <a16:creationId xmlns:a16="http://schemas.microsoft.com/office/drawing/2014/main" id="{0FB3B30D-CC59-8F74-2B0B-EE01D3EB1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89" b="96000" l="1778" r="99111">
                        <a14:foregroundMark x1="25778" y1="37778" x2="25778" y2="37778"/>
                        <a14:foregroundMark x1="10222" y1="55556" x2="20000" y2="28444"/>
                        <a14:foregroundMark x1="20000" y1="28444" x2="34222" y2="10667"/>
                        <a14:foregroundMark x1="34222" y1="10667" x2="35111" y2="11111"/>
                        <a14:foregroundMark x1="13778" y1="49333" x2="60444" y2="81333"/>
                        <a14:foregroundMark x1="60444" y1="81333" x2="83111" y2="55556"/>
                        <a14:foregroundMark x1="83111" y1="55556" x2="80889" y2="32000"/>
                        <a14:foregroundMark x1="80889" y1="32000" x2="63111" y2="20444"/>
                        <a14:foregroundMark x1="63111" y1="20444" x2="31111" y2="18222"/>
                        <a14:foregroundMark x1="31111" y1="18222" x2="28444" y2="19111"/>
                        <a14:foregroundMark x1="0" y1="54222" x2="7111" y2="32889"/>
                        <a14:foregroundMark x1="7111" y1="32889" x2="25333" y2="9333"/>
                        <a14:foregroundMark x1="25333" y1="9333" x2="51556" y2="1333"/>
                        <a14:foregroundMark x1="51556" y1="1333" x2="56889" y2="1778"/>
                        <a14:foregroundMark x1="63111" y1="4000" x2="84444" y2="19111"/>
                        <a14:foregroundMark x1="84444" y1="19111" x2="92444" y2="38222"/>
                        <a14:foregroundMark x1="92444" y1="38222" x2="90222" y2="64444"/>
                        <a14:foregroundMark x1="90222" y1="64444" x2="74222" y2="82667"/>
                        <a14:foregroundMark x1="74222" y1="82667" x2="46667" y2="96444"/>
                        <a14:foregroundMark x1="46667" y1="96444" x2="28000" y2="84889"/>
                        <a14:foregroundMark x1="28000" y1="84889" x2="11556" y2="68000"/>
                        <a14:foregroundMark x1="11556" y1="68000" x2="11111" y2="47556"/>
                        <a14:foregroundMark x1="11111" y1="47556" x2="12000" y2="45778"/>
                        <a14:foregroundMark x1="6667" y1="72889" x2="1778" y2="52889"/>
                        <a14:foregroundMark x1="1778" y1="52889" x2="6667" y2="38222"/>
                        <a14:foregroundMark x1="62222" y1="51111" x2="62222" y2="51111"/>
                        <a14:foregroundMark x1="62222" y1="51111" x2="56889" y2="21778"/>
                        <a14:foregroundMark x1="56889" y1="21778" x2="48000" y2="47111"/>
                        <a14:foregroundMark x1="48000" y1="47111" x2="49778" y2="48889"/>
                        <a14:foregroundMark x1="42222" y1="19556" x2="21778" y2="48444"/>
                        <a14:foregroundMark x1="21778" y1="48444" x2="40000" y2="70222"/>
                        <a14:foregroundMark x1="40000" y1="70222" x2="68889" y2="58222"/>
                        <a14:foregroundMark x1="68889" y1="58222" x2="62667" y2="28444"/>
                        <a14:foregroundMark x1="62667" y1="28444" x2="44889" y2="16889"/>
                        <a14:foregroundMark x1="44889" y1="16889" x2="39111" y2="21333"/>
                        <a14:foregroundMark x1="52444" y1="37333" x2="31111" y2="52889"/>
                        <a14:foregroundMark x1="31111" y1="52889" x2="45778" y2="68889"/>
                        <a14:foregroundMark x1="45778" y1="68889" x2="64444" y2="60000"/>
                        <a14:foregroundMark x1="64444" y1="60000" x2="65333" y2="47556"/>
                        <a14:foregroundMark x1="96444" y1="67556" x2="99111" y2="45778"/>
                        <a14:foregroundMark x1="99111" y1="45778" x2="95556" y2="31556"/>
                        <a14:foregroundMark x1="37778" y1="26222" x2="51111" y2="32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5740" y="2587724"/>
            <a:ext cx="350417" cy="350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" descr="Amazon, buy, logo, online, shop icon - Free download">
            <a:extLst>
              <a:ext uri="{FF2B5EF4-FFF2-40B4-BE49-F238E27FC236}">
                <a16:creationId xmlns:a16="http://schemas.microsoft.com/office/drawing/2014/main" id="{F9724A53-8800-648B-8B88-E3F384F9D5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89" b="96000" l="1778" r="99111">
                        <a14:foregroundMark x1="25778" y1="37778" x2="25778" y2="37778"/>
                        <a14:foregroundMark x1="10222" y1="55556" x2="20000" y2="28444"/>
                        <a14:foregroundMark x1="20000" y1="28444" x2="34222" y2="10667"/>
                        <a14:foregroundMark x1="34222" y1="10667" x2="35111" y2="11111"/>
                        <a14:foregroundMark x1="13778" y1="49333" x2="60444" y2="81333"/>
                        <a14:foregroundMark x1="60444" y1="81333" x2="83111" y2="55556"/>
                        <a14:foregroundMark x1="83111" y1="55556" x2="80889" y2="32000"/>
                        <a14:foregroundMark x1="80889" y1="32000" x2="63111" y2="20444"/>
                        <a14:foregroundMark x1="63111" y1="20444" x2="31111" y2="18222"/>
                        <a14:foregroundMark x1="31111" y1="18222" x2="28444" y2="19111"/>
                        <a14:foregroundMark x1="0" y1="54222" x2="7111" y2="32889"/>
                        <a14:foregroundMark x1="7111" y1="32889" x2="25333" y2="9333"/>
                        <a14:foregroundMark x1="25333" y1="9333" x2="51556" y2="1333"/>
                        <a14:foregroundMark x1="51556" y1="1333" x2="56889" y2="1778"/>
                        <a14:foregroundMark x1="63111" y1="4000" x2="84444" y2="19111"/>
                        <a14:foregroundMark x1="84444" y1="19111" x2="92444" y2="38222"/>
                        <a14:foregroundMark x1="92444" y1="38222" x2="90222" y2="64444"/>
                        <a14:foregroundMark x1="90222" y1="64444" x2="74222" y2="82667"/>
                        <a14:foregroundMark x1="74222" y1="82667" x2="46667" y2="96444"/>
                        <a14:foregroundMark x1="46667" y1="96444" x2="28000" y2="84889"/>
                        <a14:foregroundMark x1="28000" y1="84889" x2="11556" y2="68000"/>
                        <a14:foregroundMark x1="11556" y1="68000" x2="11111" y2="47556"/>
                        <a14:foregroundMark x1="11111" y1="47556" x2="12000" y2="45778"/>
                        <a14:foregroundMark x1="6667" y1="72889" x2="1778" y2="52889"/>
                        <a14:foregroundMark x1="1778" y1="52889" x2="6667" y2="38222"/>
                        <a14:foregroundMark x1="62222" y1="51111" x2="62222" y2="51111"/>
                        <a14:foregroundMark x1="62222" y1="51111" x2="56889" y2="21778"/>
                        <a14:foregroundMark x1="56889" y1="21778" x2="48000" y2="47111"/>
                        <a14:foregroundMark x1="48000" y1="47111" x2="49778" y2="48889"/>
                        <a14:foregroundMark x1="42222" y1="19556" x2="21778" y2="48444"/>
                        <a14:foregroundMark x1="21778" y1="48444" x2="40000" y2="70222"/>
                        <a14:foregroundMark x1="40000" y1="70222" x2="68889" y2="58222"/>
                        <a14:foregroundMark x1="68889" y1="58222" x2="62667" y2="28444"/>
                        <a14:foregroundMark x1="62667" y1="28444" x2="44889" y2="16889"/>
                        <a14:foregroundMark x1="44889" y1="16889" x2="39111" y2="21333"/>
                        <a14:foregroundMark x1="52444" y1="37333" x2="31111" y2="52889"/>
                        <a14:foregroundMark x1="31111" y1="52889" x2="45778" y2="68889"/>
                        <a14:foregroundMark x1="45778" y1="68889" x2="64444" y2="60000"/>
                        <a14:foregroundMark x1="64444" y1="60000" x2="65333" y2="47556"/>
                        <a14:foregroundMark x1="96444" y1="67556" x2="99111" y2="45778"/>
                        <a14:foregroundMark x1="99111" y1="45778" x2="95556" y2="31556"/>
                        <a14:foregroundMark x1="37778" y1="26222" x2="51111" y2="32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1438" y="3013835"/>
            <a:ext cx="350417" cy="350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4" descr="Amazon, buy, logo, online, shop icon - Free download">
            <a:extLst>
              <a:ext uri="{FF2B5EF4-FFF2-40B4-BE49-F238E27FC236}">
                <a16:creationId xmlns:a16="http://schemas.microsoft.com/office/drawing/2014/main" id="{22542831-46F1-17B5-6BDE-0C402725C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89" b="96000" l="1778" r="99111">
                        <a14:foregroundMark x1="25778" y1="37778" x2="25778" y2="37778"/>
                        <a14:foregroundMark x1="10222" y1="55556" x2="20000" y2="28444"/>
                        <a14:foregroundMark x1="20000" y1="28444" x2="34222" y2="10667"/>
                        <a14:foregroundMark x1="34222" y1="10667" x2="35111" y2="11111"/>
                        <a14:foregroundMark x1="13778" y1="49333" x2="60444" y2="81333"/>
                        <a14:foregroundMark x1="60444" y1="81333" x2="83111" y2="55556"/>
                        <a14:foregroundMark x1="83111" y1="55556" x2="80889" y2="32000"/>
                        <a14:foregroundMark x1="80889" y1="32000" x2="63111" y2="20444"/>
                        <a14:foregroundMark x1="63111" y1="20444" x2="31111" y2="18222"/>
                        <a14:foregroundMark x1="31111" y1="18222" x2="28444" y2="19111"/>
                        <a14:foregroundMark x1="0" y1="54222" x2="7111" y2="32889"/>
                        <a14:foregroundMark x1="7111" y1="32889" x2="25333" y2="9333"/>
                        <a14:foregroundMark x1="25333" y1="9333" x2="51556" y2="1333"/>
                        <a14:foregroundMark x1="51556" y1="1333" x2="56889" y2="1778"/>
                        <a14:foregroundMark x1="63111" y1="4000" x2="84444" y2="19111"/>
                        <a14:foregroundMark x1="84444" y1="19111" x2="92444" y2="38222"/>
                        <a14:foregroundMark x1="92444" y1="38222" x2="90222" y2="64444"/>
                        <a14:foregroundMark x1="90222" y1="64444" x2="74222" y2="82667"/>
                        <a14:foregroundMark x1="74222" y1="82667" x2="46667" y2="96444"/>
                        <a14:foregroundMark x1="46667" y1="96444" x2="28000" y2="84889"/>
                        <a14:foregroundMark x1="28000" y1="84889" x2="11556" y2="68000"/>
                        <a14:foregroundMark x1="11556" y1="68000" x2="11111" y2="47556"/>
                        <a14:foregroundMark x1="11111" y1="47556" x2="12000" y2="45778"/>
                        <a14:foregroundMark x1="6667" y1="72889" x2="1778" y2="52889"/>
                        <a14:foregroundMark x1="1778" y1="52889" x2="6667" y2="38222"/>
                        <a14:foregroundMark x1="62222" y1="51111" x2="62222" y2="51111"/>
                        <a14:foregroundMark x1="62222" y1="51111" x2="56889" y2="21778"/>
                        <a14:foregroundMark x1="56889" y1="21778" x2="48000" y2="47111"/>
                        <a14:foregroundMark x1="48000" y1="47111" x2="49778" y2="48889"/>
                        <a14:foregroundMark x1="42222" y1="19556" x2="21778" y2="48444"/>
                        <a14:foregroundMark x1="21778" y1="48444" x2="40000" y2="70222"/>
                        <a14:foregroundMark x1="40000" y1="70222" x2="68889" y2="58222"/>
                        <a14:foregroundMark x1="68889" y1="58222" x2="62667" y2="28444"/>
                        <a14:foregroundMark x1="62667" y1="28444" x2="44889" y2="16889"/>
                        <a14:foregroundMark x1="44889" y1="16889" x2="39111" y2="21333"/>
                        <a14:foregroundMark x1="52444" y1="37333" x2="31111" y2="52889"/>
                        <a14:foregroundMark x1="31111" y1="52889" x2="45778" y2="68889"/>
                        <a14:foregroundMark x1="45778" y1="68889" x2="64444" y2="60000"/>
                        <a14:foregroundMark x1="64444" y1="60000" x2="65333" y2="47556"/>
                        <a14:foregroundMark x1="96444" y1="67556" x2="99111" y2="45778"/>
                        <a14:foregroundMark x1="99111" y1="45778" x2="95556" y2="31556"/>
                        <a14:foregroundMark x1="37778" y1="26222" x2="51111" y2="32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4043" y="3461733"/>
            <a:ext cx="350417" cy="350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Amazon, buy, logo, online, shop icon - Free download">
            <a:extLst>
              <a:ext uri="{FF2B5EF4-FFF2-40B4-BE49-F238E27FC236}">
                <a16:creationId xmlns:a16="http://schemas.microsoft.com/office/drawing/2014/main" id="{C5840006-1CFE-D435-D2FA-09D425A30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89" b="96000" l="1778" r="99111">
                        <a14:foregroundMark x1="25778" y1="37778" x2="25778" y2="37778"/>
                        <a14:foregroundMark x1="10222" y1="55556" x2="20000" y2="28444"/>
                        <a14:foregroundMark x1="20000" y1="28444" x2="34222" y2="10667"/>
                        <a14:foregroundMark x1="34222" y1="10667" x2="35111" y2="11111"/>
                        <a14:foregroundMark x1="13778" y1="49333" x2="60444" y2="81333"/>
                        <a14:foregroundMark x1="60444" y1="81333" x2="83111" y2="55556"/>
                        <a14:foregroundMark x1="83111" y1="55556" x2="80889" y2="32000"/>
                        <a14:foregroundMark x1="80889" y1="32000" x2="63111" y2="20444"/>
                        <a14:foregroundMark x1="63111" y1="20444" x2="31111" y2="18222"/>
                        <a14:foregroundMark x1="31111" y1="18222" x2="28444" y2="19111"/>
                        <a14:foregroundMark x1="0" y1="54222" x2="7111" y2="32889"/>
                        <a14:foregroundMark x1="7111" y1="32889" x2="25333" y2="9333"/>
                        <a14:foregroundMark x1="25333" y1="9333" x2="51556" y2="1333"/>
                        <a14:foregroundMark x1="51556" y1="1333" x2="56889" y2="1778"/>
                        <a14:foregroundMark x1="63111" y1="4000" x2="84444" y2="19111"/>
                        <a14:foregroundMark x1="84444" y1="19111" x2="92444" y2="38222"/>
                        <a14:foregroundMark x1="92444" y1="38222" x2="90222" y2="64444"/>
                        <a14:foregroundMark x1="90222" y1="64444" x2="74222" y2="82667"/>
                        <a14:foregroundMark x1="74222" y1="82667" x2="46667" y2="96444"/>
                        <a14:foregroundMark x1="46667" y1="96444" x2="28000" y2="84889"/>
                        <a14:foregroundMark x1="28000" y1="84889" x2="11556" y2="68000"/>
                        <a14:foregroundMark x1="11556" y1="68000" x2="11111" y2="47556"/>
                        <a14:foregroundMark x1="11111" y1="47556" x2="12000" y2="45778"/>
                        <a14:foregroundMark x1="6667" y1="72889" x2="1778" y2="52889"/>
                        <a14:foregroundMark x1="1778" y1="52889" x2="6667" y2="38222"/>
                        <a14:foregroundMark x1="62222" y1="51111" x2="62222" y2="51111"/>
                        <a14:foregroundMark x1="62222" y1="51111" x2="56889" y2="21778"/>
                        <a14:foregroundMark x1="56889" y1="21778" x2="48000" y2="47111"/>
                        <a14:foregroundMark x1="48000" y1="47111" x2="49778" y2="48889"/>
                        <a14:foregroundMark x1="42222" y1="19556" x2="21778" y2="48444"/>
                        <a14:foregroundMark x1="21778" y1="48444" x2="40000" y2="70222"/>
                        <a14:foregroundMark x1="40000" y1="70222" x2="68889" y2="58222"/>
                        <a14:foregroundMark x1="68889" y1="58222" x2="62667" y2="28444"/>
                        <a14:foregroundMark x1="62667" y1="28444" x2="44889" y2="16889"/>
                        <a14:foregroundMark x1="44889" y1="16889" x2="39111" y2="21333"/>
                        <a14:foregroundMark x1="52444" y1="37333" x2="31111" y2="52889"/>
                        <a14:foregroundMark x1="31111" y1="52889" x2="45778" y2="68889"/>
                        <a14:foregroundMark x1="45778" y1="68889" x2="64444" y2="60000"/>
                        <a14:foregroundMark x1="64444" y1="60000" x2="65333" y2="47556"/>
                        <a14:foregroundMark x1="96444" y1="67556" x2="99111" y2="45778"/>
                        <a14:foregroundMark x1="99111" y1="45778" x2="95556" y2="31556"/>
                        <a14:foregroundMark x1="37778" y1="26222" x2="51111" y2="32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1977" y="3942624"/>
            <a:ext cx="350417" cy="350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lipkart Bandra Kurla Complex 4000 51 - Container Service in 4000 51">
            <a:extLst>
              <a:ext uri="{FF2B5EF4-FFF2-40B4-BE49-F238E27FC236}">
                <a16:creationId xmlns:a16="http://schemas.microsoft.com/office/drawing/2014/main" id="{BA64160B-AB33-667A-43CB-A70CB298A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95556" l="2222" r="96889">
                        <a14:foregroundMark x1="24000" y1="32889" x2="24000" y2="32889"/>
                        <a14:foregroundMark x1="24000" y1="32889" x2="43111" y2="12889"/>
                        <a14:foregroundMark x1="43111" y1="12889" x2="66667" y2="15111"/>
                        <a14:foregroundMark x1="66667" y1="15111" x2="67556" y2="26667"/>
                        <a14:foregroundMark x1="67556" y1="26667" x2="67111" y2="27556"/>
                        <a14:foregroundMark x1="0" y1="48444" x2="7010" y2="26178"/>
                        <a14:foregroundMark x1="8166" y1="23916" x2="27111" y2="7556"/>
                        <a14:foregroundMark x1="27111" y1="7556" x2="36767" y2="2261"/>
                        <a14:foregroundMark x1="5778" y1="29778" x2="444" y2="44000"/>
                        <a14:foregroundMark x1="444" y1="44000" x2="1778" y2="61333"/>
                        <a14:foregroundMark x1="4615" y1="65778" x2="15111" y2="82222"/>
                        <a14:foregroundMark x1="1778" y1="61333" x2="4615" y2="65778"/>
                        <a14:foregroundMark x1="15111" y1="82222" x2="35111" y2="95556"/>
                        <a14:foregroundMark x1="91111" y1="75111" x2="94667" y2="39111"/>
                        <a14:foregroundMark x1="94667" y1="39111" x2="87111" y2="26667"/>
                        <a14:foregroundMark x1="87111" y1="26667" x2="86667" y2="25778"/>
                        <a14:foregroundMark x1="1814" y1="63995" x2="889" y2="62222"/>
                        <a14:foregroundMark x1="6222" y1="72444" x2="3191" y2="66635"/>
                        <a14:foregroundMark x1="1048" y1="60946" x2="4621" y2="32367"/>
                        <a14:foregroundMark x1="889" y1="62222" x2="962" y2="61641"/>
                        <a14:foregroundMark x1="98222" y1="39111" x2="97333" y2="58667"/>
                        <a14:foregroundMark x1="97333" y1="58667" x2="96000" y2="60889"/>
                        <a14:foregroundMark x1="3645" y1="65778" x2="2222" y2="61333"/>
                        <a14:foregroundMark x1="5778" y1="72444" x2="3645" y2="65778"/>
                        <a14:backgroundMark x1="889" y1="67111" x2="0" y2="65333"/>
                        <a14:backgroundMark x1="2222" y1="68000" x2="0" y2="58222"/>
                        <a14:backgroundMark x1="0" y1="46667" x2="5333" y2="25778"/>
                        <a14:backgroundMark x1="5333" y1="25778" x2="9778" y2="19111"/>
                        <a14:backgroundMark x1="4889" y1="24889" x2="19111" y2="2667"/>
                        <a14:backgroundMark x1="37333" y1="1333" x2="44000" y2="889"/>
                        <a14:backgroundMark x1="4444" y1="72000" x2="1333" y2="65333"/>
                        <a14:backgroundMark x1="5778" y1="75111" x2="444" y2="65778"/>
                        <a14:backgroundMark x1="444" y1="65778" x2="444" y2="65778"/>
                        <a14:backgroundMark x1="5778" y1="73778" x2="1333" y2="62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8245" y="3939551"/>
            <a:ext cx="318561" cy="31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6" descr="Flipkart Bandra Kurla Complex 4000 51 - Container Service in 4000 51">
            <a:extLst>
              <a:ext uri="{FF2B5EF4-FFF2-40B4-BE49-F238E27FC236}">
                <a16:creationId xmlns:a16="http://schemas.microsoft.com/office/drawing/2014/main" id="{21674DDE-642B-8D01-EEB9-7D4CB99C9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95556" l="2222" r="96889">
                        <a14:foregroundMark x1="24000" y1="32889" x2="24000" y2="32889"/>
                        <a14:foregroundMark x1="24000" y1="32889" x2="43111" y2="12889"/>
                        <a14:foregroundMark x1="43111" y1="12889" x2="66667" y2="15111"/>
                        <a14:foregroundMark x1="66667" y1="15111" x2="67556" y2="26667"/>
                        <a14:foregroundMark x1="67556" y1="26667" x2="67111" y2="27556"/>
                        <a14:foregroundMark x1="0" y1="48444" x2="7010" y2="26178"/>
                        <a14:foregroundMark x1="8166" y1="23916" x2="27111" y2="7556"/>
                        <a14:foregroundMark x1="27111" y1="7556" x2="36767" y2="2261"/>
                        <a14:foregroundMark x1="5778" y1="29778" x2="444" y2="44000"/>
                        <a14:foregroundMark x1="444" y1="44000" x2="1778" y2="61333"/>
                        <a14:foregroundMark x1="4615" y1="65778" x2="15111" y2="82222"/>
                        <a14:foregroundMark x1="1778" y1="61333" x2="4615" y2="65778"/>
                        <a14:foregroundMark x1="15111" y1="82222" x2="35111" y2="95556"/>
                        <a14:foregroundMark x1="91111" y1="75111" x2="94667" y2="39111"/>
                        <a14:foregroundMark x1="94667" y1="39111" x2="87111" y2="26667"/>
                        <a14:foregroundMark x1="87111" y1="26667" x2="86667" y2="25778"/>
                        <a14:foregroundMark x1="1814" y1="63995" x2="889" y2="62222"/>
                        <a14:foregroundMark x1="6222" y1="72444" x2="3191" y2="66635"/>
                        <a14:foregroundMark x1="1048" y1="60946" x2="4621" y2="32367"/>
                        <a14:foregroundMark x1="889" y1="62222" x2="962" y2="61641"/>
                        <a14:foregroundMark x1="98222" y1="39111" x2="97333" y2="58667"/>
                        <a14:foregroundMark x1="97333" y1="58667" x2="96000" y2="60889"/>
                        <a14:foregroundMark x1="3645" y1="65778" x2="2222" y2="61333"/>
                        <a14:foregroundMark x1="5778" y1="72444" x2="3645" y2="65778"/>
                        <a14:backgroundMark x1="889" y1="67111" x2="0" y2="65333"/>
                        <a14:backgroundMark x1="2222" y1="68000" x2="0" y2="58222"/>
                        <a14:backgroundMark x1="0" y1="46667" x2="5333" y2="25778"/>
                        <a14:backgroundMark x1="5333" y1="25778" x2="9778" y2="19111"/>
                        <a14:backgroundMark x1="4889" y1="24889" x2="19111" y2="2667"/>
                        <a14:backgroundMark x1="37333" y1="1333" x2="44000" y2="889"/>
                        <a14:backgroundMark x1="4444" y1="72000" x2="1333" y2="65333"/>
                        <a14:backgroundMark x1="5778" y1="75111" x2="444" y2="65778"/>
                        <a14:backgroundMark x1="444" y1="65778" x2="444" y2="65778"/>
                        <a14:backgroundMark x1="5778" y1="73778" x2="1333" y2="62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1897" y="3490246"/>
            <a:ext cx="318561" cy="31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6" descr="Flipkart Bandra Kurla Complex 4000 51 - Container Service in 4000 51">
            <a:extLst>
              <a:ext uri="{FF2B5EF4-FFF2-40B4-BE49-F238E27FC236}">
                <a16:creationId xmlns:a16="http://schemas.microsoft.com/office/drawing/2014/main" id="{9126E2BB-E262-C1B8-19CD-69B56D75E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95556" l="2222" r="96889">
                        <a14:foregroundMark x1="24000" y1="32889" x2="24000" y2="32889"/>
                        <a14:foregroundMark x1="24000" y1="32889" x2="43111" y2="12889"/>
                        <a14:foregroundMark x1="43111" y1="12889" x2="66667" y2="15111"/>
                        <a14:foregroundMark x1="66667" y1="15111" x2="67556" y2="26667"/>
                        <a14:foregroundMark x1="67556" y1="26667" x2="67111" y2="27556"/>
                        <a14:foregroundMark x1="0" y1="48444" x2="7010" y2="26178"/>
                        <a14:foregroundMark x1="8166" y1="23916" x2="27111" y2="7556"/>
                        <a14:foregroundMark x1="27111" y1="7556" x2="36767" y2="2261"/>
                        <a14:foregroundMark x1="5778" y1="29778" x2="444" y2="44000"/>
                        <a14:foregroundMark x1="444" y1="44000" x2="1778" y2="61333"/>
                        <a14:foregroundMark x1="4615" y1="65778" x2="15111" y2="82222"/>
                        <a14:foregroundMark x1="1778" y1="61333" x2="4615" y2="65778"/>
                        <a14:foregroundMark x1="15111" y1="82222" x2="35111" y2="95556"/>
                        <a14:foregroundMark x1="91111" y1="75111" x2="94667" y2="39111"/>
                        <a14:foregroundMark x1="94667" y1="39111" x2="87111" y2="26667"/>
                        <a14:foregroundMark x1="87111" y1="26667" x2="86667" y2="25778"/>
                        <a14:foregroundMark x1="1814" y1="63995" x2="889" y2="62222"/>
                        <a14:foregroundMark x1="6222" y1="72444" x2="3191" y2="66635"/>
                        <a14:foregroundMark x1="1048" y1="60946" x2="4621" y2="32367"/>
                        <a14:foregroundMark x1="889" y1="62222" x2="962" y2="61641"/>
                        <a14:foregroundMark x1="98222" y1="39111" x2="97333" y2="58667"/>
                        <a14:foregroundMark x1="97333" y1="58667" x2="96000" y2="60889"/>
                        <a14:foregroundMark x1="3645" y1="65778" x2="2222" y2="61333"/>
                        <a14:foregroundMark x1="5778" y1="72444" x2="3645" y2="65778"/>
                        <a14:backgroundMark x1="889" y1="67111" x2="0" y2="65333"/>
                        <a14:backgroundMark x1="2222" y1="68000" x2="0" y2="58222"/>
                        <a14:backgroundMark x1="0" y1="46667" x2="5333" y2="25778"/>
                        <a14:backgroundMark x1="5333" y1="25778" x2="9778" y2="19111"/>
                        <a14:backgroundMark x1="4889" y1="24889" x2="19111" y2="2667"/>
                        <a14:backgroundMark x1="37333" y1="1333" x2="44000" y2="889"/>
                        <a14:backgroundMark x1="4444" y1="72000" x2="1333" y2="65333"/>
                        <a14:backgroundMark x1="5778" y1="75111" x2="444" y2="65778"/>
                        <a14:backgroundMark x1="444" y1="65778" x2="444" y2="65778"/>
                        <a14:backgroundMark x1="5778" y1="73778" x2="1333" y2="62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9772" y="3011987"/>
            <a:ext cx="318561" cy="31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6" descr="Flipkart Bandra Kurla Complex 4000 51 - Container Service in 4000 51">
            <a:extLst>
              <a:ext uri="{FF2B5EF4-FFF2-40B4-BE49-F238E27FC236}">
                <a16:creationId xmlns:a16="http://schemas.microsoft.com/office/drawing/2014/main" id="{625412C1-DE48-ADBF-2095-F3D3CF6C9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95556" l="2222" r="96889">
                        <a14:foregroundMark x1="24000" y1="32889" x2="24000" y2="32889"/>
                        <a14:foregroundMark x1="24000" y1="32889" x2="43111" y2="12889"/>
                        <a14:foregroundMark x1="43111" y1="12889" x2="66667" y2="15111"/>
                        <a14:foregroundMark x1="66667" y1="15111" x2="67556" y2="26667"/>
                        <a14:foregroundMark x1="67556" y1="26667" x2="67111" y2="27556"/>
                        <a14:foregroundMark x1="0" y1="48444" x2="7010" y2="26178"/>
                        <a14:foregroundMark x1="8166" y1="23916" x2="27111" y2="7556"/>
                        <a14:foregroundMark x1="27111" y1="7556" x2="36767" y2="2261"/>
                        <a14:foregroundMark x1="5778" y1="29778" x2="444" y2="44000"/>
                        <a14:foregroundMark x1="444" y1="44000" x2="1778" y2="61333"/>
                        <a14:foregroundMark x1="4615" y1="65778" x2="15111" y2="82222"/>
                        <a14:foregroundMark x1="1778" y1="61333" x2="4615" y2="65778"/>
                        <a14:foregroundMark x1="15111" y1="82222" x2="35111" y2="95556"/>
                        <a14:foregroundMark x1="91111" y1="75111" x2="94667" y2="39111"/>
                        <a14:foregroundMark x1="94667" y1="39111" x2="87111" y2="26667"/>
                        <a14:foregroundMark x1="87111" y1="26667" x2="86667" y2="25778"/>
                        <a14:foregroundMark x1="1814" y1="63995" x2="889" y2="62222"/>
                        <a14:foregroundMark x1="6222" y1="72444" x2="3191" y2="66635"/>
                        <a14:foregroundMark x1="1048" y1="60946" x2="4621" y2="32367"/>
                        <a14:foregroundMark x1="889" y1="62222" x2="962" y2="61641"/>
                        <a14:foregroundMark x1="98222" y1="39111" x2="97333" y2="58667"/>
                        <a14:foregroundMark x1="97333" y1="58667" x2="96000" y2="60889"/>
                        <a14:foregroundMark x1="3645" y1="65778" x2="2222" y2="61333"/>
                        <a14:foregroundMark x1="5778" y1="72444" x2="3645" y2="65778"/>
                        <a14:backgroundMark x1="889" y1="67111" x2="0" y2="65333"/>
                        <a14:backgroundMark x1="2222" y1="68000" x2="0" y2="58222"/>
                        <a14:backgroundMark x1="0" y1="46667" x2="5333" y2="25778"/>
                        <a14:backgroundMark x1="5333" y1="25778" x2="9778" y2="19111"/>
                        <a14:backgroundMark x1="4889" y1="24889" x2="19111" y2="2667"/>
                        <a14:backgroundMark x1="37333" y1="1333" x2="44000" y2="889"/>
                        <a14:backgroundMark x1="4444" y1="72000" x2="1333" y2="65333"/>
                        <a14:backgroundMark x1="5778" y1="75111" x2="444" y2="65778"/>
                        <a14:backgroundMark x1="444" y1="65778" x2="444" y2="65778"/>
                        <a14:backgroundMark x1="5778" y1="73778" x2="1333" y2="62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0087" y="2544214"/>
            <a:ext cx="318561" cy="31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6" descr="Flipkart Bandra Kurla Complex 4000 51 - Container Service in 4000 51">
            <a:extLst>
              <a:ext uri="{FF2B5EF4-FFF2-40B4-BE49-F238E27FC236}">
                <a16:creationId xmlns:a16="http://schemas.microsoft.com/office/drawing/2014/main" id="{27AB3CD5-532B-8A3A-6A60-30CC45FBD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95556" l="2222" r="96889">
                        <a14:foregroundMark x1="24000" y1="32889" x2="24000" y2="32889"/>
                        <a14:foregroundMark x1="24000" y1="32889" x2="43111" y2="12889"/>
                        <a14:foregroundMark x1="43111" y1="12889" x2="66667" y2="15111"/>
                        <a14:foregroundMark x1="66667" y1="15111" x2="67556" y2="26667"/>
                        <a14:foregroundMark x1="67556" y1="26667" x2="67111" y2="27556"/>
                        <a14:foregroundMark x1="0" y1="48444" x2="7010" y2="26178"/>
                        <a14:foregroundMark x1="8166" y1="23916" x2="27111" y2="7556"/>
                        <a14:foregroundMark x1="27111" y1="7556" x2="36767" y2="2261"/>
                        <a14:foregroundMark x1="5778" y1="29778" x2="444" y2="44000"/>
                        <a14:foregroundMark x1="444" y1="44000" x2="1778" y2="61333"/>
                        <a14:foregroundMark x1="4615" y1="65778" x2="15111" y2="82222"/>
                        <a14:foregroundMark x1="1778" y1="61333" x2="4615" y2="65778"/>
                        <a14:foregroundMark x1="15111" y1="82222" x2="35111" y2="95556"/>
                        <a14:foregroundMark x1="91111" y1="75111" x2="94667" y2="39111"/>
                        <a14:foregroundMark x1="94667" y1="39111" x2="87111" y2="26667"/>
                        <a14:foregroundMark x1="87111" y1="26667" x2="86667" y2="25778"/>
                        <a14:foregroundMark x1="1814" y1="63995" x2="889" y2="62222"/>
                        <a14:foregroundMark x1="6222" y1="72444" x2="3191" y2="66635"/>
                        <a14:foregroundMark x1="1048" y1="60946" x2="4621" y2="32367"/>
                        <a14:foregroundMark x1="889" y1="62222" x2="962" y2="61641"/>
                        <a14:foregroundMark x1="98222" y1="39111" x2="97333" y2="58667"/>
                        <a14:foregroundMark x1="97333" y1="58667" x2="96000" y2="60889"/>
                        <a14:foregroundMark x1="3645" y1="65778" x2="2222" y2="61333"/>
                        <a14:foregroundMark x1="5778" y1="72444" x2="3645" y2="65778"/>
                        <a14:backgroundMark x1="889" y1="67111" x2="0" y2="65333"/>
                        <a14:backgroundMark x1="2222" y1="68000" x2="0" y2="58222"/>
                        <a14:backgroundMark x1="0" y1="46667" x2="5333" y2="25778"/>
                        <a14:backgroundMark x1="5333" y1="25778" x2="9778" y2="19111"/>
                        <a14:backgroundMark x1="4889" y1="24889" x2="19111" y2="2667"/>
                        <a14:backgroundMark x1="37333" y1="1333" x2="44000" y2="889"/>
                        <a14:backgroundMark x1="4444" y1="72000" x2="1333" y2="65333"/>
                        <a14:backgroundMark x1="5778" y1="75111" x2="444" y2="65778"/>
                        <a14:backgroundMark x1="444" y1="65778" x2="444" y2="65778"/>
                        <a14:backgroundMark x1="5778" y1="73778" x2="1333" y2="62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1729" y="2086073"/>
            <a:ext cx="318561" cy="31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yntra PNG, Transparent Myntra LOGO Download - Free Transparent PNG Logos">
            <a:extLst>
              <a:ext uri="{FF2B5EF4-FFF2-40B4-BE49-F238E27FC236}">
                <a16:creationId xmlns:a16="http://schemas.microsoft.com/office/drawing/2014/main" id="{37FDEA23-51F5-172B-5C2A-23D2B1201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7181" y="2024219"/>
            <a:ext cx="564352" cy="564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Myntra PNG, Transparent Myntra LOGO Download - Free Transparent PNG Logos">
            <a:extLst>
              <a:ext uri="{FF2B5EF4-FFF2-40B4-BE49-F238E27FC236}">
                <a16:creationId xmlns:a16="http://schemas.microsoft.com/office/drawing/2014/main" id="{74D0B6A6-439A-2581-5F6B-220B075B5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9801" y="2490875"/>
            <a:ext cx="564352" cy="564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Myntra PNG, Transparent Myntra LOGO Download - Free Transparent PNG Logos">
            <a:extLst>
              <a:ext uri="{FF2B5EF4-FFF2-40B4-BE49-F238E27FC236}">
                <a16:creationId xmlns:a16="http://schemas.microsoft.com/office/drawing/2014/main" id="{1CBEE2B2-1205-6BD0-C414-C3AB93833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677" y="2938141"/>
            <a:ext cx="564352" cy="564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Myntra PNG, Transparent Myntra LOGO Download - Free Transparent PNG Logos">
            <a:extLst>
              <a:ext uri="{FF2B5EF4-FFF2-40B4-BE49-F238E27FC236}">
                <a16:creationId xmlns:a16="http://schemas.microsoft.com/office/drawing/2014/main" id="{D67C0E67-AF8A-AABC-AED3-37213D10D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1895" y="3403182"/>
            <a:ext cx="564352" cy="564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8" descr="Myntra PNG, Transparent Myntra LOGO Download - Free Transparent PNG Logos">
            <a:extLst>
              <a:ext uri="{FF2B5EF4-FFF2-40B4-BE49-F238E27FC236}">
                <a16:creationId xmlns:a16="http://schemas.microsoft.com/office/drawing/2014/main" id="{0DA5ACC0-603A-2808-F992-5942E41FC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524" y="3871800"/>
            <a:ext cx="564352" cy="564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F95E56-D727-298F-5A59-A61936E0E89D}"/>
              </a:ext>
            </a:extLst>
          </p:cNvPr>
          <p:cNvSpPr txBox="1"/>
          <p:nvPr/>
        </p:nvSpPr>
        <p:spPr>
          <a:xfrm>
            <a:off x="5987143" y="6158675"/>
            <a:ext cx="4457010" cy="1726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US" sz="1000" dirty="0">
                <a:solidFill>
                  <a:schemeClr val="bg1"/>
                </a:solidFill>
              </a:rPr>
              <a:t>*Upper range of growth rate in exhibit 3 is considered for calculations</a:t>
            </a:r>
            <a:endParaRPr lang="en-US" sz="1000" noProof="0" dirty="0">
              <a:solidFill>
                <a:schemeClr val="bg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5D22327-92D0-76A6-69DD-390A1F412327}"/>
              </a:ext>
            </a:extLst>
          </p:cNvPr>
          <p:cNvGrpSpPr/>
          <p:nvPr/>
        </p:nvGrpSpPr>
        <p:grpSpPr>
          <a:xfrm>
            <a:off x="0" y="142951"/>
            <a:ext cx="12192000" cy="378144"/>
            <a:chOff x="522892" y="124260"/>
            <a:chExt cx="10996651" cy="378144"/>
          </a:xfrm>
        </p:grpSpPr>
        <p:sp>
          <p:nvSpPr>
            <p:cNvPr id="25" name="Arrow: Chevron 3">
              <a:extLst>
                <a:ext uri="{FF2B5EF4-FFF2-40B4-BE49-F238E27FC236}">
                  <a16:creationId xmlns:a16="http://schemas.microsoft.com/office/drawing/2014/main" id="{C8D49DEC-41AF-51B5-3E7B-BF3D71B29AFE}"/>
                </a:ext>
              </a:extLst>
            </p:cNvPr>
            <p:cNvSpPr/>
            <p:nvPr/>
          </p:nvSpPr>
          <p:spPr>
            <a:xfrm>
              <a:off x="522892" y="143574"/>
              <a:ext cx="1855565" cy="35083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Addressable Ecommerce Market</a:t>
              </a:r>
            </a:p>
          </p:txBody>
        </p:sp>
        <p:sp>
          <p:nvSpPr>
            <p:cNvPr id="26" name="Arrow: Chevron 5">
              <a:extLst>
                <a:ext uri="{FF2B5EF4-FFF2-40B4-BE49-F238E27FC236}">
                  <a16:creationId xmlns:a16="http://schemas.microsoft.com/office/drawing/2014/main" id="{1321EF97-5FBD-33F1-8533-54C2952FB367}"/>
                </a:ext>
              </a:extLst>
            </p:cNvPr>
            <p:cNvSpPr/>
            <p:nvPr/>
          </p:nvSpPr>
          <p:spPr>
            <a:xfrm>
              <a:off x="2291973" y="151322"/>
              <a:ext cx="1955142" cy="35083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Segmentation &amp; Cluster Analysis</a:t>
              </a:r>
            </a:p>
          </p:txBody>
        </p:sp>
        <p:sp>
          <p:nvSpPr>
            <p:cNvPr id="27" name="Arrow: Chevron 6">
              <a:extLst>
                <a:ext uri="{FF2B5EF4-FFF2-40B4-BE49-F238E27FC236}">
                  <a16:creationId xmlns:a16="http://schemas.microsoft.com/office/drawing/2014/main" id="{F2B037D3-C3D7-A042-0229-36352AAD3920}"/>
                </a:ext>
              </a:extLst>
            </p:cNvPr>
            <p:cNvSpPr/>
            <p:nvPr/>
          </p:nvSpPr>
          <p:spPr>
            <a:xfrm>
              <a:off x="4140858" y="135602"/>
              <a:ext cx="1955142" cy="36655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Competitor Benchmarking</a:t>
              </a:r>
            </a:p>
          </p:txBody>
        </p:sp>
        <p:sp>
          <p:nvSpPr>
            <p:cNvPr id="28" name="Arrow: Chevron 7">
              <a:extLst>
                <a:ext uri="{FF2B5EF4-FFF2-40B4-BE49-F238E27FC236}">
                  <a16:creationId xmlns:a16="http://schemas.microsoft.com/office/drawing/2014/main" id="{D7F41D9A-57EE-DFB5-A8EC-6221BBF1DF4F}"/>
                </a:ext>
              </a:extLst>
            </p:cNvPr>
            <p:cNvSpPr/>
            <p:nvPr/>
          </p:nvSpPr>
          <p:spPr>
            <a:xfrm>
              <a:off x="6027274" y="134750"/>
              <a:ext cx="1954629" cy="367654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Channel Strategy &amp; Portfolio Strategy</a:t>
              </a:r>
            </a:p>
          </p:txBody>
        </p:sp>
        <p:sp>
          <p:nvSpPr>
            <p:cNvPr id="29" name="Arrow: Chevron 8">
              <a:extLst>
                <a:ext uri="{FF2B5EF4-FFF2-40B4-BE49-F238E27FC236}">
                  <a16:creationId xmlns:a16="http://schemas.microsoft.com/office/drawing/2014/main" id="{7CC0CF77-1306-F104-334B-979881921BF1}"/>
                </a:ext>
              </a:extLst>
            </p:cNvPr>
            <p:cNvSpPr/>
            <p:nvPr/>
          </p:nvSpPr>
          <p:spPr>
            <a:xfrm>
              <a:off x="7876159" y="131844"/>
              <a:ext cx="1813329" cy="370311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Digital Marketing Mix</a:t>
              </a:r>
            </a:p>
          </p:txBody>
        </p:sp>
        <p:sp>
          <p:nvSpPr>
            <p:cNvPr id="30" name="Arrow: Chevron 11">
              <a:extLst>
                <a:ext uri="{FF2B5EF4-FFF2-40B4-BE49-F238E27FC236}">
                  <a16:creationId xmlns:a16="http://schemas.microsoft.com/office/drawing/2014/main" id="{51BB29D7-A112-9287-E57A-E868186DAF72}"/>
                </a:ext>
              </a:extLst>
            </p:cNvPr>
            <p:cNvSpPr/>
            <p:nvPr/>
          </p:nvSpPr>
          <p:spPr>
            <a:xfrm>
              <a:off x="9584173" y="124260"/>
              <a:ext cx="1935370" cy="359680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Campaigns &amp; Feasibility Analysis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757377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457BDB-DE99-FC67-004D-8E3FFD4419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22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9B37723-169A-A065-5603-294286E58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36" y="859347"/>
            <a:ext cx="10906125" cy="295466"/>
          </a:xfrm>
        </p:spPr>
        <p:txBody>
          <a:bodyPr/>
          <a:lstStyle/>
          <a:p>
            <a:r>
              <a:rPr lang="en-US" sz="2400"/>
              <a:t>ABC needs to widen its marketing funnel, follow a holistic digital strategy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D9F5579-FC8A-E948-7D0B-5B6972BB0DE7}"/>
              </a:ext>
            </a:extLst>
          </p:cNvPr>
          <p:cNvGrpSpPr/>
          <p:nvPr/>
        </p:nvGrpSpPr>
        <p:grpSpPr>
          <a:xfrm>
            <a:off x="320119" y="2046718"/>
            <a:ext cx="3478878" cy="3165998"/>
            <a:chOff x="3357337" y="3077745"/>
            <a:chExt cx="2349647" cy="2138327"/>
          </a:xfrm>
          <a:effectLst/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451EC77-759D-09F7-A3A1-4BD8D2751558}"/>
                </a:ext>
              </a:extLst>
            </p:cNvPr>
            <p:cNvGrpSpPr/>
            <p:nvPr/>
          </p:nvGrpSpPr>
          <p:grpSpPr>
            <a:xfrm>
              <a:off x="3357337" y="3077745"/>
              <a:ext cx="2349647" cy="2138327"/>
              <a:chOff x="2308226" y="2162176"/>
              <a:chExt cx="4306887" cy="3919538"/>
            </a:xfrm>
          </p:grpSpPr>
          <p:sp>
            <p:nvSpPr>
              <p:cNvPr id="12" name="Freeform 10">
                <a:extLst>
                  <a:ext uri="{FF2B5EF4-FFF2-40B4-BE49-F238E27FC236}">
                    <a16:creationId xmlns:a16="http://schemas.microsoft.com/office/drawing/2014/main" id="{CC526741-528C-AAA9-D83A-949BA4763D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8226" y="2233613"/>
                <a:ext cx="4010025" cy="1473200"/>
              </a:xfrm>
              <a:custGeom>
                <a:avLst/>
                <a:gdLst>
                  <a:gd name="T0" fmla="*/ 43 w 1067"/>
                  <a:gd name="T1" fmla="*/ 68 h 392"/>
                  <a:gd name="T2" fmla="*/ 268 w 1067"/>
                  <a:gd name="T3" fmla="*/ 225 h 392"/>
                  <a:gd name="T4" fmla="*/ 874 w 1067"/>
                  <a:gd name="T5" fmla="*/ 392 h 392"/>
                  <a:gd name="T6" fmla="*/ 990 w 1067"/>
                  <a:gd name="T7" fmla="*/ 338 h 392"/>
                  <a:gd name="T8" fmla="*/ 977 w 1067"/>
                  <a:gd name="T9" fmla="*/ 315 h 392"/>
                  <a:gd name="T10" fmla="*/ 1014 w 1067"/>
                  <a:gd name="T11" fmla="*/ 291 h 392"/>
                  <a:gd name="T12" fmla="*/ 43 w 1067"/>
                  <a:gd name="T13" fmla="*/ 68 h 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67" h="392">
                    <a:moveTo>
                      <a:pt x="43" y="68"/>
                    </a:moveTo>
                    <a:cubicBezTo>
                      <a:pt x="58" y="93"/>
                      <a:pt x="137" y="165"/>
                      <a:pt x="268" y="225"/>
                    </a:cubicBezTo>
                    <a:cubicBezTo>
                      <a:pt x="510" y="272"/>
                      <a:pt x="802" y="345"/>
                      <a:pt x="874" y="392"/>
                    </a:cubicBezTo>
                    <a:cubicBezTo>
                      <a:pt x="941" y="386"/>
                      <a:pt x="990" y="364"/>
                      <a:pt x="990" y="338"/>
                    </a:cubicBezTo>
                    <a:cubicBezTo>
                      <a:pt x="990" y="329"/>
                      <a:pt x="985" y="322"/>
                      <a:pt x="977" y="315"/>
                    </a:cubicBezTo>
                    <a:cubicBezTo>
                      <a:pt x="994" y="309"/>
                      <a:pt x="1007" y="301"/>
                      <a:pt x="1014" y="291"/>
                    </a:cubicBezTo>
                    <a:cubicBezTo>
                      <a:pt x="1067" y="223"/>
                      <a:pt x="0" y="0"/>
                      <a:pt x="43" y="68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4288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endParaRPr>
              </a:p>
            </p:txBody>
          </p:sp>
          <p:sp>
            <p:nvSpPr>
              <p:cNvPr id="13" name="Freeform 11">
                <a:extLst>
                  <a:ext uri="{FF2B5EF4-FFF2-40B4-BE49-F238E27FC236}">
                    <a16:creationId xmlns:a16="http://schemas.microsoft.com/office/drawing/2014/main" id="{412D3ED3-A707-24DE-527F-A3BBD172C2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4801" y="3354388"/>
                <a:ext cx="2943225" cy="1465263"/>
              </a:xfrm>
              <a:custGeom>
                <a:avLst/>
                <a:gdLst>
                  <a:gd name="T0" fmla="*/ 42 w 783"/>
                  <a:gd name="T1" fmla="*/ 68 h 390"/>
                  <a:gd name="T2" fmla="*/ 405 w 783"/>
                  <a:gd name="T3" fmla="*/ 276 h 390"/>
                  <a:gd name="T4" fmla="*/ 389 w 783"/>
                  <a:gd name="T5" fmla="*/ 292 h 390"/>
                  <a:gd name="T6" fmla="*/ 609 w 783"/>
                  <a:gd name="T7" fmla="*/ 390 h 390"/>
                  <a:gd name="T8" fmla="*/ 679 w 783"/>
                  <a:gd name="T9" fmla="*/ 344 h 390"/>
                  <a:gd name="T10" fmla="*/ 730 w 783"/>
                  <a:gd name="T11" fmla="*/ 311 h 390"/>
                  <a:gd name="T12" fmla="*/ 42 w 783"/>
                  <a:gd name="T13" fmla="*/ 68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3" h="390">
                    <a:moveTo>
                      <a:pt x="42" y="68"/>
                    </a:moveTo>
                    <a:cubicBezTo>
                      <a:pt x="62" y="101"/>
                      <a:pt x="192" y="214"/>
                      <a:pt x="405" y="276"/>
                    </a:cubicBezTo>
                    <a:cubicBezTo>
                      <a:pt x="399" y="281"/>
                      <a:pt x="393" y="287"/>
                      <a:pt x="389" y="292"/>
                    </a:cubicBezTo>
                    <a:cubicBezTo>
                      <a:pt x="482" y="326"/>
                      <a:pt x="564" y="361"/>
                      <a:pt x="609" y="390"/>
                    </a:cubicBezTo>
                    <a:cubicBezTo>
                      <a:pt x="642" y="380"/>
                      <a:pt x="668" y="364"/>
                      <a:pt x="679" y="344"/>
                    </a:cubicBezTo>
                    <a:cubicBezTo>
                      <a:pt x="708" y="349"/>
                      <a:pt x="707" y="340"/>
                      <a:pt x="730" y="311"/>
                    </a:cubicBezTo>
                    <a:cubicBezTo>
                      <a:pt x="783" y="242"/>
                      <a:pt x="0" y="0"/>
                      <a:pt x="42" y="68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14288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endParaRPr>
              </a:p>
            </p:txBody>
          </p:sp>
          <p:sp>
            <p:nvSpPr>
              <p:cNvPr id="15" name="Freeform 6">
                <a:extLst>
                  <a:ext uri="{FF2B5EF4-FFF2-40B4-BE49-F238E27FC236}">
                    <a16:creationId xmlns:a16="http://schemas.microsoft.com/office/drawing/2014/main" id="{C4394B82-204F-B60A-2300-FCF501565A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9838" y="2162176"/>
                <a:ext cx="4105275" cy="1368425"/>
              </a:xfrm>
              <a:custGeom>
                <a:avLst/>
                <a:gdLst>
                  <a:gd name="T0" fmla="*/ 1019 w 1092"/>
                  <a:gd name="T1" fmla="*/ 211 h 364"/>
                  <a:gd name="T2" fmla="*/ 536 w 1092"/>
                  <a:gd name="T3" fmla="*/ 334 h 364"/>
                  <a:gd name="T4" fmla="*/ 100 w 1092"/>
                  <a:gd name="T5" fmla="*/ 285 h 364"/>
                  <a:gd name="T6" fmla="*/ 0 w 1092"/>
                  <a:gd name="T7" fmla="*/ 103 h 364"/>
                  <a:gd name="T8" fmla="*/ 546 w 1092"/>
                  <a:gd name="T9" fmla="*/ 144 h 364"/>
                  <a:gd name="T10" fmla="*/ 1092 w 1092"/>
                  <a:gd name="T11" fmla="*/ 0 h 364"/>
                  <a:gd name="T12" fmla="*/ 1019 w 1092"/>
                  <a:gd name="T13" fmla="*/ 211 h 3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92" h="364">
                    <a:moveTo>
                      <a:pt x="1019" y="211"/>
                    </a:moveTo>
                    <a:cubicBezTo>
                      <a:pt x="1019" y="211"/>
                      <a:pt x="941" y="301"/>
                      <a:pt x="536" y="334"/>
                    </a:cubicBezTo>
                    <a:cubicBezTo>
                      <a:pt x="175" y="364"/>
                      <a:pt x="100" y="285"/>
                      <a:pt x="100" y="285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3"/>
                      <a:pt x="118" y="182"/>
                      <a:pt x="546" y="144"/>
                    </a:cubicBezTo>
                    <a:cubicBezTo>
                      <a:pt x="981" y="104"/>
                      <a:pt x="1092" y="0"/>
                      <a:pt x="1092" y="0"/>
                    </a:cubicBezTo>
                    <a:lnTo>
                      <a:pt x="1019" y="211"/>
                    </a:ln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14288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endParaRPr>
              </a:p>
            </p:txBody>
          </p:sp>
          <p:sp>
            <p:nvSpPr>
              <p:cNvPr id="16" name="Freeform 7">
                <a:extLst>
                  <a:ext uri="{FF2B5EF4-FFF2-40B4-BE49-F238E27FC236}">
                    <a16:creationId xmlns:a16="http://schemas.microsoft.com/office/drawing/2014/main" id="{D12DD839-C72F-D518-32D6-084600614F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7838" y="3316288"/>
                <a:ext cx="3108325" cy="1228725"/>
              </a:xfrm>
              <a:custGeom>
                <a:avLst/>
                <a:gdLst>
                  <a:gd name="T0" fmla="*/ 748 w 827"/>
                  <a:gd name="T1" fmla="*/ 211 h 327"/>
                  <a:gd name="T2" fmla="*/ 407 w 827"/>
                  <a:gd name="T3" fmla="*/ 305 h 327"/>
                  <a:gd name="T4" fmla="*/ 111 w 827"/>
                  <a:gd name="T5" fmla="*/ 268 h 327"/>
                  <a:gd name="T6" fmla="*/ 0 w 827"/>
                  <a:gd name="T7" fmla="*/ 83 h 327"/>
                  <a:gd name="T8" fmla="*/ 416 w 827"/>
                  <a:gd name="T9" fmla="*/ 113 h 327"/>
                  <a:gd name="T10" fmla="*/ 827 w 827"/>
                  <a:gd name="T11" fmla="*/ 0 h 327"/>
                  <a:gd name="T12" fmla="*/ 748 w 827"/>
                  <a:gd name="T13" fmla="*/ 211 h 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27" h="327">
                    <a:moveTo>
                      <a:pt x="748" y="211"/>
                    </a:moveTo>
                    <a:cubicBezTo>
                      <a:pt x="748" y="211"/>
                      <a:pt x="711" y="279"/>
                      <a:pt x="407" y="305"/>
                    </a:cubicBezTo>
                    <a:cubicBezTo>
                      <a:pt x="135" y="327"/>
                      <a:pt x="111" y="268"/>
                      <a:pt x="111" y="268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83"/>
                      <a:pt x="94" y="142"/>
                      <a:pt x="416" y="113"/>
                    </a:cubicBezTo>
                    <a:cubicBezTo>
                      <a:pt x="743" y="83"/>
                      <a:pt x="827" y="0"/>
                      <a:pt x="827" y="0"/>
                    </a:cubicBezTo>
                    <a:lnTo>
                      <a:pt x="748" y="211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 w="14288" cap="flat">
                <a:solidFill>
                  <a:schemeClr val="accent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endParaRPr>
              </a:p>
            </p:txBody>
          </p:sp>
          <p:sp>
            <p:nvSpPr>
              <p:cNvPr id="17" name="Freeform 9">
                <a:extLst>
                  <a:ext uri="{FF2B5EF4-FFF2-40B4-BE49-F238E27FC236}">
                    <a16:creationId xmlns:a16="http://schemas.microsoft.com/office/drawing/2014/main" id="{F368C090-E79E-AD63-EEC6-BBCD86CE26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8526" y="4511676"/>
                <a:ext cx="1830388" cy="1570038"/>
              </a:xfrm>
              <a:custGeom>
                <a:avLst/>
                <a:gdLst>
                  <a:gd name="T0" fmla="*/ 251 w 487"/>
                  <a:gd name="T1" fmla="*/ 261 h 418"/>
                  <a:gd name="T2" fmla="*/ 458 w 487"/>
                  <a:gd name="T3" fmla="*/ 413 h 418"/>
                  <a:gd name="T4" fmla="*/ 483 w 487"/>
                  <a:gd name="T5" fmla="*/ 280 h 418"/>
                  <a:gd name="T6" fmla="*/ 42 w 487"/>
                  <a:gd name="T7" fmla="*/ 68 h 418"/>
                  <a:gd name="T8" fmla="*/ 251 w 487"/>
                  <a:gd name="T9" fmla="*/ 261 h 4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7" h="418">
                    <a:moveTo>
                      <a:pt x="251" y="261"/>
                    </a:moveTo>
                    <a:cubicBezTo>
                      <a:pt x="355" y="309"/>
                      <a:pt x="454" y="370"/>
                      <a:pt x="458" y="413"/>
                    </a:cubicBezTo>
                    <a:cubicBezTo>
                      <a:pt x="458" y="418"/>
                      <a:pt x="487" y="321"/>
                      <a:pt x="483" y="280"/>
                    </a:cubicBezTo>
                    <a:cubicBezTo>
                      <a:pt x="475" y="185"/>
                      <a:pt x="0" y="0"/>
                      <a:pt x="42" y="68"/>
                    </a:cubicBezTo>
                    <a:cubicBezTo>
                      <a:pt x="50" y="81"/>
                      <a:pt x="176" y="226"/>
                      <a:pt x="251" y="261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</a:schemeClr>
              </a:solidFill>
              <a:ln w="14288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endParaRPr>
              </a:p>
            </p:txBody>
          </p:sp>
          <p:sp>
            <p:nvSpPr>
              <p:cNvPr id="18" name="Freeform 12">
                <a:extLst>
                  <a:ext uri="{FF2B5EF4-FFF2-40B4-BE49-F238E27FC236}">
                    <a16:creationId xmlns:a16="http://schemas.microsoft.com/office/drawing/2014/main" id="{0582A760-9F61-CC8E-7A43-55032AAD87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4738" y="4533901"/>
                <a:ext cx="1962150" cy="1011238"/>
              </a:xfrm>
              <a:custGeom>
                <a:avLst/>
                <a:gdLst>
                  <a:gd name="T0" fmla="*/ 455 w 522"/>
                  <a:gd name="T1" fmla="*/ 186 h 269"/>
                  <a:gd name="T2" fmla="*/ 265 w 522"/>
                  <a:gd name="T3" fmla="*/ 251 h 269"/>
                  <a:gd name="T4" fmla="*/ 88 w 522"/>
                  <a:gd name="T5" fmla="*/ 220 h 269"/>
                  <a:gd name="T6" fmla="*/ 0 w 522"/>
                  <a:gd name="T7" fmla="*/ 65 h 269"/>
                  <a:gd name="T8" fmla="*/ 257 w 522"/>
                  <a:gd name="T9" fmla="*/ 79 h 269"/>
                  <a:gd name="T10" fmla="*/ 522 w 522"/>
                  <a:gd name="T11" fmla="*/ 0 h 269"/>
                  <a:gd name="T12" fmla="*/ 455 w 522"/>
                  <a:gd name="T13" fmla="*/ 186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2" h="269">
                    <a:moveTo>
                      <a:pt x="455" y="186"/>
                    </a:moveTo>
                    <a:cubicBezTo>
                      <a:pt x="455" y="186"/>
                      <a:pt x="441" y="228"/>
                      <a:pt x="265" y="251"/>
                    </a:cubicBezTo>
                    <a:cubicBezTo>
                      <a:pt x="121" y="269"/>
                      <a:pt x="88" y="220"/>
                      <a:pt x="88" y="220"/>
                    </a:cubicBezTo>
                    <a:cubicBezTo>
                      <a:pt x="0" y="65"/>
                      <a:pt x="0" y="65"/>
                      <a:pt x="0" y="65"/>
                    </a:cubicBezTo>
                    <a:cubicBezTo>
                      <a:pt x="0" y="65"/>
                      <a:pt x="47" y="104"/>
                      <a:pt x="257" y="79"/>
                    </a:cubicBezTo>
                    <a:cubicBezTo>
                      <a:pt x="470" y="54"/>
                      <a:pt x="522" y="0"/>
                      <a:pt x="522" y="0"/>
                    </a:cubicBezTo>
                    <a:lnTo>
                      <a:pt x="455" y="186"/>
                    </a:ln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 w="14288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D5453C7-520D-4E28-5804-9AED0CF40F72}"/>
                </a:ext>
              </a:extLst>
            </p:cNvPr>
            <p:cNvSpPr/>
            <p:nvPr/>
          </p:nvSpPr>
          <p:spPr>
            <a:xfrm>
              <a:off x="4225962" y="4609265"/>
              <a:ext cx="754127" cy="1937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8B1D132-5DC5-9BDF-EF1A-0876D3D4BEFF}"/>
                </a:ext>
              </a:extLst>
            </p:cNvPr>
            <p:cNvSpPr/>
            <p:nvPr/>
          </p:nvSpPr>
          <p:spPr>
            <a:xfrm>
              <a:off x="3973979" y="3998602"/>
              <a:ext cx="1166596" cy="2746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06B1FE4-0B03-E248-1CF9-B8125166C3E9}"/>
                </a:ext>
              </a:extLst>
            </p:cNvPr>
            <p:cNvSpPr/>
            <p:nvPr/>
          </p:nvSpPr>
          <p:spPr>
            <a:xfrm>
              <a:off x="3871978" y="3431226"/>
              <a:ext cx="1383784" cy="2746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Awareness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D9B711D-5FDC-3911-31B7-EBBD3284E86C}"/>
              </a:ext>
            </a:extLst>
          </p:cNvPr>
          <p:cNvSpPr txBox="1"/>
          <p:nvPr/>
        </p:nvSpPr>
        <p:spPr>
          <a:xfrm>
            <a:off x="1460012" y="3493451"/>
            <a:ext cx="2430966" cy="64677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US" sz="1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Consideration</a:t>
            </a:r>
          </a:p>
          <a:p>
            <a:pPr algn="l" defTabSz="228600">
              <a:spcAft>
                <a:spcPts val="1200"/>
              </a:spcAft>
            </a:pPr>
            <a:endParaRPr lang="en-US" sz="1400" noProof="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6345B3-15A1-18AC-2159-6DCE084CB55A}"/>
              </a:ext>
            </a:extLst>
          </p:cNvPr>
          <p:cNvSpPr txBox="1"/>
          <p:nvPr/>
        </p:nvSpPr>
        <p:spPr>
          <a:xfrm>
            <a:off x="1720876" y="4346525"/>
            <a:ext cx="2442117" cy="7136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/>
              <a:t>Purchase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3C3D001-F837-1510-3596-D861EC2D76AD}"/>
              </a:ext>
            </a:extLst>
          </p:cNvPr>
          <p:cNvGrpSpPr/>
          <p:nvPr/>
        </p:nvGrpSpPr>
        <p:grpSpPr>
          <a:xfrm>
            <a:off x="3477388" y="1790870"/>
            <a:ext cx="810422" cy="872315"/>
            <a:chOff x="4146459" y="2136555"/>
            <a:chExt cx="810422" cy="872315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9946149-612E-B48B-BDA8-5F6FC0DE5B3F}"/>
                </a:ext>
              </a:extLst>
            </p:cNvPr>
            <p:cNvCxnSpPr>
              <a:cxnSpLocks/>
            </p:cNvCxnSpPr>
            <p:nvPr/>
          </p:nvCxnSpPr>
          <p:spPr>
            <a:xfrm>
              <a:off x="4146459" y="2556394"/>
              <a:ext cx="793531" cy="0"/>
            </a:xfrm>
            <a:prstGeom prst="line">
              <a:avLst/>
            </a:prstGeom>
            <a:ln w="1905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0FE385D-0B84-322F-3526-07C5501A2738}"/>
                </a:ext>
              </a:extLst>
            </p:cNvPr>
            <p:cNvCxnSpPr>
              <a:cxnSpLocks/>
            </p:cNvCxnSpPr>
            <p:nvPr/>
          </p:nvCxnSpPr>
          <p:spPr>
            <a:xfrm>
              <a:off x="4956881" y="2136555"/>
              <a:ext cx="0" cy="872315"/>
            </a:xfrm>
            <a:prstGeom prst="line">
              <a:avLst/>
            </a:prstGeom>
            <a:ln w="1905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358C218-D751-2326-FC7A-4B96E0C85F9F}"/>
              </a:ext>
            </a:extLst>
          </p:cNvPr>
          <p:cNvCxnSpPr>
            <a:cxnSpLocks/>
          </p:cNvCxnSpPr>
          <p:nvPr/>
        </p:nvCxnSpPr>
        <p:spPr>
          <a:xfrm flipH="1">
            <a:off x="4284500" y="1790870"/>
            <a:ext cx="514368" cy="0"/>
          </a:xfrm>
          <a:prstGeom prst="line">
            <a:avLst/>
          </a:prstGeom>
          <a:ln w="190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1886DCE-8F2B-791A-AC90-F138DD2586E8}"/>
              </a:ext>
            </a:extLst>
          </p:cNvPr>
          <p:cNvSpPr txBox="1"/>
          <p:nvPr/>
        </p:nvSpPr>
        <p:spPr>
          <a:xfrm>
            <a:off x="6311592" y="317809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sz="1200" noProof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FEE762D-32C5-62EE-CFE7-A875146E4A59}"/>
              </a:ext>
            </a:extLst>
          </p:cNvPr>
          <p:cNvCxnSpPr>
            <a:cxnSpLocks/>
          </p:cNvCxnSpPr>
          <p:nvPr/>
        </p:nvCxnSpPr>
        <p:spPr>
          <a:xfrm flipH="1">
            <a:off x="4284500" y="2660627"/>
            <a:ext cx="514368" cy="0"/>
          </a:xfrm>
          <a:prstGeom prst="line">
            <a:avLst/>
          </a:prstGeom>
          <a:ln w="190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65D2EA79-ED72-AA00-9508-E8C5B4A8C51C}"/>
              </a:ext>
            </a:extLst>
          </p:cNvPr>
          <p:cNvSpPr/>
          <p:nvPr/>
        </p:nvSpPr>
        <p:spPr>
          <a:xfrm>
            <a:off x="4895388" y="1641581"/>
            <a:ext cx="1226634" cy="331772"/>
          </a:xfrm>
          <a:prstGeom prst="round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200">
                <a:solidFill>
                  <a:schemeClr val="accent6">
                    <a:lumMod val="75000"/>
                  </a:schemeClr>
                </a:solidFill>
              </a:rPr>
              <a:t>Online SEO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715D950C-A329-8F6B-67DC-905C3AC5543D}"/>
              </a:ext>
            </a:extLst>
          </p:cNvPr>
          <p:cNvSpPr/>
          <p:nvPr/>
        </p:nvSpPr>
        <p:spPr>
          <a:xfrm>
            <a:off x="4895388" y="2047360"/>
            <a:ext cx="1226634" cy="331772"/>
          </a:xfrm>
          <a:prstGeom prst="round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200">
                <a:solidFill>
                  <a:schemeClr val="accent6">
                    <a:lumMod val="75000"/>
                  </a:schemeClr>
                </a:solidFill>
              </a:rPr>
              <a:t>Offline SEO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0B9D8652-3088-8945-13A0-763D637E8D6B}"/>
              </a:ext>
            </a:extLst>
          </p:cNvPr>
          <p:cNvSpPr/>
          <p:nvPr/>
        </p:nvSpPr>
        <p:spPr>
          <a:xfrm>
            <a:off x="4895388" y="2451343"/>
            <a:ext cx="1226634" cy="331772"/>
          </a:xfrm>
          <a:prstGeom prst="round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9525" algn="ctr">
              <a:tabLst>
                <a:tab pos="927100" algn="l"/>
              </a:tabLst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Instagram Ads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0831C58-160E-4ED4-2D0B-7AE91BAA421D}"/>
              </a:ext>
            </a:extLst>
          </p:cNvPr>
          <p:cNvGrpSpPr/>
          <p:nvPr/>
        </p:nvGrpSpPr>
        <p:grpSpPr>
          <a:xfrm>
            <a:off x="3119344" y="3216407"/>
            <a:ext cx="1169364" cy="872315"/>
            <a:chOff x="3787517" y="2136555"/>
            <a:chExt cx="1169364" cy="872315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1CA634D9-F364-A2B0-8C74-03465893CF2A}"/>
                </a:ext>
              </a:extLst>
            </p:cNvPr>
            <p:cNvCxnSpPr>
              <a:cxnSpLocks/>
            </p:cNvCxnSpPr>
            <p:nvPr/>
          </p:nvCxnSpPr>
          <p:spPr>
            <a:xfrm>
              <a:off x="3787517" y="2572712"/>
              <a:ext cx="1157380" cy="0"/>
            </a:xfrm>
            <a:prstGeom prst="line">
              <a:avLst/>
            </a:prstGeom>
            <a:ln w="1905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01EE34A-E936-6F71-9986-507975A9281C}"/>
                </a:ext>
              </a:extLst>
            </p:cNvPr>
            <p:cNvCxnSpPr>
              <a:cxnSpLocks/>
            </p:cNvCxnSpPr>
            <p:nvPr/>
          </p:nvCxnSpPr>
          <p:spPr>
            <a:xfrm>
              <a:off x="4956881" y="2136555"/>
              <a:ext cx="0" cy="872315"/>
            </a:xfrm>
            <a:prstGeom prst="line">
              <a:avLst/>
            </a:prstGeom>
            <a:ln w="1905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FCB3264-A766-8C43-6B28-9311F7ECA828}"/>
              </a:ext>
            </a:extLst>
          </p:cNvPr>
          <p:cNvCxnSpPr>
            <a:cxnSpLocks/>
          </p:cNvCxnSpPr>
          <p:nvPr/>
        </p:nvCxnSpPr>
        <p:spPr>
          <a:xfrm flipH="1">
            <a:off x="4285398" y="3216407"/>
            <a:ext cx="514368" cy="0"/>
          </a:xfrm>
          <a:prstGeom prst="line">
            <a:avLst/>
          </a:prstGeom>
          <a:ln w="190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357002A3-E703-B75C-59B3-78ED4BC74A93}"/>
              </a:ext>
            </a:extLst>
          </p:cNvPr>
          <p:cNvSpPr txBox="1"/>
          <p:nvPr/>
        </p:nvSpPr>
        <p:spPr>
          <a:xfrm>
            <a:off x="6312490" y="460363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sz="1200" noProof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47939D2-0821-262E-C7CE-E87E24F5D043}"/>
              </a:ext>
            </a:extLst>
          </p:cNvPr>
          <p:cNvCxnSpPr>
            <a:cxnSpLocks/>
          </p:cNvCxnSpPr>
          <p:nvPr/>
        </p:nvCxnSpPr>
        <p:spPr>
          <a:xfrm flipH="1">
            <a:off x="4285398" y="4086164"/>
            <a:ext cx="514368" cy="0"/>
          </a:xfrm>
          <a:prstGeom prst="line">
            <a:avLst/>
          </a:prstGeom>
          <a:ln w="190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E4D14BBC-FA73-5100-8C5D-D6F1334AA547}"/>
              </a:ext>
            </a:extLst>
          </p:cNvPr>
          <p:cNvSpPr/>
          <p:nvPr/>
        </p:nvSpPr>
        <p:spPr>
          <a:xfrm>
            <a:off x="4895388" y="3064479"/>
            <a:ext cx="1226634" cy="331772"/>
          </a:xfrm>
          <a:prstGeom prst="round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200">
                <a:solidFill>
                  <a:schemeClr val="accent6">
                    <a:lumMod val="75000"/>
                  </a:schemeClr>
                </a:solidFill>
              </a:rPr>
              <a:t>Video Ads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613FB9DC-51DA-03CF-3127-2B8C18707AE3}"/>
              </a:ext>
            </a:extLst>
          </p:cNvPr>
          <p:cNvSpPr/>
          <p:nvPr/>
        </p:nvSpPr>
        <p:spPr>
          <a:xfrm>
            <a:off x="4896286" y="3472897"/>
            <a:ext cx="1226634" cy="331772"/>
          </a:xfrm>
          <a:prstGeom prst="round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200">
                <a:solidFill>
                  <a:schemeClr val="accent6">
                    <a:lumMod val="75000"/>
                  </a:schemeClr>
                </a:solidFill>
              </a:rPr>
              <a:t>Copymining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E6C56F6D-FBF0-EE28-9F5A-7C959C0005D9}"/>
              </a:ext>
            </a:extLst>
          </p:cNvPr>
          <p:cNvSpPr/>
          <p:nvPr/>
        </p:nvSpPr>
        <p:spPr>
          <a:xfrm>
            <a:off x="4895388" y="3876037"/>
            <a:ext cx="1226634" cy="331772"/>
          </a:xfrm>
          <a:prstGeom prst="round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sz="12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F2B9B44-21AD-98F9-766F-D833292C920A}"/>
              </a:ext>
            </a:extLst>
          </p:cNvPr>
          <p:cNvSpPr txBox="1"/>
          <p:nvPr/>
        </p:nvSpPr>
        <p:spPr>
          <a:xfrm>
            <a:off x="4929739" y="3975570"/>
            <a:ext cx="1136911" cy="33177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200">
                <a:solidFill>
                  <a:schemeClr val="accent6">
                    <a:lumMod val="75000"/>
                  </a:schemeClr>
                </a:solidFill>
              </a:rPr>
              <a:t>Advertorials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66D46E5-4972-BF6E-3E73-7509AE2DECD4}"/>
              </a:ext>
            </a:extLst>
          </p:cNvPr>
          <p:cNvGrpSpPr/>
          <p:nvPr/>
        </p:nvGrpSpPr>
        <p:grpSpPr>
          <a:xfrm>
            <a:off x="2675495" y="4440047"/>
            <a:ext cx="3446527" cy="1190957"/>
            <a:chOff x="3344566" y="4026130"/>
            <a:chExt cx="3446527" cy="1190957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BF10524-AAA0-EA3D-4A79-3FBFA03FBC92}"/>
                </a:ext>
              </a:extLst>
            </p:cNvPr>
            <p:cNvGrpSpPr/>
            <p:nvPr/>
          </p:nvGrpSpPr>
          <p:grpSpPr>
            <a:xfrm>
              <a:off x="3344566" y="4178886"/>
              <a:ext cx="1601229" cy="872315"/>
              <a:chOff x="3360741" y="2136555"/>
              <a:chExt cx="1601229" cy="872315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98301EB5-9902-A762-B8CB-54CFBACB6C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0741" y="2556394"/>
                <a:ext cx="1601229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8476EDC-6DFA-B4FE-25EC-EB4A9CBA87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6881" y="2136555"/>
                <a:ext cx="0" cy="872315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1EF3913-0A94-226B-5BCD-678AE11735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7396" y="4178886"/>
              <a:ext cx="514368" cy="0"/>
            </a:xfrm>
            <a:prstGeom prst="line">
              <a:avLst/>
            </a:prstGeom>
            <a:ln w="1905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6DDAC8C-283F-9FD9-5A27-ADB5FF4FC4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7396" y="5054307"/>
              <a:ext cx="514368" cy="0"/>
            </a:xfrm>
            <a:prstGeom prst="line">
              <a:avLst/>
            </a:prstGeom>
            <a:ln w="1905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4A4EB872-8AF3-F0D6-9B35-307567CFE4A3}"/>
                </a:ext>
              </a:extLst>
            </p:cNvPr>
            <p:cNvSpPr/>
            <p:nvPr/>
          </p:nvSpPr>
          <p:spPr>
            <a:xfrm>
              <a:off x="5564459" y="4026130"/>
              <a:ext cx="1226634" cy="331772"/>
            </a:xfrm>
            <a:prstGeom prst="roundRect">
              <a:avLst/>
            </a:prstGeom>
            <a:noFill/>
            <a:ln w="1905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US" sz="1200">
                  <a:solidFill>
                    <a:schemeClr val="accent6">
                      <a:lumMod val="75000"/>
                    </a:schemeClr>
                  </a:solidFill>
                </a:rPr>
                <a:t>Occasion Marketing</a:t>
              </a: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72FB1359-A191-671C-EF99-DD7CAB00EB96}"/>
                </a:ext>
              </a:extLst>
            </p:cNvPr>
            <p:cNvSpPr/>
            <p:nvPr/>
          </p:nvSpPr>
          <p:spPr>
            <a:xfrm>
              <a:off x="5564459" y="4885315"/>
              <a:ext cx="1226634" cy="331772"/>
            </a:xfrm>
            <a:prstGeom prst="roundRect">
              <a:avLst/>
            </a:prstGeom>
            <a:noFill/>
            <a:ln w="1905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US" sz="1200">
                  <a:solidFill>
                    <a:schemeClr val="accent6">
                      <a:lumMod val="75000"/>
                    </a:schemeClr>
                  </a:solidFill>
                </a:rPr>
                <a:t>Personalized Emails</a:t>
              </a:r>
            </a:p>
          </p:txBody>
        </p:sp>
        <p:sp>
          <p:nvSpPr>
            <p:cNvPr id="62" name="Rounded Rectangle 61">
              <a:extLst>
                <a:ext uri="{FF2B5EF4-FFF2-40B4-BE49-F238E27FC236}">
                  <a16:creationId xmlns:a16="http://schemas.microsoft.com/office/drawing/2014/main" id="{F922E74F-FBF6-AC67-EBEB-88CA61C50A97}"/>
                </a:ext>
              </a:extLst>
            </p:cNvPr>
            <p:cNvSpPr/>
            <p:nvPr/>
          </p:nvSpPr>
          <p:spPr>
            <a:xfrm>
              <a:off x="5564459" y="4443720"/>
              <a:ext cx="1226634" cy="364949"/>
            </a:xfrm>
            <a:prstGeom prst="roundRect">
              <a:avLst/>
            </a:prstGeom>
            <a:noFill/>
            <a:ln w="1905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US" sz="1200">
                  <a:solidFill>
                    <a:schemeClr val="accent6">
                      <a:lumMod val="75000"/>
                    </a:schemeClr>
                  </a:solidFill>
                </a:rPr>
                <a:t>Promotional Campaigns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6C206D8-8DE3-830C-E3E3-72F3C216BF82}"/>
              </a:ext>
            </a:extLst>
          </p:cNvPr>
          <p:cNvGrpSpPr/>
          <p:nvPr/>
        </p:nvGrpSpPr>
        <p:grpSpPr>
          <a:xfrm>
            <a:off x="6362025" y="1382751"/>
            <a:ext cx="5336168" cy="4723480"/>
            <a:chOff x="6362025" y="1382751"/>
            <a:chExt cx="5336168" cy="4723480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138296D-7B8B-8380-0CF5-C758C748B85D}"/>
                </a:ext>
              </a:extLst>
            </p:cNvPr>
            <p:cNvSpPr txBox="1"/>
            <p:nvPr/>
          </p:nvSpPr>
          <p:spPr>
            <a:xfrm>
              <a:off x="7824486" y="1382751"/>
              <a:ext cx="2245065" cy="33177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pPr algn="ctr" defTabSz="228600">
                <a:spcAft>
                  <a:spcPts val="1200"/>
                </a:spcAft>
              </a:pPr>
              <a:r>
                <a:rPr lang="en-US" noProof="0">
                  <a:solidFill>
                    <a:schemeClr val="bg1"/>
                  </a:solidFill>
                </a:rPr>
                <a:t>Customer Journey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75999DB-65CB-35EE-7B77-5C89B41E91C7}"/>
                </a:ext>
              </a:extLst>
            </p:cNvPr>
            <p:cNvSpPr txBox="1"/>
            <p:nvPr/>
          </p:nvSpPr>
          <p:spPr>
            <a:xfrm>
              <a:off x="7225990" y="1790870"/>
              <a:ext cx="3992137" cy="1824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1200" i="1" noProof="0">
                  <a:solidFill>
                    <a:schemeClr val="bg1"/>
                  </a:solidFill>
                </a:rPr>
                <a:t>Home textiles is a high involvement buying industry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BF122D9-E075-496C-4573-4E7A516E6DED}"/>
                </a:ext>
              </a:extLst>
            </p:cNvPr>
            <p:cNvSpPr txBox="1"/>
            <p:nvPr/>
          </p:nvSpPr>
          <p:spPr>
            <a:xfrm>
              <a:off x="6726461" y="3009770"/>
              <a:ext cx="814039" cy="2275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defTabSz="228600">
                <a:spcAft>
                  <a:spcPts val="1200"/>
                </a:spcAft>
              </a:pPr>
              <a:r>
                <a:rPr lang="en-US" sz="1200" noProof="0">
                  <a:solidFill>
                    <a:schemeClr val="bg1"/>
                  </a:solidFill>
                </a:rPr>
                <a:t>Search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3B707286-E839-2B99-9C2D-04DA06152E6E}"/>
                </a:ext>
              </a:extLst>
            </p:cNvPr>
            <p:cNvSpPr txBox="1"/>
            <p:nvPr/>
          </p:nvSpPr>
          <p:spPr>
            <a:xfrm>
              <a:off x="7987189" y="3002826"/>
              <a:ext cx="814039" cy="2275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defTabSz="228600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</a:rPr>
                <a:t>Platform</a:t>
              </a:r>
              <a:endParaRPr lang="en-US" sz="1200" noProof="0">
                <a:solidFill>
                  <a:schemeClr val="bg1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7092445-7F77-09BE-2361-6C4C72A64AD1}"/>
                </a:ext>
              </a:extLst>
            </p:cNvPr>
            <p:cNvSpPr txBox="1"/>
            <p:nvPr/>
          </p:nvSpPr>
          <p:spPr>
            <a:xfrm>
              <a:off x="9247917" y="2999483"/>
              <a:ext cx="814039" cy="2275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defTabSz="228600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</a:rPr>
                <a:t>Compare</a:t>
              </a:r>
              <a:endParaRPr lang="en-US" sz="1200" noProof="0">
                <a:solidFill>
                  <a:schemeClr val="bg1"/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C416305-D787-2EC8-39F1-F7E568D77C6C}"/>
                </a:ext>
              </a:extLst>
            </p:cNvPr>
            <p:cNvSpPr txBox="1"/>
            <p:nvPr/>
          </p:nvSpPr>
          <p:spPr>
            <a:xfrm>
              <a:off x="10471961" y="3009770"/>
              <a:ext cx="814039" cy="2275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defTabSz="228600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</a:rPr>
                <a:t>Decision</a:t>
              </a:r>
              <a:endParaRPr lang="en-US" sz="1200" noProof="0">
                <a:solidFill>
                  <a:schemeClr val="bg1"/>
                </a:solidFill>
              </a:endParaRPr>
            </a:p>
          </p:txBody>
        </p:sp>
        <p:pic>
          <p:nvPicPr>
            <p:cNvPr id="72" name="Picture 2" descr="16,083 Google Icons - Free in SVG, PNG, ICO - IconScout">
              <a:extLst>
                <a:ext uri="{FF2B5EF4-FFF2-40B4-BE49-F238E27FC236}">
                  <a16:creationId xmlns:a16="http://schemas.microsoft.com/office/drawing/2014/main" id="{21CC2822-6221-6DA2-F1CD-D254DAEDA7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40689" y="2367981"/>
              <a:ext cx="461797" cy="4617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9FFFFF12-2DB8-B7E6-5C63-B68824EEF0C3}"/>
                </a:ext>
              </a:extLst>
            </p:cNvPr>
            <p:cNvGrpSpPr/>
            <p:nvPr/>
          </p:nvGrpSpPr>
          <p:grpSpPr>
            <a:xfrm>
              <a:off x="7995707" y="2246593"/>
              <a:ext cx="713348" cy="663836"/>
              <a:chOff x="7522539" y="2096275"/>
              <a:chExt cx="863152" cy="803242"/>
            </a:xfrm>
          </p:grpSpPr>
          <p:pic>
            <p:nvPicPr>
              <p:cNvPr id="73" name="Picture 4" descr="Amazon, buy, logo, online, shop icon - Free download">
                <a:extLst>
                  <a:ext uri="{FF2B5EF4-FFF2-40B4-BE49-F238E27FC236}">
                    <a16:creationId xmlns:a16="http://schemas.microsoft.com/office/drawing/2014/main" id="{778BEA04-75FB-2A0B-8660-BB8118A53D7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889" b="96000" l="1778" r="99111">
                            <a14:foregroundMark x1="25778" y1="37778" x2="25778" y2="37778"/>
                            <a14:foregroundMark x1="10222" y1="55556" x2="20000" y2="28444"/>
                            <a14:foregroundMark x1="20000" y1="28444" x2="34222" y2="10667"/>
                            <a14:foregroundMark x1="34222" y1="10667" x2="35111" y2="11111"/>
                            <a14:foregroundMark x1="13778" y1="49333" x2="60444" y2="81333"/>
                            <a14:foregroundMark x1="60444" y1="81333" x2="83111" y2="55556"/>
                            <a14:foregroundMark x1="83111" y1="55556" x2="80889" y2="32000"/>
                            <a14:foregroundMark x1="80889" y1="32000" x2="63111" y2="20444"/>
                            <a14:foregroundMark x1="63111" y1="20444" x2="31111" y2="18222"/>
                            <a14:foregroundMark x1="31111" y1="18222" x2="28444" y2="19111"/>
                            <a14:foregroundMark x1="0" y1="54222" x2="7111" y2="32889"/>
                            <a14:foregroundMark x1="7111" y1="32889" x2="25333" y2="9333"/>
                            <a14:foregroundMark x1="25333" y1="9333" x2="51556" y2="1333"/>
                            <a14:foregroundMark x1="51556" y1="1333" x2="56889" y2="1778"/>
                            <a14:foregroundMark x1="63111" y1="4000" x2="84444" y2="19111"/>
                            <a14:foregroundMark x1="84444" y1="19111" x2="92444" y2="38222"/>
                            <a14:foregroundMark x1="92444" y1="38222" x2="90222" y2="64444"/>
                            <a14:foregroundMark x1="90222" y1="64444" x2="74222" y2="82667"/>
                            <a14:foregroundMark x1="74222" y1="82667" x2="46667" y2="96444"/>
                            <a14:foregroundMark x1="46667" y1="96444" x2="28000" y2="84889"/>
                            <a14:foregroundMark x1="28000" y1="84889" x2="11556" y2="68000"/>
                            <a14:foregroundMark x1="11556" y1="68000" x2="11111" y2="47556"/>
                            <a14:foregroundMark x1="11111" y1="47556" x2="12000" y2="45778"/>
                            <a14:foregroundMark x1="6667" y1="72889" x2="1778" y2="52889"/>
                            <a14:foregroundMark x1="1778" y1="52889" x2="6667" y2="38222"/>
                            <a14:foregroundMark x1="62222" y1="51111" x2="62222" y2="51111"/>
                            <a14:foregroundMark x1="62222" y1="51111" x2="56889" y2="21778"/>
                            <a14:foregroundMark x1="56889" y1="21778" x2="48000" y2="47111"/>
                            <a14:foregroundMark x1="48000" y1="47111" x2="49778" y2="48889"/>
                            <a14:foregroundMark x1="42222" y1="19556" x2="21778" y2="48444"/>
                            <a14:foregroundMark x1="21778" y1="48444" x2="40000" y2="70222"/>
                            <a14:foregroundMark x1="40000" y1="70222" x2="68889" y2="58222"/>
                            <a14:foregroundMark x1="68889" y1="58222" x2="62667" y2="28444"/>
                            <a14:foregroundMark x1="62667" y1="28444" x2="44889" y2="16889"/>
                            <a14:foregroundMark x1="44889" y1="16889" x2="39111" y2="21333"/>
                            <a14:foregroundMark x1="52444" y1="37333" x2="31111" y2="52889"/>
                            <a14:foregroundMark x1="31111" y1="52889" x2="45778" y2="68889"/>
                            <a14:foregroundMark x1="45778" y1="68889" x2="64444" y2="60000"/>
                            <a14:foregroundMark x1="64444" y1="60000" x2="65333" y2="47556"/>
                            <a14:foregroundMark x1="96444" y1="67556" x2="99111" y2="45778"/>
                            <a14:foregroundMark x1="99111" y1="45778" x2="95556" y2="31556"/>
                            <a14:foregroundMark x1="37778" y1="26222" x2="51111" y2="32889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34741" y="2574690"/>
                <a:ext cx="324827" cy="3248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4" name="Picture 6" descr="Flipkart Bandra Kurla Complex 4000 51 - Container Service in 4000 51">
                <a:extLst>
                  <a:ext uri="{FF2B5EF4-FFF2-40B4-BE49-F238E27FC236}">
                    <a16:creationId xmlns:a16="http://schemas.microsoft.com/office/drawing/2014/main" id="{49E3CC43-0FBC-E416-ED44-579DAF79F50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0" b="95556" l="2222" r="96889">
                            <a14:foregroundMark x1="24000" y1="32889" x2="24000" y2="32889"/>
                            <a14:foregroundMark x1="24000" y1="32889" x2="43111" y2="12889"/>
                            <a14:foregroundMark x1="43111" y1="12889" x2="66667" y2="15111"/>
                            <a14:foregroundMark x1="66667" y1="15111" x2="67556" y2="26667"/>
                            <a14:foregroundMark x1="67556" y1="26667" x2="67111" y2="27556"/>
                            <a14:foregroundMark x1="0" y1="48444" x2="7010" y2="26178"/>
                            <a14:foregroundMark x1="8166" y1="23916" x2="27111" y2="7556"/>
                            <a14:foregroundMark x1="27111" y1="7556" x2="36767" y2="2261"/>
                            <a14:foregroundMark x1="5778" y1="29778" x2="444" y2="44000"/>
                            <a14:foregroundMark x1="444" y1="44000" x2="1778" y2="61333"/>
                            <a14:foregroundMark x1="4615" y1="65778" x2="15111" y2="82222"/>
                            <a14:foregroundMark x1="1778" y1="61333" x2="4615" y2="65778"/>
                            <a14:foregroundMark x1="15111" y1="82222" x2="35111" y2="95556"/>
                            <a14:foregroundMark x1="91111" y1="75111" x2="94667" y2="39111"/>
                            <a14:foregroundMark x1="94667" y1="39111" x2="87111" y2="26667"/>
                            <a14:foregroundMark x1="87111" y1="26667" x2="86667" y2="25778"/>
                            <a14:foregroundMark x1="1814" y1="63995" x2="889" y2="62222"/>
                            <a14:foregroundMark x1="6222" y1="72444" x2="3191" y2="66635"/>
                            <a14:foregroundMark x1="1048" y1="60946" x2="4621" y2="32367"/>
                            <a14:foregroundMark x1="889" y1="62222" x2="962" y2="61641"/>
                            <a14:foregroundMark x1="98222" y1="39111" x2="97333" y2="58667"/>
                            <a14:foregroundMark x1="97333" y1="58667" x2="96000" y2="60889"/>
                            <a14:foregroundMark x1="3645" y1="65778" x2="2222" y2="61333"/>
                            <a14:foregroundMark x1="5778" y1="72444" x2="3645" y2="65778"/>
                            <a14:backgroundMark x1="889" y1="67111" x2="0" y2="65333"/>
                            <a14:backgroundMark x1="2222" y1="68000" x2="0" y2="58222"/>
                            <a14:backgroundMark x1="0" y1="46667" x2="5333" y2="25778"/>
                            <a14:backgroundMark x1="5333" y1="25778" x2="9778" y2="19111"/>
                            <a14:backgroundMark x1="4889" y1="24889" x2="19111" y2="2667"/>
                            <a14:backgroundMark x1="37333" y1="1333" x2="44000" y2="889"/>
                            <a14:backgroundMark x1="4444" y1="72000" x2="1333" y2="65333"/>
                            <a14:backgroundMark x1="5778" y1="75111" x2="444" y2="65778"/>
                            <a14:backgroundMark x1="444" y1="65778" x2="444" y2="65778"/>
                            <a14:backgroundMark x1="5778" y1="73778" x2="1333" y2="62667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067130" y="2151445"/>
                <a:ext cx="318561" cy="3185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5" name="Picture 8" descr="Myntra PNG, Transparent Myntra LOGO Download - Free Transparent PNG Logos">
                <a:extLst>
                  <a:ext uri="{FF2B5EF4-FFF2-40B4-BE49-F238E27FC236}">
                    <a16:creationId xmlns:a16="http://schemas.microsoft.com/office/drawing/2014/main" id="{F89C0FB7-A9B1-BFD5-F89C-F486BEF8394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22539" y="2096275"/>
                <a:ext cx="564352" cy="56435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BA6B6FB3-F928-2500-021C-666B0E5E6DFC}"/>
                </a:ext>
              </a:extLst>
            </p:cNvPr>
            <p:cNvGrpSpPr/>
            <p:nvPr/>
          </p:nvGrpSpPr>
          <p:grpSpPr>
            <a:xfrm>
              <a:off x="9369955" y="2317337"/>
              <a:ext cx="586062" cy="710328"/>
              <a:chOff x="8642472" y="3356758"/>
              <a:chExt cx="644668" cy="781361"/>
            </a:xfrm>
          </p:grpSpPr>
          <p:pic>
            <p:nvPicPr>
              <p:cNvPr id="77" name="Graphic 76" descr="Open hand outline">
                <a:extLst>
                  <a:ext uri="{FF2B5EF4-FFF2-40B4-BE49-F238E27FC236}">
                    <a16:creationId xmlns:a16="http://schemas.microsoft.com/office/drawing/2014/main" id="{976E1FE3-0298-B0B6-7FB8-D6BFD27C03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8642472" y="3493451"/>
                <a:ext cx="644668" cy="644668"/>
              </a:xfrm>
              <a:prstGeom prst="rect">
                <a:avLst/>
              </a:prstGeom>
            </p:spPr>
          </p:pic>
          <p:pic>
            <p:nvPicPr>
              <p:cNvPr id="79" name="Graphic 78" descr="Coins outline">
                <a:extLst>
                  <a:ext uri="{FF2B5EF4-FFF2-40B4-BE49-F238E27FC236}">
                    <a16:creationId xmlns:a16="http://schemas.microsoft.com/office/drawing/2014/main" id="{3B8B5299-B45E-C78C-ED76-3C58B42976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8854733" y="3356758"/>
                <a:ext cx="367325" cy="367325"/>
              </a:xfrm>
              <a:prstGeom prst="rect">
                <a:avLst/>
              </a:prstGeom>
            </p:spPr>
          </p:pic>
        </p:grpSp>
        <p:pic>
          <p:nvPicPr>
            <p:cNvPr id="81" name="Graphic 80" descr="Shopping cart outline">
              <a:extLst>
                <a:ext uri="{FF2B5EF4-FFF2-40B4-BE49-F238E27FC236}">
                  <a16:creationId xmlns:a16="http://schemas.microsoft.com/office/drawing/2014/main" id="{010ACADF-784D-0283-6411-C7E5BAA27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563214" y="2300855"/>
              <a:ext cx="644668" cy="644668"/>
            </a:xfrm>
            <a:prstGeom prst="rect">
              <a:avLst/>
            </a:prstGeom>
          </p:spPr>
        </p:pic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FE349CF2-630F-D45D-D37A-390E54D2F449}"/>
                </a:ext>
              </a:extLst>
            </p:cNvPr>
            <p:cNvCxnSpPr/>
            <p:nvPr/>
          </p:nvCxnSpPr>
          <p:spPr>
            <a:xfrm>
              <a:off x="8056312" y="3817883"/>
              <a:ext cx="0" cy="228834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B9B06CB6-38E3-3BA3-AA23-E6E719BD58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2025" y="4216736"/>
              <a:ext cx="5023356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01B5A32-1EE2-6FEE-CBBE-B00680CA15FA}"/>
                </a:ext>
              </a:extLst>
            </p:cNvPr>
            <p:cNvCxnSpPr/>
            <p:nvPr/>
          </p:nvCxnSpPr>
          <p:spPr>
            <a:xfrm>
              <a:off x="10287848" y="3806160"/>
              <a:ext cx="0" cy="228834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95AD3C1E-FE2D-599C-4CAA-0069AEB042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2025" y="4701481"/>
              <a:ext cx="5023356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53272BD8-5618-65CC-62B9-A5CC9A72B3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2025" y="5212718"/>
              <a:ext cx="5023356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08A101FA-A986-B737-5C89-7E84CDF636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9173" y="5662122"/>
              <a:ext cx="5023356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9F09899-C7FE-9E2E-D506-1ABA53051E03}"/>
                </a:ext>
              </a:extLst>
            </p:cNvPr>
            <p:cNvSpPr txBox="1"/>
            <p:nvPr/>
          </p:nvSpPr>
          <p:spPr>
            <a:xfrm>
              <a:off x="6392402" y="4335013"/>
              <a:ext cx="1538194" cy="29379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</a:rPr>
                <a:t>Own Website</a:t>
              </a:r>
              <a:endParaRPr lang="en-US" sz="1200" noProof="0">
                <a:solidFill>
                  <a:schemeClr val="bg1"/>
                </a:solidFill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73A065D0-5A22-CE58-9DDB-B826139CDBD0}"/>
                </a:ext>
              </a:extLst>
            </p:cNvPr>
            <p:cNvSpPr txBox="1"/>
            <p:nvPr/>
          </p:nvSpPr>
          <p:spPr>
            <a:xfrm>
              <a:off x="8102963" y="4259839"/>
              <a:ext cx="2239349" cy="3689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Run effective SEO</a:t>
              </a:r>
            </a:p>
            <a:p>
              <a:pPr marL="171450" indent="-171450" algn="l" defTabSz="22860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Track metrics effectively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8982B576-2AF4-694B-B51D-5F15CDA6B5AD}"/>
                </a:ext>
              </a:extLst>
            </p:cNvPr>
            <p:cNvSpPr txBox="1"/>
            <p:nvPr/>
          </p:nvSpPr>
          <p:spPr>
            <a:xfrm>
              <a:off x="10388962" y="4269905"/>
              <a:ext cx="1309231" cy="3689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CTR</a:t>
              </a:r>
            </a:p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Brand Authority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396AF452-D6D8-1609-A3EB-3553A27EB950}"/>
                </a:ext>
              </a:extLst>
            </p:cNvPr>
            <p:cNvSpPr txBox="1"/>
            <p:nvPr/>
          </p:nvSpPr>
          <p:spPr>
            <a:xfrm>
              <a:off x="6392402" y="4852844"/>
              <a:ext cx="1538194" cy="29379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</a:rPr>
                <a:t>E-Commerce Affiliate</a:t>
              </a:r>
              <a:endParaRPr lang="en-US" sz="1200" noProof="0">
                <a:solidFill>
                  <a:schemeClr val="bg1"/>
                </a:solidFill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D3E91084-D44A-3489-4CC9-4C0E4E94D7DA}"/>
                </a:ext>
              </a:extLst>
            </p:cNvPr>
            <p:cNvSpPr txBox="1"/>
            <p:nvPr/>
          </p:nvSpPr>
          <p:spPr>
            <a:xfrm>
              <a:off x="8128242" y="4775925"/>
              <a:ext cx="2239349" cy="3689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Website &amp; Blogs </a:t>
              </a:r>
            </a:p>
            <a:p>
              <a:pPr marL="171450" indent="-171450" algn="l" defTabSz="22860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Easy to Manage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F5921135-2C4B-3B24-9C2E-7191F06ADF33}"/>
                </a:ext>
              </a:extLst>
            </p:cNvPr>
            <p:cNvSpPr txBox="1"/>
            <p:nvPr/>
          </p:nvSpPr>
          <p:spPr>
            <a:xfrm>
              <a:off x="6381515" y="5318222"/>
              <a:ext cx="1538194" cy="29379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</a:rPr>
                <a:t>E-Commerce PPC</a:t>
              </a:r>
              <a:endParaRPr lang="en-US" sz="1200" noProof="0">
                <a:solidFill>
                  <a:schemeClr val="bg1"/>
                </a:solidFill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E4951870-4807-BADE-8664-B144CA33CC4A}"/>
                </a:ext>
              </a:extLst>
            </p:cNvPr>
            <p:cNvSpPr txBox="1"/>
            <p:nvPr/>
          </p:nvSpPr>
          <p:spPr>
            <a:xfrm>
              <a:off x="8128242" y="5245464"/>
              <a:ext cx="2239349" cy="3689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Widen Consideration Set </a:t>
              </a:r>
            </a:p>
            <a:p>
              <a:pPr marL="171450" indent="-171450" algn="l" defTabSz="22860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High Visibility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60E4B003-7561-6DE0-C181-790E6AD7FB12}"/>
                </a:ext>
              </a:extLst>
            </p:cNvPr>
            <p:cNvSpPr txBox="1"/>
            <p:nvPr/>
          </p:nvSpPr>
          <p:spPr>
            <a:xfrm>
              <a:off x="6381515" y="5747272"/>
              <a:ext cx="1538194" cy="29379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</a:rPr>
                <a:t>Influencer Marketing</a:t>
              </a:r>
              <a:endParaRPr lang="en-US" sz="1200" noProof="0">
                <a:solidFill>
                  <a:schemeClr val="bg1"/>
                </a:solidFill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8A65D184-F2F5-450D-451D-025AF152C64E}"/>
                </a:ext>
              </a:extLst>
            </p:cNvPr>
            <p:cNvSpPr txBox="1"/>
            <p:nvPr/>
          </p:nvSpPr>
          <p:spPr>
            <a:xfrm>
              <a:off x="8128242" y="5690312"/>
              <a:ext cx="2239349" cy="3689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Video Collaterals </a:t>
              </a:r>
            </a:p>
            <a:p>
              <a:pPr marL="171450" indent="-171450" algn="l" defTabSz="22860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Content Creation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141EE7CB-080D-8C39-52C9-4050493B409B}"/>
                </a:ext>
              </a:extLst>
            </p:cNvPr>
            <p:cNvSpPr txBox="1"/>
            <p:nvPr/>
          </p:nvSpPr>
          <p:spPr>
            <a:xfrm>
              <a:off x="10388962" y="4775585"/>
              <a:ext cx="1160097" cy="3689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Bounce Rate</a:t>
              </a:r>
            </a:p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Traffic Rate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3C48B463-0258-B3E6-70BD-D06E92ED412C}"/>
                </a:ext>
              </a:extLst>
            </p:cNvPr>
            <p:cNvSpPr txBox="1"/>
            <p:nvPr/>
          </p:nvSpPr>
          <p:spPr>
            <a:xfrm>
              <a:off x="10388961" y="5245464"/>
              <a:ext cx="1160099" cy="3689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</a:rPr>
                <a:t>Bounce Rate</a:t>
              </a:r>
            </a:p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</a:rPr>
                <a:t>CPS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4E56BB7-E372-B788-EDE9-5C91A411C02E}"/>
                </a:ext>
              </a:extLst>
            </p:cNvPr>
            <p:cNvSpPr txBox="1"/>
            <p:nvPr/>
          </p:nvSpPr>
          <p:spPr>
            <a:xfrm>
              <a:off x="10388962" y="5715196"/>
              <a:ext cx="665891" cy="3689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ROAS</a:t>
              </a:r>
            </a:p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CPA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DDF985D9-E7C5-EBB9-933D-2C93926CED4E}"/>
                </a:ext>
              </a:extLst>
            </p:cNvPr>
            <p:cNvSpPr txBox="1"/>
            <p:nvPr/>
          </p:nvSpPr>
          <p:spPr>
            <a:xfrm>
              <a:off x="10984524" y="5437048"/>
              <a:ext cx="468921" cy="16588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71450" indent="-171450" algn="l" defTabSz="22860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US" sz="1200" noProof="0">
                  <a:solidFill>
                    <a:schemeClr val="bg1"/>
                  </a:solidFill>
                </a:rPr>
                <a:t>CLV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585F346C-ECAC-EA21-EB81-27FA10EA0BAA}"/>
                </a:ext>
              </a:extLst>
            </p:cNvPr>
            <p:cNvSpPr txBox="1"/>
            <p:nvPr/>
          </p:nvSpPr>
          <p:spPr>
            <a:xfrm>
              <a:off x="6369173" y="3854280"/>
              <a:ext cx="1538194" cy="29379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1200" b="1" noProof="0">
                  <a:solidFill>
                    <a:schemeClr val="bg1"/>
                  </a:solidFill>
                </a:rPr>
                <a:t>Strategy </a:t>
              </a:r>
              <a:r>
                <a:rPr lang="en-US" sz="1200" b="1">
                  <a:solidFill>
                    <a:schemeClr val="bg1"/>
                  </a:solidFill>
                </a:rPr>
                <a:t>Actions</a:t>
              </a:r>
              <a:endParaRPr lang="en-US" sz="1200" b="1" noProof="0">
                <a:solidFill>
                  <a:schemeClr val="bg1"/>
                </a:solidFill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94EC38E3-73C7-2AC6-31A2-849E5256FA8F}"/>
                </a:ext>
              </a:extLst>
            </p:cNvPr>
            <p:cNvSpPr txBox="1"/>
            <p:nvPr/>
          </p:nvSpPr>
          <p:spPr>
            <a:xfrm>
              <a:off x="8170211" y="3845139"/>
              <a:ext cx="1984245" cy="29379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1200" b="1" noProof="0">
                  <a:solidFill>
                    <a:schemeClr val="bg1"/>
                  </a:solidFill>
                </a:rPr>
                <a:t>Achievable Target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14D79409-C4A5-FC9C-240B-2FB2A7A32C8C}"/>
                </a:ext>
              </a:extLst>
            </p:cNvPr>
            <p:cNvSpPr txBox="1"/>
            <p:nvPr/>
          </p:nvSpPr>
          <p:spPr>
            <a:xfrm>
              <a:off x="10387810" y="3847680"/>
              <a:ext cx="1304234" cy="29379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1200" b="1" noProof="0">
                  <a:solidFill>
                    <a:schemeClr val="bg1"/>
                  </a:solidFill>
                </a:rPr>
                <a:t>KPIs To Track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F79B516-8BB9-E23A-8C48-5A942F7CA817}"/>
                </a:ext>
              </a:extLst>
            </p:cNvPr>
            <p:cNvSpPr/>
            <p:nvPr/>
          </p:nvSpPr>
          <p:spPr>
            <a:xfrm>
              <a:off x="6392402" y="2046718"/>
              <a:ext cx="5156657" cy="1446733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78CDB2F-7DF7-0C07-5C47-B4B59AD18EB6}"/>
              </a:ext>
            </a:extLst>
          </p:cNvPr>
          <p:cNvSpPr txBox="1"/>
          <p:nvPr/>
        </p:nvSpPr>
        <p:spPr>
          <a:xfrm>
            <a:off x="642935" y="5437048"/>
            <a:ext cx="3488781" cy="6691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400" i="1" dirty="0">
                <a:solidFill>
                  <a:schemeClr val="bg1"/>
                </a:solidFill>
              </a:rPr>
              <a:t>ABC company needs to increase its internet presence to increase penetration and gain a larger market share</a:t>
            </a:r>
            <a:endParaRPr lang="en-US" sz="1400" i="1" noProof="0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F4D68A3-7061-09A2-CC48-8DA34A2F8337}"/>
              </a:ext>
            </a:extLst>
          </p:cNvPr>
          <p:cNvGrpSpPr/>
          <p:nvPr/>
        </p:nvGrpSpPr>
        <p:grpSpPr>
          <a:xfrm>
            <a:off x="0" y="142951"/>
            <a:ext cx="12192000" cy="378144"/>
            <a:chOff x="522892" y="124260"/>
            <a:chExt cx="10996651" cy="378144"/>
          </a:xfrm>
        </p:grpSpPr>
        <p:sp>
          <p:nvSpPr>
            <p:cNvPr id="14" name="Arrow: Chevron 3">
              <a:extLst>
                <a:ext uri="{FF2B5EF4-FFF2-40B4-BE49-F238E27FC236}">
                  <a16:creationId xmlns:a16="http://schemas.microsoft.com/office/drawing/2014/main" id="{4B6B7589-A268-6AC6-12CD-49ACF9262C1D}"/>
                </a:ext>
              </a:extLst>
            </p:cNvPr>
            <p:cNvSpPr/>
            <p:nvPr/>
          </p:nvSpPr>
          <p:spPr>
            <a:xfrm>
              <a:off x="522892" y="143574"/>
              <a:ext cx="1855565" cy="35083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Addressable Ecommerce Market</a:t>
              </a:r>
            </a:p>
          </p:txBody>
        </p:sp>
        <p:sp>
          <p:nvSpPr>
            <p:cNvPr id="21" name="Arrow: Chevron 5">
              <a:extLst>
                <a:ext uri="{FF2B5EF4-FFF2-40B4-BE49-F238E27FC236}">
                  <a16:creationId xmlns:a16="http://schemas.microsoft.com/office/drawing/2014/main" id="{2F0CB302-ACCB-8C5A-E26D-493BF89365ED}"/>
                </a:ext>
              </a:extLst>
            </p:cNvPr>
            <p:cNvSpPr/>
            <p:nvPr/>
          </p:nvSpPr>
          <p:spPr>
            <a:xfrm>
              <a:off x="2291973" y="151322"/>
              <a:ext cx="1955142" cy="35083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Segmentation &amp; Cluster Analysis</a:t>
              </a:r>
            </a:p>
          </p:txBody>
        </p:sp>
        <p:sp>
          <p:nvSpPr>
            <p:cNvPr id="22" name="Arrow: Chevron 6">
              <a:extLst>
                <a:ext uri="{FF2B5EF4-FFF2-40B4-BE49-F238E27FC236}">
                  <a16:creationId xmlns:a16="http://schemas.microsoft.com/office/drawing/2014/main" id="{5859DD77-F253-B161-591B-CAB4124B9E4C}"/>
                </a:ext>
              </a:extLst>
            </p:cNvPr>
            <p:cNvSpPr/>
            <p:nvPr/>
          </p:nvSpPr>
          <p:spPr>
            <a:xfrm>
              <a:off x="4140858" y="135602"/>
              <a:ext cx="1955142" cy="36655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Competitor Benchmarking</a:t>
              </a:r>
            </a:p>
          </p:txBody>
        </p:sp>
        <p:sp>
          <p:nvSpPr>
            <p:cNvPr id="24" name="Arrow: Chevron 7">
              <a:extLst>
                <a:ext uri="{FF2B5EF4-FFF2-40B4-BE49-F238E27FC236}">
                  <a16:creationId xmlns:a16="http://schemas.microsoft.com/office/drawing/2014/main" id="{453403D4-AA59-65EE-3F91-0491D7FB405E}"/>
                </a:ext>
              </a:extLst>
            </p:cNvPr>
            <p:cNvSpPr/>
            <p:nvPr/>
          </p:nvSpPr>
          <p:spPr>
            <a:xfrm>
              <a:off x="6027274" y="134750"/>
              <a:ext cx="1954629" cy="36765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Channel Strategy &amp; Portfolio Strategy</a:t>
              </a:r>
            </a:p>
          </p:txBody>
        </p:sp>
        <p:sp>
          <p:nvSpPr>
            <p:cNvPr id="26" name="Arrow: Chevron 8">
              <a:extLst>
                <a:ext uri="{FF2B5EF4-FFF2-40B4-BE49-F238E27FC236}">
                  <a16:creationId xmlns:a16="http://schemas.microsoft.com/office/drawing/2014/main" id="{22732226-68A5-158F-AC81-230541C5194E}"/>
                </a:ext>
              </a:extLst>
            </p:cNvPr>
            <p:cNvSpPr/>
            <p:nvPr/>
          </p:nvSpPr>
          <p:spPr>
            <a:xfrm>
              <a:off x="7876159" y="131844"/>
              <a:ext cx="1813329" cy="370311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Digital Marketing Mix</a:t>
              </a:r>
            </a:p>
          </p:txBody>
        </p:sp>
        <p:sp>
          <p:nvSpPr>
            <p:cNvPr id="29" name="Arrow: Chevron 11">
              <a:extLst>
                <a:ext uri="{FF2B5EF4-FFF2-40B4-BE49-F238E27FC236}">
                  <a16:creationId xmlns:a16="http://schemas.microsoft.com/office/drawing/2014/main" id="{31BEA2D7-3047-10A3-AB0B-61ECD09BEC3E}"/>
                </a:ext>
              </a:extLst>
            </p:cNvPr>
            <p:cNvSpPr/>
            <p:nvPr/>
          </p:nvSpPr>
          <p:spPr>
            <a:xfrm>
              <a:off x="9584173" y="124260"/>
              <a:ext cx="1935370" cy="359680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Campaigns &amp; Feasibility Analysis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85476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457BDB-DE99-FC67-004D-8E3FFD4419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23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9B37723-169A-A065-5603-294286E58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36" y="859347"/>
            <a:ext cx="10906125" cy="295466"/>
          </a:xfrm>
        </p:spPr>
        <p:txBody>
          <a:bodyPr/>
          <a:lstStyle/>
          <a:p>
            <a:r>
              <a:rPr lang="en-US" sz="2400"/>
              <a:t>ABC needs to widen its marketing funnel, follow a holistic digital strategy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D9F5579-FC8A-E948-7D0B-5B6972BB0DE7}"/>
              </a:ext>
            </a:extLst>
          </p:cNvPr>
          <p:cNvGrpSpPr/>
          <p:nvPr/>
        </p:nvGrpSpPr>
        <p:grpSpPr>
          <a:xfrm>
            <a:off x="320119" y="2046718"/>
            <a:ext cx="3478878" cy="3165998"/>
            <a:chOff x="3357337" y="3077745"/>
            <a:chExt cx="2349647" cy="2138327"/>
          </a:xfrm>
          <a:effectLst/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451EC77-759D-09F7-A3A1-4BD8D2751558}"/>
                </a:ext>
              </a:extLst>
            </p:cNvPr>
            <p:cNvGrpSpPr/>
            <p:nvPr/>
          </p:nvGrpSpPr>
          <p:grpSpPr>
            <a:xfrm>
              <a:off x="3357337" y="3077745"/>
              <a:ext cx="2349647" cy="2138327"/>
              <a:chOff x="2308226" y="2162176"/>
              <a:chExt cx="4306887" cy="3919538"/>
            </a:xfrm>
          </p:grpSpPr>
          <p:sp>
            <p:nvSpPr>
              <p:cNvPr id="12" name="Freeform 10">
                <a:extLst>
                  <a:ext uri="{FF2B5EF4-FFF2-40B4-BE49-F238E27FC236}">
                    <a16:creationId xmlns:a16="http://schemas.microsoft.com/office/drawing/2014/main" id="{CC526741-528C-AAA9-D83A-949BA4763D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8226" y="2233613"/>
                <a:ext cx="4010025" cy="1473200"/>
              </a:xfrm>
              <a:custGeom>
                <a:avLst/>
                <a:gdLst>
                  <a:gd name="T0" fmla="*/ 43 w 1067"/>
                  <a:gd name="T1" fmla="*/ 68 h 392"/>
                  <a:gd name="T2" fmla="*/ 268 w 1067"/>
                  <a:gd name="T3" fmla="*/ 225 h 392"/>
                  <a:gd name="T4" fmla="*/ 874 w 1067"/>
                  <a:gd name="T5" fmla="*/ 392 h 392"/>
                  <a:gd name="T6" fmla="*/ 990 w 1067"/>
                  <a:gd name="T7" fmla="*/ 338 h 392"/>
                  <a:gd name="T8" fmla="*/ 977 w 1067"/>
                  <a:gd name="T9" fmla="*/ 315 h 392"/>
                  <a:gd name="T10" fmla="*/ 1014 w 1067"/>
                  <a:gd name="T11" fmla="*/ 291 h 392"/>
                  <a:gd name="T12" fmla="*/ 43 w 1067"/>
                  <a:gd name="T13" fmla="*/ 68 h 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67" h="392">
                    <a:moveTo>
                      <a:pt x="43" y="68"/>
                    </a:moveTo>
                    <a:cubicBezTo>
                      <a:pt x="58" y="93"/>
                      <a:pt x="137" y="165"/>
                      <a:pt x="268" y="225"/>
                    </a:cubicBezTo>
                    <a:cubicBezTo>
                      <a:pt x="510" y="272"/>
                      <a:pt x="802" y="345"/>
                      <a:pt x="874" y="392"/>
                    </a:cubicBezTo>
                    <a:cubicBezTo>
                      <a:pt x="941" y="386"/>
                      <a:pt x="990" y="364"/>
                      <a:pt x="990" y="338"/>
                    </a:cubicBezTo>
                    <a:cubicBezTo>
                      <a:pt x="990" y="329"/>
                      <a:pt x="985" y="322"/>
                      <a:pt x="977" y="315"/>
                    </a:cubicBezTo>
                    <a:cubicBezTo>
                      <a:pt x="994" y="309"/>
                      <a:pt x="1007" y="301"/>
                      <a:pt x="1014" y="291"/>
                    </a:cubicBezTo>
                    <a:cubicBezTo>
                      <a:pt x="1067" y="223"/>
                      <a:pt x="0" y="0"/>
                      <a:pt x="43" y="68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4288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endParaRPr>
              </a:p>
            </p:txBody>
          </p:sp>
          <p:sp>
            <p:nvSpPr>
              <p:cNvPr id="13" name="Freeform 11">
                <a:extLst>
                  <a:ext uri="{FF2B5EF4-FFF2-40B4-BE49-F238E27FC236}">
                    <a16:creationId xmlns:a16="http://schemas.microsoft.com/office/drawing/2014/main" id="{412D3ED3-A707-24DE-527F-A3BBD172C2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4801" y="3354388"/>
                <a:ext cx="2943225" cy="1465263"/>
              </a:xfrm>
              <a:custGeom>
                <a:avLst/>
                <a:gdLst>
                  <a:gd name="T0" fmla="*/ 42 w 783"/>
                  <a:gd name="T1" fmla="*/ 68 h 390"/>
                  <a:gd name="T2" fmla="*/ 405 w 783"/>
                  <a:gd name="T3" fmla="*/ 276 h 390"/>
                  <a:gd name="T4" fmla="*/ 389 w 783"/>
                  <a:gd name="T5" fmla="*/ 292 h 390"/>
                  <a:gd name="T6" fmla="*/ 609 w 783"/>
                  <a:gd name="T7" fmla="*/ 390 h 390"/>
                  <a:gd name="T8" fmla="*/ 679 w 783"/>
                  <a:gd name="T9" fmla="*/ 344 h 390"/>
                  <a:gd name="T10" fmla="*/ 730 w 783"/>
                  <a:gd name="T11" fmla="*/ 311 h 390"/>
                  <a:gd name="T12" fmla="*/ 42 w 783"/>
                  <a:gd name="T13" fmla="*/ 68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3" h="390">
                    <a:moveTo>
                      <a:pt x="42" y="68"/>
                    </a:moveTo>
                    <a:cubicBezTo>
                      <a:pt x="62" y="101"/>
                      <a:pt x="192" y="214"/>
                      <a:pt x="405" y="276"/>
                    </a:cubicBezTo>
                    <a:cubicBezTo>
                      <a:pt x="399" y="281"/>
                      <a:pt x="393" y="287"/>
                      <a:pt x="389" y="292"/>
                    </a:cubicBezTo>
                    <a:cubicBezTo>
                      <a:pt x="482" y="326"/>
                      <a:pt x="564" y="361"/>
                      <a:pt x="609" y="390"/>
                    </a:cubicBezTo>
                    <a:cubicBezTo>
                      <a:pt x="642" y="380"/>
                      <a:pt x="668" y="364"/>
                      <a:pt x="679" y="344"/>
                    </a:cubicBezTo>
                    <a:cubicBezTo>
                      <a:pt x="708" y="349"/>
                      <a:pt x="707" y="340"/>
                      <a:pt x="730" y="311"/>
                    </a:cubicBezTo>
                    <a:cubicBezTo>
                      <a:pt x="783" y="242"/>
                      <a:pt x="0" y="0"/>
                      <a:pt x="42" y="68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14288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endParaRPr>
              </a:p>
            </p:txBody>
          </p:sp>
          <p:sp>
            <p:nvSpPr>
              <p:cNvPr id="15" name="Freeform 6">
                <a:extLst>
                  <a:ext uri="{FF2B5EF4-FFF2-40B4-BE49-F238E27FC236}">
                    <a16:creationId xmlns:a16="http://schemas.microsoft.com/office/drawing/2014/main" id="{C4394B82-204F-B60A-2300-FCF501565A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9838" y="2162176"/>
                <a:ext cx="4105275" cy="1368425"/>
              </a:xfrm>
              <a:custGeom>
                <a:avLst/>
                <a:gdLst>
                  <a:gd name="T0" fmla="*/ 1019 w 1092"/>
                  <a:gd name="T1" fmla="*/ 211 h 364"/>
                  <a:gd name="T2" fmla="*/ 536 w 1092"/>
                  <a:gd name="T3" fmla="*/ 334 h 364"/>
                  <a:gd name="T4" fmla="*/ 100 w 1092"/>
                  <a:gd name="T5" fmla="*/ 285 h 364"/>
                  <a:gd name="T6" fmla="*/ 0 w 1092"/>
                  <a:gd name="T7" fmla="*/ 103 h 364"/>
                  <a:gd name="T8" fmla="*/ 546 w 1092"/>
                  <a:gd name="T9" fmla="*/ 144 h 364"/>
                  <a:gd name="T10" fmla="*/ 1092 w 1092"/>
                  <a:gd name="T11" fmla="*/ 0 h 364"/>
                  <a:gd name="T12" fmla="*/ 1019 w 1092"/>
                  <a:gd name="T13" fmla="*/ 211 h 3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92" h="364">
                    <a:moveTo>
                      <a:pt x="1019" y="211"/>
                    </a:moveTo>
                    <a:cubicBezTo>
                      <a:pt x="1019" y="211"/>
                      <a:pt x="941" y="301"/>
                      <a:pt x="536" y="334"/>
                    </a:cubicBezTo>
                    <a:cubicBezTo>
                      <a:pt x="175" y="364"/>
                      <a:pt x="100" y="285"/>
                      <a:pt x="100" y="285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3"/>
                      <a:pt x="118" y="182"/>
                      <a:pt x="546" y="144"/>
                    </a:cubicBezTo>
                    <a:cubicBezTo>
                      <a:pt x="981" y="104"/>
                      <a:pt x="1092" y="0"/>
                      <a:pt x="1092" y="0"/>
                    </a:cubicBezTo>
                    <a:lnTo>
                      <a:pt x="1019" y="211"/>
                    </a:ln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14288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endParaRPr>
              </a:p>
            </p:txBody>
          </p:sp>
          <p:sp>
            <p:nvSpPr>
              <p:cNvPr id="16" name="Freeform 7">
                <a:extLst>
                  <a:ext uri="{FF2B5EF4-FFF2-40B4-BE49-F238E27FC236}">
                    <a16:creationId xmlns:a16="http://schemas.microsoft.com/office/drawing/2014/main" id="{D12DD839-C72F-D518-32D6-084600614F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7838" y="3316288"/>
                <a:ext cx="3108325" cy="1228725"/>
              </a:xfrm>
              <a:custGeom>
                <a:avLst/>
                <a:gdLst>
                  <a:gd name="T0" fmla="*/ 748 w 827"/>
                  <a:gd name="T1" fmla="*/ 211 h 327"/>
                  <a:gd name="T2" fmla="*/ 407 w 827"/>
                  <a:gd name="T3" fmla="*/ 305 h 327"/>
                  <a:gd name="T4" fmla="*/ 111 w 827"/>
                  <a:gd name="T5" fmla="*/ 268 h 327"/>
                  <a:gd name="T6" fmla="*/ 0 w 827"/>
                  <a:gd name="T7" fmla="*/ 83 h 327"/>
                  <a:gd name="T8" fmla="*/ 416 w 827"/>
                  <a:gd name="T9" fmla="*/ 113 h 327"/>
                  <a:gd name="T10" fmla="*/ 827 w 827"/>
                  <a:gd name="T11" fmla="*/ 0 h 327"/>
                  <a:gd name="T12" fmla="*/ 748 w 827"/>
                  <a:gd name="T13" fmla="*/ 211 h 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27" h="327">
                    <a:moveTo>
                      <a:pt x="748" y="211"/>
                    </a:moveTo>
                    <a:cubicBezTo>
                      <a:pt x="748" y="211"/>
                      <a:pt x="711" y="279"/>
                      <a:pt x="407" y="305"/>
                    </a:cubicBezTo>
                    <a:cubicBezTo>
                      <a:pt x="135" y="327"/>
                      <a:pt x="111" y="268"/>
                      <a:pt x="111" y="268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83"/>
                      <a:pt x="94" y="142"/>
                      <a:pt x="416" y="113"/>
                    </a:cubicBezTo>
                    <a:cubicBezTo>
                      <a:pt x="743" y="83"/>
                      <a:pt x="827" y="0"/>
                      <a:pt x="827" y="0"/>
                    </a:cubicBezTo>
                    <a:lnTo>
                      <a:pt x="748" y="211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 w="14288" cap="flat">
                <a:solidFill>
                  <a:schemeClr val="accent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endParaRPr>
              </a:p>
            </p:txBody>
          </p:sp>
          <p:sp>
            <p:nvSpPr>
              <p:cNvPr id="17" name="Freeform 9">
                <a:extLst>
                  <a:ext uri="{FF2B5EF4-FFF2-40B4-BE49-F238E27FC236}">
                    <a16:creationId xmlns:a16="http://schemas.microsoft.com/office/drawing/2014/main" id="{F368C090-E79E-AD63-EEC6-BBCD86CE26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8526" y="4511676"/>
                <a:ext cx="1830388" cy="1570038"/>
              </a:xfrm>
              <a:custGeom>
                <a:avLst/>
                <a:gdLst>
                  <a:gd name="T0" fmla="*/ 251 w 487"/>
                  <a:gd name="T1" fmla="*/ 261 h 418"/>
                  <a:gd name="T2" fmla="*/ 458 w 487"/>
                  <a:gd name="T3" fmla="*/ 413 h 418"/>
                  <a:gd name="T4" fmla="*/ 483 w 487"/>
                  <a:gd name="T5" fmla="*/ 280 h 418"/>
                  <a:gd name="T6" fmla="*/ 42 w 487"/>
                  <a:gd name="T7" fmla="*/ 68 h 418"/>
                  <a:gd name="T8" fmla="*/ 251 w 487"/>
                  <a:gd name="T9" fmla="*/ 261 h 4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7" h="418">
                    <a:moveTo>
                      <a:pt x="251" y="261"/>
                    </a:moveTo>
                    <a:cubicBezTo>
                      <a:pt x="355" y="309"/>
                      <a:pt x="454" y="370"/>
                      <a:pt x="458" y="413"/>
                    </a:cubicBezTo>
                    <a:cubicBezTo>
                      <a:pt x="458" y="418"/>
                      <a:pt x="487" y="321"/>
                      <a:pt x="483" y="280"/>
                    </a:cubicBezTo>
                    <a:cubicBezTo>
                      <a:pt x="475" y="185"/>
                      <a:pt x="0" y="0"/>
                      <a:pt x="42" y="68"/>
                    </a:cubicBezTo>
                    <a:cubicBezTo>
                      <a:pt x="50" y="81"/>
                      <a:pt x="176" y="226"/>
                      <a:pt x="251" y="261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</a:schemeClr>
              </a:solidFill>
              <a:ln w="14288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endParaRPr>
              </a:p>
            </p:txBody>
          </p:sp>
          <p:sp>
            <p:nvSpPr>
              <p:cNvPr id="18" name="Freeform 12">
                <a:extLst>
                  <a:ext uri="{FF2B5EF4-FFF2-40B4-BE49-F238E27FC236}">
                    <a16:creationId xmlns:a16="http://schemas.microsoft.com/office/drawing/2014/main" id="{0582A760-9F61-CC8E-7A43-55032AAD87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4738" y="4533901"/>
                <a:ext cx="1962150" cy="1011238"/>
              </a:xfrm>
              <a:custGeom>
                <a:avLst/>
                <a:gdLst>
                  <a:gd name="T0" fmla="*/ 455 w 522"/>
                  <a:gd name="T1" fmla="*/ 186 h 269"/>
                  <a:gd name="T2" fmla="*/ 265 w 522"/>
                  <a:gd name="T3" fmla="*/ 251 h 269"/>
                  <a:gd name="T4" fmla="*/ 88 w 522"/>
                  <a:gd name="T5" fmla="*/ 220 h 269"/>
                  <a:gd name="T6" fmla="*/ 0 w 522"/>
                  <a:gd name="T7" fmla="*/ 65 h 269"/>
                  <a:gd name="T8" fmla="*/ 257 w 522"/>
                  <a:gd name="T9" fmla="*/ 79 h 269"/>
                  <a:gd name="T10" fmla="*/ 522 w 522"/>
                  <a:gd name="T11" fmla="*/ 0 h 269"/>
                  <a:gd name="T12" fmla="*/ 455 w 522"/>
                  <a:gd name="T13" fmla="*/ 186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2" h="269">
                    <a:moveTo>
                      <a:pt x="455" y="186"/>
                    </a:moveTo>
                    <a:cubicBezTo>
                      <a:pt x="455" y="186"/>
                      <a:pt x="441" y="228"/>
                      <a:pt x="265" y="251"/>
                    </a:cubicBezTo>
                    <a:cubicBezTo>
                      <a:pt x="121" y="269"/>
                      <a:pt x="88" y="220"/>
                      <a:pt x="88" y="220"/>
                    </a:cubicBezTo>
                    <a:cubicBezTo>
                      <a:pt x="0" y="65"/>
                      <a:pt x="0" y="65"/>
                      <a:pt x="0" y="65"/>
                    </a:cubicBezTo>
                    <a:cubicBezTo>
                      <a:pt x="0" y="65"/>
                      <a:pt x="47" y="104"/>
                      <a:pt x="257" y="79"/>
                    </a:cubicBezTo>
                    <a:cubicBezTo>
                      <a:pt x="470" y="54"/>
                      <a:pt x="522" y="0"/>
                      <a:pt x="522" y="0"/>
                    </a:cubicBezTo>
                    <a:lnTo>
                      <a:pt x="455" y="186"/>
                    </a:ln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 w="14288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D5453C7-520D-4E28-5804-9AED0CF40F72}"/>
                </a:ext>
              </a:extLst>
            </p:cNvPr>
            <p:cNvSpPr/>
            <p:nvPr/>
          </p:nvSpPr>
          <p:spPr>
            <a:xfrm>
              <a:off x="4225962" y="4609265"/>
              <a:ext cx="754127" cy="1937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8B1D132-5DC5-9BDF-EF1A-0876D3D4BEFF}"/>
                </a:ext>
              </a:extLst>
            </p:cNvPr>
            <p:cNvSpPr/>
            <p:nvPr/>
          </p:nvSpPr>
          <p:spPr>
            <a:xfrm>
              <a:off x="3973979" y="3998602"/>
              <a:ext cx="1166596" cy="2746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06B1FE4-0B03-E248-1CF9-B8125166C3E9}"/>
                </a:ext>
              </a:extLst>
            </p:cNvPr>
            <p:cNvSpPr/>
            <p:nvPr/>
          </p:nvSpPr>
          <p:spPr>
            <a:xfrm>
              <a:off x="3871978" y="3431226"/>
              <a:ext cx="1383784" cy="2746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Awareness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D9B711D-5FDC-3911-31B7-EBBD3284E86C}"/>
              </a:ext>
            </a:extLst>
          </p:cNvPr>
          <p:cNvSpPr txBox="1"/>
          <p:nvPr/>
        </p:nvSpPr>
        <p:spPr>
          <a:xfrm>
            <a:off x="1460012" y="3493451"/>
            <a:ext cx="2430966" cy="64677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US" sz="1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Consideration</a:t>
            </a:r>
          </a:p>
          <a:p>
            <a:pPr algn="l" defTabSz="228600">
              <a:spcAft>
                <a:spcPts val="1200"/>
              </a:spcAft>
            </a:pPr>
            <a:endParaRPr lang="en-US" sz="1400" noProof="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6345B3-15A1-18AC-2159-6DCE084CB55A}"/>
              </a:ext>
            </a:extLst>
          </p:cNvPr>
          <p:cNvSpPr txBox="1"/>
          <p:nvPr/>
        </p:nvSpPr>
        <p:spPr>
          <a:xfrm>
            <a:off x="1720876" y="4346525"/>
            <a:ext cx="2442117" cy="7136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/>
              <a:t>Purchase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FA1C08B-9EB3-B3AA-6CEB-5C4FF32C6384}"/>
              </a:ext>
            </a:extLst>
          </p:cNvPr>
          <p:cNvGrpSpPr/>
          <p:nvPr/>
        </p:nvGrpSpPr>
        <p:grpSpPr>
          <a:xfrm>
            <a:off x="3477388" y="1641581"/>
            <a:ext cx="2834204" cy="1536517"/>
            <a:chOff x="4146459" y="1831151"/>
            <a:chExt cx="2834204" cy="1536517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3C3D001-F837-1510-3596-D861EC2D76AD}"/>
                </a:ext>
              </a:extLst>
            </p:cNvPr>
            <p:cNvGrpSpPr/>
            <p:nvPr/>
          </p:nvGrpSpPr>
          <p:grpSpPr>
            <a:xfrm>
              <a:off x="4146459" y="1980440"/>
              <a:ext cx="810422" cy="872315"/>
              <a:chOff x="4146459" y="2136555"/>
              <a:chExt cx="810422" cy="872315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59946149-612E-B48B-BDA8-5F6FC0DE5B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46459" y="2556394"/>
                <a:ext cx="793531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C0FE385D-0B84-322F-3526-07C5501A27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6881" y="2136555"/>
                <a:ext cx="0" cy="872315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358C218-D751-2326-FC7A-4B96E0C85F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53571" y="1980440"/>
              <a:ext cx="514368" cy="0"/>
            </a:xfrm>
            <a:prstGeom prst="line">
              <a:avLst/>
            </a:prstGeom>
            <a:ln w="1905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1886DCE-8F2B-791A-AC90-F138DD2586E8}"/>
                </a:ext>
              </a:extLst>
            </p:cNvPr>
            <p:cNvSpPr txBox="1"/>
            <p:nvPr/>
          </p:nvSpPr>
          <p:spPr>
            <a:xfrm>
              <a:off x="6980663" y="3367668"/>
              <a:ext cx="0" cy="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endParaRPr lang="en-US" sz="1200" noProof="0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FEE762D-32C5-62EE-CFE7-A875146E4A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53571" y="2850197"/>
              <a:ext cx="514368" cy="0"/>
            </a:xfrm>
            <a:prstGeom prst="line">
              <a:avLst/>
            </a:prstGeom>
            <a:ln w="1905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65D2EA79-ED72-AA00-9508-E8C5B4A8C51C}"/>
                </a:ext>
              </a:extLst>
            </p:cNvPr>
            <p:cNvSpPr/>
            <p:nvPr/>
          </p:nvSpPr>
          <p:spPr>
            <a:xfrm>
              <a:off x="5564459" y="1831151"/>
              <a:ext cx="1226634" cy="331772"/>
            </a:xfrm>
            <a:prstGeom prst="roundRect">
              <a:avLst/>
            </a:prstGeom>
            <a:noFill/>
            <a:ln w="1905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US" sz="1200">
                  <a:solidFill>
                    <a:schemeClr val="accent6">
                      <a:lumMod val="75000"/>
                    </a:schemeClr>
                  </a:solidFill>
                </a:rPr>
                <a:t>Online SEO</a:t>
              </a:r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715D950C-A329-8F6B-67DC-905C3AC5543D}"/>
                </a:ext>
              </a:extLst>
            </p:cNvPr>
            <p:cNvSpPr/>
            <p:nvPr/>
          </p:nvSpPr>
          <p:spPr>
            <a:xfrm>
              <a:off x="5564459" y="2236930"/>
              <a:ext cx="1226634" cy="331772"/>
            </a:xfrm>
            <a:prstGeom prst="roundRect">
              <a:avLst/>
            </a:prstGeom>
            <a:noFill/>
            <a:ln w="1905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US" sz="1200">
                  <a:solidFill>
                    <a:schemeClr val="accent6">
                      <a:lumMod val="75000"/>
                    </a:schemeClr>
                  </a:solidFill>
                </a:rPr>
                <a:t>Offline SEO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0B9D8652-3088-8945-13A0-763D637E8D6B}"/>
                </a:ext>
              </a:extLst>
            </p:cNvPr>
            <p:cNvSpPr/>
            <p:nvPr/>
          </p:nvSpPr>
          <p:spPr>
            <a:xfrm>
              <a:off x="5564459" y="2640913"/>
              <a:ext cx="1226634" cy="331772"/>
            </a:xfrm>
            <a:prstGeom prst="roundRect">
              <a:avLst/>
            </a:prstGeom>
            <a:noFill/>
            <a:ln w="1905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marL="9525" algn="ctr">
                <a:tabLst>
                  <a:tab pos="927100" algn="l"/>
                </a:tabLst>
              </a:pPr>
              <a:r>
                <a:rPr lang="en-US" sz="1200" dirty="0">
                  <a:solidFill>
                    <a:schemeClr val="accent6">
                      <a:lumMod val="75000"/>
                    </a:schemeClr>
                  </a:solidFill>
                </a:rPr>
                <a:t>Instagram Ads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3C94784-785C-A3A0-210F-03B77963C1FA}"/>
              </a:ext>
            </a:extLst>
          </p:cNvPr>
          <p:cNvGrpSpPr/>
          <p:nvPr/>
        </p:nvGrpSpPr>
        <p:grpSpPr>
          <a:xfrm>
            <a:off x="3119344" y="3064479"/>
            <a:ext cx="3193146" cy="1539156"/>
            <a:chOff x="3787517" y="1828512"/>
            <a:chExt cx="3193146" cy="1539156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0831C58-160E-4ED4-2D0B-7AE91BAA421D}"/>
                </a:ext>
              </a:extLst>
            </p:cNvPr>
            <p:cNvGrpSpPr/>
            <p:nvPr/>
          </p:nvGrpSpPr>
          <p:grpSpPr>
            <a:xfrm>
              <a:off x="3787517" y="1980440"/>
              <a:ext cx="1169364" cy="872315"/>
              <a:chOff x="3787517" y="2136555"/>
              <a:chExt cx="1169364" cy="872315"/>
            </a:xfrm>
          </p:grpSpPr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1CA634D9-F364-A2B0-8C74-03465893CF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87517" y="2572712"/>
                <a:ext cx="11573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E01EE34A-E936-6F71-9986-507975A928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6881" y="2136555"/>
                <a:ext cx="0" cy="872315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FCB3264-A766-8C43-6B28-9311F7ECA8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53571" y="1980440"/>
              <a:ext cx="514368" cy="0"/>
            </a:xfrm>
            <a:prstGeom prst="line">
              <a:avLst/>
            </a:prstGeom>
            <a:ln w="1905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57002A3-E703-B75C-59B3-78ED4BC74A93}"/>
                </a:ext>
              </a:extLst>
            </p:cNvPr>
            <p:cNvSpPr txBox="1"/>
            <p:nvPr/>
          </p:nvSpPr>
          <p:spPr>
            <a:xfrm>
              <a:off x="6980663" y="3367668"/>
              <a:ext cx="0" cy="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endParaRPr lang="en-US" sz="1200" noProof="0"/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47939D2-0821-262E-C7CE-E87E24F5D0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53571" y="2850197"/>
              <a:ext cx="514368" cy="0"/>
            </a:xfrm>
            <a:prstGeom prst="line">
              <a:avLst/>
            </a:prstGeom>
            <a:ln w="1905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E4D14BBC-FA73-5100-8C5D-D6F1334AA547}"/>
                </a:ext>
              </a:extLst>
            </p:cNvPr>
            <p:cNvSpPr/>
            <p:nvPr/>
          </p:nvSpPr>
          <p:spPr>
            <a:xfrm>
              <a:off x="5563561" y="1828512"/>
              <a:ext cx="1226634" cy="331772"/>
            </a:xfrm>
            <a:prstGeom prst="roundRect">
              <a:avLst/>
            </a:prstGeom>
            <a:noFill/>
            <a:ln w="1905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US" sz="1200">
                  <a:solidFill>
                    <a:schemeClr val="accent6">
                      <a:lumMod val="75000"/>
                    </a:schemeClr>
                  </a:solidFill>
                </a:rPr>
                <a:t>Video Ads</a:t>
              </a:r>
            </a:p>
          </p:txBody>
        </p:sp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613FB9DC-51DA-03CF-3127-2B8C18707AE3}"/>
                </a:ext>
              </a:extLst>
            </p:cNvPr>
            <p:cNvSpPr/>
            <p:nvPr/>
          </p:nvSpPr>
          <p:spPr>
            <a:xfrm>
              <a:off x="5564459" y="2236930"/>
              <a:ext cx="1226634" cy="331772"/>
            </a:xfrm>
            <a:prstGeom prst="roundRect">
              <a:avLst/>
            </a:prstGeom>
            <a:noFill/>
            <a:ln w="1905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US" sz="1200">
                  <a:solidFill>
                    <a:schemeClr val="accent6">
                      <a:lumMod val="75000"/>
                    </a:schemeClr>
                  </a:solidFill>
                </a:rPr>
                <a:t>Copymining</a:t>
              </a:r>
            </a:p>
          </p:txBody>
        </p:sp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E6C56F6D-FBF0-EE28-9F5A-7C959C0005D9}"/>
                </a:ext>
              </a:extLst>
            </p:cNvPr>
            <p:cNvSpPr/>
            <p:nvPr/>
          </p:nvSpPr>
          <p:spPr>
            <a:xfrm>
              <a:off x="5563561" y="2640070"/>
              <a:ext cx="1226634" cy="331772"/>
            </a:xfrm>
            <a:prstGeom prst="roundRect">
              <a:avLst/>
            </a:prstGeom>
            <a:noFill/>
            <a:ln w="1905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sz="120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F2B9B44-21AD-98F9-766F-D833292C920A}"/>
                </a:ext>
              </a:extLst>
            </p:cNvPr>
            <p:cNvSpPr txBox="1"/>
            <p:nvPr/>
          </p:nvSpPr>
          <p:spPr>
            <a:xfrm>
              <a:off x="5597912" y="2739603"/>
              <a:ext cx="1136911" cy="33177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defTabSz="228600">
                <a:spcAft>
                  <a:spcPts val="1200"/>
                </a:spcAft>
              </a:pPr>
              <a:r>
                <a:rPr lang="en-US" sz="1200">
                  <a:solidFill>
                    <a:schemeClr val="accent6">
                      <a:lumMod val="75000"/>
                    </a:schemeClr>
                  </a:solidFill>
                </a:rPr>
                <a:t>Advertorials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66D46E5-4972-BF6E-3E73-7509AE2DECD4}"/>
              </a:ext>
            </a:extLst>
          </p:cNvPr>
          <p:cNvGrpSpPr/>
          <p:nvPr/>
        </p:nvGrpSpPr>
        <p:grpSpPr>
          <a:xfrm>
            <a:off x="2675495" y="4440047"/>
            <a:ext cx="3446527" cy="1190957"/>
            <a:chOff x="3344566" y="4026130"/>
            <a:chExt cx="3446527" cy="1190957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BF10524-AAA0-EA3D-4A79-3FBFA03FBC92}"/>
                </a:ext>
              </a:extLst>
            </p:cNvPr>
            <p:cNvGrpSpPr/>
            <p:nvPr/>
          </p:nvGrpSpPr>
          <p:grpSpPr>
            <a:xfrm>
              <a:off x="3344566" y="4178886"/>
              <a:ext cx="1601229" cy="872315"/>
              <a:chOff x="3360741" y="2136555"/>
              <a:chExt cx="1601229" cy="872315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98301EB5-9902-A762-B8CB-54CFBACB6C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0741" y="2556394"/>
                <a:ext cx="1601229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8476EDC-6DFA-B4FE-25EC-EB4A9CBA87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6881" y="2136555"/>
                <a:ext cx="0" cy="872315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1EF3913-0A94-226B-5BCD-678AE11735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7396" y="4178886"/>
              <a:ext cx="514368" cy="0"/>
            </a:xfrm>
            <a:prstGeom prst="line">
              <a:avLst/>
            </a:prstGeom>
            <a:ln w="1905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6DDAC8C-283F-9FD9-5A27-ADB5FF4FC4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7396" y="5054307"/>
              <a:ext cx="514368" cy="0"/>
            </a:xfrm>
            <a:prstGeom prst="line">
              <a:avLst/>
            </a:prstGeom>
            <a:ln w="1905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4A4EB872-8AF3-F0D6-9B35-307567CFE4A3}"/>
                </a:ext>
              </a:extLst>
            </p:cNvPr>
            <p:cNvSpPr/>
            <p:nvPr/>
          </p:nvSpPr>
          <p:spPr>
            <a:xfrm>
              <a:off x="5564459" y="4026130"/>
              <a:ext cx="1226634" cy="331772"/>
            </a:xfrm>
            <a:prstGeom prst="roundRect">
              <a:avLst/>
            </a:prstGeom>
            <a:noFill/>
            <a:ln w="1905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US" sz="1200">
                  <a:solidFill>
                    <a:schemeClr val="accent6">
                      <a:lumMod val="75000"/>
                    </a:schemeClr>
                  </a:solidFill>
                </a:rPr>
                <a:t>Occasion Marketing</a:t>
              </a: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72FB1359-A191-671C-EF99-DD7CAB00EB96}"/>
                </a:ext>
              </a:extLst>
            </p:cNvPr>
            <p:cNvSpPr/>
            <p:nvPr/>
          </p:nvSpPr>
          <p:spPr>
            <a:xfrm>
              <a:off x="5564459" y="4885315"/>
              <a:ext cx="1226634" cy="331772"/>
            </a:xfrm>
            <a:prstGeom prst="roundRect">
              <a:avLst/>
            </a:prstGeom>
            <a:noFill/>
            <a:ln w="1905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US" sz="1200">
                  <a:solidFill>
                    <a:schemeClr val="accent6">
                      <a:lumMod val="75000"/>
                    </a:schemeClr>
                  </a:solidFill>
                </a:rPr>
                <a:t>Personalized Emails</a:t>
              </a:r>
            </a:p>
          </p:txBody>
        </p:sp>
        <p:sp>
          <p:nvSpPr>
            <p:cNvPr id="62" name="Rounded Rectangle 61">
              <a:extLst>
                <a:ext uri="{FF2B5EF4-FFF2-40B4-BE49-F238E27FC236}">
                  <a16:creationId xmlns:a16="http://schemas.microsoft.com/office/drawing/2014/main" id="{F922E74F-FBF6-AC67-EBEB-88CA61C50A97}"/>
                </a:ext>
              </a:extLst>
            </p:cNvPr>
            <p:cNvSpPr/>
            <p:nvPr/>
          </p:nvSpPr>
          <p:spPr>
            <a:xfrm>
              <a:off x="5564459" y="4443720"/>
              <a:ext cx="1226634" cy="364949"/>
            </a:xfrm>
            <a:prstGeom prst="roundRect">
              <a:avLst/>
            </a:prstGeom>
            <a:noFill/>
            <a:ln w="1905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US" sz="1200">
                  <a:solidFill>
                    <a:schemeClr val="accent6">
                      <a:lumMod val="75000"/>
                    </a:schemeClr>
                  </a:solidFill>
                </a:rPr>
                <a:t>Promotional Campaigns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6C206D8-8DE3-830C-E3E3-72F3C216BF82}"/>
              </a:ext>
            </a:extLst>
          </p:cNvPr>
          <p:cNvGrpSpPr/>
          <p:nvPr/>
        </p:nvGrpSpPr>
        <p:grpSpPr>
          <a:xfrm>
            <a:off x="6362025" y="1382751"/>
            <a:ext cx="5336168" cy="4723480"/>
            <a:chOff x="6362025" y="1382751"/>
            <a:chExt cx="5336168" cy="4723480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138296D-7B8B-8380-0CF5-C758C748B85D}"/>
                </a:ext>
              </a:extLst>
            </p:cNvPr>
            <p:cNvSpPr txBox="1"/>
            <p:nvPr/>
          </p:nvSpPr>
          <p:spPr>
            <a:xfrm>
              <a:off x="7824486" y="1382751"/>
              <a:ext cx="2245065" cy="33177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pPr algn="ctr" defTabSz="228600">
                <a:spcAft>
                  <a:spcPts val="1200"/>
                </a:spcAft>
              </a:pPr>
              <a:r>
                <a:rPr lang="en-US" noProof="0">
                  <a:solidFill>
                    <a:schemeClr val="bg1"/>
                  </a:solidFill>
                </a:rPr>
                <a:t>Customer Journey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75999DB-65CB-35EE-7B77-5C89B41E91C7}"/>
                </a:ext>
              </a:extLst>
            </p:cNvPr>
            <p:cNvSpPr txBox="1"/>
            <p:nvPr/>
          </p:nvSpPr>
          <p:spPr>
            <a:xfrm>
              <a:off x="7225990" y="1790870"/>
              <a:ext cx="3992137" cy="1824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1200" i="1" noProof="0">
                  <a:solidFill>
                    <a:schemeClr val="bg1"/>
                  </a:solidFill>
                </a:rPr>
                <a:t>Home textiles is a high involvement buying industry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BF122D9-E075-496C-4573-4E7A516E6DED}"/>
                </a:ext>
              </a:extLst>
            </p:cNvPr>
            <p:cNvSpPr txBox="1"/>
            <p:nvPr/>
          </p:nvSpPr>
          <p:spPr>
            <a:xfrm>
              <a:off x="6726461" y="3009770"/>
              <a:ext cx="814039" cy="2275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defTabSz="228600">
                <a:spcAft>
                  <a:spcPts val="1200"/>
                </a:spcAft>
              </a:pPr>
              <a:r>
                <a:rPr lang="en-US" sz="1200" noProof="0">
                  <a:solidFill>
                    <a:schemeClr val="bg1"/>
                  </a:solidFill>
                </a:rPr>
                <a:t>Search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3B707286-E839-2B99-9C2D-04DA06152E6E}"/>
                </a:ext>
              </a:extLst>
            </p:cNvPr>
            <p:cNvSpPr txBox="1"/>
            <p:nvPr/>
          </p:nvSpPr>
          <p:spPr>
            <a:xfrm>
              <a:off x="7987189" y="3002826"/>
              <a:ext cx="814039" cy="2275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defTabSz="228600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</a:rPr>
                <a:t>Platform</a:t>
              </a:r>
              <a:endParaRPr lang="en-US" sz="1200" noProof="0">
                <a:solidFill>
                  <a:schemeClr val="bg1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7092445-7F77-09BE-2361-6C4C72A64AD1}"/>
                </a:ext>
              </a:extLst>
            </p:cNvPr>
            <p:cNvSpPr txBox="1"/>
            <p:nvPr/>
          </p:nvSpPr>
          <p:spPr>
            <a:xfrm>
              <a:off x="9247917" y="2999483"/>
              <a:ext cx="814039" cy="2275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defTabSz="228600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</a:rPr>
                <a:t>Compare</a:t>
              </a:r>
              <a:endParaRPr lang="en-US" sz="1200" noProof="0">
                <a:solidFill>
                  <a:schemeClr val="bg1"/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C416305-D787-2EC8-39F1-F7E568D77C6C}"/>
                </a:ext>
              </a:extLst>
            </p:cNvPr>
            <p:cNvSpPr txBox="1"/>
            <p:nvPr/>
          </p:nvSpPr>
          <p:spPr>
            <a:xfrm>
              <a:off x="10471961" y="3009770"/>
              <a:ext cx="814039" cy="2275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defTabSz="228600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</a:rPr>
                <a:t>Decision</a:t>
              </a:r>
              <a:endParaRPr lang="en-US" sz="1200" noProof="0">
                <a:solidFill>
                  <a:schemeClr val="bg1"/>
                </a:solidFill>
              </a:endParaRPr>
            </a:p>
          </p:txBody>
        </p:sp>
        <p:pic>
          <p:nvPicPr>
            <p:cNvPr id="72" name="Picture 2" descr="16,083 Google Icons - Free in SVG, PNG, ICO - IconScout">
              <a:extLst>
                <a:ext uri="{FF2B5EF4-FFF2-40B4-BE49-F238E27FC236}">
                  <a16:creationId xmlns:a16="http://schemas.microsoft.com/office/drawing/2014/main" id="{21CC2822-6221-6DA2-F1CD-D254DAEDA7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40689" y="2367981"/>
              <a:ext cx="461797" cy="4617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9FFFFF12-2DB8-B7E6-5C63-B68824EEF0C3}"/>
                </a:ext>
              </a:extLst>
            </p:cNvPr>
            <p:cNvGrpSpPr/>
            <p:nvPr/>
          </p:nvGrpSpPr>
          <p:grpSpPr>
            <a:xfrm>
              <a:off x="7995707" y="2246593"/>
              <a:ext cx="713348" cy="663836"/>
              <a:chOff x="7522539" y="2096275"/>
              <a:chExt cx="863152" cy="803242"/>
            </a:xfrm>
          </p:grpSpPr>
          <p:pic>
            <p:nvPicPr>
              <p:cNvPr id="73" name="Picture 4" descr="Amazon, buy, logo, online, shop icon - Free download">
                <a:extLst>
                  <a:ext uri="{FF2B5EF4-FFF2-40B4-BE49-F238E27FC236}">
                    <a16:creationId xmlns:a16="http://schemas.microsoft.com/office/drawing/2014/main" id="{778BEA04-75FB-2A0B-8660-BB8118A53D7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889" b="96000" l="1778" r="99111">
                            <a14:foregroundMark x1="25778" y1="37778" x2="25778" y2="37778"/>
                            <a14:foregroundMark x1="10222" y1="55556" x2="20000" y2="28444"/>
                            <a14:foregroundMark x1="20000" y1="28444" x2="34222" y2="10667"/>
                            <a14:foregroundMark x1="34222" y1="10667" x2="35111" y2="11111"/>
                            <a14:foregroundMark x1="13778" y1="49333" x2="60444" y2="81333"/>
                            <a14:foregroundMark x1="60444" y1="81333" x2="83111" y2="55556"/>
                            <a14:foregroundMark x1="83111" y1="55556" x2="80889" y2="32000"/>
                            <a14:foregroundMark x1="80889" y1="32000" x2="63111" y2="20444"/>
                            <a14:foregroundMark x1="63111" y1="20444" x2="31111" y2="18222"/>
                            <a14:foregroundMark x1="31111" y1="18222" x2="28444" y2="19111"/>
                            <a14:foregroundMark x1="0" y1="54222" x2="7111" y2="32889"/>
                            <a14:foregroundMark x1="7111" y1="32889" x2="25333" y2="9333"/>
                            <a14:foregroundMark x1="25333" y1="9333" x2="51556" y2="1333"/>
                            <a14:foregroundMark x1="51556" y1="1333" x2="56889" y2="1778"/>
                            <a14:foregroundMark x1="63111" y1="4000" x2="84444" y2="19111"/>
                            <a14:foregroundMark x1="84444" y1="19111" x2="92444" y2="38222"/>
                            <a14:foregroundMark x1="92444" y1="38222" x2="90222" y2="64444"/>
                            <a14:foregroundMark x1="90222" y1="64444" x2="74222" y2="82667"/>
                            <a14:foregroundMark x1="74222" y1="82667" x2="46667" y2="96444"/>
                            <a14:foregroundMark x1="46667" y1="96444" x2="28000" y2="84889"/>
                            <a14:foregroundMark x1="28000" y1="84889" x2="11556" y2="68000"/>
                            <a14:foregroundMark x1="11556" y1="68000" x2="11111" y2="47556"/>
                            <a14:foregroundMark x1="11111" y1="47556" x2="12000" y2="45778"/>
                            <a14:foregroundMark x1="6667" y1="72889" x2="1778" y2="52889"/>
                            <a14:foregroundMark x1="1778" y1="52889" x2="6667" y2="38222"/>
                            <a14:foregroundMark x1="62222" y1="51111" x2="62222" y2="51111"/>
                            <a14:foregroundMark x1="62222" y1="51111" x2="56889" y2="21778"/>
                            <a14:foregroundMark x1="56889" y1="21778" x2="48000" y2="47111"/>
                            <a14:foregroundMark x1="48000" y1="47111" x2="49778" y2="48889"/>
                            <a14:foregroundMark x1="42222" y1="19556" x2="21778" y2="48444"/>
                            <a14:foregroundMark x1="21778" y1="48444" x2="40000" y2="70222"/>
                            <a14:foregroundMark x1="40000" y1="70222" x2="68889" y2="58222"/>
                            <a14:foregroundMark x1="68889" y1="58222" x2="62667" y2="28444"/>
                            <a14:foregroundMark x1="62667" y1="28444" x2="44889" y2="16889"/>
                            <a14:foregroundMark x1="44889" y1="16889" x2="39111" y2="21333"/>
                            <a14:foregroundMark x1="52444" y1="37333" x2="31111" y2="52889"/>
                            <a14:foregroundMark x1="31111" y1="52889" x2="45778" y2="68889"/>
                            <a14:foregroundMark x1="45778" y1="68889" x2="64444" y2="60000"/>
                            <a14:foregroundMark x1="64444" y1="60000" x2="65333" y2="47556"/>
                            <a14:foregroundMark x1="96444" y1="67556" x2="99111" y2="45778"/>
                            <a14:foregroundMark x1="99111" y1="45778" x2="95556" y2="31556"/>
                            <a14:foregroundMark x1="37778" y1="26222" x2="51111" y2="32889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34741" y="2574690"/>
                <a:ext cx="324827" cy="3248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4" name="Picture 6" descr="Flipkart Bandra Kurla Complex 4000 51 - Container Service in 4000 51">
                <a:extLst>
                  <a:ext uri="{FF2B5EF4-FFF2-40B4-BE49-F238E27FC236}">
                    <a16:creationId xmlns:a16="http://schemas.microsoft.com/office/drawing/2014/main" id="{49E3CC43-0FBC-E416-ED44-579DAF79F50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0" b="95556" l="2222" r="96889">
                            <a14:foregroundMark x1="24000" y1="32889" x2="24000" y2="32889"/>
                            <a14:foregroundMark x1="24000" y1="32889" x2="43111" y2="12889"/>
                            <a14:foregroundMark x1="43111" y1="12889" x2="66667" y2="15111"/>
                            <a14:foregroundMark x1="66667" y1="15111" x2="67556" y2="26667"/>
                            <a14:foregroundMark x1="67556" y1="26667" x2="67111" y2="27556"/>
                            <a14:foregroundMark x1="0" y1="48444" x2="7010" y2="26178"/>
                            <a14:foregroundMark x1="8166" y1="23916" x2="27111" y2="7556"/>
                            <a14:foregroundMark x1="27111" y1="7556" x2="36767" y2="2261"/>
                            <a14:foregroundMark x1="5778" y1="29778" x2="444" y2="44000"/>
                            <a14:foregroundMark x1="444" y1="44000" x2="1778" y2="61333"/>
                            <a14:foregroundMark x1="4615" y1="65778" x2="15111" y2="82222"/>
                            <a14:foregroundMark x1="1778" y1="61333" x2="4615" y2="65778"/>
                            <a14:foregroundMark x1="15111" y1="82222" x2="35111" y2="95556"/>
                            <a14:foregroundMark x1="91111" y1="75111" x2="94667" y2="39111"/>
                            <a14:foregroundMark x1="94667" y1="39111" x2="87111" y2="26667"/>
                            <a14:foregroundMark x1="87111" y1="26667" x2="86667" y2="25778"/>
                            <a14:foregroundMark x1="1814" y1="63995" x2="889" y2="62222"/>
                            <a14:foregroundMark x1="6222" y1="72444" x2="3191" y2="66635"/>
                            <a14:foregroundMark x1="1048" y1="60946" x2="4621" y2="32367"/>
                            <a14:foregroundMark x1="889" y1="62222" x2="962" y2="61641"/>
                            <a14:foregroundMark x1="98222" y1="39111" x2="97333" y2="58667"/>
                            <a14:foregroundMark x1="97333" y1="58667" x2="96000" y2="60889"/>
                            <a14:foregroundMark x1="3645" y1="65778" x2="2222" y2="61333"/>
                            <a14:foregroundMark x1="5778" y1="72444" x2="3645" y2="65778"/>
                            <a14:backgroundMark x1="889" y1="67111" x2="0" y2="65333"/>
                            <a14:backgroundMark x1="2222" y1="68000" x2="0" y2="58222"/>
                            <a14:backgroundMark x1="0" y1="46667" x2="5333" y2="25778"/>
                            <a14:backgroundMark x1="5333" y1="25778" x2="9778" y2="19111"/>
                            <a14:backgroundMark x1="4889" y1="24889" x2="19111" y2="2667"/>
                            <a14:backgroundMark x1="37333" y1="1333" x2="44000" y2="889"/>
                            <a14:backgroundMark x1="4444" y1="72000" x2="1333" y2="65333"/>
                            <a14:backgroundMark x1="5778" y1="75111" x2="444" y2="65778"/>
                            <a14:backgroundMark x1="444" y1="65778" x2="444" y2="65778"/>
                            <a14:backgroundMark x1="5778" y1="73778" x2="1333" y2="62667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067130" y="2151445"/>
                <a:ext cx="318561" cy="3185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5" name="Picture 8" descr="Myntra PNG, Transparent Myntra LOGO Download - Free Transparent PNG Logos">
                <a:extLst>
                  <a:ext uri="{FF2B5EF4-FFF2-40B4-BE49-F238E27FC236}">
                    <a16:creationId xmlns:a16="http://schemas.microsoft.com/office/drawing/2014/main" id="{F89C0FB7-A9B1-BFD5-F89C-F486BEF8394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22539" y="2096275"/>
                <a:ext cx="564352" cy="56435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BA6B6FB3-F928-2500-021C-666B0E5E6DFC}"/>
                </a:ext>
              </a:extLst>
            </p:cNvPr>
            <p:cNvGrpSpPr/>
            <p:nvPr/>
          </p:nvGrpSpPr>
          <p:grpSpPr>
            <a:xfrm>
              <a:off x="9369955" y="2317337"/>
              <a:ext cx="586062" cy="710328"/>
              <a:chOff x="8642472" y="3356758"/>
              <a:chExt cx="644668" cy="781361"/>
            </a:xfrm>
          </p:grpSpPr>
          <p:pic>
            <p:nvPicPr>
              <p:cNvPr id="77" name="Graphic 76" descr="Open hand outline">
                <a:extLst>
                  <a:ext uri="{FF2B5EF4-FFF2-40B4-BE49-F238E27FC236}">
                    <a16:creationId xmlns:a16="http://schemas.microsoft.com/office/drawing/2014/main" id="{976E1FE3-0298-B0B6-7FB8-D6BFD27C03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8642472" y="3493451"/>
                <a:ext cx="644668" cy="644668"/>
              </a:xfrm>
              <a:prstGeom prst="rect">
                <a:avLst/>
              </a:prstGeom>
            </p:spPr>
          </p:pic>
          <p:pic>
            <p:nvPicPr>
              <p:cNvPr id="79" name="Graphic 78" descr="Coins outline">
                <a:extLst>
                  <a:ext uri="{FF2B5EF4-FFF2-40B4-BE49-F238E27FC236}">
                    <a16:creationId xmlns:a16="http://schemas.microsoft.com/office/drawing/2014/main" id="{3B8B5299-B45E-C78C-ED76-3C58B42976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8854733" y="3356758"/>
                <a:ext cx="367325" cy="367325"/>
              </a:xfrm>
              <a:prstGeom prst="rect">
                <a:avLst/>
              </a:prstGeom>
            </p:spPr>
          </p:pic>
        </p:grpSp>
        <p:pic>
          <p:nvPicPr>
            <p:cNvPr id="81" name="Graphic 80" descr="Shopping cart outline">
              <a:extLst>
                <a:ext uri="{FF2B5EF4-FFF2-40B4-BE49-F238E27FC236}">
                  <a16:creationId xmlns:a16="http://schemas.microsoft.com/office/drawing/2014/main" id="{010ACADF-784D-0283-6411-C7E5BAA27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563214" y="2300855"/>
              <a:ext cx="644668" cy="644668"/>
            </a:xfrm>
            <a:prstGeom prst="rect">
              <a:avLst/>
            </a:prstGeom>
          </p:spPr>
        </p:pic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FE349CF2-630F-D45D-D37A-390E54D2F449}"/>
                </a:ext>
              </a:extLst>
            </p:cNvPr>
            <p:cNvCxnSpPr/>
            <p:nvPr/>
          </p:nvCxnSpPr>
          <p:spPr>
            <a:xfrm>
              <a:off x="8056312" y="3817883"/>
              <a:ext cx="0" cy="228834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B9B06CB6-38E3-3BA3-AA23-E6E719BD58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2025" y="4216736"/>
              <a:ext cx="5023356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01B5A32-1EE2-6FEE-CBBE-B00680CA15FA}"/>
                </a:ext>
              </a:extLst>
            </p:cNvPr>
            <p:cNvCxnSpPr/>
            <p:nvPr/>
          </p:nvCxnSpPr>
          <p:spPr>
            <a:xfrm>
              <a:off x="10287848" y="3806160"/>
              <a:ext cx="0" cy="228834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95AD3C1E-FE2D-599C-4CAA-0069AEB042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2025" y="4701481"/>
              <a:ext cx="5023356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53272BD8-5618-65CC-62B9-A5CC9A72B3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2025" y="5212718"/>
              <a:ext cx="5023356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08A101FA-A986-B737-5C89-7E84CDF636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9173" y="5662122"/>
              <a:ext cx="5023356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9F09899-C7FE-9E2E-D506-1ABA53051E03}"/>
                </a:ext>
              </a:extLst>
            </p:cNvPr>
            <p:cNvSpPr txBox="1"/>
            <p:nvPr/>
          </p:nvSpPr>
          <p:spPr>
            <a:xfrm>
              <a:off x="6392402" y="4335013"/>
              <a:ext cx="1538194" cy="29379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</a:rPr>
                <a:t>Own Website</a:t>
              </a:r>
              <a:endParaRPr lang="en-US" sz="1200" noProof="0">
                <a:solidFill>
                  <a:schemeClr val="bg1"/>
                </a:solidFill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73A065D0-5A22-CE58-9DDB-B826139CDBD0}"/>
                </a:ext>
              </a:extLst>
            </p:cNvPr>
            <p:cNvSpPr txBox="1"/>
            <p:nvPr/>
          </p:nvSpPr>
          <p:spPr>
            <a:xfrm>
              <a:off x="8102963" y="4259839"/>
              <a:ext cx="2239349" cy="3689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Run effective SEO</a:t>
              </a:r>
            </a:p>
            <a:p>
              <a:pPr marL="171450" indent="-171450" algn="l" defTabSz="22860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Track metrics effectively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8982B576-2AF4-694B-B51D-5F15CDA6B5AD}"/>
                </a:ext>
              </a:extLst>
            </p:cNvPr>
            <p:cNvSpPr txBox="1"/>
            <p:nvPr/>
          </p:nvSpPr>
          <p:spPr>
            <a:xfrm>
              <a:off x="10388962" y="4269905"/>
              <a:ext cx="1309231" cy="3689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CTR</a:t>
              </a:r>
            </a:p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Brand Authority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396AF452-D6D8-1609-A3EB-3553A27EB950}"/>
                </a:ext>
              </a:extLst>
            </p:cNvPr>
            <p:cNvSpPr txBox="1"/>
            <p:nvPr/>
          </p:nvSpPr>
          <p:spPr>
            <a:xfrm>
              <a:off x="6392402" y="4852844"/>
              <a:ext cx="1538194" cy="29379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</a:rPr>
                <a:t>E-Commerce Affiliate</a:t>
              </a:r>
              <a:endParaRPr lang="en-US" sz="1200" noProof="0">
                <a:solidFill>
                  <a:schemeClr val="bg1"/>
                </a:solidFill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D3E91084-D44A-3489-4CC9-4C0E4E94D7DA}"/>
                </a:ext>
              </a:extLst>
            </p:cNvPr>
            <p:cNvSpPr txBox="1"/>
            <p:nvPr/>
          </p:nvSpPr>
          <p:spPr>
            <a:xfrm>
              <a:off x="8128242" y="4775925"/>
              <a:ext cx="2239349" cy="3689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Website &amp; Blogs </a:t>
              </a:r>
            </a:p>
            <a:p>
              <a:pPr marL="171450" indent="-171450" algn="l" defTabSz="22860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Easy to Manage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F5921135-2C4B-3B24-9C2E-7191F06ADF33}"/>
                </a:ext>
              </a:extLst>
            </p:cNvPr>
            <p:cNvSpPr txBox="1"/>
            <p:nvPr/>
          </p:nvSpPr>
          <p:spPr>
            <a:xfrm>
              <a:off x="6381515" y="5318222"/>
              <a:ext cx="1538194" cy="29379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</a:rPr>
                <a:t>E-Commerce PPC</a:t>
              </a:r>
              <a:endParaRPr lang="en-US" sz="1200" noProof="0">
                <a:solidFill>
                  <a:schemeClr val="bg1"/>
                </a:solidFill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E4951870-4807-BADE-8664-B144CA33CC4A}"/>
                </a:ext>
              </a:extLst>
            </p:cNvPr>
            <p:cNvSpPr txBox="1"/>
            <p:nvPr/>
          </p:nvSpPr>
          <p:spPr>
            <a:xfrm>
              <a:off x="8128242" y="5245464"/>
              <a:ext cx="2239349" cy="3689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Widen Consideration Set </a:t>
              </a:r>
            </a:p>
            <a:p>
              <a:pPr marL="171450" indent="-171450" algn="l" defTabSz="22860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High Visibility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60E4B003-7561-6DE0-C181-790E6AD7FB12}"/>
                </a:ext>
              </a:extLst>
            </p:cNvPr>
            <p:cNvSpPr txBox="1"/>
            <p:nvPr/>
          </p:nvSpPr>
          <p:spPr>
            <a:xfrm>
              <a:off x="6381515" y="5747272"/>
              <a:ext cx="1538194" cy="29379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</a:rPr>
                <a:t>Influencer Marketing</a:t>
              </a:r>
              <a:endParaRPr lang="en-US" sz="1200" noProof="0">
                <a:solidFill>
                  <a:schemeClr val="bg1"/>
                </a:solidFill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8A65D184-F2F5-450D-451D-025AF152C64E}"/>
                </a:ext>
              </a:extLst>
            </p:cNvPr>
            <p:cNvSpPr txBox="1"/>
            <p:nvPr/>
          </p:nvSpPr>
          <p:spPr>
            <a:xfrm>
              <a:off x="8128242" y="5690312"/>
              <a:ext cx="2239349" cy="3689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Video Collaterals </a:t>
              </a:r>
            </a:p>
            <a:p>
              <a:pPr marL="171450" indent="-171450" algn="l" defTabSz="22860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Content Creation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141EE7CB-080D-8C39-52C9-4050493B409B}"/>
                </a:ext>
              </a:extLst>
            </p:cNvPr>
            <p:cNvSpPr txBox="1"/>
            <p:nvPr/>
          </p:nvSpPr>
          <p:spPr>
            <a:xfrm>
              <a:off x="10388962" y="4775585"/>
              <a:ext cx="1160097" cy="3689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Bounce Rate</a:t>
              </a:r>
            </a:p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Traffic Rate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3C48B463-0258-B3E6-70BD-D06E92ED412C}"/>
                </a:ext>
              </a:extLst>
            </p:cNvPr>
            <p:cNvSpPr txBox="1"/>
            <p:nvPr/>
          </p:nvSpPr>
          <p:spPr>
            <a:xfrm>
              <a:off x="10388961" y="5245464"/>
              <a:ext cx="1160099" cy="3689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</a:rPr>
                <a:t>Bounce Rate</a:t>
              </a:r>
            </a:p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</a:rPr>
                <a:t>CPS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4E56BB7-E372-B788-EDE9-5C91A411C02E}"/>
                </a:ext>
              </a:extLst>
            </p:cNvPr>
            <p:cNvSpPr txBox="1"/>
            <p:nvPr/>
          </p:nvSpPr>
          <p:spPr>
            <a:xfrm>
              <a:off x="10388962" y="5715196"/>
              <a:ext cx="665891" cy="3689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ROAS</a:t>
              </a:r>
            </a:p>
            <a:p>
              <a:pPr marL="171450" indent="-171450" algn="l" defTabSz="22860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</a:rPr>
                <a:t>CPA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DDF985D9-E7C5-EBB9-933D-2C93926CED4E}"/>
                </a:ext>
              </a:extLst>
            </p:cNvPr>
            <p:cNvSpPr txBox="1"/>
            <p:nvPr/>
          </p:nvSpPr>
          <p:spPr>
            <a:xfrm>
              <a:off x="10984524" y="5437048"/>
              <a:ext cx="468921" cy="16588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71450" indent="-171450" algn="l" defTabSz="22860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US" sz="1200" noProof="0">
                  <a:solidFill>
                    <a:schemeClr val="bg1"/>
                  </a:solidFill>
                </a:rPr>
                <a:t>CLV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585F346C-ECAC-EA21-EB81-27FA10EA0BAA}"/>
                </a:ext>
              </a:extLst>
            </p:cNvPr>
            <p:cNvSpPr txBox="1"/>
            <p:nvPr/>
          </p:nvSpPr>
          <p:spPr>
            <a:xfrm>
              <a:off x="6369173" y="3854280"/>
              <a:ext cx="1538194" cy="29379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1200" b="1" noProof="0">
                  <a:solidFill>
                    <a:schemeClr val="bg1"/>
                  </a:solidFill>
                </a:rPr>
                <a:t>Strategy </a:t>
              </a:r>
              <a:r>
                <a:rPr lang="en-US" sz="1200" b="1">
                  <a:solidFill>
                    <a:schemeClr val="bg1"/>
                  </a:solidFill>
                </a:rPr>
                <a:t>Actions</a:t>
              </a:r>
              <a:endParaRPr lang="en-US" sz="1200" b="1" noProof="0">
                <a:solidFill>
                  <a:schemeClr val="bg1"/>
                </a:solidFill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94EC38E3-73C7-2AC6-31A2-849E5256FA8F}"/>
                </a:ext>
              </a:extLst>
            </p:cNvPr>
            <p:cNvSpPr txBox="1"/>
            <p:nvPr/>
          </p:nvSpPr>
          <p:spPr>
            <a:xfrm>
              <a:off x="8170211" y="3845139"/>
              <a:ext cx="1984245" cy="29379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1200" b="1" noProof="0">
                  <a:solidFill>
                    <a:schemeClr val="bg1"/>
                  </a:solidFill>
                </a:rPr>
                <a:t>Achievable Target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14D79409-C4A5-FC9C-240B-2FB2A7A32C8C}"/>
                </a:ext>
              </a:extLst>
            </p:cNvPr>
            <p:cNvSpPr txBox="1"/>
            <p:nvPr/>
          </p:nvSpPr>
          <p:spPr>
            <a:xfrm>
              <a:off x="10387810" y="3847680"/>
              <a:ext cx="1304234" cy="29379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1200" b="1" noProof="0">
                  <a:solidFill>
                    <a:schemeClr val="bg1"/>
                  </a:solidFill>
                </a:rPr>
                <a:t>KPIs To Track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F79B516-8BB9-E23A-8C48-5A942F7CA817}"/>
                </a:ext>
              </a:extLst>
            </p:cNvPr>
            <p:cNvSpPr/>
            <p:nvPr/>
          </p:nvSpPr>
          <p:spPr>
            <a:xfrm>
              <a:off x="6392402" y="2046718"/>
              <a:ext cx="5156657" cy="1446733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78CDB2F-7DF7-0C07-5C47-B4B59AD18EB6}"/>
              </a:ext>
            </a:extLst>
          </p:cNvPr>
          <p:cNvSpPr txBox="1"/>
          <p:nvPr/>
        </p:nvSpPr>
        <p:spPr>
          <a:xfrm>
            <a:off x="642935" y="5437048"/>
            <a:ext cx="3488781" cy="6691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400" i="1" dirty="0">
                <a:solidFill>
                  <a:schemeClr val="bg1"/>
                </a:solidFill>
              </a:rPr>
              <a:t>ABC company needs to increase its internet presence to increase penetration and gain a larger market share</a:t>
            </a:r>
            <a:endParaRPr lang="en-US" sz="1400" i="1" noProof="0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F4D68A3-7061-09A2-CC48-8DA34A2F8337}"/>
              </a:ext>
            </a:extLst>
          </p:cNvPr>
          <p:cNvGrpSpPr/>
          <p:nvPr/>
        </p:nvGrpSpPr>
        <p:grpSpPr>
          <a:xfrm>
            <a:off x="0" y="142951"/>
            <a:ext cx="12192000" cy="378144"/>
            <a:chOff x="522892" y="124260"/>
            <a:chExt cx="10996651" cy="378144"/>
          </a:xfrm>
        </p:grpSpPr>
        <p:sp>
          <p:nvSpPr>
            <p:cNvPr id="14" name="Arrow: Chevron 3">
              <a:extLst>
                <a:ext uri="{FF2B5EF4-FFF2-40B4-BE49-F238E27FC236}">
                  <a16:creationId xmlns:a16="http://schemas.microsoft.com/office/drawing/2014/main" id="{4B6B7589-A268-6AC6-12CD-49ACF9262C1D}"/>
                </a:ext>
              </a:extLst>
            </p:cNvPr>
            <p:cNvSpPr/>
            <p:nvPr/>
          </p:nvSpPr>
          <p:spPr>
            <a:xfrm>
              <a:off x="522892" y="143574"/>
              <a:ext cx="1855565" cy="35083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Addressable Ecommerce Market</a:t>
              </a:r>
            </a:p>
          </p:txBody>
        </p:sp>
        <p:sp>
          <p:nvSpPr>
            <p:cNvPr id="21" name="Arrow: Chevron 5">
              <a:extLst>
                <a:ext uri="{FF2B5EF4-FFF2-40B4-BE49-F238E27FC236}">
                  <a16:creationId xmlns:a16="http://schemas.microsoft.com/office/drawing/2014/main" id="{2F0CB302-ACCB-8C5A-E26D-493BF89365ED}"/>
                </a:ext>
              </a:extLst>
            </p:cNvPr>
            <p:cNvSpPr/>
            <p:nvPr/>
          </p:nvSpPr>
          <p:spPr>
            <a:xfrm>
              <a:off x="2291973" y="151322"/>
              <a:ext cx="1955142" cy="35083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Segmentation &amp; Cluster Analysis</a:t>
              </a:r>
            </a:p>
          </p:txBody>
        </p:sp>
        <p:sp>
          <p:nvSpPr>
            <p:cNvPr id="22" name="Arrow: Chevron 6">
              <a:extLst>
                <a:ext uri="{FF2B5EF4-FFF2-40B4-BE49-F238E27FC236}">
                  <a16:creationId xmlns:a16="http://schemas.microsoft.com/office/drawing/2014/main" id="{5859DD77-F253-B161-591B-CAB4124B9E4C}"/>
                </a:ext>
              </a:extLst>
            </p:cNvPr>
            <p:cNvSpPr/>
            <p:nvPr/>
          </p:nvSpPr>
          <p:spPr>
            <a:xfrm>
              <a:off x="4140858" y="135602"/>
              <a:ext cx="1955142" cy="36655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Competitor Benchmarking</a:t>
              </a:r>
            </a:p>
          </p:txBody>
        </p:sp>
        <p:sp>
          <p:nvSpPr>
            <p:cNvPr id="24" name="Arrow: Chevron 7">
              <a:extLst>
                <a:ext uri="{FF2B5EF4-FFF2-40B4-BE49-F238E27FC236}">
                  <a16:creationId xmlns:a16="http://schemas.microsoft.com/office/drawing/2014/main" id="{453403D4-AA59-65EE-3F91-0491D7FB405E}"/>
                </a:ext>
              </a:extLst>
            </p:cNvPr>
            <p:cNvSpPr/>
            <p:nvPr/>
          </p:nvSpPr>
          <p:spPr>
            <a:xfrm>
              <a:off x="6027274" y="134750"/>
              <a:ext cx="1954629" cy="36765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Channel Strategy &amp; Portfolio Strategy</a:t>
              </a:r>
            </a:p>
          </p:txBody>
        </p:sp>
        <p:sp>
          <p:nvSpPr>
            <p:cNvPr id="26" name="Arrow: Chevron 8">
              <a:extLst>
                <a:ext uri="{FF2B5EF4-FFF2-40B4-BE49-F238E27FC236}">
                  <a16:creationId xmlns:a16="http://schemas.microsoft.com/office/drawing/2014/main" id="{22732226-68A5-158F-AC81-230541C5194E}"/>
                </a:ext>
              </a:extLst>
            </p:cNvPr>
            <p:cNvSpPr/>
            <p:nvPr/>
          </p:nvSpPr>
          <p:spPr>
            <a:xfrm>
              <a:off x="7876159" y="131844"/>
              <a:ext cx="1813329" cy="370311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Digital Marketing Mix</a:t>
              </a:r>
            </a:p>
          </p:txBody>
        </p:sp>
        <p:sp>
          <p:nvSpPr>
            <p:cNvPr id="29" name="Arrow: Chevron 11">
              <a:extLst>
                <a:ext uri="{FF2B5EF4-FFF2-40B4-BE49-F238E27FC236}">
                  <a16:creationId xmlns:a16="http://schemas.microsoft.com/office/drawing/2014/main" id="{31BEA2D7-3047-10A3-AB0B-61ECD09BEC3E}"/>
                </a:ext>
              </a:extLst>
            </p:cNvPr>
            <p:cNvSpPr/>
            <p:nvPr/>
          </p:nvSpPr>
          <p:spPr>
            <a:xfrm>
              <a:off x="9584173" y="124260"/>
              <a:ext cx="1935370" cy="359680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Campaigns &amp; Feasibility Analysis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61689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manager*hierarchy*business*people*organization*coaching*teams*boss*leader*employees*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manager*hierarchy*business*people*organization*coaching*teams*boss*leader*employees*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"/>
</p:tagLst>
</file>

<file path=ppt/theme/theme1.xml><?xml version="1.0" encoding="utf-8"?>
<a:theme xmlns:a="http://schemas.openxmlformats.org/drawingml/2006/main" name="Accenture 2022 use this templat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C29E97269A4E4999B4316A1C379336" ma:contentTypeVersion="4" ma:contentTypeDescription="Create a new document." ma:contentTypeScope="" ma:versionID="f20d241394743fabae99a664d04407ff">
  <xsd:schema xmlns:xsd="http://www.w3.org/2001/XMLSchema" xmlns:xs="http://www.w3.org/2001/XMLSchema" xmlns:p="http://schemas.microsoft.com/office/2006/metadata/properties" xmlns:ns3="c1290799-fbf8-423e-897d-8e5f5d40b1ee" targetNamespace="http://schemas.microsoft.com/office/2006/metadata/properties" ma:root="true" ma:fieldsID="8600128d6665c4291d704c40e6c18d94" ns3:_="">
    <xsd:import namespace="c1290799-fbf8-423e-897d-8e5f5d40b1e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290799-fbf8-423e-897d-8e5f5d40b1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B99216-FE7F-4A22-836B-9624125AAF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9B01492-4F17-4AE7-9AFD-368956FDCA01}">
  <ds:schemaRefs>
    <ds:schemaRef ds:uri="c1290799-fbf8-423e-897d-8e5f5d40b1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C9521DA-A842-4DD6-AFEE-DF42E040E49C}">
  <ds:schemaRefs>
    <ds:schemaRef ds:uri="c1290799-fbf8-423e-897d-8e5f5d40b1e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3826</TotalTime>
  <Words>3686</Words>
  <Application>Microsoft Macintosh PowerPoint</Application>
  <PresentationFormat>Widescreen</PresentationFormat>
  <Paragraphs>926</Paragraphs>
  <Slides>23</Slides>
  <Notes>6</Notes>
  <HiddenSlides>2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7" baseType="lpstr">
      <vt:lpstr>Arial</vt:lpstr>
      <vt:lpstr>Arial MT</vt:lpstr>
      <vt:lpstr>ars-maquette-web</vt:lpstr>
      <vt:lpstr>Calibri</vt:lpstr>
      <vt:lpstr>Carlito</vt:lpstr>
      <vt:lpstr>Courier New</vt:lpstr>
      <vt:lpstr>Graphik</vt:lpstr>
      <vt:lpstr>Graphik Bold</vt:lpstr>
      <vt:lpstr>Graphik Regular</vt:lpstr>
      <vt:lpstr>Graphik-Light</vt:lpstr>
      <vt:lpstr>GT Sectra Fine</vt:lpstr>
      <vt:lpstr>System Font</vt:lpstr>
      <vt:lpstr>Wingdings</vt:lpstr>
      <vt:lpstr>Accenture 2022 use this template</vt:lpstr>
      <vt:lpstr>PowerPoint Presentation</vt:lpstr>
      <vt:lpstr>Ushering a new era of Home Textiles...</vt:lpstr>
      <vt:lpstr>PowerPoint Presentation</vt:lpstr>
      <vt:lpstr>A Digital First strategy with an Omni-platform Presence</vt:lpstr>
      <vt:lpstr>Choosing the right thing for us and our customers</vt:lpstr>
      <vt:lpstr>PowerPoint Presentation</vt:lpstr>
      <vt:lpstr>ABC wants to be a front runner by focusing on </vt:lpstr>
      <vt:lpstr>Choosing the right thing for us and our customers</vt:lpstr>
      <vt:lpstr>Our Potential &amp; Our Vision</vt:lpstr>
      <vt:lpstr>Omni-platform Presence &amp; Digitized Marketing Funnel for a holistic strategy</vt:lpstr>
      <vt:lpstr>Choosing the right thing for us and our customers</vt:lpstr>
      <vt:lpstr>PowerPoint Presentation</vt:lpstr>
      <vt:lpstr>PowerPoint Presentation</vt:lpstr>
      <vt:lpstr>ABC wants to be a front runner by focusing on </vt:lpstr>
      <vt:lpstr>PowerPoint Presentation</vt:lpstr>
      <vt:lpstr>PowerPoint Presentation</vt:lpstr>
      <vt:lpstr>PowerPoint Presentation</vt:lpstr>
      <vt:lpstr>Addressable Ecommerce Market Size</vt:lpstr>
      <vt:lpstr>PowerPoint Presentation</vt:lpstr>
      <vt:lpstr>PowerPoint Presentation</vt:lpstr>
      <vt:lpstr>Having an omni-platform presence will facilitate high growth </vt:lpstr>
      <vt:lpstr>ABC needs to widen its marketing funnel, follow a holistic digital strategy</vt:lpstr>
      <vt:lpstr>ABC needs to widen its marketing funnel, follow a holistic digital strategy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Sharma, Shubhanshu</dc:creator>
  <cp:lastModifiedBy>SANYAM GUPTA</cp:lastModifiedBy>
  <cp:revision>324</cp:revision>
  <dcterms:created xsi:type="dcterms:W3CDTF">2022-08-26T17:09:31Z</dcterms:created>
  <dcterms:modified xsi:type="dcterms:W3CDTF">2022-09-28T21:42:39Z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0x01010097C29E97269A4E4999B4316A1C379336</vt:lpwstr>
  </property>
</Properties>
</file>