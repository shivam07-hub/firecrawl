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media/image38.jpg" ContentType="image/jpg"/>
  <Override PartName="/ppt/media/image54.jpg" ContentType="image/jpg"/>
  <Override PartName="/ppt/media/image55.jpg" ContentType="image/jpg"/>
  <Override PartName="/ppt/media/image56.jpg" ContentType="image/jpg"/>
  <Override PartName="/ppt/media/image58.jpg" ContentType="image/jpg"/>
  <Override PartName="/ppt/media/image59.jpg" ContentType="image/jpg"/>
  <Override PartName="/ppt/media/image60.jpg" ContentType="image/jpg"/>
  <Override PartName="/ppt/media/image62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147468597" r:id="rId2"/>
    <p:sldId id="2147468600" r:id="rId3"/>
    <p:sldId id="2147468608" r:id="rId4"/>
    <p:sldId id="2147468601" r:id="rId5"/>
    <p:sldId id="2147468612" r:id="rId6"/>
    <p:sldId id="2147468607" r:id="rId7"/>
    <p:sldId id="214746859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3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Graphik (Body)"/>
                <a:ea typeface="+mj-ea"/>
                <a:cs typeface="+mj-cs"/>
              </a:defRPr>
            </a:pPr>
            <a:r>
              <a:rPr lang="en-US" dirty="0"/>
              <a:t>Number of Challenger Banks launched worldwide (2014–2021). 200%</a:t>
            </a:r>
            <a:r>
              <a:rPr lang="en-US" baseline="0" dirty="0"/>
              <a:t> increase since 2015.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Graphik (Body)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Graphik (Body)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21</c:v>
                </c:pt>
                <c:pt idx="2">
                  <c:v>33</c:v>
                </c:pt>
                <c:pt idx="3">
                  <c:v>51</c:v>
                </c:pt>
                <c:pt idx="4">
                  <c:v>57</c:v>
                </c:pt>
                <c:pt idx="5">
                  <c:v>83</c:v>
                </c:pt>
                <c:pt idx="6">
                  <c:v>94</c:v>
                </c:pt>
                <c:pt idx="7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A7-4F89-9709-A829EA5CF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40"/>
        <c:axId val="1899387776"/>
        <c:axId val="36607360"/>
      </c:barChart>
      <c:catAx>
        <c:axId val="1899387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Graphik (Body)"/>
                <a:ea typeface="+mn-ea"/>
                <a:cs typeface="+mn-cs"/>
              </a:defRPr>
            </a:pPr>
            <a:endParaRPr lang="en-US"/>
          </a:p>
        </c:txPr>
        <c:crossAx val="36607360"/>
        <c:crosses val="autoZero"/>
        <c:auto val="1"/>
        <c:lblAlgn val="ctr"/>
        <c:lblOffset val="100"/>
        <c:noMultiLvlLbl val="0"/>
      </c:catAx>
      <c:valAx>
        <c:axId val="366073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Graphik (Body)"/>
                <a:ea typeface="+mn-ea"/>
                <a:cs typeface="+mn-cs"/>
              </a:defRPr>
            </a:pPr>
            <a:endParaRPr lang="en-US"/>
          </a:p>
        </c:txPr>
        <c:crossAx val="189938777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 w="9525" cap="flat" cmpd="sng" algn="ctr">
      <a:solidFill>
        <a:schemeClr val="accent6">
          <a:lumMod val="90000"/>
        </a:schemeClr>
      </a:solidFill>
      <a:round/>
    </a:ln>
    <a:effectLst/>
  </c:spPr>
  <c:txPr>
    <a:bodyPr/>
    <a:lstStyle/>
    <a:p>
      <a:pPr>
        <a:defRPr sz="1000">
          <a:latin typeface="Graphik (Body)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IN" sz="1200" b="0" i="0" u="none" strike="noStrike" kern="1200" spc="0" baseline="0">
                <a:solidFill>
                  <a:schemeClr val="dk1"/>
                </a:solidFill>
                <a:latin typeface="Graphik (Body)"/>
                <a:ea typeface="+mn-ea"/>
                <a:cs typeface="+mn-cs"/>
              </a:defRPr>
            </a:pPr>
            <a:r>
              <a:rPr lang="en-IN"/>
              <a:t>Total Banking sector assets (USD billion)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IN" sz="1200" b="0" i="0" u="none" strike="noStrike" kern="1200" spc="0" baseline="0">
              <a:solidFill>
                <a:schemeClr val="dk1"/>
              </a:solidFill>
              <a:latin typeface="Graphik (Body)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983243645673585"/>
          <c:y val="0.11717639902676397"/>
          <c:w val="0.81750714111652434"/>
          <c:h val="0.670978913219789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Sector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FY18</c:v>
                </c:pt>
                <c:pt idx="1">
                  <c:v>FY19</c:v>
                </c:pt>
                <c:pt idx="2">
                  <c:v>FY20</c:v>
                </c:pt>
                <c:pt idx="3">
                  <c:v>FY21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1557</c:v>
                </c:pt>
                <c:pt idx="1">
                  <c:v>1454</c:v>
                </c:pt>
                <c:pt idx="2">
                  <c:v>1530</c:v>
                </c:pt>
                <c:pt idx="3">
                  <c:v>1603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2E-4E48-8213-B3E0173D6D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Sector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FY18</c:v>
                </c:pt>
                <c:pt idx="1">
                  <c:v>FY19</c:v>
                </c:pt>
                <c:pt idx="2">
                  <c:v>FY20</c:v>
                </c:pt>
                <c:pt idx="3">
                  <c:v>FY21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721</c:v>
                </c:pt>
                <c:pt idx="1">
                  <c:v>758</c:v>
                </c:pt>
                <c:pt idx="2">
                  <c:v>827</c:v>
                </c:pt>
                <c:pt idx="3">
                  <c:v>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2E-4E48-8213-B3E0173D6D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Foreign Banks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FY18</c:v>
                </c:pt>
                <c:pt idx="1">
                  <c:v>FY19</c:v>
                </c:pt>
                <c:pt idx="2">
                  <c:v>FY20</c:v>
                </c:pt>
                <c:pt idx="3">
                  <c:v>FY21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135</c:v>
                </c:pt>
                <c:pt idx="1">
                  <c:v>151</c:v>
                </c:pt>
                <c:pt idx="2">
                  <c:v>179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2E-4E48-8213-B3E0173D6D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2569567"/>
        <c:axId val="2061488927"/>
      </c:barChart>
      <c:catAx>
        <c:axId val="1992569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IN" sz="1000" b="0" i="0" u="none" strike="noStrike" kern="1200" baseline="0">
                <a:solidFill>
                  <a:schemeClr val="dk1"/>
                </a:solidFill>
                <a:latin typeface="Graphik (Body)"/>
                <a:ea typeface="+mn-ea"/>
                <a:cs typeface="+mn-cs"/>
              </a:defRPr>
            </a:pPr>
            <a:endParaRPr lang="en-US"/>
          </a:p>
        </c:txPr>
        <c:crossAx val="2061488927"/>
        <c:crosses val="autoZero"/>
        <c:auto val="1"/>
        <c:lblAlgn val="ctr"/>
        <c:lblOffset val="100"/>
        <c:noMultiLvlLbl val="0"/>
      </c:catAx>
      <c:valAx>
        <c:axId val="2061488927"/>
        <c:scaling>
          <c:orientation val="minMax"/>
          <c:max val="18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IN" sz="1000" b="0" i="0" u="none" strike="noStrike" kern="1200" baseline="0">
                <a:solidFill>
                  <a:schemeClr val="dk1"/>
                </a:solidFill>
                <a:latin typeface="Graphik (Body)"/>
                <a:ea typeface="+mn-ea"/>
                <a:cs typeface="+mn-cs"/>
              </a:defRPr>
            </a:pPr>
            <a:endParaRPr lang="en-US"/>
          </a:p>
        </c:txPr>
        <c:crossAx val="1992569567"/>
        <c:crosses val="autoZero"/>
        <c:crossBetween val="between"/>
        <c:majorUnit val="3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IN" sz="1000" b="0" i="0" u="none" strike="noStrike" kern="1200" baseline="0">
              <a:solidFill>
                <a:schemeClr val="dk1"/>
              </a:solidFill>
              <a:latin typeface="Graphik (Body)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accent6">
          <a:lumMod val="90000"/>
        </a:schemeClr>
      </a:solidFill>
    </a:ln>
    <a:effectLst/>
  </c:spPr>
  <c:txPr>
    <a:bodyPr/>
    <a:lstStyle/>
    <a:p>
      <a:pPr algn="ctr">
        <a:defRPr lang="en-IN" sz="1000" b="0" i="0" u="none" strike="noStrike" kern="1200" baseline="0">
          <a:solidFill>
            <a:schemeClr val="dk1"/>
          </a:solidFill>
          <a:latin typeface="Graphik (Body)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55FEE8-02AC-4C2E-B229-48D8FCE21E70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503C32C-2259-4D04-85E0-5767B1F8ECDC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Competitive Rivalry: HIGH</a:t>
          </a:r>
          <a:endParaRPr lang="en-IN" sz="1400" dirty="0">
            <a:solidFill>
              <a:schemeClr val="tx1"/>
            </a:solidFill>
          </a:endParaRPr>
        </a:p>
      </dgm:t>
    </dgm:pt>
    <dgm:pt modelId="{B1024B35-821C-45D4-9422-CC2CDEEB040D}" type="parTrans" cxnId="{3B01A28B-7C3E-4020-891E-4C76434A558A}">
      <dgm:prSet/>
      <dgm:spPr/>
      <dgm:t>
        <a:bodyPr/>
        <a:lstStyle/>
        <a:p>
          <a:endParaRPr lang="en-IN" sz="1400"/>
        </a:p>
      </dgm:t>
    </dgm:pt>
    <dgm:pt modelId="{B59F2D08-AC03-416F-9D45-FE162338CD5D}" type="sibTrans" cxnId="{3B01A28B-7C3E-4020-891E-4C76434A558A}">
      <dgm:prSet/>
      <dgm:spPr/>
      <dgm:t>
        <a:bodyPr/>
        <a:lstStyle/>
        <a:p>
          <a:endParaRPr lang="en-IN" sz="1400"/>
        </a:p>
      </dgm:t>
    </dgm:pt>
    <dgm:pt modelId="{1B98D82A-288B-44EC-9336-5DFBA03CD73A}">
      <dgm:prSet phldrT="[Text]" custT="1"/>
      <dgm:spPr>
        <a:solidFill>
          <a:schemeClr val="accent1"/>
        </a:solidFill>
      </dgm:spPr>
      <dgm:t>
        <a:bodyPr/>
        <a:lstStyle/>
        <a:p>
          <a:r>
            <a:rPr lang="en-US" sz="1400" dirty="0"/>
            <a:t>Buyer Power: </a:t>
          </a:r>
        </a:p>
        <a:p>
          <a:r>
            <a:rPr lang="en-US" sz="1400" dirty="0"/>
            <a:t>HIGH</a:t>
          </a:r>
        </a:p>
      </dgm:t>
    </dgm:pt>
    <dgm:pt modelId="{C241F832-D45D-4EBB-8EB8-3AD27C65F515}" type="parTrans" cxnId="{9846F52E-1617-4129-9B4D-F09C86940F7D}">
      <dgm:prSet/>
      <dgm:spPr/>
      <dgm:t>
        <a:bodyPr/>
        <a:lstStyle/>
        <a:p>
          <a:endParaRPr lang="en-IN" sz="1400"/>
        </a:p>
      </dgm:t>
    </dgm:pt>
    <dgm:pt modelId="{60CDCB78-B8EE-41FA-8090-D7F24BE0A8AA}" type="sibTrans" cxnId="{9846F52E-1617-4129-9B4D-F09C86940F7D}">
      <dgm:prSet/>
      <dgm:spPr/>
      <dgm:t>
        <a:bodyPr/>
        <a:lstStyle/>
        <a:p>
          <a:endParaRPr lang="en-IN" sz="1400"/>
        </a:p>
      </dgm:t>
    </dgm:pt>
    <dgm:pt modelId="{AAE4F7D2-2C5E-421D-B166-9E2D60094301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1400" dirty="0"/>
            <a:t>Supplier Power: </a:t>
          </a:r>
        </a:p>
        <a:p>
          <a:r>
            <a:rPr lang="en-US" sz="1400" dirty="0"/>
            <a:t>LOW</a:t>
          </a:r>
          <a:endParaRPr lang="en-IN" sz="1400" dirty="0"/>
        </a:p>
      </dgm:t>
    </dgm:pt>
    <dgm:pt modelId="{C3DBB876-85F5-4D51-A6D0-0976A76E9EC2}" type="parTrans" cxnId="{8A0866EB-8F61-427F-B968-0BDC39832E7B}">
      <dgm:prSet/>
      <dgm:spPr/>
      <dgm:t>
        <a:bodyPr/>
        <a:lstStyle/>
        <a:p>
          <a:endParaRPr lang="en-IN" sz="1400"/>
        </a:p>
      </dgm:t>
    </dgm:pt>
    <dgm:pt modelId="{35C960BA-CC84-4B2F-89AA-3ABB1660A32E}" type="sibTrans" cxnId="{8A0866EB-8F61-427F-B968-0BDC39832E7B}">
      <dgm:prSet/>
      <dgm:spPr/>
      <dgm:t>
        <a:bodyPr/>
        <a:lstStyle/>
        <a:p>
          <a:endParaRPr lang="en-IN" sz="1400"/>
        </a:p>
      </dgm:t>
    </dgm:pt>
    <dgm:pt modelId="{94FD9A12-0402-4B2D-B97E-655B2E9560A0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1400" dirty="0"/>
            <a:t>Threat of new entrants: MEDIUM</a:t>
          </a:r>
          <a:endParaRPr lang="en-IN" sz="1400" dirty="0"/>
        </a:p>
      </dgm:t>
    </dgm:pt>
    <dgm:pt modelId="{6F743559-9E12-49C6-804C-F4183CF5E913}" type="parTrans" cxnId="{C3656951-99F8-471F-9930-E24001891D6F}">
      <dgm:prSet/>
      <dgm:spPr/>
      <dgm:t>
        <a:bodyPr/>
        <a:lstStyle/>
        <a:p>
          <a:endParaRPr lang="en-IN" sz="1400"/>
        </a:p>
      </dgm:t>
    </dgm:pt>
    <dgm:pt modelId="{EB2312B8-66E1-46DD-AAFE-25ECEFAE950F}" type="sibTrans" cxnId="{C3656951-99F8-471F-9930-E24001891D6F}">
      <dgm:prSet/>
      <dgm:spPr/>
      <dgm:t>
        <a:bodyPr/>
        <a:lstStyle/>
        <a:p>
          <a:endParaRPr lang="en-IN" sz="1400"/>
        </a:p>
      </dgm:t>
    </dgm:pt>
    <dgm:pt modelId="{C49C92A6-97DE-4BB6-AD2C-6A0B70C0AB26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1400" dirty="0"/>
            <a:t>Availability of substitutes: HIGH</a:t>
          </a:r>
          <a:endParaRPr lang="en-IN" sz="1400" dirty="0"/>
        </a:p>
      </dgm:t>
    </dgm:pt>
    <dgm:pt modelId="{C727288A-9A19-4303-8063-10F4A68ADC02}" type="parTrans" cxnId="{66B05889-F3E0-4309-B7C1-01D33591CDE4}">
      <dgm:prSet/>
      <dgm:spPr/>
      <dgm:t>
        <a:bodyPr/>
        <a:lstStyle/>
        <a:p>
          <a:endParaRPr lang="en-IN" sz="1400"/>
        </a:p>
      </dgm:t>
    </dgm:pt>
    <dgm:pt modelId="{18C9A327-4348-4FD2-9D34-39A123BCE984}" type="sibTrans" cxnId="{66B05889-F3E0-4309-B7C1-01D33591CDE4}">
      <dgm:prSet/>
      <dgm:spPr/>
      <dgm:t>
        <a:bodyPr/>
        <a:lstStyle/>
        <a:p>
          <a:endParaRPr lang="en-IN" sz="1400"/>
        </a:p>
      </dgm:t>
    </dgm:pt>
    <dgm:pt modelId="{04E1BB3E-AB40-4CD6-9BEC-3E4A5F52C2E0}" type="pres">
      <dgm:prSet presAssocID="{2555FEE8-02AC-4C2E-B229-48D8FCE21E70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1222ECC-356D-4413-A096-1FEE143FC717}" type="pres">
      <dgm:prSet presAssocID="{2555FEE8-02AC-4C2E-B229-48D8FCE21E70}" presName="matrix" presStyleCnt="0"/>
      <dgm:spPr/>
    </dgm:pt>
    <dgm:pt modelId="{7B9F699D-690C-4EF0-BB9E-B921734FC719}" type="pres">
      <dgm:prSet presAssocID="{2555FEE8-02AC-4C2E-B229-48D8FCE21E70}" presName="tile1" presStyleLbl="node1" presStyleIdx="0" presStyleCnt="4"/>
      <dgm:spPr/>
    </dgm:pt>
    <dgm:pt modelId="{99ED02ED-A7C3-4EAE-AB63-E1B0872D554F}" type="pres">
      <dgm:prSet presAssocID="{2555FEE8-02AC-4C2E-B229-48D8FCE21E70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B1E0D70-DEE2-42BD-AA03-8D952D3FE86A}" type="pres">
      <dgm:prSet presAssocID="{2555FEE8-02AC-4C2E-B229-48D8FCE21E70}" presName="tile2" presStyleLbl="node1" presStyleIdx="1" presStyleCnt="4" custLinFactNeighborX="-253"/>
      <dgm:spPr/>
    </dgm:pt>
    <dgm:pt modelId="{20441761-B549-40BD-A2B4-CD33670F4219}" type="pres">
      <dgm:prSet presAssocID="{2555FEE8-02AC-4C2E-B229-48D8FCE21E70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DA2168E-17F1-4A90-970B-C24FB286E82B}" type="pres">
      <dgm:prSet presAssocID="{2555FEE8-02AC-4C2E-B229-48D8FCE21E70}" presName="tile3" presStyleLbl="node1" presStyleIdx="2" presStyleCnt="4"/>
      <dgm:spPr/>
    </dgm:pt>
    <dgm:pt modelId="{B3113FC4-A83B-44C1-AE54-1CFA4ECFA3CF}" type="pres">
      <dgm:prSet presAssocID="{2555FEE8-02AC-4C2E-B229-48D8FCE21E70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F118EB5-0FC7-45FE-BCBB-5254B28AED89}" type="pres">
      <dgm:prSet presAssocID="{2555FEE8-02AC-4C2E-B229-48D8FCE21E70}" presName="tile4" presStyleLbl="node1" presStyleIdx="3" presStyleCnt="4"/>
      <dgm:spPr/>
    </dgm:pt>
    <dgm:pt modelId="{07658C4B-14AD-483D-9489-16DCC154ADB8}" type="pres">
      <dgm:prSet presAssocID="{2555FEE8-02AC-4C2E-B229-48D8FCE21E70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2DA28543-E4C7-44CC-AC21-A89FA2A6F2B6}" type="pres">
      <dgm:prSet presAssocID="{2555FEE8-02AC-4C2E-B229-48D8FCE21E70}" presName="centerTile" presStyleLbl="fgShp" presStyleIdx="0" presStyleCnt="1" custScaleX="133333" custScaleY="126316">
        <dgm:presLayoutVars>
          <dgm:chMax val="0"/>
          <dgm:chPref val="0"/>
        </dgm:presLayoutVars>
      </dgm:prSet>
      <dgm:spPr/>
    </dgm:pt>
  </dgm:ptLst>
  <dgm:cxnLst>
    <dgm:cxn modelId="{52282B01-C8BA-4FED-B8BD-5BA1A52079CE}" type="presOf" srcId="{1B98D82A-288B-44EC-9336-5DFBA03CD73A}" destId="{7B9F699D-690C-4EF0-BB9E-B921734FC719}" srcOrd="0" destOrd="0" presId="urn:microsoft.com/office/officeart/2005/8/layout/matrix1"/>
    <dgm:cxn modelId="{0BF32119-97DD-4DE2-B247-7C10A132B1B0}" type="presOf" srcId="{C49C92A6-97DE-4BB6-AD2C-6A0B70C0AB26}" destId="{4F118EB5-0FC7-45FE-BCBB-5254B28AED89}" srcOrd="0" destOrd="0" presId="urn:microsoft.com/office/officeart/2005/8/layout/matrix1"/>
    <dgm:cxn modelId="{9846F52E-1617-4129-9B4D-F09C86940F7D}" srcId="{B503C32C-2259-4D04-85E0-5767B1F8ECDC}" destId="{1B98D82A-288B-44EC-9336-5DFBA03CD73A}" srcOrd="0" destOrd="0" parTransId="{C241F832-D45D-4EBB-8EB8-3AD27C65F515}" sibTransId="{60CDCB78-B8EE-41FA-8090-D7F24BE0A8AA}"/>
    <dgm:cxn modelId="{AE9B2645-9DE8-4D9D-B7AB-ECA55BE2CB2F}" type="presOf" srcId="{2555FEE8-02AC-4C2E-B229-48D8FCE21E70}" destId="{04E1BB3E-AB40-4CD6-9BEC-3E4A5F52C2E0}" srcOrd="0" destOrd="0" presId="urn:microsoft.com/office/officeart/2005/8/layout/matrix1"/>
    <dgm:cxn modelId="{450D8268-3767-4240-A458-B6CAD93ED3F6}" type="presOf" srcId="{1B98D82A-288B-44EC-9336-5DFBA03CD73A}" destId="{99ED02ED-A7C3-4EAE-AB63-E1B0872D554F}" srcOrd="1" destOrd="0" presId="urn:microsoft.com/office/officeart/2005/8/layout/matrix1"/>
    <dgm:cxn modelId="{4CE86E6D-DEC9-4F15-8B58-94C930AE5A4E}" type="presOf" srcId="{AAE4F7D2-2C5E-421D-B166-9E2D60094301}" destId="{20441761-B549-40BD-A2B4-CD33670F4219}" srcOrd="1" destOrd="0" presId="urn:microsoft.com/office/officeart/2005/8/layout/matrix1"/>
    <dgm:cxn modelId="{C3656951-99F8-471F-9930-E24001891D6F}" srcId="{B503C32C-2259-4D04-85E0-5767B1F8ECDC}" destId="{94FD9A12-0402-4B2D-B97E-655B2E9560A0}" srcOrd="2" destOrd="0" parTransId="{6F743559-9E12-49C6-804C-F4183CF5E913}" sibTransId="{EB2312B8-66E1-46DD-AAFE-25ECEFAE950F}"/>
    <dgm:cxn modelId="{38226676-19AD-47B9-8C5D-D67098B3661B}" type="presOf" srcId="{B503C32C-2259-4D04-85E0-5767B1F8ECDC}" destId="{2DA28543-E4C7-44CC-AC21-A89FA2A6F2B6}" srcOrd="0" destOrd="0" presId="urn:microsoft.com/office/officeart/2005/8/layout/matrix1"/>
    <dgm:cxn modelId="{66B05889-F3E0-4309-B7C1-01D33591CDE4}" srcId="{B503C32C-2259-4D04-85E0-5767B1F8ECDC}" destId="{C49C92A6-97DE-4BB6-AD2C-6A0B70C0AB26}" srcOrd="3" destOrd="0" parTransId="{C727288A-9A19-4303-8063-10F4A68ADC02}" sibTransId="{18C9A327-4348-4FD2-9D34-39A123BCE984}"/>
    <dgm:cxn modelId="{3B01A28B-7C3E-4020-891E-4C76434A558A}" srcId="{2555FEE8-02AC-4C2E-B229-48D8FCE21E70}" destId="{B503C32C-2259-4D04-85E0-5767B1F8ECDC}" srcOrd="0" destOrd="0" parTransId="{B1024B35-821C-45D4-9422-CC2CDEEB040D}" sibTransId="{B59F2D08-AC03-416F-9D45-FE162338CD5D}"/>
    <dgm:cxn modelId="{32558FAE-B88E-4E62-A8F4-816420B403CE}" type="presOf" srcId="{C49C92A6-97DE-4BB6-AD2C-6A0B70C0AB26}" destId="{07658C4B-14AD-483D-9489-16DCC154ADB8}" srcOrd="1" destOrd="0" presId="urn:microsoft.com/office/officeart/2005/8/layout/matrix1"/>
    <dgm:cxn modelId="{FFE262B8-C290-43AD-9099-5D0D03B6ADAA}" type="presOf" srcId="{94FD9A12-0402-4B2D-B97E-655B2E9560A0}" destId="{B3113FC4-A83B-44C1-AE54-1CFA4ECFA3CF}" srcOrd="1" destOrd="0" presId="urn:microsoft.com/office/officeart/2005/8/layout/matrix1"/>
    <dgm:cxn modelId="{06A97AC8-369B-4C8D-A08E-115FCCE19857}" type="presOf" srcId="{94FD9A12-0402-4B2D-B97E-655B2E9560A0}" destId="{1DA2168E-17F1-4A90-970B-C24FB286E82B}" srcOrd="0" destOrd="0" presId="urn:microsoft.com/office/officeart/2005/8/layout/matrix1"/>
    <dgm:cxn modelId="{8A0866EB-8F61-427F-B968-0BDC39832E7B}" srcId="{B503C32C-2259-4D04-85E0-5767B1F8ECDC}" destId="{AAE4F7D2-2C5E-421D-B166-9E2D60094301}" srcOrd="1" destOrd="0" parTransId="{C3DBB876-85F5-4D51-A6D0-0976A76E9EC2}" sibTransId="{35C960BA-CC84-4B2F-89AA-3ABB1660A32E}"/>
    <dgm:cxn modelId="{68576DF2-86A0-4633-A6FC-1D9C2FAAAEE3}" type="presOf" srcId="{AAE4F7D2-2C5E-421D-B166-9E2D60094301}" destId="{3B1E0D70-DEE2-42BD-AA03-8D952D3FE86A}" srcOrd="0" destOrd="0" presId="urn:microsoft.com/office/officeart/2005/8/layout/matrix1"/>
    <dgm:cxn modelId="{95583601-006C-4766-8CCF-3C13870DC073}" type="presParOf" srcId="{04E1BB3E-AB40-4CD6-9BEC-3E4A5F52C2E0}" destId="{11222ECC-356D-4413-A096-1FEE143FC717}" srcOrd="0" destOrd="0" presId="urn:microsoft.com/office/officeart/2005/8/layout/matrix1"/>
    <dgm:cxn modelId="{916ADAE9-01AD-4125-9FF2-EC080D42D801}" type="presParOf" srcId="{11222ECC-356D-4413-A096-1FEE143FC717}" destId="{7B9F699D-690C-4EF0-BB9E-B921734FC719}" srcOrd="0" destOrd="0" presId="urn:microsoft.com/office/officeart/2005/8/layout/matrix1"/>
    <dgm:cxn modelId="{1C8D0117-E2E1-4778-A302-757CD081C61E}" type="presParOf" srcId="{11222ECC-356D-4413-A096-1FEE143FC717}" destId="{99ED02ED-A7C3-4EAE-AB63-E1B0872D554F}" srcOrd="1" destOrd="0" presId="urn:microsoft.com/office/officeart/2005/8/layout/matrix1"/>
    <dgm:cxn modelId="{CEE30AED-7C62-44B4-840B-6E9AA1EDAEF1}" type="presParOf" srcId="{11222ECC-356D-4413-A096-1FEE143FC717}" destId="{3B1E0D70-DEE2-42BD-AA03-8D952D3FE86A}" srcOrd="2" destOrd="0" presId="urn:microsoft.com/office/officeart/2005/8/layout/matrix1"/>
    <dgm:cxn modelId="{084DCFD1-188E-407D-9C5F-FD33254A8495}" type="presParOf" srcId="{11222ECC-356D-4413-A096-1FEE143FC717}" destId="{20441761-B549-40BD-A2B4-CD33670F4219}" srcOrd="3" destOrd="0" presId="urn:microsoft.com/office/officeart/2005/8/layout/matrix1"/>
    <dgm:cxn modelId="{3E3756C6-CF7F-46D9-9999-19CAD647BA24}" type="presParOf" srcId="{11222ECC-356D-4413-A096-1FEE143FC717}" destId="{1DA2168E-17F1-4A90-970B-C24FB286E82B}" srcOrd="4" destOrd="0" presId="urn:microsoft.com/office/officeart/2005/8/layout/matrix1"/>
    <dgm:cxn modelId="{B78493A5-966A-4465-B68D-3AB34A367743}" type="presParOf" srcId="{11222ECC-356D-4413-A096-1FEE143FC717}" destId="{B3113FC4-A83B-44C1-AE54-1CFA4ECFA3CF}" srcOrd="5" destOrd="0" presId="urn:microsoft.com/office/officeart/2005/8/layout/matrix1"/>
    <dgm:cxn modelId="{ADB89878-2918-4722-94FE-D172F5BF57E8}" type="presParOf" srcId="{11222ECC-356D-4413-A096-1FEE143FC717}" destId="{4F118EB5-0FC7-45FE-BCBB-5254B28AED89}" srcOrd="6" destOrd="0" presId="urn:microsoft.com/office/officeart/2005/8/layout/matrix1"/>
    <dgm:cxn modelId="{2930227B-DB98-4BBD-AD8E-D02EEEC9F049}" type="presParOf" srcId="{11222ECC-356D-4413-A096-1FEE143FC717}" destId="{07658C4B-14AD-483D-9489-16DCC154ADB8}" srcOrd="7" destOrd="0" presId="urn:microsoft.com/office/officeart/2005/8/layout/matrix1"/>
    <dgm:cxn modelId="{2F25A051-8E66-4512-B5A7-ADA180141593}" type="presParOf" srcId="{04E1BB3E-AB40-4CD6-9BEC-3E4A5F52C2E0}" destId="{2DA28543-E4C7-44CC-AC21-A89FA2A6F2B6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9F699D-690C-4EF0-BB9E-B921734FC719}">
      <dsp:nvSpPr>
        <dsp:cNvPr id="0" name=""/>
        <dsp:cNvSpPr/>
      </dsp:nvSpPr>
      <dsp:spPr>
        <a:xfrm rot="16200000">
          <a:off x="405363" y="-405363"/>
          <a:ext cx="989273" cy="1800000"/>
        </a:xfrm>
        <a:prstGeom prst="round1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Buyer Power: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HIGH</a:t>
          </a:r>
        </a:p>
      </dsp:txBody>
      <dsp:txXfrm rot="5400000">
        <a:off x="0" y="0"/>
        <a:ext cx="1800000" cy="741955"/>
      </dsp:txXfrm>
    </dsp:sp>
    <dsp:sp modelId="{3B1E0D70-DEE2-42BD-AA03-8D952D3FE86A}">
      <dsp:nvSpPr>
        <dsp:cNvPr id="0" name=""/>
        <dsp:cNvSpPr/>
      </dsp:nvSpPr>
      <dsp:spPr>
        <a:xfrm>
          <a:off x="1795446" y="0"/>
          <a:ext cx="1800000" cy="989273"/>
        </a:xfrm>
        <a:prstGeom prst="round1Rect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Supplier Power: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LOW</a:t>
          </a:r>
          <a:endParaRPr lang="en-IN" sz="1400" kern="1200" dirty="0"/>
        </a:p>
      </dsp:txBody>
      <dsp:txXfrm>
        <a:off x="1795446" y="0"/>
        <a:ext cx="1800000" cy="741955"/>
      </dsp:txXfrm>
    </dsp:sp>
    <dsp:sp modelId="{1DA2168E-17F1-4A90-970B-C24FB286E82B}">
      <dsp:nvSpPr>
        <dsp:cNvPr id="0" name=""/>
        <dsp:cNvSpPr/>
      </dsp:nvSpPr>
      <dsp:spPr>
        <a:xfrm rot="10800000">
          <a:off x="0" y="989273"/>
          <a:ext cx="1800000" cy="989273"/>
        </a:xfrm>
        <a:prstGeom prst="round1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Threat of new entrants: MEDIUM</a:t>
          </a:r>
          <a:endParaRPr lang="en-IN" sz="1400" kern="1200" dirty="0"/>
        </a:p>
      </dsp:txBody>
      <dsp:txXfrm rot="10800000">
        <a:off x="0" y="1236591"/>
        <a:ext cx="1800000" cy="741955"/>
      </dsp:txXfrm>
    </dsp:sp>
    <dsp:sp modelId="{4F118EB5-0FC7-45FE-BCBB-5254B28AED89}">
      <dsp:nvSpPr>
        <dsp:cNvPr id="0" name=""/>
        <dsp:cNvSpPr/>
      </dsp:nvSpPr>
      <dsp:spPr>
        <a:xfrm rot="5400000">
          <a:off x="2205363" y="583910"/>
          <a:ext cx="989273" cy="1800000"/>
        </a:xfrm>
        <a:prstGeom prst="round1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Availability of substitutes: HIGH</a:t>
          </a:r>
          <a:endParaRPr lang="en-IN" sz="1400" kern="1200" dirty="0"/>
        </a:p>
      </dsp:txBody>
      <dsp:txXfrm rot="-5400000">
        <a:off x="1800000" y="1236591"/>
        <a:ext cx="1800000" cy="741955"/>
      </dsp:txXfrm>
    </dsp:sp>
    <dsp:sp modelId="{2DA28543-E4C7-44CC-AC21-A89FA2A6F2B6}">
      <dsp:nvSpPr>
        <dsp:cNvPr id="0" name=""/>
        <dsp:cNvSpPr/>
      </dsp:nvSpPr>
      <dsp:spPr>
        <a:xfrm>
          <a:off x="1080001" y="676870"/>
          <a:ext cx="1439996" cy="624805"/>
        </a:xfrm>
        <a:prstGeom prst="round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Competitive Rivalry: HIGH</a:t>
          </a:r>
          <a:endParaRPr lang="en-IN" sz="1400" kern="1200" dirty="0">
            <a:solidFill>
              <a:schemeClr val="tx1"/>
            </a:solidFill>
          </a:endParaRPr>
        </a:p>
      </dsp:txBody>
      <dsp:txXfrm>
        <a:off x="1110501" y="707370"/>
        <a:ext cx="1378996" cy="5638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4E96A-2271-4AC7-BA66-51094D54C7F4}" type="datetimeFigureOut">
              <a:rPr lang="en-IN" smtClean="0"/>
              <a:t>16-08-2023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9BB6F-CED8-45A6-8576-5942191CF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717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6.jpe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89528D09-D9F4-47CA-BBA9-7AF13078DF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097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Slide - Lo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6B12DB67-2F55-4F91-ABD8-4E1201FEC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1442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Welcome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6AA4-146F-4349-A95C-2FE9F58C88E2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481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7AB52F34-4FE5-48B6-38F5-204C063496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1891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Greetings + Greater Than 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3480952-D46F-8A15-415F-5BD167F1B4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" name="Big number">
            <a:extLst>
              <a:ext uri="{FF2B5EF4-FFF2-40B4-BE49-F238E27FC236}">
                <a16:creationId xmlns:a16="http://schemas.microsoft.com/office/drawing/2014/main" id="{AF875396-CEBE-1CA8-8B88-FC8618F5368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-1504393" y="1210514"/>
            <a:ext cx="7470218" cy="4411980"/>
          </a:xfrm>
        </p:spPr>
        <p:txBody>
          <a:bodyPr anchor="b"/>
          <a:lstStyle>
            <a:lvl1pPr marL="0" indent="0" algn="l" defTabSz="914034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kumimoji="0" lang="en-US" sz="35000" b="1" i="0" u="none" strike="noStrike" kern="1200" cap="none" spc="-300" normalizeH="0" baseline="0" dirty="0">
                <a:ln>
                  <a:noFill/>
                </a:ln>
                <a:solidFill>
                  <a:srgbClr val="FFFFFF">
                    <a:alpha val="10000"/>
                  </a:srgbClr>
                </a:solidFill>
                <a:effectLst/>
                <a:uLnTx/>
                <a:uFillTx/>
                <a:latin typeface="Graphik Bold" panose="020B0803030202060203" pitchFamily="34" charset="0"/>
                <a:ea typeface="Graphik" charset="0"/>
                <a:cs typeface="Graphik" charset="0"/>
              </a:defRPr>
            </a:lvl1pPr>
            <a:lvl2pPr marL="457017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034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051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4pPr>
            <a:lvl5pPr marL="1828068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5pPr>
            <a:lvl6pPr marL="2285086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6pPr>
            <a:lvl7pPr marL="2742103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7pPr>
            <a:lvl8pPr marL="3199120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8pPr>
            <a:lvl9pPr marL="3656137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03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01</a:t>
            </a:r>
          </a:p>
        </p:txBody>
      </p:sp>
      <p:sp>
        <p:nvSpPr>
          <p:cNvPr id="7" name="Intro text">
            <a:extLst>
              <a:ext uri="{FF2B5EF4-FFF2-40B4-BE49-F238E27FC236}">
                <a16:creationId xmlns:a16="http://schemas.microsoft.com/office/drawing/2014/main" id="{D2B03D1E-353E-D768-6A30-AA55AE069D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5138" y="3428728"/>
            <a:ext cx="7535862" cy="2193766"/>
          </a:xfrm>
        </p:spPr>
        <p:txBody>
          <a:bodyPr lIns="0" anchor="b"/>
          <a:lstStyle>
            <a:lvl1pPr marL="0" indent="0">
              <a:lnSpc>
                <a:spcPct val="110000"/>
              </a:lnSpc>
              <a:buNone/>
              <a:defRPr kumimoji="0" lang="en-US" sz="44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Graphik Extralight" charset="0"/>
                <a:cs typeface="Graphik Extralight" charset="0"/>
              </a:defRPr>
            </a:lvl1pPr>
            <a:lvl2pPr marL="0" indent="0">
              <a:lnSpc>
                <a:spcPct val="110000"/>
              </a:lnSpc>
              <a:buFont typeface="Arial" panose="020B0604020202020204" pitchFamily="34" charset="0"/>
              <a:buNone/>
              <a:defRPr kumimoji="0" lang="en-US" sz="44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Graphik Extralight" charset="0"/>
                <a:cs typeface="Graphik Extralight" charset="0"/>
              </a:defRPr>
            </a:lvl2pPr>
            <a:lvl3pPr marL="0" indent="0">
              <a:buNone/>
              <a:defRPr sz="5400">
                <a:latin typeface="+mj-lt"/>
              </a:defRPr>
            </a:lvl3pPr>
          </a:lstStyle>
          <a:p>
            <a:pPr lvl="0"/>
            <a:r>
              <a:rPr lang="en-US"/>
              <a:t>Click to edit </a:t>
            </a:r>
            <a:r>
              <a:rPr lang="pl-PL"/>
              <a:t>m</a:t>
            </a:r>
            <a:r>
              <a:rPr lang="en-US"/>
              <a:t>aster text</a:t>
            </a:r>
            <a:endParaRPr lang="pl-PL"/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33239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tings + Greater Than 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Welcome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1302B-6794-45FA-A428-AB50D28EF9A2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dark or mid gradient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5" name="Picture 4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E5FCD86B-B6A8-4016-9F0D-3FDC4C784D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999" y="5376231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86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" name="Picture 1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3C7C075D-013F-4D6D-8EA2-7E4465FC2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0607" y="5376231"/>
            <a:ext cx="670786" cy="710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2FF000-7B73-46EF-AF03-BC821DE671E7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2F806-53EB-4AFB-B0F7-2A7BC4E5136F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August 16, 2023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3928152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Center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4C878-35E6-4631-95D1-AE66D6398682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August 16, 2023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A7BBE-17FB-4B75-B79B-F6834CE3706C}"/>
              </a:ext>
            </a:extLst>
          </p:cNvPr>
          <p:cNvSpPr txBox="1"/>
          <p:nvPr userDrawn="1"/>
        </p:nvSpPr>
        <p:spPr>
          <a:xfrm>
            <a:off x="8698890" y="648334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165409-AACC-4605-8892-1A883468FD7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B0147B5-7C98-4E5D-8901-C96CE8A29E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3884" y="5376231"/>
            <a:ext cx="1884233" cy="49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26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arge GT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F6557B-1FAD-4B21-979D-AF32AE2ABE3A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August 16, 2023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7DB53-62C4-4756-975D-61C7B1206CEF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1A883-A380-48BD-9784-E5D4EAA2714C}"/>
              </a:ext>
            </a:extLst>
          </p:cNvPr>
          <p:cNvSpPr txBox="1"/>
          <p:nvPr userDrawn="1"/>
        </p:nvSpPr>
        <p:spPr>
          <a:xfrm>
            <a:off x="381000" y="6058209"/>
            <a:ext cx="3112110" cy="25369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Copyright © 2020 Accenture. All rights reserved.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1927837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Image - Left-aligned, GT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201D5A-B05B-463A-A39A-D6351436BF33}"/>
              </a:ext>
            </a:extLst>
          </p:cNvPr>
          <p:cNvSpPr/>
          <p:nvPr userDrawn="1"/>
        </p:nvSpPr>
        <p:spPr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4C2CB2-4FB2-4965-A2E7-4A3640116F06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August 16, 2023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7" name="Picture 6" descr="A picture containing card, drawing, crosswalk, table&#10;&#10;Description automatically generated">
            <a:extLst>
              <a:ext uri="{FF2B5EF4-FFF2-40B4-BE49-F238E27FC236}">
                <a16:creationId xmlns:a16="http://schemas.microsoft.com/office/drawing/2014/main" id="{DF3CEA6A-1953-4DD5-B664-EEDED901A6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5601656"/>
            <a:ext cx="670786" cy="71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36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Image - Left-align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45ECE-0A07-4C4B-9368-0CE4479DD27C}"/>
              </a:ext>
            </a:extLst>
          </p:cNvPr>
          <p:cNvSpPr/>
          <p:nvPr userDrawn="1"/>
        </p:nvSpPr>
        <p:spPr>
          <a:xfrm>
            <a:off x="0" y="0"/>
            <a:ext cx="7965831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8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525D8-8C3D-4FEA-A4F3-A7048ED97C11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August 16, 2023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66439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1" y="5813885"/>
            <a:ext cx="1884233" cy="49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3968416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ver Image - Left-aligned, G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ity skyline at night&#10;&#10;Description automatically generated with low confidence">
            <a:extLst>
              <a:ext uri="{FF2B5EF4-FFF2-40B4-BE49-F238E27FC236}">
                <a16:creationId xmlns:a16="http://schemas.microsoft.com/office/drawing/2014/main" id="{CEC421B1-DA5A-787E-79B3-D22F9C8AF8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07A4A4-F42C-1A83-FEDA-0AFDFFFDDD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07" y="4132750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Team members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E1A059A3-99AF-82A8-75D3-67F692FB30D3}"/>
              </a:ext>
            </a:extLst>
          </p:cNvPr>
          <p:cNvSpPr txBox="1"/>
          <p:nvPr userDrawn="1"/>
        </p:nvSpPr>
        <p:spPr>
          <a:xfrm>
            <a:off x="279807" y="5694604"/>
            <a:ext cx="23182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  <a:t>Accenture B-School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  <a:t>Next-Horizon Strategy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Graphik Regular" panose="020B0503030202060203" pitchFamily="34" charset="77"/>
                <a:ea typeface="+mn-ea"/>
                <a:cs typeface="+mn-cs"/>
              </a:rPr>
              <a:t>Challenge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5097151-112E-4372-9CB9-6113667910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9807" y="1701921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Case Topic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A1B0CBE-CE23-4422-94E8-BBC562A7C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9807" y="2934675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4192443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 Image - Left-aligned, GT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8D73DB1-391D-4EBC-A01D-D0A58B320E3F}"/>
              </a:ext>
            </a:extLst>
          </p:cNvPr>
          <p:cNvSpPr/>
          <p:nvPr/>
        </p:nvSpPr>
        <p:spPr>
          <a:xfrm>
            <a:off x="1200229" y="5941281"/>
            <a:ext cx="138591" cy="146687"/>
          </a:xfrm>
          <a:custGeom>
            <a:avLst/>
            <a:gdLst>
              <a:gd name="connsiteX0" fmla="*/ 0 w 138591"/>
              <a:gd name="connsiteY0" fmla="*/ 103534 h 146687"/>
              <a:gd name="connsiteX1" fmla="*/ 80967 w 138591"/>
              <a:gd name="connsiteY1" fmla="*/ 73473 h 146687"/>
              <a:gd name="connsiteX2" fmla="*/ 0 w 138591"/>
              <a:gd name="connsiteY2" fmla="*/ 41862 h 146687"/>
              <a:gd name="connsiteX3" fmla="*/ 0 w 138591"/>
              <a:gd name="connsiteY3" fmla="*/ 0 h 146687"/>
              <a:gd name="connsiteX4" fmla="*/ 138591 w 138591"/>
              <a:gd name="connsiteY4" fmla="*/ 55815 h 146687"/>
              <a:gd name="connsiteX5" fmla="*/ 138591 w 138591"/>
              <a:gd name="connsiteY5" fmla="*/ 90528 h 146687"/>
              <a:gd name="connsiteX6" fmla="*/ 0 w 138591"/>
              <a:gd name="connsiteY6" fmla="*/ 146688 h 146687"/>
              <a:gd name="connsiteX7" fmla="*/ 0 w 138591"/>
              <a:gd name="connsiteY7" fmla="*/ 103534 h 14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8591" h="146687">
                <a:moveTo>
                  <a:pt x="0" y="103534"/>
                </a:moveTo>
                <a:lnTo>
                  <a:pt x="80967" y="73473"/>
                </a:lnTo>
                <a:lnTo>
                  <a:pt x="0" y="41862"/>
                </a:lnTo>
                <a:lnTo>
                  <a:pt x="0" y="0"/>
                </a:lnTo>
                <a:lnTo>
                  <a:pt x="138591" y="55815"/>
                </a:lnTo>
                <a:lnTo>
                  <a:pt x="138591" y="90528"/>
                </a:lnTo>
                <a:lnTo>
                  <a:pt x="0" y="146688"/>
                </a:lnTo>
                <a:lnTo>
                  <a:pt x="0" y="103534"/>
                </a:lnTo>
                <a:close/>
              </a:path>
            </a:pathLst>
          </a:custGeom>
          <a:solidFill>
            <a:schemeClr val="tx1"/>
          </a:solidFill>
          <a:ln w="85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18377B-B7FD-47CD-A6A5-79A8C77C9B9A}"/>
              </a:ext>
            </a:extLst>
          </p:cNvPr>
          <p:cNvSpPr/>
          <p:nvPr/>
        </p:nvSpPr>
        <p:spPr>
          <a:xfrm>
            <a:off x="381000" y="6097185"/>
            <a:ext cx="1405550" cy="214715"/>
          </a:xfrm>
          <a:custGeom>
            <a:avLst/>
            <a:gdLst>
              <a:gd name="connsiteX0" fmla="*/ 53003 w 1405550"/>
              <a:gd name="connsiteY0" fmla="*/ 214364 h 214715"/>
              <a:gd name="connsiteX1" fmla="*/ -314 w 1405550"/>
              <a:gd name="connsiteY1" fmla="*/ 166559 h 214715"/>
              <a:gd name="connsiteX2" fmla="*/ -314 w 1405550"/>
              <a:gd name="connsiteY2" fmla="*/ 164750 h 214715"/>
              <a:gd name="connsiteX3" fmla="*/ 76259 w 1405550"/>
              <a:gd name="connsiteY3" fmla="*/ 111691 h 214715"/>
              <a:gd name="connsiteX4" fmla="*/ 96415 w 1405550"/>
              <a:gd name="connsiteY4" fmla="*/ 111691 h 214715"/>
              <a:gd name="connsiteX5" fmla="*/ 96415 w 1405550"/>
              <a:gd name="connsiteY5" fmla="*/ 103939 h 214715"/>
              <a:gd name="connsiteX6" fmla="*/ 72556 w 1405550"/>
              <a:gd name="connsiteY6" fmla="*/ 78098 h 214715"/>
              <a:gd name="connsiteX7" fmla="*/ 48093 w 1405550"/>
              <a:gd name="connsiteY7" fmla="*/ 98030 h 214715"/>
              <a:gd name="connsiteX8" fmla="*/ 48007 w 1405550"/>
              <a:gd name="connsiteY8" fmla="*/ 99201 h 214715"/>
              <a:gd name="connsiteX9" fmla="*/ 4940 w 1405550"/>
              <a:gd name="connsiteY9" fmla="*/ 99201 h 214715"/>
              <a:gd name="connsiteX10" fmla="*/ 75054 w 1405550"/>
              <a:gd name="connsiteY10" fmla="*/ 45539 h 214715"/>
              <a:gd name="connsiteX11" fmla="*/ 141980 w 1405550"/>
              <a:gd name="connsiteY11" fmla="*/ 102561 h 214715"/>
              <a:gd name="connsiteX12" fmla="*/ 141980 w 1405550"/>
              <a:gd name="connsiteY12" fmla="*/ 211091 h 214715"/>
              <a:gd name="connsiteX13" fmla="*/ 97707 w 1405550"/>
              <a:gd name="connsiteY13" fmla="*/ 211091 h 214715"/>
              <a:gd name="connsiteX14" fmla="*/ 97707 w 1405550"/>
              <a:gd name="connsiteY14" fmla="*/ 192744 h 214715"/>
              <a:gd name="connsiteX15" fmla="*/ 53003 w 1405550"/>
              <a:gd name="connsiteY15" fmla="*/ 214364 h 214715"/>
              <a:gd name="connsiteX16" fmla="*/ 96071 w 1405550"/>
              <a:gd name="connsiteY16" fmla="*/ 156998 h 214715"/>
              <a:gd name="connsiteX17" fmla="*/ 96071 w 1405550"/>
              <a:gd name="connsiteY17" fmla="*/ 141493 h 214715"/>
              <a:gd name="connsiteX18" fmla="*/ 78068 w 1405550"/>
              <a:gd name="connsiteY18" fmla="*/ 141493 h 214715"/>
              <a:gd name="connsiteX19" fmla="*/ 44303 w 1405550"/>
              <a:gd name="connsiteY19" fmla="*/ 162252 h 214715"/>
              <a:gd name="connsiteX20" fmla="*/ 44303 w 1405550"/>
              <a:gd name="connsiteY20" fmla="*/ 163803 h 214715"/>
              <a:gd name="connsiteX21" fmla="*/ 66268 w 1405550"/>
              <a:gd name="connsiteY21" fmla="*/ 182752 h 214715"/>
              <a:gd name="connsiteX22" fmla="*/ 96415 w 1405550"/>
              <a:gd name="connsiteY22" fmla="*/ 156998 h 214715"/>
              <a:gd name="connsiteX23" fmla="*/ 243964 w 1405550"/>
              <a:gd name="connsiteY23" fmla="*/ 214364 h 214715"/>
              <a:gd name="connsiteX24" fmla="*/ 166443 w 1405550"/>
              <a:gd name="connsiteY24" fmla="*/ 131588 h 214715"/>
              <a:gd name="connsiteX25" fmla="*/ 166443 w 1405550"/>
              <a:gd name="connsiteY25" fmla="*/ 129435 h 214715"/>
              <a:gd name="connsiteX26" fmla="*/ 243964 w 1405550"/>
              <a:gd name="connsiteY26" fmla="*/ 45367 h 214715"/>
              <a:gd name="connsiteX27" fmla="*/ 314940 w 1405550"/>
              <a:gd name="connsiteY27" fmla="*/ 106437 h 214715"/>
              <a:gd name="connsiteX28" fmla="*/ 271872 w 1405550"/>
              <a:gd name="connsiteY28" fmla="*/ 106437 h 214715"/>
              <a:gd name="connsiteX29" fmla="*/ 245170 w 1405550"/>
              <a:gd name="connsiteY29" fmla="*/ 80596 h 214715"/>
              <a:gd name="connsiteX30" fmla="*/ 212697 w 1405550"/>
              <a:gd name="connsiteY30" fmla="*/ 127712 h 214715"/>
              <a:gd name="connsiteX31" fmla="*/ 212697 w 1405550"/>
              <a:gd name="connsiteY31" fmla="*/ 132449 h 214715"/>
              <a:gd name="connsiteX32" fmla="*/ 245515 w 1405550"/>
              <a:gd name="connsiteY32" fmla="*/ 180168 h 214715"/>
              <a:gd name="connsiteX33" fmla="*/ 274973 w 1405550"/>
              <a:gd name="connsiteY33" fmla="*/ 150968 h 214715"/>
              <a:gd name="connsiteX34" fmla="*/ 316232 w 1405550"/>
              <a:gd name="connsiteY34" fmla="*/ 150968 h 214715"/>
              <a:gd name="connsiteX35" fmla="*/ 244309 w 1405550"/>
              <a:gd name="connsiteY35" fmla="*/ 214364 h 214715"/>
              <a:gd name="connsiteX36" fmla="*/ 412617 w 1405550"/>
              <a:gd name="connsiteY36" fmla="*/ 214364 h 214715"/>
              <a:gd name="connsiteX37" fmla="*/ 335095 w 1405550"/>
              <a:gd name="connsiteY37" fmla="*/ 131588 h 214715"/>
              <a:gd name="connsiteX38" fmla="*/ 335095 w 1405550"/>
              <a:gd name="connsiteY38" fmla="*/ 129435 h 214715"/>
              <a:gd name="connsiteX39" fmla="*/ 412617 w 1405550"/>
              <a:gd name="connsiteY39" fmla="*/ 45367 h 214715"/>
              <a:gd name="connsiteX40" fmla="*/ 483592 w 1405550"/>
              <a:gd name="connsiteY40" fmla="*/ 106437 h 214715"/>
              <a:gd name="connsiteX41" fmla="*/ 440524 w 1405550"/>
              <a:gd name="connsiteY41" fmla="*/ 106437 h 214715"/>
              <a:gd name="connsiteX42" fmla="*/ 413909 w 1405550"/>
              <a:gd name="connsiteY42" fmla="*/ 80596 h 214715"/>
              <a:gd name="connsiteX43" fmla="*/ 381350 w 1405550"/>
              <a:gd name="connsiteY43" fmla="*/ 127712 h 214715"/>
              <a:gd name="connsiteX44" fmla="*/ 381350 w 1405550"/>
              <a:gd name="connsiteY44" fmla="*/ 132449 h 214715"/>
              <a:gd name="connsiteX45" fmla="*/ 414167 w 1405550"/>
              <a:gd name="connsiteY45" fmla="*/ 180168 h 214715"/>
              <a:gd name="connsiteX46" fmla="*/ 443625 w 1405550"/>
              <a:gd name="connsiteY46" fmla="*/ 150968 h 214715"/>
              <a:gd name="connsiteX47" fmla="*/ 484884 w 1405550"/>
              <a:gd name="connsiteY47" fmla="*/ 150968 h 214715"/>
              <a:gd name="connsiteX48" fmla="*/ 412961 w 1405550"/>
              <a:gd name="connsiteY48" fmla="*/ 214364 h 214715"/>
              <a:gd name="connsiteX49" fmla="*/ 582561 w 1405550"/>
              <a:gd name="connsiteY49" fmla="*/ 214364 h 214715"/>
              <a:gd name="connsiteX50" fmla="*/ 503834 w 1405550"/>
              <a:gd name="connsiteY50" fmla="*/ 132536 h 214715"/>
              <a:gd name="connsiteX51" fmla="*/ 503834 w 1405550"/>
              <a:gd name="connsiteY51" fmla="*/ 129435 h 214715"/>
              <a:gd name="connsiteX52" fmla="*/ 581355 w 1405550"/>
              <a:gd name="connsiteY52" fmla="*/ 45367 h 214715"/>
              <a:gd name="connsiteX53" fmla="*/ 655517 w 1405550"/>
              <a:gd name="connsiteY53" fmla="*/ 121596 h 214715"/>
              <a:gd name="connsiteX54" fmla="*/ 655517 w 1405550"/>
              <a:gd name="connsiteY54" fmla="*/ 141063 h 214715"/>
              <a:gd name="connsiteX55" fmla="*/ 550088 w 1405550"/>
              <a:gd name="connsiteY55" fmla="*/ 141063 h 214715"/>
              <a:gd name="connsiteX56" fmla="*/ 583853 w 1405550"/>
              <a:gd name="connsiteY56" fmla="*/ 181374 h 214715"/>
              <a:gd name="connsiteX57" fmla="*/ 613656 w 1405550"/>
              <a:gd name="connsiteY57" fmla="*/ 160271 h 214715"/>
              <a:gd name="connsiteX58" fmla="*/ 655517 w 1405550"/>
              <a:gd name="connsiteY58" fmla="*/ 160271 h 214715"/>
              <a:gd name="connsiteX59" fmla="*/ 582905 w 1405550"/>
              <a:gd name="connsiteY59" fmla="*/ 214364 h 214715"/>
              <a:gd name="connsiteX60" fmla="*/ 550346 w 1405550"/>
              <a:gd name="connsiteY60" fmla="*/ 111002 h 214715"/>
              <a:gd name="connsiteX61" fmla="*/ 611072 w 1405550"/>
              <a:gd name="connsiteY61" fmla="*/ 111002 h 214715"/>
              <a:gd name="connsiteX62" fmla="*/ 581355 w 1405550"/>
              <a:gd name="connsiteY62" fmla="*/ 76548 h 214715"/>
              <a:gd name="connsiteX63" fmla="*/ 550691 w 1405550"/>
              <a:gd name="connsiteY63" fmla="*/ 111088 h 214715"/>
              <a:gd name="connsiteX64" fmla="*/ 683080 w 1405550"/>
              <a:gd name="connsiteY64" fmla="*/ 48726 h 214715"/>
              <a:gd name="connsiteX65" fmla="*/ 728301 w 1405550"/>
              <a:gd name="connsiteY65" fmla="*/ 48726 h 214715"/>
              <a:gd name="connsiteX66" fmla="*/ 728301 w 1405550"/>
              <a:gd name="connsiteY66" fmla="*/ 72844 h 214715"/>
              <a:gd name="connsiteX67" fmla="*/ 777312 w 1405550"/>
              <a:gd name="connsiteY67" fmla="*/ 45281 h 214715"/>
              <a:gd name="connsiteX68" fmla="*/ 826323 w 1405550"/>
              <a:gd name="connsiteY68" fmla="*/ 102302 h 214715"/>
              <a:gd name="connsiteX69" fmla="*/ 826323 w 1405550"/>
              <a:gd name="connsiteY69" fmla="*/ 210832 h 214715"/>
              <a:gd name="connsiteX70" fmla="*/ 781016 w 1405550"/>
              <a:gd name="connsiteY70" fmla="*/ 210832 h 214715"/>
              <a:gd name="connsiteX71" fmla="*/ 781016 w 1405550"/>
              <a:gd name="connsiteY71" fmla="*/ 109193 h 214715"/>
              <a:gd name="connsiteX72" fmla="*/ 756812 w 1405550"/>
              <a:gd name="connsiteY72" fmla="*/ 81888 h 214715"/>
              <a:gd name="connsiteX73" fmla="*/ 728181 w 1405550"/>
              <a:gd name="connsiteY73" fmla="*/ 107436 h 214715"/>
              <a:gd name="connsiteX74" fmla="*/ 728301 w 1405550"/>
              <a:gd name="connsiteY74" fmla="*/ 111949 h 214715"/>
              <a:gd name="connsiteX75" fmla="*/ 728301 w 1405550"/>
              <a:gd name="connsiteY75" fmla="*/ 210832 h 214715"/>
              <a:gd name="connsiteX76" fmla="*/ 683080 w 1405550"/>
              <a:gd name="connsiteY76" fmla="*/ 210832 h 214715"/>
              <a:gd name="connsiteX77" fmla="*/ 910993 w 1405550"/>
              <a:gd name="connsiteY77" fmla="*/ -284 h 214715"/>
              <a:gd name="connsiteX78" fmla="*/ 910993 w 1405550"/>
              <a:gd name="connsiteY78" fmla="*/ 48726 h 214715"/>
              <a:gd name="connsiteX79" fmla="*/ 942002 w 1405550"/>
              <a:gd name="connsiteY79" fmla="*/ 48726 h 214715"/>
              <a:gd name="connsiteX80" fmla="*/ 942002 w 1405550"/>
              <a:gd name="connsiteY80" fmla="*/ 82491 h 214715"/>
              <a:gd name="connsiteX81" fmla="*/ 910993 w 1405550"/>
              <a:gd name="connsiteY81" fmla="*/ 82491 h 214715"/>
              <a:gd name="connsiteX82" fmla="*/ 910993 w 1405550"/>
              <a:gd name="connsiteY82" fmla="*/ 159410 h 214715"/>
              <a:gd name="connsiteX83" fmla="*/ 927101 w 1405550"/>
              <a:gd name="connsiteY83" fmla="*/ 177067 h 214715"/>
              <a:gd name="connsiteX84" fmla="*/ 942864 w 1405550"/>
              <a:gd name="connsiteY84" fmla="*/ 174225 h 214715"/>
              <a:gd name="connsiteX85" fmla="*/ 942864 w 1405550"/>
              <a:gd name="connsiteY85" fmla="*/ 209971 h 214715"/>
              <a:gd name="connsiteX86" fmla="*/ 917454 w 1405550"/>
              <a:gd name="connsiteY86" fmla="*/ 213330 h 214715"/>
              <a:gd name="connsiteX87" fmla="*/ 865342 w 1405550"/>
              <a:gd name="connsiteY87" fmla="*/ 164405 h 214715"/>
              <a:gd name="connsiteX88" fmla="*/ 865342 w 1405550"/>
              <a:gd name="connsiteY88" fmla="*/ 82836 h 214715"/>
              <a:gd name="connsiteX89" fmla="*/ 846478 w 1405550"/>
              <a:gd name="connsiteY89" fmla="*/ 82836 h 214715"/>
              <a:gd name="connsiteX90" fmla="*/ 846478 w 1405550"/>
              <a:gd name="connsiteY90" fmla="*/ 49071 h 214715"/>
              <a:gd name="connsiteX91" fmla="*/ 866117 w 1405550"/>
              <a:gd name="connsiteY91" fmla="*/ 49071 h 214715"/>
              <a:gd name="connsiteX92" fmla="*/ 866117 w 1405550"/>
              <a:gd name="connsiteY92" fmla="*/ 18665 h 214715"/>
              <a:gd name="connsiteX93" fmla="*/ 1112549 w 1405550"/>
              <a:gd name="connsiteY93" fmla="*/ 210832 h 214715"/>
              <a:gd name="connsiteX94" fmla="*/ 1067242 w 1405550"/>
              <a:gd name="connsiteY94" fmla="*/ 210832 h 214715"/>
              <a:gd name="connsiteX95" fmla="*/ 1067242 w 1405550"/>
              <a:gd name="connsiteY95" fmla="*/ 186973 h 214715"/>
              <a:gd name="connsiteX96" fmla="*/ 1020127 w 1405550"/>
              <a:gd name="connsiteY96" fmla="*/ 214278 h 214715"/>
              <a:gd name="connsiteX97" fmla="*/ 969565 w 1405550"/>
              <a:gd name="connsiteY97" fmla="*/ 158462 h 214715"/>
              <a:gd name="connsiteX98" fmla="*/ 969565 w 1405550"/>
              <a:gd name="connsiteY98" fmla="*/ 48813 h 214715"/>
              <a:gd name="connsiteX99" fmla="*/ 1015131 w 1405550"/>
              <a:gd name="connsiteY99" fmla="*/ 48813 h 214715"/>
              <a:gd name="connsiteX100" fmla="*/ 1015131 w 1405550"/>
              <a:gd name="connsiteY100" fmla="*/ 151744 h 214715"/>
              <a:gd name="connsiteX101" fmla="*/ 1038732 w 1405550"/>
              <a:gd name="connsiteY101" fmla="*/ 178962 h 214715"/>
              <a:gd name="connsiteX102" fmla="*/ 1067354 w 1405550"/>
              <a:gd name="connsiteY102" fmla="*/ 153036 h 214715"/>
              <a:gd name="connsiteX103" fmla="*/ 1067242 w 1405550"/>
              <a:gd name="connsiteY103" fmla="*/ 148901 h 214715"/>
              <a:gd name="connsiteX104" fmla="*/ 1067242 w 1405550"/>
              <a:gd name="connsiteY104" fmla="*/ 48813 h 214715"/>
              <a:gd name="connsiteX105" fmla="*/ 1112549 w 1405550"/>
              <a:gd name="connsiteY105" fmla="*/ 48813 h 214715"/>
              <a:gd name="connsiteX106" fmla="*/ 1145367 w 1405550"/>
              <a:gd name="connsiteY106" fmla="*/ 48726 h 214715"/>
              <a:gd name="connsiteX107" fmla="*/ 1190674 w 1405550"/>
              <a:gd name="connsiteY107" fmla="*/ 48726 h 214715"/>
              <a:gd name="connsiteX108" fmla="*/ 1190674 w 1405550"/>
              <a:gd name="connsiteY108" fmla="*/ 78443 h 214715"/>
              <a:gd name="connsiteX109" fmla="*/ 1239340 w 1405550"/>
              <a:gd name="connsiteY109" fmla="*/ 46487 h 214715"/>
              <a:gd name="connsiteX110" fmla="*/ 1239340 w 1405550"/>
              <a:gd name="connsiteY110" fmla="*/ 91191 h 214715"/>
              <a:gd name="connsiteX111" fmla="*/ 1190674 w 1405550"/>
              <a:gd name="connsiteY111" fmla="*/ 127454 h 214715"/>
              <a:gd name="connsiteX112" fmla="*/ 1190674 w 1405550"/>
              <a:gd name="connsiteY112" fmla="*/ 210832 h 214715"/>
              <a:gd name="connsiteX113" fmla="*/ 1145367 w 1405550"/>
              <a:gd name="connsiteY113" fmla="*/ 210832 h 214715"/>
              <a:gd name="connsiteX114" fmla="*/ 1332366 w 1405550"/>
              <a:gd name="connsiteY114" fmla="*/ 214278 h 214715"/>
              <a:gd name="connsiteX115" fmla="*/ 1253638 w 1405550"/>
              <a:gd name="connsiteY115" fmla="*/ 132449 h 214715"/>
              <a:gd name="connsiteX116" fmla="*/ 1253638 w 1405550"/>
              <a:gd name="connsiteY116" fmla="*/ 129349 h 214715"/>
              <a:gd name="connsiteX117" fmla="*/ 1331160 w 1405550"/>
              <a:gd name="connsiteY117" fmla="*/ 45281 h 214715"/>
              <a:gd name="connsiteX118" fmla="*/ 1405236 w 1405550"/>
              <a:gd name="connsiteY118" fmla="*/ 121510 h 214715"/>
              <a:gd name="connsiteX119" fmla="*/ 1405236 w 1405550"/>
              <a:gd name="connsiteY119" fmla="*/ 141063 h 214715"/>
              <a:gd name="connsiteX120" fmla="*/ 1299807 w 1405550"/>
              <a:gd name="connsiteY120" fmla="*/ 141063 h 214715"/>
              <a:gd name="connsiteX121" fmla="*/ 1333658 w 1405550"/>
              <a:gd name="connsiteY121" fmla="*/ 181374 h 214715"/>
              <a:gd name="connsiteX122" fmla="*/ 1363375 w 1405550"/>
              <a:gd name="connsiteY122" fmla="*/ 160271 h 214715"/>
              <a:gd name="connsiteX123" fmla="*/ 1405236 w 1405550"/>
              <a:gd name="connsiteY123" fmla="*/ 160271 h 214715"/>
              <a:gd name="connsiteX124" fmla="*/ 1332711 w 1405550"/>
              <a:gd name="connsiteY124" fmla="*/ 214364 h 214715"/>
              <a:gd name="connsiteX125" fmla="*/ 1300152 w 1405550"/>
              <a:gd name="connsiteY125" fmla="*/ 110916 h 214715"/>
              <a:gd name="connsiteX126" fmla="*/ 1360877 w 1405550"/>
              <a:gd name="connsiteY126" fmla="*/ 110916 h 214715"/>
              <a:gd name="connsiteX127" fmla="*/ 1331074 w 1405550"/>
              <a:gd name="connsiteY127" fmla="*/ 76462 h 214715"/>
              <a:gd name="connsiteX128" fmla="*/ 1300496 w 1405550"/>
              <a:gd name="connsiteY128" fmla="*/ 111088 h 214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1405550" h="214715">
                <a:moveTo>
                  <a:pt x="53003" y="214364"/>
                </a:moveTo>
                <a:cubicBezTo>
                  <a:pt x="23889" y="214364"/>
                  <a:pt x="-314" y="199462"/>
                  <a:pt x="-314" y="166559"/>
                </a:cubicBezTo>
                <a:lnTo>
                  <a:pt x="-314" y="164750"/>
                </a:lnTo>
                <a:cubicBezTo>
                  <a:pt x="-314" y="124697"/>
                  <a:pt x="34140" y="111691"/>
                  <a:pt x="76259" y="111691"/>
                </a:cubicBezTo>
                <a:lnTo>
                  <a:pt x="96415" y="111691"/>
                </a:lnTo>
                <a:lnTo>
                  <a:pt x="96415" y="103939"/>
                </a:lnTo>
                <a:cubicBezTo>
                  <a:pt x="96415" y="87832"/>
                  <a:pt x="89266" y="78098"/>
                  <a:pt x="72556" y="78098"/>
                </a:cubicBezTo>
                <a:cubicBezTo>
                  <a:pt x="60299" y="76849"/>
                  <a:pt x="49351" y="85773"/>
                  <a:pt x="48093" y="98030"/>
                </a:cubicBezTo>
                <a:cubicBezTo>
                  <a:pt x="48059" y="98418"/>
                  <a:pt x="48025" y="98805"/>
                  <a:pt x="48007" y="99201"/>
                </a:cubicBezTo>
                <a:lnTo>
                  <a:pt x="4940" y="99201"/>
                </a:lnTo>
                <a:cubicBezTo>
                  <a:pt x="8041" y="63197"/>
                  <a:pt x="36551" y="45539"/>
                  <a:pt x="75054" y="45539"/>
                </a:cubicBezTo>
                <a:cubicBezTo>
                  <a:pt x="113556" y="45539"/>
                  <a:pt x="141980" y="62250"/>
                  <a:pt x="141980" y="102561"/>
                </a:cubicBezTo>
                <a:lnTo>
                  <a:pt x="141980" y="211091"/>
                </a:lnTo>
                <a:lnTo>
                  <a:pt x="97707" y="211091"/>
                </a:lnTo>
                <a:lnTo>
                  <a:pt x="97707" y="192744"/>
                </a:lnTo>
                <a:cubicBezTo>
                  <a:pt x="87474" y="207102"/>
                  <a:pt x="70618" y="215260"/>
                  <a:pt x="53003" y="214364"/>
                </a:cubicBezTo>
                <a:close/>
                <a:moveTo>
                  <a:pt x="96071" y="156998"/>
                </a:moveTo>
                <a:lnTo>
                  <a:pt x="96071" y="141493"/>
                </a:lnTo>
                <a:lnTo>
                  <a:pt x="78068" y="141493"/>
                </a:lnTo>
                <a:cubicBezTo>
                  <a:pt x="55760" y="141493"/>
                  <a:pt x="44303" y="147695"/>
                  <a:pt x="44303" y="162252"/>
                </a:cubicBezTo>
                <a:lnTo>
                  <a:pt x="44303" y="163803"/>
                </a:lnTo>
                <a:cubicBezTo>
                  <a:pt x="44303" y="175000"/>
                  <a:pt x="51108" y="182752"/>
                  <a:pt x="66268" y="182752"/>
                </a:cubicBezTo>
                <a:cubicBezTo>
                  <a:pt x="81428" y="182752"/>
                  <a:pt x="96415" y="174052"/>
                  <a:pt x="96415" y="156998"/>
                </a:cubicBezTo>
                <a:close/>
                <a:moveTo>
                  <a:pt x="243964" y="214364"/>
                </a:moveTo>
                <a:cubicBezTo>
                  <a:pt x="199002" y="214364"/>
                  <a:pt x="166443" y="186456"/>
                  <a:pt x="166443" y="131588"/>
                </a:cubicBezTo>
                <a:lnTo>
                  <a:pt x="166443" y="129435"/>
                </a:lnTo>
                <a:cubicBezTo>
                  <a:pt x="166443" y="74481"/>
                  <a:pt x="200897" y="45367"/>
                  <a:pt x="243964" y="45367"/>
                </a:cubicBezTo>
                <a:cubicBezTo>
                  <a:pt x="280830" y="45367"/>
                  <a:pt x="311236" y="63972"/>
                  <a:pt x="314940" y="106437"/>
                </a:cubicBezTo>
                <a:lnTo>
                  <a:pt x="271872" y="106437"/>
                </a:lnTo>
                <a:cubicBezTo>
                  <a:pt x="269116" y="90674"/>
                  <a:pt x="261019" y="80596"/>
                  <a:pt x="245170" y="80596"/>
                </a:cubicBezTo>
                <a:cubicBezTo>
                  <a:pt x="225962" y="80596"/>
                  <a:pt x="212697" y="95756"/>
                  <a:pt x="212697" y="127712"/>
                </a:cubicBezTo>
                <a:lnTo>
                  <a:pt x="212697" y="132449"/>
                </a:lnTo>
                <a:cubicBezTo>
                  <a:pt x="212697" y="165267"/>
                  <a:pt x="224412" y="180168"/>
                  <a:pt x="245515" y="180168"/>
                </a:cubicBezTo>
                <a:cubicBezTo>
                  <a:pt x="261019" y="180168"/>
                  <a:pt x="272475" y="168712"/>
                  <a:pt x="274973" y="150968"/>
                </a:cubicBezTo>
                <a:lnTo>
                  <a:pt x="316232" y="150968"/>
                </a:lnTo>
                <a:cubicBezTo>
                  <a:pt x="313475" y="188007"/>
                  <a:pt x="288324" y="214364"/>
                  <a:pt x="244309" y="214364"/>
                </a:cubicBezTo>
                <a:close/>
                <a:moveTo>
                  <a:pt x="412617" y="214364"/>
                </a:moveTo>
                <a:cubicBezTo>
                  <a:pt x="367740" y="214364"/>
                  <a:pt x="335095" y="186456"/>
                  <a:pt x="335095" y="131588"/>
                </a:cubicBezTo>
                <a:lnTo>
                  <a:pt x="335095" y="129435"/>
                </a:lnTo>
                <a:cubicBezTo>
                  <a:pt x="335095" y="74481"/>
                  <a:pt x="369549" y="45367"/>
                  <a:pt x="412617" y="45367"/>
                </a:cubicBezTo>
                <a:cubicBezTo>
                  <a:pt x="449482" y="45367"/>
                  <a:pt x="479888" y="63972"/>
                  <a:pt x="483592" y="106437"/>
                </a:cubicBezTo>
                <a:lnTo>
                  <a:pt x="440524" y="106437"/>
                </a:lnTo>
                <a:cubicBezTo>
                  <a:pt x="437768" y="90674"/>
                  <a:pt x="429671" y="80596"/>
                  <a:pt x="413909" y="80596"/>
                </a:cubicBezTo>
                <a:cubicBezTo>
                  <a:pt x="394700" y="80596"/>
                  <a:pt x="381350" y="95756"/>
                  <a:pt x="381350" y="127712"/>
                </a:cubicBezTo>
                <a:lnTo>
                  <a:pt x="381350" y="132449"/>
                </a:lnTo>
                <a:cubicBezTo>
                  <a:pt x="381350" y="165267"/>
                  <a:pt x="393150" y="180168"/>
                  <a:pt x="414167" y="180168"/>
                </a:cubicBezTo>
                <a:cubicBezTo>
                  <a:pt x="429671" y="180168"/>
                  <a:pt x="441214" y="168712"/>
                  <a:pt x="443625" y="150968"/>
                </a:cubicBezTo>
                <a:lnTo>
                  <a:pt x="484884" y="150968"/>
                </a:lnTo>
                <a:cubicBezTo>
                  <a:pt x="482128" y="188007"/>
                  <a:pt x="457062" y="214364"/>
                  <a:pt x="412961" y="214364"/>
                </a:cubicBezTo>
                <a:close/>
                <a:moveTo>
                  <a:pt x="582561" y="214364"/>
                </a:moveTo>
                <a:cubicBezTo>
                  <a:pt x="535790" y="214364"/>
                  <a:pt x="503834" y="186456"/>
                  <a:pt x="503834" y="132536"/>
                </a:cubicBezTo>
                <a:lnTo>
                  <a:pt x="503834" y="129435"/>
                </a:lnTo>
                <a:cubicBezTo>
                  <a:pt x="503834" y="75170"/>
                  <a:pt x="537598" y="45367"/>
                  <a:pt x="581355" y="45367"/>
                </a:cubicBezTo>
                <a:cubicBezTo>
                  <a:pt x="621666" y="45367"/>
                  <a:pt x="655517" y="68020"/>
                  <a:pt x="655517" y="121596"/>
                </a:cubicBezTo>
                <a:lnTo>
                  <a:pt x="655517" y="141063"/>
                </a:lnTo>
                <a:lnTo>
                  <a:pt x="550088" y="141063"/>
                </a:lnTo>
                <a:cubicBezTo>
                  <a:pt x="551897" y="170263"/>
                  <a:pt x="564300" y="181374"/>
                  <a:pt x="583853" y="181374"/>
                </a:cubicBezTo>
                <a:cubicBezTo>
                  <a:pt x="597643" y="182683"/>
                  <a:pt x="610305" y="173708"/>
                  <a:pt x="613656" y="160271"/>
                </a:cubicBezTo>
                <a:lnTo>
                  <a:pt x="655517" y="160271"/>
                </a:lnTo>
                <a:cubicBezTo>
                  <a:pt x="650780" y="191107"/>
                  <a:pt x="625370" y="214364"/>
                  <a:pt x="582905" y="214364"/>
                </a:cubicBezTo>
                <a:close/>
                <a:moveTo>
                  <a:pt x="550346" y="111002"/>
                </a:moveTo>
                <a:lnTo>
                  <a:pt x="611072" y="111002"/>
                </a:lnTo>
                <a:cubicBezTo>
                  <a:pt x="610210" y="87142"/>
                  <a:pt x="599357" y="76548"/>
                  <a:pt x="581355" y="76548"/>
                </a:cubicBezTo>
                <a:cubicBezTo>
                  <a:pt x="567401" y="76979"/>
                  <a:pt x="554395" y="84731"/>
                  <a:pt x="550691" y="111088"/>
                </a:cubicBezTo>
                <a:close/>
                <a:moveTo>
                  <a:pt x="683080" y="48726"/>
                </a:moveTo>
                <a:lnTo>
                  <a:pt x="728301" y="48726"/>
                </a:lnTo>
                <a:lnTo>
                  <a:pt x="728301" y="72844"/>
                </a:lnTo>
                <a:cubicBezTo>
                  <a:pt x="738000" y="55014"/>
                  <a:pt x="757036" y="44299"/>
                  <a:pt x="777312" y="45281"/>
                </a:cubicBezTo>
                <a:cubicBezTo>
                  <a:pt x="806770" y="45281"/>
                  <a:pt x="826323" y="62938"/>
                  <a:pt x="826323" y="102302"/>
                </a:cubicBezTo>
                <a:lnTo>
                  <a:pt x="826323" y="210832"/>
                </a:lnTo>
                <a:lnTo>
                  <a:pt x="781016" y="210832"/>
                </a:lnTo>
                <a:lnTo>
                  <a:pt x="781016" y="109193"/>
                </a:lnTo>
                <a:cubicBezTo>
                  <a:pt x="781016" y="90243"/>
                  <a:pt x="773264" y="81888"/>
                  <a:pt x="756812" y="81888"/>
                </a:cubicBezTo>
                <a:cubicBezTo>
                  <a:pt x="741850" y="81036"/>
                  <a:pt x="729033" y="92474"/>
                  <a:pt x="728181" y="107436"/>
                </a:cubicBezTo>
                <a:cubicBezTo>
                  <a:pt x="728095" y="108943"/>
                  <a:pt x="728138" y="110451"/>
                  <a:pt x="728301" y="111949"/>
                </a:cubicBezTo>
                <a:lnTo>
                  <a:pt x="728301" y="210832"/>
                </a:lnTo>
                <a:lnTo>
                  <a:pt x="683080" y="210832"/>
                </a:lnTo>
                <a:close/>
                <a:moveTo>
                  <a:pt x="910993" y="-284"/>
                </a:moveTo>
                <a:lnTo>
                  <a:pt x="910993" y="48726"/>
                </a:lnTo>
                <a:lnTo>
                  <a:pt x="942002" y="48726"/>
                </a:lnTo>
                <a:lnTo>
                  <a:pt x="942002" y="82491"/>
                </a:lnTo>
                <a:lnTo>
                  <a:pt x="910993" y="82491"/>
                </a:lnTo>
                <a:lnTo>
                  <a:pt x="910993" y="159410"/>
                </a:lnTo>
                <a:cubicBezTo>
                  <a:pt x="910993" y="171468"/>
                  <a:pt x="916506" y="177067"/>
                  <a:pt x="927101" y="177067"/>
                </a:cubicBezTo>
                <a:cubicBezTo>
                  <a:pt x="932493" y="177240"/>
                  <a:pt x="937868" y="176275"/>
                  <a:pt x="942864" y="174225"/>
                </a:cubicBezTo>
                <a:lnTo>
                  <a:pt x="942864" y="209971"/>
                </a:lnTo>
                <a:cubicBezTo>
                  <a:pt x="934595" y="212262"/>
                  <a:pt x="926041" y="213399"/>
                  <a:pt x="917454" y="213330"/>
                </a:cubicBezTo>
                <a:cubicBezTo>
                  <a:pt x="882138" y="213330"/>
                  <a:pt x="865342" y="197223"/>
                  <a:pt x="865342" y="164405"/>
                </a:cubicBezTo>
                <a:lnTo>
                  <a:pt x="865342" y="82836"/>
                </a:lnTo>
                <a:lnTo>
                  <a:pt x="846478" y="82836"/>
                </a:lnTo>
                <a:lnTo>
                  <a:pt x="846478" y="49071"/>
                </a:lnTo>
                <a:lnTo>
                  <a:pt x="866117" y="49071"/>
                </a:lnTo>
                <a:lnTo>
                  <a:pt x="866117" y="18665"/>
                </a:lnTo>
                <a:close/>
                <a:moveTo>
                  <a:pt x="1112549" y="210832"/>
                </a:moveTo>
                <a:lnTo>
                  <a:pt x="1067242" y="210832"/>
                </a:lnTo>
                <a:lnTo>
                  <a:pt x="1067242" y="186973"/>
                </a:lnTo>
                <a:cubicBezTo>
                  <a:pt x="1058431" y="204699"/>
                  <a:pt x="1039886" y="215449"/>
                  <a:pt x="1020127" y="214278"/>
                </a:cubicBezTo>
                <a:cubicBezTo>
                  <a:pt x="990927" y="214278"/>
                  <a:pt x="969565" y="196620"/>
                  <a:pt x="969565" y="158462"/>
                </a:cubicBezTo>
                <a:lnTo>
                  <a:pt x="969565" y="48813"/>
                </a:lnTo>
                <a:lnTo>
                  <a:pt x="1015131" y="48813"/>
                </a:lnTo>
                <a:lnTo>
                  <a:pt x="1015131" y="151744"/>
                </a:lnTo>
                <a:cubicBezTo>
                  <a:pt x="1015131" y="170349"/>
                  <a:pt x="1022625" y="178962"/>
                  <a:pt x="1038732" y="178962"/>
                </a:cubicBezTo>
                <a:cubicBezTo>
                  <a:pt x="1053797" y="179703"/>
                  <a:pt x="1066605" y="168101"/>
                  <a:pt x="1067354" y="153036"/>
                </a:cubicBezTo>
                <a:cubicBezTo>
                  <a:pt x="1067423" y="151658"/>
                  <a:pt x="1067380" y="150279"/>
                  <a:pt x="1067242" y="148901"/>
                </a:cubicBezTo>
                <a:lnTo>
                  <a:pt x="1067242" y="48813"/>
                </a:lnTo>
                <a:lnTo>
                  <a:pt x="1112549" y="48813"/>
                </a:lnTo>
                <a:close/>
                <a:moveTo>
                  <a:pt x="1145367" y="48726"/>
                </a:moveTo>
                <a:lnTo>
                  <a:pt x="1190674" y="48726"/>
                </a:lnTo>
                <a:lnTo>
                  <a:pt x="1190674" y="78443"/>
                </a:lnTo>
                <a:cubicBezTo>
                  <a:pt x="1197935" y="58115"/>
                  <a:pt x="1217798" y="45074"/>
                  <a:pt x="1239340" y="46487"/>
                </a:cubicBezTo>
                <a:lnTo>
                  <a:pt x="1239340" y="91191"/>
                </a:lnTo>
                <a:cubicBezTo>
                  <a:pt x="1208676" y="91191"/>
                  <a:pt x="1190674" y="100493"/>
                  <a:pt x="1190674" y="127454"/>
                </a:cubicBezTo>
                <a:lnTo>
                  <a:pt x="1190674" y="210832"/>
                </a:lnTo>
                <a:lnTo>
                  <a:pt x="1145367" y="210832"/>
                </a:lnTo>
                <a:close/>
                <a:moveTo>
                  <a:pt x="1332366" y="214278"/>
                </a:moveTo>
                <a:cubicBezTo>
                  <a:pt x="1285508" y="214278"/>
                  <a:pt x="1253638" y="186370"/>
                  <a:pt x="1253638" y="132449"/>
                </a:cubicBezTo>
                <a:lnTo>
                  <a:pt x="1253638" y="129349"/>
                </a:lnTo>
                <a:cubicBezTo>
                  <a:pt x="1253638" y="75084"/>
                  <a:pt x="1287403" y="45281"/>
                  <a:pt x="1331160" y="45281"/>
                </a:cubicBezTo>
                <a:cubicBezTo>
                  <a:pt x="1371471" y="45281"/>
                  <a:pt x="1405236" y="67934"/>
                  <a:pt x="1405236" y="121510"/>
                </a:cubicBezTo>
                <a:lnTo>
                  <a:pt x="1405236" y="141063"/>
                </a:lnTo>
                <a:lnTo>
                  <a:pt x="1299807" y="141063"/>
                </a:lnTo>
                <a:cubicBezTo>
                  <a:pt x="1301702" y="170263"/>
                  <a:pt x="1314105" y="181374"/>
                  <a:pt x="1333658" y="181374"/>
                </a:cubicBezTo>
                <a:cubicBezTo>
                  <a:pt x="1347414" y="182631"/>
                  <a:pt x="1360033" y="173674"/>
                  <a:pt x="1363375" y="160271"/>
                </a:cubicBezTo>
                <a:lnTo>
                  <a:pt x="1405236" y="160271"/>
                </a:lnTo>
                <a:cubicBezTo>
                  <a:pt x="1400154" y="191107"/>
                  <a:pt x="1375175" y="214364"/>
                  <a:pt x="1332711" y="214364"/>
                </a:cubicBezTo>
                <a:close/>
                <a:moveTo>
                  <a:pt x="1300152" y="110916"/>
                </a:moveTo>
                <a:lnTo>
                  <a:pt x="1360877" y="110916"/>
                </a:lnTo>
                <a:cubicBezTo>
                  <a:pt x="1359929" y="87056"/>
                  <a:pt x="1349076" y="76462"/>
                  <a:pt x="1331074" y="76462"/>
                </a:cubicBezTo>
                <a:cubicBezTo>
                  <a:pt x="1317206" y="76979"/>
                  <a:pt x="1304200" y="84731"/>
                  <a:pt x="1300496" y="111088"/>
                </a:cubicBezTo>
                <a:close/>
              </a:path>
            </a:pathLst>
          </a:custGeom>
          <a:solidFill>
            <a:schemeClr val="tx1"/>
          </a:solidFill>
          <a:ln w="85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600807"/>
            <a:ext cx="6246042" cy="2492990"/>
          </a:xfr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07A4A4-F42C-1A83-FEDA-0AFDFFFDDD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4224338"/>
            <a:ext cx="5715000" cy="763587"/>
          </a:xfrm>
        </p:spPr>
        <p:txBody>
          <a:bodyPr/>
          <a:lstStyle>
            <a:lvl1pPr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1pPr>
            <a:lvl2pPr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00196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Image - Left-aligned, Log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525D8-8C3D-4FEA-A4F3-A7048ED97C11}" type="datetime2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August 16, 2023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38692DE-6F51-4131-B2FE-C47AAD152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001" y="5813885"/>
            <a:ext cx="1884233" cy="4980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6A9A1-BB92-4DC6-893F-3C43599C724E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rgbClr val="96968C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Format Background… &gt; Picture or texture fill &gt; Set to one of the provided selections in the image library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96968C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097823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</p:spTree>
    <p:extLst>
      <p:ext uri="{BB962C8B-B14F-4D97-AF65-F5344CB8AC3E}">
        <p14:creationId xmlns:p14="http://schemas.microsoft.com/office/powerpoint/2010/main" val="1940663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72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Arial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9744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3A33DB62-CB79-01CF-0DF4-C353DADFA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2779"/>
          <a:stretch/>
        </p:blipFill>
        <p:spPr>
          <a:xfrm>
            <a:off x="1524" y="0"/>
            <a:ext cx="12188952" cy="25525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68" y="419100"/>
            <a:ext cx="11429532" cy="1136715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EE863A-38DC-4F4B-8B58-9CC36870A6E3}"/>
              </a:ext>
            </a:extLst>
          </p:cNvPr>
          <p:cNvSpPr/>
          <p:nvPr userDrawn="1"/>
        </p:nvSpPr>
        <p:spPr>
          <a:xfrm>
            <a:off x="381000" y="1828800"/>
            <a:ext cx="11430000" cy="4464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52400" dist="38100" dir="5400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2937" y="2554288"/>
            <a:ext cx="10906125" cy="3478212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2" name="Picture 11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82241DB8-C3B3-46F2-630C-A8500C8431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9C4459-4FCF-36D1-7012-CD1D3645DE93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08A999-4567-2B8E-A91C-3B1A267EBCD4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439EE47E-6A8D-85A1-A7CD-451E65CFB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317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B9124D07-1463-DF1A-9DED-E59CF2A7DE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2779"/>
          <a:stretch/>
        </p:blipFill>
        <p:spPr>
          <a:xfrm>
            <a:off x="1524" y="0"/>
            <a:ext cx="12188952" cy="255256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EE863A-38DC-4F4B-8B58-9CC36870A6E3}"/>
              </a:ext>
            </a:extLst>
          </p:cNvPr>
          <p:cNvSpPr/>
          <p:nvPr userDrawn="1"/>
        </p:nvSpPr>
        <p:spPr>
          <a:xfrm>
            <a:off x="381000" y="578471"/>
            <a:ext cx="11430000" cy="573342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52400" dist="38100" dir="5400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2937" y="1429171"/>
            <a:ext cx="10906125" cy="3478212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20" name="Picture 1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1DD33DB6-17D3-1D21-045A-180E4602B9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EEE450D-2C41-6015-13CA-9EA3F89E2D99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3E56D5-513D-4066-1E23-D723C12F63C6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FD0C551F-56AD-EFB0-9141-BC26B724B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C4986B-0CF1-4791-AE40-063D1C0DC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936" y="859347"/>
            <a:ext cx="10906125" cy="393954"/>
          </a:xfrm>
        </p:spPr>
        <p:txBody>
          <a:bodyPr wrap="square" anchor="t">
            <a:sp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32pt</a:t>
            </a:r>
          </a:p>
        </p:txBody>
      </p:sp>
    </p:spTree>
    <p:extLst>
      <p:ext uri="{BB962C8B-B14F-4D97-AF65-F5344CB8AC3E}">
        <p14:creationId xmlns:p14="http://schemas.microsoft.com/office/powerpoint/2010/main" val="809524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1EEA6CD-FE2B-3518-7363-CCD1F2D9BC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pic>
        <p:nvPicPr>
          <p:cNvPr id="10" name="Picture 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A394997-029E-65F2-A4C5-F8AA26A410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E23304-5345-1EDA-115D-84317B6E5D67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2022 Accenture. All rights reserved.</a:t>
            </a: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9937F-4EA5-9B8D-55F7-58793CF784A2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86D91864-15A9-8B36-C349-D42D2ECAA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098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  <p15:guide id="3" orient="horz" pos="6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1EEA6CD-FE2B-3518-7363-CCD1F2D9BC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pic>
        <p:nvPicPr>
          <p:cNvPr id="10" name="Picture 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A394997-029E-65F2-A4C5-F8AA26A410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E23304-5345-1EDA-115D-84317B6E5D67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2022 Accenture. All rights reserved.</a:t>
            </a: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9937F-4EA5-9B8D-55F7-58793CF784A2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86D91864-15A9-8B36-C349-D42D2ECAA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355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  <p15:guide id="3" orient="horz" pos="6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1FEDEF5E-B65C-2B39-3CDB-C6C5E33B88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47D570-694E-0244-1B53-4703C3406F1E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52F56-61B4-78B0-9630-E2673BFB81EB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7DDBC2DF-6E62-B90B-3875-CA1D1BA66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341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  <p15:guide id="3" orient="horz" pos="6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Background pattern&#10;&#10;Description automatically generated">
            <a:extLst>
              <a:ext uri="{FF2B5EF4-FFF2-40B4-BE49-F238E27FC236}">
                <a16:creationId xmlns:a16="http://schemas.microsoft.com/office/drawing/2014/main" id="{E1337FA5-A70C-9EE8-26C7-E9AADAA33D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pic>
        <p:nvPicPr>
          <p:cNvPr id="25" name="Picture 2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540970C0-70D4-E2CC-0F29-AC1BFC4EC5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685F17-2D51-6747-A26D-2D218FF8DD93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2022 Accenture. All rights reserved.</a:t>
            </a: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0A5AFE-18D4-247D-A86B-3C05EE1FD680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8" name="Slide Number Placeholder 6">
            <a:extLst>
              <a:ext uri="{FF2B5EF4-FFF2-40B4-BE49-F238E27FC236}">
                <a16:creationId xmlns:a16="http://schemas.microsoft.com/office/drawing/2014/main" id="{8B637B5E-A052-73DA-AC74-FCF7E6532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381AE8-13A8-F06B-24ED-D14AD53C3643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43000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/>
        </p:spPr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EF06B3-1844-84A8-E661-FFA40975D9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2999" y="4172498"/>
            <a:ext cx="1994067" cy="490537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7D271E0-0BA0-0A2F-910F-1206DDD058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43000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D463BDEB-F525-C5BB-5BA2-F4E661D66AA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847933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/>
        </p:spPr>
        <p:txBody>
          <a:bodyPr/>
          <a:lstStyle/>
          <a:p>
            <a:endParaRPr lang="en-IN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93906B97-A8D1-ADD7-E91D-BC19A4D04F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47932" y="4172498"/>
            <a:ext cx="1994067" cy="490537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8923D737-C362-01DF-05E2-7DEBCD04F0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47933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95C1AAF7-B406-4998-037D-03AA2962D38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552866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/>
        </p:spPr>
        <p:txBody>
          <a:bodyPr/>
          <a:lstStyle/>
          <a:p>
            <a:endParaRPr lang="en-IN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28D6CD2-2F8C-2351-691E-BBA769EAF3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52865" y="4172498"/>
            <a:ext cx="1994067" cy="490537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8A8762DD-0FEA-B4A3-3374-C4785A9D49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52866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AE1DE6DE-E888-B10E-D254-D373731EBBE7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9257800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/>
        </p:spPr>
        <p:txBody>
          <a:bodyPr/>
          <a:lstStyle/>
          <a:p>
            <a:endParaRPr lang="en-IN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89180913-74D9-8A36-616A-4AAB1AC640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57799" y="4172498"/>
            <a:ext cx="1994067" cy="490537"/>
          </a:xfrm>
        </p:spPr>
        <p:txBody>
          <a:bodyPr/>
          <a:lstStyle>
            <a:lvl1pPr>
              <a:defRPr sz="1600" b="1">
                <a:solidFill>
                  <a:schemeClr val="tx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F314B5EF-FDA2-EC49-B4E7-063614D4DD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57800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9D22BA0-2421-D65E-1FB8-6C2F8E84B5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356740"/>
            <a:ext cx="10286998" cy="443198"/>
          </a:xfrm>
        </p:spPr>
        <p:txBody>
          <a:bodyPr wrap="square" anchor="t">
            <a:sp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32pt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068C2A61-8D65-EA48-3357-A98833890D0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3000" y="933002"/>
            <a:ext cx="10287000" cy="292100"/>
          </a:xfrm>
        </p:spPr>
        <p:txBody>
          <a:bodyPr/>
          <a:lstStyle>
            <a:lvl1pPr>
              <a:defRPr sz="2000" b="1">
                <a:solidFill>
                  <a:schemeClr val="tx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20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8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" b="62784"/>
          <a:stretch/>
        </p:blipFill>
        <p:spPr>
          <a:xfrm>
            <a:off x="1185" y="0"/>
            <a:ext cx="12189630" cy="25530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EE863A-38DC-4F4B-8B58-9CC36870A6E3}"/>
              </a:ext>
            </a:extLst>
          </p:cNvPr>
          <p:cNvSpPr/>
          <p:nvPr userDrawn="1"/>
        </p:nvSpPr>
        <p:spPr>
          <a:xfrm>
            <a:off x="381000" y="578471"/>
            <a:ext cx="11430000" cy="573342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152400" dist="38100" dir="5400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0" name="Picture 1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1DD33DB6-17D3-1D21-045A-180E4602B9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79482"/>
            <a:ext cx="192024" cy="2023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EEE450D-2C41-6015-13CA-9EA3F89E2D99}"/>
              </a:ext>
            </a:extLst>
          </p:cNvPr>
          <p:cNvSpPr txBox="1"/>
          <p:nvPr userDrawn="1"/>
        </p:nvSpPr>
        <p:spPr>
          <a:xfrm>
            <a:off x="8317890" y="6477321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3E56D5-513D-4066-1E23-D723C12F63C6}"/>
              </a:ext>
            </a:extLst>
          </p:cNvPr>
          <p:cNvSpPr txBox="1"/>
          <p:nvPr userDrawn="1"/>
        </p:nvSpPr>
        <p:spPr>
          <a:xfrm>
            <a:off x="11430000" y="6476035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FD0C551F-56AD-EFB0-9141-BC26B724B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472243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381AE8-13A8-F06B-24ED-D14AD53C3643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43000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>
            <a:outerShdw dist="76200" dir="2700000" algn="tl" rotWithShape="0">
              <a:schemeClr val="accent3"/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EF06B3-1844-84A8-E661-FFA40975D9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3000" y="4172498"/>
            <a:ext cx="1968500" cy="490537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7D271E0-0BA0-0A2F-910F-1206DDD058E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43000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D463BDEB-F525-C5BB-5BA2-F4E661D66AA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847933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>
            <a:outerShdw dist="76200" dir="2700000" algn="tl" rotWithShape="0">
              <a:schemeClr val="accent3"/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93906B97-A8D1-ADD7-E91D-BC19A4D04F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47933" y="4172498"/>
            <a:ext cx="1968500" cy="490537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8923D737-C362-01DF-05E2-7DEBCD04F0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47933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95C1AAF7-B406-4998-037D-03AA2962D38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552866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>
            <a:outerShdw dist="76200" dir="2700000" algn="tl" rotWithShape="0">
              <a:schemeClr val="accent3"/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28D6CD2-2F8C-2351-691E-BBA769EAF35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52866" y="4172498"/>
            <a:ext cx="1968500" cy="490537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8A8762DD-0FEA-B4A3-3374-C4785A9D49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52866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AE1DE6DE-E888-B10E-D254-D373731EBBE7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9257800" y="2321473"/>
            <a:ext cx="1620000" cy="1620000"/>
          </a:xfrm>
          <a:prstGeom prst="flowChartConnector">
            <a:avLst/>
          </a:prstGeom>
          <a:solidFill>
            <a:schemeClr val="tx1"/>
          </a:solidFill>
          <a:effectLst>
            <a:outerShdw dist="76200" dir="2700000" algn="tl" rotWithShape="0">
              <a:schemeClr val="accent3"/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89180913-74D9-8A36-616A-4AAB1AC640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57800" y="4172498"/>
            <a:ext cx="1968500" cy="490537"/>
          </a:xfrm>
        </p:spPr>
        <p:txBody>
          <a:bodyPr/>
          <a:lstStyle>
            <a:lvl1pPr>
              <a:defRPr sz="1600" b="1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F314B5EF-FDA2-EC49-B4E7-063614D4DD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57800" y="4894810"/>
            <a:ext cx="1800000" cy="711200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9D22BA0-2421-D65E-1FB8-6C2F8E84B5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356740"/>
            <a:ext cx="10286998" cy="443198"/>
          </a:xfrm>
        </p:spPr>
        <p:txBody>
          <a:bodyPr wrap="square" anchor="t">
            <a:sp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32pt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068C2A61-8D65-EA48-3357-A98833890D0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3000" y="933002"/>
            <a:ext cx="10287000" cy="292100"/>
          </a:xfrm>
        </p:spPr>
        <p:txBody>
          <a:bodyPr/>
          <a:lstStyle>
            <a:lvl1pPr>
              <a:defRPr sz="2000" b="1">
                <a:solidFill>
                  <a:schemeClr val="accent1"/>
                </a:solidFill>
              </a:defRPr>
            </a:lvl1pPr>
            <a:lvl2pPr>
              <a:defRPr sz="2000" b="1">
                <a:solidFill>
                  <a:schemeClr val="accent1"/>
                </a:solidFill>
              </a:defRPr>
            </a:lvl2pPr>
            <a:lvl3pPr>
              <a:defRPr sz="2000" b="1">
                <a:solidFill>
                  <a:schemeClr val="accent1"/>
                </a:solidFill>
              </a:defRPr>
            </a:lvl3pPr>
            <a:lvl4pPr>
              <a:defRPr sz="2000" b="1">
                <a:solidFill>
                  <a:schemeClr val="accent1"/>
                </a:solidFill>
              </a:defRPr>
            </a:lvl4pPr>
            <a:lvl5pPr>
              <a:defRPr sz="20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903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AF0885-2F0A-4AA6-A875-A37E3A1C3DC0}"/>
              </a:ext>
            </a:extLst>
          </p:cNvPr>
          <p:cNvSpPr>
            <a:spLocks/>
          </p:cNvSpPr>
          <p:nvPr userDrawn="1"/>
        </p:nvSpPr>
        <p:spPr>
          <a:xfrm>
            <a:off x="135809" y="130130"/>
            <a:ext cx="11920383" cy="6597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91169"/>
            <a:ext cx="11430000" cy="443198"/>
          </a:xfrm>
        </p:spPr>
        <p:txBody>
          <a:bodyPr wrap="square" anchor="t">
            <a:sp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640116"/>
            <a:ext cx="11430000" cy="4172994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 Light" panose="020B0403030202060203" pitchFamily="34" charset="0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 Light" panose="020B0403030202060203" pitchFamily="34" charset="0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 Light" panose="020B0403030202060203" pitchFamily="34" charset="0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 Light" panose="020B0403030202060203" pitchFamily="34" charset="0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bg1"/>
                </a:solidFill>
                <a:latin typeface="Graphik Light" panose="020B04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20" name="Picture 1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62AA138-A236-01B2-4E67-64D86396BB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E55FE47-B848-29AC-D68B-7EAFEFADEB09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2022 Accenture. All rights reserved.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9BE74B-ABA6-2465-0682-098DE7F57603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bg1">
                  <a:alpha val="75000"/>
                </a:schemeClr>
              </a:solidFill>
            </a:endParaRP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EB162B84-EDA1-71B2-3E4E-0D08EF99C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FC5BC2E7-671D-3179-6C33-F1505C34EF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custGeom>
            <a:avLst/>
            <a:gdLst>
              <a:gd name="connsiteX0" fmla="*/ 134676 w 12188952"/>
              <a:gd name="connsiteY0" fmla="*/ 129600 h 6858000"/>
              <a:gd name="connsiteX1" fmla="*/ 134676 w 12188952"/>
              <a:gd name="connsiteY1" fmla="*/ 6728400 h 6858000"/>
              <a:gd name="connsiteX2" fmla="*/ 12054276 w 12188952"/>
              <a:gd name="connsiteY2" fmla="*/ 6728400 h 6858000"/>
              <a:gd name="connsiteX3" fmla="*/ 12054276 w 12188952"/>
              <a:gd name="connsiteY3" fmla="*/ 129600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34676" y="129600"/>
                </a:moveTo>
                <a:lnTo>
                  <a:pt x="134676" y="6728400"/>
                </a:lnTo>
                <a:lnTo>
                  <a:pt x="12054276" y="6728400"/>
                </a:lnTo>
                <a:lnTo>
                  <a:pt x="12054276" y="12960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951335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Divider with Image - Gradi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ackground pattern&#10;&#10;Description automatically generated">
            <a:extLst>
              <a:ext uri="{FF2B5EF4-FFF2-40B4-BE49-F238E27FC236}">
                <a16:creationId xmlns:a16="http://schemas.microsoft.com/office/drawing/2014/main" id="{CFBD7941-757D-854B-5D47-68C5EC6014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63" b="39063"/>
          <a:stretch/>
        </p:blipFill>
        <p:spPr>
          <a:xfrm>
            <a:off x="135808" y="130129"/>
            <a:ext cx="11920384" cy="6597741"/>
          </a:xfrm>
          <a:prstGeom prst="rect">
            <a:avLst/>
          </a:prstGeom>
        </p:spPr>
      </p:pic>
      <p:pic>
        <p:nvPicPr>
          <p:cNvPr id="4" name="Picture 3" descr="Background pattern&#10;&#10;Description automatically generated" hidden="1">
            <a:extLst>
              <a:ext uri="{FF2B5EF4-FFF2-40B4-BE49-F238E27FC236}">
                <a16:creationId xmlns:a16="http://schemas.microsoft.com/office/drawing/2014/main" id="{73CACFE1-4B7E-E853-BFF8-C72A658865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4" cy="6597741"/>
          </a:xfrm>
          <a:prstGeom prst="rect">
            <a:avLst/>
          </a:prstGeom>
        </p:spPr>
      </p:pic>
      <p:pic>
        <p:nvPicPr>
          <p:cNvPr id="9" name="Picture 8" descr="Background pattern&#10;&#10;Description automatically generated" hidden="1">
            <a:extLst>
              <a:ext uri="{FF2B5EF4-FFF2-40B4-BE49-F238E27FC236}">
                <a16:creationId xmlns:a16="http://schemas.microsoft.com/office/drawing/2014/main" id="{970F20F0-E09F-1E58-30DC-4AA2145D16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08" y="130129"/>
            <a:ext cx="11920383" cy="6597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89600"/>
            <a:ext cx="11430000" cy="443198"/>
          </a:xfrm>
        </p:spPr>
        <p:txBody>
          <a:bodyPr wrap="square" anchor="t">
            <a:sp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637B6D-6853-48B0-A904-9D5297D9E3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640116"/>
            <a:ext cx="11430000" cy="4172994"/>
          </a:xfrm>
        </p:spPr>
        <p:txBody>
          <a:bodyPr/>
          <a:lstStyle>
            <a:lvl1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1pPr>
            <a:lvl2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3pPr>
            <a:lvl4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4pPr>
            <a:lvl5pPr>
              <a:lnSpc>
                <a:spcPct val="120000"/>
              </a:lnSpc>
              <a:spcAft>
                <a:spcPts val="1200"/>
              </a:spcAft>
              <a:defRPr sz="14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17" name="Picture 16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64E9254B-10DC-3AD1-3C58-C99FF6BCC9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10736"/>
            <a:ext cx="192024" cy="2023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A16F227-2C46-3C4B-D93F-9C0FF9A8C94A}"/>
              </a:ext>
            </a:extLst>
          </p:cNvPr>
          <p:cNvSpPr txBox="1"/>
          <p:nvPr userDrawn="1"/>
        </p:nvSpPr>
        <p:spPr>
          <a:xfrm>
            <a:off x="8317890" y="6208575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/>
                </a:solidFill>
              </a:rPr>
              <a:t>Copyright © 2022 Accenture. All rights reserved.</a:t>
            </a:r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614923-AC2D-B8B1-F69B-9B16B1793A4A}"/>
              </a:ext>
            </a:extLst>
          </p:cNvPr>
          <p:cNvSpPr txBox="1"/>
          <p:nvPr userDrawn="1"/>
        </p:nvSpPr>
        <p:spPr>
          <a:xfrm>
            <a:off x="11430000" y="6207289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39A36242-074A-F5DE-9C6A-3A6D211F0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203497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solidFill>
                  <a:schemeClr val="tx1"/>
                </a:solidFill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903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0">
          <p15:clr>
            <a:srgbClr val="5ACBF0"/>
          </p15:clr>
        </p15:guide>
        <p15:guide id="2" orient="horz" pos="290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9F547C-24AC-4360-A79B-5A655D445C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885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9502030-B187-FE51-4FE0-32C86C0F52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474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316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CDE1A5-7B8C-446C-B047-DEF343C830D4}" type="datetime2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75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Wednesday, August 16, 2023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6" name="Picture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306151F-579E-4A3E-8949-882557B1D7B1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206473"/>
            <a:ext cx="192024" cy="2023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8E1FC7-2070-C6D2-9539-8A395D566A2E}"/>
              </a:ext>
            </a:extLst>
          </p:cNvPr>
          <p:cNvSpPr txBox="1"/>
          <p:nvPr userDrawn="1"/>
        </p:nvSpPr>
        <p:spPr>
          <a:xfrm>
            <a:off x="8317890" y="6204312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alpha val="75000"/>
                  </a:schemeClr>
                </a:solidFill>
              </a:rPr>
              <a:t>Copyright © 2022 Accenture. All rights reserved.</a:t>
            </a:r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F91400-851B-BCD8-B484-8AD24764356F}"/>
              </a:ext>
            </a:extLst>
          </p:cNvPr>
          <p:cNvSpPr txBox="1"/>
          <p:nvPr userDrawn="1"/>
        </p:nvSpPr>
        <p:spPr>
          <a:xfrm>
            <a:off x="11430000" y="6203026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alpha val="75000"/>
                  </a:schemeClr>
                </a:solidFill>
              </a:r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F61F0E23-B742-F8E2-EAD8-F20E43429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8" y="6199234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800" smtClean="0">
                <a:noFill/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US" smtClean="0"/>
              <a:pPr algn="r" defTabSz="228600">
                <a:spcAft>
                  <a:spcPts val="120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33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13" Type="http://schemas.openxmlformats.org/officeDocument/2006/relationships/image" Target="../media/image23.svg"/><Relationship Id="rId18" Type="http://schemas.openxmlformats.org/officeDocument/2006/relationships/diagramData" Target="../diagrams/data1.xml"/><Relationship Id="rId26" Type="http://schemas.openxmlformats.org/officeDocument/2006/relationships/image" Target="../media/image31.svg"/><Relationship Id="rId3" Type="http://schemas.openxmlformats.org/officeDocument/2006/relationships/image" Target="../media/image15.svg"/><Relationship Id="rId21" Type="http://schemas.openxmlformats.org/officeDocument/2006/relationships/diagramColors" Target="../diagrams/colors1.xml"/><Relationship Id="rId7" Type="http://schemas.openxmlformats.org/officeDocument/2006/relationships/image" Target="../media/image19.svg"/><Relationship Id="rId12" Type="http://schemas.openxmlformats.org/officeDocument/2006/relationships/image" Target="../media/image22.png"/><Relationship Id="rId17" Type="http://schemas.openxmlformats.org/officeDocument/2006/relationships/image" Target="../media/image27.svg"/><Relationship Id="rId25" Type="http://schemas.openxmlformats.org/officeDocument/2006/relationships/image" Target="../media/image30.png"/><Relationship Id="rId2" Type="http://schemas.openxmlformats.org/officeDocument/2006/relationships/image" Target="../media/image14.png"/><Relationship Id="rId16" Type="http://schemas.openxmlformats.org/officeDocument/2006/relationships/image" Target="../media/image26.png"/><Relationship Id="rId20" Type="http://schemas.openxmlformats.org/officeDocument/2006/relationships/diagramQuickStyle" Target="../diagrams/quickStyle1.xml"/><Relationship Id="rId29" Type="http://schemas.openxmlformats.org/officeDocument/2006/relationships/image" Target="../media/image34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11" Type="http://schemas.openxmlformats.org/officeDocument/2006/relationships/image" Target="../media/image21.svg"/><Relationship Id="rId24" Type="http://schemas.openxmlformats.org/officeDocument/2006/relationships/image" Target="../media/image29.svg"/><Relationship Id="rId5" Type="http://schemas.openxmlformats.org/officeDocument/2006/relationships/image" Target="../media/image17.svg"/><Relationship Id="rId15" Type="http://schemas.openxmlformats.org/officeDocument/2006/relationships/image" Target="../media/image25.svg"/><Relationship Id="rId23" Type="http://schemas.openxmlformats.org/officeDocument/2006/relationships/image" Target="../media/image28.png"/><Relationship Id="rId28" Type="http://schemas.openxmlformats.org/officeDocument/2006/relationships/image" Target="../media/image33.svg"/><Relationship Id="rId10" Type="http://schemas.openxmlformats.org/officeDocument/2006/relationships/image" Target="../media/image20.png"/><Relationship Id="rId19" Type="http://schemas.openxmlformats.org/officeDocument/2006/relationships/diagramLayout" Target="../diagrams/layout1.xml"/><Relationship Id="rId4" Type="http://schemas.openxmlformats.org/officeDocument/2006/relationships/image" Target="../media/image16.png"/><Relationship Id="rId9" Type="http://schemas.openxmlformats.org/officeDocument/2006/relationships/chart" Target="../charts/chart2.xml"/><Relationship Id="rId14" Type="http://schemas.openxmlformats.org/officeDocument/2006/relationships/image" Target="../media/image24.png"/><Relationship Id="rId22" Type="http://schemas.microsoft.com/office/2007/relationships/diagramDrawing" Target="../diagrams/drawing1.xml"/><Relationship Id="rId27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9.svg"/><Relationship Id="rId7" Type="http://schemas.openxmlformats.org/officeDocument/2006/relationships/image" Target="../media/image15.svg"/><Relationship Id="rId12" Type="http://schemas.openxmlformats.org/officeDocument/2006/relationships/image" Target="../media/image3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4.png"/><Relationship Id="rId11" Type="http://schemas.openxmlformats.org/officeDocument/2006/relationships/image" Target="../media/image38.jpg"/><Relationship Id="rId5" Type="http://schemas.openxmlformats.org/officeDocument/2006/relationships/image" Target="../media/image17.svg"/><Relationship Id="rId10" Type="http://schemas.openxmlformats.org/officeDocument/2006/relationships/image" Target="../media/image37.png"/><Relationship Id="rId4" Type="http://schemas.openxmlformats.org/officeDocument/2006/relationships/image" Target="../media/image16.png"/><Relationship Id="rId9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9.png"/><Relationship Id="rId18" Type="http://schemas.openxmlformats.org/officeDocument/2006/relationships/image" Target="../media/image52.svg"/><Relationship Id="rId3" Type="http://schemas.openxmlformats.org/officeDocument/2006/relationships/image" Target="../media/image41.svg"/><Relationship Id="rId21" Type="http://schemas.openxmlformats.org/officeDocument/2006/relationships/image" Target="../media/image18.png"/><Relationship Id="rId7" Type="http://schemas.openxmlformats.org/officeDocument/2006/relationships/image" Target="../media/image45.svg"/><Relationship Id="rId12" Type="http://schemas.openxmlformats.org/officeDocument/2006/relationships/image" Target="../media/image48.png"/><Relationship Id="rId17" Type="http://schemas.openxmlformats.org/officeDocument/2006/relationships/image" Target="../media/image51.png"/><Relationship Id="rId2" Type="http://schemas.openxmlformats.org/officeDocument/2006/relationships/image" Target="../media/image40.png"/><Relationship Id="rId16" Type="http://schemas.openxmlformats.org/officeDocument/2006/relationships/image" Target="../media/image23.svg"/><Relationship Id="rId20" Type="http://schemas.openxmlformats.org/officeDocument/2006/relationships/image" Target="../media/image15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4.png"/><Relationship Id="rId11" Type="http://schemas.openxmlformats.org/officeDocument/2006/relationships/image" Target="../media/image47.svg"/><Relationship Id="rId24" Type="http://schemas.openxmlformats.org/officeDocument/2006/relationships/image" Target="../media/image17.svg"/><Relationship Id="rId5" Type="http://schemas.openxmlformats.org/officeDocument/2006/relationships/image" Target="../media/image43.svg"/><Relationship Id="rId15" Type="http://schemas.openxmlformats.org/officeDocument/2006/relationships/image" Target="../media/image22.png"/><Relationship Id="rId23" Type="http://schemas.openxmlformats.org/officeDocument/2006/relationships/image" Target="../media/image16.png"/><Relationship Id="rId10" Type="http://schemas.openxmlformats.org/officeDocument/2006/relationships/image" Target="../media/image46.png"/><Relationship Id="rId19" Type="http://schemas.openxmlformats.org/officeDocument/2006/relationships/image" Target="../media/image14.png"/><Relationship Id="rId4" Type="http://schemas.openxmlformats.org/officeDocument/2006/relationships/image" Target="../media/image42.png"/><Relationship Id="rId9" Type="http://schemas.openxmlformats.org/officeDocument/2006/relationships/image" Target="../media/image21.svg"/><Relationship Id="rId14" Type="http://schemas.openxmlformats.org/officeDocument/2006/relationships/image" Target="../media/image50.png"/><Relationship Id="rId22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g"/><Relationship Id="rId13" Type="http://schemas.openxmlformats.org/officeDocument/2006/relationships/image" Target="../media/image64.svg"/><Relationship Id="rId18" Type="http://schemas.openxmlformats.org/officeDocument/2006/relationships/image" Target="../media/image18.png"/><Relationship Id="rId3" Type="http://schemas.openxmlformats.org/officeDocument/2006/relationships/image" Target="../media/image54.jpg"/><Relationship Id="rId21" Type="http://schemas.openxmlformats.org/officeDocument/2006/relationships/image" Target="../media/image66.svg"/><Relationship Id="rId7" Type="http://schemas.openxmlformats.org/officeDocument/2006/relationships/image" Target="../media/image58.jpg"/><Relationship Id="rId12" Type="http://schemas.openxmlformats.org/officeDocument/2006/relationships/image" Target="../media/image63.png"/><Relationship Id="rId17" Type="http://schemas.openxmlformats.org/officeDocument/2006/relationships/image" Target="../media/image17.svg"/><Relationship Id="rId2" Type="http://schemas.openxmlformats.org/officeDocument/2006/relationships/image" Target="../media/image53.png"/><Relationship Id="rId16" Type="http://schemas.openxmlformats.org/officeDocument/2006/relationships/image" Target="../media/image16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7.png"/><Relationship Id="rId11" Type="http://schemas.openxmlformats.org/officeDocument/2006/relationships/image" Target="../media/image62.jpg"/><Relationship Id="rId5" Type="http://schemas.openxmlformats.org/officeDocument/2006/relationships/image" Target="../media/image56.jpg"/><Relationship Id="rId15" Type="http://schemas.openxmlformats.org/officeDocument/2006/relationships/image" Target="../media/image15.svg"/><Relationship Id="rId10" Type="http://schemas.openxmlformats.org/officeDocument/2006/relationships/image" Target="../media/image61.png"/><Relationship Id="rId19" Type="http://schemas.openxmlformats.org/officeDocument/2006/relationships/image" Target="../media/image19.svg"/><Relationship Id="rId4" Type="http://schemas.openxmlformats.org/officeDocument/2006/relationships/image" Target="../media/image55.jpg"/><Relationship Id="rId9" Type="http://schemas.openxmlformats.org/officeDocument/2006/relationships/image" Target="../media/image60.jp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jp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39" Type="http://schemas.openxmlformats.org/officeDocument/2006/relationships/image" Target="../media/image17.svg"/><Relationship Id="rId21" Type="http://schemas.openxmlformats.org/officeDocument/2006/relationships/image" Target="../media/image86.svg"/><Relationship Id="rId34" Type="http://schemas.openxmlformats.org/officeDocument/2006/relationships/image" Target="../media/image99.png"/><Relationship Id="rId7" Type="http://schemas.openxmlformats.org/officeDocument/2006/relationships/image" Target="../media/image72.jpg"/><Relationship Id="rId2" Type="http://schemas.openxmlformats.org/officeDocument/2006/relationships/image" Target="../media/image67.png"/><Relationship Id="rId16" Type="http://schemas.openxmlformats.org/officeDocument/2006/relationships/image" Target="../media/image81.jpg"/><Relationship Id="rId20" Type="http://schemas.openxmlformats.org/officeDocument/2006/relationships/image" Target="../media/image85.png"/><Relationship Id="rId29" Type="http://schemas.openxmlformats.org/officeDocument/2006/relationships/image" Target="../media/image94.svg"/><Relationship Id="rId41" Type="http://schemas.openxmlformats.org/officeDocument/2006/relationships/image" Target="../media/image19.sv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1.jpg"/><Relationship Id="rId11" Type="http://schemas.openxmlformats.org/officeDocument/2006/relationships/image" Target="../media/image76.jpg"/><Relationship Id="rId24" Type="http://schemas.openxmlformats.org/officeDocument/2006/relationships/image" Target="../media/image89.png"/><Relationship Id="rId32" Type="http://schemas.openxmlformats.org/officeDocument/2006/relationships/image" Target="../media/image97.png"/><Relationship Id="rId37" Type="http://schemas.openxmlformats.org/officeDocument/2006/relationships/image" Target="../media/image15.svg"/><Relationship Id="rId40" Type="http://schemas.openxmlformats.org/officeDocument/2006/relationships/image" Target="../media/image18.png"/><Relationship Id="rId5" Type="http://schemas.openxmlformats.org/officeDocument/2006/relationships/image" Target="../media/image70.jpg"/><Relationship Id="rId15" Type="http://schemas.openxmlformats.org/officeDocument/2006/relationships/image" Target="../media/image80.jpg"/><Relationship Id="rId23" Type="http://schemas.openxmlformats.org/officeDocument/2006/relationships/image" Target="../media/image88.svg"/><Relationship Id="rId28" Type="http://schemas.openxmlformats.org/officeDocument/2006/relationships/image" Target="../media/image93.png"/><Relationship Id="rId36" Type="http://schemas.openxmlformats.org/officeDocument/2006/relationships/image" Target="../media/image14.png"/><Relationship Id="rId10" Type="http://schemas.openxmlformats.org/officeDocument/2006/relationships/image" Target="../media/image75.jpg"/><Relationship Id="rId19" Type="http://schemas.openxmlformats.org/officeDocument/2006/relationships/image" Target="../media/image84.svg"/><Relationship Id="rId31" Type="http://schemas.openxmlformats.org/officeDocument/2006/relationships/image" Target="../media/image96.svg"/><Relationship Id="rId4" Type="http://schemas.openxmlformats.org/officeDocument/2006/relationships/image" Target="../media/image69.jpg"/><Relationship Id="rId9" Type="http://schemas.openxmlformats.org/officeDocument/2006/relationships/image" Target="../media/image74.jpg"/><Relationship Id="rId14" Type="http://schemas.openxmlformats.org/officeDocument/2006/relationships/image" Target="../media/image79.jpg"/><Relationship Id="rId22" Type="http://schemas.openxmlformats.org/officeDocument/2006/relationships/image" Target="../media/image87.png"/><Relationship Id="rId27" Type="http://schemas.openxmlformats.org/officeDocument/2006/relationships/image" Target="../media/image92.svg"/><Relationship Id="rId30" Type="http://schemas.openxmlformats.org/officeDocument/2006/relationships/image" Target="../media/image95.png"/><Relationship Id="rId35" Type="http://schemas.openxmlformats.org/officeDocument/2006/relationships/image" Target="../media/image100.svg"/><Relationship Id="rId8" Type="http://schemas.openxmlformats.org/officeDocument/2006/relationships/image" Target="../media/image73.jpg"/><Relationship Id="rId3" Type="http://schemas.openxmlformats.org/officeDocument/2006/relationships/image" Target="../media/image68.jpg"/><Relationship Id="rId12" Type="http://schemas.openxmlformats.org/officeDocument/2006/relationships/image" Target="../media/image77.jpg"/><Relationship Id="rId17" Type="http://schemas.openxmlformats.org/officeDocument/2006/relationships/image" Target="../media/image82.jpg"/><Relationship Id="rId25" Type="http://schemas.openxmlformats.org/officeDocument/2006/relationships/image" Target="../media/image90.svg"/><Relationship Id="rId33" Type="http://schemas.openxmlformats.org/officeDocument/2006/relationships/image" Target="../media/image98.svg"/><Relationship Id="rId38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24D8C-2481-4D34-8D7B-7CD5F12FAB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u="sng" dirty="0"/>
              <a:t>Team Members:</a:t>
            </a:r>
          </a:p>
          <a:p>
            <a:pPr>
              <a:spcAft>
                <a:spcPts val="600"/>
              </a:spcAft>
            </a:pPr>
            <a:r>
              <a:rPr lang="en-US" dirty="0"/>
              <a:t>Nitin Patni</a:t>
            </a:r>
          </a:p>
          <a:p>
            <a:pPr>
              <a:spcAft>
                <a:spcPts val="600"/>
              </a:spcAft>
            </a:pPr>
            <a:r>
              <a:rPr lang="en-US" dirty="0"/>
              <a:t>Kaustubh </a:t>
            </a:r>
            <a:r>
              <a:rPr lang="en-US" dirty="0" err="1"/>
              <a:t>Khamkar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 err="1"/>
              <a:t>Bhavuk</a:t>
            </a:r>
            <a:endParaRPr lang="en-US" dirty="0"/>
          </a:p>
          <a:p>
            <a:pPr>
              <a:spcAft>
                <a:spcPts val="600"/>
              </a:spcAft>
            </a:pPr>
            <a:r>
              <a:rPr lang="en-US" dirty="0" err="1"/>
              <a:t>Kripi</a:t>
            </a:r>
            <a:r>
              <a:rPr lang="en-US" dirty="0"/>
              <a:t> </a:t>
            </a:r>
            <a:r>
              <a:rPr lang="en-US" dirty="0" err="1"/>
              <a:t>Badonia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AB09F7-1491-4ED5-99A6-E747AE954B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Banking Case Study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E6A4AB-D8EA-4F33-A556-7078CE135B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Team Challengers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41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735556-F581-4F9F-9379-C69D8549DE16}"/>
              </a:ext>
            </a:extLst>
          </p:cNvPr>
          <p:cNvSpPr/>
          <p:nvPr/>
        </p:nvSpPr>
        <p:spPr>
          <a:xfrm>
            <a:off x="910676" y="146654"/>
            <a:ext cx="10938818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345" algn="l"/>
                <a:tab pos="4733925" algn="l"/>
                <a:tab pos="7395209" algn="l"/>
                <a:tab pos="9692640" algn="l"/>
              </a:tabLst>
            </a:pPr>
            <a:r>
              <a:rPr lang="en-US" sz="1400" b="1" spc="35" dirty="0">
                <a:solidFill>
                  <a:schemeClr val="bg1"/>
                </a:solidFill>
                <a:cs typeface="Arial"/>
              </a:rPr>
              <a:t>             </a:t>
            </a:r>
            <a:r>
              <a:rPr lang="en-US" sz="1400" b="1" spc="35" dirty="0">
                <a:cs typeface="Arial"/>
              </a:rPr>
              <a:t>Digital Challenger Bank</a:t>
            </a:r>
            <a:r>
              <a:rPr lang="en-US" sz="1400" b="1" spc="45" dirty="0">
                <a:cs typeface="Arial"/>
              </a:rPr>
              <a:t>              </a:t>
            </a:r>
            <a:r>
              <a:rPr lang="en-US" sz="1400" b="1" spc="50" dirty="0">
                <a:solidFill>
                  <a:schemeClr val="bg1"/>
                </a:solidFill>
                <a:cs typeface="Arial"/>
              </a:rPr>
              <a:t>Product Offering 	    Go-To-Market Strategy           Technology Capabilities            Mock-ups</a:t>
            </a:r>
            <a:endParaRPr lang="en-US" sz="1400" b="1" dirty="0">
              <a:solidFill>
                <a:schemeClr val="bg1"/>
              </a:solidFill>
              <a:cs typeface="Arial"/>
            </a:endParaRPr>
          </a:p>
        </p:txBody>
      </p:sp>
      <p:pic>
        <p:nvPicPr>
          <p:cNvPr id="7" name="Graphic 6" descr="Direction">
            <a:extLst>
              <a:ext uri="{FF2B5EF4-FFF2-40B4-BE49-F238E27FC236}">
                <a16:creationId xmlns:a16="http://schemas.microsoft.com/office/drawing/2014/main" id="{EE72F3BD-709A-4645-A926-2FE0B2E20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76591">
            <a:off x="3246603" y="-50214"/>
            <a:ext cx="718150" cy="718856"/>
          </a:xfrm>
          <a:prstGeom prst="rect">
            <a:avLst/>
          </a:prstGeom>
        </p:spPr>
      </p:pic>
      <p:pic>
        <p:nvPicPr>
          <p:cNvPr id="60" name="Graphic 59" descr="Direction">
            <a:extLst>
              <a:ext uri="{FF2B5EF4-FFF2-40B4-BE49-F238E27FC236}">
                <a16:creationId xmlns:a16="http://schemas.microsoft.com/office/drawing/2014/main" id="{A970E824-5E0A-4F6F-AC09-0E3024E95A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76591">
            <a:off x="5133312" y="-50214"/>
            <a:ext cx="718150" cy="718856"/>
          </a:xfrm>
          <a:prstGeom prst="rect">
            <a:avLst/>
          </a:prstGeom>
        </p:spPr>
      </p:pic>
      <p:pic>
        <p:nvPicPr>
          <p:cNvPr id="61" name="Graphic 60" descr="Direction">
            <a:extLst>
              <a:ext uri="{FF2B5EF4-FFF2-40B4-BE49-F238E27FC236}">
                <a16:creationId xmlns:a16="http://schemas.microsoft.com/office/drawing/2014/main" id="{1697588E-B0DA-42D8-8F64-5EA108E348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76591">
            <a:off x="7481850" y="-50214"/>
            <a:ext cx="718150" cy="718856"/>
          </a:xfrm>
          <a:prstGeom prst="rect">
            <a:avLst/>
          </a:prstGeom>
        </p:spPr>
      </p:pic>
      <p:pic>
        <p:nvPicPr>
          <p:cNvPr id="62" name="Graphic 61" descr="Direction">
            <a:extLst>
              <a:ext uri="{FF2B5EF4-FFF2-40B4-BE49-F238E27FC236}">
                <a16:creationId xmlns:a16="http://schemas.microsoft.com/office/drawing/2014/main" id="{0B7EC774-4432-4B57-B985-0D5496C2C5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76591">
            <a:off x="9872658" y="-50214"/>
            <a:ext cx="718150" cy="718856"/>
          </a:xfrm>
          <a:prstGeom prst="rect">
            <a:avLst/>
          </a:prstGeom>
        </p:spPr>
      </p:pic>
      <p:pic>
        <p:nvPicPr>
          <p:cNvPr id="64" name="Graphic 63" descr="Direction">
            <a:extLst>
              <a:ext uri="{FF2B5EF4-FFF2-40B4-BE49-F238E27FC236}">
                <a16:creationId xmlns:a16="http://schemas.microsoft.com/office/drawing/2014/main" id="{F6B7A331-CDC5-48DA-8EBC-04405F8585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76591">
            <a:off x="767448" y="-50214"/>
            <a:ext cx="718150" cy="718856"/>
          </a:xfrm>
          <a:prstGeom prst="rect">
            <a:avLst/>
          </a:prstGeom>
        </p:spPr>
      </p:pic>
      <p:graphicFrame>
        <p:nvGraphicFramePr>
          <p:cNvPr id="71" name="Chart 70">
            <a:extLst>
              <a:ext uri="{FF2B5EF4-FFF2-40B4-BE49-F238E27FC236}">
                <a16:creationId xmlns:a16="http://schemas.microsoft.com/office/drawing/2014/main" id="{2A919F2E-A87F-4F74-892A-CA34401A1F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7984844"/>
              </p:ext>
            </p:extLst>
          </p:nvPr>
        </p:nvGraphicFramePr>
        <p:xfrm>
          <a:off x="7384187" y="4214910"/>
          <a:ext cx="4392019" cy="1978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1C779E2-D84D-4AEA-AF42-6E5A10F32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8260353"/>
              </p:ext>
            </p:extLst>
          </p:nvPr>
        </p:nvGraphicFramePr>
        <p:xfrm>
          <a:off x="396232" y="1320227"/>
          <a:ext cx="3240000" cy="252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4ED99C-29AB-428B-B972-F7997C9E7C5C}"/>
              </a:ext>
            </a:extLst>
          </p:cNvPr>
          <p:cNvSpPr/>
          <p:nvPr/>
        </p:nvSpPr>
        <p:spPr>
          <a:xfrm>
            <a:off x="396232" y="1011679"/>
            <a:ext cx="32400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/>
              <a:t>Market Size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B686498-8C4A-49D1-AA46-2FB3B16F1690}"/>
              </a:ext>
            </a:extLst>
          </p:cNvPr>
          <p:cNvSpPr/>
          <p:nvPr/>
        </p:nvSpPr>
        <p:spPr>
          <a:xfrm>
            <a:off x="3701994" y="1011679"/>
            <a:ext cx="36000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/>
              <a:t>Growth Drivers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382D70-9357-447E-92BB-EF789DD8E5AC}"/>
              </a:ext>
            </a:extLst>
          </p:cNvPr>
          <p:cNvSpPr/>
          <p:nvPr/>
        </p:nvSpPr>
        <p:spPr>
          <a:xfrm>
            <a:off x="972232" y="4895957"/>
            <a:ext cx="266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Montserrat"/>
              </a:rPr>
              <a:t>Digital Transactions</a:t>
            </a:r>
            <a:r>
              <a:rPr lang="en-US" sz="1200" dirty="0">
                <a:solidFill>
                  <a:schemeClr val="bg1"/>
                </a:solidFill>
                <a:latin typeface="Montserrat"/>
              </a:rPr>
              <a:t>: 93% of digital payments (by volume) are made through mobile (2021)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3C7B17-08A8-4B0F-A235-9ACCB4FC7C5B}"/>
              </a:ext>
            </a:extLst>
          </p:cNvPr>
          <p:cNvSpPr/>
          <p:nvPr/>
        </p:nvSpPr>
        <p:spPr>
          <a:xfrm>
            <a:off x="972232" y="4359201"/>
            <a:ext cx="266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Growth Rate</a:t>
            </a:r>
            <a:r>
              <a:rPr lang="en-US" sz="1200" dirty="0">
                <a:solidFill>
                  <a:schemeClr val="bg1"/>
                </a:solidFill>
              </a:rPr>
              <a:t>: Total Banking Assets grew at a CAGR of 2.25% in FY21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19" name="Graphic 18" descr="City">
            <a:extLst>
              <a:ext uri="{FF2B5EF4-FFF2-40B4-BE49-F238E27FC236}">
                <a16:creationId xmlns:a16="http://schemas.microsoft.com/office/drawing/2014/main" id="{5B873C26-D865-4533-A531-C58B5B134E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84186" y="1489978"/>
            <a:ext cx="432000" cy="432000"/>
          </a:xfrm>
          <a:prstGeom prst="rect">
            <a:avLst/>
          </a:prstGeom>
        </p:spPr>
      </p:pic>
      <p:pic>
        <p:nvPicPr>
          <p:cNvPr id="21" name="Graphic 20" descr="Smart Phone">
            <a:extLst>
              <a:ext uri="{FF2B5EF4-FFF2-40B4-BE49-F238E27FC236}">
                <a16:creationId xmlns:a16="http://schemas.microsoft.com/office/drawing/2014/main" id="{0B321EBE-2BEC-41BD-8AA7-92592B48A63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84186" y="2719288"/>
            <a:ext cx="432000" cy="432000"/>
          </a:xfrm>
          <a:prstGeom prst="rect">
            <a:avLst/>
          </a:prstGeom>
        </p:spPr>
      </p:pic>
      <p:pic>
        <p:nvPicPr>
          <p:cNvPr id="63" name="Graphic 62" descr="Farm scene">
            <a:extLst>
              <a:ext uri="{FF2B5EF4-FFF2-40B4-BE49-F238E27FC236}">
                <a16:creationId xmlns:a16="http://schemas.microsoft.com/office/drawing/2014/main" id="{AFDD745D-2E21-4F35-86BC-E4EE5BD6145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84186" y="2127811"/>
            <a:ext cx="432000" cy="432000"/>
          </a:xfrm>
          <a:prstGeom prst="rect">
            <a:avLst/>
          </a:prstGeom>
        </p:spPr>
      </p:pic>
      <p:pic>
        <p:nvPicPr>
          <p:cNvPr id="69" name="Graphic 68" descr="Syncing cloud">
            <a:extLst>
              <a:ext uri="{FF2B5EF4-FFF2-40B4-BE49-F238E27FC236}">
                <a16:creationId xmlns:a16="http://schemas.microsoft.com/office/drawing/2014/main" id="{57B248C8-FB5A-48D4-8E85-7C884DFC346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784186" y="3279942"/>
            <a:ext cx="432000" cy="432000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849B039A-1437-49F4-B037-F83D11F7F0BC}"/>
              </a:ext>
            </a:extLst>
          </p:cNvPr>
          <p:cNvSpPr/>
          <p:nvPr/>
        </p:nvSpPr>
        <p:spPr>
          <a:xfrm>
            <a:off x="4287206" y="1274224"/>
            <a:ext cx="3060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Large consumption market: </a:t>
            </a:r>
            <a:r>
              <a:rPr lang="en-US" sz="1200" dirty="0">
                <a:solidFill>
                  <a:schemeClr val="bg1"/>
                </a:solidFill>
              </a:rPr>
              <a:t>India will become the 3rd largest consumer economy by 2030, driven by a young population comprising 65% population below 35 years.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ECAD52E-51B4-40AF-864D-CD0BF67FA373}"/>
              </a:ext>
            </a:extLst>
          </p:cNvPr>
          <p:cNvSpPr/>
          <p:nvPr/>
        </p:nvSpPr>
        <p:spPr>
          <a:xfrm>
            <a:off x="4287208" y="2035514"/>
            <a:ext cx="306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Rural Digitization</a:t>
            </a:r>
            <a:r>
              <a:rPr lang="en-US" sz="1200" dirty="0">
                <a:solidFill>
                  <a:schemeClr val="bg1"/>
                </a:solidFill>
              </a:rPr>
              <a:t>: Digital adoption  by rural India is growing at 8% YoY and accounts for 45% of all data consumption in India.</a:t>
            </a:r>
            <a:endParaRPr lang="en-IN" sz="12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69E6B1D-655C-46BA-B968-7A5C0035D94D}"/>
              </a:ext>
            </a:extLst>
          </p:cNvPr>
          <p:cNvSpPr/>
          <p:nvPr/>
        </p:nvSpPr>
        <p:spPr>
          <a:xfrm>
            <a:off x="4287206" y="2591106"/>
            <a:ext cx="306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Smartphone Users</a:t>
            </a:r>
            <a:r>
              <a:rPr lang="en-US" sz="1200" dirty="0">
                <a:solidFill>
                  <a:schemeClr val="bg1"/>
                </a:solidFill>
              </a:rPr>
              <a:t>: Second highest number of smartphone users globally with 93% digital payments (by volume) in India (2021).</a:t>
            </a:r>
            <a:endParaRPr lang="en-IN" sz="12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D09F15D-0D75-4D76-BAC0-568971D2EE27}"/>
              </a:ext>
            </a:extLst>
          </p:cNvPr>
          <p:cNvSpPr/>
          <p:nvPr/>
        </p:nvSpPr>
        <p:spPr>
          <a:xfrm>
            <a:off x="4287206" y="3175727"/>
            <a:ext cx="313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Digital Push</a:t>
            </a:r>
            <a:r>
              <a:rPr lang="en-US" sz="1200" dirty="0">
                <a:solidFill>
                  <a:schemeClr val="bg1"/>
                </a:solidFill>
              </a:rPr>
              <a:t>: Compared to the world's developed nations, 40% of the world's total digital transactions happen in India. 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BE843FB-F4FD-48F0-A4ED-4C22B6673760}"/>
              </a:ext>
            </a:extLst>
          </p:cNvPr>
          <p:cNvSpPr/>
          <p:nvPr/>
        </p:nvSpPr>
        <p:spPr>
          <a:xfrm>
            <a:off x="3705217" y="1320227"/>
            <a:ext cx="3600000" cy="2520000"/>
          </a:xfrm>
          <a:prstGeom prst="rect">
            <a:avLst/>
          </a:prstGeom>
          <a:noFill/>
          <a:ln>
            <a:solidFill>
              <a:schemeClr val="accent6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7630DA1-0FB5-44FA-B972-D3BA2A25C08E}"/>
              </a:ext>
            </a:extLst>
          </p:cNvPr>
          <p:cNvSpPr/>
          <p:nvPr/>
        </p:nvSpPr>
        <p:spPr>
          <a:xfrm>
            <a:off x="7374202" y="1320227"/>
            <a:ext cx="4402004" cy="2520000"/>
          </a:xfrm>
          <a:prstGeom prst="rect">
            <a:avLst/>
          </a:prstGeom>
          <a:noFill/>
          <a:ln>
            <a:solidFill>
              <a:schemeClr val="accent6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0F4FA1DD-4283-4E94-98FB-BC4908971679}"/>
              </a:ext>
            </a:extLst>
          </p:cNvPr>
          <p:cNvSpPr/>
          <p:nvPr/>
        </p:nvSpPr>
        <p:spPr>
          <a:xfrm>
            <a:off x="7374202" y="1011679"/>
            <a:ext cx="44028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 dirty="0"/>
              <a:t>Challenger Bank</a:t>
            </a:r>
            <a:endParaRPr lang="en-IN" sz="1600" b="1" dirty="0"/>
          </a:p>
        </p:txBody>
      </p:sp>
      <p:graphicFrame>
        <p:nvGraphicFramePr>
          <p:cNvPr id="76" name="Diagram 75">
            <a:extLst>
              <a:ext uri="{FF2B5EF4-FFF2-40B4-BE49-F238E27FC236}">
                <a16:creationId xmlns:a16="http://schemas.microsoft.com/office/drawing/2014/main" id="{10825B45-383A-4294-9E72-AE1FF39C6A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2873390"/>
              </p:ext>
            </p:extLst>
          </p:nvPr>
        </p:nvGraphicFramePr>
        <p:xfrm>
          <a:off x="3705217" y="4216362"/>
          <a:ext cx="3600000" cy="1978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B0E46807-B94C-48FB-B363-4BFA36314CBA}"/>
              </a:ext>
            </a:extLst>
          </p:cNvPr>
          <p:cNvSpPr/>
          <p:nvPr/>
        </p:nvSpPr>
        <p:spPr>
          <a:xfrm>
            <a:off x="7373406" y="3911714"/>
            <a:ext cx="44028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 dirty="0"/>
              <a:t>Challenger Banks launched worldwide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0C30E9D-ACE8-4629-80BC-BDCF374327C6}"/>
              </a:ext>
            </a:extLst>
          </p:cNvPr>
          <p:cNvSpPr/>
          <p:nvPr/>
        </p:nvSpPr>
        <p:spPr>
          <a:xfrm>
            <a:off x="3705217" y="3911714"/>
            <a:ext cx="36000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/>
              <a:t>Market Forces for Banking Industry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C9015EB-D800-472C-B0B0-7229ADB0337C}"/>
              </a:ext>
            </a:extLst>
          </p:cNvPr>
          <p:cNvSpPr/>
          <p:nvPr/>
        </p:nvSpPr>
        <p:spPr>
          <a:xfrm>
            <a:off x="396232" y="3911714"/>
            <a:ext cx="32400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/>
              <a:t>Present Industry Scenario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40B1E54-D114-4C1F-A2DD-F5059F2EBB67}"/>
              </a:ext>
            </a:extLst>
          </p:cNvPr>
          <p:cNvSpPr/>
          <p:nvPr/>
        </p:nvSpPr>
        <p:spPr>
          <a:xfrm>
            <a:off x="396232" y="4214910"/>
            <a:ext cx="3240000" cy="1980000"/>
          </a:xfrm>
          <a:prstGeom prst="rect">
            <a:avLst/>
          </a:prstGeom>
          <a:noFill/>
          <a:ln>
            <a:solidFill>
              <a:schemeClr val="accent6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pic>
        <p:nvPicPr>
          <p:cNvPr id="86" name="Graphic 85" descr="Upward trend">
            <a:extLst>
              <a:ext uri="{FF2B5EF4-FFF2-40B4-BE49-F238E27FC236}">
                <a16:creationId xmlns:a16="http://schemas.microsoft.com/office/drawing/2014/main" id="{EB4C28D2-9A53-4432-AD1A-F4209C399B7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66186" y="4359201"/>
            <a:ext cx="432000" cy="432000"/>
          </a:xfrm>
          <a:prstGeom prst="rect">
            <a:avLst/>
          </a:prstGeom>
        </p:spPr>
      </p:pic>
      <p:pic>
        <p:nvPicPr>
          <p:cNvPr id="88" name="Graphic 87" descr="Cloud Computing">
            <a:extLst>
              <a:ext uri="{FF2B5EF4-FFF2-40B4-BE49-F238E27FC236}">
                <a16:creationId xmlns:a16="http://schemas.microsoft.com/office/drawing/2014/main" id="{0ACCCA73-0C30-4C60-8745-0D33445C76E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66186" y="4984480"/>
            <a:ext cx="432000" cy="432000"/>
          </a:xfrm>
          <a:prstGeom prst="rect">
            <a:avLst/>
          </a:prstGeom>
        </p:spPr>
      </p:pic>
      <p:pic>
        <p:nvPicPr>
          <p:cNvPr id="90" name="Graphic 89" descr="Credit card">
            <a:extLst>
              <a:ext uri="{FF2B5EF4-FFF2-40B4-BE49-F238E27FC236}">
                <a16:creationId xmlns:a16="http://schemas.microsoft.com/office/drawing/2014/main" id="{38D43C6C-C2EF-4031-834A-82D19A11509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66186" y="5553513"/>
            <a:ext cx="432000" cy="432000"/>
          </a:xfrm>
          <a:prstGeom prst="rect">
            <a:avLst/>
          </a:prstGeom>
        </p:spPr>
      </p:pic>
      <p:sp>
        <p:nvSpPr>
          <p:cNvPr id="92" name="Rectangle 91">
            <a:extLst>
              <a:ext uri="{FF2B5EF4-FFF2-40B4-BE49-F238E27FC236}">
                <a16:creationId xmlns:a16="http://schemas.microsoft.com/office/drawing/2014/main" id="{A01362CD-0E8E-4636-804B-8F6A30B9BDBF}"/>
              </a:ext>
            </a:extLst>
          </p:cNvPr>
          <p:cNvSpPr/>
          <p:nvPr/>
        </p:nvSpPr>
        <p:spPr>
          <a:xfrm>
            <a:off x="972232" y="5554889"/>
            <a:ext cx="266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Debit and Credit Cards</a:t>
            </a:r>
            <a:r>
              <a:rPr lang="en-US" sz="1200" dirty="0">
                <a:solidFill>
                  <a:schemeClr val="bg1"/>
                </a:solidFill>
              </a:rPr>
              <a:t>: Over 1 Bn cards are in circulation.</a:t>
            </a:r>
          </a:p>
        </p:txBody>
      </p:sp>
      <p:pic>
        <p:nvPicPr>
          <p:cNvPr id="98" name="Picture 4" descr="What are challenger banks, and what is happening in India?">
            <a:extLst>
              <a:ext uri="{FF2B5EF4-FFF2-40B4-BE49-F238E27FC236}">
                <a16:creationId xmlns:a16="http://schemas.microsoft.com/office/drawing/2014/main" id="{F798225C-1F8A-45D0-BEED-04843DA5B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816206" y="1320227"/>
            <a:ext cx="96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4D4CAEF8-1695-4056-A5AF-BD0284AB627C}"/>
              </a:ext>
            </a:extLst>
          </p:cNvPr>
          <p:cNvSpPr/>
          <p:nvPr/>
        </p:nvSpPr>
        <p:spPr>
          <a:xfrm>
            <a:off x="7374202" y="1320227"/>
            <a:ext cx="4320000" cy="255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Challenger banks </a:t>
            </a:r>
            <a:r>
              <a:rPr lang="en-US" sz="1200" dirty="0">
                <a:solidFill>
                  <a:schemeClr val="bg1"/>
                </a:solidFill>
              </a:rPr>
              <a:t>are digital-only platforms that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provide financial services through </a:t>
            </a:r>
            <a:r>
              <a:rPr lang="en-US" sz="1200" b="1" dirty="0">
                <a:solidFill>
                  <a:schemeClr val="bg1"/>
                </a:solidFill>
              </a:rPr>
              <a:t>website and </a:t>
            </a:r>
            <a:br>
              <a:rPr lang="en-US" sz="1200" b="1" dirty="0">
                <a:solidFill>
                  <a:schemeClr val="bg1"/>
                </a:solidFill>
              </a:rPr>
            </a:br>
            <a:r>
              <a:rPr lang="en-US" sz="1200" b="1" dirty="0">
                <a:solidFill>
                  <a:schemeClr val="bg1"/>
                </a:solidFill>
              </a:rPr>
              <a:t>mobile apps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These digitally driven challenger banks are 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competing against traditional banks and offering </a:t>
            </a:r>
            <a:r>
              <a:rPr lang="en-US" sz="1200" b="1" dirty="0">
                <a:solidFill>
                  <a:schemeClr val="bg1"/>
                </a:solidFill>
              </a:rPr>
              <a:t>superior customer experience </a:t>
            </a:r>
            <a:r>
              <a:rPr lang="en-US" sz="1200" dirty="0">
                <a:solidFill>
                  <a:schemeClr val="bg1"/>
                </a:solidFill>
              </a:rPr>
              <a:t>and </a:t>
            </a:r>
            <a:r>
              <a:rPr lang="en-US" sz="1200" b="1" dirty="0" err="1">
                <a:solidFill>
                  <a:schemeClr val="bg1"/>
                </a:solidFill>
              </a:rPr>
              <a:t>personalised</a:t>
            </a:r>
            <a:r>
              <a:rPr lang="en-US" sz="1200" b="1" dirty="0">
                <a:solidFill>
                  <a:schemeClr val="bg1"/>
                </a:solidFill>
              </a:rPr>
              <a:t> service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 digital challenger banks </a:t>
            </a:r>
            <a:r>
              <a:rPr lang="en-US" sz="1200" b="1" dirty="0">
                <a:solidFill>
                  <a:schemeClr val="bg1"/>
                </a:solidFill>
              </a:rPr>
              <a:t>exclusively operate online </a:t>
            </a:r>
            <a:r>
              <a:rPr lang="en-US" sz="1200" dirty="0">
                <a:solidFill>
                  <a:schemeClr val="bg1"/>
                </a:solidFill>
              </a:rPr>
              <a:t>and lack physical presence i.e. branches.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 digital challenger banks provide </a:t>
            </a:r>
            <a:r>
              <a:rPr lang="en-US" sz="1200" b="1" dirty="0">
                <a:solidFill>
                  <a:schemeClr val="bg1"/>
                </a:solidFill>
              </a:rPr>
              <a:t>centralized personal finance </a:t>
            </a:r>
            <a:r>
              <a:rPr lang="en-US" sz="1200" dirty="0">
                <a:solidFill>
                  <a:schemeClr val="bg1"/>
                </a:solidFill>
              </a:rPr>
              <a:t>and </a:t>
            </a:r>
            <a:r>
              <a:rPr lang="en-US" sz="1200" b="1" dirty="0">
                <a:solidFill>
                  <a:schemeClr val="bg1"/>
                </a:solidFill>
              </a:rPr>
              <a:t>transparent pricing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They are primarily </a:t>
            </a:r>
            <a:r>
              <a:rPr lang="en-US" sz="1200" b="1" dirty="0">
                <a:solidFill>
                  <a:schemeClr val="bg1"/>
                </a:solidFill>
              </a:rPr>
              <a:t>focusing on unserved or underserved</a:t>
            </a:r>
            <a:r>
              <a:rPr lang="en-US" sz="1200" dirty="0">
                <a:solidFill>
                  <a:schemeClr val="bg1"/>
                </a:solidFill>
              </a:rPr>
              <a:t>, particularly tech-savvy customers like Millennials and Gen Z (~50% of India's population).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2912D087-04C9-41B8-BFDF-FF7BEBDDE911}"/>
              </a:ext>
            </a:extLst>
          </p:cNvPr>
          <p:cNvSpPr/>
          <p:nvPr/>
        </p:nvSpPr>
        <p:spPr>
          <a:xfrm>
            <a:off x="396232" y="625361"/>
            <a:ext cx="11379600" cy="32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US" b="1" spc="-5" dirty="0">
                <a:solidFill>
                  <a:schemeClr val="bg1"/>
                </a:solidFill>
              </a:rPr>
              <a:t>Banking Industry in India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4AAEB4A-1D20-4F38-AC54-F9F48E2C2534}"/>
              </a:ext>
            </a:extLst>
          </p:cNvPr>
          <p:cNvSpPr/>
          <p:nvPr/>
        </p:nvSpPr>
        <p:spPr>
          <a:xfrm>
            <a:off x="7886949" y="4798566"/>
            <a:ext cx="9905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51% CAGR, 2014-2020</a:t>
            </a:r>
            <a:endParaRPr lang="en-IN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94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BCA7E601-1828-FEB4-79EB-330CD7298313}"/>
              </a:ext>
            </a:extLst>
          </p:cNvPr>
          <p:cNvSpPr/>
          <p:nvPr/>
        </p:nvSpPr>
        <p:spPr>
          <a:xfrm>
            <a:off x="396232" y="1298099"/>
            <a:ext cx="2880000" cy="360000"/>
          </a:xfrm>
          <a:custGeom>
            <a:avLst/>
            <a:gdLst/>
            <a:ahLst/>
            <a:cxnLst/>
            <a:rect l="l" t="t" r="r" b="b"/>
            <a:pathLst>
              <a:path w="3377565" h="353694">
                <a:moveTo>
                  <a:pt x="0" y="0"/>
                </a:moveTo>
                <a:lnTo>
                  <a:pt x="3264408" y="0"/>
                </a:lnTo>
                <a:lnTo>
                  <a:pt x="3377184" y="112775"/>
                </a:lnTo>
                <a:lnTo>
                  <a:pt x="3377184" y="353568"/>
                </a:lnTo>
                <a:lnTo>
                  <a:pt x="0" y="35356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8D6195E6-00F6-C54D-4790-14371D791E86}"/>
              </a:ext>
            </a:extLst>
          </p:cNvPr>
          <p:cNvSpPr txBox="1"/>
          <p:nvPr/>
        </p:nvSpPr>
        <p:spPr>
          <a:xfrm>
            <a:off x="452793" y="1340989"/>
            <a:ext cx="2823437" cy="226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Savings</a:t>
            </a:r>
            <a:r>
              <a:rPr sz="1400" spc="-100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Account</a:t>
            </a:r>
            <a:r>
              <a:rPr lang="en-US" sz="1400" spc="-5" dirty="0">
                <a:solidFill>
                  <a:schemeClr val="bg1"/>
                </a:solidFill>
                <a:latin typeface="+mj-lt"/>
                <a:cs typeface="Arial"/>
              </a:rPr>
              <a:t>, </a:t>
            </a:r>
            <a:r>
              <a:rPr lang="en-IN" sz="1400" spc="-5" dirty="0">
                <a:solidFill>
                  <a:schemeClr val="bg1"/>
                </a:solidFill>
                <a:cs typeface="Arial"/>
              </a:rPr>
              <a:t>Cheque books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BA8793A-F1E4-85BA-800F-8E97BF6F8AED}"/>
              </a:ext>
            </a:extLst>
          </p:cNvPr>
          <p:cNvSpPr/>
          <p:nvPr/>
        </p:nvSpPr>
        <p:spPr>
          <a:xfrm>
            <a:off x="396232" y="1660430"/>
            <a:ext cx="2880000" cy="360000"/>
          </a:xfrm>
          <a:custGeom>
            <a:avLst/>
            <a:gdLst/>
            <a:ahLst/>
            <a:cxnLst/>
            <a:rect l="l" t="t" r="r" b="b"/>
            <a:pathLst>
              <a:path w="3377565" h="353694">
                <a:moveTo>
                  <a:pt x="0" y="0"/>
                </a:moveTo>
                <a:lnTo>
                  <a:pt x="3264408" y="0"/>
                </a:lnTo>
                <a:lnTo>
                  <a:pt x="3377184" y="112775"/>
                </a:lnTo>
                <a:lnTo>
                  <a:pt x="3377184" y="353567"/>
                </a:lnTo>
                <a:lnTo>
                  <a:pt x="0" y="35356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EFC38B3B-C2D8-4230-F676-6366F2701FD8}"/>
              </a:ext>
            </a:extLst>
          </p:cNvPr>
          <p:cNvSpPr/>
          <p:nvPr/>
        </p:nvSpPr>
        <p:spPr>
          <a:xfrm>
            <a:off x="396232" y="2013334"/>
            <a:ext cx="2880000" cy="360000"/>
          </a:xfrm>
          <a:custGeom>
            <a:avLst/>
            <a:gdLst/>
            <a:ahLst/>
            <a:cxnLst/>
            <a:rect l="l" t="t" r="r" b="b"/>
            <a:pathLst>
              <a:path w="3377565" h="353694">
                <a:moveTo>
                  <a:pt x="0" y="0"/>
                </a:moveTo>
                <a:lnTo>
                  <a:pt x="3264408" y="0"/>
                </a:lnTo>
                <a:lnTo>
                  <a:pt x="3377184" y="112775"/>
                </a:lnTo>
                <a:lnTo>
                  <a:pt x="3377184" y="353567"/>
                </a:lnTo>
                <a:lnTo>
                  <a:pt x="0" y="35356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162A94A3-415C-0F70-A620-E1DC4242DA59}"/>
              </a:ext>
            </a:extLst>
          </p:cNvPr>
          <p:cNvSpPr txBox="1"/>
          <p:nvPr/>
        </p:nvSpPr>
        <p:spPr>
          <a:xfrm>
            <a:off x="452794" y="2059711"/>
            <a:ext cx="1786294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20" dirty="0">
                <a:solidFill>
                  <a:schemeClr val="bg1"/>
                </a:solidFill>
                <a:latin typeface="+mj-lt"/>
                <a:cs typeface="Arial"/>
              </a:rPr>
              <a:t>RTGS/NEFT,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Instant Pay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A307CDD3-522E-D64C-5733-8AE9F80C1C53}"/>
              </a:ext>
            </a:extLst>
          </p:cNvPr>
          <p:cNvSpPr txBox="1"/>
          <p:nvPr/>
        </p:nvSpPr>
        <p:spPr>
          <a:xfrm>
            <a:off x="1179468" y="959805"/>
            <a:ext cx="1381924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spc="-20" dirty="0">
                <a:latin typeface="+mj-lt"/>
                <a:cs typeface="Carlito"/>
              </a:rPr>
              <a:t>Retail Banking</a:t>
            </a:r>
            <a:endParaRPr b="1" dirty="0">
              <a:latin typeface="+mj-lt"/>
              <a:cs typeface="Carlito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45C288F1-3EF6-75C2-8FA6-B5C4FB914652}"/>
              </a:ext>
            </a:extLst>
          </p:cNvPr>
          <p:cNvSpPr/>
          <p:nvPr/>
        </p:nvSpPr>
        <p:spPr>
          <a:xfrm>
            <a:off x="3323708" y="1298099"/>
            <a:ext cx="2700000" cy="360000"/>
          </a:xfrm>
          <a:custGeom>
            <a:avLst/>
            <a:gdLst/>
            <a:ahLst/>
            <a:cxnLst/>
            <a:rect l="l" t="t" r="r" b="b"/>
            <a:pathLst>
              <a:path w="3377565" h="353694">
                <a:moveTo>
                  <a:pt x="0" y="0"/>
                </a:moveTo>
                <a:lnTo>
                  <a:pt x="3264408" y="0"/>
                </a:lnTo>
                <a:lnTo>
                  <a:pt x="3377184" y="112775"/>
                </a:lnTo>
                <a:lnTo>
                  <a:pt x="3377184" y="353567"/>
                </a:lnTo>
                <a:lnTo>
                  <a:pt x="0" y="35356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object 14">
            <a:extLst>
              <a:ext uri="{FF2B5EF4-FFF2-40B4-BE49-F238E27FC236}">
                <a16:creationId xmlns:a16="http://schemas.microsoft.com/office/drawing/2014/main" id="{FAF4C817-52C4-26A8-1956-6C682CF5A8FE}"/>
              </a:ext>
            </a:extLst>
          </p:cNvPr>
          <p:cNvSpPr txBox="1"/>
          <p:nvPr/>
        </p:nvSpPr>
        <p:spPr>
          <a:xfrm>
            <a:off x="3370843" y="1335467"/>
            <a:ext cx="1210310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400" spc="-5" dirty="0">
                <a:solidFill>
                  <a:schemeClr val="bg1"/>
                </a:solidFill>
                <a:latin typeface="+mj-lt"/>
                <a:cs typeface="Arial"/>
              </a:rPr>
              <a:t>Total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A</a:t>
            </a:r>
            <a:r>
              <a:rPr lang="en-IN" sz="1400" spc="-5" dirty="0" err="1">
                <a:solidFill>
                  <a:schemeClr val="bg1"/>
                </a:solidFill>
                <a:latin typeface="+mj-lt"/>
                <a:cs typeface="Arial"/>
              </a:rPr>
              <a:t>ssets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9A64BA3B-62D6-2159-EFBA-293DC43E889B}"/>
              </a:ext>
            </a:extLst>
          </p:cNvPr>
          <p:cNvSpPr/>
          <p:nvPr/>
        </p:nvSpPr>
        <p:spPr>
          <a:xfrm>
            <a:off x="3323708" y="1658074"/>
            <a:ext cx="2700000" cy="360000"/>
          </a:xfrm>
          <a:custGeom>
            <a:avLst/>
            <a:gdLst/>
            <a:ahLst/>
            <a:cxnLst/>
            <a:rect l="l" t="t" r="r" b="b"/>
            <a:pathLst>
              <a:path w="3377565" h="353694">
                <a:moveTo>
                  <a:pt x="0" y="0"/>
                </a:moveTo>
                <a:lnTo>
                  <a:pt x="3264408" y="0"/>
                </a:lnTo>
                <a:lnTo>
                  <a:pt x="3377184" y="112775"/>
                </a:lnTo>
                <a:lnTo>
                  <a:pt x="3377184" y="353567"/>
                </a:lnTo>
                <a:lnTo>
                  <a:pt x="0" y="35356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B0C4974C-62E7-C8C0-7EC5-A1E3DDA3F612}"/>
              </a:ext>
            </a:extLst>
          </p:cNvPr>
          <p:cNvSpPr txBox="1"/>
          <p:nvPr/>
        </p:nvSpPr>
        <p:spPr>
          <a:xfrm>
            <a:off x="3370843" y="1698484"/>
            <a:ext cx="26409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400" spc="-5" dirty="0">
                <a:solidFill>
                  <a:schemeClr val="bg1"/>
                </a:solidFill>
                <a:latin typeface="+mj-lt"/>
                <a:cs typeface="Arial"/>
              </a:rPr>
              <a:t>Bank Balance 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20" name="object 17">
            <a:extLst>
              <a:ext uri="{FF2B5EF4-FFF2-40B4-BE49-F238E27FC236}">
                <a16:creationId xmlns:a16="http://schemas.microsoft.com/office/drawing/2014/main" id="{52DA223B-6A0C-AC7D-D2EE-328FADA574D4}"/>
              </a:ext>
            </a:extLst>
          </p:cNvPr>
          <p:cNvSpPr/>
          <p:nvPr/>
        </p:nvSpPr>
        <p:spPr>
          <a:xfrm>
            <a:off x="3323708" y="2018049"/>
            <a:ext cx="2700000" cy="360000"/>
          </a:xfrm>
          <a:custGeom>
            <a:avLst/>
            <a:gdLst/>
            <a:ahLst/>
            <a:cxnLst/>
            <a:rect l="l" t="t" r="r" b="b"/>
            <a:pathLst>
              <a:path w="3377565" h="353694">
                <a:moveTo>
                  <a:pt x="0" y="0"/>
                </a:moveTo>
                <a:lnTo>
                  <a:pt x="3264408" y="0"/>
                </a:lnTo>
                <a:lnTo>
                  <a:pt x="3377184" y="112775"/>
                </a:lnTo>
                <a:lnTo>
                  <a:pt x="3377184" y="353567"/>
                </a:lnTo>
                <a:lnTo>
                  <a:pt x="0" y="35356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object 18">
            <a:extLst>
              <a:ext uri="{FF2B5EF4-FFF2-40B4-BE49-F238E27FC236}">
                <a16:creationId xmlns:a16="http://schemas.microsoft.com/office/drawing/2014/main" id="{A4DE2BC2-53C3-A125-4E83-4D8723555D55}"/>
              </a:ext>
            </a:extLst>
          </p:cNvPr>
          <p:cNvSpPr txBox="1"/>
          <p:nvPr/>
        </p:nvSpPr>
        <p:spPr>
          <a:xfrm>
            <a:off x="3370843" y="2067038"/>
            <a:ext cx="264096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400" spc="-5" dirty="0">
                <a:solidFill>
                  <a:schemeClr val="bg1"/>
                </a:solidFill>
                <a:latin typeface="+mj-lt"/>
                <a:cs typeface="Arial"/>
              </a:rPr>
              <a:t>Amount Invested in Stocks &amp; Crypto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03F5677E-B1BC-6131-0592-A401CF45EFA9}"/>
              </a:ext>
            </a:extLst>
          </p:cNvPr>
          <p:cNvSpPr txBox="1"/>
          <p:nvPr/>
        </p:nvSpPr>
        <p:spPr>
          <a:xfrm>
            <a:off x="5435854" y="959805"/>
            <a:ext cx="1794510" cy="29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+mj-lt"/>
                <a:cs typeface="Carlito"/>
              </a:rPr>
              <a:t>Financial Tracking</a:t>
            </a:r>
            <a:endParaRPr b="1" dirty="0">
              <a:latin typeface="+mj-lt"/>
              <a:cs typeface="Carlito"/>
            </a:endParaRPr>
          </a:p>
        </p:txBody>
      </p:sp>
      <p:sp>
        <p:nvSpPr>
          <p:cNvPr id="36" name="object 33">
            <a:extLst>
              <a:ext uri="{FF2B5EF4-FFF2-40B4-BE49-F238E27FC236}">
                <a16:creationId xmlns:a16="http://schemas.microsoft.com/office/drawing/2014/main" id="{419CB141-75BD-6259-1F54-879C08189A5A}"/>
              </a:ext>
            </a:extLst>
          </p:cNvPr>
          <p:cNvSpPr/>
          <p:nvPr/>
        </p:nvSpPr>
        <p:spPr>
          <a:xfrm>
            <a:off x="3323708" y="2378024"/>
            <a:ext cx="2700000" cy="360000"/>
          </a:xfrm>
          <a:custGeom>
            <a:avLst/>
            <a:gdLst/>
            <a:ahLst/>
            <a:cxnLst/>
            <a:rect l="l" t="t" r="r" b="b"/>
            <a:pathLst>
              <a:path w="3377565" h="353694">
                <a:moveTo>
                  <a:pt x="0" y="0"/>
                </a:moveTo>
                <a:lnTo>
                  <a:pt x="3264408" y="0"/>
                </a:lnTo>
                <a:lnTo>
                  <a:pt x="3377184" y="112775"/>
                </a:lnTo>
                <a:lnTo>
                  <a:pt x="3377184" y="353568"/>
                </a:lnTo>
                <a:lnTo>
                  <a:pt x="0" y="35356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7" name="object 34">
            <a:extLst>
              <a:ext uri="{FF2B5EF4-FFF2-40B4-BE49-F238E27FC236}">
                <a16:creationId xmlns:a16="http://schemas.microsoft.com/office/drawing/2014/main" id="{57251321-0CFB-DA4F-1F71-7B59564C1656}"/>
              </a:ext>
            </a:extLst>
          </p:cNvPr>
          <p:cNvSpPr txBox="1"/>
          <p:nvPr/>
        </p:nvSpPr>
        <p:spPr>
          <a:xfrm>
            <a:off x="3370843" y="2430638"/>
            <a:ext cx="224815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Mutual Funds &amp; SIP Tracker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42" name="object 39">
            <a:extLst>
              <a:ext uri="{FF2B5EF4-FFF2-40B4-BE49-F238E27FC236}">
                <a16:creationId xmlns:a16="http://schemas.microsoft.com/office/drawing/2014/main" id="{74675B07-081A-D9DC-7BD6-C5F3A2A53DDF}"/>
              </a:ext>
            </a:extLst>
          </p:cNvPr>
          <p:cNvSpPr/>
          <p:nvPr/>
        </p:nvSpPr>
        <p:spPr>
          <a:xfrm>
            <a:off x="396232" y="2375665"/>
            <a:ext cx="2880000" cy="360000"/>
          </a:xfrm>
          <a:custGeom>
            <a:avLst/>
            <a:gdLst/>
            <a:ahLst/>
            <a:cxnLst/>
            <a:rect l="l" t="t" r="r" b="b"/>
            <a:pathLst>
              <a:path w="3378835" h="353694">
                <a:moveTo>
                  <a:pt x="0" y="0"/>
                </a:moveTo>
                <a:lnTo>
                  <a:pt x="3265931" y="0"/>
                </a:lnTo>
                <a:lnTo>
                  <a:pt x="3378707" y="112775"/>
                </a:lnTo>
                <a:lnTo>
                  <a:pt x="3378707" y="353567"/>
                </a:lnTo>
                <a:lnTo>
                  <a:pt x="0" y="353567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3" name="object 40">
            <a:extLst>
              <a:ext uri="{FF2B5EF4-FFF2-40B4-BE49-F238E27FC236}">
                <a16:creationId xmlns:a16="http://schemas.microsoft.com/office/drawing/2014/main" id="{5458B3D2-E39C-B712-D4A8-F53524E4AB5F}"/>
              </a:ext>
            </a:extLst>
          </p:cNvPr>
          <p:cNvSpPr txBox="1"/>
          <p:nvPr/>
        </p:nvSpPr>
        <p:spPr>
          <a:xfrm>
            <a:off x="452794" y="2419072"/>
            <a:ext cx="293850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spc="-5" dirty="0">
                <a:solidFill>
                  <a:schemeClr val="bg1"/>
                </a:solidFill>
                <a:latin typeface="+mj-lt"/>
                <a:cs typeface="Arial"/>
              </a:rPr>
              <a:t>UPI facility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44" name="object 41">
            <a:extLst>
              <a:ext uri="{FF2B5EF4-FFF2-40B4-BE49-F238E27FC236}">
                <a16:creationId xmlns:a16="http://schemas.microsoft.com/office/drawing/2014/main" id="{0EFE3B6E-76CB-5A9E-51FC-323683BFA95F}"/>
              </a:ext>
            </a:extLst>
          </p:cNvPr>
          <p:cNvSpPr/>
          <p:nvPr/>
        </p:nvSpPr>
        <p:spPr>
          <a:xfrm>
            <a:off x="396232" y="2737997"/>
            <a:ext cx="2880000" cy="360000"/>
          </a:xfrm>
          <a:custGeom>
            <a:avLst/>
            <a:gdLst/>
            <a:ahLst/>
            <a:cxnLst/>
            <a:rect l="l" t="t" r="r" b="b"/>
            <a:pathLst>
              <a:path w="3377565" h="353694">
                <a:moveTo>
                  <a:pt x="0" y="0"/>
                </a:moveTo>
                <a:lnTo>
                  <a:pt x="3264407" y="0"/>
                </a:lnTo>
                <a:lnTo>
                  <a:pt x="3377183" y="112775"/>
                </a:lnTo>
                <a:lnTo>
                  <a:pt x="3377183" y="353568"/>
                </a:lnTo>
                <a:lnTo>
                  <a:pt x="0" y="353568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4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5" name="object 42">
            <a:extLst>
              <a:ext uri="{FF2B5EF4-FFF2-40B4-BE49-F238E27FC236}">
                <a16:creationId xmlns:a16="http://schemas.microsoft.com/office/drawing/2014/main" id="{3253F2E5-8CBF-BED7-A89E-B3037DAE66F7}"/>
              </a:ext>
            </a:extLst>
          </p:cNvPr>
          <p:cNvSpPr txBox="1"/>
          <p:nvPr/>
        </p:nvSpPr>
        <p:spPr>
          <a:xfrm>
            <a:off x="452794" y="2769649"/>
            <a:ext cx="2928929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Wealth</a:t>
            </a:r>
            <a:r>
              <a:rPr sz="1400" spc="-7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Management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46" name="object 68">
            <a:extLst>
              <a:ext uri="{FF2B5EF4-FFF2-40B4-BE49-F238E27FC236}">
                <a16:creationId xmlns:a16="http://schemas.microsoft.com/office/drawing/2014/main" id="{7A59EC86-51B9-6706-3AA5-894CEA6B86DA}"/>
              </a:ext>
            </a:extLst>
          </p:cNvPr>
          <p:cNvSpPr/>
          <p:nvPr/>
        </p:nvSpPr>
        <p:spPr>
          <a:xfrm>
            <a:off x="3323708" y="2737997"/>
            <a:ext cx="2700000" cy="360000"/>
          </a:xfrm>
          <a:custGeom>
            <a:avLst/>
            <a:gdLst/>
            <a:ahLst/>
            <a:cxnLst/>
            <a:rect l="l" t="t" r="r" b="b"/>
            <a:pathLst>
              <a:path w="3377565" h="353694">
                <a:moveTo>
                  <a:pt x="0" y="0"/>
                </a:moveTo>
                <a:lnTo>
                  <a:pt x="3264408" y="0"/>
                </a:lnTo>
                <a:lnTo>
                  <a:pt x="3377184" y="112775"/>
                </a:lnTo>
                <a:lnTo>
                  <a:pt x="3377184" y="353567"/>
                </a:lnTo>
                <a:lnTo>
                  <a:pt x="0" y="35356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6" name="object 93">
            <a:extLst>
              <a:ext uri="{FF2B5EF4-FFF2-40B4-BE49-F238E27FC236}">
                <a16:creationId xmlns:a16="http://schemas.microsoft.com/office/drawing/2014/main" id="{48AB76E5-2002-F408-0E1F-3206D9F437F8}"/>
              </a:ext>
            </a:extLst>
          </p:cNvPr>
          <p:cNvSpPr txBox="1"/>
          <p:nvPr/>
        </p:nvSpPr>
        <p:spPr>
          <a:xfrm>
            <a:off x="439935" y="3564693"/>
            <a:ext cx="2774606" cy="26109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Investment Analysis, recommendations will require partnership with a brokerage firm.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Inexperience</a:t>
            </a: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 with services like mutual funds and BNPL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  <a:p>
            <a:pPr marL="299085" indent="-287020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spc="-5" dirty="0">
                <a:solidFill>
                  <a:schemeClr val="bg1"/>
                </a:solidFill>
                <a:latin typeface="+mj-lt"/>
                <a:cs typeface="Arial"/>
              </a:rPr>
              <a:t>Implementation of Retirement Plan Builder can be complex as it will require a number of factors such as age, income, savings, future plans/requirements, future macroeconomic projections, etc.</a:t>
            </a:r>
          </a:p>
        </p:txBody>
      </p:sp>
      <p:sp>
        <p:nvSpPr>
          <p:cNvPr id="80" name="object 81">
            <a:extLst>
              <a:ext uri="{FF2B5EF4-FFF2-40B4-BE49-F238E27FC236}">
                <a16:creationId xmlns:a16="http://schemas.microsoft.com/office/drawing/2014/main" id="{71BEFD83-43DC-2DA8-C00D-BFF1FF553DDF}"/>
              </a:ext>
            </a:extLst>
          </p:cNvPr>
          <p:cNvSpPr txBox="1"/>
          <p:nvPr/>
        </p:nvSpPr>
        <p:spPr>
          <a:xfrm>
            <a:off x="3382977" y="4040529"/>
            <a:ext cx="2636928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chemeClr val="bg1"/>
                </a:solidFill>
                <a:latin typeface="+mj-lt"/>
                <a:cs typeface="Arial"/>
              </a:rPr>
              <a:t>Banking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Sourcing/Annual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fees,</a:t>
            </a:r>
            <a:r>
              <a:rPr sz="1400" spc="-120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NIM  Income,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Subscription,  Interchange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81" name="object 83">
            <a:extLst>
              <a:ext uri="{FF2B5EF4-FFF2-40B4-BE49-F238E27FC236}">
                <a16:creationId xmlns:a16="http://schemas.microsoft.com/office/drawing/2014/main" id="{AE1E8B71-0446-27C1-03AE-328BD0C7CBBB}"/>
              </a:ext>
            </a:extLst>
          </p:cNvPr>
          <p:cNvSpPr txBox="1"/>
          <p:nvPr/>
        </p:nvSpPr>
        <p:spPr>
          <a:xfrm>
            <a:off x="3382977" y="3564693"/>
            <a:ext cx="263692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chemeClr val="bg1"/>
                </a:solidFill>
                <a:latin typeface="+mj-lt"/>
                <a:cs typeface="Arial"/>
              </a:rPr>
              <a:t>C</a:t>
            </a:r>
            <a:r>
              <a:rPr lang="en-IN" sz="1400" b="1" dirty="0" err="1">
                <a:solidFill>
                  <a:schemeClr val="bg1"/>
                </a:solidFill>
                <a:latin typeface="+mj-lt"/>
                <a:cs typeface="Arial"/>
              </a:rPr>
              <a:t>redit</a:t>
            </a:r>
            <a:r>
              <a:rPr lang="en-IN" sz="1400" b="1" dirty="0">
                <a:solidFill>
                  <a:schemeClr val="bg1"/>
                </a:solidFill>
                <a:latin typeface="+mj-lt"/>
                <a:cs typeface="Arial"/>
              </a:rPr>
              <a:t> &amp; BNPL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Origination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fee, Interest</a:t>
            </a:r>
            <a:r>
              <a:rPr sz="1400" spc="-7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Fee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84" name="object 86">
            <a:extLst>
              <a:ext uri="{FF2B5EF4-FFF2-40B4-BE49-F238E27FC236}">
                <a16:creationId xmlns:a16="http://schemas.microsoft.com/office/drawing/2014/main" id="{A1A67662-A662-209E-0BC4-3EBE23776AE0}"/>
              </a:ext>
            </a:extLst>
          </p:cNvPr>
          <p:cNvSpPr txBox="1"/>
          <p:nvPr/>
        </p:nvSpPr>
        <p:spPr>
          <a:xfrm>
            <a:off x="3382977" y="4724033"/>
            <a:ext cx="2636928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chemeClr val="bg1"/>
                </a:solidFill>
                <a:latin typeface="+mj-lt"/>
                <a:cs typeface="Arial"/>
              </a:rPr>
              <a:t>Ancillary</a:t>
            </a:r>
            <a:r>
              <a:rPr sz="1400" b="1" spc="10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+mj-lt"/>
                <a:cs typeface="Arial"/>
              </a:rPr>
              <a:t>Services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  <a:p>
            <a:pPr marL="12700" marR="5080">
              <a:spcBef>
                <a:spcPts val="5"/>
              </a:spcBef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Commission </a:t>
            </a:r>
            <a:r>
              <a:rPr lang="en-IN" sz="1400" spc="-5" dirty="0">
                <a:solidFill>
                  <a:schemeClr val="bg1"/>
                </a:solidFill>
                <a:latin typeface="+mj-lt"/>
                <a:cs typeface="Arial"/>
              </a:rPr>
              <a:t>on </a:t>
            </a: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stocks, </a:t>
            </a:r>
            <a:r>
              <a:rPr lang="en-IN" sz="1400" spc="-5" dirty="0">
                <a:solidFill>
                  <a:schemeClr val="bg1"/>
                </a:solidFill>
                <a:latin typeface="+mj-lt"/>
                <a:cs typeface="Arial"/>
              </a:rPr>
              <a:t>FD</a:t>
            </a:r>
            <a:r>
              <a:rPr lang="en-IN" sz="1400" spc="-10" dirty="0">
                <a:solidFill>
                  <a:schemeClr val="bg1"/>
                </a:solidFill>
                <a:latin typeface="+mj-lt"/>
                <a:cs typeface="Arial"/>
              </a:rPr>
              <a:t>, </a:t>
            </a: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Insurance,</a:t>
            </a:r>
            <a:r>
              <a:rPr lang="en-IN" sz="1400" spc="-9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lang="en-IN" sz="1400" spc="-45" dirty="0">
                <a:solidFill>
                  <a:schemeClr val="bg1"/>
                </a:solidFill>
                <a:latin typeface="+mj-lt"/>
                <a:cs typeface="Arial"/>
              </a:rPr>
              <a:t>Mutual Funds, etc.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0D9782D7-D169-C1AD-BEC1-388ED380E2AC}"/>
              </a:ext>
            </a:extLst>
          </p:cNvPr>
          <p:cNvSpPr txBox="1"/>
          <p:nvPr/>
        </p:nvSpPr>
        <p:spPr>
          <a:xfrm>
            <a:off x="452794" y="1700350"/>
            <a:ext cx="3213816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Digital/Physical Debit Cards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8409BD1-E0E1-4180-9000-AC0686871C82}"/>
              </a:ext>
            </a:extLst>
          </p:cNvPr>
          <p:cNvSpPr/>
          <p:nvPr/>
        </p:nvSpPr>
        <p:spPr>
          <a:xfrm>
            <a:off x="910676" y="146654"/>
            <a:ext cx="10938818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345" algn="l"/>
                <a:tab pos="4733925" algn="l"/>
                <a:tab pos="7395209" algn="l"/>
                <a:tab pos="9692640" algn="l"/>
              </a:tabLst>
            </a:pPr>
            <a:r>
              <a:rPr lang="en-US" sz="1400" b="1" spc="35" dirty="0">
                <a:solidFill>
                  <a:schemeClr val="bg1"/>
                </a:solidFill>
                <a:latin typeface="+mj-lt"/>
                <a:cs typeface="Arial"/>
              </a:rPr>
              <a:t>             Digital Challenger Bank</a:t>
            </a:r>
            <a:r>
              <a:rPr lang="en-US" sz="1400" b="1" spc="45" dirty="0">
                <a:solidFill>
                  <a:schemeClr val="bg1"/>
                </a:solidFill>
                <a:latin typeface="+mj-lt"/>
                <a:cs typeface="Arial"/>
              </a:rPr>
              <a:t>              </a:t>
            </a:r>
            <a:r>
              <a:rPr lang="en-US" sz="1400" b="1" spc="50" dirty="0">
                <a:latin typeface="+mj-lt"/>
                <a:cs typeface="Arial"/>
              </a:rPr>
              <a:t>Product Offering </a:t>
            </a:r>
            <a:r>
              <a:rPr lang="en-US" sz="1400" b="1" spc="50" dirty="0">
                <a:solidFill>
                  <a:schemeClr val="bg1"/>
                </a:solidFill>
                <a:latin typeface="+mj-lt"/>
                <a:cs typeface="Arial"/>
              </a:rPr>
              <a:t>	    Go-To-Market Strategy           Technology Capabilities            Mock-ups</a:t>
            </a:r>
            <a:endParaRPr lang="en-US" sz="1400" b="1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pic>
        <p:nvPicPr>
          <p:cNvPr id="83" name="Graphic 82" descr="Direction">
            <a:extLst>
              <a:ext uri="{FF2B5EF4-FFF2-40B4-BE49-F238E27FC236}">
                <a16:creationId xmlns:a16="http://schemas.microsoft.com/office/drawing/2014/main" id="{DD7C9861-D688-4A02-980E-E45334E0C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76591">
            <a:off x="3246603" y="-50214"/>
            <a:ext cx="718150" cy="718856"/>
          </a:xfrm>
          <a:prstGeom prst="rect">
            <a:avLst/>
          </a:prstGeom>
        </p:spPr>
      </p:pic>
      <p:pic>
        <p:nvPicPr>
          <p:cNvPr id="86" name="Graphic 85" descr="Direction">
            <a:extLst>
              <a:ext uri="{FF2B5EF4-FFF2-40B4-BE49-F238E27FC236}">
                <a16:creationId xmlns:a16="http://schemas.microsoft.com/office/drawing/2014/main" id="{24C40E89-F86A-490B-9F3E-22C6ED58E3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76591">
            <a:off x="5133312" y="-50214"/>
            <a:ext cx="718150" cy="718856"/>
          </a:xfrm>
          <a:prstGeom prst="rect">
            <a:avLst/>
          </a:prstGeom>
        </p:spPr>
      </p:pic>
      <p:pic>
        <p:nvPicPr>
          <p:cNvPr id="87" name="Graphic 86" descr="Direction">
            <a:extLst>
              <a:ext uri="{FF2B5EF4-FFF2-40B4-BE49-F238E27FC236}">
                <a16:creationId xmlns:a16="http://schemas.microsoft.com/office/drawing/2014/main" id="{3E2B81C3-3575-4215-BF8C-7531A2621F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76591">
            <a:off x="7481850" y="-50214"/>
            <a:ext cx="718150" cy="718856"/>
          </a:xfrm>
          <a:prstGeom prst="rect">
            <a:avLst/>
          </a:prstGeom>
        </p:spPr>
      </p:pic>
      <p:pic>
        <p:nvPicPr>
          <p:cNvPr id="88" name="Graphic 87" descr="Direction">
            <a:extLst>
              <a:ext uri="{FF2B5EF4-FFF2-40B4-BE49-F238E27FC236}">
                <a16:creationId xmlns:a16="http://schemas.microsoft.com/office/drawing/2014/main" id="{15DF2AB3-1690-46BA-8E38-005B0A5FF9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776591">
            <a:off x="9872658" y="-50214"/>
            <a:ext cx="718150" cy="718856"/>
          </a:xfrm>
          <a:prstGeom prst="rect">
            <a:avLst/>
          </a:prstGeom>
        </p:spPr>
      </p:pic>
      <p:pic>
        <p:nvPicPr>
          <p:cNvPr id="89" name="Graphic 88" descr="Direction">
            <a:extLst>
              <a:ext uri="{FF2B5EF4-FFF2-40B4-BE49-F238E27FC236}">
                <a16:creationId xmlns:a16="http://schemas.microsoft.com/office/drawing/2014/main" id="{A2E4F904-45CA-4FE5-8828-61897C23E4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76591">
            <a:off x="767448" y="-50214"/>
            <a:ext cx="718150" cy="718856"/>
          </a:xfrm>
          <a:prstGeom prst="rect">
            <a:avLst/>
          </a:prstGeom>
        </p:spPr>
      </p:pic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E1F38646-FF21-43C4-844E-BFE75BA0E6C2}"/>
              </a:ext>
            </a:extLst>
          </p:cNvPr>
          <p:cNvSpPr/>
          <p:nvPr/>
        </p:nvSpPr>
        <p:spPr>
          <a:xfrm>
            <a:off x="3323708" y="992825"/>
            <a:ext cx="27000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>
                <a:latin typeface="+mj-lt"/>
              </a:rPr>
              <a:t>Financial Tracking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20C010C8-60FF-46EF-A8DF-7F204F6CB18D}"/>
              </a:ext>
            </a:extLst>
          </p:cNvPr>
          <p:cNvSpPr/>
          <p:nvPr/>
        </p:nvSpPr>
        <p:spPr>
          <a:xfrm>
            <a:off x="396232" y="3180408"/>
            <a:ext cx="28800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>
                <a:latin typeface="+mj-lt"/>
              </a:rPr>
              <a:t>Key Implementation Challenges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5DB22B94-8BC1-4EEC-B5EE-AAC4FFE44FD8}"/>
              </a:ext>
            </a:extLst>
          </p:cNvPr>
          <p:cNvSpPr/>
          <p:nvPr/>
        </p:nvSpPr>
        <p:spPr>
          <a:xfrm>
            <a:off x="3323708" y="3180408"/>
            <a:ext cx="27000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 dirty="0">
                <a:latin typeface="+mj-lt"/>
              </a:rPr>
              <a:t>Monetization Streams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90D7DC6D-15EE-4941-B397-2DDDEF5EBF93}"/>
              </a:ext>
            </a:extLst>
          </p:cNvPr>
          <p:cNvSpPr/>
          <p:nvPr/>
        </p:nvSpPr>
        <p:spPr>
          <a:xfrm>
            <a:off x="396232" y="625361"/>
            <a:ext cx="11379600" cy="32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12065" rIns="0" bIns="0" rtlCol="0" anchor="ctr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US" b="1" spc="-5" dirty="0">
                <a:solidFill>
                  <a:schemeClr val="bg1"/>
                </a:solidFill>
                <a:latin typeface="+mj-lt"/>
              </a:rPr>
              <a:t>Product Offerings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7E750FC8-3E28-4CC6-A7FF-E1364BA173AD}"/>
              </a:ext>
            </a:extLst>
          </p:cNvPr>
          <p:cNvSpPr/>
          <p:nvPr/>
        </p:nvSpPr>
        <p:spPr>
          <a:xfrm>
            <a:off x="396232" y="992825"/>
            <a:ext cx="28800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>
                <a:latin typeface="+mj-lt"/>
              </a:rPr>
              <a:t>Retail Banking</a:t>
            </a:r>
          </a:p>
        </p:txBody>
      </p:sp>
      <p:sp>
        <p:nvSpPr>
          <p:cNvPr id="98" name="object 34">
            <a:extLst>
              <a:ext uri="{FF2B5EF4-FFF2-40B4-BE49-F238E27FC236}">
                <a16:creationId xmlns:a16="http://schemas.microsoft.com/office/drawing/2014/main" id="{65A6CA0C-978A-442D-8CE1-260F5874F418}"/>
              </a:ext>
            </a:extLst>
          </p:cNvPr>
          <p:cNvSpPr txBox="1"/>
          <p:nvPr/>
        </p:nvSpPr>
        <p:spPr>
          <a:xfrm>
            <a:off x="3370843" y="2790586"/>
            <a:ext cx="224815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Total Liabilities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CD85CA0-64F9-47DA-A866-B1B23ADC043F}"/>
              </a:ext>
            </a:extLst>
          </p:cNvPr>
          <p:cNvSpPr/>
          <p:nvPr/>
        </p:nvSpPr>
        <p:spPr>
          <a:xfrm>
            <a:off x="396231" y="3496687"/>
            <a:ext cx="2880000" cy="2700000"/>
          </a:xfrm>
          <a:prstGeom prst="rect">
            <a:avLst/>
          </a:prstGeom>
          <a:noFill/>
          <a:ln>
            <a:solidFill>
              <a:schemeClr val="accent6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B5CFC07-86E6-4131-886F-81C076AC27BC}"/>
              </a:ext>
            </a:extLst>
          </p:cNvPr>
          <p:cNvSpPr/>
          <p:nvPr/>
        </p:nvSpPr>
        <p:spPr>
          <a:xfrm>
            <a:off x="3323708" y="3496687"/>
            <a:ext cx="2700000" cy="2700000"/>
          </a:xfrm>
          <a:prstGeom prst="rect">
            <a:avLst/>
          </a:prstGeom>
          <a:noFill/>
          <a:ln>
            <a:solidFill>
              <a:schemeClr val="accent6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grpSp>
        <p:nvGrpSpPr>
          <p:cNvPr id="249" name="object 2">
            <a:extLst>
              <a:ext uri="{FF2B5EF4-FFF2-40B4-BE49-F238E27FC236}">
                <a16:creationId xmlns:a16="http://schemas.microsoft.com/office/drawing/2014/main" id="{DA565A9D-A93B-425C-B643-44EB6DF932D3}"/>
              </a:ext>
            </a:extLst>
          </p:cNvPr>
          <p:cNvGrpSpPr/>
          <p:nvPr/>
        </p:nvGrpSpPr>
        <p:grpSpPr>
          <a:xfrm>
            <a:off x="6196151" y="1849851"/>
            <a:ext cx="1341900" cy="4183316"/>
            <a:chOff x="594105" y="1470405"/>
            <a:chExt cx="2260600" cy="5165725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50" name="object 3">
              <a:extLst>
                <a:ext uri="{FF2B5EF4-FFF2-40B4-BE49-F238E27FC236}">
                  <a16:creationId xmlns:a16="http://schemas.microsoft.com/office/drawing/2014/main" id="{EEE4D2CC-4C9F-4BA8-B84C-9B331E49CEAC}"/>
                </a:ext>
              </a:extLst>
            </p:cNvPr>
            <p:cNvSpPr/>
            <p:nvPr/>
          </p:nvSpPr>
          <p:spPr>
            <a:xfrm>
              <a:off x="600455" y="1476755"/>
              <a:ext cx="2247900" cy="5153025"/>
            </a:xfrm>
            <a:custGeom>
              <a:avLst/>
              <a:gdLst/>
              <a:ahLst/>
              <a:cxnLst/>
              <a:rect l="l" t="t" r="r" b="b"/>
              <a:pathLst>
                <a:path w="2247900" h="5153025">
                  <a:moveTo>
                    <a:pt x="1873250" y="0"/>
                  </a:moveTo>
                  <a:lnTo>
                    <a:pt x="374650" y="0"/>
                  </a:lnTo>
                  <a:lnTo>
                    <a:pt x="327655" y="2919"/>
                  </a:lnTo>
                  <a:lnTo>
                    <a:pt x="282403" y="11443"/>
                  </a:lnTo>
                  <a:lnTo>
                    <a:pt x="239243" y="25221"/>
                  </a:lnTo>
                  <a:lnTo>
                    <a:pt x="198527" y="43902"/>
                  </a:lnTo>
                  <a:lnTo>
                    <a:pt x="160606" y="67133"/>
                  </a:lnTo>
                  <a:lnTo>
                    <a:pt x="125832" y="94563"/>
                  </a:lnTo>
                  <a:lnTo>
                    <a:pt x="94554" y="125842"/>
                  </a:lnTo>
                  <a:lnTo>
                    <a:pt x="67126" y="160617"/>
                  </a:lnTo>
                  <a:lnTo>
                    <a:pt x="43897" y="198538"/>
                  </a:lnTo>
                  <a:lnTo>
                    <a:pt x="25218" y="239253"/>
                  </a:lnTo>
                  <a:lnTo>
                    <a:pt x="11442" y="282411"/>
                  </a:lnTo>
                  <a:lnTo>
                    <a:pt x="2919" y="327660"/>
                  </a:lnTo>
                  <a:lnTo>
                    <a:pt x="0" y="374650"/>
                  </a:lnTo>
                  <a:lnTo>
                    <a:pt x="0" y="4777994"/>
                  </a:lnTo>
                  <a:lnTo>
                    <a:pt x="2919" y="4824988"/>
                  </a:lnTo>
                  <a:lnTo>
                    <a:pt x="11442" y="4870240"/>
                  </a:lnTo>
                  <a:lnTo>
                    <a:pt x="25218" y="4913400"/>
                  </a:lnTo>
                  <a:lnTo>
                    <a:pt x="43897" y="4954116"/>
                  </a:lnTo>
                  <a:lnTo>
                    <a:pt x="67126" y="4992037"/>
                  </a:lnTo>
                  <a:lnTo>
                    <a:pt x="94554" y="5026811"/>
                  </a:lnTo>
                  <a:lnTo>
                    <a:pt x="125832" y="5058089"/>
                  </a:lnTo>
                  <a:lnTo>
                    <a:pt x="160606" y="5085517"/>
                  </a:lnTo>
                  <a:lnTo>
                    <a:pt x="198527" y="5108746"/>
                  </a:lnTo>
                  <a:lnTo>
                    <a:pt x="239243" y="5127425"/>
                  </a:lnTo>
                  <a:lnTo>
                    <a:pt x="282403" y="5141201"/>
                  </a:lnTo>
                  <a:lnTo>
                    <a:pt x="327655" y="5149724"/>
                  </a:lnTo>
                  <a:lnTo>
                    <a:pt x="374650" y="5152644"/>
                  </a:lnTo>
                  <a:lnTo>
                    <a:pt x="1873250" y="5152644"/>
                  </a:lnTo>
                  <a:lnTo>
                    <a:pt x="1920239" y="5149724"/>
                  </a:lnTo>
                  <a:lnTo>
                    <a:pt x="1965488" y="5141201"/>
                  </a:lnTo>
                  <a:lnTo>
                    <a:pt x="2008646" y="5127425"/>
                  </a:lnTo>
                  <a:lnTo>
                    <a:pt x="2049361" y="5108746"/>
                  </a:lnTo>
                  <a:lnTo>
                    <a:pt x="2087282" y="5085517"/>
                  </a:lnTo>
                  <a:lnTo>
                    <a:pt x="2122057" y="5058089"/>
                  </a:lnTo>
                  <a:lnTo>
                    <a:pt x="2153336" y="5026811"/>
                  </a:lnTo>
                  <a:lnTo>
                    <a:pt x="2180766" y="4992037"/>
                  </a:lnTo>
                  <a:lnTo>
                    <a:pt x="2203997" y="4954116"/>
                  </a:lnTo>
                  <a:lnTo>
                    <a:pt x="2222678" y="4913400"/>
                  </a:lnTo>
                  <a:lnTo>
                    <a:pt x="2236456" y="4870240"/>
                  </a:lnTo>
                  <a:lnTo>
                    <a:pt x="2244980" y="4824988"/>
                  </a:lnTo>
                  <a:lnTo>
                    <a:pt x="2247900" y="4777994"/>
                  </a:lnTo>
                  <a:lnTo>
                    <a:pt x="2247900" y="374650"/>
                  </a:lnTo>
                  <a:lnTo>
                    <a:pt x="2244980" y="327660"/>
                  </a:lnTo>
                  <a:lnTo>
                    <a:pt x="2236456" y="282411"/>
                  </a:lnTo>
                  <a:lnTo>
                    <a:pt x="2222678" y="239253"/>
                  </a:lnTo>
                  <a:lnTo>
                    <a:pt x="2203997" y="198538"/>
                  </a:lnTo>
                  <a:lnTo>
                    <a:pt x="2180766" y="160617"/>
                  </a:lnTo>
                  <a:lnTo>
                    <a:pt x="2153336" y="125842"/>
                  </a:lnTo>
                  <a:lnTo>
                    <a:pt x="2122057" y="94563"/>
                  </a:lnTo>
                  <a:lnTo>
                    <a:pt x="2087282" y="67133"/>
                  </a:lnTo>
                  <a:lnTo>
                    <a:pt x="2049361" y="43902"/>
                  </a:lnTo>
                  <a:lnTo>
                    <a:pt x="2008646" y="25221"/>
                  </a:lnTo>
                  <a:lnTo>
                    <a:pt x="1965488" y="11443"/>
                  </a:lnTo>
                  <a:lnTo>
                    <a:pt x="1920239" y="2919"/>
                  </a:lnTo>
                  <a:lnTo>
                    <a:pt x="18732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251" name="object 4">
              <a:extLst>
                <a:ext uri="{FF2B5EF4-FFF2-40B4-BE49-F238E27FC236}">
                  <a16:creationId xmlns:a16="http://schemas.microsoft.com/office/drawing/2014/main" id="{844AFBD8-6122-47C6-A63F-EC9D2DC87553}"/>
                </a:ext>
              </a:extLst>
            </p:cNvPr>
            <p:cNvSpPr/>
            <p:nvPr/>
          </p:nvSpPr>
          <p:spPr>
            <a:xfrm>
              <a:off x="600455" y="1476755"/>
              <a:ext cx="2247900" cy="5153025"/>
            </a:xfrm>
            <a:custGeom>
              <a:avLst/>
              <a:gdLst/>
              <a:ahLst/>
              <a:cxnLst/>
              <a:rect l="l" t="t" r="r" b="b"/>
              <a:pathLst>
                <a:path w="2247900" h="5153025">
                  <a:moveTo>
                    <a:pt x="0" y="374650"/>
                  </a:moveTo>
                  <a:lnTo>
                    <a:pt x="2919" y="327660"/>
                  </a:lnTo>
                  <a:lnTo>
                    <a:pt x="11442" y="282411"/>
                  </a:lnTo>
                  <a:lnTo>
                    <a:pt x="25218" y="239253"/>
                  </a:lnTo>
                  <a:lnTo>
                    <a:pt x="43897" y="198538"/>
                  </a:lnTo>
                  <a:lnTo>
                    <a:pt x="67126" y="160617"/>
                  </a:lnTo>
                  <a:lnTo>
                    <a:pt x="94554" y="125842"/>
                  </a:lnTo>
                  <a:lnTo>
                    <a:pt x="125832" y="94563"/>
                  </a:lnTo>
                  <a:lnTo>
                    <a:pt x="160606" y="67133"/>
                  </a:lnTo>
                  <a:lnTo>
                    <a:pt x="198527" y="43902"/>
                  </a:lnTo>
                  <a:lnTo>
                    <a:pt x="239243" y="25221"/>
                  </a:lnTo>
                  <a:lnTo>
                    <a:pt x="282403" y="11443"/>
                  </a:lnTo>
                  <a:lnTo>
                    <a:pt x="327655" y="2919"/>
                  </a:lnTo>
                  <a:lnTo>
                    <a:pt x="374650" y="0"/>
                  </a:lnTo>
                  <a:lnTo>
                    <a:pt x="1873250" y="0"/>
                  </a:lnTo>
                  <a:lnTo>
                    <a:pt x="1920239" y="2919"/>
                  </a:lnTo>
                  <a:lnTo>
                    <a:pt x="1965488" y="11443"/>
                  </a:lnTo>
                  <a:lnTo>
                    <a:pt x="2008646" y="25221"/>
                  </a:lnTo>
                  <a:lnTo>
                    <a:pt x="2049361" y="43902"/>
                  </a:lnTo>
                  <a:lnTo>
                    <a:pt x="2087282" y="67133"/>
                  </a:lnTo>
                  <a:lnTo>
                    <a:pt x="2122057" y="94563"/>
                  </a:lnTo>
                  <a:lnTo>
                    <a:pt x="2153336" y="125842"/>
                  </a:lnTo>
                  <a:lnTo>
                    <a:pt x="2180766" y="160617"/>
                  </a:lnTo>
                  <a:lnTo>
                    <a:pt x="2203997" y="198538"/>
                  </a:lnTo>
                  <a:lnTo>
                    <a:pt x="2222678" y="239253"/>
                  </a:lnTo>
                  <a:lnTo>
                    <a:pt x="2236456" y="282411"/>
                  </a:lnTo>
                  <a:lnTo>
                    <a:pt x="2244980" y="327660"/>
                  </a:lnTo>
                  <a:lnTo>
                    <a:pt x="2247900" y="374650"/>
                  </a:lnTo>
                  <a:lnTo>
                    <a:pt x="2247900" y="4777994"/>
                  </a:lnTo>
                  <a:lnTo>
                    <a:pt x="2244980" y="4824988"/>
                  </a:lnTo>
                  <a:lnTo>
                    <a:pt x="2236456" y="4870240"/>
                  </a:lnTo>
                  <a:lnTo>
                    <a:pt x="2222678" y="4913400"/>
                  </a:lnTo>
                  <a:lnTo>
                    <a:pt x="2203997" y="4954116"/>
                  </a:lnTo>
                  <a:lnTo>
                    <a:pt x="2180766" y="4992037"/>
                  </a:lnTo>
                  <a:lnTo>
                    <a:pt x="2153336" y="5026811"/>
                  </a:lnTo>
                  <a:lnTo>
                    <a:pt x="2122057" y="5058089"/>
                  </a:lnTo>
                  <a:lnTo>
                    <a:pt x="2087282" y="5085517"/>
                  </a:lnTo>
                  <a:lnTo>
                    <a:pt x="2049361" y="5108746"/>
                  </a:lnTo>
                  <a:lnTo>
                    <a:pt x="2008646" y="5127425"/>
                  </a:lnTo>
                  <a:lnTo>
                    <a:pt x="1965488" y="5141201"/>
                  </a:lnTo>
                  <a:lnTo>
                    <a:pt x="1920239" y="5149724"/>
                  </a:lnTo>
                  <a:lnTo>
                    <a:pt x="1873250" y="5152644"/>
                  </a:lnTo>
                  <a:lnTo>
                    <a:pt x="374650" y="5152644"/>
                  </a:lnTo>
                  <a:lnTo>
                    <a:pt x="327655" y="5149724"/>
                  </a:lnTo>
                  <a:lnTo>
                    <a:pt x="282403" y="5141201"/>
                  </a:lnTo>
                  <a:lnTo>
                    <a:pt x="239243" y="5127425"/>
                  </a:lnTo>
                  <a:lnTo>
                    <a:pt x="198527" y="5108746"/>
                  </a:lnTo>
                  <a:lnTo>
                    <a:pt x="160606" y="5085517"/>
                  </a:lnTo>
                  <a:lnTo>
                    <a:pt x="125832" y="5058089"/>
                  </a:lnTo>
                  <a:lnTo>
                    <a:pt x="94554" y="5026811"/>
                  </a:lnTo>
                  <a:lnTo>
                    <a:pt x="67126" y="4992037"/>
                  </a:lnTo>
                  <a:lnTo>
                    <a:pt x="43897" y="4954116"/>
                  </a:lnTo>
                  <a:lnTo>
                    <a:pt x="25218" y="4913400"/>
                  </a:lnTo>
                  <a:lnTo>
                    <a:pt x="11442" y="4870240"/>
                  </a:lnTo>
                  <a:lnTo>
                    <a:pt x="2919" y="4824988"/>
                  </a:lnTo>
                  <a:lnTo>
                    <a:pt x="0" y="4777994"/>
                  </a:lnTo>
                  <a:lnTo>
                    <a:pt x="0" y="374650"/>
                  </a:lnTo>
                  <a:close/>
                </a:path>
              </a:pathLst>
            </a:custGeom>
            <a:grpFill/>
            <a:ln w="12700">
              <a:noFill/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</p:grpSp>
      <p:sp>
        <p:nvSpPr>
          <p:cNvPr id="252" name="object 5">
            <a:extLst>
              <a:ext uri="{FF2B5EF4-FFF2-40B4-BE49-F238E27FC236}">
                <a16:creationId xmlns:a16="http://schemas.microsoft.com/office/drawing/2014/main" id="{8C2BFDE8-DF69-479B-B2C2-425DC8BA3916}"/>
              </a:ext>
            </a:extLst>
          </p:cNvPr>
          <p:cNvSpPr txBox="1"/>
          <p:nvPr/>
        </p:nvSpPr>
        <p:spPr>
          <a:xfrm>
            <a:off x="6277197" y="2080989"/>
            <a:ext cx="1620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chemeClr val="bg1"/>
                </a:solidFill>
                <a:cs typeface="Carlito"/>
              </a:rPr>
              <a:t>Savings Int.</a:t>
            </a:r>
            <a:r>
              <a:rPr sz="1200" spc="-80" dirty="0">
                <a:solidFill>
                  <a:schemeClr val="bg1"/>
                </a:solidFill>
                <a:cs typeface="Carlito"/>
              </a:rPr>
              <a:t> </a:t>
            </a:r>
            <a:r>
              <a:rPr sz="1200" spc="-15" dirty="0">
                <a:solidFill>
                  <a:schemeClr val="bg1"/>
                </a:solidFill>
                <a:cs typeface="Carlito"/>
              </a:rPr>
              <a:t>Rate</a:t>
            </a:r>
            <a:endParaRPr sz="1200" dirty="0">
              <a:solidFill>
                <a:schemeClr val="bg1"/>
              </a:solidFill>
              <a:cs typeface="Carlito"/>
            </a:endParaRPr>
          </a:p>
        </p:txBody>
      </p:sp>
      <p:sp>
        <p:nvSpPr>
          <p:cNvPr id="253" name="object 6">
            <a:extLst>
              <a:ext uri="{FF2B5EF4-FFF2-40B4-BE49-F238E27FC236}">
                <a16:creationId xmlns:a16="http://schemas.microsoft.com/office/drawing/2014/main" id="{2B877AB2-4544-4E48-A5EB-64136C9D9BB4}"/>
              </a:ext>
            </a:extLst>
          </p:cNvPr>
          <p:cNvSpPr txBox="1"/>
          <p:nvPr/>
        </p:nvSpPr>
        <p:spPr>
          <a:xfrm>
            <a:off x="6277197" y="2523052"/>
            <a:ext cx="1620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solidFill>
                  <a:schemeClr val="bg1"/>
                </a:solidFill>
                <a:cs typeface="Carlito"/>
              </a:rPr>
              <a:t>Wealth</a:t>
            </a:r>
            <a:r>
              <a:rPr sz="1200" spc="-45" dirty="0">
                <a:solidFill>
                  <a:schemeClr val="bg1"/>
                </a:solidFill>
                <a:cs typeface="Carlito"/>
              </a:rPr>
              <a:t> </a:t>
            </a:r>
            <a:r>
              <a:rPr sz="1200" spc="-10" dirty="0">
                <a:solidFill>
                  <a:schemeClr val="bg1"/>
                </a:solidFill>
                <a:cs typeface="Carlito"/>
              </a:rPr>
              <a:t>Products</a:t>
            </a:r>
            <a:endParaRPr sz="1200">
              <a:solidFill>
                <a:schemeClr val="bg1"/>
              </a:solidFill>
              <a:cs typeface="Carlito"/>
            </a:endParaRPr>
          </a:p>
        </p:txBody>
      </p:sp>
      <p:sp>
        <p:nvSpPr>
          <p:cNvPr id="254" name="object 7">
            <a:extLst>
              <a:ext uri="{FF2B5EF4-FFF2-40B4-BE49-F238E27FC236}">
                <a16:creationId xmlns:a16="http://schemas.microsoft.com/office/drawing/2014/main" id="{5BF7DA68-3F4C-4BDE-A6BF-D0213B8AF4BF}"/>
              </a:ext>
            </a:extLst>
          </p:cNvPr>
          <p:cNvSpPr txBox="1"/>
          <p:nvPr/>
        </p:nvSpPr>
        <p:spPr>
          <a:xfrm>
            <a:off x="6277197" y="3087666"/>
            <a:ext cx="1620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/>
                </a:solidFill>
                <a:cs typeface="Carlito"/>
              </a:rPr>
              <a:t>App</a:t>
            </a:r>
            <a:r>
              <a:rPr sz="1200" spc="-60" dirty="0">
                <a:solidFill>
                  <a:schemeClr val="bg1"/>
                </a:solidFill>
                <a:cs typeface="Carlito"/>
              </a:rPr>
              <a:t> </a:t>
            </a:r>
            <a:r>
              <a:rPr sz="1200" spc="-5" dirty="0">
                <a:solidFill>
                  <a:schemeClr val="bg1"/>
                </a:solidFill>
                <a:cs typeface="Carlito"/>
              </a:rPr>
              <a:t>Experience</a:t>
            </a:r>
            <a:endParaRPr sz="1200" dirty="0">
              <a:solidFill>
                <a:schemeClr val="bg1"/>
              </a:solidFill>
              <a:cs typeface="Carlito"/>
            </a:endParaRPr>
          </a:p>
        </p:txBody>
      </p:sp>
      <p:sp>
        <p:nvSpPr>
          <p:cNvPr id="255" name="object 8">
            <a:extLst>
              <a:ext uri="{FF2B5EF4-FFF2-40B4-BE49-F238E27FC236}">
                <a16:creationId xmlns:a16="http://schemas.microsoft.com/office/drawing/2014/main" id="{7F52DB8E-4572-4EB0-9FB9-88F5787878E4}"/>
              </a:ext>
            </a:extLst>
          </p:cNvPr>
          <p:cNvSpPr txBox="1"/>
          <p:nvPr/>
        </p:nvSpPr>
        <p:spPr>
          <a:xfrm>
            <a:off x="6277196" y="3652280"/>
            <a:ext cx="1620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/>
                </a:solidFill>
                <a:cs typeface="Carlito"/>
              </a:rPr>
              <a:t>B</a:t>
            </a:r>
            <a:r>
              <a:rPr lang="en-US" sz="1200" dirty="0">
                <a:solidFill>
                  <a:schemeClr val="bg1"/>
                </a:solidFill>
                <a:cs typeface="Carlito"/>
              </a:rPr>
              <a:t>uy Now Pay Later</a:t>
            </a:r>
            <a:endParaRPr sz="1200" dirty="0">
              <a:solidFill>
                <a:schemeClr val="bg1"/>
              </a:solidFill>
              <a:cs typeface="Carlito"/>
            </a:endParaRPr>
          </a:p>
        </p:txBody>
      </p:sp>
      <p:sp>
        <p:nvSpPr>
          <p:cNvPr id="256" name="object 9">
            <a:extLst>
              <a:ext uri="{FF2B5EF4-FFF2-40B4-BE49-F238E27FC236}">
                <a16:creationId xmlns:a16="http://schemas.microsoft.com/office/drawing/2014/main" id="{B1F26D59-009D-4422-ACDA-9A947C3CE045}"/>
              </a:ext>
            </a:extLst>
          </p:cNvPr>
          <p:cNvSpPr txBox="1"/>
          <p:nvPr/>
        </p:nvSpPr>
        <p:spPr>
          <a:xfrm>
            <a:off x="6277197" y="4216894"/>
            <a:ext cx="1620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chemeClr val="bg1"/>
                </a:solidFill>
                <a:cs typeface="Carlito"/>
              </a:rPr>
              <a:t>Credit </a:t>
            </a:r>
            <a:r>
              <a:rPr sz="1200" spc="-10" dirty="0">
                <a:solidFill>
                  <a:schemeClr val="bg1"/>
                </a:solidFill>
                <a:cs typeface="Carlito"/>
              </a:rPr>
              <a:t>to</a:t>
            </a:r>
            <a:r>
              <a:rPr sz="1200" spc="-80" dirty="0">
                <a:solidFill>
                  <a:schemeClr val="bg1"/>
                </a:solidFill>
                <a:cs typeface="Carlito"/>
              </a:rPr>
              <a:t> </a:t>
            </a:r>
            <a:r>
              <a:rPr sz="1200" spc="-5" dirty="0">
                <a:solidFill>
                  <a:schemeClr val="bg1"/>
                </a:solidFill>
                <a:cs typeface="Carlito"/>
              </a:rPr>
              <a:t>&lt;750</a:t>
            </a:r>
            <a:r>
              <a:rPr lang="en-US" sz="1200" spc="-5" dirty="0">
                <a:solidFill>
                  <a:schemeClr val="bg1"/>
                </a:solidFill>
                <a:cs typeface="Carlito"/>
              </a:rPr>
              <a:t> </a:t>
            </a:r>
            <a:r>
              <a:rPr sz="1200" spc="-15" dirty="0">
                <a:solidFill>
                  <a:schemeClr val="bg1"/>
                </a:solidFill>
                <a:cs typeface="Carlito"/>
              </a:rPr>
              <a:t>score</a:t>
            </a:r>
            <a:endParaRPr sz="1200" dirty="0">
              <a:solidFill>
                <a:schemeClr val="bg1"/>
              </a:solidFill>
              <a:cs typeface="Carlito"/>
            </a:endParaRPr>
          </a:p>
        </p:txBody>
      </p:sp>
      <p:sp>
        <p:nvSpPr>
          <p:cNvPr id="257" name="object 10">
            <a:extLst>
              <a:ext uri="{FF2B5EF4-FFF2-40B4-BE49-F238E27FC236}">
                <a16:creationId xmlns:a16="http://schemas.microsoft.com/office/drawing/2014/main" id="{C21EF0B8-D138-4799-B9D1-BA6CC138D00C}"/>
              </a:ext>
            </a:extLst>
          </p:cNvPr>
          <p:cNvSpPr txBox="1"/>
          <p:nvPr/>
        </p:nvSpPr>
        <p:spPr>
          <a:xfrm>
            <a:off x="6277197" y="4781507"/>
            <a:ext cx="1620000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630" marR="5080" indent="-32956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chemeClr val="bg1"/>
                </a:solidFill>
                <a:cs typeface="Carlito"/>
              </a:rPr>
              <a:t>Security </a:t>
            </a:r>
            <a:r>
              <a:rPr sz="1200" dirty="0">
                <a:solidFill>
                  <a:schemeClr val="bg1"/>
                </a:solidFill>
                <a:cs typeface="Carlito"/>
              </a:rPr>
              <a:t>&amp;</a:t>
            </a:r>
            <a:r>
              <a:rPr sz="1200" spc="-85" dirty="0">
                <a:solidFill>
                  <a:schemeClr val="bg1"/>
                </a:solidFill>
                <a:cs typeface="Carlito"/>
              </a:rPr>
              <a:t> </a:t>
            </a:r>
            <a:r>
              <a:rPr sz="1200" spc="-10" dirty="0">
                <a:solidFill>
                  <a:schemeClr val="bg1"/>
                </a:solidFill>
                <a:cs typeface="Carlito"/>
              </a:rPr>
              <a:t>Card</a:t>
            </a:r>
            <a:r>
              <a:rPr lang="en-US" sz="1200" spc="-10" dirty="0">
                <a:solidFill>
                  <a:schemeClr val="bg1"/>
                </a:solidFill>
                <a:cs typeface="Carlito"/>
              </a:rPr>
              <a:t> </a:t>
            </a:r>
          </a:p>
          <a:p>
            <a:pPr marL="341630" marR="5080" indent="-32956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chemeClr val="bg1"/>
                </a:solidFill>
                <a:cs typeface="Carlito"/>
              </a:rPr>
              <a:t>Controls</a:t>
            </a:r>
            <a:endParaRPr sz="1200" dirty="0">
              <a:solidFill>
                <a:schemeClr val="bg1"/>
              </a:solidFill>
              <a:cs typeface="Carlito"/>
            </a:endParaRPr>
          </a:p>
        </p:txBody>
      </p:sp>
      <p:sp>
        <p:nvSpPr>
          <p:cNvPr id="258" name="object 11">
            <a:extLst>
              <a:ext uri="{FF2B5EF4-FFF2-40B4-BE49-F238E27FC236}">
                <a16:creationId xmlns:a16="http://schemas.microsoft.com/office/drawing/2014/main" id="{C2B44B80-41AC-4B42-B8C3-A22B667190D1}"/>
              </a:ext>
            </a:extLst>
          </p:cNvPr>
          <p:cNvSpPr txBox="1"/>
          <p:nvPr/>
        </p:nvSpPr>
        <p:spPr>
          <a:xfrm>
            <a:off x="6277196" y="5484617"/>
            <a:ext cx="162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chemeClr val="bg1"/>
                </a:solidFill>
                <a:cs typeface="Carlito"/>
              </a:rPr>
              <a:t>Rich </a:t>
            </a:r>
            <a:r>
              <a:rPr sz="1200" spc="-20" dirty="0">
                <a:solidFill>
                  <a:schemeClr val="bg1"/>
                </a:solidFill>
                <a:cs typeface="Carlito"/>
              </a:rPr>
              <a:t>Rewards</a:t>
            </a:r>
            <a:r>
              <a:rPr sz="1200" spc="-5" dirty="0">
                <a:solidFill>
                  <a:schemeClr val="bg1"/>
                </a:solidFill>
                <a:cs typeface="Carlito"/>
              </a:rPr>
              <a:t> </a:t>
            </a:r>
            <a:r>
              <a:rPr sz="1200" dirty="0">
                <a:solidFill>
                  <a:schemeClr val="bg1"/>
                </a:solidFill>
                <a:cs typeface="Carlito"/>
              </a:rPr>
              <a:t>&amp;</a:t>
            </a:r>
          </a:p>
          <a:p>
            <a:pPr marL="1905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solidFill>
                  <a:schemeClr val="bg1"/>
                </a:solidFill>
                <a:cs typeface="Carlito"/>
              </a:rPr>
              <a:t>Cashback</a:t>
            </a:r>
            <a:endParaRPr sz="1200" dirty="0">
              <a:solidFill>
                <a:schemeClr val="bg1"/>
              </a:solidFill>
              <a:cs typeface="Carlito"/>
            </a:endParaRPr>
          </a:p>
        </p:txBody>
      </p:sp>
      <p:grpSp>
        <p:nvGrpSpPr>
          <p:cNvPr id="259" name="object 12">
            <a:extLst>
              <a:ext uri="{FF2B5EF4-FFF2-40B4-BE49-F238E27FC236}">
                <a16:creationId xmlns:a16="http://schemas.microsoft.com/office/drawing/2014/main" id="{24B2F515-74F3-43C8-94EE-F641E2997239}"/>
              </a:ext>
            </a:extLst>
          </p:cNvPr>
          <p:cNvGrpSpPr/>
          <p:nvPr/>
        </p:nvGrpSpPr>
        <p:grpSpPr>
          <a:xfrm>
            <a:off x="6100900" y="2317592"/>
            <a:ext cx="5550627" cy="3013701"/>
            <a:chOff x="755904" y="2261641"/>
            <a:chExt cx="7787640" cy="3479354"/>
          </a:xfrm>
        </p:grpSpPr>
        <p:sp>
          <p:nvSpPr>
            <p:cNvPr id="260" name="object 13">
              <a:extLst>
                <a:ext uri="{FF2B5EF4-FFF2-40B4-BE49-F238E27FC236}">
                  <a16:creationId xmlns:a16="http://schemas.microsoft.com/office/drawing/2014/main" id="{0833C212-C4E4-495F-9601-826CB207479E}"/>
                </a:ext>
              </a:extLst>
            </p:cNvPr>
            <p:cNvSpPr/>
            <p:nvPr/>
          </p:nvSpPr>
          <p:spPr>
            <a:xfrm>
              <a:off x="755904" y="2261641"/>
              <a:ext cx="7787640" cy="13878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261" name="object 14">
              <a:extLst>
                <a:ext uri="{FF2B5EF4-FFF2-40B4-BE49-F238E27FC236}">
                  <a16:creationId xmlns:a16="http://schemas.microsoft.com/office/drawing/2014/main" id="{E3EDB92A-7534-488A-A702-921E8962EABC}"/>
                </a:ext>
              </a:extLst>
            </p:cNvPr>
            <p:cNvSpPr/>
            <p:nvPr/>
          </p:nvSpPr>
          <p:spPr>
            <a:xfrm>
              <a:off x="896112" y="2333244"/>
              <a:ext cx="7505700" cy="635"/>
            </a:xfrm>
            <a:custGeom>
              <a:avLst/>
              <a:gdLst/>
              <a:ahLst/>
              <a:cxnLst/>
              <a:rect l="l" t="t" r="r" b="b"/>
              <a:pathLst>
                <a:path w="7505700" h="635">
                  <a:moveTo>
                    <a:pt x="0" y="253"/>
                  </a:moveTo>
                  <a:lnTo>
                    <a:pt x="7505700" y="0"/>
                  </a:lnTo>
                </a:path>
              </a:pathLst>
            </a:custGeom>
            <a:ln w="12699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262" name="object 15">
              <a:extLst>
                <a:ext uri="{FF2B5EF4-FFF2-40B4-BE49-F238E27FC236}">
                  <a16:creationId xmlns:a16="http://schemas.microsoft.com/office/drawing/2014/main" id="{9B6B6AB9-CC27-413B-9F71-3AD50F465B5B}"/>
                </a:ext>
              </a:extLst>
            </p:cNvPr>
            <p:cNvSpPr/>
            <p:nvPr/>
          </p:nvSpPr>
          <p:spPr>
            <a:xfrm>
              <a:off x="755904" y="4052276"/>
              <a:ext cx="7787640" cy="15853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263" name="object 16">
              <a:extLst>
                <a:ext uri="{FF2B5EF4-FFF2-40B4-BE49-F238E27FC236}">
                  <a16:creationId xmlns:a16="http://schemas.microsoft.com/office/drawing/2014/main" id="{CFA30A0E-1900-41AA-A6C9-51E4B59036DB}"/>
                </a:ext>
              </a:extLst>
            </p:cNvPr>
            <p:cNvSpPr/>
            <p:nvPr/>
          </p:nvSpPr>
          <p:spPr>
            <a:xfrm>
              <a:off x="896112" y="4123944"/>
              <a:ext cx="7505700" cy="19050"/>
            </a:xfrm>
            <a:custGeom>
              <a:avLst/>
              <a:gdLst/>
              <a:ahLst/>
              <a:cxnLst/>
              <a:rect l="l" t="t" r="r" b="b"/>
              <a:pathLst>
                <a:path w="7505700" h="19050">
                  <a:moveTo>
                    <a:pt x="0" y="0"/>
                  </a:moveTo>
                  <a:lnTo>
                    <a:pt x="7505700" y="18541"/>
                  </a:lnTo>
                </a:path>
              </a:pathLst>
            </a:custGeom>
            <a:ln w="12699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264" name="object 17">
              <a:extLst>
                <a:ext uri="{FF2B5EF4-FFF2-40B4-BE49-F238E27FC236}">
                  <a16:creationId xmlns:a16="http://schemas.microsoft.com/office/drawing/2014/main" id="{97FB213B-6416-4F33-B7C5-253444F08171}"/>
                </a:ext>
              </a:extLst>
            </p:cNvPr>
            <p:cNvSpPr/>
            <p:nvPr/>
          </p:nvSpPr>
          <p:spPr>
            <a:xfrm>
              <a:off x="755904" y="4826495"/>
              <a:ext cx="7787640" cy="14644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265" name="object 18">
              <a:extLst>
                <a:ext uri="{FF2B5EF4-FFF2-40B4-BE49-F238E27FC236}">
                  <a16:creationId xmlns:a16="http://schemas.microsoft.com/office/drawing/2014/main" id="{C4443E0D-6BCE-4D88-8B36-061C64DA8173}"/>
                </a:ext>
              </a:extLst>
            </p:cNvPr>
            <p:cNvSpPr/>
            <p:nvPr/>
          </p:nvSpPr>
          <p:spPr>
            <a:xfrm>
              <a:off x="896112" y="4898136"/>
              <a:ext cx="7505700" cy="6985"/>
            </a:xfrm>
            <a:custGeom>
              <a:avLst/>
              <a:gdLst/>
              <a:ahLst/>
              <a:cxnLst/>
              <a:rect l="l" t="t" r="r" b="b"/>
              <a:pathLst>
                <a:path w="7505700" h="6985">
                  <a:moveTo>
                    <a:pt x="0" y="6857"/>
                  </a:moveTo>
                  <a:lnTo>
                    <a:pt x="7505700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266" name="object 19">
              <a:extLst>
                <a:ext uri="{FF2B5EF4-FFF2-40B4-BE49-F238E27FC236}">
                  <a16:creationId xmlns:a16="http://schemas.microsoft.com/office/drawing/2014/main" id="{FBB37C9F-4726-43BB-A169-C53116EF8BC9}"/>
                </a:ext>
              </a:extLst>
            </p:cNvPr>
            <p:cNvSpPr/>
            <p:nvPr/>
          </p:nvSpPr>
          <p:spPr>
            <a:xfrm>
              <a:off x="755904" y="5602223"/>
              <a:ext cx="7787640" cy="1387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267" name="object 20">
              <a:extLst>
                <a:ext uri="{FF2B5EF4-FFF2-40B4-BE49-F238E27FC236}">
                  <a16:creationId xmlns:a16="http://schemas.microsoft.com/office/drawing/2014/main" id="{3D1AC6AC-8172-4688-A5A0-0B60E9504142}"/>
                </a:ext>
              </a:extLst>
            </p:cNvPr>
            <p:cNvSpPr/>
            <p:nvPr/>
          </p:nvSpPr>
          <p:spPr>
            <a:xfrm>
              <a:off x="896112" y="5673852"/>
              <a:ext cx="7505700" cy="635"/>
            </a:xfrm>
            <a:custGeom>
              <a:avLst/>
              <a:gdLst/>
              <a:ahLst/>
              <a:cxnLst/>
              <a:rect l="l" t="t" r="r" b="b"/>
              <a:pathLst>
                <a:path w="7505700" h="635">
                  <a:moveTo>
                    <a:pt x="0" y="317"/>
                  </a:moveTo>
                  <a:lnTo>
                    <a:pt x="7505700" y="0"/>
                  </a:lnTo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268" name="object 21">
              <a:extLst>
                <a:ext uri="{FF2B5EF4-FFF2-40B4-BE49-F238E27FC236}">
                  <a16:creationId xmlns:a16="http://schemas.microsoft.com/office/drawing/2014/main" id="{ED895C22-1AB8-4C81-9BD5-14421857A1E1}"/>
                </a:ext>
              </a:extLst>
            </p:cNvPr>
            <p:cNvSpPr/>
            <p:nvPr/>
          </p:nvSpPr>
          <p:spPr>
            <a:xfrm>
              <a:off x="755904" y="2842298"/>
              <a:ext cx="7787640" cy="1387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269" name="object 22">
              <a:extLst>
                <a:ext uri="{FF2B5EF4-FFF2-40B4-BE49-F238E27FC236}">
                  <a16:creationId xmlns:a16="http://schemas.microsoft.com/office/drawing/2014/main" id="{82589DE0-5F1B-4C9F-9004-2E86C253093D}"/>
                </a:ext>
              </a:extLst>
            </p:cNvPr>
            <p:cNvSpPr/>
            <p:nvPr/>
          </p:nvSpPr>
          <p:spPr>
            <a:xfrm>
              <a:off x="896112" y="2913888"/>
              <a:ext cx="7505700" cy="635"/>
            </a:xfrm>
            <a:custGeom>
              <a:avLst/>
              <a:gdLst/>
              <a:ahLst/>
              <a:cxnLst/>
              <a:rect l="l" t="t" r="r" b="b"/>
              <a:pathLst>
                <a:path w="7505700" h="635">
                  <a:moveTo>
                    <a:pt x="0" y="253"/>
                  </a:moveTo>
                  <a:lnTo>
                    <a:pt x="7505700" y="0"/>
                  </a:lnTo>
                </a:path>
              </a:pathLst>
            </a:custGeom>
            <a:ln w="12699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270" name="object 23">
              <a:extLst>
                <a:ext uri="{FF2B5EF4-FFF2-40B4-BE49-F238E27FC236}">
                  <a16:creationId xmlns:a16="http://schemas.microsoft.com/office/drawing/2014/main" id="{3C8E24EF-52B4-4A48-AFDF-FB539C12FDDE}"/>
                </a:ext>
              </a:extLst>
            </p:cNvPr>
            <p:cNvSpPr/>
            <p:nvPr/>
          </p:nvSpPr>
          <p:spPr>
            <a:xfrm>
              <a:off x="755904" y="3520478"/>
              <a:ext cx="7787640" cy="1387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271" name="object 24">
              <a:extLst>
                <a:ext uri="{FF2B5EF4-FFF2-40B4-BE49-F238E27FC236}">
                  <a16:creationId xmlns:a16="http://schemas.microsoft.com/office/drawing/2014/main" id="{FB1807ED-5F8C-48E6-BBA6-0AE2B5753602}"/>
                </a:ext>
              </a:extLst>
            </p:cNvPr>
            <p:cNvSpPr/>
            <p:nvPr/>
          </p:nvSpPr>
          <p:spPr>
            <a:xfrm>
              <a:off x="896112" y="3592068"/>
              <a:ext cx="7505700" cy="635"/>
            </a:xfrm>
            <a:custGeom>
              <a:avLst/>
              <a:gdLst/>
              <a:ahLst/>
              <a:cxnLst/>
              <a:rect l="l" t="t" r="r" b="b"/>
              <a:pathLst>
                <a:path w="7505700" h="635">
                  <a:moveTo>
                    <a:pt x="0" y="254"/>
                  </a:moveTo>
                  <a:lnTo>
                    <a:pt x="7505700" y="0"/>
                  </a:lnTo>
                </a:path>
              </a:pathLst>
            </a:custGeom>
            <a:ln w="12699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</p:grpSp>
      <p:sp>
        <p:nvSpPr>
          <p:cNvPr id="272" name="object 25">
            <a:extLst>
              <a:ext uri="{FF2B5EF4-FFF2-40B4-BE49-F238E27FC236}">
                <a16:creationId xmlns:a16="http://schemas.microsoft.com/office/drawing/2014/main" id="{12976123-2452-48B3-8FA8-8275C217ADB6}"/>
              </a:ext>
            </a:extLst>
          </p:cNvPr>
          <p:cNvSpPr txBox="1"/>
          <p:nvPr/>
        </p:nvSpPr>
        <p:spPr>
          <a:xfrm>
            <a:off x="7795549" y="2080989"/>
            <a:ext cx="3740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chemeClr val="bg1"/>
                </a:solidFill>
                <a:cs typeface="Arial"/>
              </a:rPr>
              <a:t>2</a:t>
            </a:r>
            <a:r>
              <a:rPr sz="1200" dirty="0">
                <a:solidFill>
                  <a:schemeClr val="bg1"/>
                </a:solidFill>
                <a:cs typeface="Arial"/>
              </a:rPr>
              <a:t>.</a:t>
            </a:r>
            <a:r>
              <a:rPr sz="1200" spc="-5" dirty="0">
                <a:solidFill>
                  <a:schemeClr val="bg1"/>
                </a:solidFill>
                <a:cs typeface="Arial"/>
              </a:rPr>
              <a:t>7%</a:t>
            </a:r>
            <a:endParaRPr sz="1200">
              <a:solidFill>
                <a:schemeClr val="bg1"/>
              </a:solidFill>
              <a:cs typeface="Arial"/>
            </a:endParaRPr>
          </a:p>
        </p:txBody>
      </p:sp>
      <p:sp>
        <p:nvSpPr>
          <p:cNvPr id="273" name="object 26">
            <a:extLst>
              <a:ext uri="{FF2B5EF4-FFF2-40B4-BE49-F238E27FC236}">
                <a16:creationId xmlns:a16="http://schemas.microsoft.com/office/drawing/2014/main" id="{52234D69-F252-48F8-B63E-ACE77E84C98F}"/>
              </a:ext>
            </a:extLst>
          </p:cNvPr>
          <p:cNvSpPr txBox="1"/>
          <p:nvPr/>
        </p:nvSpPr>
        <p:spPr>
          <a:xfrm>
            <a:off x="9225562" y="2080989"/>
            <a:ext cx="24637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chemeClr val="bg1"/>
                </a:solidFill>
                <a:cs typeface="Arial"/>
              </a:rPr>
              <a:t>4%</a:t>
            </a:r>
            <a:endParaRPr sz="1200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274" name="object 27">
            <a:extLst>
              <a:ext uri="{FF2B5EF4-FFF2-40B4-BE49-F238E27FC236}">
                <a16:creationId xmlns:a16="http://schemas.microsoft.com/office/drawing/2014/main" id="{89CE3207-D2A2-4071-B42E-0B01742ED3E1}"/>
              </a:ext>
            </a:extLst>
          </p:cNvPr>
          <p:cNvSpPr txBox="1"/>
          <p:nvPr/>
        </p:nvSpPr>
        <p:spPr>
          <a:xfrm>
            <a:off x="10158810" y="2027149"/>
            <a:ext cx="123684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solidFill>
                  <a:schemeClr val="bg1"/>
                </a:solidFill>
                <a:cs typeface="Arial"/>
              </a:rPr>
              <a:t>More than </a:t>
            </a:r>
            <a:r>
              <a:rPr sz="1200" spc="-10" dirty="0">
                <a:solidFill>
                  <a:schemeClr val="bg1"/>
                </a:solidFill>
                <a:cs typeface="Arial"/>
              </a:rPr>
              <a:t>Avg.</a:t>
            </a:r>
            <a:r>
              <a:rPr sz="1200" spc="-30" dirty="0">
                <a:solidFill>
                  <a:schemeClr val="bg1"/>
                </a:solidFill>
                <a:cs typeface="Arial"/>
              </a:rPr>
              <a:t> </a:t>
            </a:r>
            <a:r>
              <a:rPr lang="en-US" sz="1200" spc="-30" dirty="0">
                <a:solidFill>
                  <a:schemeClr val="bg1"/>
                </a:solidFill>
                <a:cs typeface="Arial"/>
              </a:rPr>
              <a:t>of </a:t>
            </a:r>
            <a:r>
              <a:rPr sz="1200" spc="-5" dirty="0">
                <a:solidFill>
                  <a:schemeClr val="bg1"/>
                </a:solidFill>
                <a:cs typeface="Arial"/>
              </a:rPr>
              <a:t>incumbents’</a:t>
            </a:r>
            <a:r>
              <a:rPr lang="en-US" sz="1200" spc="-5" dirty="0">
                <a:solidFill>
                  <a:schemeClr val="bg1"/>
                </a:solidFill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cs typeface="Arial"/>
              </a:rPr>
              <a:t>rate</a:t>
            </a:r>
          </a:p>
        </p:txBody>
      </p:sp>
      <p:sp>
        <p:nvSpPr>
          <p:cNvPr id="275" name="object 28">
            <a:extLst>
              <a:ext uri="{FF2B5EF4-FFF2-40B4-BE49-F238E27FC236}">
                <a16:creationId xmlns:a16="http://schemas.microsoft.com/office/drawing/2014/main" id="{6B0527D2-4E82-454B-A1CE-036E4EE42D6E}"/>
              </a:ext>
            </a:extLst>
          </p:cNvPr>
          <p:cNvSpPr txBox="1"/>
          <p:nvPr/>
        </p:nvSpPr>
        <p:spPr>
          <a:xfrm>
            <a:off x="7595714" y="2420844"/>
            <a:ext cx="113474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chemeClr val="bg1"/>
                </a:solidFill>
                <a:cs typeface="Arial"/>
              </a:rPr>
              <a:t>FD/RD</a:t>
            </a:r>
            <a:endParaRPr sz="1200" dirty="0">
              <a:solidFill>
                <a:schemeClr val="bg1"/>
              </a:solidFill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chemeClr val="bg1"/>
                </a:solidFill>
                <a:cs typeface="Arial"/>
              </a:rPr>
              <a:t>Domestic</a:t>
            </a:r>
            <a:r>
              <a:rPr sz="1200" spc="-95" dirty="0">
                <a:solidFill>
                  <a:schemeClr val="bg1"/>
                </a:solidFill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cs typeface="Arial"/>
              </a:rPr>
              <a:t>stocks</a:t>
            </a:r>
          </a:p>
        </p:txBody>
      </p:sp>
      <p:sp>
        <p:nvSpPr>
          <p:cNvPr id="276" name="object 29">
            <a:extLst>
              <a:ext uri="{FF2B5EF4-FFF2-40B4-BE49-F238E27FC236}">
                <a16:creationId xmlns:a16="http://schemas.microsoft.com/office/drawing/2014/main" id="{CF8465C9-E8C9-48C1-9974-43D201DD9CCF}"/>
              </a:ext>
            </a:extLst>
          </p:cNvPr>
          <p:cNvSpPr txBox="1"/>
          <p:nvPr/>
        </p:nvSpPr>
        <p:spPr>
          <a:xfrm>
            <a:off x="8780109" y="2420844"/>
            <a:ext cx="113728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chemeClr val="bg1"/>
                </a:solidFill>
                <a:cs typeface="Arial"/>
              </a:rPr>
              <a:t>FD/RD</a:t>
            </a: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chemeClr val="bg1"/>
                </a:solidFill>
                <a:cs typeface="Arial"/>
              </a:rPr>
              <a:t>Domestic</a:t>
            </a:r>
            <a:r>
              <a:rPr sz="1200" spc="-85" dirty="0">
                <a:solidFill>
                  <a:schemeClr val="bg1"/>
                </a:solidFill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cs typeface="Arial"/>
              </a:rPr>
              <a:t>stocks</a:t>
            </a:r>
          </a:p>
        </p:txBody>
      </p:sp>
      <p:sp>
        <p:nvSpPr>
          <p:cNvPr id="277" name="object 30">
            <a:extLst>
              <a:ext uri="{FF2B5EF4-FFF2-40B4-BE49-F238E27FC236}">
                <a16:creationId xmlns:a16="http://schemas.microsoft.com/office/drawing/2014/main" id="{6C417122-AFFA-4D19-807F-3001CB1CBCBA}"/>
              </a:ext>
            </a:extLst>
          </p:cNvPr>
          <p:cNvSpPr txBox="1"/>
          <p:nvPr/>
        </p:nvSpPr>
        <p:spPr>
          <a:xfrm>
            <a:off x="10056418" y="2420844"/>
            <a:ext cx="165671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chemeClr val="bg1"/>
                </a:solidFill>
                <a:cs typeface="Arial"/>
              </a:rPr>
              <a:t>All-in-one </a:t>
            </a:r>
            <a:r>
              <a:rPr sz="1200" dirty="0">
                <a:solidFill>
                  <a:schemeClr val="bg1"/>
                </a:solidFill>
                <a:cs typeface="Arial"/>
              </a:rPr>
              <a:t>platform,</a:t>
            </a:r>
            <a:r>
              <a:rPr sz="1200" spc="-114" dirty="0">
                <a:solidFill>
                  <a:schemeClr val="bg1"/>
                </a:solidFill>
                <a:cs typeface="Arial"/>
              </a:rPr>
              <a:t> </a:t>
            </a:r>
            <a:r>
              <a:rPr sz="1200" dirty="0">
                <a:solidFill>
                  <a:schemeClr val="bg1"/>
                </a:solidFill>
                <a:cs typeface="Arial"/>
              </a:rPr>
              <a:t>Zero  fees, </a:t>
            </a:r>
            <a:r>
              <a:rPr sz="1200" spc="-5" dirty="0">
                <a:solidFill>
                  <a:schemeClr val="bg1"/>
                </a:solidFill>
                <a:cs typeface="Arial"/>
              </a:rPr>
              <a:t>no </a:t>
            </a:r>
            <a:r>
              <a:rPr sz="1200" dirty="0">
                <a:solidFill>
                  <a:schemeClr val="bg1"/>
                </a:solidFill>
                <a:cs typeface="Arial"/>
              </a:rPr>
              <a:t>hidden</a:t>
            </a:r>
            <a:r>
              <a:rPr sz="1200" spc="-130" dirty="0">
                <a:solidFill>
                  <a:schemeClr val="bg1"/>
                </a:solidFill>
                <a:cs typeface="Arial"/>
              </a:rPr>
              <a:t> </a:t>
            </a:r>
            <a:r>
              <a:rPr sz="1200" spc="-5" dirty="0">
                <a:solidFill>
                  <a:schemeClr val="bg1"/>
                </a:solidFill>
                <a:cs typeface="Arial"/>
              </a:rPr>
              <a:t>charges</a:t>
            </a:r>
            <a:endParaRPr sz="1200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306" name="object 60">
            <a:extLst>
              <a:ext uri="{FF2B5EF4-FFF2-40B4-BE49-F238E27FC236}">
                <a16:creationId xmlns:a16="http://schemas.microsoft.com/office/drawing/2014/main" id="{08AE8935-4460-4574-8918-5DDCA43EF65A}"/>
              </a:ext>
            </a:extLst>
          </p:cNvPr>
          <p:cNvSpPr/>
          <p:nvPr/>
        </p:nvSpPr>
        <p:spPr>
          <a:xfrm>
            <a:off x="10640871" y="3552657"/>
            <a:ext cx="281940" cy="300355"/>
          </a:xfrm>
          <a:custGeom>
            <a:avLst/>
            <a:gdLst/>
            <a:ahLst/>
            <a:cxnLst/>
            <a:rect l="l" t="t" r="r" b="b"/>
            <a:pathLst>
              <a:path w="281940" h="300354">
                <a:moveTo>
                  <a:pt x="140970" y="0"/>
                </a:moveTo>
                <a:lnTo>
                  <a:pt x="96414" y="7650"/>
                </a:lnTo>
                <a:lnTo>
                  <a:pt x="57716" y="28956"/>
                </a:lnTo>
                <a:lnTo>
                  <a:pt x="27200" y="61447"/>
                </a:lnTo>
                <a:lnTo>
                  <a:pt x="7187" y="102656"/>
                </a:lnTo>
                <a:lnTo>
                  <a:pt x="0" y="150113"/>
                </a:lnTo>
                <a:lnTo>
                  <a:pt x="7187" y="197571"/>
                </a:lnTo>
                <a:lnTo>
                  <a:pt x="27200" y="238780"/>
                </a:lnTo>
                <a:lnTo>
                  <a:pt x="57716" y="271272"/>
                </a:lnTo>
                <a:lnTo>
                  <a:pt x="96414" y="292577"/>
                </a:lnTo>
                <a:lnTo>
                  <a:pt x="140970" y="300227"/>
                </a:lnTo>
                <a:lnTo>
                  <a:pt x="185525" y="292577"/>
                </a:lnTo>
                <a:lnTo>
                  <a:pt x="224223" y="271271"/>
                </a:lnTo>
                <a:lnTo>
                  <a:pt x="254739" y="238780"/>
                </a:lnTo>
                <a:lnTo>
                  <a:pt x="274752" y="197571"/>
                </a:lnTo>
                <a:lnTo>
                  <a:pt x="281940" y="150113"/>
                </a:lnTo>
                <a:lnTo>
                  <a:pt x="274752" y="102656"/>
                </a:lnTo>
                <a:lnTo>
                  <a:pt x="254739" y="61447"/>
                </a:lnTo>
                <a:lnTo>
                  <a:pt x="224223" y="28955"/>
                </a:lnTo>
                <a:lnTo>
                  <a:pt x="185525" y="7650"/>
                </a:lnTo>
                <a:lnTo>
                  <a:pt x="14097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0" tIns="0" rIns="0" bIns="0" rtlCol="0"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07" name="object 61">
            <a:extLst>
              <a:ext uri="{FF2B5EF4-FFF2-40B4-BE49-F238E27FC236}">
                <a16:creationId xmlns:a16="http://schemas.microsoft.com/office/drawing/2014/main" id="{E1A8B83A-678B-4426-8857-C46ECE06F84C}"/>
              </a:ext>
            </a:extLst>
          </p:cNvPr>
          <p:cNvSpPr/>
          <p:nvPr/>
        </p:nvSpPr>
        <p:spPr>
          <a:xfrm>
            <a:off x="10640871" y="3552657"/>
            <a:ext cx="281940" cy="300355"/>
          </a:xfrm>
          <a:custGeom>
            <a:avLst/>
            <a:gdLst/>
            <a:ahLst/>
            <a:cxnLst/>
            <a:rect l="l" t="t" r="r" b="b"/>
            <a:pathLst>
              <a:path w="281940" h="300354">
                <a:moveTo>
                  <a:pt x="0" y="150113"/>
                </a:moveTo>
                <a:lnTo>
                  <a:pt x="7187" y="102656"/>
                </a:lnTo>
                <a:lnTo>
                  <a:pt x="27200" y="61447"/>
                </a:lnTo>
                <a:lnTo>
                  <a:pt x="57716" y="28956"/>
                </a:lnTo>
                <a:lnTo>
                  <a:pt x="96414" y="7650"/>
                </a:lnTo>
                <a:lnTo>
                  <a:pt x="140970" y="0"/>
                </a:lnTo>
                <a:lnTo>
                  <a:pt x="185525" y="7650"/>
                </a:lnTo>
                <a:lnTo>
                  <a:pt x="224223" y="28955"/>
                </a:lnTo>
                <a:lnTo>
                  <a:pt x="254739" y="61447"/>
                </a:lnTo>
                <a:lnTo>
                  <a:pt x="274752" y="102656"/>
                </a:lnTo>
                <a:lnTo>
                  <a:pt x="281940" y="150113"/>
                </a:lnTo>
                <a:lnTo>
                  <a:pt x="274752" y="197571"/>
                </a:lnTo>
                <a:lnTo>
                  <a:pt x="254739" y="238780"/>
                </a:lnTo>
                <a:lnTo>
                  <a:pt x="224223" y="271271"/>
                </a:lnTo>
                <a:lnTo>
                  <a:pt x="185525" y="292577"/>
                </a:lnTo>
                <a:lnTo>
                  <a:pt x="140970" y="300227"/>
                </a:lnTo>
                <a:lnTo>
                  <a:pt x="96414" y="292577"/>
                </a:lnTo>
                <a:lnTo>
                  <a:pt x="57716" y="271272"/>
                </a:lnTo>
                <a:lnTo>
                  <a:pt x="27200" y="238780"/>
                </a:lnTo>
                <a:lnTo>
                  <a:pt x="7187" y="197571"/>
                </a:lnTo>
                <a:lnTo>
                  <a:pt x="0" y="15011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0" tIns="0" rIns="0" bIns="0" rtlCol="0"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08" name="object 62">
            <a:extLst>
              <a:ext uri="{FF2B5EF4-FFF2-40B4-BE49-F238E27FC236}">
                <a16:creationId xmlns:a16="http://schemas.microsoft.com/office/drawing/2014/main" id="{766ADD2C-9189-4230-B86C-482203CD8409}"/>
              </a:ext>
            </a:extLst>
          </p:cNvPr>
          <p:cNvSpPr/>
          <p:nvPr/>
        </p:nvSpPr>
        <p:spPr>
          <a:xfrm>
            <a:off x="10640871" y="4824558"/>
            <a:ext cx="281940" cy="300355"/>
          </a:xfrm>
          <a:custGeom>
            <a:avLst/>
            <a:gdLst/>
            <a:ahLst/>
            <a:cxnLst/>
            <a:rect l="l" t="t" r="r" b="b"/>
            <a:pathLst>
              <a:path w="281940" h="300354">
                <a:moveTo>
                  <a:pt x="140970" y="0"/>
                </a:moveTo>
                <a:lnTo>
                  <a:pt x="96414" y="7650"/>
                </a:lnTo>
                <a:lnTo>
                  <a:pt x="57716" y="28956"/>
                </a:lnTo>
                <a:lnTo>
                  <a:pt x="27200" y="61447"/>
                </a:lnTo>
                <a:lnTo>
                  <a:pt x="7187" y="102656"/>
                </a:lnTo>
                <a:lnTo>
                  <a:pt x="0" y="150113"/>
                </a:lnTo>
                <a:lnTo>
                  <a:pt x="7187" y="197571"/>
                </a:lnTo>
                <a:lnTo>
                  <a:pt x="27200" y="238780"/>
                </a:lnTo>
                <a:lnTo>
                  <a:pt x="57716" y="271272"/>
                </a:lnTo>
                <a:lnTo>
                  <a:pt x="96414" y="292577"/>
                </a:lnTo>
                <a:lnTo>
                  <a:pt x="140970" y="300228"/>
                </a:lnTo>
                <a:lnTo>
                  <a:pt x="185525" y="292577"/>
                </a:lnTo>
                <a:lnTo>
                  <a:pt x="224223" y="271272"/>
                </a:lnTo>
                <a:lnTo>
                  <a:pt x="254739" y="238780"/>
                </a:lnTo>
                <a:lnTo>
                  <a:pt x="274752" y="197571"/>
                </a:lnTo>
                <a:lnTo>
                  <a:pt x="281940" y="150113"/>
                </a:lnTo>
                <a:lnTo>
                  <a:pt x="274752" y="102656"/>
                </a:lnTo>
                <a:lnTo>
                  <a:pt x="254739" y="61447"/>
                </a:lnTo>
                <a:lnTo>
                  <a:pt x="224223" y="28955"/>
                </a:lnTo>
                <a:lnTo>
                  <a:pt x="185525" y="7650"/>
                </a:lnTo>
                <a:lnTo>
                  <a:pt x="14097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0" tIns="0" rIns="0" bIns="0" rtlCol="0"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10" name="object 64">
            <a:extLst>
              <a:ext uri="{FF2B5EF4-FFF2-40B4-BE49-F238E27FC236}">
                <a16:creationId xmlns:a16="http://schemas.microsoft.com/office/drawing/2014/main" id="{6047217D-0D60-4A53-BB34-49A682E278E4}"/>
              </a:ext>
            </a:extLst>
          </p:cNvPr>
          <p:cNvSpPr/>
          <p:nvPr/>
        </p:nvSpPr>
        <p:spPr>
          <a:xfrm>
            <a:off x="10642396" y="3048841"/>
            <a:ext cx="281940" cy="300355"/>
          </a:xfrm>
          <a:custGeom>
            <a:avLst/>
            <a:gdLst/>
            <a:ahLst/>
            <a:cxnLst/>
            <a:rect l="l" t="t" r="r" b="b"/>
            <a:pathLst>
              <a:path w="281940" h="300354">
                <a:moveTo>
                  <a:pt x="140970" y="0"/>
                </a:moveTo>
                <a:lnTo>
                  <a:pt x="96414" y="7650"/>
                </a:lnTo>
                <a:lnTo>
                  <a:pt x="57716" y="28955"/>
                </a:lnTo>
                <a:lnTo>
                  <a:pt x="27200" y="61447"/>
                </a:lnTo>
                <a:lnTo>
                  <a:pt x="7187" y="102656"/>
                </a:lnTo>
                <a:lnTo>
                  <a:pt x="0" y="150113"/>
                </a:lnTo>
                <a:lnTo>
                  <a:pt x="7187" y="197571"/>
                </a:lnTo>
                <a:lnTo>
                  <a:pt x="27200" y="238780"/>
                </a:lnTo>
                <a:lnTo>
                  <a:pt x="57716" y="271272"/>
                </a:lnTo>
                <a:lnTo>
                  <a:pt x="96414" y="292577"/>
                </a:lnTo>
                <a:lnTo>
                  <a:pt x="140970" y="300227"/>
                </a:lnTo>
                <a:lnTo>
                  <a:pt x="185525" y="292577"/>
                </a:lnTo>
                <a:lnTo>
                  <a:pt x="224223" y="271272"/>
                </a:lnTo>
                <a:lnTo>
                  <a:pt x="254739" y="238780"/>
                </a:lnTo>
                <a:lnTo>
                  <a:pt x="274752" y="197571"/>
                </a:lnTo>
                <a:lnTo>
                  <a:pt x="281940" y="150113"/>
                </a:lnTo>
                <a:lnTo>
                  <a:pt x="274752" y="102656"/>
                </a:lnTo>
                <a:lnTo>
                  <a:pt x="254739" y="61447"/>
                </a:lnTo>
                <a:lnTo>
                  <a:pt x="224223" y="28955"/>
                </a:lnTo>
                <a:lnTo>
                  <a:pt x="185525" y="7650"/>
                </a:lnTo>
                <a:lnTo>
                  <a:pt x="14097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0" tIns="0" rIns="0" bIns="0" rtlCol="0"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11" name="object 65">
            <a:extLst>
              <a:ext uri="{FF2B5EF4-FFF2-40B4-BE49-F238E27FC236}">
                <a16:creationId xmlns:a16="http://schemas.microsoft.com/office/drawing/2014/main" id="{64A69C9D-6D87-4E5C-8450-81C9B2447376}"/>
              </a:ext>
            </a:extLst>
          </p:cNvPr>
          <p:cNvSpPr/>
          <p:nvPr/>
        </p:nvSpPr>
        <p:spPr>
          <a:xfrm>
            <a:off x="10642396" y="3048841"/>
            <a:ext cx="281940" cy="300355"/>
          </a:xfrm>
          <a:custGeom>
            <a:avLst/>
            <a:gdLst/>
            <a:ahLst/>
            <a:cxnLst/>
            <a:rect l="l" t="t" r="r" b="b"/>
            <a:pathLst>
              <a:path w="281940" h="300354">
                <a:moveTo>
                  <a:pt x="0" y="150113"/>
                </a:moveTo>
                <a:lnTo>
                  <a:pt x="7187" y="102656"/>
                </a:lnTo>
                <a:lnTo>
                  <a:pt x="27200" y="61447"/>
                </a:lnTo>
                <a:lnTo>
                  <a:pt x="57716" y="28955"/>
                </a:lnTo>
                <a:lnTo>
                  <a:pt x="96414" y="7650"/>
                </a:lnTo>
                <a:lnTo>
                  <a:pt x="140970" y="0"/>
                </a:lnTo>
                <a:lnTo>
                  <a:pt x="185525" y="7650"/>
                </a:lnTo>
                <a:lnTo>
                  <a:pt x="224223" y="28955"/>
                </a:lnTo>
                <a:lnTo>
                  <a:pt x="254739" y="61447"/>
                </a:lnTo>
                <a:lnTo>
                  <a:pt x="274752" y="102656"/>
                </a:lnTo>
                <a:lnTo>
                  <a:pt x="281940" y="150113"/>
                </a:lnTo>
                <a:lnTo>
                  <a:pt x="274752" y="197571"/>
                </a:lnTo>
                <a:lnTo>
                  <a:pt x="254739" y="238780"/>
                </a:lnTo>
                <a:lnTo>
                  <a:pt x="224223" y="271272"/>
                </a:lnTo>
                <a:lnTo>
                  <a:pt x="185525" y="292577"/>
                </a:lnTo>
                <a:lnTo>
                  <a:pt x="140970" y="300227"/>
                </a:lnTo>
                <a:lnTo>
                  <a:pt x="96414" y="292577"/>
                </a:lnTo>
                <a:lnTo>
                  <a:pt x="57716" y="271272"/>
                </a:lnTo>
                <a:lnTo>
                  <a:pt x="27200" y="238780"/>
                </a:lnTo>
                <a:lnTo>
                  <a:pt x="7187" y="197571"/>
                </a:lnTo>
                <a:lnTo>
                  <a:pt x="0" y="15011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0" tIns="0" rIns="0" bIns="0" rtlCol="0"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12" name="object 66">
            <a:extLst>
              <a:ext uri="{FF2B5EF4-FFF2-40B4-BE49-F238E27FC236}">
                <a16:creationId xmlns:a16="http://schemas.microsoft.com/office/drawing/2014/main" id="{55F3E676-0AB2-4B20-8538-5E3BCB185FA3}"/>
              </a:ext>
            </a:extLst>
          </p:cNvPr>
          <p:cNvSpPr/>
          <p:nvPr/>
        </p:nvSpPr>
        <p:spPr>
          <a:xfrm>
            <a:off x="10640871" y="4173661"/>
            <a:ext cx="281940" cy="300355"/>
          </a:xfrm>
          <a:custGeom>
            <a:avLst/>
            <a:gdLst/>
            <a:ahLst/>
            <a:cxnLst/>
            <a:rect l="l" t="t" r="r" b="b"/>
            <a:pathLst>
              <a:path w="281940" h="300354">
                <a:moveTo>
                  <a:pt x="140970" y="0"/>
                </a:moveTo>
                <a:lnTo>
                  <a:pt x="96414" y="7650"/>
                </a:lnTo>
                <a:lnTo>
                  <a:pt x="57716" y="28956"/>
                </a:lnTo>
                <a:lnTo>
                  <a:pt x="27200" y="61447"/>
                </a:lnTo>
                <a:lnTo>
                  <a:pt x="7187" y="102656"/>
                </a:lnTo>
                <a:lnTo>
                  <a:pt x="0" y="150114"/>
                </a:lnTo>
                <a:lnTo>
                  <a:pt x="7187" y="197571"/>
                </a:lnTo>
                <a:lnTo>
                  <a:pt x="27200" y="238780"/>
                </a:lnTo>
                <a:lnTo>
                  <a:pt x="57716" y="271272"/>
                </a:lnTo>
                <a:lnTo>
                  <a:pt x="96414" y="292577"/>
                </a:lnTo>
                <a:lnTo>
                  <a:pt x="140970" y="300228"/>
                </a:lnTo>
                <a:lnTo>
                  <a:pt x="185525" y="292577"/>
                </a:lnTo>
                <a:lnTo>
                  <a:pt x="224223" y="271272"/>
                </a:lnTo>
                <a:lnTo>
                  <a:pt x="254739" y="238780"/>
                </a:lnTo>
                <a:lnTo>
                  <a:pt x="274752" y="197571"/>
                </a:lnTo>
                <a:lnTo>
                  <a:pt x="281940" y="150114"/>
                </a:lnTo>
                <a:lnTo>
                  <a:pt x="274752" y="102656"/>
                </a:lnTo>
                <a:lnTo>
                  <a:pt x="254739" y="61447"/>
                </a:lnTo>
                <a:lnTo>
                  <a:pt x="224223" y="28956"/>
                </a:lnTo>
                <a:lnTo>
                  <a:pt x="185525" y="7650"/>
                </a:lnTo>
                <a:lnTo>
                  <a:pt x="14097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0" tIns="0" rIns="0" bIns="0" rtlCol="0"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13" name="object 67">
            <a:extLst>
              <a:ext uri="{FF2B5EF4-FFF2-40B4-BE49-F238E27FC236}">
                <a16:creationId xmlns:a16="http://schemas.microsoft.com/office/drawing/2014/main" id="{9C885934-5F4A-4497-8BEC-D82185C1B59C}"/>
              </a:ext>
            </a:extLst>
          </p:cNvPr>
          <p:cNvSpPr/>
          <p:nvPr/>
        </p:nvSpPr>
        <p:spPr>
          <a:xfrm>
            <a:off x="10640871" y="4173661"/>
            <a:ext cx="281940" cy="300355"/>
          </a:xfrm>
          <a:custGeom>
            <a:avLst/>
            <a:gdLst/>
            <a:ahLst/>
            <a:cxnLst/>
            <a:rect l="l" t="t" r="r" b="b"/>
            <a:pathLst>
              <a:path w="281940" h="300354">
                <a:moveTo>
                  <a:pt x="0" y="150114"/>
                </a:moveTo>
                <a:lnTo>
                  <a:pt x="7187" y="102656"/>
                </a:lnTo>
                <a:lnTo>
                  <a:pt x="27200" y="61447"/>
                </a:lnTo>
                <a:lnTo>
                  <a:pt x="57716" y="28956"/>
                </a:lnTo>
                <a:lnTo>
                  <a:pt x="96414" y="7650"/>
                </a:lnTo>
                <a:lnTo>
                  <a:pt x="140970" y="0"/>
                </a:lnTo>
                <a:lnTo>
                  <a:pt x="185525" y="7650"/>
                </a:lnTo>
                <a:lnTo>
                  <a:pt x="224223" y="28956"/>
                </a:lnTo>
                <a:lnTo>
                  <a:pt x="254739" y="61447"/>
                </a:lnTo>
                <a:lnTo>
                  <a:pt x="274752" y="102656"/>
                </a:lnTo>
                <a:lnTo>
                  <a:pt x="281940" y="150114"/>
                </a:lnTo>
                <a:lnTo>
                  <a:pt x="274752" y="197571"/>
                </a:lnTo>
                <a:lnTo>
                  <a:pt x="254739" y="238780"/>
                </a:lnTo>
                <a:lnTo>
                  <a:pt x="224223" y="271272"/>
                </a:lnTo>
                <a:lnTo>
                  <a:pt x="185525" y="292577"/>
                </a:lnTo>
                <a:lnTo>
                  <a:pt x="140970" y="300228"/>
                </a:lnTo>
                <a:lnTo>
                  <a:pt x="96414" y="292577"/>
                </a:lnTo>
                <a:lnTo>
                  <a:pt x="57716" y="271272"/>
                </a:lnTo>
                <a:lnTo>
                  <a:pt x="27200" y="238780"/>
                </a:lnTo>
                <a:lnTo>
                  <a:pt x="7187" y="197571"/>
                </a:lnTo>
                <a:lnTo>
                  <a:pt x="0" y="15011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0" tIns="0" rIns="0" bIns="0" rtlCol="0"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14" name="object 68">
            <a:extLst>
              <a:ext uri="{FF2B5EF4-FFF2-40B4-BE49-F238E27FC236}">
                <a16:creationId xmlns:a16="http://schemas.microsoft.com/office/drawing/2014/main" id="{0EBEDCBC-C766-4D9B-8447-E675D3B4282D}"/>
              </a:ext>
            </a:extLst>
          </p:cNvPr>
          <p:cNvSpPr/>
          <p:nvPr/>
        </p:nvSpPr>
        <p:spPr>
          <a:xfrm>
            <a:off x="10640871" y="5503445"/>
            <a:ext cx="281940" cy="300355"/>
          </a:xfrm>
          <a:custGeom>
            <a:avLst/>
            <a:gdLst/>
            <a:ahLst/>
            <a:cxnLst/>
            <a:rect l="l" t="t" r="r" b="b"/>
            <a:pathLst>
              <a:path w="281940" h="300354">
                <a:moveTo>
                  <a:pt x="140970" y="0"/>
                </a:moveTo>
                <a:lnTo>
                  <a:pt x="96414" y="7652"/>
                </a:lnTo>
                <a:lnTo>
                  <a:pt x="57716" y="28963"/>
                </a:lnTo>
                <a:lnTo>
                  <a:pt x="27200" y="61458"/>
                </a:lnTo>
                <a:lnTo>
                  <a:pt x="7187" y="102666"/>
                </a:lnTo>
                <a:lnTo>
                  <a:pt x="0" y="150114"/>
                </a:lnTo>
                <a:lnTo>
                  <a:pt x="7187" y="197561"/>
                </a:lnTo>
                <a:lnTo>
                  <a:pt x="27200" y="238769"/>
                </a:lnTo>
                <a:lnTo>
                  <a:pt x="57716" y="271264"/>
                </a:lnTo>
                <a:lnTo>
                  <a:pt x="96414" y="292575"/>
                </a:lnTo>
                <a:lnTo>
                  <a:pt x="140970" y="300228"/>
                </a:lnTo>
                <a:lnTo>
                  <a:pt x="185525" y="292575"/>
                </a:lnTo>
                <a:lnTo>
                  <a:pt x="224223" y="271264"/>
                </a:lnTo>
                <a:lnTo>
                  <a:pt x="254739" y="238769"/>
                </a:lnTo>
                <a:lnTo>
                  <a:pt x="274752" y="197561"/>
                </a:lnTo>
                <a:lnTo>
                  <a:pt x="281940" y="150114"/>
                </a:lnTo>
                <a:lnTo>
                  <a:pt x="274752" y="102666"/>
                </a:lnTo>
                <a:lnTo>
                  <a:pt x="254739" y="61458"/>
                </a:lnTo>
                <a:lnTo>
                  <a:pt x="224223" y="28963"/>
                </a:lnTo>
                <a:lnTo>
                  <a:pt x="185525" y="7652"/>
                </a:lnTo>
                <a:lnTo>
                  <a:pt x="14097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0" tIns="0" rIns="0" bIns="0" rtlCol="0"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16" name="object 72">
            <a:extLst>
              <a:ext uri="{FF2B5EF4-FFF2-40B4-BE49-F238E27FC236}">
                <a16:creationId xmlns:a16="http://schemas.microsoft.com/office/drawing/2014/main" id="{BFA99CB1-541C-4CF5-9502-5727FE7E3826}"/>
              </a:ext>
            </a:extLst>
          </p:cNvPr>
          <p:cNvSpPr/>
          <p:nvPr/>
        </p:nvSpPr>
        <p:spPr>
          <a:xfrm>
            <a:off x="7567267" y="1335468"/>
            <a:ext cx="830579" cy="6913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15" name="object 69">
            <a:extLst>
              <a:ext uri="{FF2B5EF4-FFF2-40B4-BE49-F238E27FC236}">
                <a16:creationId xmlns:a16="http://schemas.microsoft.com/office/drawing/2014/main" id="{73BDD704-FA4F-4DC4-A544-664B084CD02C}"/>
              </a:ext>
            </a:extLst>
          </p:cNvPr>
          <p:cNvSpPr/>
          <p:nvPr/>
        </p:nvSpPr>
        <p:spPr>
          <a:xfrm>
            <a:off x="10640871" y="5503445"/>
            <a:ext cx="281940" cy="300355"/>
          </a:xfrm>
          <a:custGeom>
            <a:avLst/>
            <a:gdLst/>
            <a:ahLst/>
            <a:cxnLst/>
            <a:rect l="l" t="t" r="r" b="b"/>
            <a:pathLst>
              <a:path w="281940" h="300354">
                <a:moveTo>
                  <a:pt x="0" y="150114"/>
                </a:moveTo>
                <a:lnTo>
                  <a:pt x="7187" y="102666"/>
                </a:lnTo>
                <a:lnTo>
                  <a:pt x="27200" y="61458"/>
                </a:lnTo>
                <a:lnTo>
                  <a:pt x="57716" y="28963"/>
                </a:lnTo>
                <a:lnTo>
                  <a:pt x="96414" y="7652"/>
                </a:lnTo>
                <a:lnTo>
                  <a:pt x="140970" y="0"/>
                </a:lnTo>
                <a:lnTo>
                  <a:pt x="185525" y="7652"/>
                </a:lnTo>
                <a:lnTo>
                  <a:pt x="224223" y="28963"/>
                </a:lnTo>
                <a:lnTo>
                  <a:pt x="254739" y="61458"/>
                </a:lnTo>
                <a:lnTo>
                  <a:pt x="274752" y="102666"/>
                </a:lnTo>
                <a:lnTo>
                  <a:pt x="281940" y="150114"/>
                </a:lnTo>
                <a:lnTo>
                  <a:pt x="274752" y="197561"/>
                </a:lnTo>
                <a:lnTo>
                  <a:pt x="254739" y="238769"/>
                </a:lnTo>
                <a:lnTo>
                  <a:pt x="224223" y="271264"/>
                </a:lnTo>
                <a:lnTo>
                  <a:pt x="185525" y="292575"/>
                </a:lnTo>
                <a:lnTo>
                  <a:pt x="140970" y="300228"/>
                </a:lnTo>
                <a:lnTo>
                  <a:pt x="96414" y="292575"/>
                </a:lnTo>
                <a:lnTo>
                  <a:pt x="57716" y="271264"/>
                </a:lnTo>
                <a:lnTo>
                  <a:pt x="27200" y="238769"/>
                </a:lnTo>
                <a:lnTo>
                  <a:pt x="7187" y="197561"/>
                </a:lnTo>
                <a:lnTo>
                  <a:pt x="0" y="150114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0" tIns="0" rIns="0" bIns="0" rtlCol="0"/>
          <a:lstStyle/>
          <a:p>
            <a:endParaRPr sz="1200">
              <a:solidFill>
                <a:schemeClr val="bg1"/>
              </a:solidFill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37C9125B-F272-4FCD-AC2F-B626F1DAE19E}"/>
              </a:ext>
            </a:extLst>
          </p:cNvPr>
          <p:cNvSpPr txBox="1"/>
          <p:nvPr/>
        </p:nvSpPr>
        <p:spPr>
          <a:xfrm>
            <a:off x="10121208" y="1511942"/>
            <a:ext cx="1274445" cy="467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>
            <a:noAutofit/>
          </a:bodyPr>
          <a:lstStyle/>
          <a:p>
            <a:pPr algn="ctr" defTabSz="228600">
              <a:spcAft>
                <a:spcPts val="1200"/>
              </a:spcAft>
            </a:pPr>
            <a:r>
              <a:rPr lang="en-IN" sz="1600" b="1" noProof="0" dirty="0"/>
              <a:t>ABC Bank</a:t>
            </a:r>
          </a:p>
        </p:txBody>
      </p:sp>
      <p:pic>
        <p:nvPicPr>
          <p:cNvPr id="321" name="Picture 2" descr="kotak 811 plan Hindi Kotak 811 Plan की जानकारी हिंदी में">
            <a:extLst>
              <a:ext uri="{FF2B5EF4-FFF2-40B4-BE49-F238E27FC236}">
                <a16:creationId xmlns:a16="http://schemas.microsoft.com/office/drawing/2014/main" id="{3503C326-F85F-4E01-BE33-BE6750EB42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79" b="20673"/>
          <a:stretch/>
        </p:blipFill>
        <p:spPr bwMode="auto">
          <a:xfrm>
            <a:off x="8724270" y="1306827"/>
            <a:ext cx="1248962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7085AB54-72D0-4EFE-A8F4-51BE49FD03C3}"/>
              </a:ext>
            </a:extLst>
          </p:cNvPr>
          <p:cNvGrpSpPr/>
          <p:nvPr/>
        </p:nvGrpSpPr>
        <p:grpSpPr>
          <a:xfrm>
            <a:off x="9041856" y="3048841"/>
            <a:ext cx="295910" cy="300355"/>
            <a:chOff x="9144400" y="3061715"/>
            <a:chExt cx="295910" cy="300355"/>
          </a:xfrm>
        </p:grpSpPr>
        <p:sp>
          <p:nvSpPr>
            <p:cNvPr id="317" name="object 73">
              <a:extLst>
                <a:ext uri="{FF2B5EF4-FFF2-40B4-BE49-F238E27FC236}">
                  <a16:creationId xmlns:a16="http://schemas.microsoft.com/office/drawing/2014/main" id="{DAABFA37-82BB-4FCB-9850-BC13C2ECF46C}"/>
                </a:ext>
              </a:extLst>
            </p:cNvPr>
            <p:cNvSpPr/>
            <p:nvPr/>
          </p:nvSpPr>
          <p:spPr>
            <a:xfrm>
              <a:off x="9144400" y="3061715"/>
              <a:ext cx="283845" cy="300355"/>
            </a:xfrm>
            <a:custGeom>
              <a:avLst/>
              <a:gdLst/>
              <a:ahLst/>
              <a:cxnLst/>
              <a:rect l="l" t="t" r="r" b="b"/>
              <a:pathLst>
                <a:path w="283845" h="300354">
                  <a:moveTo>
                    <a:pt x="0" y="150113"/>
                  </a:moveTo>
                  <a:lnTo>
                    <a:pt x="7229" y="102656"/>
                  </a:lnTo>
                  <a:lnTo>
                    <a:pt x="27358" y="61447"/>
                  </a:lnTo>
                  <a:lnTo>
                    <a:pt x="58046" y="28955"/>
                  </a:lnTo>
                  <a:lnTo>
                    <a:pt x="96950" y="7650"/>
                  </a:lnTo>
                  <a:lnTo>
                    <a:pt x="141732" y="0"/>
                  </a:lnTo>
                  <a:lnTo>
                    <a:pt x="186513" y="7650"/>
                  </a:lnTo>
                  <a:lnTo>
                    <a:pt x="225417" y="28955"/>
                  </a:lnTo>
                  <a:lnTo>
                    <a:pt x="256105" y="61447"/>
                  </a:lnTo>
                  <a:lnTo>
                    <a:pt x="276234" y="102656"/>
                  </a:lnTo>
                  <a:lnTo>
                    <a:pt x="283463" y="150113"/>
                  </a:lnTo>
                  <a:lnTo>
                    <a:pt x="276234" y="197571"/>
                  </a:lnTo>
                  <a:lnTo>
                    <a:pt x="256105" y="238780"/>
                  </a:lnTo>
                  <a:lnTo>
                    <a:pt x="225417" y="271272"/>
                  </a:lnTo>
                  <a:lnTo>
                    <a:pt x="186513" y="292577"/>
                  </a:lnTo>
                  <a:lnTo>
                    <a:pt x="141732" y="300228"/>
                  </a:lnTo>
                  <a:lnTo>
                    <a:pt x="96950" y="292577"/>
                  </a:lnTo>
                  <a:lnTo>
                    <a:pt x="58046" y="271272"/>
                  </a:lnTo>
                  <a:lnTo>
                    <a:pt x="27358" y="238780"/>
                  </a:lnTo>
                  <a:lnTo>
                    <a:pt x="7229" y="197571"/>
                  </a:lnTo>
                  <a:lnTo>
                    <a:pt x="0" y="15011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318" name="object 74">
              <a:extLst>
                <a:ext uri="{FF2B5EF4-FFF2-40B4-BE49-F238E27FC236}">
                  <a16:creationId xmlns:a16="http://schemas.microsoft.com/office/drawing/2014/main" id="{219C59D0-A78B-4346-A7E3-8297076DBDD0}"/>
                </a:ext>
              </a:extLst>
            </p:cNvPr>
            <p:cNvSpPr/>
            <p:nvPr/>
          </p:nvSpPr>
          <p:spPr>
            <a:xfrm>
              <a:off x="9289180" y="3063240"/>
              <a:ext cx="151130" cy="295910"/>
            </a:xfrm>
            <a:custGeom>
              <a:avLst/>
              <a:gdLst/>
              <a:ahLst/>
              <a:cxnLst/>
              <a:rect l="l" t="t" r="r" b="b"/>
              <a:pathLst>
                <a:path w="151129" h="295910">
                  <a:moveTo>
                    <a:pt x="1650" y="0"/>
                  </a:moveTo>
                  <a:lnTo>
                    <a:pt x="0" y="381"/>
                  </a:lnTo>
                  <a:lnTo>
                    <a:pt x="0" y="295275"/>
                  </a:lnTo>
                  <a:lnTo>
                    <a:pt x="1650" y="295656"/>
                  </a:lnTo>
                  <a:lnTo>
                    <a:pt x="48820" y="288121"/>
                  </a:lnTo>
                  <a:lnTo>
                    <a:pt x="89784" y="267138"/>
                  </a:lnTo>
                  <a:lnTo>
                    <a:pt x="122086" y="235141"/>
                  </a:lnTo>
                  <a:lnTo>
                    <a:pt x="143269" y="194559"/>
                  </a:lnTo>
                  <a:lnTo>
                    <a:pt x="150875" y="147827"/>
                  </a:lnTo>
                  <a:lnTo>
                    <a:pt x="143269" y="101096"/>
                  </a:lnTo>
                  <a:lnTo>
                    <a:pt x="122086" y="60514"/>
                  </a:lnTo>
                  <a:lnTo>
                    <a:pt x="89784" y="28517"/>
                  </a:lnTo>
                  <a:lnTo>
                    <a:pt x="48820" y="7534"/>
                  </a:lnTo>
                  <a:lnTo>
                    <a:pt x="165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319" name="object 75">
              <a:extLst>
                <a:ext uri="{FF2B5EF4-FFF2-40B4-BE49-F238E27FC236}">
                  <a16:creationId xmlns:a16="http://schemas.microsoft.com/office/drawing/2014/main" id="{00DAAE77-A351-46CD-B0D8-51D1379D26F2}"/>
                </a:ext>
              </a:extLst>
            </p:cNvPr>
            <p:cNvSpPr/>
            <p:nvPr/>
          </p:nvSpPr>
          <p:spPr>
            <a:xfrm>
              <a:off x="9289180" y="3063240"/>
              <a:ext cx="151130" cy="295910"/>
            </a:xfrm>
            <a:custGeom>
              <a:avLst/>
              <a:gdLst/>
              <a:ahLst/>
              <a:cxnLst/>
              <a:rect l="l" t="t" r="r" b="b"/>
              <a:pathLst>
                <a:path w="151129" h="295910">
                  <a:moveTo>
                    <a:pt x="1650" y="295656"/>
                  </a:moveTo>
                  <a:lnTo>
                    <a:pt x="0" y="295275"/>
                  </a:lnTo>
                  <a:lnTo>
                    <a:pt x="0" y="381"/>
                  </a:lnTo>
                  <a:lnTo>
                    <a:pt x="1650" y="0"/>
                  </a:lnTo>
                  <a:lnTo>
                    <a:pt x="48820" y="7534"/>
                  </a:lnTo>
                  <a:lnTo>
                    <a:pt x="89784" y="28517"/>
                  </a:lnTo>
                  <a:lnTo>
                    <a:pt x="122086" y="60514"/>
                  </a:lnTo>
                  <a:lnTo>
                    <a:pt x="143269" y="101096"/>
                  </a:lnTo>
                  <a:lnTo>
                    <a:pt x="150875" y="147827"/>
                  </a:lnTo>
                  <a:lnTo>
                    <a:pt x="143269" y="194559"/>
                  </a:lnTo>
                  <a:lnTo>
                    <a:pt x="122086" y="235141"/>
                  </a:lnTo>
                  <a:lnTo>
                    <a:pt x="89784" y="267138"/>
                  </a:lnTo>
                  <a:lnTo>
                    <a:pt x="48820" y="288121"/>
                  </a:lnTo>
                  <a:lnTo>
                    <a:pt x="1650" y="295656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</p:grpSp>
      <p:sp>
        <p:nvSpPr>
          <p:cNvPr id="322" name="Rectangle 321">
            <a:extLst>
              <a:ext uri="{FF2B5EF4-FFF2-40B4-BE49-F238E27FC236}">
                <a16:creationId xmlns:a16="http://schemas.microsoft.com/office/drawing/2014/main" id="{B43C85A8-45BB-457D-8F20-459DB8B7F99A}"/>
              </a:ext>
            </a:extLst>
          </p:cNvPr>
          <p:cNvSpPr/>
          <p:nvPr/>
        </p:nvSpPr>
        <p:spPr>
          <a:xfrm>
            <a:off x="6099741" y="1298099"/>
            <a:ext cx="5676091" cy="489858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D8AA8BA2-CDE1-4E0E-86A0-EC390B57B9FA}"/>
              </a:ext>
            </a:extLst>
          </p:cNvPr>
          <p:cNvGrpSpPr/>
          <p:nvPr/>
        </p:nvGrpSpPr>
        <p:grpSpPr>
          <a:xfrm>
            <a:off x="7805495" y="3031907"/>
            <a:ext cx="272923" cy="282575"/>
            <a:chOff x="8205823" y="3580891"/>
            <a:chExt cx="272923" cy="282575"/>
          </a:xfrm>
        </p:grpSpPr>
        <p:sp>
          <p:nvSpPr>
            <p:cNvPr id="341" name="object 32">
              <a:extLst>
                <a:ext uri="{FF2B5EF4-FFF2-40B4-BE49-F238E27FC236}">
                  <a16:creationId xmlns:a16="http://schemas.microsoft.com/office/drawing/2014/main" id="{C03CB106-1E06-4CE9-BC0E-B923FCB8364C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126619" y="0"/>
                  </a:moveTo>
                  <a:lnTo>
                    <a:pt x="84872" y="9082"/>
                  </a:lnTo>
                  <a:lnTo>
                    <a:pt x="49258" y="30471"/>
                  </a:lnTo>
                  <a:lnTo>
                    <a:pt x="21856" y="61786"/>
                  </a:lnTo>
                  <a:lnTo>
                    <a:pt x="4743" y="100640"/>
                  </a:lnTo>
                  <a:lnTo>
                    <a:pt x="0" y="144653"/>
                  </a:lnTo>
                  <a:lnTo>
                    <a:pt x="133223" y="138430"/>
                  </a:lnTo>
                  <a:lnTo>
                    <a:pt x="139826" y="276733"/>
                  </a:lnTo>
                  <a:lnTo>
                    <a:pt x="181573" y="267650"/>
                  </a:lnTo>
                  <a:lnTo>
                    <a:pt x="217187" y="246261"/>
                  </a:lnTo>
                  <a:lnTo>
                    <a:pt x="244589" y="214946"/>
                  </a:lnTo>
                  <a:lnTo>
                    <a:pt x="261702" y="176092"/>
                  </a:lnTo>
                  <a:lnTo>
                    <a:pt x="266446" y="132080"/>
                  </a:lnTo>
                  <a:lnTo>
                    <a:pt x="257561" y="88656"/>
                  </a:lnTo>
                  <a:lnTo>
                    <a:pt x="236849" y="51572"/>
                  </a:lnTo>
                  <a:lnTo>
                    <a:pt x="206598" y="22992"/>
                  </a:lnTo>
                  <a:lnTo>
                    <a:pt x="169092" y="5080"/>
                  </a:lnTo>
                  <a:lnTo>
                    <a:pt x="12661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342" name="object 33">
              <a:extLst>
                <a:ext uri="{FF2B5EF4-FFF2-40B4-BE49-F238E27FC236}">
                  <a16:creationId xmlns:a16="http://schemas.microsoft.com/office/drawing/2014/main" id="{B8DE24FB-A371-48D3-A312-6A4FCAB057DD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0" y="144653"/>
                  </a:moveTo>
                  <a:lnTo>
                    <a:pt x="4743" y="100640"/>
                  </a:lnTo>
                  <a:lnTo>
                    <a:pt x="21856" y="61786"/>
                  </a:lnTo>
                  <a:lnTo>
                    <a:pt x="49258" y="30471"/>
                  </a:lnTo>
                  <a:lnTo>
                    <a:pt x="84872" y="9082"/>
                  </a:lnTo>
                  <a:lnTo>
                    <a:pt x="126619" y="0"/>
                  </a:lnTo>
                  <a:lnTo>
                    <a:pt x="169092" y="5080"/>
                  </a:lnTo>
                  <a:lnTo>
                    <a:pt x="206598" y="22992"/>
                  </a:lnTo>
                  <a:lnTo>
                    <a:pt x="236849" y="51572"/>
                  </a:lnTo>
                  <a:lnTo>
                    <a:pt x="257561" y="88656"/>
                  </a:lnTo>
                  <a:lnTo>
                    <a:pt x="266446" y="132080"/>
                  </a:lnTo>
                  <a:lnTo>
                    <a:pt x="261702" y="176092"/>
                  </a:lnTo>
                  <a:lnTo>
                    <a:pt x="244589" y="214946"/>
                  </a:lnTo>
                  <a:lnTo>
                    <a:pt x="217187" y="246261"/>
                  </a:lnTo>
                  <a:lnTo>
                    <a:pt x="181573" y="267650"/>
                  </a:lnTo>
                  <a:lnTo>
                    <a:pt x="139826" y="276733"/>
                  </a:lnTo>
                  <a:lnTo>
                    <a:pt x="133223" y="138430"/>
                  </a:lnTo>
                  <a:lnTo>
                    <a:pt x="0" y="14465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343" name="object 34">
              <a:extLst>
                <a:ext uri="{FF2B5EF4-FFF2-40B4-BE49-F238E27FC236}">
                  <a16:creationId xmlns:a16="http://schemas.microsoft.com/office/drawing/2014/main" id="{CFE7CFB1-CFFF-4E7D-B7C1-C76EAC4C8C8F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133350" y="0"/>
                  </a:moveTo>
                  <a:lnTo>
                    <a:pt x="91196" y="7071"/>
                  </a:lnTo>
                  <a:lnTo>
                    <a:pt x="54589" y="26761"/>
                  </a:lnTo>
                  <a:lnTo>
                    <a:pt x="25725" y="56784"/>
                  </a:lnTo>
                  <a:lnTo>
                    <a:pt x="6797" y="94853"/>
                  </a:lnTo>
                  <a:lnTo>
                    <a:pt x="0" y="138683"/>
                  </a:lnTo>
                  <a:lnTo>
                    <a:pt x="6797" y="182514"/>
                  </a:lnTo>
                  <a:lnTo>
                    <a:pt x="25725" y="220583"/>
                  </a:lnTo>
                  <a:lnTo>
                    <a:pt x="54589" y="250606"/>
                  </a:lnTo>
                  <a:lnTo>
                    <a:pt x="91196" y="270296"/>
                  </a:lnTo>
                  <a:lnTo>
                    <a:pt x="133350" y="277367"/>
                  </a:lnTo>
                  <a:lnTo>
                    <a:pt x="175503" y="270296"/>
                  </a:lnTo>
                  <a:lnTo>
                    <a:pt x="212110" y="250606"/>
                  </a:lnTo>
                  <a:lnTo>
                    <a:pt x="240974" y="220583"/>
                  </a:lnTo>
                  <a:lnTo>
                    <a:pt x="259902" y="182514"/>
                  </a:lnTo>
                  <a:lnTo>
                    <a:pt x="266700" y="138683"/>
                  </a:lnTo>
                  <a:lnTo>
                    <a:pt x="133350" y="138683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344" name="object 35">
              <a:extLst>
                <a:ext uri="{FF2B5EF4-FFF2-40B4-BE49-F238E27FC236}">
                  <a16:creationId xmlns:a16="http://schemas.microsoft.com/office/drawing/2014/main" id="{9A5F45AB-B959-460B-B73C-7F328D81922D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266700" y="138683"/>
                  </a:moveTo>
                  <a:lnTo>
                    <a:pt x="259902" y="182514"/>
                  </a:lnTo>
                  <a:lnTo>
                    <a:pt x="240974" y="220583"/>
                  </a:lnTo>
                  <a:lnTo>
                    <a:pt x="212110" y="250606"/>
                  </a:lnTo>
                  <a:lnTo>
                    <a:pt x="175503" y="270296"/>
                  </a:lnTo>
                  <a:lnTo>
                    <a:pt x="133350" y="277367"/>
                  </a:lnTo>
                  <a:lnTo>
                    <a:pt x="91196" y="270296"/>
                  </a:lnTo>
                  <a:lnTo>
                    <a:pt x="54589" y="250606"/>
                  </a:lnTo>
                  <a:lnTo>
                    <a:pt x="25725" y="220583"/>
                  </a:lnTo>
                  <a:lnTo>
                    <a:pt x="6797" y="182514"/>
                  </a:lnTo>
                  <a:lnTo>
                    <a:pt x="0" y="138683"/>
                  </a:lnTo>
                  <a:lnTo>
                    <a:pt x="6797" y="94853"/>
                  </a:lnTo>
                  <a:lnTo>
                    <a:pt x="25725" y="56784"/>
                  </a:lnTo>
                  <a:lnTo>
                    <a:pt x="54589" y="26761"/>
                  </a:lnTo>
                  <a:lnTo>
                    <a:pt x="91196" y="7071"/>
                  </a:lnTo>
                  <a:lnTo>
                    <a:pt x="133350" y="0"/>
                  </a:lnTo>
                  <a:lnTo>
                    <a:pt x="133350" y="138683"/>
                  </a:lnTo>
                  <a:lnTo>
                    <a:pt x="266700" y="13868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</p:grpSp>
      <p:sp>
        <p:nvSpPr>
          <p:cNvPr id="385" name="object 65">
            <a:extLst>
              <a:ext uri="{FF2B5EF4-FFF2-40B4-BE49-F238E27FC236}">
                <a16:creationId xmlns:a16="http://schemas.microsoft.com/office/drawing/2014/main" id="{128D445E-06F1-4D7B-B626-961879988C26}"/>
              </a:ext>
            </a:extLst>
          </p:cNvPr>
          <p:cNvSpPr/>
          <p:nvPr/>
        </p:nvSpPr>
        <p:spPr>
          <a:xfrm>
            <a:off x="7803554" y="3531117"/>
            <a:ext cx="281940" cy="300355"/>
          </a:xfrm>
          <a:custGeom>
            <a:avLst/>
            <a:gdLst/>
            <a:ahLst/>
            <a:cxnLst/>
            <a:rect l="l" t="t" r="r" b="b"/>
            <a:pathLst>
              <a:path w="281940" h="300354">
                <a:moveTo>
                  <a:pt x="0" y="150113"/>
                </a:moveTo>
                <a:lnTo>
                  <a:pt x="7187" y="102656"/>
                </a:lnTo>
                <a:lnTo>
                  <a:pt x="27200" y="61447"/>
                </a:lnTo>
                <a:lnTo>
                  <a:pt x="57716" y="28955"/>
                </a:lnTo>
                <a:lnTo>
                  <a:pt x="96414" y="7650"/>
                </a:lnTo>
                <a:lnTo>
                  <a:pt x="140970" y="0"/>
                </a:lnTo>
                <a:lnTo>
                  <a:pt x="185525" y="7650"/>
                </a:lnTo>
                <a:lnTo>
                  <a:pt x="224223" y="28955"/>
                </a:lnTo>
                <a:lnTo>
                  <a:pt x="254739" y="61447"/>
                </a:lnTo>
                <a:lnTo>
                  <a:pt x="274752" y="102656"/>
                </a:lnTo>
                <a:lnTo>
                  <a:pt x="281940" y="150113"/>
                </a:lnTo>
                <a:lnTo>
                  <a:pt x="274752" y="197571"/>
                </a:lnTo>
                <a:lnTo>
                  <a:pt x="254739" y="238780"/>
                </a:lnTo>
                <a:lnTo>
                  <a:pt x="224223" y="271272"/>
                </a:lnTo>
                <a:lnTo>
                  <a:pt x="185525" y="292577"/>
                </a:lnTo>
                <a:lnTo>
                  <a:pt x="140970" y="300227"/>
                </a:lnTo>
                <a:lnTo>
                  <a:pt x="96414" y="292577"/>
                </a:lnTo>
                <a:lnTo>
                  <a:pt x="57716" y="271272"/>
                </a:lnTo>
                <a:lnTo>
                  <a:pt x="27200" y="238780"/>
                </a:lnTo>
                <a:lnTo>
                  <a:pt x="7187" y="197571"/>
                </a:lnTo>
                <a:lnTo>
                  <a:pt x="0" y="150113"/>
                </a:lnTo>
                <a:close/>
              </a:path>
            </a:pathLst>
          </a:custGeom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386" name="object 65">
            <a:extLst>
              <a:ext uri="{FF2B5EF4-FFF2-40B4-BE49-F238E27FC236}">
                <a16:creationId xmlns:a16="http://schemas.microsoft.com/office/drawing/2014/main" id="{EDF14D90-F6BC-437E-A0CF-E964077747BF}"/>
              </a:ext>
            </a:extLst>
          </p:cNvPr>
          <p:cNvSpPr/>
          <p:nvPr/>
        </p:nvSpPr>
        <p:spPr>
          <a:xfrm>
            <a:off x="9048932" y="3557152"/>
            <a:ext cx="281940" cy="300355"/>
          </a:xfrm>
          <a:custGeom>
            <a:avLst/>
            <a:gdLst/>
            <a:ahLst/>
            <a:cxnLst/>
            <a:rect l="l" t="t" r="r" b="b"/>
            <a:pathLst>
              <a:path w="281940" h="300354">
                <a:moveTo>
                  <a:pt x="0" y="150113"/>
                </a:moveTo>
                <a:lnTo>
                  <a:pt x="7187" y="102656"/>
                </a:lnTo>
                <a:lnTo>
                  <a:pt x="27200" y="61447"/>
                </a:lnTo>
                <a:lnTo>
                  <a:pt x="57716" y="28955"/>
                </a:lnTo>
                <a:lnTo>
                  <a:pt x="96414" y="7650"/>
                </a:lnTo>
                <a:lnTo>
                  <a:pt x="140970" y="0"/>
                </a:lnTo>
                <a:lnTo>
                  <a:pt x="185525" y="7650"/>
                </a:lnTo>
                <a:lnTo>
                  <a:pt x="224223" y="28955"/>
                </a:lnTo>
                <a:lnTo>
                  <a:pt x="254739" y="61447"/>
                </a:lnTo>
                <a:lnTo>
                  <a:pt x="274752" y="102656"/>
                </a:lnTo>
                <a:lnTo>
                  <a:pt x="281940" y="150113"/>
                </a:lnTo>
                <a:lnTo>
                  <a:pt x="274752" y="197571"/>
                </a:lnTo>
                <a:lnTo>
                  <a:pt x="254739" y="238780"/>
                </a:lnTo>
                <a:lnTo>
                  <a:pt x="224223" y="271272"/>
                </a:lnTo>
                <a:lnTo>
                  <a:pt x="185525" y="292577"/>
                </a:lnTo>
                <a:lnTo>
                  <a:pt x="140970" y="300227"/>
                </a:lnTo>
                <a:lnTo>
                  <a:pt x="96414" y="292577"/>
                </a:lnTo>
                <a:lnTo>
                  <a:pt x="57716" y="271272"/>
                </a:lnTo>
                <a:lnTo>
                  <a:pt x="27200" y="238780"/>
                </a:lnTo>
                <a:lnTo>
                  <a:pt x="7187" y="197571"/>
                </a:lnTo>
                <a:lnTo>
                  <a:pt x="0" y="150113"/>
                </a:lnTo>
                <a:close/>
              </a:path>
            </a:pathLst>
          </a:custGeom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387" name="Rectangle: Rounded Corners 386">
            <a:extLst>
              <a:ext uri="{FF2B5EF4-FFF2-40B4-BE49-F238E27FC236}">
                <a16:creationId xmlns:a16="http://schemas.microsoft.com/office/drawing/2014/main" id="{0A7687C3-CAA4-4EAB-820A-0E457A724CEB}"/>
              </a:ext>
            </a:extLst>
          </p:cNvPr>
          <p:cNvSpPr/>
          <p:nvPr/>
        </p:nvSpPr>
        <p:spPr>
          <a:xfrm>
            <a:off x="6099742" y="992824"/>
            <a:ext cx="567609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>
                <a:latin typeface="+mj-lt"/>
              </a:rPr>
              <a:t>Competitor Analysis</a:t>
            </a:r>
          </a:p>
        </p:txBody>
      </p:sp>
      <p:sp>
        <p:nvSpPr>
          <p:cNvPr id="126" name="object 86">
            <a:extLst>
              <a:ext uri="{FF2B5EF4-FFF2-40B4-BE49-F238E27FC236}">
                <a16:creationId xmlns:a16="http://schemas.microsoft.com/office/drawing/2014/main" id="{E78BB480-6164-4DA2-904A-DF204F2F1BE4}"/>
              </a:ext>
            </a:extLst>
          </p:cNvPr>
          <p:cNvSpPr txBox="1"/>
          <p:nvPr/>
        </p:nvSpPr>
        <p:spPr>
          <a:xfrm>
            <a:off x="3382977" y="5407537"/>
            <a:ext cx="2636928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spc="-5" dirty="0">
                <a:solidFill>
                  <a:schemeClr val="bg1"/>
                </a:solidFill>
                <a:latin typeface="+mj-lt"/>
                <a:cs typeface="Arial"/>
              </a:rPr>
              <a:t>Premium Accounts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  <a:p>
            <a:pPr marL="12700" marR="5080">
              <a:spcBef>
                <a:spcPts val="5"/>
              </a:spcBef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Stock Recommendations and Investment analysis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EE0A765-37E2-4717-8D6E-8F90CBFEB4ED}"/>
              </a:ext>
            </a:extLst>
          </p:cNvPr>
          <p:cNvGrpSpPr/>
          <p:nvPr/>
        </p:nvGrpSpPr>
        <p:grpSpPr>
          <a:xfrm>
            <a:off x="7795852" y="4167535"/>
            <a:ext cx="272923" cy="282575"/>
            <a:chOff x="8205823" y="3580891"/>
            <a:chExt cx="272923" cy="282575"/>
          </a:xfrm>
        </p:grpSpPr>
        <p:sp>
          <p:nvSpPr>
            <p:cNvPr id="128" name="object 32">
              <a:extLst>
                <a:ext uri="{FF2B5EF4-FFF2-40B4-BE49-F238E27FC236}">
                  <a16:creationId xmlns:a16="http://schemas.microsoft.com/office/drawing/2014/main" id="{61D705DB-C799-4B28-B6AE-C6FF5F16720A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126619" y="0"/>
                  </a:moveTo>
                  <a:lnTo>
                    <a:pt x="84872" y="9082"/>
                  </a:lnTo>
                  <a:lnTo>
                    <a:pt x="49258" y="30471"/>
                  </a:lnTo>
                  <a:lnTo>
                    <a:pt x="21856" y="61786"/>
                  </a:lnTo>
                  <a:lnTo>
                    <a:pt x="4743" y="100640"/>
                  </a:lnTo>
                  <a:lnTo>
                    <a:pt x="0" y="144653"/>
                  </a:lnTo>
                  <a:lnTo>
                    <a:pt x="133223" y="138430"/>
                  </a:lnTo>
                  <a:lnTo>
                    <a:pt x="139826" y="276733"/>
                  </a:lnTo>
                  <a:lnTo>
                    <a:pt x="181573" y="267650"/>
                  </a:lnTo>
                  <a:lnTo>
                    <a:pt x="217187" y="246261"/>
                  </a:lnTo>
                  <a:lnTo>
                    <a:pt x="244589" y="214946"/>
                  </a:lnTo>
                  <a:lnTo>
                    <a:pt x="261702" y="176092"/>
                  </a:lnTo>
                  <a:lnTo>
                    <a:pt x="266446" y="132080"/>
                  </a:lnTo>
                  <a:lnTo>
                    <a:pt x="257561" y="88656"/>
                  </a:lnTo>
                  <a:lnTo>
                    <a:pt x="236849" y="51572"/>
                  </a:lnTo>
                  <a:lnTo>
                    <a:pt x="206598" y="22992"/>
                  </a:lnTo>
                  <a:lnTo>
                    <a:pt x="169092" y="5080"/>
                  </a:lnTo>
                  <a:lnTo>
                    <a:pt x="12661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129" name="object 33">
              <a:extLst>
                <a:ext uri="{FF2B5EF4-FFF2-40B4-BE49-F238E27FC236}">
                  <a16:creationId xmlns:a16="http://schemas.microsoft.com/office/drawing/2014/main" id="{E7F43A23-C2E1-4C89-9E81-BFE59A633401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0" y="144653"/>
                  </a:moveTo>
                  <a:lnTo>
                    <a:pt x="4743" y="100640"/>
                  </a:lnTo>
                  <a:lnTo>
                    <a:pt x="21856" y="61786"/>
                  </a:lnTo>
                  <a:lnTo>
                    <a:pt x="49258" y="30471"/>
                  </a:lnTo>
                  <a:lnTo>
                    <a:pt x="84872" y="9082"/>
                  </a:lnTo>
                  <a:lnTo>
                    <a:pt x="126619" y="0"/>
                  </a:lnTo>
                  <a:lnTo>
                    <a:pt x="169092" y="5080"/>
                  </a:lnTo>
                  <a:lnTo>
                    <a:pt x="206598" y="22992"/>
                  </a:lnTo>
                  <a:lnTo>
                    <a:pt x="236849" y="51572"/>
                  </a:lnTo>
                  <a:lnTo>
                    <a:pt x="257561" y="88656"/>
                  </a:lnTo>
                  <a:lnTo>
                    <a:pt x="266446" y="132080"/>
                  </a:lnTo>
                  <a:lnTo>
                    <a:pt x="261702" y="176092"/>
                  </a:lnTo>
                  <a:lnTo>
                    <a:pt x="244589" y="214946"/>
                  </a:lnTo>
                  <a:lnTo>
                    <a:pt x="217187" y="246261"/>
                  </a:lnTo>
                  <a:lnTo>
                    <a:pt x="181573" y="267650"/>
                  </a:lnTo>
                  <a:lnTo>
                    <a:pt x="139826" y="276733"/>
                  </a:lnTo>
                  <a:lnTo>
                    <a:pt x="133223" y="138430"/>
                  </a:lnTo>
                  <a:lnTo>
                    <a:pt x="0" y="14465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130" name="object 34">
              <a:extLst>
                <a:ext uri="{FF2B5EF4-FFF2-40B4-BE49-F238E27FC236}">
                  <a16:creationId xmlns:a16="http://schemas.microsoft.com/office/drawing/2014/main" id="{97417605-9335-42E6-88D7-4871D1F174D8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133350" y="0"/>
                  </a:moveTo>
                  <a:lnTo>
                    <a:pt x="91196" y="7071"/>
                  </a:lnTo>
                  <a:lnTo>
                    <a:pt x="54589" y="26761"/>
                  </a:lnTo>
                  <a:lnTo>
                    <a:pt x="25725" y="56784"/>
                  </a:lnTo>
                  <a:lnTo>
                    <a:pt x="6797" y="94853"/>
                  </a:lnTo>
                  <a:lnTo>
                    <a:pt x="0" y="138683"/>
                  </a:lnTo>
                  <a:lnTo>
                    <a:pt x="6797" y="182514"/>
                  </a:lnTo>
                  <a:lnTo>
                    <a:pt x="25725" y="220583"/>
                  </a:lnTo>
                  <a:lnTo>
                    <a:pt x="54589" y="250606"/>
                  </a:lnTo>
                  <a:lnTo>
                    <a:pt x="91196" y="270296"/>
                  </a:lnTo>
                  <a:lnTo>
                    <a:pt x="133350" y="277367"/>
                  </a:lnTo>
                  <a:lnTo>
                    <a:pt x="175503" y="270296"/>
                  </a:lnTo>
                  <a:lnTo>
                    <a:pt x="212110" y="250606"/>
                  </a:lnTo>
                  <a:lnTo>
                    <a:pt x="240974" y="220583"/>
                  </a:lnTo>
                  <a:lnTo>
                    <a:pt x="259902" y="182514"/>
                  </a:lnTo>
                  <a:lnTo>
                    <a:pt x="266700" y="138683"/>
                  </a:lnTo>
                  <a:lnTo>
                    <a:pt x="133350" y="138683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131" name="object 35">
              <a:extLst>
                <a:ext uri="{FF2B5EF4-FFF2-40B4-BE49-F238E27FC236}">
                  <a16:creationId xmlns:a16="http://schemas.microsoft.com/office/drawing/2014/main" id="{3942A8FA-7E60-461C-8511-35F2FBDF3B16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266700" y="138683"/>
                  </a:moveTo>
                  <a:lnTo>
                    <a:pt x="259902" y="182514"/>
                  </a:lnTo>
                  <a:lnTo>
                    <a:pt x="240974" y="220583"/>
                  </a:lnTo>
                  <a:lnTo>
                    <a:pt x="212110" y="250606"/>
                  </a:lnTo>
                  <a:lnTo>
                    <a:pt x="175503" y="270296"/>
                  </a:lnTo>
                  <a:lnTo>
                    <a:pt x="133350" y="277367"/>
                  </a:lnTo>
                  <a:lnTo>
                    <a:pt x="91196" y="270296"/>
                  </a:lnTo>
                  <a:lnTo>
                    <a:pt x="54589" y="250606"/>
                  </a:lnTo>
                  <a:lnTo>
                    <a:pt x="25725" y="220583"/>
                  </a:lnTo>
                  <a:lnTo>
                    <a:pt x="6797" y="182514"/>
                  </a:lnTo>
                  <a:lnTo>
                    <a:pt x="0" y="138683"/>
                  </a:lnTo>
                  <a:lnTo>
                    <a:pt x="6797" y="94853"/>
                  </a:lnTo>
                  <a:lnTo>
                    <a:pt x="25725" y="56784"/>
                  </a:lnTo>
                  <a:lnTo>
                    <a:pt x="54589" y="26761"/>
                  </a:lnTo>
                  <a:lnTo>
                    <a:pt x="91196" y="7071"/>
                  </a:lnTo>
                  <a:lnTo>
                    <a:pt x="133350" y="0"/>
                  </a:lnTo>
                  <a:lnTo>
                    <a:pt x="133350" y="138683"/>
                  </a:lnTo>
                  <a:lnTo>
                    <a:pt x="266700" y="13868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07D0899-FC27-4F29-96E6-9F44E6432885}"/>
              </a:ext>
            </a:extLst>
          </p:cNvPr>
          <p:cNvGrpSpPr/>
          <p:nvPr/>
        </p:nvGrpSpPr>
        <p:grpSpPr>
          <a:xfrm>
            <a:off x="7795549" y="4818206"/>
            <a:ext cx="272923" cy="282575"/>
            <a:chOff x="8205823" y="3580891"/>
            <a:chExt cx="272923" cy="282575"/>
          </a:xfrm>
        </p:grpSpPr>
        <p:sp>
          <p:nvSpPr>
            <p:cNvPr id="133" name="object 32">
              <a:extLst>
                <a:ext uri="{FF2B5EF4-FFF2-40B4-BE49-F238E27FC236}">
                  <a16:creationId xmlns:a16="http://schemas.microsoft.com/office/drawing/2014/main" id="{3271C35F-B8B9-468A-A41D-1FF93C2E1AC6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126619" y="0"/>
                  </a:moveTo>
                  <a:lnTo>
                    <a:pt x="84872" y="9082"/>
                  </a:lnTo>
                  <a:lnTo>
                    <a:pt x="49258" y="30471"/>
                  </a:lnTo>
                  <a:lnTo>
                    <a:pt x="21856" y="61786"/>
                  </a:lnTo>
                  <a:lnTo>
                    <a:pt x="4743" y="100640"/>
                  </a:lnTo>
                  <a:lnTo>
                    <a:pt x="0" y="144653"/>
                  </a:lnTo>
                  <a:lnTo>
                    <a:pt x="133223" y="138430"/>
                  </a:lnTo>
                  <a:lnTo>
                    <a:pt x="139826" y="276733"/>
                  </a:lnTo>
                  <a:lnTo>
                    <a:pt x="181573" y="267650"/>
                  </a:lnTo>
                  <a:lnTo>
                    <a:pt x="217187" y="246261"/>
                  </a:lnTo>
                  <a:lnTo>
                    <a:pt x="244589" y="214946"/>
                  </a:lnTo>
                  <a:lnTo>
                    <a:pt x="261702" y="176092"/>
                  </a:lnTo>
                  <a:lnTo>
                    <a:pt x="266446" y="132080"/>
                  </a:lnTo>
                  <a:lnTo>
                    <a:pt x="257561" y="88656"/>
                  </a:lnTo>
                  <a:lnTo>
                    <a:pt x="236849" y="51572"/>
                  </a:lnTo>
                  <a:lnTo>
                    <a:pt x="206598" y="22992"/>
                  </a:lnTo>
                  <a:lnTo>
                    <a:pt x="169092" y="5080"/>
                  </a:lnTo>
                  <a:lnTo>
                    <a:pt x="12661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134" name="object 33">
              <a:extLst>
                <a:ext uri="{FF2B5EF4-FFF2-40B4-BE49-F238E27FC236}">
                  <a16:creationId xmlns:a16="http://schemas.microsoft.com/office/drawing/2014/main" id="{C6663303-871B-4732-8FE1-C84B53E1586C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0" y="144653"/>
                  </a:moveTo>
                  <a:lnTo>
                    <a:pt x="4743" y="100640"/>
                  </a:lnTo>
                  <a:lnTo>
                    <a:pt x="21856" y="61786"/>
                  </a:lnTo>
                  <a:lnTo>
                    <a:pt x="49258" y="30471"/>
                  </a:lnTo>
                  <a:lnTo>
                    <a:pt x="84872" y="9082"/>
                  </a:lnTo>
                  <a:lnTo>
                    <a:pt x="126619" y="0"/>
                  </a:lnTo>
                  <a:lnTo>
                    <a:pt x="169092" y="5080"/>
                  </a:lnTo>
                  <a:lnTo>
                    <a:pt x="206598" y="22992"/>
                  </a:lnTo>
                  <a:lnTo>
                    <a:pt x="236849" y="51572"/>
                  </a:lnTo>
                  <a:lnTo>
                    <a:pt x="257561" y="88656"/>
                  </a:lnTo>
                  <a:lnTo>
                    <a:pt x="266446" y="132080"/>
                  </a:lnTo>
                  <a:lnTo>
                    <a:pt x="261702" y="176092"/>
                  </a:lnTo>
                  <a:lnTo>
                    <a:pt x="244589" y="214946"/>
                  </a:lnTo>
                  <a:lnTo>
                    <a:pt x="217187" y="246261"/>
                  </a:lnTo>
                  <a:lnTo>
                    <a:pt x="181573" y="267650"/>
                  </a:lnTo>
                  <a:lnTo>
                    <a:pt x="139826" y="276733"/>
                  </a:lnTo>
                  <a:lnTo>
                    <a:pt x="133223" y="138430"/>
                  </a:lnTo>
                  <a:lnTo>
                    <a:pt x="0" y="14465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135" name="object 34">
              <a:extLst>
                <a:ext uri="{FF2B5EF4-FFF2-40B4-BE49-F238E27FC236}">
                  <a16:creationId xmlns:a16="http://schemas.microsoft.com/office/drawing/2014/main" id="{09C29817-CDB4-4E72-8CA1-EB8199CD6028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133350" y="0"/>
                  </a:moveTo>
                  <a:lnTo>
                    <a:pt x="91196" y="7071"/>
                  </a:lnTo>
                  <a:lnTo>
                    <a:pt x="54589" y="26761"/>
                  </a:lnTo>
                  <a:lnTo>
                    <a:pt x="25725" y="56784"/>
                  </a:lnTo>
                  <a:lnTo>
                    <a:pt x="6797" y="94853"/>
                  </a:lnTo>
                  <a:lnTo>
                    <a:pt x="0" y="138683"/>
                  </a:lnTo>
                  <a:lnTo>
                    <a:pt x="6797" y="182514"/>
                  </a:lnTo>
                  <a:lnTo>
                    <a:pt x="25725" y="220583"/>
                  </a:lnTo>
                  <a:lnTo>
                    <a:pt x="54589" y="250606"/>
                  </a:lnTo>
                  <a:lnTo>
                    <a:pt x="91196" y="270296"/>
                  </a:lnTo>
                  <a:lnTo>
                    <a:pt x="133350" y="277367"/>
                  </a:lnTo>
                  <a:lnTo>
                    <a:pt x="175503" y="270296"/>
                  </a:lnTo>
                  <a:lnTo>
                    <a:pt x="212110" y="250606"/>
                  </a:lnTo>
                  <a:lnTo>
                    <a:pt x="240974" y="220583"/>
                  </a:lnTo>
                  <a:lnTo>
                    <a:pt x="259902" y="182514"/>
                  </a:lnTo>
                  <a:lnTo>
                    <a:pt x="266700" y="138683"/>
                  </a:lnTo>
                  <a:lnTo>
                    <a:pt x="133350" y="138683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136" name="object 35">
              <a:extLst>
                <a:ext uri="{FF2B5EF4-FFF2-40B4-BE49-F238E27FC236}">
                  <a16:creationId xmlns:a16="http://schemas.microsoft.com/office/drawing/2014/main" id="{06161152-87B1-4593-896B-1AB00E9E2F5B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266700" y="138683"/>
                  </a:moveTo>
                  <a:lnTo>
                    <a:pt x="259902" y="182514"/>
                  </a:lnTo>
                  <a:lnTo>
                    <a:pt x="240974" y="220583"/>
                  </a:lnTo>
                  <a:lnTo>
                    <a:pt x="212110" y="250606"/>
                  </a:lnTo>
                  <a:lnTo>
                    <a:pt x="175503" y="270296"/>
                  </a:lnTo>
                  <a:lnTo>
                    <a:pt x="133350" y="277367"/>
                  </a:lnTo>
                  <a:lnTo>
                    <a:pt x="91196" y="270296"/>
                  </a:lnTo>
                  <a:lnTo>
                    <a:pt x="54589" y="250606"/>
                  </a:lnTo>
                  <a:lnTo>
                    <a:pt x="25725" y="220583"/>
                  </a:lnTo>
                  <a:lnTo>
                    <a:pt x="6797" y="182514"/>
                  </a:lnTo>
                  <a:lnTo>
                    <a:pt x="0" y="138683"/>
                  </a:lnTo>
                  <a:lnTo>
                    <a:pt x="6797" y="94853"/>
                  </a:lnTo>
                  <a:lnTo>
                    <a:pt x="25725" y="56784"/>
                  </a:lnTo>
                  <a:lnTo>
                    <a:pt x="54589" y="26761"/>
                  </a:lnTo>
                  <a:lnTo>
                    <a:pt x="91196" y="7071"/>
                  </a:lnTo>
                  <a:lnTo>
                    <a:pt x="133350" y="0"/>
                  </a:lnTo>
                  <a:lnTo>
                    <a:pt x="133350" y="138683"/>
                  </a:lnTo>
                  <a:lnTo>
                    <a:pt x="266700" y="13868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ADAFD07-6269-45C8-85B3-CBBA5E506E7B}"/>
              </a:ext>
            </a:extLst>
          </p:cNvPr>
          <p:cNvGrpSpPr/>
          <p:nvPr/>
        </p:nvGrpSpPr>
        <p:grpSpPr>
          <a:xfrm>
            <a:off x="7805495" y="5521225"/>
            <a:ext cx="272923" cy="282575"/>
            <a:chOff x="8205823" y="3580891"/>
            <a:chExt cx="272923" cy="282575"/>
          </a:xfrm>
        </p:grpSpPr>
        <p:sp>
          <p:nvSpPr>
            <p:cNvPr id="138" name="object 32">
              <a:extLst>
                <a:ext uri="{FF2B5EF4-FFF2-40B4-BE49-F238E27FC236}">
                  <a16:creationId xmlns:a16="http://schemas.microsoft.com/office/drawing/2014/main" id="{CDD3C330-E613-4BC0-AB6F-9C533618D10E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126619" y="0"/>
                  </a:moveTo>
                  <a:lnTo>
                    <a:pt x="84872" y="9082"/>
                  </a:lnTo>
                  <a:lnTo>
                    <a:pt x="49258" y="30471"/>
                  </a:lnTo>
                  <a:lnTo>
                    <a:pt x="21856" y="61786"/>
                  </a:lnTo>
                  <a:lnTo>
                    <a:pt x="4743" y="100640"/>
                  </a:lnTo>
                  <a:lnTo>
                    <a:pt x="0" y="144653"/>
                  </a:lnTo>
                  <a:lnTo>
                    <a:pt x="133223" y="138430"/>
                  </a:lnTo>
                  <a:lnTo>
                    <a:pt x="139826" y="276733"/>
                  </a:lnTo>
                  <a:lnTo>
                    <a:pt x="181573" y="267650"/>
                  </a:lnTo>
                  <a:lnTo>
                    <a:pt x="217187" y="246261"/>
                  </a:lnTo>
                  <a:lnTo>
                    <a:pt x="244589" y="214946"/>
                  </a:lnTo>
                  <a:lnTo>
                    <a:pt x="261702" y="176092"/>
                  </a:lnTo>
                  <a:lnTo>
                    <a:pt x="266446" y="132080"/>
                  </a:lnTo>
                  <a:lnTo>
                    <a:pt x="257561" y="88656"/>
                  </a:lnTo>
                  <a:lnTo>
                    <a:pt x="236849" y="51572"/>
                  </a:lnTo>
                  <a:lnTo>
                    <a:pt x="206598" y="22992"/>
                  </a:lnTo>
                  <a:lnTo>
                    <a:pt x="169092" y="5080"/>
                  </a:lnTo>
                  <a:lnTo>
                    <a:pt x="12661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139" name="object 33">
              <a:extLst>
                <a:ext uri="{FF2B5EF4-FFF2-40B4-BE49-F238E27FC236}">
                  <a16:creationId xmlns:a16="http://schemas.microsoft.com/office/drawing/2014/main" id="{2D0763B6-872B-4A12-9F9C-5FEA8A4BB352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0" y="144653"/>
                  </a:moveTo>
                  <a:lnTo>
                    <a:pt x="4743" y="100640"/>
                  </a:lnTo>
                  <a:lnTo>
                    <a:pt x="21856" y="61786"/>
                  </a:lnTo>
                  <a:lnTo>
                    <a:pt x="49258" y="30471"/>
                  </a:lnTo>
                  <a:lnTo>
                    <a:pt x="84872" y="9082"/>
                  </a:lnTo>
                  <a:lnTo>
                    <a:pt x="126619" y="0"/>
                  </a:lnTo>
                  <a:lnTo>
                    <a:pt x="169092" y="5080"/>
                  </a:lnTo>
                  <a:lnTo>
                    <a:pt x="206598" y="22992"/>
                  </a:lnTo>
                  <a:lnTo>
                    <a:pt x="236849" y="51572"/>
                  </a:lnTo>
                  <a:lnTo>
                    <a:pt x="257561" y="88656"/>
                  </a:lnTo>
                  <a:lnTo>
                    <a:pt x="266446" y="132080"/>
                  </a:lnTo>
                  <a:lnTo>
                    <a:pt x="261702" y="176092"/>
                  </a:lnTo>
                  <a:lnTo>
                    <a:pt x="244589" y="214946"/>
                  </a:lnTo>
                  <a:lnTo>
                    <a:pt x="217187" y="246261"/>
                  </a:lnTo>
                  <a:lnTo>
                    <a:pt x="181573" y="267650"/>
                  </a:lnTo>
                  <a:lnTo>
                    <a:pt x="139826" y="276733"/>
                  </a:lnTo>
                  <a:lnTo>
                    <a:pt x="133223" y="138430"/>
                  </a:lnTo>
                  <a:lnTo>
                    <a:pt x="0" y="14465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140" name="object 34">
              <a:extLst>
                <a:ext uri="{FF2B5EF4-FFF2-40B4-BE49-F238E27FC236}">
                  <a16:creationId xmlns:a16="http://schemas.microsoft.com/office/drawing/2014/main" id="{E5799B9C-1477-414B-AEC1-62DFAF400694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133350" y="0"/>
                  </a:moveTo>
                  <a:lnTo>
                    <a:pt x="91196" y="7071"/>
                  </a:lnTo>
                  <a:lnTo>
                    <a:pt x="54589" y="26761"/>
                  </a:lnTo>
                  <a:lnTo>
                    <a:pt x="25725" y="56784"/>
                  </a:lnTo>
                  <a:lnTo>
                    <a:pt x="6797" y="94853"/>
                  </a:lnTo>
                  <a:lnTo>
                    <a:pt x="0" y="138683"/>
                  </a:lnTo>
                  <a:lnTo>
                    <a:pt x="6797" y="182514"/>
                  </a:lnTo>
                  <a:lnTo>
                    <a:pt x="25725" y="220583"/>
                  </a:lnTo>
                  <a:lnTo>
                    <a:pt x="54589" y="250606"/>
                  </a:lnTo>
                  <a:lnTo>
                    <a:pt x="91196" y="270296"/>
                  </a:lnTo>
                  <a:lnTo>
                    <a:pt x="133350" y="277367"/>
                  </a:lnTo>
                  <a:lnTo>
                    <a:pt x="175503" y="270296"/>
                  </a:lnTo>
                  <a:lnTo>
                    <a:pt x="212110" y="250606"/>
                  </a:lnTo>
                  <a:lnTo>
                    <a:pt x="240974" y="220583"/>
                  </a:lnTo>
                  <a:lnTo>
                    <a:pt x="259902" y="182514"/>
                  </a:lnTo>
                  <a:lnTo>
                    <a:pt x="266700" y="138683"/>
                  </a:lnTo>
                  <a:lnTo>
                    <a:pt x="133350" y="138683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141" name="object 35">
              <a:extLst>
                <a:ext uri="{FF2B5EF4-FFF2-40B4-BE49-F238E27FC236}">
                  <a16:creationId xmlns:a16="http://schemas.microsoft.com/office/drawing/2014/main" id="{7FA6195E-F98E-4D3B-83EB-FE2C8BBC5265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266700" y="138683"/>
                  </a:moveTo>
                  <a:lnTo>
                    <a:pt x="259902" y="182514"/>
                  </a:lnTo>
                  <a:lnTo>
                    <a:pt x="240974" y="220583"/>
                  </a:lnTo>
                  <a:lnTo>
                    <a:pt x="212110" y="250606"/>
                  </a:lnTo>
                  <a:lnTo>
                    <a:pt x="175503" y="270296"/>
                  </a:lnTo>
                  <a:lnTo>
                    <a:pt x="133350" y="277367"/>
                  </a:lnTo>
                  <a:lnTo>
                    <a:pt x="91196" y="270296"/>
                  </a:lnTo>
                  <a:lnTo>
                    <a:pt x="54589" y="250606"/>
                  </a:lnTo>
                  <a:lnTo>
                    <a:pt x="25725" y="220583"/>
                  </a:lnTo>
                  <a:lnTo>
                    <a:pt x="6797" y="182514"/>
                  </a:lnTo>
                  <a:lnTo>
                    <a:pt x="0" y="138683"/>
                  </a:lnTo>
                  <a:lnTo>
                    <a:pt x="6797" y="94853"/>
                  </a:lnTo>
                  <a:lnTo>
                    <a:pt x="25725" y="56784"/>
                  </a:lnTo>
                  <a:lnTo>
                    <a:pt x="54589" y="26761"/>
                  </a:lnTo>
                  <a:lnTo>
                    <a:pt x="91196" y="7071"/>
                  </a:lnTo>
                  <a:lnTo>
                    <a:pt x="133350" y="0"/>
                  </a:lnTo>
                  <a:lnTo>
                    <a:pt x="133350" y="138683"/>
                  </a:lnTo>
                  <a:lnTo>
                    <a:pt x="266700" y="13868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5D25306-19BC-4DA5-8EC3-E313F62491BF}"/>
              </a:ext>
            </a:extLst>
          </p:cNvPr>
          <p:cNvGrpSpPr/>
          <p:nvPr/>
        </p:nvGrpSpPr>
        <p:grpSpPr>
          <a:xfrm>
            <a:off x="9031910" y="4826883"/>
            <a:ext cx="272923" cy="282575"/>
            <a:chOff x="8205823" y="3580891"/>
            <a:chExt cx="272923" cy="282575"/>
          </a:xfrm>
        </p:grpSpPr>
        <p:sp>
          <p:nvSpPr>
            <p:cNvPr id="143" name="object 32">
              <a:extLst>
                <a:ext uri="{FF2B5EF4-FFF2-40B4-BE49-F238E27FC236}">
                  <a16:creationId xmlns:a16="http://schemas.microsoft.com/office/drawing/2014/main" id="{5B5F5E89-8828-4F29-823B-5D1056834323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126619" y="0"/>
                  </a:moveTo>
                  <a:lnTo>
                    <a:pt x="84872" y="9082"/>
                  </a:lnTo>
                  <a:lnTo>
                    <a:pt x="49258" y="30471"/>
                  </a:lnTo>
                  <a:lnTo>
                    <a:pt x="21856" y="61786"/>
                  </a:lnTo>
                  <a:lnTo>
                    <a:pt x="4743" y="100640"/>
                  </a:lnTo>
                  <a:lnTo>
                    <a:pt x="0" y="144653"/>
                  </a:lnTo>
                  <a:lnTo>
                    <a:pt x="133223" y="138430"/>
                  </a:lnTo>
                  <a:lnTo>
                    <a:pt x="139826" y="276733"/>
                  </a:lnTo>
                  <a:lnTo>
                    <a:pt x="181573" y="267650"/>
                  </a:lnTo>
                  <a:lnTo>
                    <a:pt x="217187" y="246261"/>
                  </a:lnTo>
                  <a:lnTo>
                    <a:pt x="244589" y="214946"/>
                  </a:lnTo>
                  <a:lnTo>
                    <a:pt x="261702" y="176092"/>
                  </a:lnTo>
                  <a:lnTo>
                    <a:pt x="266446" y="132080"/>
                  </a:lnTo>
                  <a:lnTo>
                    <a:pt x="257561" y="88656"/>
                  </a:lnTo>
                  <a:lnTo>
                    <a:pt x="236849" y="51572"/>
                  </a:lnTo>
                  <a:lnTo>
                    <a:pt x="206598" y="22992"/>
                  </a:lnTo>
                  <a:lnTo>
                    <a:pt x="169092" y="5080"/>
                  </a:lnTo>
                  <a:lnTo>
                    <a:pt x="12661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144" name="object 33">
              <a:extLst>
                <a:ext uri="{FF2B5EF4-FFF2-40B4-BE49-F238E27FC236}">
                  <a16:creationId xmlns:a16="http://schemas.microsoft.com/office/drawing/2014/main" id="{100B623B-1DE4-48C8-981D-3549975E70B3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0" y="144653"/>
                  </a:moveTo>
                  <a:lnTo>
                    <a:pt x="4743" y="100640"/>
                  </a:lnTo>
                  <a:lnTo>
                    <a:pt x="21856" y="61786"/>
                  </a:lnTo>
                  <a:lnTo>
                    <a:pt x="49258" y="30471"/>
                  </a:lnTo>
                  <a:lnTo>
                    <a:pt x="84872" y="9082"/>
                  </a:lnTo>
                  <a:lnTo>
                    <a:pt x="126619" y="0"/>
                  </a:lnTo>
                  <a:lnTo>
                    <a:pt x="169092" y="5080"/>
                  </a:lnTo>
                  <a:lnTo>
                    <a:pt x="206598" y="22992"/>
                  </a:lnTo>
                  <a:lnTo>
                    <a:pt x="236849" y="51572"/>
                  </a:lnTo>
                  <a:lnTo>
                    <a:pt x="257561" y="88656"/>
                  </a:lnTo>
                  <a:lnTo>
                    <a:pt x="266446" y="132080"/>
                  </a:lnTo>
                  <a:lnTo>
                    <a:pt x="261702" y="176092"/>
                  </a:lnTo>
                  <a:lnTo>
                    <a:pt x="244589" y="214946"/>
                  </a:lnTo>
                  <a:lnTo>
                    <a:pt x="217187" y="246261"/>
                  </a:lnTo>
                  <a:lnTo>
                    <a:pt x="181573" y="267650"/>
                  </a:lnTo>
                  <a:lnTo>
                    <a:pt x="139826" y="276733"/>
                  </a:lnTo>
                  <a:lnTo>
                    <a:pt x="133223" y="138430"/>
                  </a:lnTo>
                  <a:lnTo>
                    <a:pt x="0" y="14465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145" name="object 34">
              <a:extLst>
                <a:ext uri="{FF2B5EF4-FFF2-40B4-BE49-F238E27FC236}">
                  <a16:creationId xmlns:a16="http://schemas.microsoft.com/office/drawing/2014/main" id="{4F69680F-B7A1-4C62-BFEF-E4F0674ECC9D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133350" y="0"/>
                  </a:moveTo>
                  <a:lnTo>
                    <a:pt x="91196" y="7071"/>
                  </a:lnTo>
                  <a:lnTo>
                    <a:pt x="54589" y="26761"/>
                  </a:lnTo>
                  <a:lnTo>
                    <a:pt x="25725" y="56784"/>
                  </a:lnTo>
                  <a:lnTo>
                    <a:pt x="6797" y="94853"/>
                  </a:lnTo>
                  <a:lnTo>
                    <a:pt x="0" y="138683"/>
                  </a:lnTo>
                  <a:lnTo>
                    <a:pt x="6797" y="182514"/>
                  </a:lnTo>
                  <a:lnTo>
                    <a:pt x="25725" y="220583"/>
                  </a:lnTo>
                  <a:lnTo>
                    <a:pt x="54589" y="250606"/>
                  </a:lnTo>
                  <a:lnTo>
                    <a:pt x="91196" y="270296"/>
                  </a:lnTo>
                  <a:lnTo>
                    <a:pt x="133350" y="277367"/>
                  </a:lnTo>
                  <a:lnTo>
                    <a:pt x="175503" y="270296"/>
                  </a:lnTo>
                  <a:lnTo>
                    <a:pt x="212110" y="250606"/>
                  </a:lnTo>
                  <a:lnTo>
                    <a:pt x="240974" y="220583"/>
                  </a:lnTo>
                  <a:lnTo>
                    <a:pt x="259902" y="182514"/>
                  </a:lnTo>
                  <a:lnTo>
                    <a:pt x="266700" y="138683"/>
                  </a:lnTo>
                  <a:lnTo>
                    <a:pt x="133350" y="138683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146" name="object 35">
              <a:extLst>
                <a:ext uri="{FF2B5EF4-FFF2-40B4-BE49-F238E27FC236}">
                  <a16:creationId xmlns:a16="http://schemas.microsoft.com/office/drawing/2014/main" id="{7E35BF33-788B-442F-BCE6-512314ED2FBB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266700" y="138683"/>
                  </a:moveTo>
                  <a:lnTo>
                    <a:pt x="259902" y="182514"/>
                  </a:lnTo>
                  <a:lnTo>
                    <a:pt x="240974" y="220583"/>
                  </a:lnTo>
                  <a:lnTo>
                    <a:pt x="212110" y="250606"/>
                  </a:lnTo>
                  <a:lnTo>
                    <a:pt x="175503" y="270296"/>
                  </a:lnTo>
                  <a:lnTo>
                    <a:pt x="133350" y="277367"/>
                  </a:lnTo>
                  <a:lnTo>
                    <a:pt x="91196" y="270296"/>
                  </a:lnTo>
                  <a:lnTo>
                    <a:pt x="54589" y="250606"/>
                  </a:lnTo>
                  <a:lnTo>
                    <a:pt x="25725" y="220583"/>
                  </a:lnTo>
                  <a:lnTo>
                    <a:pt x="6797" y="182514"/>
                  </a:lnTo>
                  <a:lnTo>
                    <a:pt x="0" y="138683"/>
                  </a:lnTo>
                  <a:lnTo>
                    <a:pt x="6797" y="94853"/>
                  </a:lnTo>
                  <a:lnTo>
                    <a:pt x="25725" y="56784"/>
                  </a:lnTo>
                  <a:lnTo>
                    <a:pt x="54589" y="26761"/>
                  </a:lnTo>
                  <a:lnTo>
                    <a:pt x="91196" y="7071"/>
                  </a:lnTo>
                  <a:lnTo>
                    <a:pt x="133350" y="0"/>
                  </a:lnTo>
                  <a:lnTo>
                    <a:pt x="133350" y="138683"/>
                  </a:lnTo>
                  <a:lnTo>
                    <a:pt x="266700" y="13868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EBC2F897-1951-4773-914A-278E04475A7F}"/>
              </a:ext>
            </a:extLst>
          </p:cNvPr>
          <p:cNvGrpSpPr/>
          <p:nvPr/>
        </p:nvGrpSpPr>
        <p:grpSpPr>
          <a:xfrm>
            <a:off x="9041856" y="5521225"/>
            <a:ext cx="272923" cy="282575"/>
            <a:chOff x="8205823" y="3580891"/>
            <a:chExt cx="272923" cy="282575"/>
          </a:xfrm>
        </p:grpSpPr>
        <p:sp>
          <p:nvSpPr>
            <p:cNvPr id="148" name="object 32">
              <a:extLst>
                <a:ext uri="{FF2B5EF4-FFF2-40B4-BE49-F238E27FC236}">
                  <a16:creationId xmlns:a16="http://schemas.microsoft.com/office/drawing/2014/main" id="{12BB8B48-EC97-475A-9E4C-745E62A09500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126619" y="0"/>
                  </a:moveTo>
                  <a:lnTo>
                    <a:pt x="84872" y="9082"/>
                  </a:lnTo>
                  <a:lnTo>
                    <a:pt x="49258" y="30471"/>
                  </a:lnTo>
                  <a:lnTo>
                    <a:pt x="21856" y="61786"/>
                  </a:lnTo>
                  <a:lnTo>
                    <a:pt x="4743" y="100640"/>
                  </a:lnTo>
                  <a:lnTo>
                    <a:pt x="0" y="144653"/>
                  </a:lnTo>
                  <a:lnTo>
                    <a:pt x="133223" y="138430"/>
                  </a:lnTo>
                  <a:lnTo>
                    <a:pt x="139826" y="276733"/>
                  </a:lnTo>
                  <a:lnTo>
                    <a:pt x="181573" y="267650"/>
                  </a:lnTo>
                  <a:lnTo>
                    <a:pt x="217187" y="246261"/>
                  </a:lnTo>
                  <a:lnTo>
                    <a:pt x="244589" y="214946"/>
                  </a:lnTo>
                  <a:lnTo>
                    <a:pt x="261702" y="176092"/>
                  </a:lnTo>
                  <a:lnTo>
                    <a:pt x="266446" y="132080"/>
                  </a:lnTo>
                  <a:lnTo>
                    <a:pt x="257561" y="88656"/>
                  </a:lnTo>
                  <a:lnTo>
                    <a:pt x="236849" y="51572"/>
                  </a:lnTo>
                  <a:lnTo>
                    <a:pt x="206598" y="22992"/>
                  </a:lnTo>
                  <a:lnTo>
                    <a:pt x="169092" y="5080"/>
                  </a:lnTo>
                  <a:lnTo>
                    <a:pt x="12661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149" name="object 33">
              <a:extLst>
                <a:ext uri="{FF2B5EF4-FFF2-40B4-BE49-F238E27FC236}">
                  <a16:creationId xmlns:a16="http://schemas.microsoft.com/office/drawing/2014/main" id="{14A097A4-512D-4F75-994D-7CE4066C986D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0" y="144653"/>
                  </a:moveTo>
                  <a:lnTo>
                    <a:pt x="4743" y="100640"/>
                  </a:lnTo>
                  <a:lnTo>
                    <a:pt x="21856" y="61786"/>
                  </a:lnTo>
                  <a:lnTo>
                    <a:pt x="49258" y="30471"/>
                  </a:lnTo>
                  <a:lnTo>
                    <a:pt x="84872" y="9082"/>
                  </a:lnTo>
                  <a:lnTo>
                    <a:pt x="126619" y="0"/>
                  </a:lnTo>
                  <a:lnTo>
                    <a:pt x="169092" y="5080"/>
                  </a:lnTo>
                  <a:lnTo>
                    <a:pt x="206598" y="22992"/>
                  </a:lnTo>
                  <a:lnTo>
                    <a:pt x="236849" y="51572"/>
                  </a:lnTo>
                  <a:lnTo>
                    <a:pt x="257561" y="88656"/>
                  </a:lnTo>
                  <a:lnTo>
                    <a:pt x="266446" y="132080"/>
                  </a:lnTo>
                  <a:lnTo>
                    <a:pt x="261702" y="176092"/>
                  </a:lnTo>
                  <a:lnTo>
                    <a:pt x="244589" y="214946"/>
                  </a:lnTo>
                  <a:lnTo>
                    <a:pt x="217187" y="246261"/>
                  </a:lnTo>
                  <a:lnTo>
                    <a:pt x="181573" y="267650"/>
                  </a:lnTo>
                  <a:lnTo>
                    <a:pt x="139826" y="276733"/>
                  </a:lnTo>
                  <a:lnTo>
                    <a:pt x="133223" y="138430"/>
                  </a:lnTo>
                  <a:lnTo>
                    <a:pt x="0" y="14465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150" name="object 34">
              <a:extLst>
                <a:ext uri="{FF2B5EF4-FFF2-40B4-BE49-F238E27FC236}">
                  <a16:creationId xmlns:a16="http://schemas.microsoft.com/office/drawing/2014/main" id="{8739D647-03CC-4FA0-91C1-303D0C6EF97E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133350" y="0"/>
                  </a:moveTo>
                  <a:lnTo>
                    <a:pt x="91196" y="7071"/>
                  </a:lnTo>
                  <a:lnTo>
                    <a:pt x="54589" y="26761"/>
                  </a:lnTo>
                  <a:lnTo>
                    <a:pt x="25725" y="56784"/>
                  </a:lnTo>
                  <a:lnTo>
                    <a:pt x="6797" y="94853"/>
                  </a:lnTo>
                  <a:lnTo>
                    <a:pt x="0" y="138683"/>
                  </a:lnTo>
                  <a:lnTo>
                    <a:pt x="6797" y="182514"/>
                  </a:lnTo>
                  <a:lnTo>
                    <a:pt x="25725" y="220583"/>
                  </a:lnTo>
                  <a:lnTo>
                    <a:pt x="54589" y="250606"/>
                  </a:lnTo>
                  <a:lnTo>
                    <a:pt x="91196" y="270296"/>
                  </a:lnTo>
                  <a:lnTo>
                    <a:pt x="133350" y="277367"/>
                  </a:lnTo>
                  <a:lnTo>
                    <a:pt x="175503" y="270296"/>
                  </a:lnTo>
                  <a:lnTo>
                    <a:pt x="212110" y="250606"/>
                  </a:lnTo>
                  <a:lnTo>
                    <a:pt x="240974" y="220583"/>
                  </a:lnTo>
                  <a:lnTo>
                    <a:pt x="259902" y="182514"/>
                  </a:lnTo>
                  <a:lnTo>
                    <a:pt x="266700" y="138683"/>
                  </a:lnTo>
                  <a:lnTo>
                    <a:pt x="133350" y="138683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151" name="object 35">
              <a:extLst>
                <a:ext uri="{FF2B5EF4-FFF2-40B4-BE49-F238E27FC236}">
                  <a16:creationId xmlns:a16="http://schemas.microsoft.com/office/drawing/2014/main" id="{F8687581-B021-4EF7-8F56-CF242927E8C1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266700" y="138683"/>
                  </a:moveTo>
                  <a:lnTo>
                    <a:pt x="259902" y="182514"/>
                  </a:lnTo>
                  <a:lnTo>
                    <a:pt x="240974" y="220583"/>
                  </a:lnTo>
                  <a:lnTo>
                    <a:pt x="212110" y="250606"/>
                  </a:lnTo>
                  <a:lnTo>
                    <a:pt x="175503" y="270296"/>
                  </a:lnTo>
                  <a:lnTo>
                    <a:pt x="133350" y="277367"/>
                  </a:lnTo>
                  <a:lnTo>
                    <a:pt x="91196" y="270296"/>
                  </a:lnTo>
                  <a:lnTo>
                    <a:pt x="54589" y="250606"/>
                  </a:lnTo>
                  <a:lnTo>
                    <a:pt x="25725" y="220583"/>
                  </a:lnTo>
                  <a:lnTo>
                    <a:pt x="6797" y="182514"/>
                  </a:lnTo>
                  <a:lnTo>
                    <a:pt x="0" y="138683"/>
                  </a:lnTo>
                  <a:lnTo>
                    <a:pt x="6797" y="94853"/>
                  </a:lnTo>
                  <a:lnTo>
                    <a:pt x="25725" y="56784"/>
                  </a:lnTo>
                  <a:lnTo>
                    <a:pt x="54589" y="26761"/>
                  </a:lnTo>
                  <a:lnTo>
                    <a:pt x="91196" y="7071"/>
                  </a:lnTo>
                  <a:lnTo>
                    <a:pt x="133350" y="0"/>
                  </a:lnTo>
                  <a:lnTo>
                    <a:pt x="133350" y="138683"/>
                  </a:lnTo>
                  <a:lnTo>
                    <a:pt x="266700" y="13868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84D40987-82D8-4026-95EA-835F4E411400}"/>
              </a:ext>
            </a:extLst>
          </p:cNvPr>
          <p:cNvGrpSpPr/>
          <p:nvPr/>
        </p:nvGrpSpPr>
        <p:grpSpPr>
          <a:xfrm>
            <a:off x="9032213" y="4184891"/>
            <a:ext cx="272923" cy="282575"/>
            <a:chOff x="8205823" y="3580891"/>
            <a:chExt cx="272923" cy="282575"/>
          </a:xfrm>
        </p:grpSpPr>
        <p:sp>
          <p:nvSpPr>
            <p:cNvPr id="153" name="object 32">
              <a:extLst>
                <a:ext uri="{FF2B5EF4-FFF2-40B4-BE49-F238E27FC236}">
                  <a16:creationId xmlns:a16="http://schemas.microsoft.com/office/drawing/2014/main" id="{56847A32-08FF-4F8B-96A1-736424054872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126619" y="0"/>
                  </a:moveTo>
                  <a:lnTo>
                    <a:pt x="84872" y="9082"/>
                  </a:lnTo>
                  <a:lnTo>
                    <a:pt x="49258" y="30471"/>
                  </a:lnTo>
                  <a:lnTo>
                    <a:pt x="21856" y="61786"/>
                  </a:lnTo>
                  <a:lnTo>
                    <a:pt x="4743" y="100640"/>
                  </a:lnTo>
                  <a:lnTo>
                    <a:pt x="0" y="144653"/>
                  </a:lnTo>
                  <a:lnTo>
                    <a:pt x="133223" y="138430"/>
                  </a:lnTo>
                  <a:lnTo>
                    <a:pt x="139826" y="276733"/>
                  </a:lnTo>
                  <a:lnTo>
                    <a:pt x="181573" y="267650"/>
                  </a:lnTo>
                  <a:lnTo>
                    <a:pt x="217187" y="246261"/>
                  </a:lnTo>
                  <a:lnTo>
                    <a:pt x="244589" y="214946"/>
                  </a:lnTo>
                  <a:lnTo>
                    <a:pt x="261702" y="176092"/>
                  </a:lnTo>
                  <a:lnTo>
                    <a:pt x="266446" y="132080"/>
                  </a:lnTo>
                  <a:lnTo>
                    <a:pt x="257561" y="88656"/>
                  </a:lnTo>
                  <a:lnTo>
                    <a:pt x="236849" y="51572"/>
                  </a:lnTo>
                  <a:lnTo>
                    <a:pt x="206598" y="22992"/>
                  </a:lnTo>
                  <a:lnTo>
                    <a:pt x="169092" y="5080"/>
                  </a:lnTo>
                  <a:lnTo>
                    <a:pt x="12661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154" name="object 33">
              <a:extLst>
                <a:ext uri="{FF2B5EF4-FFF2-40B4-BE49-F238E27FC236}">
                  <a16:creationId xmlns:a16="http://schemas.microsoft.com/office/drawing/2014/main" id="{2B988821-06AB-46C9-B639-BC8009454211}"/>
                </a:ext>
              </a:extLst>
            </p:cNvPr>
            <p:cNvSpPr/>
            <p:nvPr/>
          </p:nvSpPr>
          <p:spPr>
            <a:xfrm>
              <a:off x="8212046" y="3580891"/>
              <a:ext cx="266700" cy="276860"/>
            </a:xfrm>
            <a:custGeom>
              <a:avLst/>
              <a:gdLst/>
              <a:ahLst/>
              <a:cxnLst/>
              <a:rect l="l" t="t" r="r" b="b"/>
              <a:pathLst>
                <a:path w="266700" h="276860">
                  <a:moveTo>
                    <a:pt x="0" y="144653"/>
                  </a:moveTo>
                  <a:lnTo>
                    <a:pt x="4743" y="100640"/>
                  </a:lnTo>
                  <a:lnTo>
                    <a:pt x="21856" y="61786"/>
                  </a:lnTo>
                  <a:lnTo>
                    <a:pt x="49258" y="30471"/>
                  </a:lnTo>
                  <a:lnTo>
                    <a:pt x="84872" y="9082"/>
                  </a:lnTo>
                  <a:lnTo>
                    <a:pt x="126619" y="0"/>
                  </a:lnTo>
                  <a:lnTo>
                    <a:pt x="169092" y="5080"/>
                  </a:lnTo>
                  <a:lnTo>
                    <a:pt x="206598" y="22992"/>
                  </a:lnTo>
                  <a:lnTo>
                    <a:pt x="236849" y="51572"/>
                  </a:lnTo>
                  <a:lnTo>
                    <a:pt x="257561" y="88656"/>
                  </a:lnTo>
                  <a:lnTo>
                    <a:pt x="266446" y="132080"/>
                  </a:lnTo>
                  <a:lnTo>
                    <a:pt x="261702" y="176092"/>
                  </a:lnTo>
                  <a:lnTo>
                    <a:pt x="244589" y="214946"/>
                  </a:lnTo>
                  <a:lnTo>
                    <a:pt x="217187" y="246261"/>
                  </a:lnTo>
                  <a:lnTo>
                    <a:pt x="181573" y="267650"/>
                  </a:lnTo>
                  <a:lnTo>
                    <a:pt x="139826" y="276733"/>
                  </a:lnTo>
                  <a:lnTo>
                    <a:pt x="133223" y="138430"/>
                  </a:lnTo>
                  <a:lnTo>
                    <a:pt x="0" y="14465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155" name="object 34">
              <a:extLst>
                <a:ext uri="{FF2B5EF4-FFF2-40B4-BE49-F238E27FC236}">
                  <a16:creationId xmlns:a16="http://schemas.microsoft.com/office/drawing/2014/main" id="{F716F94A-B00C-4429-A838-A8147E991898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133350" y="0"/>
                  </a:moveTo>
                  <a:lnTo>
                    <a:pt x="91196" y="7071"/>
                  </a:lnTo>
                  <a:lnTo>
                    <a:pt x="54589" y="26761"/>
                  </a:lnTo>
                  <a:lnTo>
                    <a:pt x="25725" y="56784"/>
                  </a:lnTo>
                  <a:lnTo>
                    <a:pt x="6797" y="94853"/>
                  </a:lnTo>
                  <a:lnTo>
                    <a:pt x="0" y="138683"/>
                  </a:lnTo>
                  <a:lnTo>
                    <a:pt x="6797" y="182514"/>
                  </a:lnTo>
                  <a:lnTo>
                    <a:pt x="25725" y="220583"/>
                  </a:lnTo>
                  <a:lnTo>
                    <a:pt x="54589" y="250606"/>
                  </a:lnTo>
                  <a:lnTo>
                    <a:pt x="91196" y="270296"/>
                  </a:lnTo>
                  <a:lnTo>
                    <a:pt x="133350" y="277367"/>
                  </a:lnTo>
                  <a:lnTo>
                    <a:pt x="175503" y="270296"/>
                  </a:lnTo>
                  <a:lnTo>
                    <a:pt x="212110" y="250606"/>
                  </a:lnTo>
                  <a:lnTo>
                    <a:pt x="240974" y="220583"/>
                  </a:lnTo>
                  <a:lnTo>
                    <a:pt x="259902" y="182514"/>
                  </a:lnTo>
                  <a:lnTo>
                    <a:pt x="266700" y="138683"/>
                  </a:lnTo>
                  <a:lnTo>
                    <a:pt x="133350" y="138683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  <p:sp>
          <p:nvSpPr>
            <p:cNvPr id="156" name="object 35">
              <a:extLst>
                <a:ext uri="{FF2B5EF4-FFF2-40B4-BE49-F238E27FC236}">
                  <a16:creationId xmlns:a16="http://schemas.microsoft.com/office/drawing/2014/main" id="{089B75BB-8699-4FCA-ADFF-B993DBEBD15D}"/>
                </a:ext>
              </a:extLst>
            </p:cNvPr>
            <p:cNvSpPr/>
            <p:nvPr/>
          </p:nvSpPr>
          <p:spPr>
            <a:xfrm>
              <a:off x="8205823" y="3585971"/>
              <a:ext cx="266700" cy="277495"/>
            </a:xfrm>
            <a:custGeom>
              <a:avLst/>
              <a:gdLst/>
              <a:ahLst/>
              <a:cxnLst/>
              <a:rect l="l" t="t" r="r" b="b"/>
              <a:pathLst>
                <a:path w="266700" h="277495">
                  <a:moveTo>
                    <a:pt x="266700" y="138683"/>
                  </a:moveTo>
                  <a:lnTo>
                    <a:pt x="259902" y="182514"/>
                  </a:lnTo>
                  <a:lnTo>
                    <a:pt x="240974" y="220583"/>
                  </a:lnTo>
                  <a:lnTo>
                    <a:pt x="212110" y="250606"/>
                  </a:lnTo>
                  <a:lnTo>
                    <a:pt x="175503" y="270296"/>
                  </a:lnTo>
                  <a:lnTo>
                    <a:pt x="133350" y="277367"/>
                  </a:lnTo>
                  <a:lnTo>
                    <a:pt x="91196" y="270296"/>
                  </a:lnTo>
                  <a:lnTo>
                    <a:pt x="54589" y="250606"/>
                  </a:lnTo>
                  <a:lnTo>
                    <a:pt x="25725" y="220583"/>
                  </a:lnTo>
                  <a:lnTo>
                    <a:pt x="6797" y="182514"/>
                  </a:lnTo>
                  <a:lnTo>
                    <a:pt x="0" y="138683"/>
                  </a:lnTo>
                  <a:lnTo>
                    <a:pt x="6797" y="94853"/>
                  </a:lnTo>
                  <a:lnTo>
                    <a:pt x="25725" y="56784"/>
                  </a:lnTo>
                  <a:lnTo>
                    <a:pt x="54589" y="26761"/>
                  </a:lnTo>
                  <a:lnTo>
                    <a:pt x="91196" y="7071"/>
                  </a:lnTo>
                  <a:lnTo>
                    <a:pt x="133350" y="0"/>
                  </a:lnTo>
                  <a:lnTo>
                    <a:pt x="133350" y="138683"/>
                  </a:lnTo>
                  <a:lnTo>
                    <a:pt x="266700" y="138683"/>
                  </a:lnTo>
                  <a:close/>
                </a:path>
              </a:pathLst>
            </a:cu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lIns="0" tIns="0" rIns="0" bIns="0" rtlCol="0"/>
            <a:lstStyle/>
            <a:p>
              <a:endParaRPr sz="12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8504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4B23E84-A97E-4E12-B550-C3182622473C}"/>
              </a:ext>
            </a:extLst>
          </p:cNvPr>
          <p:cNvSpPr/>
          <p:nvPr/>
        </p:nvSpPr>
        <p:spPr>
          <a:xfrm>
            <a:off x="396232" y="983397"/>
            <a:ext cx="46800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/>
              <a:t>Differentiated Value Proposition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3C8B815-A0A3-45B6-8343-13EF4DE12368}"/>
              </a:ext>
            </a:extLst>
          </p:cNvPr>
          <p:cNvSpPr/>
          <p:nvPr/>
        </p:nvSpPr>
        <p:spPr>
          <a:xfrm>
            <a:off x="5132296" y="983397"/>
            <a:ext cx="28800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/>
              <a:t>Customer Segment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4C5F8A-CE23-4955-B7FF-3F9F1B8B05D7}"/>
              </a:ext>
            </a:extLst>
          </p:cNvPr>
          <p:cNvSpPr/>
          <p:nvPr/>
        </p:nvSpPr>
        <p:spPr>
          <a:xfrm>
            <a:off x="972231" y="4895449"/>
            <a:ext cx="410399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Tier 3 and Tier 4 cities</a:t>
            </a:r>
            <a:r>
              <a:rPr lang="en-US" sz="1400" dirty="0">
                <a:solidFill>
                  <a:schemeClr val="bg1"/>
                </a:solidFill>
                <a:latin typeface="Montserrat"/>
              </a:rPr>
              <a:t>: Internet Penetration Rate in rural areas of India is 37% (333 Mn). Target young population with lower incomes.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9EFE2D6-35D8-4670-AF4E-0B8A4C929333}"/>
              </a:ext>
            </a:extLst>
          </p:cNvPr>
          <p:cNvSpPr/>
          <p:nvPr/>
        </p:nvSpPr>
        <p:spPr>
          <a:xfrm>
            <a:off x="972232" y="4219823"/>
            <a:ext cx="41039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Tier 1 and Tier 2 cities</a:t>
            </a:r>
            <a:r>
              <a:rPr lang="en-US" sz="1400" dirty="0">
                <a:solidFill>
                  <a:schemeClr val="bg1"/>
                </a:solidFill>
              </a:rPr>
              <a:t>: Tech-savvy customers like Millennials and Gen Z (~50% of India's population).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61CAA43-3349-41ED-BBFA-FEE4B9AF5988}"/>
              </a:ext>
            </a:extLst>
          </p:cNvPr>
          <p:cNvSpPr/>
          <p:nvPr/>
        </p:nvSpPr>
        <p:spPr>
          <a:xfrm>
            <a:off x="5913029" y="1237530"/>
            <a:ext cx="200779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Gen Z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</a:p>
          <a:p>
            <a:r>
              <a:rPr lang="en-US" sz="1400" dirty="0">
                <a:solidFill>
                  <a:schemeClr val="bg1"/>
                </a:solidFill>
              </a:rPr>
              <a:t>Digital natives and future potential customers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Millennials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</a:p>
          <a:p>
            <a:r>
              <a:rPr lang="en-US" sz="1400" dirty="0">
                <a:solidFill>
                  <a:schemeClr val="bg1"/>
                </a:solidFill>
              </a:rPr>
              <a:t>Tech-savvy and higher paying capacity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Baby Boomers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</a:p>
          <a:p>
            <a:r>
              <a:rPr lang="en-US" sz="1400" dirty="0">
                <a:solidFill>
                  <a:schemeClr val="bg1"/>
                </a:solidFill>
              </a:rPr>
              <a:t>Higher paying capacity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469806C-8622-480B-9A20-210F0FABC241}"/>
              </a:ext>
            </a:extLst>
          </p:cNvPr>
          <p:cNvSpPr/>
          <p:nvPr/>
        </p:nvSpPr>
        <p:spPr>
          <a:xfrm>
            <a:off x="5132296" y="1283533"/>
            <a:ext cx="2880000" cy="2466000"/>
          </a:xfrm>
          <a:prstGeom prst="rect">
            <a:avLst/>
          </a:prstGeom>
          <a:noFill/>
          <a:ln>
            <a:solidFill>
              <a:schemeClr val="accent6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769DD8F-6283-4F2F-90B1-F91F5A5352B6}"/>
              </a:ext>
            </a:extLst>
          </p:cNvPr>
          <p:cNvSpPr/>
          <p:nvPr/>
        </p:nvSpPr>
        <p:spPr>
          <a:xfrm>
            <a:off x="396232" y="3826869"/>
            <a:ext cx="4679996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/>
              <a:t>Geographies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AC88ED6-8D73-44CB-B77F-3C302A06A77A}"/>
              </a:ext>
            </a:extLst>
          </p:cNvPr>
          <p:cNvSpPr/>
          <p:nvPr/>
        </p:nvSpPr>
        <p:spPr>
          <a:xfrm>
            <a:off x="396231" y="4130066"/>
            <a:ext cx="4679997" cy="1710000"/>
          </a:xfrm>
          <a:prstGeom prst="rect">
            <a:avLst/>
          </a:prstGeom>
          <a:noFill/>
          <a:ln>
            <a:solidFill>
              <a:schemeClr val="accent6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38D5885-6011-43A5-832C-A2C16D909D10}"/>
              </a:ext>
            </a:extLst>
          </p:cNvPr>
          <p:cNvSpPr/>
          <p:nvPr/>
        </p:nvSpPr>
        <p:spPr>
          <a:xfrm>
            <a:off x="396232" y="615935"/>
            <a:ext cx="11379600" cy="32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12065" rIns="0" bIns="0" rtlCol="0" anchor="t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US" b="1" spc="-5" dirty="0">
                <a:solidFill>
                  <a:schemeClr val="bg1"/>
                </a:solidFill>
              </a:rPr>
              <a:t>Go To Market Strategy for Challenger Bank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FC17FD0-023C-4AC5-8190-268FCC648557}"/>
              </a:ext>
            </a:extLst>
          </p:cNvPr>
          <p:cNvSpPr/>
          <p:nvPr/>
        </p:nvSpPr>
        <p:spPr>
          <a:xfrm>
            <a:off x="396231" y="1291944"/>
            <a:ext cx="4680000" cy="2465999"/>
          </a:xfrm>
          <a:prstGeom prst="rect">
            <a:avLst/>
          </a:prstGeom>
          <a:noFill/>
          <a:ln>
            <a:solidFill>
              <a:schemeClr val="accent6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pic>
        <p:nvPicPr>
          <p:cNvPr id="11" name="Graphic 10" descr="Handshake">
            <a:extLst>
              <a:ext uri="{FF2B5EF4-FFF2-40B4-BE49-F238E27FC236}">
                <a16:creationId xmlns:a16="http://schemas.microsoft.com/office/drawing/2014/main" id="{9DC1205F-B22A-403D-A9A8-D7EC130D9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543" y="1353544"/>
            <a:ext cx="432000" cy="432000"/>
          </a:xfrm>
          <a:prstGeom prst="rect">
            <a:avLst/>
          </a:prstGeom>
        </p:spPr>
      </p:pic>
      <p:pic>
        <p:nvPicPr>
          <p:cNvPr id="13" name="Graphic 12" descr="Shooting star">
            <a:extLst>
              <a:ext uri="{FF2B5EF4-FFF2-40B4-BE49-F238E27FC236}">
                <a16:creationId xmlns:a16="http://schemas.microsoft.com/office/drawing/2014/main" id="{F1613BBD-A308-4E41-92FA-D086E4CFE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543" y="3123843"/>
            <a:ext cx="432000" cy="432000"/>
          </a:xfrm>
          <a:prstGeom prst="rect">
            <a:avLst/>
          </a:prstGeom>
        </p:spPr>
      </p:pic>
      <p:pic>
        <p:nvPicPr>
          <p:cNvPr id="15" name="Graphic 14" descr="Cheers">
            <a:extLst>
              <a:ext uri="{FF2B5EF4-FFF2-40B4-BE49-F238E27FC236}">
                <a16:creationId xmlns:a16="http://schemas.microsoft.com/office/drawing/2014/main" id="{7DAC9EE2-FF8F-4C44-B7CF-F717E34F81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543" y="2253442"/>
            <a:ext cx="432000" cy="43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A266D76-11E7-4ECE-9E0C-A56988C925B3}"/>
              </a:ext>
            </a:extLst>
          </p:cNvPr>
          <p:cNvSpPr/>
          <p:nvPr/>
        </p:nvSpPr>
        <p:spPr>
          <a:xfrm>
            <a:off x="944537" y="1245942"/>
            <a:ext cx="413169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Affordable</a:t>
            </a:r>
            <a:r>
              <a:rPr lang="en-US" sz="1400" dirty="0">
                <a:solidFill>
                  <a:schemeClr val="bg1"/>
                </a:solidFill>
              </a:rPr>
              <a:t>: Digital Challenger Banks typically generate better unit economics by leveraging modern technology and pass on value to customers.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5BB5EA-0A70-4F59-8C7A-8C5318F381AD}"/>
              </a:ext>
            </a:extLst>
          </p:cNvPr>
          <p:cNvSpPr/>
          <p:nvPr/>
        </p:nvSpPr>
        <p:spPr>
          <a:xfrm>
            <a:off x="944538" y="2001076"/>
            <a:ext cx="41316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Accessible</a:t>
            </a:r>
            <a:r>
              <a:rPr lang="en-US" sz="1400" dirty="0">
                <a:solidFill>
                  <a:schemeClr val="bg1"/>
                </a:solidFill>
              </a:rPr>
              <a:t>: Provide banking  services through website and mobile app and better accessibility to financial</a:t>
            </a:r>
          </a:p>
          <a:p>
            <a:r>
              <a:rPr lang="en-US" sz="1400" dirty="0">
                <a:solidFill>
                  <a:schemeClr val="bg1"/>
                </a:solidFill>
              </a:rPr>
              <a:t>services for the unserved and underserved population.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0648368-DC8D-4BD1-BB45-89344BDEBD0D}"/>
              </a:ext>
            </a:extLst>
          </p:cNvPr>
          <p:cNvSpPr/>
          <p:nvPr/>
        </p:nvSpPr>
        <p:spPr>
          <a:xfrm>
            <a:off x="944537" y="2935501"/>
            <a:ext cx="413169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Customer Experience</a:t>
            </a:r>
            <a:r>
              <a:rPr lang="en-US" sz="1400" dirty="0">
                <a:solidFill>
                  <a:schemeClr val="bg1"/>
                </a:solidFill>
              </a:rPr>
              <a:t>: Engage with customers digitally and focus on personalization, ease of use, and a wider variety of product features.</a:t>
            </a:r>
            <a:endParaRPr lang="en-IN" sz="1400" dirty="0">
              <a:solidFill>
                <a:schemeClr val="bg1"/>
              </a:solidFill>
            </a:endParaRPr>
          </a:p>
        </p:txBody>
      </p:sp>
      <p:pic>
        <p:nvPicPr>
          <p:cNvPr id="95" name="Graphic 94" descr="City">
            <a:extLst>
              <a:ext uri="{FF2B5EF4-FFF2-40B4-BE49-F238E27FC236}">
                <a16:creationId xmlns:a16="http://schemas.microsoft.com/office/drawing/2014/main" id="{E6BF9D86-4B4C-4EA5-B85F-B44C041A09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543" y="4308383"/>
            <a:ext cx="432000" cy="432000"/>
          </a:xfrm>
          <a:prstGeom prst="rect">
            <a:avLst/>
          </a:prstGeom>
        </p:spPr>
      </p:pic>
      <p:pic>
        <p:nvPicPr>
          <p:cNvPr id="97" name="Graphic 96" descr="House">
            <a:extLst>
              <a:ext uri="{FF2B5EF4-FFF2-40B4-BE49-F238E27FC236}">
                <a16:creationId xmlns:a16="http://schemas.microsoft.com/office/drawing/2014/main" id="{037366C7-D09D-4BE3-ACA3-57E7EF4B9EB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543" y="5067985"/>
            <a:ext cx="432000" cy="43200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7A755BFA-464F-438F-ABDA-1F31B9843FD6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43052" y="1314083"/>
            <a:ext cx="619672" cy="720000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2B6AF51F-F993-41A7-ADC3-CB925B1ED7A7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43052" y="2161566"/>
            <a:ext cx="615868" cy="7200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645FEA7F-0897-46D7-9241-B8F91F45A384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243052" y="3009048"/>
            <a:ext cx="632269" cy="720000"/>
          </a:xfrm>
          <a:prstGeom prst="rect">
            <a:avLst/>
          </a:prstGeom>
        </p:spPr>
      </p:pic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1BC77F54-75DF-46A9-824E-EB4CEDC11528}"/>
              </a:ext>
            </a:extLst>
          </p:cNvPr>
          <p:cNvSpPr/>
          <p:nvPr/>
        </p:nvSpPr>
        <p:spPr>
          <a:xfrm>
            <a:off x="5132296" y="3833345"/>
            <a:ext cx="2880000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/>
              <a:t>Channels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0A98DC-05A5-4F02-85AF-F5277A3B8E6D}"/>
              </a:ext>
            </a:extLst>
          </p:cNvPr>
          <p:cNvSpPr/>
          <p:nvPr/>
        </p:nvSpPr>
        <p:spPr>
          <a:xfrm>
            <a:off x="5675052" y="4087478"/>
            <a:ext cx="234382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Mobile App</a:t>
            </a:r>
            <a:r>
              <a:rPr lang="en-US" sz="1400" dirty="0">
                <a:solidFill>
                  <a:schemeClr val="bg1"/>
                </a:solidFill>
              </a:rPr>
              <a:t>:</a:t>
            </a:r>
          </a:p>
          <a:p>
            <a:r>
              <a:rPr lang="en-US" sz="1400" dirty="0">
                <a:solidFill>
                  <a:schemeClr val="bg1"/>
                </a:solidFill>
              </a:rPr>
              <a:t>Provide one-stop financial services through Mobile App.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</a:rPr>
              <a:t>Website</a:t>
            </a:r>
            <a:r>
              <a:rPr lang="en-US" sz="1400" dirty="0">
                <a:solidFill>
                  <a:schemeClr val="bg1"/>
                </a:solidFill>
              </a:rPr>
              <a:t>:</a:t>
            </a:r>
          </a:p>
          <a:p>
            <a:r>
              <a:rPr lang="en-US" sz="1400" dirty="0">
                <a:solidFill>
                  <a:schemeClr val="bg1"/>
                </a:solidFill>
              </a:rPr>
              <a:t>Baby Boomers are usually comfortable with Laptops due to larger screen size.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0F60038-5C57-45EC-A675-DB395854501C}"/>
              </a:ext>
            </a:extLst>
          </p:cNvPr>
          <p:cNvSpPr/>
          <p:nvPr/>
        </p:nvSpPr>
        <p:spPr>
          <a:xfrm>
            <a:off x="5132296" y="4133481"/>
            <a:ext cx="2880000" cy="1710000"/>
          </a:xfrm>
          <a:prstGeom prst="rect">
            <a:avLst/>
          </a:prstGeom>
          <a:noFill/>
          <a:ln>
            <a:solidFill>
              <a:schemeClr val="accent6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pic>
        <p:nvPicPr>
          <p:cNvPr id="108" name="Graphic 107" descr="Smart Phone">
            <a:extLst>
              <a:ext uri="{FF2B5EF4-FFF2-40B4-BE49-F238E27FC236}">
                <a16:creationId xmlns:a16="http://schemas.microsoft.com/office/drawing/2014/main" id="{2705468E-9FED-49DB-9DE4-66B401B8DEF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243052" y="4272013"/>
            <a:ext cx="432000" cy="432000"/>
          </a:xfrm>
          <a:prstGeom prst="rect">
            <a:avLst/>
          </a:prstGeom>
        </p:spPr>
      </p:pic>
      <p:pic>
        <p:nvPicPr>
          <p:cNvPr id="110" name="Graphic 109" descr="Laptop">
            <a:extLst>
              <a:ext uri="{FF2B5EF4-FFF2-40B4-BE49-F238E27FC236}">
                <a16:creationId xmlns:a16="http://schemas.microsoft.com/office/drawing/2014/main" id="{25A9C11D-065C-4083-AC07-5F47A69AB41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43052" y="5092808"/>
            <a:ext cx="432000" cy="432000"/>
          </a:xfrm>
          <a:prstGeom prst="rect">
            <a:avLst/>
          </a:prstGeom>
        </p:spPr>
      </p:pic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C58EF886-22E2-44E0-8403-0536EED327C7}"/>
              </a:ext>
            </a:extLst>
          </p:cNvPr>
          <p:cNvSpPr/>
          <p:nvPr/>
        </p:nvSpPr>
        <p:spPr>
          <a:xfrm>
            <a:off x="8059840" y="983395"/>
            <a:ext cx="3715991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 dirty="0"/>
              <a:t>Customer Acquisition</a:t>
            </a:r>
            <a:endParaRPr lang="en-IN" sz="1600" b="1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5EABA4A-CBB3-471D-BAC6-66C876290A91}"/>
              </a:ext>
            </a:extLst>
          </p:cNvPr>
          <p:cNvSpPr/>
          <p:nvPr/>
        </p:nvSpPr>
        <p:spPr>
          <a:xfrm>
            <a:off x="8069397" y="1283533"/>
            <a:ext cx="3706433" cy="2466000"/>
          </a:xfrm>
          <a:prstGeom prst="rect">
            <a:avLst/>
          </a:prstGeom>
          <a:noFill/>
          <a:ln>
            <a:solidFill>
              <a:schemeClr val="accent6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970A9E5-B346-4903-85FD-AF059015D5A4}"/>
              </a:ext>
            </a:extLst>
          </p:cNvPr>
          <p:cNvSpPr/>
          <p:nvPr/>
        </p:nvSpPr>
        <p:spPr>
          <a:xfrm>
            <a:off x="8066405" y="1237530"/>
            <a:ext cx="3709425" cy="2789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4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Marketing</a:t>
            </a:r>
          </a:p>
          <a:p>
            <a:pPr marL="285750" indent="-285750">
              <a:lnSpc>
                <a:spcPct val="114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Competitive Pricing</a:t>
            </a:r>
          </a:p>
          <a:p>
            <a:pPr marL="285750" indent="-285750">
              <a:lnSpc>
                <a:spcPct val="114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Lending</a:t>
            </a:r>
          </a:p>
          <a:p>
            <a:pPr marL="285750" indent="-285750">
              <a:lnSpc>
                <a:spcPct val="114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Cashbacks</a:t>
            </a:r>
          </a:p>
          <a:p>
            <a:pPr marL="285750" indent="-285750">
              <a:lnSpc>
                <a:spcPct val="114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Higher-Interest Savings Account</a:t>
            </a:r>
          </a:p>
          <a:p>
            <a:pPr marL="285750" indent="-285750">
              <a:lnSpc>
                <a:spcPct val="114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Convenience and reach </a:t>
            </a:r>
          </a:p>
          <a:p>
            <a:pPr marL="285750" indent="-285750">
              <a:lnSpc>
                <a:spcPct val="114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Speed of transactions</a:t>
            </a:r>
          </a:p>
          <a:p>
            <a:pPr marL="285750" indent="-285750">
              <a:lnSpc>
                <a:spcPct val="114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Diversified Services</a:t>
            </a:r>
          </a:p>
          <a:p>
            <a:pPr marL="285750" indent="-285750">
              <a:lnSpc>
                <a:spcPct val="114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Transparent Fees</a:t>
            </a:r>
          </a:p>
          <a:p>
            <a:pPr marL="285750" indent="-285750">
              <a:lnSpc>
                <a:spcPct val="114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Seamless Banking Experience</a:t>
            </a:r>
          </a:p>
          <a:p>
            <a:pPr marL="285750" indent="-285750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8118D345-EBCB-4979-9BCF-B6843BADA938}"/>
              </a:ext>
            </a:extLst>
          </p:cNvPr>
          <p:cNvSpPr/>
          <p:nvPr/>
        </p:nvSpPr>
        <p:spPr>
          <a:xfrm>
            <a:off x="8068364" y="3833345"/>
            <a:ext cx="3707466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 dirty="0"/>
              <a:t>Business Plan</a:t>
            </a:r>
            <a:endParaRPr lang="en-IN" sz="1600" b="1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F861474-EEE4-4E11-B149-49ABA74071B3}"/>
              </a:ext>
            </a:extLst>
          </p:cNvPr>
          <p:cNvSpPr/>
          <p:nvPr/>
        </p:nvSpPr>
        <p:spPr>
          <a:xfrm>
            <a:off x="8089057" y="4130518"/>
            <a:ext cx="3686773" cy="1626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Financial Management Features</a:t>
            </a:r>
          </a:p>
          <a:p>
            <a:pPr marL="285750" indent="-285750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Predictive intelligence</a:t>
            </a:r>
          </a:p>
          <a:p>
            <a:pPr marL="285750" indent="-285750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 err="1">
                <a:solidFill>
                  <a:schemeClr val="bg1"/>
                </a:solidFill>
              </a:rPr>
              <a:t>Commercialisation</a:t>
            </a:r>
            <a:r>
              <a:rPr lang="en-US" sz="1400" dirty="0">
                <a:solidFill>
                  <a:schemeClr val="bg1"/>
                </a:solidFill>
              </a:rPr>
              <a:t> of data</a:t>
            </a:r>
          </a:p>
          <a:p>
            <a:pPr marL="285750" indent="-285750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Cost efficiency and Quick scalability</a:t>
            </a:r>
          </a:p>
          <a:p>
            <a:pPr marL="285750" indent="-285750">
              <a:lnSpc>
                <a:spcPct val="12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bg1"/>
                </a:solidFill>
              </a:rPr>
              <a:t>Higher ROI of 17% for Small Challenger Banks and 9.5% for Large Challenger Banks 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49813E4-AC78-487F-879F-BBCE29D84D7E}"/>
              </a:ext>
            </a:extLst>
          </p:cNvPr>
          <p:cNvSpPr/>
          <p:nvPr/>
        </p:nvSpPr>
        <p:spPr>
          <a:xfrm>
            <a:off x="8068364" y="4130065"/>
            <a:ext cx="3707466" cy="1701279"/>
          </a:xfrm>
          <a:prstGeom prst="rect">
            <a:avLst/>
          </a:prstGeom>
          <a:noFill/>
          <a:ln>
            <a:solidFill>
              <a:schemeClr val="accent6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3975C6C-4FAC-4082-8A14-F6390818C288}"/>
              </a:ext>
            </a:extLst>
          </p:cNvPr>
          <p:cNvSpPr/>
          <p:nvPr/>
        </p:nvSpPr>
        <p:spPr>
          <a:xfrm>
            <a:off x="910676" y="146654"/>
            <a:ext cx="10938818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345" algn="l"/>
                <a:tab pos="4733925" algn="l"/>
                <a:tab pos="7395209" algn="l"/>
                <a:tab pos="9692640" algn="l"/>
              </a:tabLst>
            </a:pPr>
            <a:r>
              <a:rPr lang="en-US" sz="1400" b="1" spc="35" dirty="0">
                <a:solidFill>
                  <a:schemeClr val="bg1"/>
                </a:solidFill>
                <a:latin typeface="+mj-lt"/>
                <a:cs typeface="Arial"/>
              </a:rPr>
              <a:t>             Digital Challenger Bank</a:t>
            </a:r>
            <a:r>
              <a:rPr lang="en-US" sz="1400" b="1" spc="45" dirty="0">
                <a:solidFill>
                  <a:schemeClr val="bg1"/>
                </a:solidFill>
                <a:latin typeface="+mj-lt"/>
                <a:cs typeface="Arial"/>
              </a:rPr>
              <a:t>              </a:t>
            </a:r>
            <a:r>
              <a:rPr lang="en-US" sz="1400" b="1" spc="50" dirty="0">
                <a:solidFill>
                  <a:schemeClr val="bg1"/>
                </a:solidFill>
                <a:latin typeface="+mj-lt"/>
                <a:cs typeface="Arial"/>
              </a:rPr>
              <a:t>Product Offering 	    </a:t>
            </a:r>
            <a:r>
              <a:rPr lang="en-US" sz="1400" b="1" spc="50" dirty="0">
                <a:latin typeface="+mj-lt"/>
                <a:cs typeface="Arial"/>
              </a:rPr>
              <a:t>Go-To-Market Strategy           </a:t>
            </a:r>
            <a:r>
              <a:rPr lang="en-US" sz="1400" b="1" spc="50" dirty="0">
                <a:solidFill>
                  <a:schemeClr val="bg1"/>
                </a:solidFill>
                <a:latin typeface="+mj-lt"/>
                <a:cs typeface="Arial"/>
              </a:rPr>
              <a:t>Technology Capabilities            Mock-ups</a:t>
            </a:r>
            <a:endParaRPr lang="en-US" sz="1400" b="1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pic>
        <p:nvPicPr>
          <p:cNvPr id="126" name="Graphic 125" descr="Direction">
            <a:extLst>
              <a:ext uri="{FF2B5EF4-FFF2-40B4-BE49-F238E27FC236}">
                <a16:creationId xmlns:a16="http://schemas.microsoft.com/office/drawing/2014/main" id="{95E9C607-01F4-45C8-B013-7A48E7178A8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2776591">
            <a:off x="3246603" y="-50214"/>
            <a:ext cx="718150" cy="718856"/>
          </a:xfrm>
          <a:prstGeom prst="rect">
            <a:avLst/>
          </a:prstGeom>
        </p:spPr>
      </p:pic>
      <p:pic>
        <p:nvPicPr>
          <p:cNvPr id="127" name="Graphic 126" descr="Direction">
            <a:extLst>
              <a:ext uri="{FF2B5EF4-FFF2-40B4-BE49-F238E27FC236}">
                <a16:creationId xmlns:a16="http://schemas.microsoft.com/office/drawing/2014/main" id="{A5168960-F294-4CBE-9675-53F9DEFCC3F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2776591">
            <a:off x="5133312" y="-50214"/>
            <a:ext cx="718150" cy="718856"/>
          </a:xfrm>
          <a:prstGeom prst="rect">
            <a:avLst/>
          </a:prstGeom>
        </p:spPr>
      </p:pic>
      <p:pic>
        <p:nvPicPr>
          <p:cNvPr id="128" name="Graphic 127" descr="Direction">
            <a:extLst>
              <a:ext uri="{FF2B5EF4-FFF2-40B4-BE49-F238E27FC236}">
                <a16:creationId xmlns:a16="http://schemas.microsoft.com/office/drawing/2014/main" id="{E5C40FB4-A02C-4635-A754-86595BA1331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2776591">
            <a:off x="7481850" y="-50214"/>
            <a:ext cx="718150" cy="718856"/>
          </a:xfrm>
          <a:prstGeom prst="rect">
            <a:avLst/>
          </a:prstGeom>
        </p:spPr>
      </p:pic>
      <p:pic>
        <p:nvPicPr>
          <p:cNvPr id="129" name="Graphic 128" descr="Direction">
            <a:extLst>
              <a:ext uri="{FF2B5EF4-FFF2-40B4-BE49-F238E27FC236}">
                <a16:creationId xmlns:a16="http://schemas.microsoft.com/office/drawing/2014/main" id="{A7964B6F-918D-4962-9805-13B39FD914A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2776591">
            <a:off x="9872658" y="-50214"/>
            <a:ext cx="718150" cy="718856"/>
          </a:xfrm>
          <a:prstGeom prst="rect">
            <a:avLst/>
          </a:prstGeom>
        </p:spPr>
      </p:pic>
      <p:pic>
        <p:nvPicPr>
          <p:cNvPr id="130" name="Graphic 129" descr="Direction">
            <a:extLst>
              <a:ext uri="{FF2B5EF4-FFF2-40B4-BE49-F238E27FC236}">
                <a16:creationId xmlns:a16="http://schemas.microsoft.com/office/drawing/2014/main" id="{CA9469CC-7797-4CD9-BB18-2438D9B3360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2776591">
            <a:off x="767448" y="-50214"/>
            <a:ext cx="718150" cy="71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59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16">
            <a:extLst>
              <a:ext uri="{FF2B5EF4-FFF2-40B4-BE49-F238E27FC236}">
                <a16:creationId xmlns:a16="http://schemas.microsoft.com/office/drawing/2014/main" id="{FD173230-2051-586F-2C60-EAB17768B172}"/>
              </a:ext>
            </a:extLst>
          </p:cNvPr>
          <p:cNvGrpSpPr/>
          <p:nvPr/>
        </p:nvGrpSpPr>
        <p:grpSpPr>
          <a:xfrm>
            <a:off x="5914390" y="2184370"/>
            <a:ext cx="415290" cy="182245"/>
            <a:chOff x="5914390" y="2000757"/>
            <a:chExt cx="415290" cy="182245"/>
          </a:xfrm>
        </p:grpSpPr>
        <p:sp>
          <p:nvSpPr>
            <p:cNvPr id="3" name="object 17">
              <a:extLst>
                <a:ext uri="{FF2B5EF4-FFF2-40B4-BE49-F238E27FC236}">
                  <a16:creationId xmlns:a16="http://schemas.microsoft.com/office/drawing/2014/main" id="{4D479101-0ABC-D6AC-4F67-44E0D400DE4B}"/>
                </a:ext>
              </a:extLst>
            </p:cNvPr>
            <p:cNvSpPr/>
            <p:nvPr/>
          </p:nvSpPr>
          <p:spPr>
            <a:xfrm>
              <a:off x="5920740" y="2007107"/>
              <a:ext cx="402590" cy="169545"/>
            </a:xfrm>
            <a:custGeom>
              <a:avLst/>
              <a:gdLst/>
              <a:ahLst/>
              <a:cxnLst/>
              <a:rect l="l" t="t" r="r" b="b"/>
              <a:pathLst>
                <a:path w="402589" h="169544">
                  <a:moveTo>
                    <a:pt x="0" y="0"/>
                  </a:moveTo>
                  <a:lnTo>
                    <a:pt x="0" y="169163"/>
                  </a:lnTo>
                  <a:lnTo>
                    <a:pt x="402336" y="845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4" name="object 18">
              <a:extLst>
                <a:ext uri="{FF2B5EF4-FFF2-40B4-BE49-F238E27FC236}">
                  <a16:creationId xmlns:a16="http://schemas.microsoft.com/office/drawing/2014/main" id="{17749D9F-F13E-9E2C-E53D-975BB4A7A628}"/>
                </a:ext>
              </a:extLst>
            </p:cNvPr>
            <p:cNvSpPr/>
            <p:nvPr/>
          </p:nvSpPr>
          <p:spPr>
            <a:xfrm>
              <a:off x="5920740" y="2007107"/>
              <a:ext cx="402590" cy="169545"/>
            </a:xfrm>
            <a:custGeom>
              <a:avLst/>
              <a:gdLst/>
              <a:ahLst/>
              <a:cxnLst/>
              <a:rect l="l" t="t" r="r" b="b"/>
              <a:pathLst>
                <a:path w="402589" h="169544">
                  <a:moveTo>
                    <a:pt x="0" y="0"/>
                  </a:moveTo>
                  <a:lnTo>
                    <a:pt x="402336" y="84581"/>
                  </a:lnTo>
                  <a:lnTo>
                    <a:pt x="0" y="169163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5" name="object 19">
            <a:extLst>
              <a:ext uri="{FF2B5EF4-FFF2-40B4-BE49-F238E27FC236}">
                <a16:creationId xmlns:a16="http://schemas.microsoft.com/office/drawing/2014/main" id="{0994ED0E-802F-979D-9B83-6789D7DB7DC5}"/>
              </a:ext>
            </a:extLst>
          </p:cNvPr>
          <p:cNvSpPr/>
          <p:nvPr/>
        </p:nvSpPr>
        <p:spPr>
          <a:xfrm>
            <a:off x="2875373" y="4815245"/>
            <a:ext cx="985429" cy="3958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object 20">
            <a:extLst>
              <a:ext uri="{FF2B5EF4-FFF2-40B4-BE49-F238E27FC236}">
                <a16:creationId xmlns:a16="http://schemas.microsoft.com/office/drawing/2014/main" id="{4F12D15E-AEB4-013A-9EB3-82218A7A4A90}"/>
              </a:ext>
            </a:extLst>
          </p:cNvPr>
          <p:cNvSpPr/>
          <p:nvPr/>
        </p:nvSpPr>
        <p:spPr>
          <a:xfrm>
            <a:off x="4612030" y="3536020"/>
            <a:ext cx="662717" cy="483266"/>
          </a:xfrm>
          <a:prstGeom prst="rect">
            <a:avLst/>
          </a:prstGeom>
          <a:blipFill>
            <a:blip r:embed="rId3" cstate="print"/>
            <a:stretch>
              <a:fillRect r="-21986"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object 21">
            <a:extLst>
              <a:ext uri="{FF2B5EF4-FFF2-40B4-BE49-F238E27FC236}">
                <a16:creationId xmlns:a16="http://schemas.microsoft.com/office/drawing/2014/main" id="{BC4DB18E-6097-407F-DEA3-EEA1B728F250}"/>
              </a:ext>
            </a:extLst>
          </p:cNvPr>
          <p:cNvSpPr/>
          <p:nvPr/>
        </p:nvSpPr>
        <p:spPr>
          <a:xfrm>
            <a:off x="4713293" y="4936073"/>
            <a:ext cx="586855" cy="603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object 22">
            <a:extLst>
              <a:ext uri="{FF2B5EF4-FFF2-40B4-BE49-F238E27FC236}">
                <a16:creationId xmlns:a16="http://schemas.microsoft.com/office/drawing/2014/main" id="{D32BF726-7705-54D0-6F9A-F4294AD69CAE}"/>
              </a:ext>
            </a:extLst>
          </p:cNvPr>
          <p:cNvSpPr txBox="1"/>
          <p:nvPr/>
        </p:nvSpPr>
        <p:spPr>
          <a:xfrm>
            <a:off x="482876" y="4815245"/>
            <a:ext cx="2340000" cy="4129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/>
            </a:solidFill>
            <a:prstDash val="solid"/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5" dirty="0">
                <a:solidFill>
                  <a:schemeClr val="bg1"/>
                </a:solidFill>
                <a:latin typeface="+mj-lt"/>
                <a:cs typeface="Arial"/>
              </a:rPr>
              <a:t>Unified </a:t>
            </a:r>
            <a:r>
              <a:rPr sz="1300" b="1" spc="-10" dirty="0">
                <a:solidFill>
                  <a:schemeClr val="bg1"/>
                </a:solidFill>
                <a:latin typeface="+mj-lt"/>
                <a:cs typeface="Arial"/>
              </a:rPr>
              <a:t>Payments</a:t>
            </a:r>
            <a:r>
              <a:rPr sz="1300" b="1" spc="2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300" b="1" spc="-5" dirty="0">
                <a:solidFill>
                  <a:schemeClr val="bg1"/>
                </a:solidFill>
                <a:latin typeface="+mj-lt"/>
                <a:cs typeface="Arial"/>
              </a:rPr>
              <a:t>Interface</a:t>
            </a:r>
            <a:endParaRPr sz="1300" dirty="0">
              <a:solidFill>
                <a:schemeClr val="bg1"/>
              </a:solidFill>
              <a:latin typeface="+mj-lt"/>
              <a:cs typeface="Arial"/>
            </a:endParaRPr>
          </a:p>
          <a:p>
            <a:pPr marL="29209">
              <a:lnSpc>
                <a:spcPct val="100000"/>
              </a:lnSpc>
            </a:pP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for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easy payments/</a:t>
            </a:r>
            <a:r>
              <a:rPr sz="1300" spc="-8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transfers</a:t>
            </a:r>
          </a:p>
        </p:txBody>
      </p:sp>
      <p:sp>
        <p:nvSpPr>
          <p:cNvPr id="15" name="object 23">
            <a:extLst>
              <a:ext uri="{FF2B5EF4-FFF2-40B4-BE49-F238E27FC236}">
                <a16:creationId xmlns:a16="http://schemas.microsoft.com/office/drawing/2014/main" id="{D80FF830-0A94-8FBE-1C9C-808382754BC6}"/>
              </a:ext>
            </a:extLst>
          </p:cNvPr>
          <p:cNvSpPr txBox="1"/>
          <p:nvPr/>
        </p:nvSpPr>
        <p:spPr>
          <a:xfrm>
            <a:off x="5321777" y="4881113"/>
            <a:ext cx="2160000" cy="8130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/>
            </a:solidFill>
            <a:prstDash val="solid"/>
          </a:ln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985" algn="ctr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Leveraging </a:t>
            </a:r>
            <a:r>
              <a:rPr sz="1300" b="1" dirty="0">
                <a:solidFill>
                  <a:schemeClr val="bg1"/>
                </a:solidFill>
                <a:latin typeface="+mj-lt"/>
                <a:cs typeface="Arial"/>
              </a:rPr>
              <a:t>robust Credit  </a:t>
            </a:r>
            <a:r>
              <a:rPr sz="1300" b="1" spc="-5" dirty="0">
                <a:solidFill>
                  <a:schemeClr val="bg1"/>
                </a:solidFill>
                <a:latin typeface="+mj-lt"/>
                <a:cs typeface="Arial"/>
              </a:rPr>
              <a:t>Bureau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for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financial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lending  decisions supported by</a:t>
            </a:r>
            <a:r>
              <a:rPr sz="1300" spc="-24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AI/ML 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technology</a:t>
            </a:r>
            <a:endParaRPr sz="13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19" name="object 24">
            <a:extLst>
              <a:ext uri="{FF2B5EF4-FFF2-40B4-BE49-F238E27FC236}">
                <a16:creationId xmlns:a16="http://schemas.microsoft.com/office/drawing/2014/main" id="{E8517B5A-3A4D-05BC-A370-C9C9AE29DB27}"/>
              </a:ext>
            </a:extLst>
          </p:cNvPr>
          <p:cNvSpPr txBox="1"/>
          <p:nvPr/>
        </p:nvSpPr>
        <p:spPr>
          <a:xfrm>
            <a:off x="5321777" y="3464768"/>
            <a:ext cx="2160000" cy="612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/>
            </a:solidFill>
            <a:prstDash val="solid"/>
          </a:ln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chemeClr val="bg1"/>
                </a:solidFill>
                <a:latin typeface="+mj-lt"/>
                <a:cs typeface="Arial"/>
              </a:rPr>
              <a:t>Digital </a:t>
            </a:r>
            <a:r>
              <a:rPr sz="1300" b="1" spc="-5" dirty="0">
                <a:solidFill>
                  <a:schemeClr val="bg1"/>
                </a:solidFill>
                <a:latin typeface="+mj-lt"/>
                <a:cs typeface="Arial"/>
              </a:rPr>
              <a:t>eKYC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Infrastructure for  customer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identifications and</a:t>
            </a:r>
            <a:r>
              <a:rPr sz="1300" spc="-7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easy  account opening/</a:t>
            </a:r>
            <a:r>
              <a:rPr sz="1300" spc="-70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access</a:t>
            </a:r>
            <a:endParaRPr sz="13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21" name="object 25">
            <a:extLst>
              <a:ext uri="{FF2B5EF4-FFF2-40B4-BE49-F238E27FC236}">
                <a16:creationId xmlns:a16="http://schemas.microsoft.com/office/drawing/2014/main" id="{31DB80EB-2177-7FFD-E337-2BD8318FBE25}"/>
              </a:ext>
            </a:extLst>
          </p:cNvPr>
          <p:cNvSpPr txBox="1"/>
          <p:nvPr/>
        </p:nvSpPr>
        <p:spPr>
          <a:xfrm>
            <a:off x="482876" y="3910081"/>
            <a:ext cx="2340000" cy="612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/>
            </a:solidFill>
            <a:prstDash val="solid"/>
          </a:ln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300" b="1" spc="-5" dirty="0">
                <a:solidFill>
                  <a:schemeClr val="bg1"/>
                </a:solidFill>
                <a:latin typeface="+mj-lt"/>
                <a:cs typeface="Arial"/>
              </a:rPr>
              <a:t>Net </a:t>
            </a:r>
            <a:r>
              <a:rPr sz="1300" b="1" spc="-10" dirty="0">
                <a:solidFill>
                  <a:schemeClr val="bg1"/>
                </a:solidFill>
                <a:latin typeface="+mj-lt"/>
                <a:cs typeface="Arial"/>
              </a:rPr>
              <a:t>Guardian’s </a:t>
            </a:r>
            <a:r>
              <a:rPr sz="1300" b="1" spc="-20" dirty="0">
                <a:solidFill>
                  <a:schemeClr val="bg1"/>
                </a:solidFill>
                <a:latin typeface="+mj-lt"/>
                <a:cs typeface="Arial"/>
              </a:rPr>
              <a:t>AI </a:t>
            </a:r>
            <a:r>
              <a:rPr sz="1300" spc="-20" dirty="0">
                <a:solidFill>
                  <a:schemeClr val="bg1"/>
                </a:solidFill>
                <a:latin typeface="+mj-lt"/>
                <a:cs typeface="Arial"/>
              </a:rPr>
              <a:t>Technology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can  be used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to accurately detect 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probability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of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a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fraud</a:t>
            </a:r>
            <a:r>
              <a:rPr sz="1300" spc="-8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happening</a:t>
            </a:r>
            <a:endParaRPr sz="13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59" name="object 26">
            <a:extLst>
              <a:ext uri="{FF2B5EF4-FFF2-40B4-BE49-F238E27FC236}">
                <a16:creationId xmlns:a16="http://schemas.microsoft.com/office/drawing/2014/main" id="{FC45C545-A201-9F06-3B57-C7F6F1AA2AEE}"/>
              </a:ext>
            </a:extLst>
          </p:cNvPr>
          <p:cNvSpPr/>
          <p:nvPr/>
        </p:nvSpPr>
        <p:spPr>
          <a:xfrm>
            <a:off x="2875373" y="3949006"/>
            <a:ext cx="480647" cy="4961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sp>
        <p:nvSpPr>
          <p:cNvPr id="60" name="object 27">
            <a:extLst>
              <a:ext uri="{FF2B5EF4-FFF2-40B4-BE49-F238E27FC236}">
                <a16:creationId xmlns:a16="http://schemas.microsoft.com/office/drawing/2014/main" id="{247A512C-DFB7-DE28-8802-0015F00FBD48}"/>
              </a:ext>
            </a:extLst>
          </p:cNvPr>
          <p:cNvSpPr/>
          <p:nvPr/>
        </p:nvSpPr>
        <p:spPr>
          <a:xfrm>
            <a:off x="2875373" y="2939336"/>
            <a:ext cx="572864" cy="5822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1" name="object 28">
            <a:extLst>
              <a:ext uri="{FF2B5EF4-FFF2-40B4-BE49-F238E27FC236}">
                <a16:creationId xmlns:a16="http://schemas.microsoft.com/office/drawing/2014/main" id="{09EF4A3A-7814-A178-3046-B3547F76B072}"/>
              </a:ext>
            </a:extLst>
          </p:cNvPr>
          <p:cNvSpPr txBox="1"/>
          <p:nvPr/>
        </p:nvSpPr>
        <p:spPr>
          <a:xfrm>
            <a:off x="482876" y="2756596"/>
            <a:ext cx="2340000" cy="10130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/>
            </a:solidFill>
            <a:prstDash val="solid"/>
          </a:ln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1300" b="1" spc="-5" dirty="0">
                <a:solidFill>
                  <a:schemeClr val="bg1"/>
                </a:solidFill>
                <a:latin typeface="+mj-lt"/>
                <a:cs typeface="Arial"/>
              </a:rPr>
              <a:t>Machine </a:t>
            </a:r>
            <a:r>
              <a:rPr sz="1300" b="1" dirty="0">
                <a:solidFill>
                  <a:schemeClr val="bg1"/>
                </a:solidFill>
                <a:latin typeface="+mj-lt"/>
                <a:cs typeface="Arial"/>
              </a:rPr>
              <a:t>Learning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can be  leveraged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to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understand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past</a:t>
            </a:r>
            <a:r>
              <a:rPr sz="1300" spc="-9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usage 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of customer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and according 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investment options can be 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suggested</a:t>
            </a:r>
            <a:endParaRPr sz="13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62" name="object 29">
            <a:extLst>
              <a:ext uri="{FF2B5EF4-FFF2-40B4-BE49-F238E27FC236}">
                <a16:creationId xmlns:a16="http://schemas.microsoft.com/office/drawing/2014/main" id="{EF7FC3D4-A5A2-BC9D-655F-193AE0895748}"/>
              </a:ext>
            </a:extLst>
          </p:cNvPr>
          <p:cNvSpPr/>
          <p:nvPr/>
        </p:nvSpPr>
        <p:spPr>
          <a:xfrm>
            <a:off x="4823195" y="4239218"/>
            <a:ext cx="443085" cy="48326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sp>
        <p:nvSpPr>
          <p:cNvPr id="63" name="object 30">
            <a:extLst>
              <a:ext uri="{FF2B5EF4-FFF2-40B4-BE49-F238E27FC236}">
                <a16:creationId xmlns:a16="http://schemas.microsoft.com/office/drawing/2014/main" id="{5B8BF368-3704-254C-8B61-51E3685C3734}"/>
              </a:ext>
            </a:extLst>
          </p:cNvPr>
          <p:cNvSpPr txBox="1"/>
          <p:nvPr/>
        </p:nvSpPr>
        <p:spPr>
          <a:xfrm>
            <a:off x="5321777" y="4172940"/>
            <a:ext cx="2160000" cy="612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/>
            </a:solidFill>
            <a:prstDash val="solid"/>
          </a:ln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ctr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Emerging </a:t>
            </a:r>
            <a:r>
              <a:rPr sz="1300" b="1" spc="-5" dirty="0">
                <a:solidFill>
                  <a:schemeClr val="bg1"/>
                </a:solidFill>
                <a:latin typeface="+mj-lt"/>
                <a:cs typeface="Arial"/>
              </a:rPr>
              <a:t>OCEN(Open </a:t>
            </a:r>
            <a:r>
              <a:rPr sz="1300" b="1" dirty="0">
                <a:solidFill>
                  <a:schemeClr val="bg1"/>
                </a:solidFill>
                <a:latin typeface="+mj-lt"/>
                <a:cs typeface="Arial"/>
              </a:rPr>
              <a:t>Credit  Enabler Network)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can be  leveraged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to increase user</a:t>
            </a:r>
            <a:r>
              <a:rPr sz="1300" spc="-12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base</a:t>
            </a:r>
          </a:p>
        </p:txBody>
      </p:sp>
      <p:sp>
        <p:nvSpPr>
          <p:cNvPr id="64" name="object 31">
            <a:extLst>
              <a:ext uri="{FF2B5EF4-FFF2-40B4-BE49-F238E27FC236}">
                <a16:creationId xmlns:a16="http://schemas.microsoft.com/office/drawing/2014/main" id="{35CE3DC2-354E-3D33-3091-A7BD0562EA16}"/>
              </a:ext>
            </a:extLst>
          </p:cNvPr>
          <p:cNvSpPr/>
          <p:nvPr/>
        </p:nvSpPr>
        <p:spPr>
          <a:xfrm>
            <a:off x="4731103" y="2783584"/>
            <a:ext cx="535177" cy="5655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sp>
        <p:nvSpPr>
          <p:cNvPr id="65" name="object 32">
            <a:extLst>
              <a:ext uri="{FF2B5EF4-FFF2-40B4-BE49-F238E27FC236}">
                <a16:creationId xmlns:a16="http://schemas.microsoft.com/office/drawing/2014/main" id="{29A4DF26-8973-AD72-01FD-C92345B3183F}"/>
              </a:ext>
            </a:extLst>
          </p:cNvPr>
          <p:cNvSpPr/>
          <p:nvPr/>
        </p:nvSpPr>
        <p:spPr>
          <a:xfrm>
            <a:off x="1527310" y="5603572"/>
            <a:ext cx="741850" cy="2224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sp>
        <p:nvSpPr>
          <p:cNvPr id="66" name="object 33">
            <a:extLst>
              <a:ext uri="{FF2B5EF4-FFF2-40B4-BE49-F238E27FC236}">
                <a16:creationId xmlns:a16="http://schemas.microsoft.com/office/drawing/2014/main" id="{0538A62B-2800-10BE-4E38-E247B3BC0417}"/>
              </a:ext>
            </a:extLst>
          </p:cNvPr>
          <p:cNvSpPr txBox="1"/>
          <p:nvPr/>
        </p:nvSpPr>
        <p:spPr>
          <a:xfrm>
            <a:off x="2304058" y="5436769"/>
            <a:ext cx="2268567" cy="612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/>
            </a:solidFill>
            <a:prstDash val="solid"/>
          </a:ln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chemeClr val="bg1"/>
                </a:solidFill>
                <a:latin typeface="+mj-lt"/>
                <a:cs typeface="Arial"/>
              </a:rPr>
              <a:t>Payment </a:t>
            </a:r>
            <a:r>
              <a:rPr sz="1300" b="1" dirty="0">
                <a:solidFill>
                  <a:schemeClr val="bg1"/>
                </a:solidFill>
                <a:latin typeface="+mj-lt"/>
                <a:cs typeface="Arial"/>
              </a:rPr>
              <a:t>gateway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and debit/credit 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cards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powered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by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international  brands</a:t>
            </a:r>
            <a:endParaRPr sz="13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67" name="object 34">
            <a:extLst>
              <a:ext uri="{FF2B5EF4-FFF2-40B4-BE49-F238E27FC236}">
                <a16:creationId xmlns:a16="http://schemas.microsoft.com/office/drawing/2014/main" id="{FE321216-45DC-876C-E67E-DF7EB546185F}"/>
              </a:ext>
            </a:extLst>
          </p:cNvPr>
          <p:cNvSpPr txBox="1"/>
          <p:nvPr/>
        </p:nvSpPr>
        <p:spPr>
          <a:xfrm>
            <a:off x="5321777" y="2756596"/>
            <a:ext cx="2160000" cy="6129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/>
            </a:solidFill>
            <a:prstDash val="solid"/>
          </a:ln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Customer-friendly </a:t>
            </a:r>
            <a:r>
              <a:rPr sz="1300" b="1" spc="-5" dirty="0">
                <a:solidFill>
                  <a:schemeClr val="bg1"/>
                </a:solidFill>
                <a:latin typeface="+mj-lt"/>
                <a:cs typeface="Arial"/>
              </a:rPr>
              <a:t>chatbots</a:t>
            </a:r>
            <a:r>
              <a:rPr sz="1300" b="1" spc="-3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300" dirty="0">
                <a:solidFill>
                  <a:schemeClr val="bg1"/>
                </a:solidFill>
                <a:latin typeface="+mj-lt"/>
                <a:cs typeface="Arial"/>
              </a:rPr>
              <a:t>for  24*7 solutions and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customized  grievance</a:t>
            </a:r>
            <a:r>
              <a:rPr sz="1300" spc="-2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300" spc="-5" dirty="0">
                <a:solidFill>
                  <a:schemeClr val="bg1"/>
                </a:solidFill>
                <a:latin typeface="+mj-lt"/>
                <a:cs typeface="Arial"/>
              </a:rPr>
              <a:t>resolution</a:t>
            </a:r>
            <a:endParaRPr sz="13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73" name="object 35">
            <a:extLst>
              <a:ext uri="{FF2B5EF4-FFF2-40B4-BE49-F238E27FC236}">
                <a16:creationId xmlns:a16="http://schemas.microsoft.com/office/drawing/2014/main" id="{18E0A28B-41BE-68B8-24B1-339A2FA2D98C}"/>
              </a:ext>
            </a:extLst>
          </p:cNvPr>
          <p:cNvSpPr/>
          <p:nvPr/>
        </p:nvSpPr>
        <p:spPr>
          <a:xfrm>
            <a:off x="3414722" y="3302449"/>
            <a:ext cx="1127858" cy="1018774"/>
          </a:xfrm>
          <a:prstGeom prst="rect">
            <a:avLst/>
          </a:prstGeom>
          <a:blipFill>
            <a:blip r:embed="rId10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7" name="object 36">
            <a:extLst>
              <a:ext uri="{FF2B5EF4-FFF2-40B4-BE49-F238E27FC236}">
                <a16:creationId xmlns:a16="http://schemas.microsoft.com/office/drawing/2014/main" id="{16724C2D-24AA-D04F-C90F-FECC0AB9E344}"/>
              </a:ext>
            </a:extLst>
          </p:cNvPr>
          <p:cNvSpPr txBox="1"/>
          <p:nvPr/>
        </p:nvSpPr>
        <p:spPr>
          <a:xfrm>
            <a:off x="933094" y="990969"/>
            <a:ext cx="10560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chemeClr val="bg1"/>
                </a:solidFill>
                <a:latin typeface="+mj-lt"/>
                <a:cs typeface="Arial"/>
              </a:rPr>
              <a:t>AI</a:t>
            </a:r>
            <a:r>
              <a:rPr sz="1200" b="1" spc="-8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200" b="1" spc="-5" dirty="0">
                <a:solidFill>
                  <a:schemeClr val="bg1"/>
                </a:solidFill>
                <a:latin typeface="+mj-lt"/>
                <a:cs typeface="Arial"/>
              </a:rPr>
              <a:t>Automation</a:t>
            </a:r>
            <a:endParaRPr sz="120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79" name="object 43">
            <a:extLst>
              <a:ext uri="{FF2B5EF4-FFF2-40B4-BE49-F238E27FC236}">
                <a16:creationId xmlns:a16="http://schemas.microsoft.com/office/drawing/2014/main" id="{026C5F3A-7FAF-402C-664D-5458A0CE7B0E}"/>
              </a:ext>
            </a:extLst>
          </p:cNvPr>
          <p:cNvSpPr/>
          <p:nvPr/>
        </p:nvSpPr>
        <p:spPr>
          <a:xfrm>
            <a:off x="416171" y="1333343"/>
            <a:ext cx="2799944" cy="1153795"/>
          </a:xfrm>
          <a:custGeom>
            <a:avLst/>
            <a:gdLst/>
            <a:ahLst/>
            <a:cxnLst/>
            <a:rect l="l" t="t" r="r" b="b"/>
            <a:pathLst>
              <a:path w="2656840" h="1153795">
                <a:moveTo>
                  <a:pt x="2598674" y="0"/>
                </a:moveTo>
                <a:lnTo>
                  <a:pt x="57683" y="0"/>
                </a:lnTo>
                <a:lnTo>
                  <a:pt x="35232" y="4526"/>
                </a:lnTo>
                <a:lnTo>
                  <a:pt x="16897" y="16875"/>
                </a:lnTo>
                <a:lnTo>
                  <a:pt x="4533" y="35200"/>
                </a:lnTo>
                <a:lnTo>
                  <a:pt x="0" y="57657"/>
                </a:lnTo>
                <a:lnTo>
                  <a:pt x="0" y="1096009"/>
                </a:lnTo>
                <a:lnTo>
                  <a:pt x="4533" y="1118467"/>
                </a:lnTo>
                <a:lnTo>
                  <a:pt x="16897" y="1136792"/>
                </a:lnTo>
                <a:lnTo>
                  <a:pt x="35232" y="1149141"/>
                </a:lnTo>
                <a:lnTo>
                  <a:pt x="57683" y="1153667"/>
                </a:lnTo>
                <a:lnTo>
                  <a:pt x="2598674" y="1153667"/>
                </a:lnTo>
                <a:lnTo>
                  <a:pt x="2621131" y="1149141"/>
                </a:lnTo>
                <a:lnTo>
                  <a:pt x="2639456" y="1136792"/>
                </a:lnTo>
                <a:lnTo>
                  <a:pt x="2651805" y="1118467"/>
                </a:lnTo>
                <a:lnTo>
                  <a:pt x="2656332" y="1096009"/>
                </a:lnTo>
                <a:lnTo>
                  <a:pt x="2656332" y="57657"/>
                </a:lnTo>
                <a:lnTo>
                  <a:pt x="2651805" y="35200"/>
                </a:lnTo>
                <a:lnTo>
                  <a:pt x="2639456" y="16875"/>
                </a:lnTo>
                <a:lnTo>
                  <a:pt x="2621131" y="4526"/>
                </a:lnTo>
                <a:lnTo>
                  <a:pt x="2598674" y="0"/>
                </a:lnTo>
                <a:close/>
              </a:path>
            </a:pathLst>
          </a:custGeom>
          <a:solidFill>
            <a:srgbClr val="F6E5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sp>
        <p:nvSpPr>
          <p:cNvPr id="81" name="object 44">
            <a:extLst>
              <a:ext uri="{FF2B5EF4-FFF2-40B4-BE49-F238E27FC236}">
                <a16:creationId xmlns:a16="http://schemas.microsoft.com/office/drawing/2014/main" id="{480630C6-9EA0-FECF-95B4-BB60C6397B43}"/>
              </a:ext>
            </a:extLst>
          </p:cNvPr>
          <p:cNvSpPr txBox="1"/>
          <p:nvPr/>
        </p:nvSpPr>
        <p:spPr>
          <a:xfrm>
            <a:off x="440542" y="1395886"/>
            <a:ext cx="2722106" cy="964367"/>
          </a:xfrm>
          <a:prstGeom prst="rect">
            <a:avLst/>
          </a:prstGeom>
          <a:solidFill>
            <a:srgbClr val="F6E5FF"/>
          </a:solidFill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ct val="86400"/>
              </a:lnSpc>
              <a:spcBef>
                <a:spcPts val="295"/>
              </a:spcBef>
            </a:pP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The </a:t>
            </a:r>
            <a:r>
              <a:rPr lang="en-IN" sz="1400" spc="-5" dirty="0">
                <a:solidFill>
                  <a:schemeClr val="bg1"/>
                </a:solidFill>
                <a:latin typeface="+mj-lt"/>
                <a:cs typeface="Arial"/>
              </a:rPr>
              <a:t>challenger bank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can  use artificial intelligence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(AI) 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algorithms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to identify the 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requirements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of customers 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and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match them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with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its 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offerings.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82" name="object 46">
            <a:extLst>
              <a:ext uri="{FF2B5EF4-FFF2-40B4-BE49-F238E27FC236}">
                <a16:creationId xmlns:a16="http://schemas.microsoft.com/office/drawing/2014/main" id="{775B54E0-940E-9261-9193-5AE695A13452}"/>
              </a:ext>
            </a:extLst>
          </p:cNvPr>
          <p:cNvSpPr/>
          <p:nvPr/>
        </p:nvSpPr>
        <p:spPr>
          <a:xfrm>
            <a:off x="3310095" y="1333343"/>
            <a:ext cx="2702560" cy="1153795"/>
          </a:xfrm>
          <a:custGeom>
            <a:avLst/>
            <a:gdLst/>
            <a:ahLst/>
            <a:cxnLst/>
            <a:rect l="l" t="t" r="r" b="b"/>
            <a:pathLst>
              <a:path w="2702560" h="1153795">
                <a:moveTo>
                  <a:pt x="2644394" y="0"/>
                </a:moveTo>
                <a:lnTo>
                  <a:pt x="57658" y="0"/>
                </a:lnTo>
                <a:lnTo>
                  <a:pt x="35200" y="4526"/>
                </a:lnTo>
                <a:lnTo>
                  <a:pt x="16875" y="16875"/>
                </a:lnTo>
                <a:lnTo>
                  <a:pt x="4526" y="35200"/>
                </a:lnTo>
                <a:lnTo>
                  <a:pt x="0" y="57657"/>
                </a:lnTo>
                <a:lnTo>
                  <a:pt x="0" y="1096009"/>
                </a:lnTo>
                <a:lnTo>
                  <a:pt x="4526" y="1118467"/>
                </a:lnTo>
                <a:lnTo>
                  <a:pt x="16875" y="1136792"/>
                </a:lnTo>
                <a:lnTo>
                  <a:pt x="35200" y="1149141"/>
                </a:lnTo>
                <a:lnTo>
                  <a:pt x="57658" y="1153667"/>
                </a:lnTo>
                <a:lnTo>
                  <a:pt x="2644394" y="1153667"/>
                </a:lnTo>
                <a:lnTo>
                  <a:pt x="2666851" y="1149141"/>
                </a:lnTo>
                <a:lnTo>
                  <a:pt x="2685176" y="1136792"/>
                </a:lnTo>
                <a:lnTo>
                  <a:pt x="2697525" y="1118467"/>
                </a:lnTo>
                <a:lnTo>
                  <a:pt x="2702052" y="1096009"/>
                </a:lnTo>
                <a:lnTo>
                  <a:pt x="2702052" y="57657"/>
                </a:lnTo>
                <a:lnTo>
                  <a:pt x="2697525" y="35200"/>
                </a:lnTo>
                <a:lnTo>
                  <a:pt x="2685176" y="16875"/>
                </a:lnTo>
                <a:lnTo>
                  <a:pt x="2666851" y="4526"/>
                </a:lnTo>
                <a:lnTo>
                  <a:pt x="2644394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sp>
        <p:nvSpPr>
          <p:cNvPr id="83" name="object 49">
            <a:extLst>
              <a:ext uri="{FF2B5EF4-FFF2-40B4-BE49-F238E27FC236}">
                <a16:creationId xmlns:a16="http://schemas.microsoft.com/office/drawing/2014/main" id="{E978C245-4C8E-9EAD-14AC-6C490BF87643}"/>
              </a:ext>
            </a:extLst>
          </p:cNvPr>
          <p:cNvSpPr txBox="1"/>
          <p:nvPr/>
        </p:nvSpPr>
        <p:spPr>
          <a:xfrm>
            <a:off x="3472527" y="1334613"/>
            <a:ext cx="2515363" cy="9654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ct val="86400"/>
              </a:lnSpc>
              <a:spcBef>
                <a:spcPts val="295"/>
              </a:spcBef>
            </a:pP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AI tool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can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assist contact  center team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by sharing  relevant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details about the 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probable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customer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so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that  the company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can pitch</a:t>
            </a:r>
            <a:r>
              <a:rPr sz="1400" spc="-100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them  the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appropriate</a:t>
            </a:r>
            <a:r>
              <a:rPr sz="1400" spc="-3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product.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84" name="object 50">
            <a:extLst>
              <a:ext uri="{FF2B5EF4-FFF2-40B4-BE49-F238E27FC236}">
                <a16:creationId xmlns:a16="http://schemas.microsoft.com/office/drawing/2014/main" id="{EDC1590D-5A16-F5E5-BE5F-7CCD94E7EEEA}"/>
              </a:ext>
            </a:extLst>
          </p:cNvPr>
          <p:cNvSpPr/>
          <p:nvPr/>
        </p:nvSpPr>
        <p:spPr>
          <a:xfrm>
            <a:off x="6082251" y="1333343"/>
            <a:ext cx="2677795" cy="1153795"/>
          </a:xfrm>
          <a:custGeom>
            <a:avLst/>
            <a:gdLst/>
            <a:ahLst/>
            <a:cxnLst/>
            <a:rect l="l" t="t" r="r" b="b"/>
            <a:pathLst>
              <a:path w="2677795" h="1153795">
                <a:moveTo>
                  <a:pt x="2620009" y="0"/>
                </a:moveTo>
                <a:lnTo>
                  <a:pt x="57657" y="0"/>
                </a:lnTo>
                <a:lnTo>
                  <a:pt x="35200" y="4526"/>
                </a:lnTo>
                <a:lnTo>
                  <a:pt x="16875" y="16875"/>
                </a:lnTo>
                <a:lnTo>
                  <a:pt x="4526" y="35200"/>
                </a:lnTo>
                <a:lnTo>
                  <a:pt x="0" y="57657"/>
                </a:lnTo>
                <a:lnTo>
                  <a:pt x="0" y="1096009"/>
                </a:lnTo>
                <a:lnTo>
                  <a:pt x="4526" y="1118467"/>
                </a:lnTo>
                <a:lnTo>
                  <a:pt x="16875" y="1136792"/>
                </a:lnTo>
                <a:lnTo>
                  <a:pt x="35200" y="1149141"/>
                </a:lnTo>
                <a:lnTo>
                  <a:pt x="57657" y="1153667"/>
                </a:lnTo>
                <a:lnTo>
                  <a:pt x="2620009" y="1153667"/>
                </a:lnTo>
                <a:lnTo>
                  <a:pt x="2642467" y="1149141"/>
                </a:lnTo>
                <a:lnTo>
                  <a:pt x="2660792" y="1136792"/>
                </a:lnTo>
                <a:lnTo>
                  <a:pt x="2673141" y="1118467"/>
                </a:lnTo>
                <a:lnTo>
                  <a:pt x="2677667" y="1096009"/>
                </a:lnTo>
                <a:lnTo>
                  <a:pt x="2677667" y="57657"/>
                </a:lnTo>
                <a:lnTo>
                  <a:pt x="2673141" y="35200"/>
                </a:lnTo>
                <a:lnTo>
                  <a:pt x="2660792" y="16875"/>
                </a:lnTo>
                <a:lnTo>
                  <a:pt x="2642467" y="4526"/>
                </a:lnTo>
                <a:lnTo>
                  <a:pt x="2620009" y="0"/>
                </a:lnTo>
                <a:close/>
              </a:path>
            </a:pathLst>
          </a:custGeom>
          <a:solidFill>
            <a:srgbClr val="F6E5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sp>
        <p:nvSpPr>
          <p:cNvPr id="90" name="object 51">
            <a:extLst>
              <a:ext uri="{FF2B5EF4-FFF2-40B4-BE49-F238E27FC236}">
                <a16:creationId xmlns:a16="http://schemas.microsoft.com/office/drawing/2014/main" id="{A6EDD794-2EE1-5CF1-725E-6D89FB3896B2}"/>
              </a:ext>
            </a:extLst>
          </p:cNvPr>
          <p:cNvSpPr txBox="1"/>
          <p:nvPr/>
        </p:nvSpPr>
        <p:spPr>
          <a:xfrm>
            <a:off x="6203027" y="1334613"/>
            <a:ext cx="2409571" cy="965457"/>
          </a:xfrm>
          <a:prstGeom prst="rect">
            <a:avLst/>
          </a:prstGeom>
          <a:solidFill>
            <a:srgbClr val="F6E5FF"/>
          </a:solidFill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ct val="86400"/>
              </a:lnSpc>
              <a:spcBef>
                <a:spcPts val="295"/>
              </a:spcBef>
            </a:pP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The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system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can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also be</a:t>
            </a:r>
            <a:r>
              <a:rPr sz="1400" spc="-60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used 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to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suggest what 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recommendations can be  </a:t>
            </a:r>
            <a:r>
              <a:rPr sz="1400" spc="-10" dirty="0">
                <a:solidFill>
                  <a:schemeClr val="bg1"/>
                </a:solidFill>
                <a:latin typeface="+mj-lt"/>
                <a:cs typeface="Arial"/>
              </a:rPr>
              <a:t>given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to the potential  </a:t>
            </a:r>
            <a:r>
              <a:rPr sz="1400" spc="-10" dirty="0">
                <a:solidFill>
                  <a:schemeClr val="bg1"/>
                </a:solidFill>
                <a:latin typeface="+mj-lt"/>
                <a:cs typeface="Arial"/>
              </a:rPr>
              <a:t>customer,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thus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saving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time 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and</a:t>
            </a:r>
            <a:r>
              <a:rPr sz="1400" spc="-1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cost.</a:t>
            </a:r>
          </a:p>
        </p:txBody>
      </p:sp>
      <p:sp>
        <p:nvSpPr>
          <p:cNvPr id="92" name="object 53">
            <a:extLst>
              <a:ext uri="{FF2B5EF4-FFF2-40B4-BE49-F238E27FC236}">
                <a16:creationId xmlns:a16="http://schemas.microsoft.com/office/drawing/2014/main" id="{A2546DAC-9863-0D0C-FA88-645C3327F783}"/>
              </a:ext>
            </a:extLst>
          </p:cNvPr>
          <p:cNvSpPr/>
          <p:nvPr/>
        </p:nvSpPr>
        <p:spPr>
          <a:xfrm>
            <a:off x="8854406" y="1333343"/>
            <a:ext cx="2921423" cy="1153795"/>
          </a:xfrm>
          <a:custGeom>
            <a:avLst/>
            <a:gdLst/>
            <a:ahLst/>
            <a:cxnLst/>
            <a:rect l="l" t="t" r="r" b="b"/>
            <a:pathLst>
              <a:path w="2677795" h="1153795">
                <a:moveTo>
                  <a:pt x="2620009" y="0"/>
                </a:moveTo>
                <a:lnTo>
                  <a:pt x="57657" y="0"/>
                </a:lnTo>
                <a:lnTo>
                  <a:pt x="35200" y="4526"/>
                </a:lnTo>
                <a:lnTo>
                  <a:pt x="16875" y="16875"/>
                </a:lnTo>
                <a:lnTo>
                  <a:pt x="4526" y="35200"/>
                </a:lnTo>
                <a:lnTo>
                  <a:pt x="0" y="57657"/>
                </a:lnTo>
                <a:lnTo>
                  <a:pt x="0" y="1096009"/>
                </a:lnTo>
                <a:lnTo>
                  <a:pt x="4526" y="1118467"/>
                </a:lnTo>
                <a:lnTo>
                  <a:pt x="16875" y="1136792"/>
                </a:lnTo>
                <a:lnTo>
                  <a:pt x="35200" y="1149141"/>
                </a:lnTo>
                <a:lnTo>
                  <a:pt x="57657" y="1153667"/>
                </a:lnTo>
                <a:lnTo>
                  <a:pt x="2620009" y="1153667"/>
                </a:lnTo>
                <a:lnTo>
                  <a:pt x="2642467" y="1149141"/>
                </a:lnTo>
                <a:lnTo>
                  <a:pt x="2660792" y="1136792"/>
                </a:lnTo>
                <a:lnTo>
                  <a:pt x="2673141" y="1118467"/>
                </a:lnTo>
                <a:lnTo>
                  <a:pt x="2677668" y="1096009"/>
                </a:lnTo>
                <a:lnTo>
                  <a:pt x="2677668" y="57657"/>
                </a:lnTo>
                <a:lnTo>
                  <a:pt x="2673141" y="35200"/>
                </a:lnTo>
                <a:lnTo>
                  <a:pt x="2660792" y="16875"/>
                </a:lnTo>
                <a:lnTo>
                  <a:pt x="2642467" y="4526"/>
                </a:lnTo>
                <a:lnTo>
                  <a:pt x="2620009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sp>
        <p:nvSpPr>
          <p:cNvPr id="93" name="object 56">
            <a:extLst>
              <a:ext uri="{FF2B5EF4-FFF2-40B4-BE49-F238E27FC236}">
                <a16:creationId xmlns:a16="http://schemas.microsoft.com/office/drawing/2014/main" id="{F1A6AB66-A8C7-5DEB-319E-DB20474877CA}"/>
              </a:ext>
            </a:extLst>
          </p:cNvPr>
          <p:cNvSpPr txBox="1"/>
          <p:nvPr/>
        </p:nvSpPr>
        <p:spPr>
          <a:xfrm>
            <a:off x="8999695" y="1334613"/>
            <a:ext cx="2633029" cy="9654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ct val="86400"/>
              </a:lnSpc>
              <a:spcBef>
                <a:spcPts val="295"/>
              </a:spcBef>
            </a:pP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The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mobile app </a:t>
            </a:r>
            <a:r>
              <a:rPr sz="1400" spc="-10" dirty="0">
                <a:solidFill>
                  <a:schemeClr val="bg1"/>
                </a:solidFill>
                <a:latin typeface="+mj-lt"/>
                <a:cs typeface="Arial"/>
              </a:rPr>
              <a:t>will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be  powered by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AI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and data  analytics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to assess the 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eligibility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of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a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potential  customer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and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to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ensure  </a:t>
            </a:r>
            <a:r>
              <a:rPr sz="1400" dirty="0">
                <a:solidFill>
                  <a:schemeClr val="bg1"/>
                </a:solidFill>
                <a:latin typeface="+mj-lt"/>
                <a:cs typeface="Arial"/>
              </a:rPr>
              <a:t>minimum</a:t>
            </a:r>
            <a:r>
              <a:rPr sz="1400" spc="-50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spc="-5" dirty="0">
                <a:solidFill>
                  <a:schemeClr val="bg1"/>
                </a:solidFill>
                <a:latin typeface="+mj-lt"/>
                <a:cs typeface="Arial"/>
              </a:rPr>
              <a:t>documentation.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122" name="object 91">
            <a:extLst>
              <a:ext uri="{FF2B5EF4-FFF2-40B4-BE49-F238E27FC236}">
                <a16:creationId xmlns:a16="http://schemas.microsoft.com/office/drawing/2014/main" id="{17CE5A63-428D-C80B-80D1-48C38FF4C0E0}"/>
              </a:ext>
            </a:extLst>
          </p:cNvPr>
          <p:cNvSpPr/>
          <p:nvPr/>
        </p:nvSpPr>
        <p:spPr>
          <a:xfrm>
            <a:off x="7720388" y="2655781"/>
            <a:ext cx="2268033" cy="318990"/>
          </a:xfrm>
          <a:custGeom>
            <a:avLst/>
            <a:gdLst/>
            <a:ahLst/>
            <a:cxnLst/>
            <a:rect l="l" t="t" r="r" b="b"/>
            <a:pathLst>
              <a:path w="5469890" h="253364">
                <a:moveTo>
                  <a:pt x="0" y="42163"/>
                </a:moveTo>
                <a:lnTo>
                  <a:pt x="3319" y="25771"/>
                </a:lnTo>
                <a:lnTo>
                  <a:pt x="12366" y="12366"/>
                </a:lnTo>
                <a:lnTo>
                  <a:pt x="25771" y="3319"/>
                </a:lnTo>
                <a:lnTo>
                  <a:pt x="42164" y="0"/>
                </a:lnTo>
                <a:lnTo>
                  <a:pt x="5427472" y="0"/>
                </a:lnTo>
                <a:lnTo>
                  <a:pt x="5443864" y="3319"/>
                </a:lnTo>
                <a:lnTo>
                  <a:pt x="5457269" y="12366"/>
                </a:lnTo>
                <a:lnTo>
                  <a:pt x="5466316" y="25771"/>
                </a:lnTo>
                <a:lnTo>
                  <a:pt x="5469635" y="42163"/>
                </a:lnTo>
                <a:lnTo>
                  <a:pt x="5469635" y="210819"/>
                </a:lnTo>
                <a:lnTo>
                  <a:pt x="5466316" y="227212"/>
                </a:lnTo>
                <a:lnTo>
                  <a:pt x="5457269" y="240617"/>
                </a:lnTo>
                <a:lnTo>
                  <a:pt x="5443864" y="249664"/>
                </a:lnTo>
                <a:lnTo>
                  <a:pt x="5427472" y="252983"/>
                </a:lnTo>
                <a:lnTo>
                  <a:pt x="42164" y="252983"/>
                </a:lnTo>
                <a:lnTo>
                  <a:pt x="25771" y="249664"/>
                </a:lnTo>
                <a:lnTo>
                  <a:pt x="12366" y="240617"/>
                </a:lnTo>
                <a:lnTo>
                  <a:pt x="3319" y="227212"/>
                </a:lnTo>
                <a:lnTo>
                  <a:pt x="0" y="210819"/>
                </a:lnTo>
                <a:lnTo>
                  <a:pt x="0" y="42163"/>
                </a:lnTo>
                <a:close/>
              </a:path>
            </a:pathLst>
          </a:custGeom>
          <a:ln w="12700"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sp>
        <p:nvSpPr>
          <p:cNvPr id="123" name="object 93">
            <a:extLst>
              <a:ext uri="{FF2B5EF4-FFF2-40B4-BE49-F238E27FC236}">
                <a16:creationId xmlns:a16="http://schemas.microsoft.com/office/drawing/2014/main" id="{96FFFCAB-0ACD-5A7E-D70B-A48693E1F3CA}"/>
              </a:ext>
            </a:extLst>
          </p:cNvPr>
          <p:cNvSpPr txBox="1"/>
          <p:nvPr/>
        </p:nvSpPr>
        <p:spPr>
          <a:xfrm>
            <a:off x="7615744" y="3006488"/>
            <a:ext cx="2126556" cy="3182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Data Encryption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Login Protections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Blockchain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US" sz="1400" dirty="0">
                <a:solidFill>
                  <a:schemeClr val="bg1"/>
                </a:solidFill>
                <a:latin typeface="+mj-lt"/>
                <a:cs typeface="Arial"/>
              </a:rPr>
              <a:t>A</a:t>
            </a: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PI Deployment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Financial Services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App Development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Brokers Integration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SMS Tracking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Email Tracking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Cloud Banking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US" sz="1400" dirty="0">
                <a:solidFill>
                  <a:schemeClr val="bg1"/>
                </a:solidFill>
                <a:latin typeface="+mj-lt"/>
                <a:cs typeface="Arial"/>
              </a:rPr>
              <a:t>B</a:t>
            </a:r>
            <a:r>
              <a:rPr lang="en-IN" sz="1400" dirty="0" err="1">
                <a:solidFill>
                  <a:schemeClr val="bg1"/>
                </a:solidFill>
                <a:latin typeface="+mj-lt"/>
                <a:cs typeface="Arial"/>
              </a:rPr>
              <a:t>iometrics</a:t>
            </a:r>
            <a:endParaRPr lang="en-IN" sz="1400" dirty="0">
              <a:solidFill>
                <a:schemeClr val="bg1"/>
              </a:solidFill>
              <a:latin typeface="+mj-lt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Wearable Payment Technology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US" sz="1400" dirty="0">
                <a:solidFill>
                  <a:schemeClr val="bg1"/>
                </a:solidFill>
                <a:latin typeface="+mj-lt"/>
                <a:cs typeface="Arial"/>
              </a:rPr>
              <a:t>V</a:t>
            </a:r>
            <a:r>
              <a:rPr lang="en-IN" sz="1400" dirty="0" err="1">
                <a:solidFill>
                  <a:schemeClr val="bg1"/>
                </a:solidFill>
                <a:latin typeface="+mj-lt"/>
                <a:cs typeface="Arial"/>
              </a:rPr>
              <a:t>oice</a:t>
            </a: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 enabled chatbot</a:t>
            </a:r>
          </a:p>
        </p:txBody>
      </p:sp>
      <p:sp>
        <p:nvSpPr>
          <p:cNvPr id="125" name="object 75">
            <a:extLst>
              <a:ext uri="{FF2B5EF4-FFF2-40B4-BE49-F238E27FC236}">
                <a16:creationId xmlns:a16="http://schemas.microsoft.com/office/drawing/2014/main" id="{3966DD0B-20A9-B240-66EF-20075D4A3AA0}"/>
              </a:ext>
            </a:extLst>
          </p:cNvPr>
          <p:cNvSpPr txBox="1"/>
          <p:nvPr/>
        </p:nvSpPr>
        <p:spPr>
          <a:xfrm>
            <a:off x="10226471" y="2977613"/>
            <a:ext cx="1477492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chemeClr val="bg1"/>
                </a:solidFill>
                <a:latin typeface="+mj-lt"/>
                <a:cs typeface="Arial"/>
              </a:rPr>
              <a:t>SEBI </a:t>
            </a:r>
            <a:r>
              <a:rPr sz="1400" b="1" dirty="0">
                <a:solidFill>
                  <a:schemeClr val="bg1"/>
                </a:solidFill>
                <a:latin typeface="+mj-lt"/>
                <a:cs typeface="Arial"/>
              </a:rPr>
              <a:t>– </a:t>
            </a:r>
            <a:r>
              <a:rPr sz="1400" b="1" spc="-5" dirty="0">
                <a:solidFill>
                  <a:schemeClr val="bg1"/>
                </a:solidFill>
                <a:latin typeface="+mj-lt"/>
                <a:cs typeface="Arial"/>
              </a:rPr>
              <a:t>RIA</a:t>
            </a:r>
            <a:r>
              <a:rPr sz="1400" b="1" spc="-120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b="1" dirty="0">
                <a:solidFill>
                  <a:schemeClr val="bg1"/>
                </a:solidFill>
                <a:latin typeface="+mj-lt"/>
                <a:cs typeface="Arial"/>
              </a:rPr>
              <a:t>license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126" name="object 76">
            <a:extLst>
              <a:ext uri="{FF2B5EF4-FFF2-40B4-BE49-F238E27FC236}">
                <a16:creationId xmlns:a16="http://schemas.microsoft.com/office/drawing/2014/main" id="{9D81519A-87DA-4508-5CDE-6F787762BBC9}"/>
              </a:ext>
            </a:extLst>
          </p:cNvPr>
          <p:cNvSpPr txBox="1"/>
          <p:nvPr/>
        </p:nvSpPr>
        <p:spPr>
          <a:xfrm>
            <a:off x="10226471" y="3373848"/>
            <a:ext cx="144977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chemeClr val="bg1"/>
                </a:solidFill>
                <a:latin typeface="+mj-lt"/>
                <a:cs typeface="Arial"/>
              </a:rPr>
              <a:t>IRDA Insurance Corporate</a:t>
            </a:r>
            <a:r>
              <a:rPr sz="1400" b="1" spc="-175" dirty="0">
                <a:solidFill>
                  <a:schemeClr val="bg1"/>
                </a:solidFill>
                <a:latin typeface="+mj-lt"/>
                <a:cs typeface="Arial"/>
              </a:rPr>
              <a:t> </a:t>
            </a:r>
            <a:r>
              <a:rPr sz="1400" b="1" spc="-10" dirty="0">
                <a:solidFill>
                  <a:schemeClr val="bg1"/>
                </a:solidFill>
                <a:latin typeface="+mj-lt"/>
                <a:cs typeface="Arial"/>
              </a:rPr>
              <a:t>Agency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128" name="object 87">
            <a:extLst>
              <a:ext uri="{FF2B5EF4-FFF2-40B4-BE49-F238E27FC236}">
                <a16:creationId xmlns:a16="http://schemas.microsoft.com/office/drawing/2014/main" id="{5EA9AB9B-C780-3EEF-E043-F752E94A9708}"/>
              </a:ext>
            </a:extLst>
          </p:cNvPr>
          <p:cNvSpPr/>
          <p:nvPr/>
        </p:nvSpPr>
        <p:spPr>
          <a:xfrm>
            <a:off x="9802585" y="3347961"/>
            <a:ext cx="388620" cy="4320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30" name="Graphic 129" descr="Internet Banking with solid fill">
            <a:extLst>
              <a:ext uri="{FF2B5EF4-FFF2-40B4-BE49-F238E27FC236}">
                <a16:creationId xmlns:a16="http://schemas.microsoft.com/office/drawing/2014/main" id="{9D33F05B-63BD-45A5-F68B-51665D753D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02585" y="4045426"/>
            <a:ext cx="432000" cy="432000"/>
          </a:xfrm>
          <a:prstGeom prst="rect">
            <a:avLst/>
          </a:prstGeom>
        </p:spPr>
      </p:pic>
      <p:sp>
        <p:nvSpPr>
          <p:cNvPr id="131" name="object 76">
            <a:extLst>
              <a:ext uri="{FF2B5EF4-FFF2-40B4-BE49-F238E27FC236}">
                <a16:creationId xmlns:a16="http://schemas.microsoft.com/office/drawing/2014/main" id="{6B0AD2A0-01F6-6FC8-7C61-997BEDEC0066}"/>
              </a:ext>
            </a:extLst>
          </p:cNvPr>
          <p:cNvSpPr txBox="1"/>
          <p:nvPr/>
        </p:nvSpPr>
        <p:spPr>
          <a:xfrm>
            <a:off x="10226471" y="4028388"/>
            <a:ext cx="147749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b="1" spc="-5" dirty="0">
                <a:solidFill>
                  <a:schemeClr val="bg1"/>
                </a:solidFill>
                <a:latin typeface="+mj-lt"/>
                <a:cs typeface="Arial"/>
              </a:rPr>
              <a:t>Mutual Fund Licence</a:t>
            </a:r>
            <a:endParaRPr sz="1400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sp>
        <p:nvSpPr>
          <p:cNvPr id="133" name="object 93">
            <a:extLst>
              <a:ext uri="{FF2B5EF4-FFF2-40B4-BE49-F238E27FC236}">
                <a16:creationId xmlns:a16="http://schemas.microsoft.com/office/drawing/2014/main" id="{D9BE08BD-0C4E-8FF1-8F72-090F3DD2B107}"/>
              </a:ext>
            </a:extLst>
          </p:cNvPr>
          <p:cNvSpPr txBox="1"/>
          <p:nvPr/>
        </p:nvSpPr>
        <p:spPr>
          <a:xfrm>
            <a:off x="9809637" y="4996180"/>
            <a:ext cx="1966192" cy="9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Mutual Fund Brokers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Stock Brokers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Insurance Partners</a:t>
            </a:r>
          </a:p>
          <a:p>
            <a:pPr marL="299085" indent="-287020">
              <a:lnSpc>
                <a:spcPct val="100000"/>
              </a:lnSpc>
              <a:spcBef>
                <a:spcPts val="100"/>
              </a:spcBef>
              <a:buClr>
                <a:schemeClr val="accent2"/>
              </a:buClr>
              <a:buFont typeface="Wingdings" panose="05000000000000000000" pitchFamily="2" charset="2"/>
              <a:buChar char="v"/>
              <a:tabLst>
                <a:tab pos="299085" algn="l"/>
                <a:tab pos="299720" algn="l"/>
              </a:tabLst>
            </a:pPr>
            <a:r>
              <a:rPr lang="en-IN" sz="1400" dirty="0">
                <a:solidFill>
                  <a:schemeClr val="bg1"/>
                </a:solidFill>
                <a:latin typeface="+mj-lt"/>
                <a:cs typeface="Arial"/>
              </a:rPr>
              <a:t>Crypto Brokers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4AFE11E-19C9-4198-AB7C-89AC755CF089}"/>
              </a:ext>
            </a:extLst>
          </p:cNvPr>
          <p:cNvSpPr/>
          <p:nvPr/>
        </p:nvSpPr>
        <p:spPr>
          <a:xfrm>
            <a:off x="910676" y="146654"/>
            <a:ext cx="10938818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345" algn="l"/>
                <a:tab pos="4733925" algn="l"/>
                <a:tab pos="7395209" algn="l"/>
                <a:tab pos="9692640" algn="l"/>
              </a:tabLst>
            </a:pPr>
            <a:r>
              <a:rPr lang="en-US" sz="1400" b="1" spc="35" dirty="0">
                <a:solidFill>
                  <a:schemeClr val="bg1"/>
                </a:solidFill>
                <a:latin typeface="+mj-lt"/>
                <a:cs typeface="Arial"/>
              </a:rPr>
              <a:t>             Digital Challenger Bank</a:t>
            </a:r>
            <a:r>
              <a:rPr lang="en-US" sz="1400" b="1" spc="45" dirty="0">
                <a:solidFill>
                  <a:schemeClr val="bg1"/>
                </a:solidFill>
                <a:latin typeface="+mj-lt"/>
                <a:cs typeface="Arial"/>
              </a:rPr>
              <a:t>              </a:t>
            </a:r>
            <a:r>
              <a:rPr lang="en-US" sz="1400" b="1" spc="50" dirty="0">
                <a:solidFill>
                  <a:schemeClr val="bg1"/>
                </a:solidFill>
                <a:latin typeface="+mj-lt"/>
                <a:cs typeface="Arial"/>
              </a:rPr>
              <a:t>Product Offering 	    Go-To-Market Strategy           </a:t>
            </a:r>
            <a:r>
              <a:rPr lang="en-US" sz="1400" b="1" spc="50" dirty="0">
                <a:latin typeface="+mj-lt"/>
                <a:cs typeface="Arial"/>
              </a:rPr>
              <a:t>Technology Capabilities            </a:t>
            </a:r>
            <a:r>
              <a:rPr lang="en-US" sz="1400" b="1" spc="50" dirty="0">
                <a:solidFill>
                  <a:schemeClr val="bg1"/>
                </a:solidFill>
                <a:latin typeface="+mj-lt"/>
                <a:cs typeface="Arial"/>
              </a:rPr>
              <a:t>Mock-ups</a:t>
            </a:r>
            <a:endParaRPr lang="en-US" sz="1400" b="1" dirty="0">
              <a:solidFill>
                <a:schemeClr val="bg1"/>
              </a:solidFill>
              <a:latin typeface="+mj-lt"/>
              <a:cs typeface="Arial"/>
            </a:endParaRPr>
          </a:p>
        </p:txBody>
      </p:sp>
      <p:pic>
        <p:nvPicPr>
          <p:cNvPr id="57" name="Graphic 56" descr="Direction">
            <a:extLst>
              <a:ext uri="{FF2B5EF4-FFF2-40B4-BE49-F238E27FC236}">
                <a16:creationId xmlns:a16="http://schemas.microsoft.com/office/drawing/2014/main" id="{0B337942-4D46-451D-BABA-B9600B5723D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776591">
            <a:off x="3246603" y="-50214"/>
            <a:ext cx="718150" cy="718856"/>
          </a:xfrm>
          <a:prstGeom prst="rect">
            <a:avLst/>
          </a:prstGeom>
        </p:spPr>
      </p:pic>
      <p:pic>
        <p:nvPicPr>
          <p:cNvPr id="58" name="Graphic 57" descr="Direction">
            <a:extLst>
              <a:ext uri="{FF2B5EF4-FFF2-40B4-BE49-F238E27FC236}">
                <a16:creationId xmlns:a16="http://schemas.microsoft.com/office/drawing/2014/main" id="{A2F08976-30F5-4FDD-8D37-632AF13FB2A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2776591">
            <a:off x="5133312" y="-50214"/>
            <a:ext cx="718150" cy="718856"/>
          </a:xfrm>
          <a:prstGeom prst="rect">
            <a:avLst/>
          </a:prstGeom>
        </p:spPr>
      </p:pic>
      <p:pic>
        <p:nvPicPr>
          <p:cNvPr id="68" name="Graphic 67" descr="Direction">
            <a:extLst>
              <a:ext uri="{FF2B5EF4-FFF2-40B4-BE49-F238E27FC236}">
                <a16:creationId xmlns:a16="http://schemas.microsoft.com/office/drawing/2014/main" id="{D9D0E2D9-C27A-42F7-82E8-BC46FF70FB5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2776591">
            <a:off x="7481850" y="-50214"/>
            <a:ext cx="718150" cy="718856"/>
          </a:xfrm>
          <a:prstGeom prst="rect">
            <a:avLst/>
          </a:prstGeom>
        </p:spPr>
      </p:pic>
      <p:pic>
        <p:nvPicPr>
          <p:cNvPr id="69" name="Graphic 68" descr="Direction">
            <a:extLst>
              <a:ext uri="{FF2B5EF4-FFF2-40B4-BE49-F238E27FC236}">
                <a16:creationId xmlns:a16="http://schemas.microsoft.com/office/drawing/2014/main" id="{BF16E30F-2A2C-497D-BFF0-80FBDE9DC7F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2776591">
            <a:off x="9872658" y="-50214"/>
            <a:ext cx="718150" cy="718856"/>
          </a:xfrm>
          <a:prstGeom prst="rect">
            <a:avLst/>
          </a:prstGeom>
        </p:spPr>
      </p:pic>
      <p:pic>
        <p:nvPicPr>
          <p:cNvPr id="70" name="Graphic 69" descr="Direction">
            <a:extLst>
              <a:ext uri="{FF2B5EF4-FFF2-40B4-BE49-F238E27FC236}">
                <a16:creationId xmlns:a16="http://schemas.microsoft.com/office/drawing/2014/main" id="{2EB02163-70C8-4CDA-9F08-91D4E0656E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776591">
            <a:off x="767448" y="-50214"/>
            <a:ext cx="718150" cy="718856"/>
          </a:xfrm>
          <a:prstGeom prst="rect">
            <a:avLst/>
          </a:prstGeom>
        </p:spPr>
      </p:pic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D3BAB96F-55C5-43A3-81EC-C545A597B9A3}"/>
              </a:ext>
            </a:extLst>
          </p:cNvPr>
          <p:cNvSpPr/>
          <p:nvPr/>
        </p:nvSpPr>
        <p:spPr>
          <a:xfrm>
            <a:off x="396232" y="615935"/>
            <a:ext cx="11379600" cy="32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0" tIns="12065" rIns="0" bIns="0" rtlCol="0" anchor="t">
            <a:spAutoFit/>
          </a:bodyPr>
          <a:lstStyle/>
          <a:p>
            <a:pPr marL="12700" algn="ctr">
              <a:spcBef>
                <a:spcPts val="95"/>
              </a:spcBef>
            </a:pPr>
            <a:r>
              <a:rPr lang="en-US" b="1" spc="-5" dirty="0">
                <a:solidFill>
                  <a:schemeClr val="bg1"/>
                </a:solidFill>
                <a:latin typeface="+mj-lt"/>
              </a:rPr>
              <a:t>Technologies to be Leveraged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B095E82-82C2-4AEF-BD11-B558DB21D4D8}"/>
              </a:ext>
            </a:extLst>
          </p:cNvPr>
          <p:cNvSpPr/>
          <p:nvPr/>
        </p:nvSpPr>
        <p:spPr>
          <a:xfrm>
            <a:off x="396231" y="973969"/>
            <a:ext cx="11379599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IN" sz="1600" b="1" dirty="0">
                <a:latin typeface="+mj-lt"/>
              </a:rPr>
              <a:t>AI Process Flow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B62ACE1B-DE5C-48F9-9C0E-96622AC6C3FD}"/>
              </a:ext>
            </a:extLst>
          </p:cNvPr>
          <p:cNvSpPr/>
          <p:nvPr/>
        </p:nvSpPr>
        <p:spPr>
          <a:xfrm>
            <a:off x="9806426" y="2534938"/>
            <a:ext cx="1969404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 dirty="0">
                <a:latin typeface="+mj-lt"/>
              </a:rPr>
              <a:t>Licenses</a:t>
            </a:r>
            <a:endParaRPr lang="en-IN" sz="1600" b="1" dirty="0">
              <a:latin typeface="+mj-lt"/>
            </a:endParaRP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1BCBF62-686A-4DBC-A0D0-C052F115A561}"/>
              </a:ext>
            </a:extLst>
          </p:cNvPr>
          <p:cNvSpPr/>
          <p:nvPr/>
        </p:nvSpPr>
        <p:spPr>
          <a:xfrm>
            <a:off x="7602633" y="2534938"/>
            <a:ext cx="2163497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 dirty="0">
                <a:latin typeface="+mj-lt"/>
              </a:rPr>
              <a:t>Technologies Required</a:t>
            </a:r>
            <a:endParaRPr lang="en-IN" sz="1600" b="1" dirty="0">
              <a:latin typeface="+mj-lt"/>
            </a:endParaRPr>
          </a:p>
        </p:txBody>
      </p:sp>
      <p:pic>
        <p:nvPicPr>
          <p:cNvPr id="10" name="Graphic 9" descr="Diploma roll">
            <a:extLst>
              <a:ext uri="{FF2B5EF4-FFF2-40B4-BE49-F238E27FC236}">
                <a16:creationId xmlns:a16="http://schemas.microsoft.com/office/drawing/2014/main" id="{EB53687F-39F4-4D04-B1F2-387FB49B235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802585" y="2886957"/>
            <a:ext cx="432000" cy="432000"/>
          </a:xfrm>
          <a:prstGeom prst="rect">
            <a:avLst/>
          </a:prstGeom>
        </p:spPr>
      </p:pic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FE3A5ECE-8059-46ED-994D-707128D4BDE1}"/>
              </a:ext>
            </a:extLst>
          </p:cNvPr>
          <p:cNvSpPr/>
          <p:nvPr/>
        </p:nvSpPr>
        <p:spPr>
          <a:xfrm>
            <a:off x="9806426" y="4621369"/>
            <a:ext cx="1969404" cy="288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en-US" sz="1600" b="1" dirty="0">
                <a:latin typeface="+mj-lt"/>
              </a:rPr>
              <a:t>Partnership</a:t>
            </a:r>
            <a:endParaRPr lang="en-IN" sz="1600" b="1" dirty="0">
              <a:latin typeface="+mj-lt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D977014-1239-4D7A-92A2-CE414E09DF8B}"/>
              </a:ext>
            </a:extLst>
          </p:cNvPr>
          <p:cNvSpPr/>
          <p:nvPr/>
        </p:nvSpPr>
        <p:spPr>
          <a:xfrm>
            <a:off x="2989581" y="2276228"/>
            <a:ext cx="462766" cy="180000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>
              <a:latin typeface="+mj-lt"/>
            </a:endParaRPr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AFB8BA51-C92F-40BF-B3D5-9F7C65ED26E4}"/>
              </a:ext>
            </a:extLst>
          </p:cNvPr>
          <p:cNvSpPr/>
          <p:nvPr/>
        </p:nvSpPr>
        <p:spPr>
          <a:xfrm>
            <a:off x="5828539" y="2276228"/>
            <a:ext cx="462766" cy="180000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>
              <a:latin typeface="+mj-lt"/>
            </a:endParaRPr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14A596B1-73FC-4021-8CCA-0E38C89EEDFC}"/>
              </a:ext>
            </a:extLst>
          </p:cNvPr>
          <p:cNvSpPr/>
          <p:nvPr/>
        </p:nvSpPr>
        <p:spPr>
          <a:xfrm>
            <a:off x="8575843" y="2276228"/>
            <a:ext cx="462766" cy="180000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>
              <a:latin typeface="+mj-lt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4FCE2E7-017D-43E4-8EE7-4EF8D82E15E6}"/>
              </a:ext>
            </a:extLst>
          </p:cNvPr>
          <p:cNvSpPr/>
          <p:nvPr/>
        </p:nvSpPr>
        <p:spPr>
          <a:xfrm>
            <a:off x="7602633" y="2851586"/>
            <a:ext cx="2163497" cy="339047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2106F49-F106-4B3D-AF51-B7A6A2C9A42D}"/>
              </a:ext>
            </a:extLst>
          </p:cNvPr>
          <p:cNvSpPr/>
          <p:nvPr/>
        </p:nvSpPr>
        <p:spPr>
          <a:xfrm>
            <a:off x="9802316" y="4938017"/>
            <a:ext cx="1973514" cy="130404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1A7808D-FD14-45E5-89D3-8D226466B952}"/>
              </a:ext>
            </a:extLst>
          </p:cNvPr>
          <p:cNvSpPr/>
          <p:nvPr/>
        </p:nvSpPr>
        <p:spPr>
          <a:xfrm>
            <a:off x="9802316" y="2851586"/>
            <a:ext cx="1973514" cy="174021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4676046-A44C-4DAE-8E91-F72AA916AA28}"/>
              </a:ext>
            </a:extLst>
          </p:cNvPr>
          <p:cNvSpPr/>
          <p:nvPr/>
        </p:nvSpPr>
        <p:spPr>
          <a:xfrm>
            <a:off x="440541" y="2534938"/>
            <a:ext cx="7091029" cy="370712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IN" dirty="0" err="1"/>
          </a:p>
        </p:txBody>
      </p:sp>
    </p:spTree>
    <p:extLst>
      <p:ext uri="{BB962C8B-B14F-4D97-AF65-F5344CB8AC3E}">
        <p14:creationId xmlns:p14="http://schemas.microsoft.com/office/powerpoint/2010/main" val="1328824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icon&#10;&#10;Description automatically generated">
            <a:extLst>
              <a:ext uri="{FF2B5EF4-FFF2-40B4-BE49-F238E27FC236}">
                <a16:creationId xmlns:a16="http://schemas.microsoft.com/office/drawing/2014/main" id="{B454FAA3-FDFA-FF51-14CB-A75C56273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5274" y="802195"/>
            <a:ext cx="5644313" cy="5791645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6D58AE2-6A39-47C9-E195-38BC38279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76" y="3791873"/>
            <a:ext cx="740867" cy="62475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12AA321-D820-16C4-322A-6141B9D57215}"/>
              </a:ext>
            </a:extLst>
          </p:cNvPr>
          <p:cNvSpPr/>
          <p:nvPr/>
        </p:nvSpPr>
        <p:spPr>
          <a:xfrm>
            <a:off x="772160" y="1534160"/>
            <a:ext cx="2824480" cy="17475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402A7E-5171-7493-659B-7CB6B07E967C}"/>
              </a:ext>
            </a:extLst>
          </p:cNvPr>
          <p:cNvSpPr txBox="1"/>
          <p:nvPr/>
        </p:nvSpPr>
        <p:spPr>
          <a:xfrm>
            <a:off x="1519836" y="1842829"/>
            <a:ext cx="1132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My Assets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279C2-1169-887F-1ED6-6936E12B1BC9}"/>
              </a:ext>
            </a:extLst>
          </p:cNvPr>
          <p:cNvSpPr txBox="1"/>
          <p:nvPr/>
        </p:nvSpPr>
        <p:spPr>
          <a:xfrm>
            <a:off x="1429459" y="2312759"/>
            <a:ext cx="1313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i="0" dirty="0">
                <a:solidFill>
                  <a:schemeClr val="bg1"/>
                </a:solidFill>
                <a:effectLst/>
              </a:rPr>
              <a:t>₹ X.X L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F70EAB70-CC67-CF8D-688E-E93154636E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28" y="4924361"/>
            <a:ext cx="684000" cy="735718"/>
          </a:xfrm>
          <a:prstGeom prst="rect">
            <a:avLst/>
          </a:prstGeom>
        </p:spPr>
      </p:pic>
      <p:pic>
        <p:nvPicPr>
          <p:cNvPr id="16" name="Picture 15" descr="Logo&#10;&#10;Description automatically generated">
            <a:extLst>
              <a:ext uri="{FF2B5EF4-FFF2-40B4-BE49-F238E27FC236}">
                <a16:creationId xmlns:a16="http://schemas.microsoft.com/office/drawing/2014/main" id="{E9F21360-1124-27F9-73AB-2D323D4375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277" y="3791873"/>
            <a:ext cx="684000" cy="624758"/>
          </a:xfrm>
          <a:prstGeom prst="rect">
            <a:avLst/>
          </a:prstGeom>
        </p:spPr>
      </p:pic>
      <p:pic>
        <p:nvPicPr>
          <p:cNvPr id="17" name="Picture 16" descr="Icon&#10;&#10;Description automatically generated">
            <a:extLst>
              <a:ext uri="{FF2B5EF4-FFF2-40B4-BE49-F238E27FC236}">
                <a16:creationId xmlns:a16="http://schemas.microsoft.com/office/drawing/2014/main" id="{0EBEF0FE-0B24-680E-8A46-265C94F4C8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227" y="3732527"/>
            <a:ext cx="684000" cy="695495"/>
          </a:xfrm>
          <a:prstGeom prst="rect">
            <a:avLst/>
          </a:prstGeom>
        </p:spPr>
      </p:pic>
      <p:pic>
        <p:nvPicPr>
          <p:cNvPr id="18" name="Picture 17" descr="Icon&#10;&#10;Description automatically generated">
            <a:extLst>
              <a:ext uri="{FF2B5EF4-FFF2-40B4-BE49-F238E27FC236}">
                <a16:creationId xmlns:a16="http://schemas.microsoft.com/office/drawing/2014/main" id="{35939C76-EF27-D0F7-2D19-2871584F98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388" y="4967863"/>
            <a:ext cx="684000" cy="67816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5515134-639D-982C-10FA-FE9D066951DD}"/>
              </a:ext>
            </a:extLst>
          </p:cNvPr>
          <p:cNvSpPr txBox="1"/>
          <p:nvPr/>
        </p:nvSpPr>
        <p:spPr>
          <a:xfrm>
            <a:off x="957910" y="3281680"/>
            <a:ext cx="2452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My Total Investments </a:t>
            </a:r>
            <a:r>
              <a:rPr lang="en-IN" sz="1600" b="1" i="0" dirty="0">
                <a:solidFill>
                  <a:schemeClr val="bg1"/>
                </a:solidFill>
                <a:effectLst/>
              </a:rPr>
              <a:t>₹ X L</a:t>
            </a:r>
            <a:endParaRPr lang="en-IN" sz="1600" b="1" dirty="0">
              <a:solidFill>
                <a:schemeClr val="bg1"/>
              </a:solidFill>
            </a:endParaRPr>
          </a:p>
        </p:txBody>
      </p:sp>
      <p:pic>
        <p:nvPicPr>
          <p:cNvPr id="22" name="Picture 21" descr="A picture containing text, first-aid kit, table&#10;&#10;Description automatically generated">
            <a:extLst>
              <a:ext uri="{FF2B5EF4-FFF2-40B4-BE49-F238E27FC236}">
                <a16:creationId xmlns:a16="http://schemas.microsoft.com/office/drawing/2014/main" id="{0A0F4D0C-1D8E-0628-84E1-5446C6B3E8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9277" y="4924361"/>
            <a:ext cx="683999" cy="6839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016D77D-5705-5231-8C95-0C003202C57C}"/>
              </a:ext>
            </a:extLst>
          </p:cNvPr>
          <p:cNvSpPr txBox="1"/>
          <p:nvPr/>
        </p:nvSpPr>
        <p:spPr>
          <a:xfrm>
            <a:off x="755202" y="4416630"/>
            <a:ext cx="101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Bank Balance</a:t>
            </a:r>
          </a:p>
          <a:p>
            <a:r>
              <a:rPr lang="en-IN" sz="1200" b="0" i="0" dirty="0">
                <a:solidFill>
                  <a:schemeClr val="bg1"/>
                </a:solidFill>
                <a:effectLst/>
              </a:rPr>
              <a:t>      ₹ X 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6EE91B-91C4-5DD1-10C3-60782CCF7622}"/>
              </a:ext>
            </a:extLst>
          </p:cNvPr>
          <p:cNvSpPr txBox="1"/>
          <p:nvPr/>
        </p:nvSpPr>
        <p:spPr>
          <a:xfrm>
            <a:off x="1857015" y="4416630"/>
            <a:ext cx="620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Stocks</a:t>
            </a:r>
          </a:p>
          <a:p>
            <a:r>
              <a:rPr lang="en-IN" sz="1200" b="0" i="0" dirty="0">
                <a:solidFill>
                  <a:schemeClr val="bg1"/>
                </a:solidFill>
                <a:effectLst/>
              </a:rPr>
              <a:t>  ₹ X 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95046F-5444-3344-7D25-74264FB2125D}"/>
              </a:ext>
            </a:extLst>
          </p:cNvPr>
          <p:cNvSpPr txBox="1"/>
          <p:nvPr/>
        </p:nvSpPr>
        <p:spPr>
          <a:xfrm>
            <a:off x="2541015" y="4428022"/>
            <a:ext cx="1043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Mutual Funds</a:t>
            </a:r>
          </a:p>
          <a:p>
            <a:r>
              <a:rPr lang="en-IN" sz="1200" b="0" i="0" dirty="0">
                <a:solidFill>
                  <a:schemeClr val="bg1"/>
                </a:solidFill>
                <a:effectLst/>
              </a:rPr>
              <a:t>        ₹ X 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F2C7D2-9F19-F5CA-C0C4-ADC57C994D26}"/>
              </a:ext>
            </a:extLst>
          </p:cNvPr>
          <p:cNvSpPr txBox="1"/>
          <p:nvPr/>
        </p:nvSpPr>
        <p:spPr>
          <a:xfrm>
            <a:off x="877028" y="5594140"/>
            <a:ext cx="600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Crypto</a:t>
            </a:r>
          </a:p>
          <a:p>
            <a:r>
              <a:rPr lang="en-IN" sz="1200" b="0" i="0" dirty="0">
                <a:solidFill>
                  <a:schemeClr val="bg1"/>
                </a:solidFill>
                <a:effectLst/>
              </a:rPr>
              <a:t>  ₹ X 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779A19-9798-38F9-BDD3-CFC675613401}"/>
              </a:ext>
            </a:extLst>
          </p:cNvPr>
          <p:cNvSpPr txBox="1"/>
          <p:nvPr/>
        </p:nvSpPr>
        <p:spPr>
          <a:xfrm>
            <a:off x="1706882" y="5600196"/>
            <a:ext cx="1027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Fixed Deposit</a:t>
            </a:r>
          </a:p>
          <a:p>
            <a:r>
              <a:rPr lang="en-IN" sz="1200" b="0" i="0" dirty="0">
                <a:solidFill>
                  <a:schemeClr val="bg1"/>
                </a:solidFill>
                <a:effectLst/>
              </a:rPr>
              <a:t>       ₹ X 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E12731-4F43-1588-3B03-573FEB21D26B}"/>
              </a:ext>
            </a:extLst>
          </p:cNvPr>
          <p:cNvSpPr txBox="1"/>
          <p:nvPr/>
        </p:nvSpPr>
        <p:spPr>
          <a:xfrm>
            <a:off x="2799277" y="5579273"/>
            <a:ext cx="65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dirty="0">
                <a:solidFill>
                  <a:schemeClr val="bg1"/>
                </a:solidFill>
              </a:rPr>
              <a:t>Others</a:t>
            </a:r>
          </a:p>
          <a:p>
            <a:r>
              <a:rPr lang="en-IN" sz="1200" b="0" i="0" dirty="0">
                <a:solidFill>
                  <a:schemeClr val="bg1"/>
                </a:solidFill>
                <a:effectLst/>
              </a:rPr>
              <a:t>   ₹ X L</a:t>
            </a:r>
          </a:p>
        </p:txBody>
      </p:sp>
      <p:pic>
        <p:nvPicPr>
          <p:cNvPr id="29" name="Picture 28" descr="A picture containing icon&#10;&#10;Description automatically generated">
            <a:extLst>
              <a:ext uri="{FF2B5EF4-FFF2-40B4-BE49-F238E27FC236}">
                <a16:creationId xmlns:a16="http://schemas.microsoft.com/office/drawing/2014/main" id="{45DCE005-150D-0DB4-9723-2BFCD72D5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040" y="747439"/>
            <a:ext cx="5644313" cy="5846401"/>
          </a:xfrm>
          <a:prstGeom prst="rect">
            <a:avLst/>
          </a:prstGeom>
        </p:spPr>
      </p:pic>
      <p:pic>
        <p:nvPicPr>
          <p:cNvPr id="30" name="Picture 29" descr="A picture containing icon&#10;&#10;Description automatically generated">
            <a:extLst>
              <a:ext uri="{FF2B5EF4-FFF2-40B4-BE49-F238E27FC236}">
                <a16:creationId xmlns:a16="http://schemas.microsoft.com/office/drawing/2014/main" id="{5243C85A-8295-C418-F192-7F5DDF56A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474" y="747439"/>
            <a:ext cx="5644313" cy="584640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9AD49EF1-ADBD-0F98-0CCF-D2366AACA09F}"/>
              </a:ext>
            </a:extLst>
          </p:cNvPr>
          <p:cNvSpPr/>
          <p:nvPr/>
        </p:nvSpPr>
        <p:spPr>
          <a:xfrm>
            <a:off x="4726837" y="1479640"/>
            <a:ext cx="2738326" cy="40382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bg1"/>
                </a:solidFill>
              </a:rPr>
              <a:t>  ABC Bank Home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8B85F0-FD70-8972-9E48-6DA585502575}"/>
              </a:ext>
            </a:extLst>
          </p:cNvPr>
          <p:cNvSpPr txBox="1"/>
          <p:nvPr/>
        </p:nvSpPr>
        <p:spPr>
          <a:xfrm>
            <a:off x="4715452" y="1873607"/>
            <a:ext cx="19068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Enjoy 100% Benefits</a:t>
            </a:r>
          </a:p>
        </p:txBody>
      </p:sp>
      <p:pic>
        <p:nvPicPr>
          <p:cNvPr id="33" name="Picture 32" descr="A close-up of a logo&#10;&#10;Description automatically generated with low confidence">
            <a:extLst>
              <a:ext uri="{FF2B5EF4-FFF2-40B4-BE49-F238E27FC236}">
                <a16:creationId xmlns:a16="http://schemas.microsoft.com/office/drawing/2014/main" id="{4DFF02DA-00D7-91EA-FEBA-80504216AA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846" y="3552964"/>
            <a:ext cx="682956" cy="569985"/>
          </a:xfrm>
          <a:prstGeom prst="rect">
            <a:avLst/>
          </a:prstGeom>
        </p:spPr>
      </p:pic>
      <p:pic>
        <p:nvPicPr>
          <p:cNvPr id="34" name="Picture 33" descr="Icon&#10;&#10;Description automatically generated with medium confidence">
            <a:extLst>
              <a:ext uri="{FF2B5EF4-FFF2-40B4-BE49-F238E27FC236}">
                <a16:creationId xmlns:a16="http://schemas.microsoft.com/office/drawing/2014/main" id="{B8E7AC55-5536-CCD8-7C36-440E3EE295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497" y="3508382"/>
            <a:ext cx="722044" cy="523220"/>
          </a:xfrm>
          <a:prstGeom prst="rect">
            <a:avLst/>
          </a:prstGeom>
        </p:spPr>
      </p:pic>
      <p:pic>
        <p:nvPicPr>
          <p:cNvPr id="35" name="Picture 34" descr="Icon&#10;&#10;Description automatically generated">
            <a:extLst>
              <a:ext uri="{FF2B5EF4-FFF2-40B4-BE49-F238E27FC236}">
                <a16:creationId xmlns:a16="http://schemas.microsoft.com/office/drawing/2014/main" id="{7780AAA4-17DC-DB6C-5768-5B4EB186E9F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105" y="4712585"/>
            <a:ext cx="559911" cy="445283"/>
          </a:xfrm>
          <a:prstGeom prst="rect">
            <a:avLst/>
          </a:prstGeom>
        </p:spPr>
      </p:pic>
      <p:pic>
        <p:nvPicPr>
          <p:cNvPr id="36" name="Picture 35" descr="Icon&#10;&#10;Description automatically generated">
            <a:extLst>
              <a:ext uri="{FF2B5EF4-FFF2-40B4-BE49-F238E27FC236}">
                <a16:creationId xmlns:a16="http://schemas.microsoft.com/office/drawing/2014/main" id="{46B1B1F5-6E6B-2917-2110-214A55C68DC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361" y="2198342"/>
            <a:ext cx="534808" cy="522371"/>
          </a:xfrm>
          <a:prstGeom prst="rect">
            <a:avLst/>
          </a:prstGeom>
        </p:spPr>
      </p:pic>
      <p:pic>
        <p:nvPicPr>
          <p:cNvPr id="37" name="Picture 36" descr="A picture containing text, wrench, tool&#10;&#10;Description automatically generated">
            <a:extLst>
              <a:ext uri="{FF2B5EF4-FFF2-40B4-BE49-F238E27FC236}">
                <a16:creationId xmlns:a16="http://schemas.microsoft.com/office/drawing/2014/main" id="{72039E01-6E2C-F6EF-3973-AEC55B02EC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692" y="2156172"/>
            <a:ext cx="830613" cy="606709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F0576E94-2B90-477D-83AC-66F8235693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0180" y="2077009"/>
            <a:ext cx="367059" cy="704031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90BA3BB-5192-9FDA-4A8B-E56BA5761008}"/>
              </a:ext>
            </a:extLst>
          </p:cNvPr>
          <p:cNvCxnSpPr/>
          <p:nvPr/>
        </p:nvCxnSpPr>
        <p:spPr>
          <a:xfrm>
            <a:off x="4848543" y="3121881"/>
            <a:ext cx="2509306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757E389-03D3-A6CC-62BA-F6561AAB48A6}"/>
              </a:ext>
            </a:extLst>
          </p:cNvPr>
          <p:cNvSpPr txBox="1"/>
          <p:nvPr/>
        </p:nvSpPr>
        <p:spPr>
          <a:xfrm>
            <a:off x="4713281" y="3152757"/>
            <a:ext cx="276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Account No:             </a:t>
            </a:r>
            <a:r>
              <a:rPr lang="en-IN" dirty="0">
                <a:solidFill>
                  <a:schemeClr val="bg1"/>
                </a:solidFill>
              </a:rPr>
              <a:t>XXXXXX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DE05CF-CBA6-863C-E720-170E8660AC75}"/>
              </a:ext>
            </a:extLst>
          </p:cNvPr>
          <p:cNvSpPr txBox="1"/>
          <p:nvPr/>
        </p:nvSpPr>
        <p:spPr>
          <a:xfrm>
            <a:off x="4689849" y="2629537"/>
            <a:ext cx="986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     KYC</a:t>
            </a:r>
          </a:p>
          <a:p>
            <a:r>
              <a:rPr lang="en-IN" sz="1400" dirty="0">
                <a:solidFill>
                  <a:schemeClr val="bg1"/>
                </a:solidFill>
              </a:rPr>
              <a:t>Completed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461DFD-F99B-3686-8915-82DB9EA66F33}"/>
              </a:ext>
            </a:extLst>
          </p:cNvPr>
          <p:cNvSpPr txBox="1"/>
          <p:nvPr/>
        </p:nvSpPr>
        <p:spPr>
          <a:xfrm>
            <a:off x="5599371" y="2644778"/>
            <a:ext cx="926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Link Cards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887DD6-F236-EF0C-B934-6C0E0F029869}"/>
              </a:ext>
            </a:extLst>
          </p:cNvPr>
          <p:cNvSpPr txBox="1"/>
          <p:nvPr/>
        </p:nvSpPr>
        <p:spPr>
          <a:xfrm>
            <a:off x="6739051" y="2607598"/>
            <a:ext cx="65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Verify</a:t>
            </a:r>
          </a:p>
          <a:p>
            <a:r>
              <a:rPr lang="en-IN" sz="1400" dirty="0">
                <a:solidFill>
                  <a:schemeClr val="bg1"/>
                </a:solidFill>
              </a:rPr>
              <a:t>Phone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5DE700-08A8-EBDE-7A6C-93536FB1777A}"/>
              </a:ext>
            </a:extLst>
          </p:cNvPr>
          <p:cNvSpPr txBox="1"/>
          <p:nvPr/>
        </p:nvSpPr>
        <p:spPr>
          <a:xfrm>
            <a:off x="4782272" y="4054388"/>
            <a:ext cx="6980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Send 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</a:rPr>
              <a:t>Money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CFC0DB-4FAA-9CD2-232B-5696ED350385}"/>
              </a:ext>
            </a:extLst>
          </p:cNvPr>
          <p:cNvSpPr txBox="1"/>
          <p:nvPr/>
        </p:nvSpPr>
        <p:spPr>
          <a:xfrm>
            <a:off x="5630251" y="4062477"/>
            <a:ext cx="7774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Request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</a:rPr>
              <a:t>Money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CC3988-830E-01C2-051B-3CB6390482DF}"/>
              </a:ext>
            </a:extLst>
          </p:cNvPr>
          <p:cNvSpPr txBox="1"/>
          <p:nvPr/>
        </p:nvSpPr>
        <p:spPr>
          <a:xfrm>
            <a:off x="6465599" y="5212333"/>
            <a:ext cx="9923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NEFT/RTGS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0A43B1-DD98-49ED-B1DB-5FA4C93A1865}"/>
              </a:ext>
            </a:extLst>
          </p:cNvPr>
          <p:cNvSpPr txBox="1"/>
          <p:nvPr/>
        </p:nvSpPr>
        <p:spPr>
          <a:xfrm>
            <a:off x="4689849" y="5558075"/>
            <a:ext cx="2801356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Balance:                     XX,XXX</a:t>
            </a:r>
          </a:p>
        </p:txBody>
      </p:sp>
      <p:pic>
        <p:nvPicPr>
          <p:cNvPr id="48" name="Picture 47" descr="A blue and white logo&#10;&#10;Description automatically generated with low confidence">
            <a:extLst>
              <a:ext uri="{FF2B5EF4-FFF2-40B4-BE49-F238E27FC236}">
                <a16:creationId xmlns:a16="http://schemas.microsoft.com/office/drawing/2014/main" id="{9A5D1F37-E9C0-9176-D6B3-2CEAB087E9F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572" y="3661407"/>
            <a:ext cx="773019" cy="447760"/>
          </a:xfrm>
          <a:prstGeom prst="rect">
            <a:avLst/>
          </a:prstGeom>
        </p:spPr>
      </p:pic>
      <p:pic>
        <p:nvPicPr>
          <p:cNvPr id="49" name="Picture 48" descr="Icon&#10;&#10;Description automatically generated">
            <a:extLst>
              <a:ext uri="{FF2B5EF4-FFF2-40B4-BE49-F238E27FC236}">
                <a16:creationId xmlns:a16="http://schemas.microsoft.com/office/drawing/2014/main" id="{1DBC89A4-CFE3-5226-E30A-6044BD7508D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338" y="4657826"/>
            <a:ext cx="656764" cy="620073"/>
          </a:xfrm>
          <a:prstGeom prst="rect">
            <a:avLst/>
          </a:prstGeom>
        </p:spPr>
      </p:pic>
      <p:pic>
        <p:nvPicPr>
          <p:cNvPr id="50" name="Picture 49" descr="Icon&#10;&#10;Description automatically generated">
            <a:extLst>
              <a:ext uri="{FF2B5EF4-FFF2-40B4-BE49-F238E27FC236}">
                <a16:creationId xmlns:a16="http://schemas.microsoft.com/office/drawing/2014/main" id="{884574DC-730C-728E-4923-F92B24A421D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540" y="4647462"/>
            <a:ext cx="656125" cy="60671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FD14CD3-CD6B-8B95-4CC0-3A2E0C78B35D}"/>
              </a:ext>
            </a:extLst>
          </p:cNvPr>
          <p:cNvSpPr txBox="1"/>
          <p:nvPr/>
        </p:nvSpPr>
        <p:spPr>
          <a:xfrm>
            <a:off x="4828224" y="5191516"/>
            <a:ext cx="606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Loans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2A3949-9C07-5E1A-7232-D2C2303B1158}"/>
              </a:ext>
            </a:extLst>
          </p:cNvPr>
          <p:cNvSpPr txBox="1"/>
          <p:nvPr/>
        </p:nvSpPr>
        <p:spPr>
          <a:xfrm>
            <a:off x="5704427" y="5209838"/>
            <a:ext cx="772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Pay Bills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E6D1C1-5490-3659-0EED-3D8A9ED335D4}"/>
              </a:ext>
            </a:extLst>
          </p:cNvPr>
          <p:cNvSpPr txBox="1"/>
          <p:nvPr/>
        </p:nvSpPr>
        <p:spPr>
          <a:xfrm>
            <a:off x="6501647" y="4151461"/>
            <a:ext cx="9775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Scan &amp; Pay</a:t>
            </a:r>
          </a:p>
        </p:txBody>
      </p:sp>
      <p:pic>
        <p:nvPicPr>
          <p:cNvPr id="54" name="Graphic 53" descr="Gold bars with solid fill">
            <a:extLst>
              <a:ext uri="{FF2B5EF4-FFF2-40B4-BE49-F238E27FC236}">
                <a16:creationId xmlns:a16="http://schemas.microsoft.com/office/drawing/2014/main" id="{94867D69-B29C-0CD5-6321-CEC39818CD0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08123" y="4767341"/>
            <a:ext cx="733933" cy="733933"/>
          </a:xfrm>
          <a:prstGeom prst="rect">
            <a:avLst/>
          </a:prstGeom>
        </p:spPr>
      </p:pic>
      <p:pic>
        <p:nvPicPr>
          <p:cNvPr id="55" name="Graphic 54" descr="Pot of gold with solid fill">
            <a:extLst>
              <a:ext uri="{FF2B5EF4-FFF2-40B4-BE49-F238E27FC236}">
                <a16:creationId xmlns:a16="http://schemas.microsoft.com/office/drawing/2014/main" id="{F1FBA03D-19DC-EDBF-CA71-FDF7FC704CF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62218" y="3368605"/>
            <a:ext cx="658175" cy="658175"/>
          </a:xfrm>
          <a:prstGeom prst="rect">
            <a:avLst/>
          </a:prstGeom>
        </p:spPr>
      </p:pic>
      <p:pic>
        <p:nvPicPr>
          <p:cNvPr id="56" name="Graphic 55" descr="Plant with solid fill">
            <a:extLst>
              <a:ext uri="{FF2B5EF4-FFF2-40B4-BE49-F238E27FC236}">
                <a16:creationId xmlns:a16="http://schemas.microsoft.com/office/drawing/2014/main" id="{D4B979A5-EA50-8FCA-41BA-34D191DF403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738153" y="3356252"/>
            <a:ext cx="693665" cy="693665"/>
          </a:xfrm>
          <a:prstGeom prst="rect">
            <a:avLst/>
          </a:prstGeom>
        </p:spPr>
      </p:pic>
      <p:pic>
        <p:nvPicPr>
          <p:cNvPr id="57" name="Graphic 56" descr="Umbrella with solid fill">
            <a:extLst>
              <a:ext uri="{FF2B5EF4-FFF2-40B4-BE49-F238E27FC236}">
                <a16:creationId xmlns:a16="http://schemas.microsoft.com/office/drawing/2014/main" id="{C8DBA0C5-32DE-81A8-D25F-523AF3E4913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849204" y="3429071"/>
            <a:ext cx="615572" cy="615572"/>
          </a:xfrm>
          <a:prstGeom prst="rect">
            <a:avLst/>
          </a:prstGeom>
        </p:spPr>
      </p:pic>
      <p:pic>
        <p:nvPicPr>
          <p:cNvPr id="58" name="Graphic 57" descr="Flying Money with solid fill">
            <a:extLst>
              <a:ext uri="{FF2B5EF4-FFF2-40B4-BE49-F238E27FC236}">
                <a16:creationId xmlns:a16="http://schemas.microsoft.com/office/drawing/2014/main" id="{52082A65-DA7C-2059-63B1-38FE4758C6B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22672" y="2082251"/>
            <a:ext cx="634248" cy="634248"/>
          </a:xfrm>
          <a:prstGeom prst="rect">
            <a:avLst/>
          </a:prstGeom>
        </p:spPr>
      </p:pic>
      <p:pic>
        <p:nvPicPr>
          <p:cNvPr id="68" name="Graphic 67" descr="Statistics with solid fill">
            <a:extLst>
              <a:ext uri="{FF2B5EF4-FFF2-40B4-BE49-F238E27FC236}">
                <a16:creationId xmlns:a16="http://schemas.microsoft.com/office/drawing/2014/main" id="{268EA6E7-974C-D398-9F24-EAF8E85A1F7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92044" y="2119170"/>
            <a:ext cx="605028" cy="605028"/>
          </a:xfrm>
          <a:prstGeom prst="rect">
            <a:avLst/>
          </a:prstGeom>
        </p:spPr>
      </p:pic>
      <p:pic>
        <p:nvPicPr>
          <p:cNvPr id="69" name="Graphic 68" descr="Man with cane with solid fill">
            <a:extLst>
              <a:ext uri="{FF2B5EF4-FFF2-40B4-BE49-F238E27FC236}">
                <a16:creationId xmlns:a16="http://schemas.microsoft.com/office/drawing/2014/main" id="{36A0C769-C354-7FD2-96F6-D2B5BC074678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679381" y="2094506"/>
            <a:ext cx="634248" cy="634248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AAE45A21-E71A-90D8-92DB-27E1D9C478FE}"/>
              </a:ext>
            </a:extLst>
          </p:cNvPr>
          <p:cNvSpPr/>
          <p:nvPr/>
        </p:nvSpPr>
        <p:spPr>
          <a:xfrm>
            <a:off x="8697364" y="1536935"/>
            <a:ext cx="2796072" cy="40129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b="1" dirty="0">
                <a:solidFill>
                  <a:schemeClr val="bg1"/>
                </a:solidFill>
              </a:rPr>
              <a:t>  Financial Services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F9A8A61-F2AA-DC63-6664-B802BA495BFC}"/>
              </a:ext>
            </a:extLst>
          </p:cNvPr>
          <p:cNvSpPr txBox="1"/>
          <p:nvPr/>
        </p:nvSpPr>
        <p:spPr>
          <a:xfrm>
            <a:off x="8752016" y="2693814"/>
            <a:ext cx="876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Buy Now </a:t>
            </a:r>
          </a:p>
          <a:p>
            <a:r>
              <a:rPr lang="en-IN" sz="1400" dirty="0">
                <a:solidFill>
                  <a:schemeClr val="bg1"/>
                </a:solidFill>
              </a:rPr>
              <a:t>Pay Later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2B8118A-6054-9A92-0373-723E5EFD3D16}"/>
              </a:ext>
            </a:extLst>
          </p:cNvPr>
          <p:cNvSpPr txBox="1"/>
          <p:nvPr/>
        </p:nvSpPr>
        <p:spPr>
          <a:xfrm>
            <a:off x="10520107" y="2693814"/>
            <a:ext cx="1006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Retirement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</a:rPr>
              <a:t>Planning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9FC9DBA-1AD1-4C8A-DEBE-7BF3A41D6D04}"/>
              </a:ext>
            </a:extLst>
          </p:cNvPr>
          <p:cNvSpPr txBox="1"/>
          <p:nvPr/>
        </p:nvSpPr>
        <p:spPr>
          <a:xfrm>
            <a:off x="9616083" y="2700704"/>
            <a:ext cx="100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Investment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</a:rPr>
              <a:t>Analysis</a:t>
            </a:r>
          </a:p>
        </p:txBody>
      </p:sp>
      <p:pic>
        <p:nvPicPr>
          <p:cNvPr id="75" name="Graphic 74" descr="Trophy with solid fill">
            <a:extLst>
              <a:ext uri="{FF2B5EF4-FFF2-40B4-BE49-F238E27FC236}">
                <a16:creationId xmlns:a16="http://schemas.microsoft.com/office/drawing/2014/main" id="{332BE00C-01D1-7A7C-C13E-AF37A9B5297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765697" y="4782892"/>
            <a:ext cx="623895" cy="623895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8D6EC29E-3B5F-7AA1-1DB8-4897F20FD00E}"/>
              </a:ext>
            </a:extLst>
          </p:cNvPr>
          <p:cNvSpPr txBox="1"/>
          <p:nvPr/>
        </p:nvSpPr>
        <p:spPr>
          <a:xfrm>
            <a:off x="8772465" y="4098495"/>
            <a:ext cx="894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Insurance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7F72D8D-8992-885C-25BD-25E400CCD900}"/>
              </a:ext>
            </a:extLst>
          </p:cNvPr>
          <p:cNvSpPr txBox="1"/>
          <p:nvPr/>
        </p:nvSpPr>
        <p:spPr>
          <a:xfrm>
            <a:off x="10661448" y="4066309"/>
            <a:ext cx="756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Mutual 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</a:rPr>
              <a:t>Funds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9FF1334-7CE3-136F-8881-8CDB933EBBA4}"/>
              </a:ext>
            </a:extLst>
          </p:cNvPr>
          <p:cNvSpPr txBox="1"/>
          <p:nvPr/>
        </p:nvSpPr>
        <p:spPr>
          <a:xfrm>
            <a:off x="9880057" y="4098495"/>
            <a:ext cx="441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IPO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2AFB41C-12E9-8118-DF17-AB07868B6253}"/>
              </a:ext>
            </a:extLst>
          </p:cNvPr>
          <p:cNvSpPr txBox="1"/>
          <p:nvPr/>
        </p:nvSpPr>
        <p:spPr>
          <a:xfrm>
            <a:off x="8902089" y="5389622"/>
            <a:ext cx="5293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Gold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D1BBF81-2A9D-8D75-F4E9-D957646535E3}"/>
              </a:ext>
            </a:extLst>
          </p:cNvPr>
          <p:cNvSpPr txBox="1"/>
          <p:nvPr/>
        </p:nvSpPr>
        <p:spPr>
          <a:xfrm>
            <a:off x="9643695" y="5357689"/>
            <a:ext cx="10066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Investment</a:t>
            </a:r>
          </a:p>
          <a:p>
            <a:pPr algn="ctr"/>
            <a:r>
              <a:rPr lang="en-IN" sz="1400" dirty="0">
                <a:solidFill>
                  <a:schemeClr val="bg1"/>
                </a:solidFill>
              </a:rPr>
              <a:t>Blogs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F830266-2F0E-ED99-5461-3CCB412F32E9}"/>
              </a:ext>
            </a:extLst>
          </p:cNvPr>
          <p:cNvSpPr txBox="1"/>
          <p:nvPr/>
        </p:nvSpPr>
        <p:spPr>
          <a:xfrm>
            <a:off x="10633476" y="5372419"/>
            <a:ext cx="806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Rewards</a:t>
            </a:r>
          </a:p>
        </p:txBody>
      </p:sp>
      <p:pic>
        <p:nvPicPr>
          <p:cNvPr id="89" name="Graphic 88" descr="Vlog with solid fill">
            <a:extLst>
              <a:ext uri="{FF2B5EF4-FFF2-40B4-BE49-F238E27FC236}">
                <a16:creationId xmlns:a16="http://schemas.microsoft.com/office/drawing/2014/main" id="{6567D1C2-64E2-B56C-80AA-7269BB705FA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9835091" y="4748524"/>
            <a:ext cx="623895" cy="623895"/>
          </a:xfrm>
          <a:prstGeom prst="rect">
            <a:avLst/>
          </a:prstGeom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1DB9D64D-BFA1-FE1C-8826-9D65B16CC422}"/>
              </a:ext>
            </a:extLst>
          </p:cNvPr>
          <p:cNvSpPr/>
          <p:nvPr/>
        </p:nvSpPr>
        <p:spPr>
          <a:xfrm>
            <a:off x="8579758" y="652987"/>
            <a:ext cx="2911696" cy="337530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schemeClr val="tx1"/>
                </a:solidFill>
              </a:rPr>
              <a:t>Additional Services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1025B08-2483-F7C8-B864-2524972F333F}"/>
              </a:ext>
            </a:extLst>
          </p:cNvPr>
          <p:cNvSpPr/>
          <p:nvPr/>
        </p:nvSpPr>
        <p:spPr>
          <a:xfrm>
            <a:off x="4628501" y="640406"/>
            <a:ext cx="2911696" cy="337530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schemeClr val="tx1"/>
                </a:solidFill>
              </a:rPr>
              <a:t>Retail Banking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BF87BE8-5996-6AC7-FC35-7738B5ECCEBF}"/>
              </a:ext>
            </a:extLst>
          </p:cNvPr>
          <p:cNvSpPr/>
          <p:nvPr/>
        </p:nvSpPr>
        <p:spPr>
          <a:xfrm>
            <a:off x="677244" y="680535"/>
            <a:ext cx="2911696" cy="365898"/>
          </a:xfrm>
          <a:prstGeom prst="rect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dirty="0">
                <a:solidFill>
                  <a:schemeClr val="tx1"/>
                </a:solidFill>
              </a:rPr>
              <a:t>Financial Tracking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F9EE89CD-3D1B-2F3F-B168-93403BC4ACAF}"/>
              </a:ext>
            </a:extLst>
          </p:cNvPr>
          <p:cNvCxnSpPr/>
          <p:nvPr/>
        </p:nvCxnSpPr>
        <p:spPr>
          <a:xfrm>
            <a:off x="8804255" y="5908117"/>
            <a:ext cx="2509306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FD9C058-327F-4C14-9554-CBB6A8279FA9}"/>
              </a:ext>
            </a:extLst>
          </p:cNvPr>
          <p:cNvSpPr/>
          <p:nvPr/>
        </p:nvSpPr>
        <p:spPr>
          <a:xfrm>
            <a:off x="910676" y="146654"/>
            <a:ext cx="10938818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2345" algn="l"/>
                <a:tab pos="4733925" algn="l"/>
                <a:tab pos="7395209" algn="l"/>
                <a:tab pos="9692640" algn="l"/>
              </a:tabLst>
            </a:pPr>
            <a:r>
              <a:rPr lang="en-US" sz="1400" b="1" spc="35" dirty="0">
                <a:solidFill>
                  <a:schemeClr val="bg1"/>
                </a:solidFill>
                <a:latin typeface="+mj-lt"/>
                <a:cs typeface="Arial"/>
              </a:rPr>
              <a:t>             Digital Challenger Bank</a:t>
            </a:r>
            <a:r>
              <a:rPr lang="en-US" sz="1400" b="1" spc="45" dirty="0">
                <a:solidFill>
                  <a:schemeClr val="bg1"/>
                </a:solidFill>
                <a:latin typeface="+mj-lt"/>
                <a:cs typeface="Arial"/>
              </a:rPr>
              <a:t>              </a:t>
            </a:r>
            <a:r>
              <a:rPr lang="en-US" sz="1400" b="1" spc="50" dirty="0">
                <a:solidFill>
                  <a:schemeClr val="bg1"/>
                </a:solidFill>
                <a:latin typeface="+mj-lt"/>
                <a:cs typeface="Arial"/>
              </a:rPr>
              <a:t>Product Offering 	    Go-To-Market Strategy           Technology Capabilities            </a:t>
            </a:r>
            <a:r>
              <a:rPr lang="en-US" sz="1400" b="1" spc="50" dirty="0">
                <a:latin typeface="+mj-lt"/>
                <a:cs typeface="Arial"/>
              </a:rPr>
              <a:t>Mock-ups</a:t>
            </a:r>
            <a:endParaRPr lang="en-US" sz="1400" b="1" dirty="0">
              <a:latin typeface="+mj-lt"/>
              <a:cs typeface="Arial"/>
            </a:endParaRPr>
          </a:p>
        </p:txBody>
      </p:sp>
      <p:pic>
        <p:nvPicPr>
          <p:cNvPr id="78" name="Graphic 77" descr="Direction">
            <a:extLst>
              <a:ext uri="{FF2B5EF4-FFF2-40B4-BE49-F238E27FC236}">
                <a16:creationId xmlns:a16="http://schemas.microsoft.com/office/drawing/2014/main" id="{E6AF6D80-D5CA-4A00-A518-73C71F8EB86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2776591">
            <a:off x="3246603" y="-50214"/>
            <a:ext cx="718150" cy="718856"/>
          </a:xfrm>
          <a:prstGeom prst="rect">
            <a:avLst/>
          </a:prstGeom>
        </p:spPr>
      </p:pic>
      <p:pic>
        <p:nvPicPr>
          <p:cNvPr id="79" name="Graphic 78" descr="Direction">
            <a:extLst>
              <a:ext uri="{FF2B5EF4-FFF2-40B4-BE49-F238E27FC236}">
                <a16:creationId xmlns:a16="http://schemas.microsoft.com/office/drawing/2014/main" id="{CC558BA9-C221-4E9B-AD0D-A1E04C299ED4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2776591">
            <a:off x="5133312" y="-50214"/>
            <a:ext cx="718150" cy="718856"/>
          </a:xfrm>
          <a:prstGeom prst="rect">
            <a:avLst/>
          </a:prstGeom>
        </p:spPr>
      </p:pic>
      <p:pic>
        <p:nvPicPr>
          <p:cNvPr id="81" name="Graphic 80" descr="Direction">
            <a:extLst>
              <a:ext uri="{FF2B5EF4-FFF2-40B4-BE49-F238E27FC236}">
                <a16:creationId xmlns:a16="http://schemas.microsoft.com/office/drawing/2014/main" id="{BA38EF08-941A-4A7E-A79F-13C5AFA993D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2776591">
            <a:off x="7481850" y="-50214"/>
            <a:ext cx="718150" cy="718856"/>
          </a:xfrm>
          <a:prstGeom prst="rect">
            <a:avLst/>
          </a:prstGeom>
        </p:spPr>
      </p:pic>
      <p:pic>
        <p:nvPicPr>
          <p:cNvPr id="82" name="Graphic 81" descr="Direction">
            <a:extLst>
              <a:ext uri="{FF2B5EF4-FFF2-40B4-BE49-F238E27FC236}">
                <a16:creationId xmlns:a16="http://schemas.microsoft.com/office/drawing/2014/main" id="{14DBCBCC-C196-4B58-9B1F-63D43BA8539B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2776591">
            <a:off x="9872658" y="-50214"/>
            <a:ext cx="718150" cy="718856"/>
          </a:xfrm>
          <a:prstGeom prst="rect">
            <a:avLst/>
          </a:prstGeom>
        </p:spPr>
      </p:pic>
      <p:pic>
        <p:nvPicPr>
          <p:cNvPr id="83" name="Graphic 82" descr="Direction">
            <a:extLst>
              <a:ext uri="{FF2B5EF4-FFF2-40B4-BE49-F238E27FC236}">
                <a16:creationId xmlns:a16="http://schemas.microsoft.com/office/drawing/2014/main" id="{4FFB2BC6-2FCA-4D53-AE23-DA919E8FAA3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2776591">
            <a:off x="767448" y="-50214"/>
            <a:ext cx="718150" cy="71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40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511BF8-E872-41A1-9F7B-6E37EE453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F3F0DB-2AF2-42D7-ACFE-66F97BE0E0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11000" y="6472238"/>
            <a:ext cx="381000" cy="207962"/>
          </a:xfrm>
        </p:spPr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n-IN" smtClean="0"/>
              <a:pPr algn="r" defTabSz="228600">
                <a:spcAft>
                  <a:spcPts val="1200"/>
                </a:spcAft>
              </a:pPr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80753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2 use this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2172</TotalTime>
  <Words>1210</Words>
  <Application>Microsoft Office PowerPoint</Application>
  <PresentationFormat>Widescreen</PresentationFormat>
  <Paragraphs>220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</vt:lpstr>
      <vt:lpstr>Calibri</vt:lpstr>
      <vt:lpstr>Graphik</vt:lpstr>
      <vt:lpstr>Graphik (Body)</vt:lpstr>
      <vt:lpstr>Graphik Bold</vt:lpstr>
      <vt:lpstr>Graphik Light</vt:lpstr>
      <vt:lpstr>Graphik Regular</vt:lpstr>
      <vt:lpstr>GT Sectra Fine</vt:lpstr>
      <vt:lpstr>Montserrat</vt:lpstr>
      <vt:lpstr>System Font</vt:lpstr>
      <vt:lpstr>Wingdings</vt:lpstr>
      <vt:lpstr>Accenture 2022 use this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Sharma, Shubhanshu</dc:creator>
  <cp:lastModifiedBy>Shivam Pathak</cp:lastModifiedBy>
  <cp:revision>125</cp:revision>
  <dcterms:created xsi:type="dcterms:W3CDTF">2022-08-26T17:09:31Z</dcterms:created>
  <dcterms:modified xsi:type="dcterms:W3CDTF">2023-08-17T20:20:01Z</dcterms:modified>
</cp:coreProperties>
</file>