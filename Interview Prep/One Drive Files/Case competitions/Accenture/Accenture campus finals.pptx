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14" r:id="rId3"/>
    <p:sldId id="329" r:id="rId4"/>
    <p:sldId id="321" r:id="rId5"/>
    <p:sldId id="335" r:id="rId6"/>
    <p:sldId id="318" r:id="rId7"/>
    <p:sldId id="32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47C"/>
    <a:srgbClr val="7D38B4"/>
    <a:srgbClr val="6201CE"/>
    <a:srgbClr val="05B471"/>
    <a:srgbClr val="084AE7"/>
    <a:srgbClr val="B452AC"/>
    <a:srgbClr val="7A7A6B"/>
    <a:srgbClr val="D6BAF5"/>
    <a:srgbClr val="C280DB"/>
    <a:srgbClr val="A84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E8BEF-CD8A-32D8-4ABF-6FFFDC1FBC29}" v="18" dt="2023-08-18T07:00:24.338"/>
    <p1510:client id="{165470B7-CAAF-592B-EDAB-8D29D6322DC7}" v="628" dt="2023-08-18T08:18:51.732"/>
    <p1510:client id="{175D4790-8382-4FF6-941E-14A32FEF4E6F}" v="6702" dt="2023-08-18T08:23:28.643"/>
    <p1510:client id="{2340B9D4-EF1D-E748-8915-765C0B7DA16E}" v="10724" dt="2023-08-18T08:24:02.845"/>
    <p1510:client id="{9AE9D811-914C-DEC5-83DE-BD8F1DB124BB}" v="6" dt="2023-08-18T06:48:00.337"/>
    <p1510:client id="{F8B8405B-CA09-FA48-AA14-C32810F61854}" v="11900" dt="2023-08-18T07:49:39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17" autoAdjust="0"/>
    <p:restoredTop sz="94660"/>
  </p:normalViewPr>
  <p:slideViewPr>
    <p:cSldViewPr snapToGrid="0">
      <p:cViewPr>
        <p:scale>
          <a:sx n="66" d="100"/>
          <a:sy n="66" d="100"/>
        </p:scale>
        <p:origin x="1041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Parcel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Companies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6E-A840-B1BE-449D4343FC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Big&amp;Bulky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Companies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6E-A840-B1BE-449D4343FC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Companies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6E-A840-B1BE-449D4343F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29857487"/>
        <c:axId val="1529860143"/>
      </c:barChart>
      <c:catAx>
        <c:axId val="152985748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29860143"/>
        <c:crosses val="autoZero"/>
        <c:auto val="1"/>
        <c:lblAlgn val="ctr"/>
        <c:lblOffset val="100"/>
        <c:noMultiLvlLbl val="0"/>
      </c:catAx>
      <c:valAx>
        <c:axId val="152986014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2985748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FY20</c:v>
                </c:pt>
                <c:pt idx="1">
                  <c:v>FY25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A3-3D40-A1E4-894A8C2B5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7615103"/>
        <c:axId val="1567616735"/>
      </c:barChart>
      <c:catAx>
        <c:axId val="1567615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616735"/>
        <c:crosses val="autoZero"/>
        <c:auto val="1"/>
        <c:lblAlgn val="ctr"/>
        <c:lblOffset val="100"/>
        <c:noMultiLvlLbl val="0"/>
      </c:catAx>
      <c:valAx>
        <c:axId val="1567616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67615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50 cities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Area</c:v>
                </c:pt>
                <c:pt idx="1">
                  <c:v>Consumption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1C-AC4A-87E6-0583DA3C40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 2+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Area</c:v>
                </c:pt>
                <c:pt idx="1">
                  <c:v>Consumption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0.4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1C-AC4A-87E6-0583DA3C40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Area</c:v>
                </c:pt>
                <c:pt idx="1">
                  <c:v>Consumption</c:v>
                </c:pt>
              </c:strCache>
            </c:strRef>
          </c:cat>
          <c:val>
            <c:numRef>
              <c:f>Sheet1!$D$2:$D$3</c:f>
              <c:numCache>
                <c:formatCode>0%</c:formatCode>
                <c:ptCount val="2"/>
                <c:pt idx="0">
                  <c:v>0.45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1C-AC4A-87E6-0583DA3C40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31703807"/>
        <c:axId val="1631624511"/>
      </c:barChart>
      <c:catAx>
        <c:axId val="1631703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624511"/>
        <c:crosses val="autoZero"/>
        <c:auto val="1"/>
        <c:lblAlgn val="ctr"/>
        <c:lblOffset val="100"/>
        <c:noMultiLvlLbl val="0"/>
      </c:catAx>
      <c:valAx>
        <c:axId val="163162451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31703807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837C2E-8BE8-7448-A34E-B580F94C97E3}" type="doc">
      <dgm:prSet loTypeId="urn:microsoft.com/office/officeart/2005/8/layout/cycle8" loCatId="" qsTypeId="urn:microsoft.com/office/officeart/2005/8/quickstyle/simple1" qsCatId="simple" csTypeId="urn:microsoft.com/office/officeart/2005/8/colors/accent5_1" csCatId="accent5" phldr="1"/>
      <dgm:spPr/>
    </dgm:pt>
    <dgm:pt modelId="{1E90A9D4-B6FA-A742-A0B0-0C3342A060FB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D321A1F4-A959-4B48-805F-55B11C982EE9}" type="parTrans" cxnId="{CC79AB5E-C410-5D49-B1DE-67297F4C9F59}">
      <dgm:prSet/>
      <dgm:spPr/>
      <dgm:t>
        <a:bodyPr/>
        <a:lstStyle/>
        <a:p>
          <a:endParaRPr lang="en-GB"/>
        </a:p>
      </dgm:t>
    </dgm:pt>
    <dgm:pt modelId="{F9AFCDCF-B0EA-7440-8AE5-B70BDCA11B36}" type="sibTrans" cxnId="{CC79AB5E-C410-5D49-B1DE-67297F4C9F59}">
      <dgm:prSet/>
      <dgm:spPr/>
      <dgm:t>
        <a:bodyPr/>
        <a:lstStyle/>
        <a:p>
          <a:endParaRPr lang="en-GB"/>
        </a:p>
      </dgm:t>
    </dgm:pt>
    <dgm:pt modelId="{5C9B531B-3CE2-D24E-8EC9-5EAB606AAAF8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A9B6F3D5-5BF5-1A4E-B462-D8DF68B73E88}" type="parTrans" cxnId="{C7332781-51E1-A843-8AD1-2D4D53000948}">
      <dgm:prSet/>
      <dgm:spPr/>
      <dgm:t>
        <a:bodyPr/>
        <a:lstStyle/>
        <a:p>
          <a:endParaRPr lang="en-GB"/>
        </a:p>
      </dgm:t>
    </dgm:pt>
    <dgm:pt modelId="{59ABECBB-E128-BF4C-8347-52976703D39E}" type="sibTrans" cxnId="{C7332781-51E1-A843-8AD1-2D4D53000948}">
      <dgm:prSet/>
      <dgm:spPr/>
      <dgm:t>
        <a:bodyPr/>
        <a:lstStyle/>
        <a:p>
          <a:endParaRPr lang="en-GB"/>
        </a:p>
      </dgm:t>
    </dgm:pt>
    <dgm:pt modelId="{61ADD8FE-0014-394B-B983-59A358255564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F4D3FAA8-7245-3C41-9BCE-8F1DBBACD057}" type="parTrans" cxnId="{556EC285-7CB5-F042-87B2-E2F825732025}">
      <dgm:prSet/>
      <dgm:spPr/>
      <dgm:t>
        <a:bodyPr/>
        <a:lstStyle/>
        <a:p>
          <a:endParaRPr lang="en-GB"/>
        </a:p>
      </dgm:t>
    </dgm:pt>
    <dgm:pt modelId="{E9F2E866-DAEE-8041-ADD1-7DDAAF7E6CF1}" type="sibTrans" cxnId="{556EC285-7CB5-F042-87B2-E2F825732025}">
      <dgm:prSet/>
      <dgm:spPr/>
      <dgm:t>
        <a:bodyPr/>
        <a:lstStyle/>
        <a:p>
          <a:endParaRPr lang="en-GB"/>
        </a:p>
      </dgm:t>
    </dgm:pt>
    <dgm:pt modelId="{D4CB3DD4-43D2-7840-A4F2-7A19329FE2EC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8B906C75-0C97-F944-93C8-2D9A0F9F06ED}" type="parTrans" cxnId="{DF1A06BE-7D1C-4141-A5D8-1E8A0EB65365}">
      <dgm:prSet/>
      <dgm:spPr/>
      <dgm:t>
        <a:bodyPr/>
        <a:lstStyle/>
        <a:p>
          <a:endParaRPr lang="en-GB"/>
        </a:p>
      </dgm:t>
    </dgm:pt>
    <dgm:pt modelId="{01089F66-60F2-0643-9531-E7A1A6C8FC36}" type="sibTrans" cxnId="{DF1A06BE-7D1C-4141-A5D8-1E8A0EB65365}">
      <dgm:prSet/>
      <dgm:spPr/>
      <dgm:t>
        <a:bodyPr/>
        <a:lstStyle/>
        <a:p>
          <a:endParaRPr lang="en-GB"/>
        </a:p>
      </dgm:t>
    </dgm:pt>
    <dgm:pt modelId="{5024E784-88DF-124F-A778-3589A4DCB8D4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04C4AB4C-53B5-6A4D-9141-F3922A1F966B}" type="parTrans" cxnId="{0391059D-D1DD-814E-A08B-6AD69D0C44A4}">
      <dgm:prSet/>
      <dgm:spPr/>
      <dgm:t>
        <a:bodyPr/>
        <a:lstStyle/>
        <a:p>
          <a:endParaRPr lang="en-GB"/>
        </a:p>
      </dgm:t>
    </dgm:pt>
    <dgm:pt modelId="{29AB8842-0B28-2841-85E1-B2C3A280E216}" type="sibTrans" cxnId="{0391059D-D1DD-814E-A08B-6AD69D0C44A4}">
      <dgm:prSet/>
      <dgm:spPr/>
      <dgm:t>
        <a:bodyPr/>
        <a:lstStyle/>
        <a:p>
          <a:endParaRPr lang="en-GB"/>
        </a:p>
      </dgm:t>
    </dgm:pt>
    <dgm:pt modelId="{6DC04D32-B089-1C4D-8181-5871B36B0941}">
      <dgm:prSet phldrT="[Text]"/>
      <dgm:spPr>
        <a:noFill/>
        <a:ln w="63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49A16952-CA9F-7B4F-A29B-AAC0D1565162}" type="parTrans" cxnId="{58CAF0B7-DCF5-0144-93B7-6E1069845F00}">
      <dgm:prSet/>
      <dgm:spPr/>
      <dgm:t>
        <a:bodyPr/>
        <a:lstStyle/>
        <a:p>
          <a:endParaRPr lang="en-GB"/>
        </a:p>
      </dgm:t>
    </dgm:pt>
    <dgm:pt modelId="{BAB2FAB4-0E49-8D44-830E-66FC7F3181DC}" type="sibTrans" cxnId="{58CAF0B7-DCF5-0144-93B7-6E1069845F00}">
      <dgm:prSet/>
      <dgm:spPr/>
      <dgm:t>
        <a:bodyPr/>
        <a:lstStyle/>
        <a:p>
          <a:endParaRPr lang="en-GB"/>
        </a:p>
      </dgm:t>
    </dgm:pt>
    <dgm:pt modelId="{011DEDF3-0107-5142-A228-C800044FE57F}" type="pres">
      <dgm:prSet presAssocID="{9E837C2E-8BE8-7448-A34E-B580F94C97E3}" presName="compositeShape" presStyleCnt="0">
        <dgm:presLayoutVars>
          <dgm:chMax val="7"/>
          <dgm:dir/>
          <dgm:resizeHandles val="exact"/>
        </dgm:presLayoutVars>
      </dgm:prSet>
      <dgm:spPr/>
    </dgm:pt>
    <dgm:pt modelId="{94FDC1B5-DD98-574B-AC35-4B2A8FC0D944}" type="pres">
      <dgm:prSet presAssocID="{9E837C2E-8BE8-7448-A34E-B580F94C97E3}" presName="wedge1" presStyleLbl="node1" presStyleIdx="0" presStyleCnt="6"/>
      <dgm:spPr/>
    </dgm:pt>
    <dgm:pt modelId="{898DA54C-02B9-7145-8BD7-6E3DC21C71AC}" type="pres">
      <dgm:prSet presAssocID="{9E837C2E-8BE8-7448-A34E-B580F94C97E3}" presName="dummy1a" presStyleCnt="0"/>
      <dgm:spPr/>
    </dgm:pt>
    <dgm:pt modelId="{082B1222-FBFC-2640-9070-7342F0458755}" type="pres">
      <dgm:prSet presAssocID="{9E837C2E-8BE8-7448-A34E-B580F94C97E3}" presName="dummy1b" presStyleCnt="0"/>
      <dgm:spPr/>
    </dgm:pt>
    <dgm:pt modelId="{657ACF6B-2B80-5E42-869B-3C70E7DE4B9D}" type="pres">
      <dgm:prSet presAssocID="{9E837C2E-8BE8-7448-A34E-B580F94C97E3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FA8B10F4-1716-0D4F-8946-2BD0BCFF76D4}" type="pres">
      <dgm:prSet presAssocID="{9E837C2E-8BE8-7448-A34E-B580F94C97E3}" presName="wedge2" presStyleLbl="node1" presStyleIdx="1" presStyleCnt="6"/>
      <dgm:spPr/>
    </dgm:pt>
    <dgm:pt modelId="{25B4D0D1-66E2-8A43-AF18-6A6670E39BB8}" type="pres">
      <dgm:prSet presAssocID="{9E837C2E-8BE8-7448-A34E-B580F94C97E3}" presName="dummy2a" presStyleCnt="0"/>
      <dgm:spPr/>
    </dgm:pt>
    <dgm:pt modelId="{F293A0C2-036A-0748-B4CE-98FE94CE1639}" type="pres">
      <dgm:prSet presAssocID="{9E837C2E-8BE8-7448-A34E-B580F94C97E3}" presName="dummy2b" presStyleCnt="0"/>
      <dgm:spPr/>
    </dgm:pt>
    <dgm:pt modelId="{0C0D7036-EC57-9C46-A069-F624FFBFA80F}" type="pres">
      <dgm:prSet presAssocID="{9E837C2E-8BE8-7448-A34E-B580F94C97E3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5BB35CE9-353A-FC44-93B1-D87A8170D99A}" type="pres">
      <dgm:prSet presAssocID="{9E837C2E-8BE8-7448-A34E-B580F94C97E3}" presName="wedge3" presStyleLbl="node1" presStyleIdx="2" presStyleCnt="6"/>
      <dgm:spPr/>
    </dgm:pt>
    <dgm:pt modelId="{2840D214-D30F-674A-B2CA-1A974FFC8548}" type="pres">
      <dgm:prSet presAssocID="{9E837C2E-8BE8-7448-A34E-B580F94C97E3}" presName="dummy3a" presStyleCnt="0"/>
      <dgm:spPr/>
    </dgm:pt>
    <dgm:pt modelId="{AA678AD4-CF3D-C34A-9EE9-C4D33201AB55}" type="pres">
      <dgm:prSet presAssocID="{9E837C2E-8BE8-7448-A34E-B580F94C97E3}" presName="dummy3b" presStyleCnt="0"/>
      <dgm:spPr/>
    </dgm:pt>
    <dgm:pt modelId="{E4B085C8-8600-7847-9BE4-4C1F92CC1443}" type="pres">
      <dgm:prSet presAssocID="{9E837C2E-8BE8-7448-A34E-B580F94C97E3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73A0E037-86C6-7B41-9114-5D4F31E08C88}" type="pres">
      <dgm:prSet presAssocID="{9E837C2E-8BE8-7448-A34E-B580F94C97E3}" presName="wedge4" presStyleLbl="node1" presStyleIdx="3" presStyleCnt="6"/>
      <dgm:spPr/>
    </dgm:pt>
    <dgm:pt modelId="{E283F45E-3675-2043-AF25-8C6D0CABC3D2}" type="pres">
      <dgm:prSet presAssocID="{9E837C2E-8BE8-7448-A34E-B580F94C97E3}" presName="dummy4a" presStyleCnt="0"/>
      <dgm:spPr/>
    </dgm:pt>
    <dgm:pt modelId="{C70572A3-9387-5F4A-AB0C-924EF5B8B85A}" type="pres">
      <dgm:prSet presAssocID="{9E837C2E-8BE8-7448-A34E-B580F94C97E3}" presName="dummy4b" presStyleCnt="0"/>
      <dgm:spPr/>
    </dgm:pt>
    <dgm:pt modelId="{6A71459C-8327-764A-9518-5CC907FB8D54}" type="pres">
      <dgm:prSet presAssocID="{9E837C2E-8BE8-7448-A34E-B580F94C97E3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4A05BA7F-13F5-6F4D-9438-34315E0B29D9}" type="pres">
      <dgm:prSet presAssocID="{9E837C2E-8BE8-7448-A34E-B580F94C97E3}" presName="wedge5" presStyleLbl="node1" presStyleIdx="4" presStyleCnt="6"/>
      <dgm:spPr/>
    </dgm:pt>
    <dgm:pt modelId="{00E76428-102B-A043-8E55-DE2984A2FF57}" type="pres">
      <dgm:prSet presAssocID="{9E837C2E-8BE8-7448-A34E-B580F94C97E3}" presName="dummy5a" presStyleCnt="0"/>
      <dgm:spPr/>
    </dgm:pt>
    <dgm:pt modelId="{31356914-E929-C84E-939E-F8CAB03A327F}" type="pres">
      <dgm:prSet presAssocID="{9E837C2E-8BE8-7448-A34E-B580F94C97E3}" presName="dummy5b" presStyleCnt="0"/>
      <dgm:spPr/>
    </dgm:pt>
    <dgm:pt modelId="{F5D4696D-A39B-0D4C-8DBA-E47A713F1691}" type="pres">
      <dgm:prSet presAssocID="{9E837C2E-8BE8-7448-A34E-B580F94C97E3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7B0A8251-83FC-AE42-96A3-753AF3BAFAE2}" type="pres">
      <dgm:prSet presAssocID="{9E837C2E-8BE8-7448-A34E-B580F94C97E3}" presName="wedge6" presStyleLbl="node1" presStyleIdx="5" presStyleCnt="6"/>
      <dgm:spPr/>
    </dgm:pt>
    <dgm:pt modelId="{6F0B7B12-FB51-F549-B483-EA0170278E4F}" type="pres">
      <dgm:prSet presAssocID="{9E837C2E-8BE8-7448-A34E-B580F94C97E3}" presName="dummy6a" presStyleCnt="0"/>
      <dgm:spPr/>
    </dgm:pt>
    <dgm:pt modelId="{2972DB09-9613-3646-A601-BDD51323B1A6}" type="pres">
      <dgm:prSet presAssocID="{9E837C2E-8BE8-7448-A34E-B580F94C97E3}" presName="dummy6b" presStyleCnt="0"/>
      <dgm:spPr/>
    </dgm:pt>
    <dgm:pt modelId="{486D06A4-11CB-F549-B3C6-7CF2A1FFDABF}" type="pres">
      <dgm:prSet presAssocID="{9E837C2E-8BE8-7448-A34E-B580F94C97E3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DF9E42BF-9842-9340-881D-1E87FA7B7871}" type="pres">
      <dgm:prSet presAssocID="{59ABECBB-E128-BF4C-8347-52976703D39E}" presName="arrowWedge1" presStyleLbl="fgSibTrans2D1" presStyleIdx="0" presStyleCnt="6"/>
      <dgm:spPr>
        <a:solidFill>
          <a:srgbClr val="7030A0"/>
        </a:solidFill>
      </dgm:spPr>
    </dgm:pt>
    <dgm:pt modelId="{3C03FCEC-D44C-634E-B679-7B636225944A}" type="pres">
      <dgm:prSet presAssocID="{E9F2E866-DAEE-8041-ADD1-7DDAAF7E6CF1}" presName="arrowWedge2" presStyleLbl="fgSibTrans2D1" presStyleIdx="1" presStyleCnt="6"/>
      <dgm:spPr>
        <a:solidFill>
          <a:srgbClr val="7030A0"/>
        </a:solidFill>
      </dgm:spPr>
    </dgm:pt>
    <dgm:pt modelId="{CAC1B9FE-EAF0-5040-9970-B0087BDBC9C2}" type="pres">
      <dgm:prSet presAssocID="{01089F66-60F2-0643-9531-E7A1A6C8FC36}" presName="arrowWedge3" presStyleLbl="fgSibTrans2D1" presStyleIdx="2" presStyleCnt="6"/>
      <dgm:spPr>
        <a:solidFill>
          <a:srgbClr val="7030A0"/>
        </a:solidFill>
      </dgm:spPr>
    </dgm:pt>
    <dgm:pt modelId="{C44ED3D2-A3B3-904C-B522-A9E753DA7DC0}" type="pres">
      <dgm:prSet presAssocID="{29AB8842-0B28-2841-85E1-B2C3A280E216}" presName="arrowWedge4" presStyleLbl="fgSibTrans2D1" presStyleIdx="3" presStyleCnt="6"/>
      <dgm:spPr>
        <a:solidFill>
          <a:srgbClr val="7030A0"/>
        </a:solidFill>
      </dgm:spPr>
    </dgm:pt>
    <dgm:pt modelId="{BB3A7203-1D52-6240-A9B0-7271DEE3EE4A}" type="pres">
      <dgm:prSet presAssocID="{BAB2FAB4-0E49-8D44-830E-66FC7F3181DC}" presName="arrowWedge5" presStyleLbl="fgSibTrans2D1" presStyleIdx="4" presStyleCnt="6"/>
      <dgm:spPr>
        <a:solidFill>
          <a:srgbClr val="7030A0"/>
        </a:solidFill>
      </dgm:spPr>
    </dgm:pt>
    <dgm:pt modelId="{EC0580EB-F71D-7F43-AE92-8E130E0EF971}" type="pres">
      <dgm:prSet presAssocID="{F9AFCDCF-B0EA-7440-8AE5-B70BDCA11B36}" presName="arrowWedge6" presStyleLbl="fgSibTrans2D1" presStyleIdx="5" presStyleCnt="6"/>
      <dgm:spPr>
        <a:solidFill>
          <a:srgbClr val="7030A0"/>
        </a:solidFill>
      </dgm:spPr>
    </dgm:pt>
  </dgm:ptLst>
  <dgm:cxnLst>
    <dgm:cxn modelId="{8DCC4515-2932-3049-BADE-37641E35EFAF}" type="presOf" srcId="{1E90A9D4-B6FA-A742-A0B0-0C3342A060FB}" destId="{7B0A8251-83FC-AE42-96A3-753AF3BAFAE2}" srcOrd="0" destOrd="0" presId="urn:microsoft.com/office/officeart/2005/8/layout/cycle8"/>
    <dgm:cxn modelId="{05D39326-099A-B24D-9AF9-CDBB5CE7CD87}" type="presOf" srcId="{5C9B531B-3CE2-D24E-8EC9-5EAB606AAAF8}" destId="{657ACF6B-2B80-5E42-869B-3C70E7DE4B9D}" srcOrd="1" destOrd="0" presId="urn:microsoft.com/office/officeart/2005/8/layout/cycle8"/>
    <dgm:cxn modelId="{64FA9E2A-DE6B-C947-8AFA-C89F94CD781C}" type="presOf" srcId="{D4CB3DD4-43D2-7840-A4F2-7A19329FE2EC}" destId="{5BB35CE9-353A-FC44-93B1-D87A8170D99A}" srcOrd="0" destOrd="0" presId="urn:microsoft.com/office/officeart/2005/8/layout/cycle8"/>
    <dgm:cxn modelId="{B83E772E-C39B-FA47-AFEE-2729E8F3A447}" type="presOf" srcId="{9E837C2E-8BE8-7448-A34E-B580F94C97E3}" destId="{011DEDF3-0107-5142-A228-C800044FE57F}" srcOrd="0" destOrd="0" presId="urn:microsoft.com/office/officeart/2005/8/layout/cycle8"/>
    <dgm:cxn modelId="{CC79AB5E-C410-5D49-B1DE-67297F4C9F59}" srcId="{9E837C2E-8BE8-7448-A34E-B580F94C97E3}" destId="{1E90A9D4-B6FA-A742-A0B0-0C3342A060FB}" srcOrd="5" destOrd="0" parTransId="{D321A1F4-A959-4B48-805F-55B11C982EE9}" sibTransId="{F9AFCDCF-B0EA-7440-8AE5-B70BDCA11B36}"/>
    <dgm:cxn modelId="{6B33ED5E-B98B-FF42-B5CF-23D7248D23A0}" type="presOf" srcId="{D4CB3DD4-43D2-7840-A4F2-7A19329FE2EC}" destId="{E4B085C8-8600-7847-9BE4-4C1F92CC1443}" srcOrd="1" destOrd="0" presId="urn:microsoft.com/office/officeart/2005/8/layout/cycle8"/>
    <dgm:cxn modelId="{C7332781-51E1-A843-8AD1-2D4D53000948}" srcId="{9E837C2E-8BE8-7448-A34E-B580F94C97E3}" destId="{5C9B531B-3CE2-D24E-8EC9-5EAB606AAAF8}" srcOrd="0" destOrd="0" parTransId="{A9B6F3D5-5BF5-1A4E-B462-D8DF68B73E88}" sibTransId="{59ABECBB-E128-BF4C-8347-52976703D39E}"/>
    <dgm:cxn modelId="{7B410C82-1A51-784E-B34C-3CD23D49B79F}" type="presOf" srcId="{61ADD8FE-0014-394B-B983-59A358255564}" destId="{0C0D7036-EC57-9C46-A069-F624FFBFA80F}" srcOrd="1" destOrd="0" presId="urn:microsoft.com/office/officeart/2005/8/layout/cycle8"/>
    <dgm:cxn modelId="{556EC285-7CB5-F042-87B2-E2F825732025}" srcId="{9E837C2E-8BE8-7448-A34E-B580F94C97E3}" destId="{61ADD8FE-0014-394B-B983-59A358255564}" srcOrd="1" destOrd="0" parTransId="{F4D3FAA8-7245-3C41-9BCE-8F1DBBACD057}" sibTransId="{E9F2E866-DAEE-8041-ADD1-7DDAAF7E6CF1}"/>
    <dgm:cxn modelId="{07AC509A-4790-3A43-8FE6-CCC8EDE5AF27}" type="presOf" srcId="{1E90A9D4-B6FA-A742-A0B0-0C3342A060FB}" destId="{486D06A4-11CB-F549-B3C6-7CF2A1FFDABF}" srcOrd="1" destOrd="0" presId="urn:microsoft.com/office/officeart/2005/8/layout/cycle8"/>
    <dgm:cxn modelId="{0391059D-D1DD-814E-A08B-6AD69D0C44A4}" srcId="{9E837C2E-8BE8-7448-A34E-B580F94C97E3}" destId="{5024E784-88DF-124F-A778-3589A4DCB8D4}" srcOrd="3" destOrd="0" parTransId="{04C4AB4C-53B5-6A4D-9141-F3922A1F966B}" sibTransId="{29AB8842-0B28-2841-85E1-B2C3A280E216}"/>
    <dgm:cxn modelId="{58CAF0B7-DCF5-0144-93B7-6E1069845F00}" srcId="{9E837C2E-8BE8-7448-A34E-B580F94C97E3}" destId="{6DC04D32-B089-1C4D-8181-5871B36B0941}" srcOrd="4" destOrd="0" parTransId="{49A16952-CA9F-7B4F-A29B-AAC0D1565162}" sibTransId="{BAB2FAB4-0E49-8D44-830E-66FC7F3181DC}"/>
    <dgm:cxn modelId="{152423BB-5123-2147-8FDE-1B1BD60A68D3}" type="presOf" srcId="{61ADD8FE-0014-394B-B983-59A358255564}" destId="{FA8B10F4-1716-0D4F-8946-2BD0BCFF76D4}" srcOrd="0" destOrd="0" presId="urn:microsoft.com/office/officeart/2005/8/layout/cycle8"/>
    <dgm:cxn modelId="{DF1A06BE-7D1C-4141-A5D8-1E8A0EB65365}" srcId="{9E837C2E-8BE8-7448-A34E-B580F94C97E3}" destId="{D4CB3DD4-43D2-7840-A4F2-7A19329FE2EC}" srcOrd="2" destOrd="0" parTransId="{8B906C75-0C97-F944-93C8-2D9A0F9F06ED}" sibTransId="{01089F66-60F2-0643-9531-E7A1A6C8FC36}"/>
    <dgm:cxn modelId="{C237D7BE-6FF6-B04E-B5ED-05DA55152815}" type="presOf" srcId="{6DC04D32-B089-1C4D-8181-5871B36B0941}" destId="{4A05BA7F-13F5-6F4D-9438-34315E0B29D9}" srcOrd="0" destOrd="0" presId="urn:microsoft.com/office/officeart/2005/8/layout/cycle8"/>
    <dgm:cxn modelId="{321EF9DC-B81B-6847-B155-FC57F8998DA0}" type="presOf" srcId="{5024E784-88DF-124F-A778-3589A4DCB8D4}" destId="{73A0E037-86C6-7B41-9114-5D4F31E08C88}" srcOrd="0" destOrd="0" presId="urn:microsoft.com/office/officeart/2005/8/layout/cycle8"/>
    <dgm:cxn modelId="{289866F2-98BC-EE4B-82A3-20AD3F9D3C1A}" type="presOf" srcId="{5C9B531B-3CE2-D24E-8EC9-5EAB606AAAF8}" destId="{94FDC1B5-DD98-574B-AC35-4B2A8FC0D944}" srcOrd="0" destOrd="0" presId="urn:microsoft.com/office/officeart/2005/8/layout/cycle8"/>
    <dgm:cxn modelId="{3B55B3F3-E224-024C-9834-0DDCC97AFA0C}" type="presOf" srcId="{5024E784-88DF-124F-A778-3589A4DCB8D4}" destId="{6A71459C-8327-764A-9518-5CC907FB8D54}" srcOrd="1" destOrd="0" presId="urn:microsoft.com/office/officeart/2005/8/layout/cycle8"/>
    <dgm:cxn modelId="{75D87BF8-8B5F-AB45-9FDA-B830B2B1856F}" type="presOf" srcId="{6DC04D32-B089-1C4D-8181-5871B36B0941}" destId="{F5D4696D-A39B-0D4C-8DBA-E47A713F1691}" srcOrd="1" destOrd="0" presId="urn:microsoft.com/office/officeart/2005/8/layout/cycle8"/>
    <dgm:cxn modelId="{97E9E1BB-AA30-CB4E-B95F-B3F268854C8F}" type="presParOf" srcId="{011DEDF3-0107-5142-A228-C800044FE57F}" destId="{94FDC1B5-DD98-574B-AC35-4B2A8FC0D944}" srcOrd="0" destOrd="0" presId="urn:microsoft.com/office/officeart/2005/8/layout/cycle8"/>
    <dgm:cxn modelId="{92F12AF7-38B6-C340-BFDD-D82DD55D1FD3}" type="presParOf" srcId="{011DEDF3-0107-5142-A228-C800044FE57F}" destId="{898DA54C-02B9-7145-8BD7-6E3DC21C71AC}" srcOrd="1" destOrd="0" presId="urn:microsoft.com/office/officeart/2005/8/layout/cycle8"/>
    <dgm:cxn modelId="{C4FEB1AB-AF45-2340-9E96-77ADD009DD9F}" type="presParOf" srcId="{011DEDF3-0107-5142-A228-C800044FE57F}" destId="{082B1222-FBFC-2640-9070-7342F0458755}" srcOrd="2" destOrd="0" presId="urn:microsoft.com/office/officeart/2005/8/layout/cycle8"/>
    <dgm:cxn modelId="{2BB22167-B55F-FF41-9AB0-316CF2FCB175}" type="presParOf" srcId="{011DEDF3-0107-5142-A228-C800044FE57F}" destId="{657ACF6B-2B80-5E42-869B-3C70E7DE4B9D}" srcOrd="3" destOrd="0" presId="urn:microsoft.com/office/officeart/2005/8/layout/cycle8"/>
    <dgm:cxn modelId="{17A8A2D9-DD00-1F45-997A-F2C8E27D0D94}" type="presParOf" srcId="{011DEDF3-0107-5142-A228-C800044FE57F}" destId="{FA8B10F4-1716-0D4F-8946-2BD0BCFF76D4}" srcOrd="4" destOrd="0" presId="urn:microsoft.com/office/officeart/2005/8/layout/cycle8"/>
    <dgm:cxn modelId="{47E5D6AC-D584-824B-9B66-41D2F8877A93}" type="presParOf" srcId="{011DEDF3-0107-5142-A228-C800044FE57F}" destId="{25B4D0D1-66E2-8A43-AF18-6A6670E39BB8}" srcOrd="5" destOrd="0" presId="urn:microsoft.com/office/officeart/2005/8/layout/cycle8"/>
    <dgm:cxn modelId="{A1EFBF61-0B8D-7C4E-AE4C-BB3D5C625DD3}" type="presParOf" srcId="{011DEDF3-0107-5142-A228-C800044FE57F}" destId="{F293A0C2-036A-0748-B4CE-98FE94CE1639}" srcOrd="6" destOrd="0" presId="urn:microsoft.com/office/officeart/2005/8/layout/cycle8"/>
    <dgm:cxn modelId="{B20E329D-9085-2C43-8589-EA65A35FED19}" type="presParOf" srcId="{011DEDF3-0107-5142-A228-C800044FE57F}" destId="{0C0D7036-EC57-9C46-A069-F624FFBFA80F}" srcOrd="7" destOrd="0" presId="urn:microsoft.com/office/officeart/2005/8/layout/cycle8"/>
    <dgm:cxn modelId="{9074E245-699B-E949-B836-105CE82494EA}" type="presParOf" srcId="{011DEDF3-0107-5142-A228-C800044FE57F}" destId="{5BB35CE9-353A-FC44-93B1-D87A8170D99A}" srcOrd="8" destOrd="0" presId="urn:microsoft.com/office/officeart/2005/8/layout/cycle8"/>
    <dgm:cxn modelId="{1566CE81-6059-544E-B1B3-1D5ACAAB70AA}" type="presParOf" srcId="{011DEDF3-0107-5142-A228-C800044FE57F}" destId="{2840D214-D30F-674A-B2CA-1A974FFC8548}" srcOrd="9" destOrd="0" presId="urn:microsoft.com/office/officeart/2005/8/layout/cycle8"/>
    <dgm:cxn modelId="{AF7B5144-8475-794C-A90F-92CC02E7F882}" type="presParOf" srcId="{011DEDF3-0107-5142-A228-C800044FE57F}" destId="{AA678AD4-CF3D-C34A-9EE9-C4D33201AB55}" srcOrd="10" destOrd="0" presId="urn:microsoft.com/office/officeart/2005/8/layout/cycle8"/>
    <dgm:cxn modelId="{06188950-F5AE-E54C-B243-8CA90A03E78E}" type="presParOf" srcId="{011DEDF3-0107-5142-A228-C800044FE57F}" destId="{E4B085C8-8600-7847-9BE4-4C1F92CC1443}" srcOrd="11" destOrd="0" presId="urn:microsoft.com/office/officeart/2005/8/layout/cycle8"/>
    <dgm:cxn modelId="{FFAD9C10-8E2B-2B4A-8A68-400F41DBA494}" type="presParOf" srcId="{011DEDF3-0107-5142-A228-C800044FE57F}" destId="{73A0E037-86C6-7B41-9114-5D4F31E08C88}" srcOrd="12" destOrd="0" presId="urn:microsoft.com/office/officeart/2005/8/layout/cycle8"/>
    <dgm:cxn modelId="{FF4B1D89-CD47-FE46-B457-27A03C7EE32F}" type="presParOf" srcId="{011DEDF3-0107-5142-A228-C800044FE57F}" destId="{E283F45E-3675-2043-AF25-8C6D0CABC3D2}" srcOrd="13" destOrd="0" presId="urn:microsoft.com/office/officeart/2005/8/layout/cycle8"/>
    <dgm:cxn modelId="{1153BBCC-9F10-0F4B-ACD3-70937B9C8A7A}" type="presParOf" srcId="{011DEDF3-0107-5142-A228-C800044FE57F}" destId="{C70572A3-9387-5F4A-AB0C-924EF5B8B85A}" srcOrd="14" destOrd="0" presId="urn:microsoft.com/office/officeart/2005/8/layout/cycle8"/>
    <dgm:cxn modelId="{2C90448B-7ABB-0F43-B75A-5AE7CF819C9F}" type="presParOf" srcId="{011DEDF3-0107-5142-A228-C800044FE57F}" destId="{6A71459C-8327-764A-9518-5CC907FB8D54}" srcOrd="15" destOrd="0" presId="urn:microsoft.com/office/officeart/2005/8/layout/cycle8"/>
    <dgm:cxn modelId="{68005C4C-F7DD-DE4E-9CB6-37B5FBD0F8DE}" type="presParOf" srcId="{011DEDF3-0107-5142-A228-C800044FE57F}" destId="{4A05BA7F-13F5-6F4D-9438-34315E0B29D9}" srcOrd="16" destOrd="0" presId="urn:microsoft.com/office/officeart/2005/8/layout/cycle8"/>
    <dgm:cxn modelId="{0B74D9E4-5A2E-6C46-B681-D0E6366A723F}" type="presParOf" srcId="{011DEDF3-0107-5142-A228-C800044FE57F}" destId="{00E76428-102B-A043-8E55-DE2984A2FF57}" srcOrd="17" destOrd="0" presId="urn:microsoft.com/office/officeart/2005/8/layout/cycle8"/>
    <dgm:cxn modelId="{D10A5D0E-2539-344A-B301-575A1CFAF0A0}" type="presParOf" srcId="{011DEDF3-0107-5142-A228-C800044FE57F}" destId="{31356914-E929-C84E-939E-F8CAB03A327F}" srcOrd="18" destOrd="0" presId="urn:microsoft.com/office/officeart/2005/8/layout/cycle8"/>
    <dgm:cxn modelId="{5D217F20-396A-1342-9403-81498F4C8FD5}" type="presParOf" srcId="{011DEDF3-0107-5142-A228-C800044FE57F}" destId="{F5D4696D-A39B-0D4C-8DBA-E47A713F1691}" srcOrd="19" destOrd="0" presId="urn:microsoft.com/office/officeart/2005/8/layout/cycle8"/>
    <dgm:cxn modelId="{D4F08576-C676-3E45-A493-8433D38C07B5}" type="presParOf" srcId="{011DEDF3-0107-5142-A228-C800044FE57F}" destId="{7B0A8251-83FC-AE42-96A3-753AF3BAFAE2}" srcOrd="20" destOrd="0" presId="urn:microsoft.com/office/officeart/2005/8/layout/cycle8"/>
    <dgm:cxn modelId="{057CE3B3-BDFC-2D49-A892-7A477E902E27}" type="presParOf" srcId="{011DEDF3-0107-5142-A228-C800044FE57F}" destId="{6F0B7B12-FB51-F549-B483-EA0170278E4F}" srcOrd="21" destOrd="0" presId="urn:microsoft.com/office/officeart/2005/8/layout/cycle8"/>
    <dgm:cxn modelId="{CD8AD0F1-74E6-EF40-B4FA-7251E4153F57}" type="presParOf" srcId="{011DEDF3-0107-5142-A228-C800044FE57F}" destId="{2972DB09-9613-3646-A601-BDD51323B1A6}" srcOrd="22" destOrd="0" presId="urn:microsoft.com/office/officeart/2005/8/layout/cycle8"/>
    <dgm:cxn modelId="{FA54D130-F736-B74F-AC64-098293ABC750}" type="presParOf" srcId="{011DEDF3-0107-5142-A228-C800044FE57F}" destId="{486D06A4-11CB-F549-B3C6-7CF2A1FFDABF}" srcOrd="23" destOrd="0" presId="urn:microsoft.com/office/officeart/2005/8/layout/cycle8"/>
    <dgm:cxn modelId="{604B2AB9-F3B3-1343-BB34-CA62E87D5C81}" type="presParOf" srcId="{011DEDF3-0107-5142-A228-C800044FE57F}" destId="{DF9E42BF-9842-9340-881D-1E87FA7B7871}" srcOrd="24" destOrd="0" presId="urn:microsoft.com/office/officeart/2005/8/layout/cycle8"/>
    <dgm:cxn modelId="{A77698C3-E27D-444D-890F-3FA59F791504}" type="presParOf" srcId="{011DEDF3-0107-5142-A228-C800044FE57F}" destId="{3C03FCEC-D44C-634E-B679-7B636225944A}" srcOrd="25" destOrd="0" presId="urn:microsoft.com/office/officeart/2005/8/layout/cycle8"/>
    <dgm:cxn modelId="{B39A9E91-3D9F-6D49-9D5E-523D365239E3}" type="presParOf" srcId="{011DEDF3-0107-5142-A228-C800044FE57F}" destId="{CAC1B9FE-EAF0-5040-9970-B0087BDBC9C2}" srcOrd="26" destOrd="0" presId="urn:microsoft.com/office/officeart/2005/8/layout/cycle8"/>
    <dgm:cxn modelId="{B4517B7D-FB11-BC40-81D6-8B2B9F822214}" type="presParOf" srcId="{011DEDF3-0107-5142-A228-C800044FE57F}" destId="{C44ED3D2-A3B3-904C-B522-A9E753DA7DC0}" srcOrd="27" destOrd="0" presId="urn:microsoft.com/office/officeart/2005/8/layout/cycle8"/>
    <dgm:cxn modelId="{DE9DAE5B-38BB-FB46-9DA7-5CE92E387CEC}" type="presParOf" srcId="{011DEDF3-0107-5142-A228-C800044FE57F}" destId="{BB3A7203-1D52-6240-A9B0-7271DEE3EE4A}" srcOrd="28" destOrd="0" presId="urn:microsoft.com/office/officeart/2005/8/layout/cycle8"/>
    <dgm:cxn modelId="{921966BA-19C2-6649-BE49-33E58D853053}" type="presParOf" srcId="{011DEDF3-0107-5142-A228-C800044FE57F}" destId="{EC0580EB-F71D-7F43-AE92-8E130E0EF971}" srcOrd="2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DC1B5-DD98-574B-AC35-4B2A8FC0D944}">
      <dsp:nvSpPr>
        <dsp:cNvPr id="0" name=""/>
        <dsp:cNvSpPr/>
      </dsp:nvSpPr>
      <dsp:spPr>
        <a:xfrm>
          <a:off x="307009" y="91140"/>
          <a:ext cx="1462173" cy="1462173"/>
        </a:xfrm>
        <a:prstGeom prst="pie">
          <a:avLst>
            <a:gd name="adj1" fmla="val 16200000"/>
            <a:gd name="adj2" fmla="val 198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1072909" y="277916"/>
        <a:ext cx="382950" cy="295916"/>
      </dsp:txXfrm>
    </dsp:sp>
    <dsp:sp modelId="{FA8B10F4-1716-0D4F-8946-2BD0BCFF76D4}">
      <dsp:nvSpPr>
        <dsp:cNvPr id="0" name=""/>
        <dsp:cNvSpPr/>
      </dsp:nvSpPr>
      <dsp:spPr>
        <a:xfrm>
          <a:off x="324416" y="121254"/>
          <a:ext cx="1462173" cy="1462173"/>
        </a:xfrm>
        <a:prstGeom prst="pie">
          <a:avLst>
            <a:gd name="adj1" fmla="val 19800000"/>
            <a:gd name="adj2" fmla="val 18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1316605" y="713086"/>
        <a:ext cx="400357" cy="287212"/>
      </dsp:txXfrm>
    </dsp:sp>
    <dsp:sp modelId="{5BB35CE9-353A-FC44-93B1-D87A8170D99A}">
      <dsp:nvSpPr>
        <dsp:cNvPr id="0" name=""/>
        <dsp:cNvSpPr/>
      </dsp:nvSpPr>
      <dsp:spPr>
        <a:xfrm>
          <a:off x="307009" y="151368"/>
          <a:ext cx="1462173" cy="1462173"/>
        </a:xfrm>
        <a:prstGeom prst="pie">
          <a:avLst>
            <a:gd name="adj1" fmla="val 1800000"/>
            <a:gd name="adj2" fmla="val 54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1072909" y="1139554"/>
        <a:ext cx="382950" cy="295916"/>
      </dsp:txXfrm>
    </dsp:sp>
    <dsp:sp modelId="{73A0E037-86C6-7B41-9114-5D4F31E08C88}">
      <dsp:nvSpPr>
        <dsp:cNvPr id="0" name=""/>
        <dsp:cNvSpPr/>
      </dsp:nvSpPr>
      <dsp:spPr>
        <a:xfrm>
          <a:off x="272195" y="151368"/>
          <a:ext cx="1462173" cy="1462173"/>
        </a:xfrm>
        <a:prstGeom prst="pie">
          <a:avLst>
            <a:gd name="adj1" fmla="val 5400000"/>
            <a:gd name="adj2" fmla="val 90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585518" y="1139554"/>
        <a:ext cx="382950" cy="295916"/>
      </dsp:txXfrm>
    </dsp:sp>
    <dsp:sp modelId="{4A05BA7F-13F5-6F4D-9438-34315E0B29D9}">
      <dsp:nvSpPr>
        <dsp:cNvPr id="0" name=""/>
        <dsp:cNvSpPr/>
      </dsp:nvSpPr>
      <dsp:spPr>
        <a:xfrm>
          <a:off x="254788" y="121254"/>
          <a:ext cx="1462173" cy="1462173"/>
        </a:xfrm>
        <a:prstGeom prst="pie">
          <a:avLst>
            <a:gd name="adj1" fmla="val 9000000"/>
            <a:gd name="adj2" fmla="val 126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324416" y="713086"/>
        <a:ext cx="400357" cy="287212"/>
      </dsp:txXfrm>
    </dsp:sp>
    <dsp:sp modelId="{7B0A8251-83FC-AE42-96A3-753AF3BAFAE2}">
      <dsp:nvSpPr>
        <dsp:cNvPr id="0" name=""/>
        <dsp:cNvSpPr/>
      </dsp:nvSpPr>
      <dsp:spPr>
        <a:xfrm>
          <a:off x="272195" y="91140"/>
          <a:ext cx="1462173" cy="1462173"/>
        </a:xfrm>
        <a:prstGeom prst="pie">
          <a:avLst>
            <a:gd name="adj1" fmla="val 12600000"/>
            <a:gd name="adj2" fmla="val 16200000"/>
          </a:avLst>
        </a:prstGeom>
        <a:noFill/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585518" y="277916"/>
        <a:ext cx="382950" cy="295916"/>
      </dsp:txXfrm>
    </dsp:sp>
    <dsp:sp modelId="{DF9E42BF-9842-9340-881D-1E87FA7B7871}">
      <dsp:nvSpPr>
        <dsp:cNvPr id="0" name=""/>
        <dsp:cNvSpPr/>
      </dsp:nvSpPr>
      <dsp:spPr>
        <a:xfrm>
          <a:off x="216440" y="625"/>
          <a:ext cx="1643204" cy="1643204"/>
        </a:xfrm>
        <a:prstGeom prst="circularArrow">
          <a:avLst>
            <a:gd name="adj1" fmla="val 5085"/>
            <a:gd name="adj2" fmla="val 327528"/>
            <a:gd name="adj3" fmla="val 19472472"/>
            <a:gd name="adj4" fmla="val 16200251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3FCEC-D44C-634E-B679-7B636225944A}">
      <dsp:nvSpPr>
        <dsp:cNvPr id="0" name=""/>
        <dsp:cNvSpPr/>
      </dsp:nvSpPr>
      <dsp:spPr>
        <a:xfrm>
          <a:off x="233847" y="30739"/>
          <a:ext cx="1643204" cy="1643204"/>
        </a:xfrm>
        <a:prstGeom prst="circularArrow">
          <a:avLst>
            <a:gd name="adj1" fmla="val 5085"/>
            <a:gd name="adj2" fmla="val 327528"/>
            <a:gd name="adj3" fmla="val 1472472"/>
            <a:gd name="adj4" fmla="val 19800000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1B9FE-EAF0-5040-9970-B0087BDBC9C2}">
      <dsp:nvSpPr>
        <dsp:cNvPr id="0" name=""/>
        <dsp:cNvSpPr/>
      </dsp:nvSpPr>
      <dsp:spPr>
        <a:xfrm>
          <a:off x="216440" y="60852"/>
          <a:ext cx="1643204" cy="1643204"/>
        </a:xfrm>
        <a:prstGeom prst="circularArrow">
          <a:avLst>
            <a:gd name="adj1" fmla="val 5085"/>
            <a:gd name="adj2" fmla="val 327528"/>
            <a:gd name="adj3" fmla="val 5072221"/>
            <a:gd name="adj4" fmla="val 1800000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ED3D2-A3B3-904C-B522-A9E753DA7DC0}">
      <dsp:nvSpPr>
        <dsp:cNvPr id="0" name=""/>
        <dsp:cNvSpPr/>
      </dsp:nvSpPr>
      <dsp:spPr>
        <a:xfrm>
          <a:off x="181733" y="60852"/>
          <a:ext cx="1643204" cy="1643204"/>
        </a:xfrm>
        <a:prstGeom prst="circularArrow">
          <a:avLst>
            <a:gd name="adj1" fmla="val 5085"/>
            <a:gd name="adj2" fmla="val 327528"/>
            <a:gd name="adj3" fmla="val 8672472"/>
            <a:gd name="adj4" fmla="val 5400251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A7203-1D52-6240-A9B0-7271DEE3EE4A}">
      <dsp:nvSpPr>
        <dsp:cNvPr id="0" name=""/>
        <dsp:cNvSpPr/>
      </dsp:nvSpPr>
      <dsp:spPr>
        <a:xfrm>
          <a:off x="164326" y="30739"/>
          <a:ext cx="1643204" cy="1643204"/>
        </a:xfrm>
        <a:prstGeom prst="circularArrow">
          <a:avLst>
            <a:gd name="adj1" fmla="val 5085"/>
            <a:gd name="adj2" fmla="val 327528"/>
            <a:gd name="adj3" fmla="val 12272472"/>
            <a:gd name="adj4" fmla="val 9000000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580EB-F71D-7F43-AE92-8E130E0EF971}">
      <dsp:nvSpPr>
        <dsp:cNvPr id="0" name=""/>
        <dsp:cNvSpPr/>
      </dsp:nvSpPr>
      <dsp:spPr>
        <a:xfrm>
          <a:off x="181733" y="625"/>
          <a:ext cx="1643204" cy="1643204"/>
        </a:xfrm>
        <a:prstGeom prst="circularArrow">
          <a:avLst>
            <a:gd name="adj1" fmla="val 5085"/>
            <a:gd name="adj2" fmla="val 327528"/>
            <a:gd name="adj3" fmla="val 15872221"/>
            <a:gd name="adj4" fmla="val 12600000"/>
            <a:gd name="adj5" fmla="val 5932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2FF6-67C6-DC74-6AAB-656F7544A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141AB-2A1C-E2DC-B733-0A19526B8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B58F5-2F39-7171-DC65-3BDD162A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68D5E-1648-4D5A-5A33-C327EE28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25346-EA9E-7501-7107-8BC03541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810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9A2D-A6D2-6F25-9A54-7779FAB8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866C-D81E-E010-788B-97D3CCF03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0F069-84F0-17F1-55C7-88923911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51FD6-0DFD-8566-8627-B38A6EEE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32AE2-B466-C3A8-F5DE-137EF5E8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826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220F-ACDE-5E43-3975-3561FBE9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4F7E-AB39-45DC-9F3E-83AB2FF2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3F493-18E2-4C01-CBF9-292E37D9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62EE1-3A5D-4F01-C611-08499982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63E00-2954-5D3F-FB65-854AF427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20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ACAE-DF10-8844-E107-B5D018FF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DC5C-45ED-19A0-09BF-DB0BCE2D8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E9A97-AA1E-378C-6EE5-213B715E9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74921-E015-5ED4-FD0D-FF38AAA0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A4951-6C64-F7C7-DDF2-1C89E0F6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A9FE8-D1C9-B1D7-6D41-EEEDBDF6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52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CAD4-02EF-F9A8-AFA2-FD32FB71C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6A060-663D-59E0-5535-213E088C7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CAC15-6B90-C0DD-12E3-0DC6F2B50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98041-823C-2DBA-05B2-13CF1DDB3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90C2C-4F93-DAD8-6F1C-8C51958D0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AB75D-BE88-7EB9-618D-4F458BA5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EFD44-7ECC-1DEA-72C3-AFA763B9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A044A-054D-3322-B3B1-A5A2CE4B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D18D-1869-8A67-ECB8-22398DC0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92300-D89A-9752-9F9F-7E1293E78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3A22-9FE7-A8D2-4440-285C3EC5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4F841-DBAA-D428-E020-E471ED77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98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5AD13-234C-5C0B-4DA9-D71E8458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AF453-DF5E-C127-BF47-CCA1A0D2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A1ED0-BB2B-46B8-AB01-743D1973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59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002E-0676-5A8F-9EF9-F665B279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2ED04-B448-0A5B-EED0-BD3C39443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92C53-57FB-1707-D0EC-A06CE1726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644E9-3F21-6748-A101-1DCA8255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E5270-2DB4-E179-D0D2-4D16DC10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B9A1D-D76E-335E-DA24-AC705C2E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69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A9A6-12B1-D999-B6F3-EC395454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0EE72-D2E8-087D-518E-96B5FA61E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94AC6-2B67-03B4-AC8E-FEC6C77A0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33A06-D012-B2CA-452C-C64E2A5C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217B8-7286-2740-A497-189C6598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D0EAB-29BF-5E8E-DCEE-5927B5B7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66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596E-220A-A946-F340-66191BDF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DE69D-AD4A-CB2B-FB0E-459444484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55CFC-6D45-4345-40AA-B9BAE911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582E6-9696-7345-2E69-4B768B2F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8D13E-0110-D010-3EB8-EF901983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59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6262F-2B5C-FBC1-8B15-6D4D97B48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BB8B9-C21C-46A1-963F-6D0D3050D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59C8-6147-5DAA-D9B8-C8E93E85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188AC-C612-8D43-1449-57BC2C9B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3BCDF-4279-D49C-E6ED-C6184394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609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 option with tex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1C8DF0-885B-D4C8-B9B3-BF69A6CF15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7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4" name="Logo_WH" descr="Accenture logo in white">
            <a:extLst>
              <a:ext uri="{FF2B5EF4-FFF2-40B4-BE49-F238E27FC236}">
                <a16:creationId xmlns:a16="http://schemas.microsoft.com/office/drawing/2014/main" id="{7CC626E0-40D0-5F04-1044-245D345DE6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791535" y="608310"/>
            <a:ext cx="1569720" cy="413539"/>
            <a:chOff x="1561" y="187"/>
            <a:chExt cx="4536" cy="1195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02DC7B-A111-C51E-DD09-04A824EC0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500">
                <a:latin typeface="Graphik Regular" panose="020B0503030202060203" pitchFamily="34" charset="-18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3C76F4C-D746-C5A4-2DC4-862D03515AA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500">
                <a:latin typeface="Graphik Regular" panose="020B0503030202060203" pitchFamily="34" charset="-18"/>
              </a:endParaRP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08B71D-19A7-0ADA-60CF-70131C85EA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1535" y="2043698"/>
            <a:ext cx="4489303" cy="204603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5000" b="1" i="0">
                <a:solidFill>
                  <a:schemeClr val="bg1"/>
                </a:solidFill>
                <a:latin typeface="Graphik Semibold" panose="020B0503030202060203" pitchFamily="34" charset="77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28591" indent="0">
              <a:buFontTx/>
              <a:buNone/>
              <a:defRPr/>
            </a:lvl3pPr>
            <a:lvl4pPr marL="457182" indent="0">
              <a:buFontTx/>
              <a:buNone/>
              <a:defRPr/>
            </a:lvl4pPr>
            <a:lvl5pPr marL="685773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7F2630-1EA7-C8DA-4E37-34D0FEF1C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1535" y="4541213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75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A1C50B2-C689-B012-4A6A-5182B2982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1535" y="4899802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333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48DD2B2-FF2E-8E14-18D6-CDF6C97F74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535" y="5197323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333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9136880-59B9-B952-EED3-02D1BC438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535" y="5468419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333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EB14AF5-2472-CD4A-98BC-D6BCDF0D4A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3495" y="5769042"/>
            <a:ext cx="4103688" cy="281995"/>
          </a:xfrm>
        </p:spPr>
        <p:txBody>
          <a:bodyPr/>
          <a:lstStyle>
            <a:lvl1pPr>
              <a:spcAft>
                <a:spcPts val="500"/>
              </a:spcAft>
              <a:defRPr sz="1333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28591" indent="0">
              <a:buNone/>
              <a:defRPr/>
            </a:lvl3pPr>
            <a:lvl4pPr marL="457182" indent="0">
              <a:buNone/>
              <a:defRPr/>
            </a:lvl4pPr>
            <a:lvl5pPr marL="685773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10" name="Picture 9" descr="A person's face on a cell phone&#10;&#10;Description automatically generated">
            <a:extLst>
              <a:ext uri="{FF2B5EF4-FFF2-40B4-BE49-F238E27FC236}">
                <a16:creationId xmlns:a16="http://schemas.microsoft.com/office/drawing/2014/main" id="{06D25DBD-3647-8831-DE6C-E49A4747C4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337" y="487746"/>
            <a:ext cx="5334744" cy="588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82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9C43FEFF-5767-1F49-1138-C7A05D5F6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3A0FD18-7E43-B196-AF23-135599265983}"/>
              </a:ext>
            </a:extLst>
          </p:cNvPr>
          <p:cNvSpPr/>
          <p:nvPr userDrawn="1"/>
        </p:nvSpPr>
        <p:spPr>
          <a:xfrm>
            <a:off x="0" y="1"/>
            <a:ext cx="12192001" cy="6141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EB9CE-C1C4-8AF4-319B-9C7FD8ACA2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292" y="685271"/>
            <a:ext cx="11170591" cy="616479"/>
          </a:xfrm>
        </p:spPr>
        <p:txBody>
          <a:bodyPr/>
          <a:lstStyle>
            <a:lvl1pPr>
              <a:spcAft>
                <a:spcPts val="1000"/>
              </a:spcAft>
              <a:defRPr sz="2667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058E894-35A9-49D0-E3FB-C4785E59D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8000" y="1634223"/>
            <a:ext cx="11175883" cy="4408861"/>
          </a:xfrm>
        </p:spPr>
        <p:txBody>
          <a:bodyPr/>
          <a:lstStyle>
            <a:lvl1pPr>
              <a:spcAft>
                <a:spcPts val="1000"/>
              </a:spcAft>
              <a:defRPr sz="1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228591" indent="0">
              <a:buNone/>
              <a:defRPr sz="2000"/>
            </a:lvl3pPr>
            <a:lvl4pPr marL="457182" indent="0">
              <a:buNone/>
              <a:defRPr sz="2000"/>
            </a:lvl4pPr>
            <a:lvl5pPr marL="685773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D3CA7F-C375-C155-9455-F4C79BB2840E}"/>
              </a:ext>
            </a:extLst>
          </p:cNvPr>
          <p:cNvSpPr txBox="1"/>
          <p:nvPr userDrawn="1"/>
        </p:nvSpPr>
        <p:spPr>
          <a:xfrm>
            <a:off x="7112000" y="6356979"/>
            <a:ext cx="4276450" cy="279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141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49"/>
              </a:spcAft>
              <a:buClrTx/>
              <a:buSzTx/>
              <a:buFontTx/>
              <a:buNone/>
              <a:tabLst/>
              <a:defRPr/>
            </a:pPr>
            <a:r>
              <a:rPr lang="en-GB" sz="833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833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82DF77-28DA-B400-E7A0-12D2AC30C499}"/>
              </a:ext>
            </a:extLst>
          </p:cNvPr>
          <p:cNvSpPr txBox="1"/>
          <p:nvPr userDrawn="1"/>
        </p:nvSpPr>
        <p:spPr>
          <a:xfrm>
            <a:off x="11239501" y="6355212"/>
            <a:ext cx="523544" cy="28278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141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4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09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141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64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73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845E71-5463-AB55-3C01-7A5B51FBD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0" y="6338172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93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_0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FFC802-51DB-D285-06AB-0EF4E0867AE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5C2BF-2FE1-A47F-E3F1-8CFE1657EA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30" t="4133" r="1930" b="4393"/>
          <a:stretch/>
        </p:blipFill>
        <p:spPr>
          <a:xfrm>
            <a:off x="235324" y="283536"/>
            <a:ext cx="11721353" cy="6273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591">
              <a:spcAft>
                <a:spcPts val="1200"/>
              </a:spcAft>
            </a:pPr>
            <a:endParaRPr lang="en-US" sz="1800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7AEAE-C8F1-6D76-12A9-5BBE33CA45BB}"/>
              </a:ext>
            </a:extLst>
          </p:cNvPr>
          <p:cNvSpPr txBox="1"/>
          <p:nvPr userDrawn="1"/>
        </p:nvSpPr>
        <p:spPr>
          <a:xfrm>
            <a:off x="13169348" y="-7454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190492">
              <a:spcAft>
                <a:spcPts val="1000"/>
              </a:spcAft>
            </a:pPr>
            <a:endParaRPr lang="en-US" sz="1500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62683-9F69-179F-06BF-1201B30A82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750" y="2825750"/>
            <a:ext cx="9842500" cy="1206500"/>
          </a:xfrm>
        </p:spPr>
        <p:txBody>
          <a:bodyPr/>
          <a:lstStyle>
            <a:lvl1pPr marL="0" algn="l" defTabSz="761970" rtl="0" eaLnBrk="1" latinLnBrk="0" hangingPunct="1">
              <a:spcAft>
                <a:spcPts val="200"/>
              </a:spcAft>
              <a:defRPr lang="en-GB" sz="20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Key Message goes here</a:t>
            </a:r>
          </a:p>
        </p:txBody>
      </p:sp>
    </p:spTree>
    <p:extLst>
      <p:ext uri="{BB962C8B-B14F-4D97-AF65-F5344CB8AC3E}">
        <p14:creationId xmlns:p14="http://schemas.microsoft.com/office/powerpoint/2010/main" val="16855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55A18-E24C-80B9-6337-0E3207B5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C3C0C-02CF-E6D5-EC19-6EDBDCBA2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5387D-8ADF-99D1-860C-78E407865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697C6-A5C3-4A1F-A563-CBF4B3E9F02D}" type="datetimeFigureOut">
              <a:rPr lang="en-IN" smtClean="0"/>
              <a:t>02-09-2023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20632-75C5-9146-B542-FE351E52C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92541-8463-4BD5-E3DB-5AB7EA050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5213D-2162-4B89-917E-66AB59F9B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40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chart" Target="../charts/char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chart" Target="../charts/chart1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.xml"/><Relationship Id="rId9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microsoft.com/office/2007/relationships/hdphoto" Target="../media/hdphoto3.wdp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17" Type="http://schemas.openxmlformats.org/officeDocument/2006/relationships/image" Target="../media/image47.png"/><Relationship Id="rId2" Type="http://schemas.openxmlformats.org/officeDocument/2006/relationships/image" Target="../media/image33.png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0.sv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26" Type="http://schemas.openxmlformats.org/officeDocument/2006/relationships/image" Target="../media/image34.png"/><Relationship Id="rId3" Type="http://schemas.openxmlformats.org/officeDocument/2006/relationships/image" Target="../media/image49.svg"/><Relationship Id="rId21" Type="http://schemas.openxmlformats.org/officeDocument/2006/relationships/image" Target="../media/image62.png"/><Relationship Id="rId7" Type="http://schemas.openxmlformats.org/officeDocument/2006/relationships/image" Target="../media/image53.svg"/><Relationship Id="rId12" Type="http://schemas.microsoft.com/office/2007/relationships/diagramDrawing" Target="../diagrams/drawing1.xml"/><Relationship Id="rId17" Type="http://schemas.openxmlformats.org/officeDocument/2006/relationships/image" Target="../media/image58.png"/><Relationship Id="rId25" Type="http://schemas.openxmlformats.org/officeDocument/2006/relationships/image" Target="../media/image33.png"/><Relationship Id="rId2" Type="http://schemas.openxmlformats.org/officeDocument/2006/relationships/image" Target="../media/image48.png"/><Relationship Id="rId16" Type="http://schemas.openxmlformats.org/officeDocument/2006/relationships/image" Target="../media/image57.svg"/><Relationship Id="rId20" Type="http://schemas.openxmlformats.org/officeDocument/2006/relationships/image" Target="../media/image61.sv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2.png"/><Relationship Id="rId11" Type="http://schemas.openxmlformats.org/officeDocument/2006/relationships/diagramColors" Target="../diagrams/colors1.xml"/><Relationship Id="rId24" Type="http://schemas.openxmlformats.org/officeDocument/2006/relationships/image" Target="../media/image65.svg"/><Relationship Id="rId5" Type="http://schemas.openxmlformats.org/officeDocument/2006/relationships/image" Target="../media/image51.sv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35.png"/><Relationship Id="rId10" Type="http://schemas.openxmlformats.org/officeDocument/2006/relationships/diagramQuickStyle" Target="../diagrams/quickStyle1.xml"/><Relationship Id="rId19" Type="http://schemas.openxmlformats.org/officeDocument/2006/relationships/image" Target="../media/image60.png"/><Relationship Id="rId4" Type="http://schemas.openxmlformats.org/officeDocument/2006/relationships/image" Target="../media/image50.png"/><Relationship Id="rId9" Type="http://schemas.openxmlformats.org/officeDocument/2006/relationships/diagramLayout" Target="../diagrams/layout1.xml"/><Relationship Id="rId14" Type="http://schemas.openxmlformats.org/officeDocument/2006/relationships/image" Target="../media/image55.svg"/><Relationship Id="rId22" Type="http://schemas.openxmlformats.org/officeDocument/2006/relationships/image" Target="../media/image63.svg"/><Relationship Id="rId27" Type="http://schemas.openxmlformats.org/officeDocument/2006/relationships/image" Target="../media/image66.png"/><Relationship Id="rId30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1B211-C27B-EA5D-38B4-63621D2401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210" y="3692117"/>
            <a:ext cx="4103688" cy="2819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HelLuminati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| IIM Lucknow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30E68A-B4BB-6C72-94B6-3B0BF76AD7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211" y="1456828"/>
            <a:ext cx="4976628" cy="2046039"/>
          </a:xfrm>
        </p:spPr>
        <p:txBody>
          <a:bodyPr anchor="ctr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err="1">
                <a:solidFill>
                  <a:srgbClr val="92D050"/>
                </a:solidFill>
              </a:rPr>
              <a:t>EcoDeliver</a:t>
            </a:r>
            <a:r>
              <a:rPr lang="en-US"/>
              <a:t> : Sustainably rethinking last mile delivery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AF75968-4269-2D43-B4FE-0B36FF178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79638"/>
              </p:ext>
            </p:extLst>
          </p:nvPr>
        </p:nvGraphicFramePr>
        <p:xfrm>
          <a:off x="304210" y="5243315"/>
          <a:ext cx="6093046" cy="1364839"/>
        </p:xfrm>
        <a:graphic>
          <a:graphicData uri="http://schemas.openxmlformats.org/drawingml/2006/table">
            <a:tbl>
              <a:tblPr/>
              <a:tblGrid>
                <a:gridCol w="880871">
                  <a:extLst>
                    <a:ext uri="{9D8B030D-6E8A-4147-A177-3AD203B41FA5}">
                      <a16:colId xmlns:a16="http://schemas.microsoft.com/office/drawing/2014/main" val="2177573315"/>
                    </a:ext>
                  </a:extLst>
                </a:gridCol>
                <a:gridCol w="1368548">
                  <a:extLst>
                    <a:ext uri="{9D8B030D-6E8A-4147-A177-3AD203B41FA5}">
                      <a16:colId xmlns:a16="http://schemas.microsoft.com/office/drawing/2014/main" val="264748905"/>
                    </a:ext>
                  </a:extLst>
                </a:gridCol>
                <a:gridCol w="1226634">
                  <a:extLst>
                    <a:ext uri="{9D8B030D-6E8A-4147-A177-3AD203B41FA5}">
                      <a16:colId xmlns:a16="http://schemas.microsoft.com/office/drawing/2014/main" val="2763726235"/>
                    </a:ext>
                  </a:extLst>
                </a:gridCol>
                <a:gridCol w="1305645">
                  <a:extLst>
                    <a:ext uri="{9D8B030D-6E8A-4147-A177-3AD203B41FA5}">
                      <a16:colId xmlns:a16="http://schemas.microsoft.com/office/drawing/2014/main" val="1019835175"/>
                    </a:ext>
                  </a:extLst>
                </a:gridCol>
                <a:gridCol w="1311348">
                  <a:extLst>
                    <a:ext uri="{9D8B030D-6E8A-4147-A177-3AD203B41FA5}">
                      <a16:colId xmlns:a16="http://schemas.microsoft.com/office/drawing/2014/main" val="978935856"/>
                    </a:ext>
                  </a:extLst>
                </a:gridCol>
              </a:tblGrid>
              <a:tr h="31099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Member</a:t>
                      </a:r>
                      <a:endParaRPr lang="en-US" sz="2800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Kripi Badonia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Kritika Prakash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Shivam Pathak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Manav Sehgal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64085"/>
                  </a:ext>
                </a:extLst>
              </a:tr>
              <a:tr h="31099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Feathers​</a:t>
                      </a:r>
                      <a:endParaRPr lang="en-US" sz="1300" b="1" i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pre-IIML</a:t>
                      </a:r>
                      <a:endParaRPr lang="en-US" sz="2800" b="1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DTU, DCE</a:t>
                      </a:r>
                      <a:b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BCG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SNU</a:t>
                      </a:r>
                    </a:p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American Express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MIT, Manipal</a:t>
                      </a:r>
                      <a:b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JLL​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Hansraj, DU</a:t>
                      </a:r>
                      <a:b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Bain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9026325"/>
                  </a:ext>
                </a:extLst>
              </a:tr>
              <a:tr h="27890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Summers @ IIML</a:t>
                      </a:r>
                      <a:r>
                        <a:rPr lang="en-US" sz="900" b="0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3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BCG</a:t>
                      </a:r>
                      <a:endParaRPr lang="en-US" sz="13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Auctus Advisors</a:t>
                      </a:r>
                      <a:endParaRPr lang="en-US" sz="13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​Accenture Strategy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1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Yet to conquer!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769031"/>
                  </a:ext>
                </a:extLst>
              </a:tr>
              <a:tr h="27890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MBA Year 1 standouts</a:t>
                      </a:r>
                    </a:p>
                  </a:txBody>
                  <a:tcPr marL="76200" marR="76200" marT="38481" marB="384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Consulting &amp; Strategy Club, Abhivyakti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Manfest-Varchasva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Manfest-Varchasva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1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Yet to conquer!</a:t>
                      </a:r>
                    </a:p>
                  </a:txBody>
                  <a:tcPr marL="76200" marR="76200" marT="38481" marB="38481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9709653"/>
                  </a:ext>
                </a:extLst>
              </a:tr>
            </a:tbl>
          </a:graphicData>
        </a:graphic>
      </p:graphicFrame>
      <p:sp>
        <p:nvSpPr>
          <p:cNvPr id="19" name="Rectangle 1">
            <a:extLst>
              <a:ext uri="{FF2B5EF4-FFF2-40B4-BE49-F238E27FC236}">
                <a16:creationId xmlns:a16="http://schemas.microsoft.com/office/drawing/2014/main" id="{3D51AF33-9095-E34A-A74D-79A7F4C03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220" y="2785056"/>
            <a:ext cx="8280124" cy="35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200" tIns="38100" rIns="76200" bIns="381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761970"/>
            <a:r>
              <a:rPr lang="en-US" altLang="en-US" sz="917">
                <a:solidFill>
                  <a:schemeClr val="bg1"/>
                </a:solidFill>
                <a:latin typeface="Times" pitchFamily="2" charset="0"/>
              </a:rPr>
              <a:t> </a:t>
            </a:r>
            <a:endParaRPr lang="en-US" altLang="en-US" sz="917">
              <a:solidFill>
                <a:schemeClr val="bg1"/>
              </a:solidFill>
            </a:endParaRPr>
          </a:p>
          <a:p>
            <a:pPr defTabSz="761970"/>
            <a:endParaRPr lang="en-US" altLang="en-US" sz="917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0109DB-CBCD-9448-9851-06FA20107AC4}"/>
              </a:ext>
            </a:extLst>
          </p:cNvPr>
          <p:cNvGrpSpPr/>
          <p:nvPr/>
        </p:nvGrpSpPr>
        <p:grpSpPr>
          <a:xfrm>
            <a:off x="5462851" y="4596220"/>
            <a:ext cx="611372" cy="547587"/>
            <a:chOff x="8156556" y="3012670"/>
            <a:chExt cx="2327080" cy="2329568"/>
          </a:xfrm>
        </p:grpSpPr>
        <p:pic>
          <p:nvPicPr>
            <p:cNvPr id="30" name="Picture 3">
              <a:extLst>
                <a:ext uri="{FF2B5EF4-FFF2-40B4-BE49-F238E27FC236}">
                  <a16:creationId xmlns:a16="http://schemas.microsoft.com/office/drawing/2014/main" id="{C1E26E97-8D66-EC4E-802A-572948A66A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 l="12351" r="12649"/>
            <a:stretch/>
          </p:blipFill>
          <p:spPr bwMode="auto">
            <a:xfrm>
              <a:off x="8156556" y="3015158"/>
              <a:ext cx="2327080" cy="2327080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5B8CEC6-47ED-BD4B-BFD8-3671F3EA2BA6}"/>
                </a:ext>
              </a:extLst>
            </p:cNvPr>
            <p:cNvSpPr/>
            <p:nvPr/>
          </p:nvSpPr>
          <p:spPr>
            <a:xfrm>
              <a:off x="8156559" y="3012670"/>
              <a:ext cx="2318658" cy="2318656"/>
            </a:xfrm>
            <a:prstGeom prst="ellipse">
              <a:avLst/>
            </a:prstGeom>
            <a:noFill/>
            <a:ln w="76200">
              <a:gradFill flip="none" rotWithShape="1">
                <a:gsLst>
                  <a:gs pos="0">
                    <a:schemeClr val="accent2"/>
                  </a:gs>
                  <a:gs pos="100000">
                    <a:schemeClr val="tx2"/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5000"/>
                </a:lnSpc>
              </a:pPr>
              <a:endParaRPr lang="en-US" sz="1500" kern="0">
                <a:solidFill>
                  <a:prstClr val="white">
                    <a:lumMod val="50000"/>
                  </a:prstClr>
                </a:solidFill>
                <a:latin typeface="Arial"/>
              </a:endParaRPr>
            </a:p>
          </p:txBody>
        </p:sp>
      </p:grpSp>
      <p:pic>
        <p:nvPicPr>
          <p:cNvPr id="4" name="Picture 3" descr="A person standing in a room&#10;&#10;Description automatically generated">
            <a:extLst>
              <a:ext uri="{FF2B5EF4-FFF2-40B4-BE49-F238E27FC236}">
                <a16:creationId xmlns:a16="http://schemas.microsoft.com/office/drawing/2014/main" id="{97E54252-79C7-5238-4DA1-43199515C11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5" t="26435" r="27268" b="26808"/>
          <a:stretch/>
        </p:blipFill>
        <p:spPr>
          <a:xfrm rot="5400000">
            <a:off x="3976023" y="4291506"/>
            <a:ext cx="980762" cy="7812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32C0B5-497C-92F9-1BE2-86A7F879A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7970" y="4191725"/>
            <a:ext cx="936623" cy="96683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 descr="A person with long hair&#10;&#10;Description automatically generated">
            <a:extLst>
              <a:ext uri="{FF2B5EF4-FFF2-40B4-BE49-F238E27FC236}">
                <a16:creationId xmlns:a16="http://schemas.microsoft.com/office/drawing/2014/main" id="{ACBD461B-C80B-B6EA-7D74-E60F62B78F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220" y="4234809"/>
            <a:ext cx="738489" cy="90925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 descr="A person sitting in a chair&#10;&#10;Description automatically generated">
            <a:extLst>
              <a:ext uri="{FF2B5EF4-FFF2-40B4-BE49-F238E27FC236}">
                <a16:creationId xmlns:a16="http://schemas.microsoft.com/office/drawing/2014/main" id="{FD6AF8A9-C5BC-B8F1-2370-F4BF1E67186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3" t="15942" r="1" b="15151"/>
          <a:stretch/>
        </p:blipFill>
        <p:spPr>
          <a:xfrm>
            <a:off x="2740638" y="4233906"/>
            <a:ext cx="828095" cy="90733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058593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A2842-23D1-9D4C-8C34-54F396B0B4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617" y="121491"/>
            <a:ext cx="11972473" cy="6276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</a:rPr>
              <a:t>EcoDeliver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needs to rethink supply chain architecture to solve for key challenges of LMD and changing consumer preferences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0B5A0-D203-E84F-A2D0-8DA8E903C9E9}"/>
              </a:ext>
            </a:extLst>
          </p:cNvPr>
          <p:cNvSpPr/>
          <p:nvPr/>
        </p:nvSpPr>
        <p:spPr>
          <a:xfrm>
            <a:off x="78617" y="852427"/>
            <a:ext cx="2669166" cy="141972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E7244-BDFD-A648-BB48-70D2A942EDDF}"/>
              </a:ext>
            </a:extLst>
          </p:cNvPr>
          <p:cNvSpPr txBox="1"/>
          <p:nvPr/>
        </p:nvSpPr>
        <p:spPr>
          <a:xfrm>
            <a:off x="298539" y="755847"/>
            <a:ext cx="2182203" cy="259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E-retail to grow 4x by 2025</a:t>
            </a:r>
            <a:r>
              <a:rPr lang="en-US" sz="1167" b="1" baseline="3000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167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E7DB8-964B-8B43-A9BC-D9B82DA166CF}"/>
              </a:ext>
            </a:extLst>
          </p:cNvPr>
          <p:cNvSpPr/>
          <p:nvPr/>
        </p:nvSpPr>
        <p:spPr>
          <a:xfrm>
            <a:off x="5636157" y="845707"/>
            <a:ext cx="3281340" cy="141972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1B5A2-3DDB-0244-96D4-644FA9C3CE28}"/>
              </a:ext>
            </a:extLst>
          </p:cNvPr>
          <p:cNvSpPr txBox="1"/>
          <p:nvPr/>
        </p:nvSpPr>
        <p:spPr>
          <a:xfrm>
            <a:off x="5958500" y="755847"/>
            <a:ext cx="2669166" cy="259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...as does Indian regional demand</a:t>
            </a:r>
            <a:r>
              <a:rPr lang="en-US" sz="1167" b="1" baseline="3000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762378-766F-4941-B4FE-9D288D6E4E80}"/>
              </a:ext>
            </a:extLst>
          </p:cNvPr>
          <p:cNvSpPr/>
          <p:nvPr/>
        </p:nvSpPr>
        <p:spPr>
          <a:xfrm>
            <a:off x="9010934" y="827617"/>
            <a:ext cx="3034958" cy="508314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747FC-6584-EA47-B969-6F3BC58AFF79}"/>
              </a:ext>
            </a:extLst>
          </p:cNvPr>
          <p:cNvSpPr txBox="1"/>
          <p:nvPr/>
        </p:nvSpPr>
        <p:spPr>
          <a:xfrm>
            <a:off x="9166892" y="742787"/>
            <a:ext cx="2660083" cy="265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How-To-Win: </a:t>
            </a:r>
            <a:r>
              <a:rPr lang="en-US" sz="1100" b="1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EcoDeliver’s</a:t>
            </a:r>
            <a:r>
              <a:rPr lang="en-US" sz="11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disruption strategy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95F5F-47E0-8A35-27C1-69E4AB18AD75}"/>
              </a:ext>
            </a:extLst>
          </p:cNvPr>
          <p:cNvSpPr txBox="1"/>
          <p:nvPr/>
        </p:nvSpPr>
        <p:spPr>
          <a:xfrm>
            <a:off x="146108" y="3197872"/>
            <a:ext cx="21577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consumers are more likely to choose retailers that offer more sustainable delivery options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3EEB0D-F49E-B20D-8CC4-BE2BCAF1874D}"/>
              </a:ext>
            </a:extLst>
          </p:cNvPr>
          <p:cNvGrpSpPr/>
          <p:nvPr/>
        </p:nvGrpSpPr>
        <p:grpSpPr>
          <a:xfrm>
            <a:off x="831272" y="6234822"/>
            <a:ext cx="8382000" cy="491421"/>
            <a:chOff x="831272" y="6234822"/>
            <a:chExt cx="8382000" cy="491421"/>
          </a:xfrm>
        </p:grpSpPr>
        <p:sp>
          <p:nvSpPr>
            <p:cNvPr id="12" name="Chevron 11">
              <a:extLst>
                <a:ext uri="{FF2B5EF4-FFF2-40B4-BE49-F238E27FC236}">
                  <a16:creationId xmlns:a16="http://schemas.microsoft.com/office/drawing/2014/main" id="{758E03E1-4D25-7708-ABF2-1A47C8B77872}"/>
                </a:ext>
              </a:extLst>
            </p:cNvPr>
            <p:cNvSpPr/>
            <p:nvPr/>
          </p:nvSpPr>
          <p:spPr>
            <a:xfrm>
              <a:off x="2134955" y="6241611"/>
              <a:ext cx="1472541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SC Reinvention</a:t>
              </a:r>
            </a:p>
          </p:txBody>
        </p:sp>
        <p:sp>
          <p:nvSpPr>
            <p:cNvPr id="13" name="Chevron 12">
              <a:extLst>
                <a:ext uri="{FF2B5EF4-FFF2-40B4-BE49-F238E27FC236}">
                  <a16:creationId xmlns:a16="http://schemas.microsoft.com/office/drawing/2014/main" id="{B2C616AA-56C7-42F6-29D1-251BCF3DBC12}"/>
                </a:ext>
              </a:extLst>
            </p:cNvPr>
            <p:cNvSpPr/>
            <p:nvPr/>
          </p:nvSpPr>
          <p:spPr>
            <a:xfrm>
              <a:off x="3465614" y="6241611"/>
              <a:ext cx="1710047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Transportation</a:t>
              </a:r>
            </a:p>
          </p:txBody>
        </p:sp>
        <p:sp>
          <p:nvSpPr>
            <p:cNvPr id="14" name="Chevron 13">
              <a:extLst>
                <a:ext uri="{FF2B5EF4-FFF2-40B4-BE49-F238E27FC236}">
                  <a16:creationId xmlns:a16="http://schemas.microsoft.com/office/drawing/2014/main" id="{F2F6AE68-D908-6728-5B6A-1EA13793973F}"/>
                </a:ext>
              </a:extLst>
            </p:cNvPr>
            <p:cNvSpPr/>
            <p:nvPr/>
          </p:nvSpPr>
          <p:spPr>
            <a:xfrm>
              <a:off x="5020292" y="6241611"/>
              <a:ext cx="1472540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 </a:t>
              </a: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119BBBFF-6E5F-8273-056E-8D9FD62714E5}"/>
                </a:ext>
              </a:extLst>
            </p:cNvPr>
            <p:cNvSpPr/>
            <p:nvPr/>
          </p:nvSpPr>
          <p:spPr>
            <a:xfrm>
              <a:off x="6327570" y="6241611"/>
              <a:ext cx="1723901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Redefining P2P Ecosystem</a:t>
              </a:r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126D24D3-3918-FDA2-6126-F1D1D5A7CA81}"/>
                </a:ext>
              </a:extLst>
            </p:cNvPr>
            <p:cNvSpPr/>
            <p:nvPr/>
          </p:nvSpPr>
          <p:spPr>
            <a:xfrm>
              <a:off x="7881259" y="6241611"/>
              <a:ext cx="1332013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Win Win Win</a:t>
              </a:r>
            </a:p>
          </p:txBody>
        </p:sp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929465AC-23E7-EEA1-3F13-B97FA079F38C}"/>
                </a:ext>
              </a:extLst>
            </p:cNvPr>
            <p:cNvSpPr/>
            <p:nvPr/>
          </p:nvSpPr>
          <p:spPr>
            <a:xfrm>
              <a:off x="831272" y="6234822"/>
              <a:ext cx="1472541" cy="484632"/>
            </a:xfrm>
            <a:prstGeom prst="chevron">
              <a:avLst/>
            </a:prstGeom>
            <a:solidFill>
              <a:srgbClr val="7D38B4"/>
            </a:solidFill>
            <a:ln>
              <a:solidFill>
                <a:srgbClr val="D6BA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Industry Analysis</a:t>
              </a:r>
            </a:p>
          </p:txBody>
        </p:sp>
        <p:sp>
          <p:nvSpPr>
            <p:cNvPr id="211" name="Chevron 12">
              <a:extLst>
                <a:ext uri="{FF2B5EF4-FFF2-40B4-BE49-F238E27FC236}">
                  <a16:creationId xmlns:a16="http://schemas.microsoft.com/office/drawing/2014/main" id="{BE5ECCAF-6210-E7E1-8D35-7D800BDCC595}"/>
                </a:ext>
              </a:extLst>
            </p:cNvPr>
            <p:cNvSpPr/>
            <p:nvPr/>
          </p:nvSpPr>
          <p:spPr>
            <a:xfrm>
              <a:off x="3441246" y="6241611"/>
              <a:ext cx="1710047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Transportation</a:t>
              </a:r>
            </a:p>
          </p:txBody>
        </p:sp>
        <p:sp>
          <p:nvSpPr>
            <p:cNvPr id="212" name="Chevron 13">
              <a:extLst>
                <a:ext uri="{FF2B5EF4-FFF2-40B4-BE49-F238E27FC236}">
                  <a16:creationId xmlns:a16="http://schemas.microsoft.com/office/drawing/2014/main" id="{80293F18-4520-08EB-8FF3-C125AE57F4B2}"/>
                </a:ext>
              </a:extLst>
            </p:cNvPr>
            <p:cNvSpPr/>
            <p:nvPr/>
          </p:nvSpPr>
          <p:spPr>
            <a:xfrm>
              <a:off x="4995924" y="6241611"/>
              <a:ext cx="1472540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 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4D8DEFE-00D6-1740-AD63-5081CA18A83F}"/>
              </a:ext>
            </a:extLst>
          </p:cNvPr>
          <p:cNvSpPr/>
          <p:nvPr/>
        </p:nvSpPr>
        <p:spPr>
          <a:xfrm>
            <a:off x="2857387" y="845707"/>
            <a:ext cx="2669166" cy="141972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C69509-2568-CE4A-8D3C-270C7A959E57}"/>
              </a:ext>
            </a:extLst>
          </p:cNvPr>
          <p:cNvSpPr txBox="1"/>
          <p:nvPr/>
        </p:nvSpPr>
        <p:spPr>
          <a:xfrm>
            <a:off x="3034252" y="755847"/>
            <a:ext cx="2312073" cy="259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..but supply remains fragmented..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CCC51673-AC19-9B4C-B934-4431E1C2B4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286538"/>
              </p:ext>
            </p:extLst>
          </p:nvPr>
        </p:nvGraphicFramePr>
        <p:xfrm>
          <a:off x="2632746" y="586254"/>
          <a:ext cx="1766103" cy="1785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E7EE84B-D9F4-1F49-9A2A-7834E11E3CC5}"/>
              </a:ext>
            </a:extLst>
          </p:cNvPr>
          <p:cNvSpPr txBox="1"/>
          <p:nvPr/>
        </p:nvSpPr>
        <p:spPr>
          <a:xfrm rot="16200000">
            <a:off x="2444627" y="1360381"/>
            <a:ext cx="118318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50000"/>
                  </a:schemeClr>
                </a:solidFill>
              </a:rPr>
              <a:t>Market Share</a:t>
            </a:r>
            <a:r>
              <a:rPr lang="en-US" sz="1200" baseline="3000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n-IN" sz="1200" baseline="300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1503FD-B5A5-3545-9F29-C90D8E950FDF}"/>
              </a:ext>
            </a:extLst>
          </p:cNvPr>
          <p:cNvSpPr txBox="1"/>
          <p:nvPr/>
        </p:nvSpPr>
        <p:spPr>
          <a:xfrm>
            <a:off x="58289" y="891126"/>
            <a:ext cx="220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2">
                    <a:lumMod val="50000"/>
                  </a:schemeClr>
                </a:solidFill>
              </a:rPr>
              <a:t>Indian online retail market ($Bn)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44B26B53-A700-4C4A-AB71-A0D13A24ED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338241"/>
              </p:ext>
            </p:extLst>
          </p:nvPr>
        </p:nvGraphicFramePr>
        <p:xfrm>
          <a:off x="-59233" y="755846"/>
          <a:ext cx="2182203" cy="1578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5BA8D2-0347-364F-AA24-BA5AD3023C70}"/>
              </a:ext>
            </a:extLst>
          </p:cNvPr>
          <p:cNvCxnSpPr/>
          <p:nvPr/>
        </p:nvCxnSpPr>
        <p:spPr>
          <a:xfrm flipV="1">
            <a:off x="510705" y="1246913"/>
            <a:ext cx="763913" cy="461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71375A3-651D-C243-8D55-5DF661AE5038}"/>
              </a:ext>
            </a:extLst>
          </p:cNvPr>
          <p:cNvSpPr txBox="1"/>
          <p:nvPr/>
        </p:nvSpPr>
        <p:spPr>
          <a:xfrm>
            <a:off x="346568" y="1351824"/>
            <a:ext cx="885645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CAGR: 30%</a:t>
            </a:r>
            <a:endParaRPr lang="en-IN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2FB2EF-E9DB-DB4C-83A2-AC47B07EDEBE}"/>
              </a:ext>
            </a:extLst>
          </p:cNvPr>
          <p:cNvSpPr/>
          <p:nvPr/>
        </p:nvSpPr>
        <p:spPr>
          <a:xfrm>
            <a:off x="1620079" y="1275332"/>
            <a:ext cx="1191127" cy="71049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Online shoppers growing from 100 Mn to 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300-350Mn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AA5D39-578B-3740-9FA3-CA82C3CA899F}"/>
              </a:ext>
            </a:extLst>
          </p:cNvPr>
          <p:cNvSpPr txBox="1"/>
          <p:nvPr/>
        </p:nvSpPr>
        <p:spPr>
          <a:xfrm>
            <a:off x="3869128" y="2028779"/>
            <a:ext cx="140508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Parcel Focus, 5%</a:t>
            </a:r>
            <a:endParaRPr lang="en-IN" sz="1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DA00C1-D2E7-B94B-875F-2DD7CCF941C2}"/>
              </a:ext>
            </a:extLst>
          </p:cNvPr>
          <p:cNvSpPr/>
          <p:nvPr/>
        </p:nvSpPr>
        <p:spPr>
          <a:xfrm>
            <a:off x="3920264" y="979581"/>
            <a:ext cx="16323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Long tail of mid-major players that cater to regional markets</a:t>
            </a:r>
            <a:endParaRPr lang="en-US" sz="1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218D0D-7898-F44C-B819-60695033AE91}"/>
              </a:ext>
            </a:extLst>
          </p:cNvPr>
          <p:cNvSpPr/>
          <p:nvPr/>
        </p:nvSpPr>
        <p:spPr>
          <a:xfrm>
            <a:off x="3875475" y="1773896"/>
            <a:ext cx="16323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Big &amp; bulky focus</a:t>
            </a:r>
            <a:endParaRPr lang="en-US" sz="12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8E455BC-C402-9247-8260-0324CF2C4B4D}"/>
              </a:ext>
            </a:extLst>
          </p:cNvPr>
          <p:cNvGrpSpPr/>
          <p:nvPr/>
        </p:nvGrpSpPr>
        <p:grpSpPr>
          <a:xfrm>
            <a:off x="3745883" y="1188309"/>
            <a:ext cx="126337" cy="134219"/>
            <a:chOff x="7812684" y="2660359"/>
            <a:chExt cx="306171" cy="306910"/>
          </a:xfrm>
        </p:grpSpPr>
        <p:sp>
          <p:nvSpPr>
            <p:cNvPr id="38" name="Freeform 94">
              <a:extLst>
                <a:ext uri="{FF2B5EF4-FFF2-40B4-BE49-F238E27FC236}">
                  <a16:creationId xmlns:a16="http://schemas.microsoft.com/office/drawing/2014/main" id="{11FED670-214A-3742-A389-0977A7AB3978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95">
              <a:extLst>
                <a:ext uri="{FF2B5EF4-FFF2-40B4-BE49-F238E27FC236}">
                  <a16:creationId xmlns:a16="http://schemas.microsoft.com/office/drawing/2014/main" id="{A064CC2C-8DDF-8E48-9A4E-1291EC35DD27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3B35E2-CC5D-C24F-AFAC-58D50D91DBAD}"/>
              </a:ext>
            </a:extLst>
          </p:cNvPr>
          <p:cNvGrpSpPr/>
          <p:nvPr/>
        </p:nvGrpSpPr>
        <p:grpSpPr>
          <a:xfrm>
            <a:off x="3742791" y="1956252"/>
            <a:ext cx="126337" cy="134219"/>
            <a:chOff x="7812684" y="2660359"/>
            <a:chExt cx="306171" cy="306910"/>
          </a:xfrm>
        </p:grpSpPr>
        <p:sp>
          <p:nvSpPr>
            <p:cNvPr id="41" name="Freeform 94">
              <a:extLst>
                <a:ext uri="{FF2B5EF4-FFF2-40B4-BE49-F238E27FC236}">
                  <a16:creationId xmlns:a16="http://schemas.microsoft.com/office/drawing/2014/main" id="{BD8C0A23-A86D-E647-9450-950454EA7F06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reeform 95">
              <a:extLst>
                <a:ext uri="{FF2B5EF4-FFF2-40B4-BE49-F238E27FC236}">
                  <a16:creationId xmlns:a16="http://schemas.microsoft.com/office/drawing/2014/main" id="{C9B86F67-EE7D-6040-B576-8D8A0362834F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B443374-B564-8A4E-9B23-F53FCEFA2DEE}"/>
              </a:ext>
            </a:extLst>
          </p:cNvPr>
          <p:cNvGrpSpPr/>
          <p:nvPr/>
        </p:nvGrpSpPr>
        <p:grpSpPr>
          <a:xfrm>
            <a:off x="3747985" y="2137931"/>
            <a:ext cx="126337" cy="134219"/>
            <a:chOff x="7812684" y="2660359"/>
            <a:chExt cx="306171" cy="306910"/>
          </a:xfrm>
        </p:grpSpPr>
        <p:sp>
          <p:nvSpPr>
            <p:cNvPr id="44" name="Freeform 94">
              <a:extLst>
                <a:ext uri="{FF2B5EF4-FFF2-40B4-BE49-F238E27FC236}">
                  <a16:creationId xmlns:a16="http://schemas.microsoft.com/office/drawing/2014/main" id="{767435D5-6D82-9B4B-8093-BCE9DA1602F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95">
              <a:extLst>
                <a:ext uri="{FF2B5EF4-FFF2-40B4-BE49-F238E27FC236}">
                  <a16:creationId xmlns:a16="http://schemas.microsoft.com/office/drawing/2014/main" id="{4E0975C0-C7FD-BE44-A6E0-FDF4CC6E3D73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0F71C39C-889C-E34F-A3E1-690B5934668A}"/>
              </a:ext>
            </a:extLst>
          </p:cNvPr>
          <p:cNvSpPr/>
          <p:nvPr/>
        </p:nvSpPr>
        <p:spPr>
          <a:xfrm>
            <a:off x="82525" y="2513376"/>
            <a:ext cx="8834972" cy="141972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B1172E-360B-A44F-A942-E51408878A62}"/>
              </a:ext>
            </a:extLst>
          </p:cNvPr>
          <p:cNvSpPr txBox="1"/>
          <p:nvPr/>
        </p:nvSpPr>
        <p:spPr>
          <a:xfrm>
            <a:off x="906661" y="2446161"/>
            <a:ext cx="7186700" cy="259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Significant shift in consumer preferences has also been observed in the industry leading to market gaps</a:t>
            </a:r>
            <a:r>
              <a:rPr lang="en-US" sz="1200" b="1" baseline="3000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1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EC83EA-EC10-BB42-A875-D7BE1516DD06}"/>
              </a:ext>
            </a:extLst>
          </p:cNvPr>
          <p:cNvSpPr txBox="1"/>
          <p:nvPr/>
        </p:nvSpPr>
        <p:spPr>
          <a:xfrm>
            <a:off x="630859" y="2688299"/>
            <a:ext cx="1287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55247C"/>
                </a:solidFill>
              </a:rPr>
              <a:t>43%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1F49C1-3BD0-8B48-A1EF-4CF82848A384}"/>
              </a:ext>
            </a:extLst>
          </p:cNvPr>
          <p:cNvSpPr txBox="1"/>
          <p:nvPr/>
        </p:nvSpPr>
        <p:spPr>
          <a:xfrm>
            <a:off x="2276423" y="3186461"/>
            <a:ext cx="215770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customers were okay with waiting reasonably longer for green packaging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458D68-4E74-9A41-9C40-1011D5C804C7}"/>
              </a:ext>
            </a:extLst>
          </p:cNvPr>
          <p:cNvSpPr txBox="1"/>
          <p:nvPr/>
        </p:nvSpPr>
        <p:spPr>
          <a:xfrm>
            <a:off x="2747898" y="2688299"/>
            <a:ext cx="1287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55247C"/>
                </a:solidFill>
              </a:rPr>
              <a:t>62%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D6C2F2-5593-0244-ACF1-72CEB1AD170C}"/>
              </a:ext>
            </a:extLst>
          </p:cNvPr>
          <p:cNvSpPr txBox="1"/>
          <p:nvPr/>
        </p:nvSpPr>
        <p:spPr>
          <a:xfrm>
            <a:off x="4397965" y="3157124"/>
            <a:ext cx="236703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/>
              <a:t>consumers rated a social media enabled differentiated customer service offering the highest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58B28A-A89F-904C-B8CC-C9566BD2549C}"/>
              </a:ext>
            </a:extLst>
          </p:cNvPr>
          <p:cNvSpPr txBox="1"/>
          <p:nvPr/>
        </p:nvSpPr>
        <p:spPr>
          <a:xfrm>
            <a:off x="4882717" y="2688299"/>
            <a:ext cx="1287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55247C"/>
                </a:solidFill>
              </a:rPr>
              <a:t>37%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E5F363-D5B7-5448-A595-AAFD76D27AFC}"/>
              </a:ext>
            </a:extLst>
          </p:cNvPr>
          <p:cNvSpPr/>
          <p:nvPr/>
        </p:nvSpPr>
        <p:spPr>
          <a:xfrm>
            <a:off x="78617" y="4068786"/>
            <a:ext cx="4320232" cy="1842628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43EAE5-862C-A349-B8CF-28055BD23565}"/>
              </a:ext>
            </a:extLst>
          </p:cNvPr>
          <p:cNvSpPr txBox="1"/>
          <p:nvPr/>
        </p:nvSpPr>
        <p:spPr>
          <a:xfrm>
            <a:off x="345101" y="4039217"/>
            <a:ext cx="3741081" cy="408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Various delivery models have evolved….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125EED-FA79-E645-AB5F-3110A20E2F70}"/>
              </a:ext>
            </a:extLst>
          </p:cNvPr>
          <p:cNvSpPr/>
          <p:nvPr/>
        </p:nvSpPr>
        <p:spPr>
          <a:xfrm>
            <a:off x="4533871" y="4068131"/>
            <a:ext cx="4383626" cy="1842628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220EA7-72C1-8342-B95A-3C7F00B0FC78}"/>
              </a:ext>
            </a:extLst>
          </p:cNvPr>
          <p:cNvSpPr txBox="1"/>
          <p:nvPr/>
        </p:nvSpPr>
        <p:spPr>
          <a:xfrm>
            <a:off x="4800355" y="4038562"/>
            <a:ext cx="3741081" cy="408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200" b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…but core challenges are yet to be addressed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D1C6307-258B-0542-B507-71CEF54FCA53}"/>
              </a:ext>
            </a:extLst>
          </p:cNvPr>
          <p:cNvGrpSpPr/>
          <p:nvPr/>
        </p:nvGrpSpPr>
        <p:grpSpPr>
          <a:xfrm>
            <a:off x="7997706" y="1901817"/>
            <a:ext cx="126337" cy="134219"/>
            <a:chOff x="7812684" y="2660359"/>
            <a:chExt cx="306171" cy="306910"/>
          </a:xfrm>
        </p:grpSpPr>
        <p:sp>
          <p:nvSpPr>
            <p:cNvPr id="61" name="Freeform 94">
              <a:extLst>
                <a:ext uri="{FF2B5EF4-FFF2-40B4-BE49-F238E27FC236}">
                  <a16:creationId xmlns:a16="http://schemas.microsoft.com/office/drawing/2014/main" id="{885464A4-8074-FD46-B922-0B72288733A0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95">
              <a:extLst>
                <a:ext uri="{FF2B5EF4-FFF2-40B4-BE49-F238E27FC236}">
                  <a16:creationId xmlns:a16="http://schemas.microsoft.com/office/drawing/2014/main" id="{2591B666-53BC-0E4C-AE30-25DFF42D6875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BA0B2EA9-FB3C-674A-BCCB-AA0BCF7ECEA3}"/>
              </a:ext>
            </a:extLst>
          </p:cNvPr>
          <p:cNvSpPr/>
          <p:nvPr/>
        </p:nvSpPr>
        <p:spPr>
          <a:xfrm>
            <a:off x="5645243" y="893873"/>
            <a:ext cx="875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/>
              <a:t>Area (km</a:t>
            </a:r>
            <a:r>
              <a:rPr lang="en-IN" sz="900" baseline="30000"/>
              <a:t>2</a:t>
            </a:r>
            <a:r>
              <a:rPr lang="en-IN" sz="900"/>
              <a:t>)</a:t>
            </a:r>
          </a:p>
          <a:p>
            <a:r>
              <a:rPr lang="en-IN" sz="900"/>
              <a:t>vs 2020F Consumption ($B)</a:t>
            </a:r>
            <a:endParaRPr lang="en-US" sz="90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F30CB88-F75E-C541-A734-BD46D7442E78}"/>
              </a:ext>
            </a:extLst>
          </p:cNvPr>
          <p:cNvGrpSpPr/>
          <p:nvPr/>
        </p:nvGrpSpPr>
        <p:grpSpPr>
          <a:xfrm>
            <a:off x="8007391" y="1473094"/>
            <a:ext cx="126337" cy="134219"/>
            <a:chOff x="7812684" y="2660359"/>
            <a:chExt cx="306171" cy="306910"/>
          </a:xfrm>
        </p:grpSpPr>
        <p:sp>
          <p:nvSpPr>
            <p:cNvPr id="65" name="Freeform 94">
              <a:extLst>
                <a:ext uri="{FF2B5EF4-FFF2-40B4-BE49-F238E27FC236}">
                  <a16:creationId xmlns:a16="http://schemas.microsoft.com/office/drawing/2014/main" id="{A476012F-172B-A34B-B23D-D92EE8288B77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Freeform 95">
              <a:extLst>
                <a:ext uri="{FF2B5EF4-FFF2-40B4-BE49-F238E27FC236}">
                  <a16:creationId xmlns:a16="http://schemas.microsoft.com/office/drawing/2014/main" id="{86EFE5DD-3611-7B4B-9105-227A2B1854A0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8498885-EE82-3345-BB90-494C60518596}"/>
              </a:ext>
            </a:extLst>
          </p:cNvPr>
          <p:cNvGrpSpPr/>
          <p:nvPr/>
        </p:nvGrpSpPr>
        <p:grpSpPr>
          <a:xfrm>
            <a:off x="7992266" y="1008435"/>
            <a:ext cx="126337" cy="134219"/>
            <a:chOff x="7812684" y="2660359"/>
            <a:chExt cx="306171" cy="306910"/>
          </a:xfrm>
        </p:grpSpPr>
        <p:sp>
          <p:nvSpPr>
            <p:cNvPr id="71" name="Freeform 94">
              <a:extLst>
                <a:ext uri="{FF2B5EF4-FFF2-40B4-BE49-F238E27FC236}">
                  <a16:creationId xmlns:a16="http://schemas.microsoft.com/office/drawing/2014/main" id="{424DCC91-32F8-314B-8121-CD39FC6A616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Freeform 95">
              <a:extLst>
                <a:ext uri="{FF2B5EF4-FFF2-40B4-BE49-F238E27FC236}">
                  <a16:creationId xmlns:a16="http://schemas.microsoft.com/office/drawing/2014/main" id="{895AB021-567B-1A45-ACDA-DBDCE6DB7D0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5575AADF-1A55-A74A-B5A8-303F0752EB12}"/>
              </a:ext>
            </a:extLst>
          </p:cNvPr>
          <p:cNvSpPr/>
          <p:nvPr/>
        </p:nvSpPr>
        <p:spPr>
          <a:xfrm>
            <a:off x="8288003" y="940148"/>
            <a:ext cx="16323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Rural</a:t>
            </a:r>
            <a:endParaRPr lang="en-US" sz="12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F5B6B49-BC75-D243-AA2C-0C472090A1DB}"/>
              </a:ext>
            </a:extLst>
          </p:cNvPr>
          <p:cNvSpPr/>
          <p:nvPr/>
        </p:nvSpPr>
        <p:spPr>
          <a:xfrm>
            <a:off x="8267969" y="1389828"/>
            <a:ext cx="16323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Tier 2+</a:t>
            </a:r>
            <a:endParaRPr lang="en-US" sz="12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0E9734B-62E2-AF46-96F8-170EA706B997}"/>
              </a:ext>
            </a:extLst>
          </p:cNvPr>
          <p:cNvSpPr/>
          <p:nvPr/>
        </p:nvSpPr>
        <p:spPr>
          <a:xfrm>
            <a:off x="8256094" y="1757507"/>
            <a:ext cx="643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/>
              <a:t>Top 50</a:t>
            </a:r>
          </a:p>
          <a:p>
            <a:r>
              <a:rPr lang="en-IN" sz="1200"/>
              <a:t>cities</a:t>
            </a:r>
            <a:endParaRPr lang="en-US" sz="120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B76CF3-BD22-3A42-A475-0CA0D8FA3F15}"/>
              </a:ext>
            </a:extLst>
          </p:cNvPr>
          <p:cNvGrpSpPr/>
          <p:nvPr/>
        </p:nvGrpSpPr>
        <p:grpSpPr>
          <a:xfrm>
            <a:off x="6686433" y="3130762"/>
            <a:ext cx="126337" cy="134219"/>
            <a:chOff x="7812684" y="2660359"/>
            <a:chExt cx="306171" cy="306910"/>
          </a:xfrm>
        </p:grpSpPr>
        <p:sp>
          <p:nvSpPr>
            <p:cNvPr id="77" name="Freeform 94">
              <a:extLst>
                <a:ext uri="{FF2B5EF4-FFF2-40B4-BE49-F238E27FC236}">
                  <a16:creationId xmlns:a16="http://schemas.microsoft.com/office/drawing/2014/main" id="{70881018-4AE6-B641-A09E-660C55DA8A2E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Freeform 95">
              <a:extLst>
                <a:ext uri="{FF2B5EF4-FFF2-40B4-BE49-F238E27FC236}">
                  <a16:creationId xmlns:a16="http://schemas.microsoft.com/office/drawing/2014/main" id="{3D28C344-2999-C94F-8FCB-665B0917CD5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029D0BC-25F6-5249-8F98-08E42B7CFE69}"/>
              </a:ext>
            </a:extLst>
          </p:cNvPr>
          <p:cNvSpPr/>
          <p:nvPr/>
        </p:nvSpPr>
        <p:spPr>
          <a:xfrm>
            <a:off x="7017536" y="2669266"/>
            <a:ext cx="1776778" cy="21238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Sustainability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10EE02E1-3E18-B140-AEEC-8AA49C8320B7}"/>
              </a:ext>
            </a:extLst>
          </p:cNvPr>
          <p:cNvSpPr/>
          <p:nvPr/>
        </p:nvSpPr>
        <p:spPr>
          <a:xfrm>
            <a:off x="7025515" y="2915717"/>
            <a:ext cx="1776778" cy="21238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Tech-driven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9500D75-C442-D943-BDF0-492DCA43DC9F}"/>
              </a:ext>
            </a:extLst>
          </p:cNvPr>
          <p:cNvSpPr/>
          <p:nvPr/>
        </p:nvSpPr>
        <p:spPr>
          <a:xfrm>
            <a:off x="7025515" y="3163663"/>
            <a:ext cx="1776778" cy="21238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Flexible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03E6BF2-2BDF-F948-AD95-AB8AEF4A4CA7}"/>
              </a:ext>
            </a:extLst>
          </p:cNvPr>
          <p:cNvSpPr/>
          <p:nvPr/>
        </p:nvSpPr>
        <p:spPr>
          <a:xfrm>
            <a:off x="7122169" y="3405616"/>
            <a:ext cx="16323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200"/>
              <a:t>Significant scope to play, grow &amp; disrupt</a:t>
            </a:r>
            <a:endParaRPr lang="en-US" sz="120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7885FE61-38F9-A843-8CBA-F1EE773C84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949" y="4206404"/>
            <a:ext cx="4162672" cy="1659554"/>
          </a:xfrm>
          <a:prstGeom prst="rect">
            <a:avLst/>
          </a:prstGeom>
        </p:spPr>
      </p:pic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A0D6856E-566D-D940-BA69-04614884CF52}"/>
              </a:ext>
            </a:extLst>
          </p:cNvPr>
          <p:cNvSpPr/>
          <p:nvPr/>
        </p:nvSpPr>
        <p:spPr>
          <a:xfrm>
            <a:off x="4638087" y="4386838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Highest Cost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A0C588B2-9006-A24B-9220-087D93282843}"/>
              </a:ext>
            </a:extLst>
          </p:cNvPr>
          <p:cNvSpPr/>
          <p:nvPr/>
        </p:nvSpPr>
        <p:spPr>
          <a:xfrm>
            <a:off x="4638086" y="4663768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Calibri" panose="020F0502020204030204" pitchFamily="34" charset="0"/>
                <a:cs typeface="Calibri" panose="020F0502020204030204" pitchFamily="34" charset="0"/>
              </a:rPr>
              <a:t>Unknown demand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DF6FA7DD-7AA8-644B-99D6-7610844843B7}"/>
              </a:ext>
            </a:extLst>
          </p:cNvPr>
          <p:cNvSpPr/>
          <p:nvPr/>
        </p:nvSpPr>
        <p:spPr>
          <a:xfrm>
            <a:off x="4638085" y="4955043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High expectations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49E30125-2978-5249-8406-DD8CB1EA9F40}"/>
              </a:ext>
            </a:extLst>
          </p:cNvPr>
          <p:cNvSpPr/>
          <p:nvPr/>
        </p:nvSpPr>
        <p:spPr>
          <a:xfrm>
            <a:off x="6046999" y="4955043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qual. service reliability &amp; redressal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B2EC6D2-C1FC-A54A-A1F7-7ADE7FA074D7}"/>
              </a:ext>
            </a:extLst>
          </p:cNvPr>
          <p:cNvSpPr/>
          <p:nvPr/>
        </p:nvSpPr>
        <p:spPr>
          <a:xfrm>
            <a:off x="6042699" y="4673735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LMD Forecasts have ~60% accuracy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A27E89C9-C246-D743-992B-B9EFA46786E6}"/>
              </a:ext>
            </a:extLst>
          </p:cNvPr>
          <p:cNvSpPr/>
          <p:nvPr/>
        </p:nvSpPr>
        <p:spPr>
          <a:xfrm>
            <a:off x="6051937" y="4386838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LMD accounts for </a:t>
            </a:r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41%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total SC costs</a:t>
            </a:r>
            <a:r>
              <a:rPr lang="en-US" sz="1200" baseline="30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2C2D047E-05AF-D34D-92F7-E9DD58337B94}"/>
              </a:ext>
            </a:extLst>
          </p:cNvPr>
          <p:cNvSpPr/>
          <p:nvPr/>
        </p:nvSpPr>
        <p:spPr>
          <a:xfrm>
            <a:off x="4642929" y="5246318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Traffic Congestion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C3B57253-208A-9E44-803F-57389DF1BE1F}"/>
              </a:ext>
            </a:extLst>
          </p:cNvPr>
          <p:cNvSpPr/>
          <p:nvPr/>
        </p:nvSpPr>
        <p:spPr>
          <a:xfrm>
            <a:off x="6051843" y="5246318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 contributor; route optimality red. 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D01F0BA-004B-0148-9C10-A1065FB55AE7}"/>
              </a:ext>
            </a:extLst>
          </p:cNvPr>
          <p:cNvSpPr/>
          <p:nvPr/>
        </p:nvSpPr>
        <p:spPr>
          <a:xfrm>
            <a:off x="4642929" y="5546341"/>
            <a:ext cx="1320413" cy="22300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Emissions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C43BA5F4-8A11-0445-9ABF-67B4957BCD60}"/>
              </a:ext>
            </a:extLst>
          </p:cNvPr>
          <p:cNvSpPr/>
          <p:nvPr/>
        </p:nvSpPr>
        <p:spPr>
          <a:xfrm>
            <a:off x="6051843" y="5546341"/>
            <a:ext cx="2691776" cy="2230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~40% of SC emissions during last mile</a:t>
            </a:r>
            <a:r>
              <a:rPr lang="en-US" sz="1200" b="1" baseline="30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03843DF-C3F6-7C48-985A-918B2A87D688}"/>
              </a:ext>
            </a:extLst>
          </p:cNvPr>
          <p:cNvSpPr txBox="1"/>
          <p:nvPr/>
        </p:nvSpPr>
        <p:spPr>
          <a:xfrm>
            <a:off x="78617" y="5925607"/>
            <a:ext cx="651215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/>
              <a:t>1. Statista 2. Bain Analysis. 3. </a:t>
            </a:r>
            <a:r>
              <a:rPr lang="en-US" sz="800" err="1"/>
              <a:t>iPAC</a:t>
            </a:r>
            <a:r>
              <a:rPr lang="en-US" sz="800"/>
              <a:t> Analysis 4. Bain Analysis 5. Press Analysis</a:t>
            </a:r>
          </a:p>
        </p:txBody>
      </p:sp>
      <p:sp>
        <p:nvSpPr>
          <p:cNvPr id="95" name="Oval 20">
            <a:extLst>
              <a:ext uri="{FF2B5EF4-FFF2-40B4-BE49-F238E27FC236}">
                <a16:creationId xmlns:a16="http://schemas.microsoft.com/office/drawing/2014/main" id="{26156546-C1AE-7C4C-8D77-8BA5EA54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267" y="2366518"/>
            <a:ext cx="193857" cy="1977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204120B-8608-9946-9847-87239B782D15}"/>
              </a:ext>
            </a:extLst>
          </p:cNvPr>
          <p:cNvSpPr txBox="1"/>
          <p:nvPr/>
        </p:nvSpPr>
        <p:spPr>
          <a:xfrm>
            <a:off x="9348165" y="2282378"/>
            <a:ext cx="257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Turning sustainable via operational excellence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6D87A35-5B37-FE41-8194-36BC46A6E428}"/>
              </a:ext>
            </a:extLst>
          </p:cNvPr>
          <p:cNvSpPr txBox="1"/>
          <p:nvPr/>
        </p:nvSpPr>
        <p:spPr>
          <a:xfrm>
            <a:off x="9341215" y="2205040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solidFill>
                  <a:schemeClr val="bg2">
                    <a:lumMod val="50000"/>
                  </a:schemeClr>
                </a:solidFill>
              </a:rPr>
              <a:t>Deep dive ahead</a:t>
            </a:r>
          </a:p>
        </p:txBody>
      </p:sp>
      <p:sp>
        <p:nvSpPr>
          <p:cNvPr id="100" name="Oval 20">
            <a:extLst>
              <a:ext uri="{FF2B5EF4-FFF2-40B4-BE49-F238E27FC236}">
                <a16:creationId xmlns:a16="http://schemas.microsoft.com/office/drawing/2014/main" id="{EBEACC6D-752C-2946-834C-FF97F5590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7170" y="4585810"/>
            <a:ext cx="193857" cy="1977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BD05A0B-E4CB-3241-B059-0751AA049179}"/>
              </a:ext>
            </a:extLst>
          </p:cNvPr>
          <p:cNvSpPr txBox="1"/>
          <p:nvPr/>
        </p:nvSpPr>
        <p:spPr>
          <a:xfrm>
            <a:off x="9276616" y="4573730"/>
            <a:ext cx="2570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Becoming a market shaping force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31E163D-03DB-D74E-8DC8-30AC8E0CE64F}"/>
              </a:ext>
            </a:extLst>
          </p:cNvPr>
          <p:cNvSpPr txBox="1"/>
          <p:nvPr/>
        </p:nvSpPr>
        <p:spPr>
          <a:xfrm>
            <a:off x="9082612" y="3697866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solidFill>
                  <a:schemeClr val="bg2">
                    <a:lumMod val="50000"/>
                  </a:schemeClr>
                </a:solidFill>
              </a:rPr>
              <a:t>Deep dive ahead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B0BE75A-C753-414A-9A5F-8984A4C0289D}"/>
              </a:ext>
            </a:extLst>
          </p:cNvPr>
          <p:cNvSpPr txBox="1"/>
          <p:nvPr/>
        </p:nvSpPr>
        <p:spPr>
          <a:xfrm>
            <a:off x="9304391" y="4494984"/>
            <a:ext cx="10470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solidFill>
                  <a:schemeClr val="bg2">
                    <a:lumMod val="50000"/>
                  </a:schemeClr>
                </a:solidFill>
              </a:rPr>
              <a:t>Scope for next phase</a:t>
            </a:r>
          </a:p>
        </p:txBody>
      </p:sp>
      <p:sp>
        <p:nvSpPr>
          <p:cNvPr id="106" name="ee4pHeader1">
            <a:extLst>
              <a:ext uri="{FF2B5EF4-FFF2-40B4-BE49-F238E27FC236}">
                <a16:creationId xmlns:a16="http://schemas.microsoft.com/office/drawing/2014/main" id="{1A36D522-18E4-1A41-86F5-AC351676FA8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 rot="5400000">
            <a:off x="9306212" y="2601608"/>
            <a:ext cx="400802" cy="739293"/>
          </a:xfrm>
          <a:prstGeom prst="homePlate">
            <a:avLst>
              <a:gd name="adj" fmla="val 12004"/>
            </a:avLst>
          </a:prstGeom>
          <a:solidFill>
            <a:schemeClr val="accent1">
              <a:lumMod val="50000"/>
            </a:schemeClr>
          </a:solidFill>
          <a:ln w="38100" cap="rnd" algn="ctr">
            <a:noFill/>
            <a:round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eaLnBrk="0" hangingPunct="0">
              <a:spcAft>
                <a:spcPts val="1600"/>
              </a:spcAft>
            </a:pPr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07" name="ee4pHeader2">
            <a:extLst>
              <a:ext uri="{FF2B5EF4-FFF2-40B4-BE49-F238E27FC236}">
                <a16:creationId xmlns:a16="http://schemas.microsoft.com/office/drawing/2014/main" id="{85F5A36C-9A7F-5444-B56B-BE80657AA13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 rot="5400000">
            <a:off x="9308012" y="3020105"/>
            <a:ext cx="400803" cy="735692"/>
          </a:xfrm>
          <a:prstGeom prst="chevron">
            <a:avLst>
              <a:gd name="adj" fmla="val 12004"/>
            </a:avLst>
          </a:prstGeom>
          <a:solidFill>
            <a:schemeClr val="accent1">
              <a:lumMod val="75000"/>
            </a:schemeClr>
          </a:solidFill>
          <a:ln w="38100" cap="rnd" algn="ctr">
            <a:noFill/>
            <a:round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eaLnBrk="0" hangingPunct="0">
              <a:spcAft>
                <a:spcPts val="1600"/>
              </a:spcAft>
            </a:pPr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08" name="ee4pHeader2">
            <a:extLst>
              <a:ext uri="{FF2B5EF4-FFF2-40B4-BE49-F238E27FC236}">
                <a16:creationId xmlns:a16="http://schemas.microsoft.com/office/drawing/2014/main" id="{B7271D8E-589E-8846-AE19-199204ADAC3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 rot="5400000">
            <a:off x="9308012" y="3437181"/>
            <a:ext cx="400803" cy="735692"/>
          </a:xfrm>
          <a:prstGeom prst="chevron">
            <a:avLst>
              <a:gd name="adj" fmla="val 12004"/>
            </a:avLst>
          </a:prstGeom>
          <a:solidFill>
            <a:schemeClr val="accent1">
              <a:lumMod val="60000"/>
              <a:lumOff val="40000"/>
            </a:schemeClr>
          </a:solidFill>
          <a:ln w="38100" cap="rnd" algn="ctr">
            <a:noFill/>
            <a:round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eaLnBrk="0" hangingPunct="0">
              <a:spcAft>
                <a:spcPts val="1600"/>
              </a:spcAft>
            </a:pPr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09" name="ee4pHeader2">
            <a:extLst>
              <a:ext uri="{FF2B5EF4-FFF2-40B4-BE49-F238E27FC236}">
                <a16:creationId xmlns:a16="http://schemas.microsoft.com/office/drawing/2014/main" id="{34C78808-5E97-264A-BA83-74A77291FD3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 rot="5400000">
            <a:off x="9308012" y="3854257"/>
            <a:ext cx="400803" cy="735692"/>
          </a:xfrm>
          <a:prstGeom prst="chevron">
            <a:avLst>
              <a:gd name="adj" fmla="val 12004"/>
            </a:avLst>
          </a:prstGeom>
          <a:solidFill>
            <a:schemeClr val="bg2">
              <a:lumMod val="90000"/>
            </a:schemeClr>
          </a:solidFill>
          <a:ln w="38100" cap="rnd" algn="ctr">
            <a:noFill/>
            <a:round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eaLnBrk="0" hangingPunct="0">
              <a:spcAft>
                <a:spcPts val="1600"/>
              </a:spcAft>
            </a:pPr>
            <a:endParaRPr lang="en-US" sz="1200">
              <a:solidFill>
                <a:schemeClr val="bg1"/>
              </a:solidFill>
              <a:sym typeface="Trebuchet MS" panose="020B0603020202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560FF1F-A143-B241-BE9B-3E683694F058}"/>
              </a:ext>
            </a:extLst>
          </p:cNvPr>
          <p:cNvSpPr txBox="1"/>
          <p:nvPr/>
        </p:nvSpPr>
        <p:spPr>
          <a:xfrm>
            <a:off x="9175432" y="2839951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City WH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27A0B98-4D15-604D-8371-22E3B26ADAE6}"/>
              </a:ext>
            </a:extLst>
          </p:cNvPr>
          <p:cNvSpPr txBox="1"/>
          <p:nvPr/>
        </p:nvSpPr>
        <p:spPr>
          <a:xfrm>
            <a:off x="9124624" y="3245401"/>
            <a:ext cx="7811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6E34AD5-6BB6-6140-B9AF-30E74D0BABD2}"/>
              </a:ext>
            </a:extLst>
          </p:cNvPr>
          <p:cNvSpPr txBox="1"/>
          <p:nvPr/>
        </p:nvSpPr>
        <p:spPr>
          <a:xfrm>
            <a:off x="9108833" y="3643450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Distributor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E589DC4-6B32-6D43-85B3-74A3320FDC8D}"/>
              </a:ext>
            </a:extLst>
          </p:cNvPr>
          <p:cNvSpPr txBox="1"/>
          <p:nvPr/>
        </p:nvSpPr>
        <p:spPr>
          <a:xfrm>
            <a:off x="9123013" y="4087727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Customer 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FC69AF7-28FF-6241-9B12-D7AFDAC2AD78}"/>
              </a:ext>
            </a:extLst>
          </p:cNvPr>
          <p:cNvGrpSpPr/>
          <p:nvPr/>
        </p:nvGrpSpPr>
        <p:grpSpPr>
          <a:xfrm>
            <a:off x="9995107" y="4014685"/>
            <a:ext cx="1922119" cy="330708"/>
            <a:chOff x="10161062" y="2812392"/>
            <a:chExt cx="1611053" cy="330708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E867AF5-86E4-9645-9AA8-1EE16C0897B3}"/>
                </a:ext>
              </a:extLst>
            </p:cNvPr>
            <p:cNvSpPr/>
            <p:nvPr/>
          </p:nvSpPr>
          <p:spPr>
            <a:xfrm>
              <a:off x="10161062" y="2812392"/>
              <a:ext cx="1611053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EA1C399-97C1-834E-9CEE-0842FC525797}"/>
                </a:ext>
              </a:extLst>
            </p:cNvPr>
            <p:cNvSpPr txBox="1"/>
            <p:nvPr/>
          </p:nvSpPr>
          <p:spPr>
            <a:xfrm>
              <a:off x="10221813" y="2840777"/>
              <a:ext cx="11483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P2P Ecosystem</a:t>
              </a:r>
            </a:p>
          </p:txBody>
        </p:sp>
      </p:grpSp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BB7ED41D-12F4-4D4B-A66A-D30E004392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4660930"/>
              </p:ext>
            </p:extLst>
          </p:nvPr>
        </p:nvGraphicFramePr>
        <p:xfrm>
          <a:off x="5991111" y="599920"/>
          <a:ext cx="2455727" cy="1771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3C43BB1-8209-224E-B508-922CD6F740E8}"/>
              </a:ext>
            </a:extLst>
          </p:cNvPr>
          <p:cNvGrpSpPr/>
          <p:nvPr/>
        </p:nvGrpSpPr>
        <p:grpSpPr>
          <a:xfrm>
            <a:off x="9995129" y="3600310"/>
            <a:ext cx="1922093" cy="330708"/>
            <a:chOff x="10161060" y="2812392"/>
            <a:chExt cx="3298245" cy="330708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44F42D6-BD75-C846-83B5-F87DDFDE5598}"/>
                </a:ext>
              </a:extLst>
            </p:cNvPr>
            <p:cNvSpPr/>
            <p:nvPr/>
          </p:nvSpPr>
          <p:spPr>
            <a:xfrm>
              <a:off x="10161060" y="2812392"/>
              <a:ext cx="3298245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3574581-B7E0-E745-B22B-FD7622C4B7F8}"/>
                </a:ext>
              </a:extLst>
            </p:cNvPr>
            <p:cNvSpPr txBox="1"/>
            <p:nvPr/>
          </p:nvSpPr>
          <p:spPr>
            <a:xfrm>
              <a:off x="10221813" y="2840777"/>
              <a:ext cx="22388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Re-</a:t>
              </a:r>
              <a:r>
                <a:rPr lang="en-US" sz="1100" err="1"/>
                <a:t>optimisation</a:t>
              </a:r>
              <a:endParaRPr lang="en-US" sz="110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CA789DB-6CC8-9143-BF86-D40A5F748A60}"/>
              </a:ext>
            </a:extLst>
          </p:cNvPr>
          <p:cNvGrpSpPr/>
          <p:nvPr/>
        </p:nvGrpSpPr>
        <p:grpSpPr>
          <a:xfrm>
            <a:off x="9941670" y="2775585"/>
            <a:ext cx="1005403" cy="330708"/>
            <a:chOff x="10114365" y="2812392"/>
            <a:chExt cx="1431042" cy="330708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D8F22C0-CE61-F14A-A6C4-1A6A41561691}"/>
                </a:ext>
              </a:extLst>
            </p:cNvPr>
            <p:cNvSpPr/>
            <p:nvPr/>
          </p:nvSpPr>
          <p:spPr>
            <a:xfrm>
              <a:off x="10161064" y="2812392"/>
              <a:ext cx="1293744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B9CB08F-DE00-1245-BF87-3F241DC2C48B}"/>
                </a:ext>
              </a:extLst>
            </p:cNvPr>
            <p:cNvSpPr txBox="1"/>
            <p:nvPr/>
          </p:nvSpPr>
          <p:spPr>
            <a:xfrm>
              <a:off x="10114365" y="2850653"/>
              <a:ext cx="14310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Green Packing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DE66EA8-701A-5346-9928-768A0B099EEF}"/>
              </a:ext>
            </a:extLst>
          </p:cNvPr>
          <p:cNvGrpSpPr/>
          <p:nvPr/>
        </p:nvGrpSpPr>
        <p:grpSpPr>
          <a:xfrm>
            <a:off x="9916819" y="3176096"/>
            <a:ext cx="1053494" cy="330708"/>
            <a:chOff x="10047784" y="2812392"/>
            <a:chExt cx="1879357" cy="330708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FC7C1825-97EF-9348-BAD1-1449EC5C998B}"/>
                </a:ext>
              </a:extLst>
            </p:cNvPr>
            <p:cNvSpPr/>
            <p:nvPr/>
          </p:nvSpPr>
          <p:spPr>
            <a:xfrm>
              <a:off x="10161062" y="2812392"/>
              <a:ext cx="1611053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E0B5B40-DD5B-FE4F-B388-271AFCA12366}"/>
                </a:ext>
              </a:extLst>
            </p:cNvPr>
            <p:cNvSpPr txBox="1"/>
            <p:nvPr/>
          </p:nvSpPr>
          <p:spPr>
            <a:xfrm>
              <a:off x="10047784" y="2858060"/>
              <a:ext cx="18793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Dynamic Route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908E868-DE23-0E47-BB42-4AE545FA2F17}"/>
              </a:ext>
            </a:extLst>
          </p:cNvPr>
          <p:cNvGrpSpPr/>
          <p:nvPr/>
        </p:nvGrpSpPr>
        <p:grpSpPr>
          <a:xfrm>
            <a:off x="10882506" y="2770853"/>
            <a:ext cx="1128835" cy="330708"/>
            <a:chOff x="10053617" y="2812392"/>
            <a:chExt cx="1874805" cy="330708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B4FDA5D-9C29-D449-8999-A70760EE75E5}"/>
                </a:ext>
              </a:extLst>
            </p:cNvPr>
            <p:cNvSpPr/>
            <p:nvPr/>
          </p:nvSpPr>
          <p:spPr>
            <a:xfrm>
              <a:off x="10161062" y="2812392"/>
              <a:ext cx="1611053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6A3D061-C1B9-CD46-ACD2-56052399244C}"/>
                </a:ext>
              </a:extLst>
            </p:cNvPr>
            <p:cNvSpPr txBox="1"/>
            <p:nvPr/>
          </p:nvSpPr>
          <p:spPr>
            <a:xfrm>
              <a:off x="10053617" y="2850653"/>
              <a:ext cx="18748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Optimal linehaul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8322CDF-DCC4-4845-9AF3-1343EC602E0C}"/>
              </a:ext>
            </a:extLst>
          </p:cNvPr>
          <p:cNvGrpSpPr/>
          <p:nvPr/>
        </p:nvGrpSpPr>
        <p:grpSpPr>
          <a:xfrm>
            <a:off x="10890185" y="3191424"/>
            <a:ext cx="1027037" cy="330708"/>
            <a:chOff x="10057808" y="2812392"/>
            <a:chExt cx="1714307" cy="330708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C66F2AB-4711-D34E-A9C9-9A5121FF18FE}"/>
                </a:ext>
              </a:extLst>
            </p:cNvPr>
            <p:cNvSpPr/>
            <p:nvPr/>
          </p:nvSpPr>
          <p:spPr>
            <a:xfrm>
              <a:off x="10161062" y="2812392"/>
              <a:ext cx="1611053" cy="330708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C46216D-640E-244E-AC76-2D740FEF3F8F}"/>
                </a:ext>
              </a:extLst>
            </p:cNvPr>
            <p:cNvSpPr txBox="1"/>
            <p:nvPr/>
          </p:nvSpPr>
          <p:spPr>
            <a:xfrm>
              <a:off x="10057808" y="2839231"/>
              <a:ext cx="14266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Green Fleet</a:t>
              </a:r>
            </a:p>
          </p:txBody>
        </p:sp>
      </p:grpSp>
      <p:sp>
        <p:nvSpPr>
          <p:cNvPr id="168" name="Oval 20">
            <a:extLst>
              <a:ext uri="{FF2B5EF4-FFF2-40B4-BE49-F238E27FC236}">
                <a16:creationId xmlns:a16="http://schemas.microsoft.com/office/drawing/2014/main" id="{7A2C1CAD-C1FB-2546-AA71-7BE7D10BB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3013" y="1055889"/>
            <a:ext cx="193857" cy="1977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08817ED-CEDF-7A48-8433-11FB97D17D43}"/>
              </a:ext>
            </a:extLst>
          </p:cNvPr>
          <p:cNvSpPr txBox="1"/>
          <p:nvPr/>
        </p:nvSpPr>
        <p:spPr>
          <a:xfrm>
            <a:off x="9326911" y="971749"/>
            <a:ext cx="257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Mitigating high process costs by fleet optimization (outsource/P2P)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707D073-5B89-E241-A396-145410A1FE4A}"/>
              </a:ext>
            </a:extLst>
          </p:cNvPr>
          <p:cNvGrpSpPr/>
          <p:nvPr/>
        </p:nvGrpSpPr>
        <p:grpSpPr>
          <a:xfrm>
            <a:off x="11098128" y="2493614"/>
            <a:ext cx="805527" cy="215444"/>
            <a:chOff x="10161062" y="2840777"/>
            <a:chExt cx="805527" cy="215444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05EBDDE-DBBC-AB41-87EA-8BFEBF451281}"/>
                </a:ext>
              </a:extLst>
            </p:cNvPr>
            <p:cNvSpPr/>
            <p:nvPr/>
          </p:nvSpPr>
          <p:spPr>
            <a:xfrm>
              <a:off x="10161062" y="2862006"/>
              <a:ext cx="805527" cy="184765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C1AAE76-0455-C544-8376-D8EE0AC82527}"/>
                </a:ext>
              </a:extLst>
            </p:cNvPr>
            <p:cNvSpPr txBox="1"/>
            <p:nvPr/>
          </p:nvSpPr>
          <p:spPr>
            <a:xfrm>
              <a:off x="10221813" y="2840777"/>
              <a:ext cx="67197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>
                  <a:solidFill>
                    <a:schemeClr val="bg2">
                      <a:lumMod val="25000"/>
                    </a:schemeClr>
                  </a:solidFill>
                </a:rPr>
                <a:t>Focus areas</a:t>
              </a:r>
            </a:p>
          </p:txBody>
        </p:sp>
      </p:grp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68738422-2EB1-3843-BA9D-857604A0F58F}"/>
              </a:ext>
            </a:extLst>
          </p:cNvPr>
          <p:cNvSpPr/>
          <p:nvPr/>
        </p:nvSpPr>
        <p:spPr>
          <a:xfrm>
            <a:off x="9098809" y="1408076"/>
            <a:ext cx="837802" cy="46847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Customer</a:t>
            </a:r>
          </a:p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9D33EE9E-2183-8645-8ABF-B84079C863D0}"/>
              </a:ext>
            </a:extLst>
          </p:cNvPr>
          <p:cNvSpPr/>
          <p:nvPr/>
        </p:nvSpPr>
        <p:spPr>
          <a:xfrm>
            <a:off x="9109301" y="1962877"/>
            <a:ext cx="833790" cy="1976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Driver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BC57AAFD-8502-BA4C-887B-4E5EA5796614}"/>
              </a:ext>
            </a:extLst>
          </p:cNvPr>
          <p:cNvSpPr/>
          <p:nvPr/>
        </p:nvSpPr>
        <p:spPr>
          <a:xfrm>
            <a:off x="10009093" y="1389828"/>
            <a:ext cx="937979" cy="2409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latin typeface="Calibri" panose="020F0502020204030204" pitchFamily="34" charset="0"/>
                <a:cs typeface="Calibri" panose="020F0502020204030204" pitchFamily="34" charset="0"/>
              </a:rPr>
              <a:t>Decrease conversion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2EA0B741-ED92-254C-B3F7-EFF43D786877}"/>
              </a:ext>
            </a:extLst>
          </p:cNvPr>
          <p:cNvSpPr/>
          <p:nvPr/>
        </p:nvSpPr>
        <p:spPr>
          <a:xfrm>
            <a:off x="11007630" y="1369255"/>
            <a:ext cx="837802" cy="2696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Attrition</a:t>
            </a: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700B6358-53EA-224E-9B29-A624602D7DC0}"/>
              </a:ext>
            </a:extLst>
          </p:cNvPr>
          <p:cNvSpPr/>
          <p:nvPr/>
        </p:nvSpPr>
        <p:spPr>
          <a:xfrm>
            <a:off x="10018237" y="1665734"/>
            <a:ext cx="1828491" cy="2239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Calibri" panose="020F0502020204030204" pitchFamily="34" charset="0"/>
                <a:cs typeface="Calibri" panose="020F0502020204030204" pitchFamily="34" charset="0"/>
              </a:rPr>
              <a:t>Customer support; no SLA’s 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28D68469-CD35-DE41-9117-62AC3E975BB4}"/>
              </a:ext>
            </a:extLst>
          </p:cNvPr>
          <p:cNvSpPr/>
          <p:nvPr/>
        </p:nvSpPr>
        <p:spPr>
          <a:xfrm>
            <a:off x="10033646" y="1950495"/>
            <a:ext cx="837802" cy="2239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Fuel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DBEAF58D-FD5B-B244-8AAA-EC535057D401}"/>
              </a:ext>
            </a:extLst>
          </p:cNvPr>
          <p:cNvSpPr/>
          <p:nvPr/>
        </p:nvSpPr>
        <p:spPr>
          <a:xfrm>
            <a:off x="10890385" y="1947466"/>
            <a:ext cx="837802" cy="22394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atin typeface="Calibri" panose="020F0502020204030204" pitchFamily="34" charset="0"/>
                <a:cs typeface="Calibri" panose="020F0502020204030204" pitchFamily="34" charset="0"/>
              </a:rPr>
              <a:t>Maintenance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EAA55A7-3BE4-454A-979E-23CD6648F8EE}"/>
              </a:ext>
            </a:extLst>
          </p:cNvPr>
          <p:cNvGrpSpPr/>
          <p:nvPr/>
        </p:nvGrpSpPr>
        <p:grpSpPr>
          <a:xfrm>
            <a:off x="8980361" y="4774071"/>
            <a:ext cx="1445958" cy="1677264"/>
            <a:chOff x="9124624" y="4762958"/>
            <a:chExt cx="1874863" cy="2108774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99378F12-C53F-C943-9498-7839BCF183F6}"/>
                </a:ext>
              </a:extLst>
            </p:cNvPr>
            <p:cNvGrpSpPr/>
            <p:nvPr/>
          </p:nvGrpSpPr>
          <p:grpSpPr>
            <a:xfrm>
              <a:off x="9124624" y="4762958"/>
              <a:ext cx="1445959" cy="1442611"/>
              <a:chOff x="1116587" y="809181"/>
              <a:chExt cx="5252977" cy="5252209"/>
            </a:xfrm>
          </p:grpSpPr>
          <p:sp>
            <p:nvSpPr>
              <p:cNvPr id="131" name="Freeform 5">
                <a:extLst>
                  <a:ext uri="{FF2B5EF4-FFF2-40B4-BE49-F238E27FC236}">
                    <a16:creationId xmlns:a16="http://schemas.microsoft.com/office/drawing/2014/main" id="{A674DF95-5219-9D46-B4A1-372B7C8FCBEA}"/>
                  </a:ext>
                </a:extLst>
              </p:cNvPr>
              <p:cNvSpPr>
                <a:spLocks/>
              </p:cNvSpPr>
              <p:nvPr/>
            </p:nvSpPr>
            <p:spPr bwMode="auto">
              <a:xfrm rot="2419960">
                <a:off x="2444266" y="809181"/>
                <a:ext cx="2662209" cy="2260919"/>
              </a:xfrm>
              <a:custGeom>
                <a:avLst/>
                <a:gdLst>
                  <a:gd name="T0" fmla="*/ 252 w 1605"/>
                  <a:gd name="T1" fmla="*/ 1119 h 1367"/>
                  <a:gd name="T2" fmla="*/ 460 w 1605"/>
                  <a:gd name="T3" fmla="*/ 1367 h 1367"/>
                  <a:gd name="T4" fmla="*/ 1353 w 1605"/>
                  <a:gd name="T5" fmla="*/ 461 h 1367"/>
                  <a:gd name="T6" fmla="*/ 1605 w 1605"/>
                  <a:gd name="T7" fmla="*/ 250 h 1367"/>
                  <a:gd name="T8" fmla="*/ 1395 w 1605"/>
                  <a:gd name="T9" fmla="*/ 0 h 1367"/>
                  <a:gd name="T10" fmla="*/ 1381 w 1605"/>
                  <a:gd name="T11" fmla="*/ 0 h 1367"/>
                  <a:gd name="T12" fmla="*/ 0 w 1605"/>
                  <a:gd name="T13" fmla="*/ 1331 h 1367"/>
                  <a:gd name="T14" fmla="*/ 252 w 1605"/>
                  <a:gd name="T15" fmla="*/ 1119 h 1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5" h="1367">
                    <a:moveTo>
                      <a:pt x="252" y="1119"/>
                    </a:moveTo>
                    <a:cubicBezTo>
                      <a:pt x="460" y="1367"/>
                      <a:pt x="460" y="1367"/>
                      <a:pt x="460" y="1367"/>
                    </a:cubicBezTo>
                    <a:cubicBezTo>
                      <a:pt x="468" y="874"/>
                      <a:pt x="862" y="476"/>
                      <a:pt x="1353" y="461"/>
                    </a:cubicBezTo>
                    <a:cubicBezTo>
                      <a:pt x="1605" y="250"/>
                      <a:pt x="1605" y="250"/>
                      <a:pt x="1605" y="250"/>
                    </a:cubicBezTo>
                    <a:cubicBezTo>
                      <a:pt x="1395" y="0"/>
                      <a:pt x="1395" y="0"/>
                      <a:pt x="1395" y="0"/>
                    </a:cubicBezTo>
                    <a:cubicBezTo>
                      <a:pt x="1391" y="0"/>
                      <a:pt x="1386" y="0"/>
                      <a:pt x="1381" y="0"/>
                    </a:cubicBezTo>
                    <a:cubicBezTo>
                      <a:pt x="635" y="0"/>
                      <a:pt x="27" y="591"/>
                      <a:pt x="0" y="1331"/>
                    </a:cubicBezTo>
                    <a:lnTo>
                      <a:pt x="252" y="1119"/>
                    </a:lnTo>
                    <a:close/>
                  </a:path>
                </a:pathLst>
              </a:custGeom>
              <a:solidFill>
                <a:srgbClr val="002060"/>
              </a:solidFill>
              <a:ln w="381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2" name="Freeform 6">
                <a:extLst>
                  <a:ext uri="{FF2B5EF4-FFF2-40B4-BE49-F238E27FC236}">
                    <a16:creationId xmlns:a16="http://schemas.microsoft.com/office/drawing/2014/main" id="{02A04DEC-42BB-C844-8ED0-1290162900BB}"/>
                  </a:ext>
                </a:extLst>
              </p:cNvPr>
              <p:cNvSpPr>
                <a:spLocks/>
              </p:cNvSpPr>
              <p:nvPr/>
            </p:nvSpPr>
            <p:spPr bwMode="auto">
              <a:xfrm rot="2419960">
                <a:off x="4103750" y="2141963"/>
                <a:ext cx="2265814" cy="2656092"/>
              </a:xfrm>
              <a:custGeom>
                <a:avLst/>
                <a:gdLst>
                  <a:gd name="T0" fmla="*/ 247 w 1366"/>
                  <a:gd name="T1" fmla="*/ 252 h 1605"/>
                  <a:gd name="T2" fmla="*/ 0 w 1366"/>
                  <a:gd name="T3" fmla="*/ 460 h 1605"/>
                  <a:gd name="T4" fmla="*/ 905 w 1366"/>
                  <a:gd name="T5" fmla="*/ 1353 h 1605"/>
                  <a:gd name="T6" fmla="*/ 1116 w 1366"/>
                  <a:gd name="T7" fmla="*/ 1605 h 1605"/>
                  <a:gd name="T8" fmla="*/ 1366 w 1366"/>
                  <a:gd name="T9" fmla="*/ 1396 h 1605"/>
                  <a:gd name="T10" fmla="*/ 1366 w 1366"/>
                  <a:gd name="T11" fmla="*/ 1381 h 1605"/>
                  <a:gd name="T12" fmla="*/ 35 w 1366"/>
                  <a:gd name="T13" fmla="*/ 0 h 1605"/>
                  <a:gd name="T14" fmla="*/ 247 w 1366"/>
                  <a:gd name="T15" fmla="*/ 252 h 1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66" h="1605">
                    <a:moveTo>
                      <a:pt x="247" y="252"/>
                    </a:moveTo>
                    <a:cubicBezTo>
                      <a:pt x="0" y="460"/>
                      <a:pt x="0" y="460"/>
                      <a:pt x="0" y="460"/>
                    </a:cubicBezTo>
                    <a:cubicBezTo>
                      <a:pt x="492" y="468"/>
                      <a:pt x="890" y="863"/>
                      <a:pt x="905" y="1353"/>
                    </a:cubicBezTo>
                    <a:cubicBezTo>
                      <a:pt x="1116" y="1605"/>
                      <a:pt x="1116" y="1605"/>
                      <a:pt x="1116" y="1605"/>
                    </a:cubicBezTo>
                    <a:cubicBezTo>
                      <a:pt x="1366" y="1396"/>
                      <a:pt x="1366" y="1396"/>
                      <a:pt x="1366" y="1396"/>
                    </a:cubicBezTo>
                    <a:cubicBezTo>
                      <a:pt x="1366" y="1391"/>
                      <a:pt x="1366" y="1386"/>
                      <a:pt x="1366" y="1381"/>
                    </a:cubicBezTo>
                    <a:cubicBezTo>
                      <a:pt x="1366" y="635"/>
                      <a:pt x="775" y="27"/>
                      <a:pt x="35" y="0"/>
                    </a:cubicBezTo>
                    <a:lnTo>
                      <a:pt x="247" y="25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81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33" name="Freeform 7">
                <a:extLst>
                  <a:ext uri="{FF2B5EF4-FFF2-40B4-BE49-F238E27FC236}">
                    <a16:creationId xmlns:a16="http://schemas.microsoft.com/office/drawing/2014/main" id="{2F31C36E-23B8-A941-A0ED-C89F6A60ACCC}"/>
                  </a:ext>
                </a:extLst>
              </p:cNvPr>
              <p:cNvSpPr>
                <a:spLocks/>
              </p:cNvSpPr>
              <p:nvPr/>
            </p:nvSpPr>
            <p:spPr bwMode="auto">
              <a:xfrm rot="2419960">
                <a:off x="1116587" y="2081086"/>
                <a:ext cx="2265814" cy="2654867"/>
              </a:xfrm>
              <a:custGeom>
                <a:avLst/>
                <a:gdLst>
                  <a:gd name="T0" fmla="*/ 1119 w 1366"/>
                  <a:gd name="T1" fmla="*/ 1353 h 1605"/>
                  <a:gd name="T2" fmla="*/ 1366 w 1366"/>
                  <a:gd name="T3" fmla="*/ 1145 h 1605"/>
                  <a:gd name="T4" fmla="*/ 461 w 1366"/>
                  <a:gd name="T5" fmla="*/ 252 h 1605"/>
                  <a:gd name="T6" fmla="*/ 250 w 1366"/>
                  <a:gd name="T7" fmla="*/ 0 h 1605"/>
                  <a:gd name="T8" fmla="*/ 0 w 1366"/>
                  <a:gd name="T9" fmla="*/ 210 h 1605"/>
                  <a:gd name="T10" fmla="*/ 0 w 1366"/>
                  <a:gd name="T11" fmla="*/ 224 h 1605"/>
                  <a:gd name="T12" fmla="*/ 1331 w 1366"/>
                  <a:gd name="T13" fmla="*/ 1605 h 1605"/>
                  <a:gd name="T14" fmla="*/ 1119 w 1366"/>
                  <a:gd name="T15" fmla="*/ 1353 h 1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66" h="1605">
                    <a:moveTo>
                      <a:pt x="1119" y="1353"/>
                    </a:moveTo>
                    <a:cubicBezTo>
                      <a:pt x="1366" y="1145"/>
                      <a:pt x="1366" y="1145"/>
                      <a:pt x="1366" y="1145"/>
                    </a:cubicBezTo>
                    <a:cubicBezTo>
                      <a:pt x="874" y="1137"/>
                      <a:pt x="476" y="743"/>
                      <a:pt x="461" y="252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0" y="210"/>
                      <a:pt x="0" y="210"/>
                      <a:pt x="0" y="210"/>
                    </a:cubicBezTo>
                    <a:cubicBezTo>
                      <a:pt x="0" y="215"/>
                      <a:pt x="0" y="219"/>
                      <a:pt x="0" y="224"/>
                    </a:cubicBezTo>
                    <a:cubicBezTo>
                      <a:pt x="0" y="970"/>
                      <a:pt x="591" y="1578"/>
                      <a:pt x="1331" y="1605"/>
                    </a:cubicBezTo>
                    <a:lnTo>
                      <a:pt x="1119" y="1353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381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kern="0"/>
              </a:p>
            </p:txBody>
          </p:sp>
          <p:sp>
            <p:nvSpPr>
              <p:cNvPr id="134" name="Freeform 8">
                <a:extLst>
                  <a:ext uri="{FF2B5EF4-FFF2-40B4-BE49-F238E27FC236}">
                    <a16:creationId xmlns:a16="http://schemas.microsoft.com/office/drawing/2014/main" id="{DDABE232-28C3-C940-A662-6B934D36F45F}"/>
                  </a:ext>
                </a:extLst>
              </p:cNvPr>
              <p:cNvSpPr>
                <a:spLocks/>
              </p:cNvSpPr>
              <p:nvPr/>
            </p:nvSpPr>
            <p:spPr bwMode="auto">
              <a:xfrm rot="2419960">
                <a:off x="2405027" y="3801694"/>
                <a:ext cx="2662209" cy="2259696"/>
              </a:xfrm>
              <a:custGeom>
                <a:avLst/>
                <a:gdLst>
                  <a:gd name="T0" fmla="*/ 1353 w 1605"/>
                  <a:gd name="T1" fmla="*/ 247 h 1366"/>
                  <a:gd name="T2" fmla="*/ 1145 w 1605"/>
                  <a:gd name="T3" fmla="*/ 0 h 1366"/>
                  <a:gd name="T4" fmla="*/ 252 w 1605"/>
                  <a:gd name="T5" fmla="*/ 905 h 1366"/>
                  <a:gd name="T6" fmla="*/ 0 w 1605"/>
                  <a:gd name="T7" fmla="*/ 1116 h 1366"/>
                  <a:gd name="T8" fmla="*/ 210 w 1605"/>
                  <a:gd name="T9" fmla="*/ 1366 h 1366"/>
                  <a:gd name="T10" fmla="*/ 224 w 1605"/>
                  <a:gd name="T11" fmla="*/ 1366 h 1366"/>
                  <a:gd name="T12" fmla="*/ 1605 w 1605"/>
                  <a:gd name="T13" fmla="*/ 35 h 1366"/>
                  <a:gd name="T14" fmla="*/ 1353 w 1605"/>
                  <a:gd name="T15" fmla="*/ 247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5" h="1366">
                    <a:moveTo>
                      <a:pt x="1353" y="247"/>
                    </a:moveTo>
                    <a:cubicBezTo>
                      <a:pt x="1145" y="0"/>
                      <a:pt x="1145" y="0"/>
                      <a:pt x="1145" y="0"/>
                    </a:cubicBezTo>
                    <a:cubicBezTo>
                      <a:pt x="1137" y="492"/>
                      <a:pt x="743" y="890"/>
                      <a:pt x="252" y="905"/>
                    </a:cubicBezTo>
                    <a:cubicBezTo>
                      <a:pt x="0" y="1116"/>
                      <a:pt x="0" y="1116"/>
                      <a:pt x="0" y="1116"/>
                    </a:cubicBezTo>
                    <a:cubicBezTo>
                      <a:pt x="210" y="1366"/>
                      <a:pt x="210" y="1366"/>
                      <a:pt x="210" y="1366"/>
                    </a:cubicBezTo>
                    <a:cubicBezTo>
                      <a:pt x="214" y="1366"/>
                      <a:pt x="219" y="1366"/>
                      <a:pt x="224" y="1366"/>
                    </a:cubicBezTo>
                    <a:cubicBezTo>
                      <a:pt x="970" y="1366"/>
                      <a:pt x="1578" y="775"/>
                      <a:pt x="1605" y="35"/>
                    </a:cubicBezTo>
                    <a:lnTo>
                      <a:pt x="1353" y="247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38100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40" name="Oval 20">
              <a:extLst>
                <a:ext uri="{FF2B5EF4-FFF2-40B4-BE49-F238E27FC236}">
                  <a16:creationId xmlns:a16="http://schemas.microsoft.com/office/drawing/2014/main" id="{0DBEF972-B6D9-E440-93C3-ACD5A4E83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141" y="4862336"/>
              <a:ext cx="193857" cy="1977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1" name="Oval 20">
              <a:extLst>
                <a:ext uri="{FF2B5EF4-FFF2-40B4-BE49-F238E27FC236}">
                  <a16:creationId xmlns:a16="http://schemas.microsoft.com/office/drawing/2014/main" id="{3A7F735F-C98B-C146-8D6B-3599065EF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0391" y="5321367"/>
              <a:ext cx="193857" cy="1977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2" name="Oval 20">
              <a:extLst>
                <a:ext uri="{FF2B5EF4-FFF2-40B4-BE49-F238E27FC236}">
                  <a16:creationId xmlns:a16="http://schemas.microsoft.com/office/drawing/2014/main" id="{ECADDF28-C382-9C44-82D6-BCC4CC930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8115" y="5903912"/>
              <a:ext cx="193857" cy="1977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3" name="Oval 20">
              <a:extLst>
                <a:ext uri="{FF2B5EF4-FFF2-40B4-BE49-F238E27FC236}">
                  <a16:creationId xmlns:a16="http://schemas.microsoft.com/office/drawing/2014/main" id="{51CC5F34-6215-154F-A76A-BAEABC3B5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1168" y="5380996"/>
              <a:ext cx="193857" cy="19777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D4C357-DDBA-E54E-B9B7-335A015F84CF}"/>
                </a:ext>
              </a:extLst>
            </p:cNvPr>
            <p:cNvSpPr txBox="1"/>
            <p:nvPr/>
          </p:nvSpPr>
          <p:spPr>
            <a:xfrm>
              <a:off x="10814756" y="65024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58B052B5-397B-8C45-8C08-C3D63BFEF5E6}"/>
              </a:ext>
            </a:extLst>
          </p:cNvPr>
          <p:cNvSpPr txBox="1"/>
          <p:nvPr/>
        </p:nvSpPr>
        <p:spPr>
          <a:xfrm>
            <a:off x="9254775" y="5186087"/>
            <a:ext cx="643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Leadership</a:t>
            </a:r>
          </a:p>
          <a:p>
            <a:pPr algn="ctr"/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Playbook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E72EE-1CA3-E843-94A8-6B4278AA3DA2}"/>
              </a:ext>
            </a:extLst>
          </p:cNvPr>
          <p:cNvSpPr txBox="1"/>
          <p:nvPr/>
        </p:nvSpPr>
        <p:spPr>
          <a:xfrm>
            <a:off x="10029177" y="4872912"/>
            <a:ext cx="20433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200"/>
              <a:t>Enforce standards battle</a:t>
            </a:r>
          </a:p>
          <a:p>
            <a:pPr marL="228600" indent="-228600">
              <a:buAutoNum type="arabicPeriod"/>
            </a:pPr>
            <a:r>
              <a:rPr lang="en-US" sz="1200"/>
              <a:t>Establish virtuous cycle</a:t>
            </a:r>
          </a:p>
          <a:p>
            <a:pPr marL="228600" indent="-228600">
              <a:buAutoNum type="arabicPeriod"/>
            </a:pPr>
            <a:r>
              <a:rPr lang="en-US" sz="1200"/>
              <a:t>Break performance barriers</a:t>
            </a:r>
          </a:p>
          <a:p>
            <a:pPr marL="228600" indent="-228600">
              <a:buAutoNum type="arabicPeriod"/>
            </a:pPr>
            <a:r>
              <a:rPr lang="en-US" sz="1200"/>
              <a:t>Reinforce market shaping </a:t>
            </a:r>
          </a:p>
        </p:txBody>
      </p:sp>
    </p:spTree>
    <p:extLst>
      <p:ext uri="{BB962C8B-B14F-4D97-AF65-F5344CB8AC3E}">
        <p14:creationId xmlns:p14="http://schemas.microsoft.com/office/powerpoint/2010/main" val="256445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712B5D-9D76-E6DE-80E8-A41540053A44}"/>
              </a:ext>
            </a:extLst>
          </p:cNvPr>
          <p:cNvSpPr/>
          <p:nvPr/>
        </p:nvSpPr>
        <p:spPr>
          <a:xfrm>
            <a:off x="708175" y="5408392"/>
            <a:ext cx="11304000" cy="6770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A2842-23D1-9D4C-8C34-54F396B0B4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7074" y="26530"/>
            <a:ext cx="11833889" cy="4744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Augmentation of physical assets across value chain with 360-degree technology stack will lead to Total Supply Chain Reinvention 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A9CEB8-C9B7-A7B6-E99B-0F1AAFAEC0F7}"/>
              </a:ext>
            </a:extLst>
          </p:cNvPr>
          <p:cNvGrpSpPr/>
          <p:nvPr/>
        </p:nvGrpSpPr>
        <p:grpSpPr>
          <a:xfrm>
            <a:off x="148281" y="915146"/>
            <a:ext cx="492988" cy="1667726"/>
            <a:chOff x="83172" y="669072"/>
            <a:chExt cx="1055907" cy="1097946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1" name="Pentagon 20">
              <a:extLst>
                <a:ext uri="{FF2B5EF4-FFF2-40B4-BE49-F238E27FC236}">
                  <a16:creationId xmlns:a16="http://schemas.microsoft.com/office/drawing/2014/main" id="{D6494F22-21E9-2235-F3BA-49706501D18E}"/>
                </a:ext>
              </a:extLst>
            </p:cNvPr>
            <p:cNvSpPr/>
            <p:nvPr/>
          </p:nvSpPr>
          <p:spPr>
            <a:xfrm rot="5400000">
              <a:off x="72235" y="700174"/>
              <a:ext cx="1077781" cy="1055907"/>
            </a:xfrm>
            <a:prstGeom prst="homePlate">
              <a:avLst>
                <a:gd name="adj" fmla="val 2659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0000" rtlCol="0" anchor="ctr"/>
            <a:lstStyle/>
            <a:p>
              <a:pPr algn="ctr"/>
              <a:endParaRPr lang="en-US" sz="13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C5FD057-9129-D9B9-4E3D-E0EC4A425C56}"/>
                </a:ext>
              </a:extLst>
            </p:cNvPr>
            <p:cNvSpPr txBox="1"/>
            <p:nvPr/>
          </p:nvSpPr>
          <p:spPr>
            <a:xfrm rot="16200000">
              <a:off x="62151" y="904919"/>
              <a:ext cx="1097945" cy="6262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City  WH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1A0BAC-B3B5-6214-7F39-AE1D443250F2}"/>
              </a:ext>
            </a:extLst>
          </p:cNvPr>
          <p:cNvGrpSpPr/>
          <p:nvPr/>
        </p:nvGrpSpPr>
        <p:grpSpPr>
          <a:xfrm>
            <a:off x="148281" y="2509713"/>
            <a:ext cx="492989" cy="1243679"/>
            <a:chOff x="73946" y="1635652"/>
            <a:chExt cx="1074356" cy="2247618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9" name="Chevron 28">
              <a:extLst>
                <a:ext uri="{FF2B5EF4-FFF2-40B4-BE49-F238E27FC236}">
                  <a16:creationId xmlns:a16="http://schemas.microsoft.com/office/drawing/2014/main" id="{DC7D0994-C70A-8066-BEC9-4FCBB6685AEC}"/>
                </a:ext>
              </a:extLst>
            </p:cNvPr>
            <p:cNvSpPr/>
            <p:nvPr/>
          </p:nvSpPr>
          <p:spPr>
            <a:xfrm rot="5400000">
              <a:off x="-512685" y="2222283"/>
              <a:ext cx="2247618" cy="1074356"/>
            </a:xfrm>
            <a:prstGeom prst="chevron">
              <a:avLst>
                <a:gd name="adj" fmla="val 2699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183B17F-09F1-5A6C-EB10-03B9062199FC}"/>
                </a:ext>
              </a:extLst>
            </p:cNvPr>
            <p:cNvSpPr txBox="1"/>
            <p:nvPr/>
          </p:nvSpPr>
          <p:spPr>
            <a:xfrm rot="16200000">
              <a:off x="-436921" y="2533396"/>
              <a:ext cx="2096088" cy="603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Transportation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1E0AE55-1D32-7763-BA58-3D1A3C8271DF}"/>
              </a:ext>
            </a:extLst>
          </p:cNvPr>
          <p:cNvGrpSpPr/>
          <p:nvPr/>
        </p:nvGrpSpPr>
        <p:grpSpPr>
          <a:xfrm>
            <a:off x="131311" y="3704919"/>
            <a:ext cx="501602" cy="1092462"/>
            <a:chOff x="73946" y="1635652"/>
            <a:chExt cx="1074356" cy="2247618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47" name="Chevron 46">
              <a:extLst>
                <a:ext uri="{FF2B5EF4-FFF2-40B4-BE49-F238E27FC236}">
                  <a16:creationId xmlns:a16="http://schemas.microsoft.com/office/drawing/2014/main" id="{FAF7C336-541E-3C59-7007-38A384B5924B}"/>
                </a:ext>
              </a:extLst>
            </p:cNvPr>
            <p:cNvSpPr/>
            <p:nvPr/>
          </p:nvSpPr>
          <p:spPr>
            <a:xfrm rot="5400000">
              <a:off x="-512685" y="2222283"/>
              <a:ext cx="2247618" cy="1074356"/>
            </a:xfrm>
            <a:prstGeom prst="chevron">
              <a:avLst>
                <a:gd name="adj" fmla="val 26997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B292C1-B76C-80A8-9CD5-7DDABA9A275A}"/>
                </a:ext>
              </a:extLst>
            </p:cNvPr>
            <p:cNvSpPr txBox="1"/>
            <p:nvPr/>
          </p:nvSpPr>
          <p:spPr>
            <a:xfrm rot="16200000">
              <a:off x="-436922" y="2522099"/>
              <a:ext cx="2096085" cy="6262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Distribution</a:t>
              </a:r>
            </a:p>
          </p:txBody>
        </p:sp>
      </p:grp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8C4E3A14-B8B2-3C5D-135D-D31FC5C4F0DC}"/>
              </a:ext>
            </a:extLst>
          </p:cNvPr>
          <p:cNvGrpSpPr/>
          <p:nvPr/>
        </p:nvGrpSpPr>
        <p:grpSpPr>
          <a:xfrm>
            <a:off x="135490" y="4767997"/>
            <a:ext cx="501602" cy="1018808"/>
            <a:chOff x="73946" y="1635652"/>
            <a:chExt cx="1074356" cy="2247618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078" name="Chevron 46">
              <a:extLst>
                <a:ext uri="{FF2B5EF4-FFF2-40B4-BE49-F238E27FC236}">
                  <a16:creationId xmlns:a16="http://schemas.microsoft.com/office/drawing/2014/main" id="{369B5139-26C9-9FB7-B09A-E034B274A5F0}"/>
                </a:ext>
              </a:extLst>
            </p:cNvPr>
            <p:cNvSpPr/>
            <p:nvPr/>
          </p:nvSpPr>
          <p:spPr>
            <a:xfrm rot="5400000">
              <a:off x="-512685" y="2222283"/>
              <a:ext cx="2247618" cy="1074356"/>
            </a:xfrm>
            <a:prstGeom prst="chevron">
              <a:avLst>
                <a:gd name="adj" fmla="val 2699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79" name="TextBox 2078">
              <a:extLst>
                <a:ext uri="{FF2B5EF4-FFF2-40B4-BE49-F238E27FC236}">
                  <a16:creationId xmlns:a16="http://schemas.microsoft.com/office/drawing/2014/main" id="{9618EFC8-0782-7A1F-9B45-8259B0C82783}"/>
                </a:ext>
              </a:extLst>
            </p:cNvPr>
            <p:cNvSpPr txBox="1"/>
            <p:nvPr/>
          </p:nvSpPr>
          <p:spPr>
            <a:xfrm rot="16200000">
              <a:off x="-436922" y="2522098"/>
              <a:ext cx="2096086" cy="6262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2">
                      <a:lumMod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Customer</a:t>
              </a:r>
            </a:p>
          </p:txBody>
        </p:sp>
      </p:grpSp>
      <p:grpSp>
        <p:nvGrpSpPr>
          <p:cNvPr id="1087" name="Group 1086">
            <a:extLst>
              <a:ext uri="{FF2B5EF4-FFF2-40B4-BE49-F238E27FC236}">
                <a16:creationId xmlns:a16="http://schemas.microsoft.com/office/drawing/2014/main" id="{2A0E7AE0-F916-74F9-25B5-C6197FC88440}"/>
              </a:ext>
            </a:extLst>
          </p:cNvPr>
          <p:cNvGrpSpPr/>
          <p:nvPr/>
        </p:nvGrpSpPr>
        <p:grpSpPr>
          <a:xfrm>
            <a:off x="724397" y="6234822"/>
            <a:ext cx="8488875" cy="491421"/>
            <a:chOff x="724397" y="6234822"/>
            <a:chExt cx="8488875" cy="491421"/>
          </a:xfrm>
        </p:grpSpPr>
        <p:sp>
          <p:nvSpPr>
            <p:cNvPr id="2048" name="Chevron 2047">
              <a:extLst>
                <a:ext uri="{FF2B5EF4-FFF2-40B4-BE49-F238E27FC236}">
                  <a16:creationId xmlns:a16="http://schemas.microsoft.com/office/drawing/2014/main" id="{8366E2D0-2AD2-6F82-827E-ED703CFA10C6}"/>
                </a:ext>
              </a:extLst>
            </p:cNvPr>
            <p:cNvSpPr/>
            <p:nvPr/>
          </p:nvSpPr>
          <p:spPr>
            <a:xfrm>
              <a:off x="2021852" y="6241611"/>
              <a:ext cx="1600122" cy="484632"/>
            </a:xfrm>
            <a:prstGeom prst="chevron">
              <a:avLst/>
            </a:prstGeom>
            <a:solidFill>
              <a:srgbClr val="7D38B4"/>
            </a:solidFill>
            <a:ln>
              <a:solidFill>
                <a:srgbClr val="D6BA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SC Reinvention</a:t>
              </a:r>
            </a:p>
          </p:txBody>
        </p:sp>
        <p:sp>
          <p:nvSpPr>
            <p:cNvPr id="2049" name="Chevron 2048">
              <a:extLst>
                <a:ext uri="{FF2B5EF4-FFF2-40B4-BE49-F238E27FC236}">
                  <a16:creationId xmlns:a16="http://schemas.microsoft.com/office/drawing/2014/main" id="{8F6F88B7-A0B7-764A-91A6-BC588C1F56B7}"/>
                </a:ext>
              </a:extLst>
            </p:cNvPr>
            <p:cNvSpPr/>
            <p:nvPr/>
          </p:nvSpPr>
          <p:spPr>
            <a:xfrm>
              <a:off x="3465614" y="6241611"/>
              <a:ext cx="1710047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Transportation</a:t>
              </a:r>
            </a:p>
          </p:txBody>
        </p:sp>
        <p:sp>
          <p:nvSpPr>
            <p:cNvPr id="2051" name="Chevron 2050">
              <a:extLst>
                <a:ext uri="{FF2B5EF4-FFF2-40B4-BE49-F238E27FC236}">
                  <a16:creationId xmlns:a16="http://schemas.microsoft.com/office/drawing/2014/main" id="{D98B59A9-B1C2-0EBF-D092-863B11B32E96}"/>
                </a:ext>
              </a:extLst>
            </p:cNvPr>
            <p:cNvSpPr/>
            <p:nvPr/>
          </p:nvSpPr>
          <p:spPr>
            <a:xfrm>
              <a:off x="5020292" y="6241611"/>
              <a:ext cx="1472540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Distribution </a:t>
              </a:r>
            </a:p>
          </p:txBody>
        </p:sp>
        <p:sp>
          <p:nvSpPr>
            <p:cNvPr id="2053" name="Chevron 2052">
              <a:extLst>
                <a:ext uri="{FF2B5EF4-FFF2-40B4-BE49-F238E27FC236}">
                  <a16:creationId xmlns:a16="http://schemas.microsoft.com/office/drawing/2014/main" id="{23F126B1-7BA7-CD18-C17F-93A50AB5D673}"/>
                </a:ext>
              </a:extLst>
            </p:cNvPr>
            <p:cNvSpPr/>
            <p:nvPr/>
          </p:nvSpPr>
          <p:spPr>
            <a:xfrm>
              <a:off x="6327570" y="6241611"/>
              <a:ext cx="1723901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Redefining P2P Ecosystem</a:t>
              </a:r>
            </a:p>
          </p:txBody>
        </p:sp>
        <p:sp>
          <p:nvSpPr>
            <p:cNvPr id="2062" name="Chevron 2061">
              <a:extLst>
                <a:ext uri="{FF2B5EF4-FFF2-40B4-BE49-F238E27FC236}">
                  <a16:creationId xmlns:a16="http://schemas.microsoft.com/office/drawing/2014/main" id="{E8079E04-5B31-8D42-5419-11C462FBB9F9}"/>
                </a:ext>
              </a:extLst>
            </p:cNvPr>
            <p:cNvSpPr/>
            <p:nvPr/>
          </p:nvSpPr>
          <p:spPr>
            <a:xfrm>
              <a:off x="7881259" y="6241611"/>
              <a:ext cx="1332013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Win Win Win</a:t>
              </a:r>
            </a:p>
          </p:txBody>
        </p:sp>
        <p:sp>
          <p:nvSpPr>
            <p:cNvPr id="2073" name="Chevron 2072">
              <a:extLst>
                <a:ext uri="{FF2B5EF4-FFF2-40B4-BE49-F238E27FC236}">
                  <a16:creationId xmlns:a16="http://schemas.microsoft.com/office/drawing/2014/main" id="{92178190-00DB-0A78-28B8-94A5DF33C773}"/>
                </a:ext>
              </a:extLst>
            </p:cNvPr>
            <p:cNvSpPr/>
            <p:nvPr/>
          </p:nvSpPr>
          <p:spPr>
            <a:xfrm>
              <a:off x="724397" y="6234822"/>
              <a:ext cx="1472541" cy="484632"/>
            </a:xfrm>
            <a:prstGeom prst="chevron">
              <a:avLst/>
            </a:prstGeom>
            <a:solidFill>
              <a:srgbClr val="D6BA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Industry Analysis</a:t>
              </a:r>
            </a:p>
          </p:txBody>
        </p:sp>
      </p:grpSp>
      <p:pic>
        <p:nvPicPr>
          <p:cNvPr id="4" name="object 71">
            <a:extLst>
              <a:ext uri="{FF2B5EF4-FFF2-40B4-BE49-F238E27FC236}">
                <a16:creationId xmlns:a16="http://schemas.microsoft.com/office/drawing/2014/main" id="{9DAAB6CD-9B86-E8F1-49A7-9BF28B7A95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845" y="1359769"/>
            <a:ext cx="880033" cy="861634"/>
          </a:xfrm>
          <a:prstGeom prst="rect">
            <a:avLst/>
          </a:prstGeom>
        </p:spPr>
      </p:pic>
      <p:pic>
        <p:nvPicPr>
          <p:cNvPr id="5" name="Picture 4" descr="Warehouse - Free transportation icons">
            <a:extLst>
              <a:ext uri="{FF2B5EF4-FFF2-40B4-BE49-F238E27FC236}">
                <a16:creationId xmlns:a16="http://schemas.microsoft.com/office/drawing/2014/main" id="{39E84477-D40F-4191-FCA5-32309D59FC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4" b="6748"/>
          <a:stretch/>
        </p:blipFill>
        <p:spPr bwMode="auto">
          <a:xfrm>
            <a:off x="2620366" y="1363852"/>
            <a:ext cx="745084" cy="85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EA37629-E010-138B-7DD6-FFB385261211}"/>
              </a:ext>
            </a:extLst>
          </p:cNvPr>
          <p:cNvGrpSpPr/>
          <p:nvPr/>
        </p:nvGrpSpPr>
        <p:grpSpPr>
          <a:xfrm>
            <a:off x="1728628" y="1554944"/>
            <a:ext cx="915488" cy="432811"/>
            <a:chOff x="1828792" y="974622"/>
            <a:chExt cx="915488" cy="432811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00D5161-CC07-216F-6AA6-D4828A1E35FC}"/>
                </a:ext>
              </a:extLst>
            </p:cNvPr>
            <p:cNvCxnSpPr>
              <a:cxnSpLocks/>
            </p:cNvCxnSpPr>
            <p:nvPr/>
          </p:nvCxnSpPr>
          <p:spPr>
            <a:xfrm>
              <a:off x="1828792" y="1210264"/>
              <a:ext cx="915488" cy="2042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bject 66">
              <a:extLst>
                <a:ext uri="{FF2B5EF4-FFF2-40B4-BE49-F238E27FC236}">
                  <a16:creationId xmlns:a16="http://schemas.microsoft.com/office/drawing/2014/main" id="{61509831-236F-5A90-5436-A7AA05B7FFB7}"/>
                </a:ext>
              </a:extLst>
            </p:cNvPr>
            <p:cNvSpPr txBox="1"/>
            <p:nvPr/>
          </p:nvSpPr>
          <p:spPr>
            <a:xfrm>
              <a:off x="1890244" y="974622"/>
              <a:ext cx="745084" cy="43281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Inventory</a:t>
              </a:r>
            </a:p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arrives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" name="object 66">
            <a:extLst>
              <a:ext uri="{FF2B5EF4-FFF2-40B4-BE49-F238E27FC236}">
                <a16:creationId xmlns:a16="http://schemas.microsoft.com/office/drawing/2014/main" id="{BAEAC564-0CC7-DF4F-60A6-33599BADB1F3}"/>
              </a:ext>
            </a:extLst>
          </p:cNvPr>
          <p:cNvSpPr txBox="1"/>
          <p:nvPr/>
        </p:nvSpPr>
        <p:spPr>
          <a:xfrm>
            <a:off x="2452039" y="1169634"/>
            <a:ext cx="1069771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 marR="5080" indent="-47625" algn="ctr">
              <a:lnSpc>
                <a:spcPct val="100000"/>
              </a:lnSpc>
              <a:spcBef>
                <a:spcPts val="95"/>
              </a:spcBef>
              <a:spcAft>
                <a:spcPts val="300"/>
              </a:spcAft>
            </a:pPr>
            <a:r>
              <a:rPr lang="en-IN" sz="1200">
                <a:latin typeface="Calibri" panose="020F0502020204030204" pitchFamily="34" charset="0"/>
                <a:cs typeface="Calibri" panose="020F0502020204030204" pitchFamily="34" charset="0"/>
              </a:rPr>
              <a:t>City WH</a:t>
            </a:r>
            <a:endParaRPr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18" name="Picture 2" descr="Control tower Good Ware Lineal Color icon">
            <a:extLst>
              <a:ext uri="{FF2B5EF4-FFF2-40B4-BE49-F238E27FC236}">
                <a16:creationId xmlns:a16="http://schemas.microsoft.com/office/drawing/2014/main" id="{06FDFDAC-2C9E-B157-7BB0-E85DC8749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95" y="1365173"/>
            <a:ext cx="880034" cy="88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D4CD1F1-393B-B877-A141-669601E3ECB3}"/>
              </a:ext>
            </a:extLst>
          </p:cNvPr>
          <p:cNvGrpSpPr/>
          <p:nvPr/>
        </p:nvGrpSpPr>
        <p:grpSpPr>
          <a:xfrm>
            <a:off x="3365450" y="1554944"/>
            <a:ext cx="812559" cy="432811"/>
            <a:chOff x="1515341" y="-785852"/>
            <a:chExt cx="812559" cy="432811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FB547DD-EDDE-701A-7ACF-2C9B29CD6C37}"/>
                </a:ext>
              </a:extLst>
            </p:cNvPr>
            <p:cNvCxnSpPr>
              <a:cxnSpLocks/>
              <a:stCxn id="9218" idx="1"/>
              <a:endCxn id="5" idx="3"/>
            </p:cNvCxnSpPr>
            <p:nvPr/>
          </p:nvCxnSpPr>
          <p:spPr>
            <a:xfrm flipH="1" flipV="1">
              <a:off x="1515341" y="-548168"/>
              <a:ext cx="790645" cy="12562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bject 66">
              <a:extLst>
                <a:ext uri="{FF2B5EF4-FFF2-40B4-BE49-F238E27FC236}">
                  <a16:creationId xmlns:a16="http://schemas.microsoft.com/office/drawing/2014/main" id="{1731DF36-5C07-082D-A508-BD8F8731440E}"/>
                </a:ext>
              </a:extLst>
            </p:cNvPr>
            <p:cNvSpPr txBox="1"/>
            <p:nvPr/>
          </p:nvSpPr>
          <p:spPr>
            <a:xfrm>
              <a:off x="1582816" y="-785852"/>
              <a:ext cx="745084" cy="43281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Live </a:t>
              </a:r>
            </a:p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updates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object 66">
            <a:extLst>
              <a:ext uri="{FF2B5EF4-FFF2-40B4-BE49-F238E27FC236}">
                <a16:creationId xmlns:a16="http://schemas.microsoft.com/office/drawing/2014/main" id="{E8DAC784-2259-68D0-0A14-03C3A908565D}"/>
              </a:ext>
            </a:extLst>
          </p:cNvPr>
          <p:cNvSpPr txBox="1"/>
          <p:nvPr/>
        </p:nvSpPr>
        <p:spPr>
          <a:xfrm>
            <a:off x="4034640" y="1164433"/>
            <a:ext cx="1069771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 marR="5080" indent="-47625" algn="ctr">
              <a:lnSpc>
                <a:spcPct val="100000"/>
              </a:lnSpc>
              <a:spcBef>
                <a:spcPts val="95"/>
              </a:spcBef>
              <a:spcAft>
                <a:spcPts val="300"/>
              </a:spcAft>
            </a:pPr>
            <a:r>
              <a:rPr lang="en-IN" sz="1200">
                <a:latin typeface="Calibri" panose="020F0502020204030204" pitchFamily="34" charset="0"/>
                <a:cs typeface="Calibri" panose="020F0502020204030204" pitchFamily="34" charset="0"/>
              </a:rPr>
              <a:t>Control Tower</a:t>
            </a:r>
            <a:endParaRPr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189BA7-1B9A-1B66-B7B8-11B6DEB8618B}"/>
              </a:ext>
            </a:extLst>
          </p:cNvPr>
          <p:cNvSpPr/>
          <p:nvPr/>
        </p:nvSpPr>
        <p:spPr>
          <a:xfrm>
            <a:off x="5436848" y="698125"/>
            <a:ext cx="6554568" cy="295077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Technology Stack - Integration with IT Systems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AB694A-24EE-4ED5-A6BF-72D6DE0253C3}"/>
              </a:ext>
            </a:extLst>
          </p:cNvPr>
          <p:cNvSpPr/>
          <p:nvPr/>
        </p:nvSpPr>
        <p:spPr>
          <a:xfrm>
            <a:off x="742724" y="698125"/>
            <a:ext cx="4432909" cy="293269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Physical Layer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71650F-3047-0446-0C31-127AC414C4DF}"/>
              </a:ext>
            </a:extLst>
          </p:cNvPr>
          <p:cNvSpPr/>
          <p:nvPr/>
        </p:nvSpPr>
        <p:spPr>
          <a:xfrm>
            <a:off x="5436849" y="1072239"/>
            <a:ext cx="2398426" cy="4122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downstream operational </a:t>
            </a:r>
            <a:r>
              <a:rPr lang="en-US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against data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touch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96C9A2-BA23-BC80-5E04-EE314B938636}"/>
              </a:ext>
            </a:extLst>
          </p:cNvPr>
          <p:cNvSpPr/>
          <p:nvPr/>
        </p:nvSpPr>
        <p:spPr>
          <a:xfrm>
            <a:off x="7950461" y="1067138"/>
            <a:ext cx="4040956" cy="41229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spc="-7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 Tower integration: </a:t>
            </a:r>
            <a:r>
              <a:rPr lang="en-US" sz="1200" spc="-7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Provides live updates on linehaul progress to control tower &amp; alerts depots of impending arrival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1A4D1DF-5BCC-551A-8D72-09C11B5893B7}"/>
              </a:ext>
            </a:extLst>
          </p:cNvPr>
          <p:cNvGrpSpPr/>
          <p:nvPr/>
        </p:nvGrpSpPr>
        <p:grpSpPr>
          <a:xfrm>
            <a:off x="5428827" y="1526572"/>
            <a:ext cx="327730" cy="1212608"/>
            <a:chOff x="49839" y="679153"/>
            <a:chExt cx="888623" cy="1097945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33" name="Pentagon 32">
              <a:extLst>
                <a:ext uri="{FF2B5EF4-FFF2-40B4-BE49-F238E27FC236}">
                  <a16:creationId xmlns:a16="http://schemas.microsoft.com/office/drawing/2014/main" id="{FA2B9164-9261-5114-80B7-C0D9CF7CD23B}"/>
                </a:ext>
              </a:extLst>
            </p:cNvPr>
            <p:cNvSpPr/>
            <p:nvPr/>
          </p:nvSpPr>
          <p:spPr>
            <a:xfrm rot="5400000">
              <a:off x="-28075" y="800482"/>
              <a:ext cx="1077781" cy="855292"/>
            </a:xfrm>
            <a:prstGeom prst="homePlate">
              <a:avLst>
                <a:gd name="adj" fmla="val 26595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0000" rtlCol="0" anchor="ctr"/>
            <a:lstStyle/>
            <a:p>
              <a:pPr algn="ctr"/>
              <a:endParaRPr lang="en-US" sz="13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DAD8990-2AC5-2B2F-BFA4-D278BBD12D33}"/>
                </a:ext>
              </a:extLst>
            </p:cNvPr>
            <p:cNvSpPr txBox="1"/>
            <p:nvPr/>
          </p:nvSpPr>
          <p:spPr>
            <a:xfrm rot="16200000">
              <a:off x="-102736" y="831728"/>
              <a:ext cx="1097945" cy="792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Process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F9621224-03E1-76F4-30CA-B646B1FF158C}"/>
              </a:ext>
            </a:extLst>
          </p:cNvPr>
          <p:cNvSpPr/>
          <p:nvPr/>
        </p:nvSpPr>
        <p:spPr>
          <a:xfrm>
            <a:off x="5848497" y="1541806"/>
            <a:ext cx="2547358" cy="40453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Optimized packing</a:t>
            </a:r>
            <a:r>
              <a:rPr lang="en-US" sz="1200">
                <a:solidFill>
                  <a:schemeClr val="tx1"/>
                </a:solidFill>
              </a:rPr>
              <a:t>: Auto-generated  manifest to order freight loading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1E56371-70BE-9815-D5EF-7911593AC756}"/>
              </a:ext>
            </a:extLst>
          </p:cNvPr>
          <p:cNvSpPr/>
          <p:nvPr/>
        </p:nvSpPr>
        <p:spPr>
          <a:xfrm>
            <a:off x="8487794" y="1543745"/>
            <a:ext cx="3503621" cy="40453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Driver app for delivery planning</a:t>
            </a:r>
            <a:r>
              <a:rPr lang="en-US" sz="1200">
                <a:solidFill>
                  <a:schemeClr val="tx1"/>
                </a:solidFill>
              </a:rPr>
              <a:t>: Detailed optimized route, live driver monitoring &amp; performance  tracking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97C9179-F8E1-D792-2E0B-35105414E80C}"/>
              </a:ext>
            </a:extLst>
          </p:cNvPr>
          <p:cNvSpPr/>
          <p:nvPr/>
        </p:nvSpPr>
        <p:spPr>
          <a:xfrm>
            <a:off x="8487794" y="2015954"/>
            <a:ext cx="3493170" cy="409395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marR="5080" indent="-11113" algn="ctr">
              <a:lnSpc>
                <a:spcPts val="1190"/>
              </a:lnSpc>
              <a:spcBef>
                <a:spcPts val="145"/>
              </a:spcBef>
            </a:pP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Linehaul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optimisation:</a:t>
            </a:r>
            <a:r>
              <a:rPr lang="en-IN" sz="1200" b="1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</a:t>
            </a:r>
            <a:r>
              <a:rPr lang="en-IN" sz="1200" spc="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</a:t>
            </a:r>
            <a:r>
              <a:rPr lang="en-IN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linehaul </a:t>
            </a:r>
            <a:r>
              <a:rPr lang="en-IN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volumes</a:t>
            </a:r>
            <a:r>
              <a:rPr lang="en-IN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into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trucks</a:t>
            </a:r>
            <a:r>
              <a:rPr lang="en-IN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truck</a:t>
            </a:r>
            <a:r>
              <a:rPr lang="en-IN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packing</a:t>
            </a:r>
            <a:r>
              <a:rPr lang="en-IN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402D43-C74F-4161-F247-49EF306A73D2}"/>
              </a:ext>
            </a:extLst>
          </p:cNvPr>
          <p:cNvSpPr/>
          <p:nvPr/>
        </p:nvSpPr>
        <p:spPr>
          <a:xfrm>
            <a:off x="5843788" y="2018386"/>
            <a:ext cx="2547358" cy="40453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99700"/>
              </a:lnSpc>
              <a:spcBef>
                <a:spcPts val="100"/>
              </a:spcBef>
            </a:pP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US" sz="1200" b="1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management</a:t>
            </a:r>
            <a:r>
              <a:rPr lang="en-US" sz="1200" b="1" spc="-3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1200" b="1" spc="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live</a:t>
            </a:r>
            <a:r>
              <a:rPr lang="en-US" sz="1200" spc="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pickup </a:t>
            </a:r>
            <a:r>
              <a:rPr lang="en-US" sz="1200" spc="-26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04652B-EE71-17D1-8385-ECD0FBC668F9}"/>
              </a:ext>
            </a:extLst>
          </p:cNvPr>
          <p:cNvSpPr/>
          <p:nvPr/>
        </p:nvSpPr>
        <p:spPr>
          <a:xfrm>
            <a:off x="5843788" y="2502846"/>
            <a:ext cx="6147628" cy="236334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5080" indent="-635" algn="ctr">
              <a:lnSpc>
                <a:spcPct val="99500"/>
              </a:lnSpc>
              <a:spcBef>
                <a:spcPts val="765"/>
              </a:spcBef>
            </a:pP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Front-end UI</a:t>
            </a:r>
            <a:r>
              <a:rPr lang="en-US" sz="1200" b="1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</a:t>
            </a:r>
            <a:r>
              <a:rPr lang="en-US" sz="1200" spc="-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pre-delivery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alert &amp; e-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record of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delivery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(customer selects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delivery</a:t>
            </a:r>
            <a:r>
              <a:rPr lang="en-US" sz="1200" spc="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window)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FD6862A7-645A-E904-9BAF-977C8853FA09}"/>
              </a:ext>
            </a:extLst>
          </p:cNvPr>
          <p:cNvSpPr/>
          <p:nvPr/>
        </p:nvSpPr>
        <p:spPr>
          <a:xfrm>
            <a:off x="5192153" y="1025065"/>
            <a:ext cx="168768" cy="1745516"/>
          </a:xfrm>
          <a:prstGeom prst="leftBrac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56D6AE-7276-2A6F-D18A-B1C51B073005}"/>
              </a:ext>
            </a:extLst>
          </p:cNvPr>
          <p:cNvGrpSpPr/>
          <p:nvPr/>
        </p:nvGrpSpPr>
        <p:grpSpPr>
          <a:xfrm>
            <a:off x="862107" y="2809855"/>
            <a:ext cx="1236006" cy="764295"/>
            <a:chOff x="834366" y="2889742"/>
            <a:chExt cx="1236006" cy="764295"/>
          </a:xfrm>
        </p:grpSpPr>
        <p:pic>
          <p:nvPicPr>
            <p:cNvPr id="9222" name="Picture 6" descr="Delivery man motorbike logo icon scooter bike Vector Image">
              <a:extLst>
                <a:ext uri="{FF2B5EF4-FFF2-40B4-BE49-F238E27FC236}">
                  <a16:creationId xmlns:a16="http://schemas.microsoft.com/office/drawing/2014/main" id="{6B4929BE-0A19-5162-7B8E-62EE3B8B16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8" t="14879" r="6999" b="22260"/>
            <a:stretch/>
          </p:blipFill>
          <p:spPr bwMode="auto">
            <a:xfrm>
              <a:off x="834366" y="2912045"/>
              <a:ext cx="609705" cy="4990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4" name="Picture 8" descr="Truck - Free transport icons">
              <a:extLst>
                <a:ext uri="{FF2B5EF4-FFF2-40B4-BE49-F238E27FC236}">
                  <a16:creationId xmlns:a16="http://schemas.microsoft.com/office/drawing/2014/main" id="{B2F5CEA1-89A8-4FB4-48B5-2064A465AC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0667" y="2889742"/>
              <a:ext cx="609705" cy="6097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object 66">
              <a:extLst>
                <a:ext uri="{FF2B5EF4-FFF2-40B4-BE49-F238E27FC236}">
                  <a16:creationId xmlns:a16="http://schemas.microsoft.com/office/drawing/2014/main" id="{C3295450-5C9E-3243-BC42-4D35E9265448}"/>
                </a:ext>
              </a:extLst>
            </p:cNvPr>
            <p:cNvSpPr txBox="1"/>
            <p:nvPr/>
          </p:nvSpPr>
          <p:spPr>
            <a:xfrm>
              <a:off x="925781" y="3457188"/>
              <a:ext cx="1069771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Present Model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9F696EF-6F13-6503-C4F4-EE6110785D7D}"/>
              </a:ext>
            </a:extLst>
          </p:cNvPr>
          <p:cNvCxnSpPr>
            <a:cxnSpLocks/>
            <a:stCxn id="5" idx="2"/>
            <a:endCxn id="1041" idx="6"/>
          </p:cNvCxnSpPr>
          <p:nvPr/>
        </p:nvCxnSpPr>
        <p:spPr>
          <a:xfrm flipH="1">
            <a:off x="1421707" y="2221403"/>
            <a:ext cx="1571201" cy="450662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09FA27D-A9EF-BC77-57A4-0EA44A260F31}"/>
              </a:ext>
            </a:extLst>
          </p:cNvPr>
          <p:cNvGrpSpPr/>
          <p:nvPr/>
        </p:nvGrpSpPr>
        <p:grpSpPr>
          <a:xfrm>
            <a:off x="2607941" y="2737762"/>
            <a:ext cx="1069771" cy="960360"/>
            <a:chOff x="2605258" y="2818537"/>
            <a:chExt cx="1069771" cy="960360"/>
          </a:xfrm>
        </p:grpSpPr>
        <p:pic>
          <p:nvPicPr>
            <p:cNvPr id="9226" name="Picture 10" descr="Third party - Free user icons">
              <a:extLst>
                <a:ext uri="{FF2B5EF4-FFF2-40B4-BE49-F238E27FC236}">
                  <a16:creationId xmlns:a16="http://schemas.microsoft.com/office/drawing/2014/main" id="{FE60C035-7318-637E-E713-1A7F4FFFA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63" y="2818537"/>
              <a:ext cx="609706" cy="609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object 66">
              <a:extLst>
                <a:ext uri="{FF2B5EF4-FFF2-40B4-BE49-F238E27FC236}">
                  <a16:creationId xmlns:a16="http://schemas.microsoft.com/office/drawing/2014/main" id="{86610B80-A893-CCD1-B3D0-F95A183BB56B}"/>
                </a:ext>
              </a:extLst>
            </p:cNvPr>
            <p:cNvSpPr txBox="1"/>
            <p:nvPr/>
          </p:nvSpPr>
          <p:spPr>
            <a:xfrm>
              <a:off x="2605258" y="3397382"/>
              <a:ext cx="1069771" cy="3815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3P/OEM Collaborations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AE79C7-DCBB-0ADE-4B7D-F9C355EC31CF}"/>
              </a:ext>
            </a:extLst>
          </p:cNvPr>
          <p:cNvGrpSpPr/>
          <p:nvPr/>
        </p:nvGrpSpPr>
        <p:grpSpPr>
          <a:xfrm>
            <a:off x="4044370" y="2697397"/>
            <a:ext cx="1069771" cy="1007522"/>
            <a:chOff x="4059085" y="2788252"/>
            <a:chExt cx="1069771" cy="1007522"/>
          </a:xfrm>
        </p:grpSpPr>
        <p:pic>
          <p:nvPicPr>
            <p:cNvPr id="9228" name="Picture 12" descr="Peer to peer - Free networking icons">
              <a:extLst>
                <a:ext uri="{FF2B5EF4-FFF2-40B4-BE49-F238E27FC236}">
                  <a16:creationId xmlns:a16="http://schemas.microsoft.com/office/drawing/2014/main" id="{0E738858-132E-F4E3-7BB2-FDBF1D1E8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4672" y="2788252"/>
              <a:ext cx="609706" cy="609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object 66">
              <a:extLst>
                <a:ext uri="{FF2B5EF4-FFF2-40B4-BE49-F238E27FC236}">
                  <a16:creationId xmlns:a16="http://schemas.microsoft.com/office/drawing/2014/main" id="{CFEF01E0-9A02-B4D6-6C69-B6EC61D7FC56}"/>
                </a:ext>
              </a:extLst>
            </p:cNvPr>
            <p:cNvSpPr txBox="1"/>
            <p:nvPr/>
          </p:nvSpPr>
          <p:spPr>
            <a:xfrm>
              <a:off x="4059085" y="3414259"/>
              <a:ext cx="1069771" cy="3815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P2P Ecosystem Network</a:t>
              </a:r>
              <a:endParaRPr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3421B2D-23E2-A735-726B-1C1CBA5B8A33}"/>
              </a:ext>
            </a:extLst>
          </p:cNvPr>
          <p:cNvCxnSpPr>
            <a:cxnSpLocks/>
            <a:stCxn id="5" idx="2"/>
            <a:endCxn id="1042" idx="0"/>
          </p:cNvCxnSpPr>
          <p:nvPr/>
        </p:nvCxnSpPr>
        <p:spPr>
          <a:xfrm flipH="1">
            <a:off x="2848006" y="2221403"/>
            <a:ext cx="144902" cy="288310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AE0C1D0-6D2C-06D9-D3D0-0E50D600D724}"/>
              </a:ext>
            </a:extLst>
          </p:cNvPr>
          <p:cNvCxnSpPr>
            <a:cxnSpLocks/>
            <a:stCxn id="5" idx="2"/>
            <a:endCxn id="1043" idx="0"/>
          </p:cNvCxnSpPr>
          <p:nvPr/>
        </p:nvCxnSpPr>
        <p:spPr>
          <a:xfrm>
            <a:off x="2992908" y="2221403"/>
            <a:ext cx="1852680" cy="289001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ft Brace 68">
            <a:extLst>
              <a:ext uri="{FF2B5EF4-FFF2-40B4-BE49-F238E27FC236}">
                <a16:creationId xmlns:a16="http://schemas.microsoft.com/office/drawing/2014/main" id="{DB583602-B0FB-5425-D452-2F03A41201E7}"/>
              </a:ext>
            </a:extLst>
          </p:cNvPr>
          <p:cNvSpPr/>
          <p:nvPr/>
        </p:nvSpPr>
        <p:spPr>
          <a:xfrm>
            <a:off x="5202142" y="2795096"/>
            <a:ext cx="158779" cy="1319925"/>
          </a:xfrm>
          <a:prstGeom prst="leftBrac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86D4CB4-D79C-57C2-099D-A885D930F5D9}"/>
              </a:ext>
            </a:extLst>
          </p:cNvPr>
          <p:cNvSpPr/>
          <p:nvPr/>
        </p:nvSpPr>
        <p:spPr>
          <a:xfrm>
            <a:off x="7006564" y="2835405"/>
            <a:ext cx="4974400" cy="50270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3515" marR="7874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90500" algn="l"/>
                <a:tab pos="191135" algn="l"/>
              </a:tabLst>
            </a:pP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Pre-determined rosters and routes can </a:t>
            </a:r>
            <a:r>
              <a:rPr lang="en-US" sz="1200" spc="-27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US" sz="1200" spc="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3515" marR="7874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90500" algn="l"/>
                <a:tab pos="191135" algn="l"/>
              </a:tabLst>
            </a:pP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Integrating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with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1200" spc="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</a:t>
            </a:r>
            <a:r>
              <a:rPr lang="en-US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</a:t>
            </a:r>
            <a:r>
              <a:rPr lang="en-US" sz="1200" spc="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23EA93E-3B08-4D6D-253C-97CC5A162592}"/>
              </a:ext>
            </a:extLst>
          </p:cNvPr>
          <p:cNvGrpSpPr/>
          <p:nvPr/>
        </p:nvGrpSpPr>
        <p:grpSpPr>
          <a:xfrm>
            <a:off x="5427621" y="2835406"/>
            <a:ext cx="327730" cy="1212608"/>
            <a:chOff x="49839" y="679153"/>
            <a:chExt cx="888623" cy="1097945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73" name="Pentagon 72">
              <a:extLst>
                <a:ext uri="{FF2B5EF4-FFF2-40B4-BE49-F238E27FC236}">
                  <a16:creationId xmlns:a16="http://schemas.microsoft.com/office/drawing/2014/main" id="{3DA885E9-576B-C61A-B75D-F1802F42EB45}"/>
                </a:ext>
              </a:extLst>
            </p:cNvPr>
            <p:cNvSpPr/>
            <p:nvPr/>
          </p:nvSpPr>
          <p:spPr>
            <a:xfrm rot="5400000">
              <a:off x="-28075" y="800482"/>
              <a:ext cx="1077781" cy="855292"/>
            </a:xfrm>
            <a:prstGeom prst="homePlate">
              <a:avLst>
                <a:gd name="adj" fmla="val 26595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0000" rtlCol="0" anchor="ctr"/>
            <a:lstStyle/>
            <a:p>
              <a:pPr algn="ctr"/>
              <a:endParaRPr lang="en-US" sz="13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484C5B0-0F98-7742-202F-07289B0E158C}"/>
                </a:ext>
              </a:extLst>
            </p:cNvPr>
            <p:cNvSpPr txBox="1"/>
            <p:nvPr/>
          </p:nvSpPr>
          <p:spPr>
            <a:xfrm rot="16200000">
              <a:off x="-102736" y="831728"/>
              <a:ext cx="1097945" cy="7927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Process</a:t>
              </a: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1498E0CC-4D75-2BC8-F1BF-1DBDE33F1853}"/>
              </a:ext>
            </a:extLst>
          </p:cNvPr>
          <p:cNvSpPr/>
          <p:nvPr/>
        </p:nvSpPr>
        <p:spPr>
          <a:xfrm>
            <a:off x="5850206" y="2856009"/>
            <a:ext cx="1061503" cy="464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Allocation</a:t>
            </a:r>
            <a:endParaRPr lang="en-US" sz="1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8C89AB2-BE40-DA64-C58E-9C542AE4C7F0}"/>
              </a:ext>
            </a:extLst>
          </p:cNvPr>
          <p:cNvSpPr/>
          <p:nvPr/>
        </p:nvSpPr>
        <p:spPr>
          <a:xfrm>
            <a:off x="5830222" y="3386594"/>
            <a:ext cx="3143632" cy="66142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99700"/>
              </a:lnSpc>
              <a:spcBef>
                <a:spcPts val="100"/>
              </a:spcBef>
            </a:pP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re-optimisation: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 </a:t>
            </a:r>
            <a:r>
              <a:rPr lang="en-IN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of new pickups to optimal driver &amp;  real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 re-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</a:t>
            </a:r>
            <a:r>
              <a:rPr lang="en-IN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driver</a:t>
            </a:r>
            <a:r>
              <a:rPr lang="en-IN" sz="1200" spc="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1ABC9E9-9158-8EC5-8991-1DD681EAF371}"/>
              </a:ext>
            </a:extLst>
          </p:cNvPr>
          <p:cNvSpPr/>
          <p:nvPr/>
        </p:nvSpPr>
        <p:spPr>
          <a:xfrm>
            <a:off x="9039907" y="3397060"/>
            <a:ext cx="2941057" cy="66142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99700"/>
              </a:lnSpc>
              <a:spcBef>
                <a:spcPts val="100"/>
              </a:spcBef>
            </a:pP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</a:t>
            </a:r>
            <a:r>
              <a:rPr lang="en-IN" sz="1200" b="1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routing: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en-IN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1200" spc="-3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variable demand,</a:t>
            </a:r>
            <a:r>
              <a:rPr lang="en-IN" sz="1200" spc="-4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IN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integrate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IN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sortation </a:t>
            </a:r>
            <a:r>
              <a:rPr lang="en-IN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1538607-9078-73FC-326D-690984834308}"/>
              </a:ext>
            </a:extLst>
          </p:cNvPr>
          <p:cNvGrpSpPr/>
          <p:nvPr/>
        </p:nvGrpSpPr>
        <p:grpSpPr>
          <a:xfrm>
            <a:off x="824845" y="3920817"/>
            <a:ext cx="3017691" cy="864540"/>
            <a:chOff x="978607" y="4114088"/>
            <a:chExt cx="2951507" cy="820068"/>
          </a:xfrm>
        </p:grpSpPr>
        <p:pic>
          <p:nvPicPr>
            <p:cNvPr id="9230" name="Picture 14" descr="Distribution center - Free shipping and delivery icons">
              <a:extLst>
                <a:ext uri="{FF2B5EF4-FFF2-40B4-BE49-F238E27FC236}">
                  <a16:creationId xmlns:a16="http://schemas.microsoft.com/office/drawing/2014/main" id="{3C21E281-B293-D0E3-57C6-D2EF60E49A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607" y="4114088"/>
              <a:ext cx="791653" cy="7916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object 66">
              <a:extLst>
                <a:ext uri="{FF2B5EF4-FFF2-40B4-BE49-F238E27FC236}">
                  <a16:creationId xmlns:a16="http://schemas.microsoft.com/office/drawing/2014/main" id="{2E3B14B7-3055-1AF6-06FD-9D5E11837819}"/>
                </a:ext>
              </a:extLst>
            </p:cNvPr>
            <p:cNvSpPr txBox="1"/>
            <p:nvPr/>
          </p:nvSpPr>
          <p:spPr>
            <a:xfrm>
              <a:off x="1850940" y="4133792"/>
              <a:ext cx="1771033" cy="1968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  <a:spcAft>
                  <a:spcPts val="300"/>
                </a:spcAft>
              </a:pPr>
              <a:r>
                <a:rPr lang="en-IN" sz="1200" b="1">
                  <a:latin typeface="Calibri" panose="020F0502020204030204" pitchFamily="34" charset="0"/>
                  <a:cs typeface="Calibri" panose="020F0502020204030204" pitchFamily="34" charset="0"/>
                </a:rPr>
                <a:t>Fulfilment Centre</a:t>
              </a:r>
            </a:p>
          </p:txBody>
        </p:sp>
        <p:sp>
          <p:nvSpPr>
            <p:cNvPr id="82" name="object 66">
              <a:extLst>
                <a:ext uri="{FF2B5EF4-FFF2-40B4-BE49-F238E27FC236}">
                  <a16:creationId xmlns:a16="http://schemas.microsoft.com/office/drawing/2014/main" id="{F4F6CDAC-3221-126F-168E-593182C51548}"/>
                </a:ext>
              </a:extLst>
            </p:cNvPr>
            <p:cNvSpPr txBox="1"/>
            <p:nvPr/>
          </p:nvSpPr>
          <p:spPr>
            <a:xfrm>
              <a:off x="1850941" y="4355151"/>
              <a:ext cx="2079173" cy="5790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>
                <a:lnSpc>
                  <a:spcPct val="100000"/>
                </a:lnSpc>
                <a:spcBef>
                  <a:spcPts val="95"/>
                </a:spcBef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Tier 1: Metro Station, Residential &amp; Office Spaces</a:t>
              </a:r>
            </a:p>
            <a:p>
              <a:pPr marL="59690" marR="5080" indent="-47625">
                <a:lnSpc>
                  <a:spcPct val="100000"/>
                </a:lnSpc>
                <a:spcBef>
                  <a:spcPts val="95"/>
                </a:spcBef>
              </a:pPr>
              <a:r>
                <a:rPr lang="en-IN" sz="1200">
                  <a:latin typeface="Calibri" panose="020F0502020204030204" pitchFamily="34" charset="0"/>
                  <a:cs typeface="Calibri" panose="020F0502020204030204" pitchFamily="34" charset="0"/>
                </a:rPr>
                <a:t>Tier 2: Kirana Stores</a:t>
              </a:r>
            </a:p>
          </p:txBody>
        </p:sp>
      </p:grpSp>
      <p:sp>
        <p:nvSpPr>
          <p:cNvPr id="106" name="Left Brace 105">
            <a:extLst>
              <a:ext uri="{FF2B5EF4-FFF2-40B4-BE49-F238E27FC236}">
                <a16:creationId xmlns:a16="http://schemas.microsoft.com/office/drawing/2014/main" id="{D506E9ED-3EBA-3B29-5F06-7D3DE3DC39D5}"/>
              </a:ext>
            </a:extLst>
          </p:cNvPr>
          <p:cNvSpPr/>
          <p:nvPr/>
        </p:nvSpPr>
        <p:spPr>
          <a:xfrm rot="16200000">
            <a:off x="2873731" y="1722559"/>
            <a:ext cx="263144" cy="4108208"/>
          </a:xfrm>
          <a:prstGeom prst="leftBrace">
            <a:avLst>
              <a:gd name="adj1" fmla="val 8333"/>
              <a:gd name="adj2" fmla="val 79485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5AFD348-16C9-B54F-E9EA-BC2C41B7A9C8}"/>
              </a:ext>
            </a:extLst>
          </p:cNvPr>
          <p:cNvGrpSpPr/>
          <p:nvPr/>
        </p:nvGrpSpPr>
        <p:grpSpPr>
          <a:xfrm>
            <a:off x="2921503" y="4543428"/>
            <a:ext cx="1821946" cy="713724"/>
            <a:chOff x="3218907" y="5079291"/>
            <a:chExt cx="1781987" cy="677010"/>
          </a:xfrm>
        </p:grpSpPr>
        <p:pic>
          <p:nvPicPr>
            <p:cNvPr id="9232" name="Picture 16" descr="Customer service - Free technology icons">
              <a:extLst>
                <a:ext uri="{FF2B5EF4-FFF2-40B4-BE49-F238E27FC236}">
                  <a16:creationId xmlns:a16="http://schemas.microsoft.com/office/drawing/2014/main" id="{2091F1F9-7698-D01E-0186-CBB223D468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3884" y="5079291"/>
              <a:ext cx="677010" cy="677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" name="object 66">
              <a:extLst>
                <a:ext uri="{FF2B5EF4-FFF2-40B4-BE49-F238E27FC236}">
                  <a16:creationId xmlns:a16="http://schemas.microsoft.com/office/drawing/2014/main" id="{A7BB771A-708B-BC9C-50A3-231FB592DF7F}"/>
                </a:ext>
              </a:extLst>
            </p:cNvPr>
            <p:cNvSpPr txBox="1"/>
            <p:nvPr/>
          </p:nvSpPr>
          <p:spPr>
            <a:xfrm>
              <a:off x="3218907" y="5516240"/>
              <a:ext cx="1123986" cy="186723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</a:pPr>
              <a:r>
                <a:rPr lang="en-IN" sz="1200" b="1">
                  <a:latin typeface="Calibri" panose="020F0502020204030204" pitchFamily="34" charset="0"/>
                  <a:cs typeface="Calibri" panose="020F0502020204030204" pitchFamily="34" charset="0"/>
                </a:rPr>
                <a:t>End Customer</a:t>
              </a:r>
            </a:p>
          </p:txBody>
        </p:sp>
      </p:grp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66BFE325-3075-D3CC-D8D0-180F097A561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68214" y="3890486"/>
            <a:ext cx="720487" cy="192930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urved Connector 126">
            <a:extLst>
              <a:ext uri="{FF2B5EF4-FFF2-40B4-BE49-F238E27FC236}">
                <a16:creationId xmlns:a16="http://schemas.microsoft.com/office/drawing/2014/main" id="{67CB2F36-1144-908C-BDB7-09820014A064}"/>
              </a:ext>
            </a:extLst>
          </p:cNvPr>
          <p:cNvCxnSpPr>
            <a:cxnSpLocks/>
          </p:cNvCxnSpPr>
          <p:nvPr/>
        </p:nvCxnSpPr>
        <p:spPr>
          <a:xfrm>
            <a:off x="1220671" y="4756941"/>
            <a:ext cx="2810664" cy="174190"/>
          </a:xfrm>
          <a:prstGeom prst="curvedConnector3">
            <a:avLst>
              <a:gd name="adj1" fmla="val -155"/>
            </a:avLst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Curved Connector 1025">
            <a:extLst>
              <a:ext uri="{FF2B5EF4-FFF2-40B4-BE49-F238E27FC236}">
                <a16:creationId xmlns:a16="http://schemas.microsoft.com/office/drawing/2014/main" id="{127F37C9-44D1-43AE-C045-0A04FCF9BD3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64989" y="4162434"/>
            <a:ext cx="943881" cy="450919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E4D73E7-7EF5-4273-E646-FFF35AABE78F}"/>
              </a:ext>
            </a:extLst>
          </p:cNvPr>
          <p:cNvSpPr/>
          <p:nvPr/>
        </p:nvSpPr>
        <p:spPr>
          <a:xfrm>
            <a:off x="5363319" y="4999449"/>
            <a:ext cx="3610536" cy="28590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algn="ctr">
              <a:lnSpc>
                <a:spcPct val="100000"/>
              </a:lnSpc>
              <a:spcBef>
                <a:spcPts val="95"/>
              </a:spcBef>
            </a:pP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codes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cleansed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</a:t>
            </a:r>
            <a:r>
              <a:rPr lang="en-US" sz="1200" spc="-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B048A52-743C-8E54-A020-4E421C7A1183}"/>
              </a:ext>
            </a:extLst>
          </p:cNvPr>
          <p:cNvSpPr/>
          <p:nvPr/>
        </p:nvSpPr>
        <p:spPr>
          <a:xfrm>
            <a:off x="9044340" y="4994435"/>
            <a:ext cx="2936625" cy="28590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113" algn="ctr">
              <a:lnSpc>
                <a:spcPct val="100000"/>
              </a:lnSpc>
              <a:spcBef>
                <a:spcPts val="95"/>
              </a:spcBef>
            </a:pP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 or downstream customer portals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4" name="Left Brace 1033">
            <a:extLst>
              <a:ext uri="{FF2B5EF4-FFF2-40B4-BE49-F238E27FC236}">
                <a16:creationId xmlns:a16="http://schemas.microsoft.com/office/drawing/2014/main" id="{43D00BA6-42D5-5338-9399-3590A1D3416C}"/>
              </a:ext>
            </a:extLst>
          </p:cNvPr>
          <p:cNvSpPr/>
          <p:nvPr/>
        </p:nvSpPr>
        <p:spPr>
          <a:xfrm>
            <a:off x="5236614" y="4929615"/>
            <a:ext cx="140400" cy="378156"/>
          </a:xfrm>
          <a:prstGeom prst="lef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Left Brace 1034">
            <a:extLst>
              <a:ext uri="{FF2B5EF4-FFF2-40B4-BE49-F238E27FC236}">
                <a16:creationId xmlns:a16="http://schemas.microsoft.com/office/drawing/2014/main" id="{5B29770A-BE9B-574B-6CC0-44DFCB1EE4F7}"/>
              </a:ext>
            </a:extLst>
          </p:cNvPr>
          <p:cNvSpPr/>
          <p:nvPr/>
        </p:nvSpPr>
        <p:spPr>
          <a:xfrm>
            <a:off x="5236614" y="4196721"/>
            <a:ext cx="110581" cy="677010"/>
          </a:xfrm>
          <a:prstGeom prst="lef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A2A044A5-3EF6-B10F-BA89-1A7B49C167EC}"/>
              </a:ext>
            </a:extLst>
          </p:cNvPr>
          <p:cNvGrpSpPr/>
          <p:nvPr/>
        </p:nvGrpSpPr>
        <p:grpSpPr>
          <a:xfrm>
            <a:off x="5431473" y="4114955"/>
            <a:ext cx="307981" cy="869056"/>
            <a:chOff x="1454" y="679152"/>
            <a:chExt cx="937008" cy="1097945"/>
          </a:xfrm>
          <a:solidFill>
            <a:schemeClr val="accent1">
              <a:lumMod val="50000"/>
            </a:schemeClr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1037" name="Pentagon 1036">
              <a:extLst>
                <a:ext uri="{FF2B5EF4-FFF2-40B4-BE49-F238E27FC236}">
                  <a16:creationId xmlns:a16="http://schemas.microsoft.com/office/drawing/2014/main" id="{76900232-BFFB-AD14-79BA-CCE1D2DA180E}"/>
                </a:ext>
              </a:extLst>
            </p:cNvPr>
            <p:cNvSpPr/>
            <p:nvPr/>
          </p:nvSpPr>
          <p:spPr>
            <a:xfrm rot="5400000">
              <a:off x="-28075" y="800482"/>
              <a:ext cx="1077781" cy="855292"/>
            </a:xfrm>
            <a:prstGeom prst="homePlate">
              <a:avLst>
                <a:gd name="adj" fmla="val 26595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0000" rtlCol="0" anchor="ctr"/>
            <a:lstStyle/>
            <a:p>
              <a:pPr algn="ctr"/>
              <a:endParaRPr lang="en-US" sz="13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2758A60C-C59A-A32E-F515-EA4F316D9AF9}"/>
                </a:ext>
              </a:extLst>
            </p:cNvPr>
            <p:cNvSpPr txBox="1"/>
            <p:nvPr/>
          </p:nvSpPr>
          <p:spPr>
            <a:xfrm rot="16200000">
              <a:off x="-102735" y="783341"/>
              <a:ext cx="1097945" cy="8895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3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Process</a:t>
              </a:r>
            </a:p>
          </p:txBody>
        </p:sp>
      </p:grp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0BF9D34-5869-5FE9-6057-B34062197796}"/>
              </a:ext>
            </a:extLst>
          </p:cNvPr>
          <p:cNvSpPr/>
          <p:nvPr/>
        </p:nvSpPr>
        <p:spPr>
          <a:xfrm>
            <a:off x="5843789" y="4203499"/>
            <a:ext cx="3143632" cy="6266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99700"/>
              </a:lnSpc>
              <a:spcBef>
                <a:spcPts val="100"/>
              </a:spcBef>
            </a:pPr>
            <a:r>
              <a:rPr lang="en-US" sz="1200" b="1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Tracking Drivers: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Compliance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measurement</a:t>
            </a:r>
            <a:r>
              <a:rPr lang="en-US" sz="1200" spc="-4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feedback</a:t>
            </a:r>
            <a:r>
              <a:rPr lang="en-US" sz="1200" spc="-4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drivers</a:t>
            </a:r>
            <a:r>
              <a:rPr lang="en-US" sz="1200" spc="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</a:t>
            </a:r>
            <a:r>
              <a:rPr lang="en-US" sz="1200" spc="-3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1200" spc="-1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adoption</a:t>
            </a:r>
            <a:endParaRPr lang="en-IN" sz="1200" spc="-5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C1171200-D481-475D-3841-57459BD930FE}"/>
              </a:ext>
            </a:extLst>
          </p:cNvPr>
          <p:cNvSpPr/>
          <p:nvPr/>
        </p:nvSpPr>
        <p:spPr>
          <a:xfrm>
            <a:off x="9050358" y="4203498"/>
            <a:ext cx="2941057" cy="6266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ctr">
              <a:lnSpc>
                <a:spcPct val="100000"/>
              </a:lnSpc>
              <a:spcBef>
                <a:spcPts val="600"/>
              </a:spcBef>
              <a:tabLst>
                <a:tab pos="190500" algn="l"/>
                <a:tab pos="191135" algn="l"/>
              </a:tabLst>
            </a:pP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Measure number</a:t>
            </a:r>
            <a:r>
              <a:rPr lang="en-US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the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</a:t>
            </a:r>
            <a:r>
              <a:rPr lang="en-US" sz="1200" spc="-26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well</a:t>
            </a:r>
            <a:r>
              <a:rPr lang="en-US" sz="1200" spc="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US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applicable</a:t>
            </a:r>
            <a:endParaRPr lang="en-US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B8367A4A-C4D2-95BC-8FCF-16A434907E9F}"/>
              </a:ext>
            </a:extLst>
          </p:cNvPr>
          <p:cNvSpPr/>
          <p:nvPr/>
        </p:nvSpPr>
        <p:spPr>
          <a:xfrm>
            <a:off x="1101806" y="2512114"/>
            <a:ext cx="319901" cy="319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F3068040-13D3-2A03-0A3B-09247ADE2BC3}"/>
              </a:ext>
            </a:extLst>
          </p:cNvPr>
          <p:cNvSpPr/>
          <p:nvPr/>
        </p:nvSpPr>
        <p:spPr>
          <a:xfrm>
            <a:off x="2688055" y="2509713"/>
            <a:ext cx="319901" cy="319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3" name="Oval 1042">
            <a:extLst>
              <a:ext uri="{FF2B5EF4-FFF2-40B4-BE49-F238E27FC236}">
                <a16:creationId xmlns:a16="http://schemas.microsoft.com/office/drawing/2014/main" id="{93CD8FBB-B281-F7F0-4D6C-E81BC3242860}"/>
              </a:ext>
            </a:extLst>
          </p:cNvPr>
          <p:cNvSpPr/>
          <p:nvPr/>
        </p:nvSpPr>
        <p:spPr>
          <a:xfrm>
            <a:off x="4685637" y="2510404"/>
            <a:ext cx="319901" cy="319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E86DF-5C9A-4D25-8856-D86602ADA111}"/>
              </a:ext>
            </a:extLst>
          </p:cNvPr>
          <p:cNvSpPr/>
          <p:nvPr/>
        </p:nvSpPr>
        <p:spPr>
          <a:xfrm>
            <a:off x="1778394" y="5476108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Carbon Emission Reduction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2A55-2506-A51D-DE61-9C713AFFB67E}"/>
              </a:ext>
            </a:extLst>
          </p:cNvPr>
          <p:cNvSpPr/>
          <p:nvPr/>
        </p:nvSpPr>
        <p:spPr>
          <a:xfrm>
            <a:off x="2975896" y="5479948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35%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F974AA-0E99-1669-7388-1838692692B1}"/>
              </a:ext>
            </a:extLst>
          </p:cNvPr>
          <p:cNvSpPr/>
          <p:nvPr/>
        </p:nvSpPr>
        <p:spPr>
          <a:xfrm>
            <a:off x="740783" y="5465406"/>
            <a:ext cx="964095" cy="5685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Industry Benchmark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59E5B3-D75F-638B-696B-7FD0B2DF178E}"/>
              </a:ext>
            </a:extLst>
          </p:cNvPr>
          <p:cNvSpPr/>
          <p:nvPr/>
        </p:nvSpPr>
        <p:spPr>
          <a:xfrm>
            <a:off x="3858217" y="5480671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Fuel Efficiency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2D8862-801F-1E12-475C-129A5CE07E9C}"/>
              </a:ext>
            </a:extLst>
          </p:cNvPr>
          <p:cNvSpPr/>
          <p:nvPr/>
        </p:nvSpPr>
        <p:spPr>
          <a:xfrm>
            <a:off x="5055719" y="5484511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23%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AA49B1-64FE-B593-F745-6733D230513B}"/>
              </a:ext>
            </a:extLst>
          </p:cNvPr>
          <p:cNvSpPr/>
          <p:nvPr/>
        </p:nvSpPr>
        <p:spPr>
          <a:xfrm>
            <a:off x="5932741" y="5469246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Waste Reduction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D8FB0D-9947-AF54-66E5-1EC48DE5B7AC}"/>
              </a:ext>
            </a:extLst>
          </p:cNvPr>
          <p:cNvSpPr/>
          <p:nvPr/>
        </p:nvSpPr>
        <p:spPr>
          <a:xfrm>
            <a:off x="11297229" y="5469969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1-3%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BE2400-67D0-729D-BDDD-FCAC2889B122}"/>
              </a:ext>
            </a:extLst>
          </p:cNvPr>
          <p:cNvSpPr/>
          <p:nvPr/>
        </p:nvSpPr>
        <p:spPr>
          <a:xfrm>
            <a:off x="8015770" y="5465406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Impact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176C573-B0E0-A94F-3124-BD80485982B6}"/>
              </a:ext>
            </a:extLst>
          </p:cNvPr>
          <p:cNvSpPr/>
          <p:nvPr/>
        </p:nvSpPr>
        <p:spPr>
          <a:xfrm>
            <a:off x="9213272" y="5469246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5-7%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5B20D5B-2E8B-B861-F1E7-173AC4C0096D}"/>
              </a:ext>
            </a:extLst>
          </p:cNvPr>
          <p:cNvSpPr/>
          <p:nvPr/>
        </p:nvSpPr>
        <p:spPr>
          <a:xfrm>
            <a:off x="10099727" y="5457915"/>
            <a:ext cx="1123986" cy="568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 Well-Being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39D82D2-AB63-8D42-5BB2-36EAD63169D9}"/>
              </a:ext>
            </a:extLst>
          </p:cNvPr>
          <p:cNvSpPr/>
          <p:nvPr/>
        </p:nvSpPr>
        <p:spPr>
          <a:xfrm>
            <a:off x="7137005" y="5469246"/>
            <a:ext cx="683735" cy="5647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55%</a:t>
            </a:r>
          </a:p>
        </p:txBody>
      </p:sp>
    </p:spTree>
    <p:extLst>
      <p:ext uri="{BB962C8B-B14F-4D97-AF65-F5344CB8AC3E}">
        <p14:creationId xmlns:p14="http://schemas.microsoft.com/office/powerpoint/2010/main" val="388358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A2842-23D1-9D4C-8C34-54F396B0B4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153" y="76552"/>
            <a:ext cx="11772178" cy="3034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>
                <a:latin typeface="Calibri"/>
                <a:cs typeface="Calibri"/>
              </a:rPr>
              <a:t>Industry will move towards green fleet optimization across LMD models to ensure compliance with ESG std.  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80D71E6-2122-0D40-7972-92B9DC14FA22}"/>
              </a:ext>
            </a:extLst>
          </p:cNvPr>
          <p:cNvSpPr txBox="1">
            <a:spLocks/>
          </p:cNvSpPr>
          <p:nvPr/>
        </p:nvSpPr>
        <p:spPr>
          <a:xfrm>
            <a:off x="1338553" y="5439968"/>
            <a:ext cx="2043662" cy="536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667" b="1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Major E-Commerce hubs in India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6645B-27F6-DCF9-853F-554CF09B441A}"/>
              </a:ext>
            </a:extLst>
          </p:cNvPr>
          <p:cNvCxnSpPr>
            <a:cxnSpLocks/>
          </p:cNvCxnSpPr>
          <p:nvPr/>
        </p:nvCxnSpPr>
        <p:spPr>
          <a:xfrm>
            <a:off x="3406203" y="1323117"/>
            <a:ext cx="0" cy="468916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F3CA647-BAF8-721B-F16B-E79DCF069C69}"/>
              </a:ext>
            </a:extLst>
          </p:cNvPr>
          <p:cNvSpPr/>
          <p:nvPr/>
        </p:nvSpPr>
        <p:spPr>
          <a:xfrm>
            <a:off x="3519430" y="1323117"/>
            <a:ext cx="8552363" cy="234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Last Mile Delivery system for City X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84178F-67B4-610D-8AD7-01533C49923E}"/>
              </a:ext>
            </a:extLst>
          </p:cNvPr>
          <p:cNvSpPr/>
          <p:nvPr/>
        </p:nvSpPr>
        <p:spPr>
          <a:xfrm>
            <a:off x="3543179" y="1728123"/>
            <a:ext cx="2488217" cy="2461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Fuel-Based, Own Fleet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679E68-DFA6-5155-6E64-147FA7949BB1}"/>
              </a:ext>
            </a:extLst>
          </p:cNvPr>
          <p:cNvSpPr/>
          <p:nvPr/>
        </p:nvSpPr>
        <p:spPr>
          <a:xfrm>
            <a:off x="6547850" y="1734475"/>
            <a:ext cx="2488217" cy="2481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Outsourced Fleet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920283-3FB4-1F95-99CB-C38437A70B09}"/>
              </a:ext>
            </a:extLst>
          </p:cNvPr>
          <p:cNvSpPr/>
          <p:nvPr/>
        </p:nvSpPr>
        <p:spPr>
          <a:xfrm>
            <a:off x="9281699" y="1734768"/>
            <a:ext cx="2790094" cy="2274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P2P Network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C98019C5-597D-8642-5472-C907DFC7D5E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6206301" y="138811"/>
            <a:ext cx="170299" cy="300832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BF87EEB8-80B4-1835-366F-E9C37E29C0D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9147707" y="205729"/>
            <a:ext cx="176944" cy="288113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0AE9A0-3C50-492E-8731-48422EECC23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791959" y="1557824"/>
            <a:ext cx="3653" cy="1766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1B87139-47CC-B561-B379-5DCD156D1C4F}"/>
              </a:ext>
            </a:extLst>
          </p:cNvPr>
          <p:cNvSpPr/>
          <p:nvPr/>
        </p:nvSpPr>
        <p:spPr>
          <a:xfrm>
            <a:off x="3530490" y="2166086"/>
            <a:ext cx="1205463" cy="315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2-wheeler riders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2F40AA-01A5-B0A3-9E9D-7B32BA988847}"/>
              </a:ext>
            </a:extLst>
          </p:cNvPr>
          <p:cNvSpPr/>
          <p:nvPr/>
        </p:nvSpPr>
        <p:spPr>
          <a:xfrm>
            <a:off x="4813240" y="2166088"/>
            <a:ext cx="1205468" cy="3155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 Trucks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B9073DC6-3DA5-6537-26F9-C57E0FA77D37}"/>
              </a:ext>
            </a:extLst>
          </p:cNvPr>
          <p:cNvCxnSpPr>
            <a:cxnSpLocks/>
            <a:stCxn id="8" idx="2"/>
            <a:endCxn id="34" idx="0"/>
          </p:cNvCxnSpPr>
          <p:nvPr/>
        </p:nvCxnSpPr>
        <p:spPr>
          <a:xfrm rot="5400000">
            <a:off x="4364353" y="1743150"/>
            <a:ext cx="191805" cy="65406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EF55BE06-5816-48B9-7754-AA285E13CF7C}"/>
              </a:ext>
            </a:extLst>
          </p:cNvPr>
          <p:cNvCxnSpPr>
            <a:cxnSpLocks/>
            <a:stCxn id="8" idx="2"/>
            <a:endCxn id="44" idx="0"/>
          </p:cNvCxnSpPr>
          <p:nvPr/>
        </p:nvCxnSpPr>
        <p:spPr>
          <a:xfrm rot="16200000" flipH="1">
            <a:off x="5005728" y="1755841"/>
            <a:ext cx="191807" cy="62868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24697670-C05D-5D48-BF99-DAC9853F0D04}"/>
              </a:ext>
            </a:extLst>
          </p:cNvPr>
          <p:cNvSpPr/>
          <p:nvPr/>
        </p:nvSpPr>
        <p:spPr>
          <a:xfrm>
            <a:off x="6486860" y="2166086"/>
            <a:ext cx="1205463" cy="315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2-wheeler riders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B33A00F-0F4B-5C42-19C6-79C77AC762E1}"/>
              </a:ext>
            </a:extLst>
          </p:cNvPr>
          <p:cNvSpPr/>
          <p:nvPr/>
        </p:nvSpPr>
        <p:spPr>
          <a:xfrm>
            <a:off x="7769610" y="2166088"/>
            <a:ext cx="1205468" cy="3155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 Trucks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00CB0C8-A243-D17E-9D62-35F47AB1862F}"/>
              </a:ext>
            </a:extLst>
          </p:cNvPr>
          <p:cNvCxnSpPr>
            <a:cxnSpLocks/>
            <a:stCxn id="9" idx="2"/>
            <a:endCxn id="55" idx="0"/>
          </p:cNvCxnSpPr>
          <p:nvPr/>
        </p:nvCxnSpPr>
        <p:spPr>
          <a:xfrm rot="5400000">
            <a:off x="7349051" y="1723177"/>
            <a:ext cx="183451" cy="70236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8F5E39F1-C64B-F903-CC39-AC780985422E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 rot="16200000" flipH="1">
            <a:off x="7990425" y="1784168"/>
            <a:ext cx="183453" cy="58038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8E66F571-FE44-C35E-D9F3-C07E0A2C98B4}"/>
              </a:ext>
            </a:extLst>
          </p:cNvPr>
          <p:cNvSpPr/>
          <p:nvPr/>
        </p:nvSpPr>
        <p:spPr>
          <a:xfrm>
            <a:off x="9281699" y="2166083"/>
            <a:ext cx="1356413" cy="315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 P2P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6662016F-2D75-D655-990D-9EDAB89D57C8}"/>
              </a:ext>
            </a:extLst>
          </p:cNvPr>
          <p:cNvSpPr/>
          <p:nvPr/>
        </p:nvSpPr>
        <p:spPr>
          <a:xfrm>
            <a:off x="10715399" y="2166086"/>
            <a:ext cx="1356394" cy="3155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 P2P</a:t>
            </a:r>
          </a:p>
        </p:txBody>
      </p:sp>
      <p:cxnSp>
        <p:nvCxnSpPr>
          <p:cNvPr id="1025" name="Elbow Connector 1024">
            <a:extLst>
              <a:ext uri="{FF2B5EF4-FFF2-40B4-BE49-F238E27FC236}">
                <a16:creationId xmlns:a16="http://schemas.microsoft.com/office/drawing/2014/main" id="{5588B543-51E6-42CF-A453-F1466E750F4F}"/>
              </a:ext>
            </a:extLst>
          </p:cNvPr>
          <p:cNvCxnSpPr>
            <a:cxnSpLocks/>
            <a:stCxn id="10" idx="2"/>
            <a:endCxn id="63" idx="0"/>
          </p:cNvCxnSpPr>
          <p:nvPr/>
        </p:nvCxnSpPr>
        <p:spPr>
          <a:xfrm rot="5400000">
            <a:off x="10216375" y="1705712"/>
            <a:ext cx="203902" cy="71684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Elbow Connector 1028">
            <a:extLst>
              <a:ext uri="{FF2B5EF4-FFF2-40B4-BE49-F238E27FC236}">
                <a16:creationId xmlns:a16="http://schemas.microsoft.com/office/drawing/2014/main" id="{0CAE92E7-0320-C7F0-8C15-57BC48C55FFB}"/>
              </a:ext>
            </a:extLst>
          </p:cNvPr>
          <p:cNvCxnSpPr>
            <a:cxnSpLocks/>
            <a:stCxn id="10" idx="2"/>
            <a:endCxn id="1024" idx="0"/>
          </p:cNvCxnSpPr>
          <p:nvPr/>
        </p:nvCxnSpPr>
        <p:spPr>
          <a:xfrm rot="16200000" flipH="1">
            <a:off x="10933219" y="1705708"/>
            <a:ext cx="203905" cy="71685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map of india with red and yellow dots&#10;&#10;Description automatically generated">
            <a:extLst>
              <a:ext uri="{FF2B5EF4-FFF2-40B4-BE49-F238E27FC236}">
                <a16:creationId xmlns:a16="http://schemas.microsoft.com/office/drawing/2014/main" id="{8FD44C9C-DD72-A35C-1F0F-35361F98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32" y="3715260"/>
            <a:ext cx="2267203" cy="28688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DABB97-D259-31EA-0BD3-ED4AF7A312A7}"/>
              </a:ext>
            </a:extLst>
          </p:cNvPr>
          <p:cNvSpPr/>
          <p:nvPr/>
        </p:nvSpPr>
        <p:spPr>
          <a:xfrm>
            <a:off x="3530489" y="2928793"/>
            <a:ext cx="2488217" cy="474448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Multiple same-day deliveries to single location by one company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636EB0-D5A6-D0FD-E205-8775D239BA18}"/>
              </a:ext>
            </a:extLst>
          </p:cNvPr>
          <p:cNvSpPr/>
          <p:nvPr/>
        </p:nvSpPr>
        <p:spPr>
          <a:xfrm>
            <a:off x="9267599" y="2595658"/>
            <a:ext cx="1356413" cy="83334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Peer picks from CDC or Drop Site &amp; drops at semi-dark store</a:t>
            </a: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0D267B3A-8216-E6DB-0EED-EBC84FE20284}"/>
              </a:ext>
            </a:extLst>
          </p:cNvPr>
          <p:cNvSpPr/>
          <p:nvPr/>
        </p:nvSpPr>
        <p:spPr>
          <a:xfrm>
            <a:off x="3524667" y="2581751"/>
            <a:ext cx="2479939" cy="25320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417EC4-08F8-04FF-7E86-EA6364EA333C}"/>
              </a:ext>
            </a:extLst>
          </p:cNvPr>
          <p:cNvSpPr/>
          <p:nvPr/>
        </p:nvSpPr>
        <p:spPr>
          <a:xfrm>
            <a:off x="6492647" y="2934993"/>
            <a:ext cx="2488217" cy="462845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Order Consolidation</a:t>
            </a:r>
            <a:r>
              <a:rPr lang="en-US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reduce trips, fuel consumed &amp; emissions</a:t>
            </a:r>
          </a:p>
        </p:txBody>
      </p:sp>
      <p:sp>
        <p:nvSpPr>
          <p:cNvPr id="31" name="Chevron 30">
            <a:extLst>
              <a:ext uri="{FF2B5EF4-FFF2-40B4-BE49-F238E27FC236}">
                <a16:creationId xmlns:a16="http://schemas.microsoft.com/office/drawing/2014/main" id="{AF415CCA-5106-1E56-8448-9543741DD9CD}"/>
              </a:ext>
            </a:extLst>
          </p:cNvPr>
          <p:cNvSpPr/>
          <p:nvPr/>
        </p:nvSpPr>
        <p:spPr>
          <a:xfrm>
            <a:off x="6481072" y="2575931"/>
            <a:ext cx="2499792" cy="2532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Possible Solutions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DBC1EECE-5A52-2E16-E3BA-004B9B5349D7}"/>
              </a:ext>
            </a:extLst>
          </p:cNvPr>
          <p:cNvSpPr/>
          <p:nvPr/>
        </p:nvSpPr>
        <p:spPr>
          <a:xfrm>
            <a:off x="6063141" y="3065656"/>
            <a:ext cx="396647" cy="200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855551-F8E4-EA1E-E240-AA65ED4BE596}"/>
              </a:ext>
            </a:extLst>
          </p:cNvPr>
          <p:cNvSpPr/>
          <p:nvPr/>
        </p:nvSpPr>
        <p:spPr>
          <a:xfrm>
            <a:off x="3519430" y="3470332"/>
            <a:ext cx="2488217" cy="474448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 than Truck Load leading to inefficient utilization of capabilities</a:t>
            </a:r>
            <a:endParaRPr lang="en-IN" sz="1200" b="0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044115-4790-7D6B-23DD-5DC270781C8C}"/>
              </a:ext>
            </a:extLst>
          </p:cNvPr>
          <p:cNvSpPr/>
          <p:nvPr/>
        </p:nvSpPr>
        <p:spPr>
          <a:xfrm>
            <a:off x="6481588" y="3476532"/>
            <a:ext cx="2488217" cy="462845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Co-Loading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combine load of different co. by opening network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7B385872-C396-F4E6-921D-68D08893D3EB}"/>
              </a:ext>
            </a:extLst>
          </p:cNvPr>
          <p:cNvSpPr/>
          <p:nvPr/>
        </p:nvSpPr>
        <p:spPr>
          <a:xfrm>
            <a:off x="6052082" y="3607195"/>
            <a:ext cx="396647" cy="200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203F7E-8299-6E78-EDD1-677B7711D97E}"/>
              </a:ext>
            </a:extLst>
          </p:cNvPr>
          <p:cNvSpPr/>
          <p:nvPr/>
        </p:nvSpPr>
        <p:spPr>
          <a:xfrm>
            <a:off x="3519430" y="4017409"/>
            <a:ext cx="2488217" cy="474448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stops at various points due to fragmented distribution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209EC1-B3BE-D1EB-94AA-376CE36A35B6}"/>
              </a:ext>
            </a:extLst>
          </p:cNvPr>
          <p:cNvSpPr/>
          <p:nvPr/>
        </p:nvSpPr>
        <p:spPr>
          <a:xfrm>
            <a:off x="6481588" y="4023609"/>
            <a:ext cx="2488217" cy="462845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P2P Network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reduce stops &amp; offload fragmented distribution</a:t>
            </a:r>
            <a:endParaRPr lang="en-US" sz="1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3F25900E-9799-7876-1BEF-69A4ACB72C89}"/>
              </a:ext>
            </a:extLst>
          </p:cNvPr>
          <p:cNvSpPr/>
          <p:nvPr/>
        </p:nvSpPr>
        <p:spPr>
          <a:xfrm>
            <a:off x="6052082" y="4154272"/>
            <a:ext cx="396647" cy="2007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256E67-EA6D-6EAA-6A7D-DA4F4F878742}"/>
              </a:ext>
            </a:extLst>
          </p:cNvPr>
          <p:cNvSpPr/>
          <p:nvPr/>
        </p:nvSpPr>
        <p:spPr>
          <a:xfrm>
            <a:off x="10715399" y="2595659"/>
            <a:ext cx="1356413" cy="80217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Trusted peer picks from CDC/Drop site &amp; drops at home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61E8706-7237-CF65-E49F-D44C7F532534}"/>
              </a:ext>
            </a:extLst>
          </p:cNvPr>
          <p:cNvCxnSpPr>
            <a:endCxn id="15" idx="0"/>
          </p:cNvCxnSpPr>
          <p:nvPr/>
        </p:nvCxnSpPr>
        <p:spPr>
          <a:xfrm flipH="1">
            <a:off x="9945806" y="2481668"/>
            <a:ext cx="61514" cy="11399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409512-0CCA-F08C-ACE6-52AAED0726C9}"/>
              </a:ext>
            </a:extLst>
          </p:cNvPr>
          <p:cNvCxnSpPr>
            <a:cxnSpLocks/>
            <a:stCxn id="1024" idx="2"/>
            <a:endCxn id="41" idx="0"/>
          </p:cNvCxnSpPr>
          <p:nvPr/>
        </p:nvCxnSpPr>
        <p:spPr>
          <a:xfrm>
            <a:off x="11393596" y="2481673"/>
            <a:ext cx="10" cy="11398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209565B-415D-BE30-6AAB-6CC46CB53E5C}"/>
              </a:ext>
            </a:extLst>
          </p:cNvPr>
          <p:cNvSpPr/>
          <p:nvPr/>
        </p:nvSpPr>
        <p:spPr>
          <a:xfrm>
            <a:off x="9267598" y="3479007"/>
            <a:ext cx="2804214" cy="46036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Challenge: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Lack of control &amp; trust impacts cost via lost/damaged parcel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7FFD8C-874A-2887-E04C-2C1A2E839F49}"/>
              </a:ext>
            </a:extLst>
          </p:cNvPr>
          <p:cNvSpPr/>
          <p:nvPr/>
        </p:nvSpPr>
        <p:spPr>
          <a:xfrm>
            <a:off x="9267598" y="4022544"/>
            <a:ext cx="2804214" cy="46931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Possible Solutions: 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Incremental loading, commission &amp; badges</a:t>
            </a:r>
            <a:endParaRPr lang="en-US" sz="1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496D2AA1-9140-55A1-B3E4-093A9A1C6FEF}"/>
              </a:ext>
            </a:extLst>
          </p:cNvPr>
          <p:cNvSpPr/>
          <p:nvPr/>
        </p:nvSpPr>
        <p:spPr>
          <a:xfrm>
            <a:off x="8940188" y="1978909"/>
            <a:ext cx="446767" cy="2567710"/>
          </a:xfrm>
          <a:prstGeom prst="leftBrace">
            <a:avLst>
              <a:gd name="adj1" fmla="val 8333"/>
              <a:gd name="adj2" fmla="val 87414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Pentagon 60">
            <a:extLst>
              <a:ext uri="{FF2B5EF4-FFF2-40B4-BE49-F238E27FC236}">
                <a16:creationId xmlns:a16="http://schemas.microsoft.com/office/drawing/2014/main" id="{8AADF837-E7E8-4779-F8F9-E7A0DC32F720}"/>
              </a:ext>
            </a:extLst>
          </p:cNvPr>
          <p:cNvSpPr/>
          <p:nvPr/>
        </p:nvSpPr>
        <p:spPr>
          <a:xfrm>
            <a:off x="3524667" y="4621030"/>
            <a:ext cx="2951098" cy="217184"/>
          </a:xfrm>
          <a:prstGeom prst="homePlate">
            <a:avLst/>
          </a:prstGeom>
          <a:gradFill flip="none" rotWithShape="1">
            <a:gsLst>
              <a:gs pos="0">
                <a:schemeClr val="accent1"/>
              </a:gs>
              <a:gs pos="99000">
                <a:schemeClr val="accent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latin typeface="Calibri" panose="020F0502020204030204" pitchFamily="34" charset="0"/>
                <a:cs typeface="Calibri" panose="020F0502020204030204" pitchFamily="34" charset="0"/>
              </a:rPr>
              <a:t>Current Position</a:t>
            </a:r>
          </a:p>
        </p:txBody>
      </p:sp>
      <p:sp>
        <p:nvSpPr>
          <p:cNvPr id="62" name="Chevron 61">
            <a:extLst>
              <a:ext uri="{FF2B5EF4-FFF2-40B4-BE49-F238E27FC236}">
                <a16:creationId xmlns:a16="http://schemas.microsoft.com/office/drawing/2014/main" id="{196BB291-7FCC-7A48-E6C0-3C35865B696E}"/>
              </a:ext>
            </a:extLst>
          </p:cNvPr>
          <p:cNvSpPr/>
          <p:nvPr/>
        </p:nvSpPr>
        <p:spPr>
          <a:xfrm>
            <a:off x="6470012" y="4617118"/>
            <a:ext cx="5601791" cy="217184"/>
          </a:xfrm>
          <a:prstGeom prst="chevron">
            <a:avLst/>
          </a:prstGeom>
          <a:gradFill>
            <a:gsLst>
              <a:gs pos="0">
                <a:schemeClr val="accent6"/>
              </a:gs>
              <a:gs pos="62000">
                <a:schemeClr val="accent6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Position: Asset Light &amp; Sustainable</a:t>
            </a:r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E010FED6-2724-8762-3BFF-80BEB4DDAC7A}"/>
              </a:ext>
            </a:extLst>
          </p:cNvPr>
          <p:cNvSpPr/>
          <p:nvPr/>
        </p:nvSpPr>
        <p:spPr>
          <a:xfrm>
            <a:off x="3668833" y="4978790"/>
            <a:ext cx="6166815" cy="251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 Fleet</a:t>
            </a:r>
          </a:p>
        </p:txBody>
      </p:sp>
      <p:sp>
        <p:nvSpPr>
          <p:cNvPr id="1033" name="Left Brace 1032">
            <a:extLst>
              <a:ext uri="{FF2B5EF4-FFF2-40B4-BE49-F238E27FC236}">
                <a16:creationId xmlns:a16="http://schemas.microsoft.com/office/drawing/2014/main" id="{A5829913-6CBF-B5FB-B7CE-C4FAB1C2467E}"/>
              </a:ext>
            </a:extLst>
          </p:cNvPr>
          <p:cNvSpPr/>
          <p:nvPr/>
        </p:nvSpPr>
        <p:spPr>
          <a:xfrm rot="5400000">
            <a:off x="7664870" y="655225"/>
            <a:ext cx="253201" cy="8515899"/>
          </a:xfrm>
          <a:prstGeom prst="leftBrace">
            <a:avLst>
              <a:gd name="adj1" fmla="val 8333"/>
              <a:gd name="adj2" fmla="val 34777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76B6AB6-7A3B-6997-94BE-9233AE3C2D98}"/>
              </a:ext>
            </a:extLst>
          </p:cNvPr>
          <p:cNvSpPr/>
          <p:nvPr/>
        </p:nvSpPr>
        <p:spPr>
          <a:xfrm>
            <a:off x="9942653" y="4981496"/>
            <a:ext cx="2067616" cy="249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Network of P2P</a:t>
            </a: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8EC081A4-BB80-6CD1-8969-EB603C5DB0BF}"/>
              </a:ext>
            </a:extLst>
          </p:cNvPr>
          <p:cNvSpPr/>
          <p:nvPr/>
        </p:nvSpPr>
        <p:spPr>
          <a:xfrm>
            <a:off x="3680013" y="5296207"/>
            <a:ext cx="800446" cy="407562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Industry </a:t>
            </a:r>
          </a:p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Leaders</a:t>
            </a:r>
          </a:p>
        </p:txBody>
      </p:sp>
      <p:pic>
        <p:nvPicPr>
          <p:cNvPr id="1043" name="Picture 14" descr="Blue Dart Express logo in transparent PNG format">
            <a:extLst>
              <a:ext uri="{FF2B5EF4-FFF2-40B4-BE49-F238E27FC236}">
                <a16:creationId xmlns:a16="http://schemas.microsoft.com/office/drawing/2014/main" id="{C8919399-016B-BC30-5B55-D0E1E1482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701" y="5337400"/>
            <a:ext cx="346716" cy="32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16" descr="Delhivery logo in transparent PNG and vectorized SVG formats">
            <a:extLst>
              <a:ext uri="{FF2B5EF4-FFF2-40B4-BE49-F238E27FC236}">
                <a16:creationId xmlns:a16="http://schemas.microsoft.com/office/drawing/2014/main" id="{B406612C-D84E-D8F9-060D-BB7AE9FA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131" y="5337400"/>
            <a:ext cx="227778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0" descr="DTDC Logo PNG-SVG Logo, Vector, Template Free Downloads | ? logo, Noida,  Page borders design">
            <a:extLst>
              <a:ext uri="{FF2B5EF4-FFF2-40B4-BE49-F238E27FC236}">
                <a16:creationId xmlns:a16="http://schemas.microsoft.com/office/drawing/2014/main" id="{8376E4B1-C853-40AB-5F1D-610DD77A3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39"/>
          <a:stretch/>
        </p:blipFill>
        <p:spPr bwMode="auto">
          <a:xfrm>
            <a:off x="4586169" y="5268729"/>
            <a:ext cx="757588" cy="24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D611A10-4553-2645-A51A-D0C861009313}"/>
              </a:ext>
            </a:extLst>
          </p:cNvPr>
          <p:cNvSpPr/>
          <p:nvPr/>
        </p:nvSpPr>
        <p:spPr>
          <a:xfrm>
            <a:off x="6574420" y="5280701"/>
            <a:ext cx="3261226" cy="423068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Battery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swapping &amp; charging of fleet at 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warehouse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powered by 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solar panels</a:t>
            </a:r>
            <a:endParaRPr lang="en-IN" sz="1200" b="1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8D130D4-A5C3-6A43-848F-62A53DFF23C3}"/>
              </a:ext>
            </a:extLst>
          </p:cNvPr>
          <p:cNvSpPr/>
          <p:nvPr/>
        </p:nvSpPr>
        <p:spPr>
          <a:xfrm>
            <a:off x="1783238" y="624000"/>
            <a:ext cx="3181725" cy="4687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 Location Identification Input: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Population &amp; Order density, Cost-Benefit analysis</a:t>
            </a:r>
            <a:endParaRPr lang="en-IN" sz="1200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48" name="Picture 22">
            <a:extLst>
              <a:ext uri="{FF2B5EF4-FFF2-40B4-BE49-F238E27FC236}">
                <a16:creationId xmlns:a16="http://schemas.microsoft.com/office/drawing/2014/main" id="{40562492-C16A-70AF-9CD0-C0F3BC98A0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40185" r="9194" b="40911"/>
          <a:stretch/>
        </p:blipFill>
        <p:spPr bwMode="auto">
          <a:xfrm>
            <a:off x="4808905" y="5497318"/>
            <a:ext cx="720246" cy="16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Rectangle 1050">
            <a:extLst>
              <a:ext uri="{FF2B5EF4-FFF2-40B4-BE49-F238E27FC236}">
                <a16:creationId xmlns:a16="http://schemas.microsoft.com/office/drawing/2014/main" id="{2CA5FC2C-3C2B-313F-244D-7233FFA474E6}"/>
              </a:ext>
            </a:extLst>
          </p:cNvPr>
          <p:cNvSpPr/>
          <p:nvPr/>
        </p:nvSpPr>
        <p:spPr>
          <a:xfrm>
            <a:off x="4564739" y="5297502"/>
            <a:ext cx="1883981" cy="407562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b="1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9A757C74-9E3A-CAD0-DC0A-01F55DE01D8F}"/>
              </a:ext>
            </a:extLst>
          </p:cNvPr>
          <p:cNvSpPr/>
          <p:nvPr/>
        </p:nvSpPr>
        <p:spPr>
          <a:xfrm>
            <a:off x="9937605" y="5265813"/>
            <a:ext cx="2067615" cy="42306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creates own P2P network with trusted folks</a:t>
            </a:r>
            <a:endParaRPr lang="en-IN" sz="1200" i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3" name="Pentagon 1052">
            <a:extLst>
              <a:ext uri="{FF2B5EF4-FFF2-40B4-BE49-F238E27FC236}">
                <a16:creationId xmlns:a16="http://schemas.microsoft.com/office/drawing/2014/main" id="{B91B7AB7-61AD-22A0-281A-AA6D2B758847}"/>
              </a:ext>
            </a:extLst>
          </p:cNvPr>
          <p:cNvSpPr/>
          <p:nvPr/>
        </p:nvSpPr>
        <p:spPr>
          <a:xfrm>
            <a:off x="3471154" y="5808683"/>
            <a:ext cx="2624842" cy="258954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75% own + 25% outsourced by ‘24</a:t>
            </a:r>
          </a:p>
        </p:txBody>
      </p:sp>
      <p:sp>
        <p:nvSpPr>
          <p:cNvPr id="1054" name="Chevron 1053">
            <a:extLst>
              <a:ext uri="{FF2B5EF4-FFF2-40B4-BE49-F238E27FC236}">
                <a16:creationId xmlns:a16="http://schemas.microsoft.com/office/drawing/2014/main" id="{9A251A4E-C42D-A66D-7FA3-AA31E8D2BDB5}"/>
              </a:ext>
            </a:extLst>
          </p:cNvPr>
          <p:cNvSpPr/>
          <p:nvPr/>
        </p:nvSpPr>
        <p:spPr>
          <a:xfrm>
            <a:off x="6001621" y="5809967"/>
            <a:ext cx="2797721" cy="26485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50% own + 50% (OS +P2P) by ‘27</a:t>
            </a:r>
          </a:p>
        </p:txBody>
      </p:sp>
      <p:sp>
        <p:nvSpPr>
          <p:cNvPr id="1055" name="Chevron 1054">
            <a:extLst>
              <a:ext uri="{FF2B5EF4-FFF2-40B4-BE49-F238E27FC236}">
                <a16:creationId xmlns:a16="http://schemas.microsoft.com/office/drawing/2014/main" id="{58B288A3-FFE7-51DE-FB0E-BF9D3D6CF549}"/>
              </a:ext>
            </a:extLst>
          </p:cNvPr>
          <p:cNvSpPr/>
          <p:nvPr/>
        </p:nvSpPr>
        <p:spPr>
          <a:xfrm>
            <a:off x="8697177" y="5808682"/>
            <a:ext cx="2797722" cy="26485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30% own + 70% (OS +P2P) by ‘30</a:t>
            </a:r>
          </a:p>
        </p:txBody>
      </p:sp>
      <p:pic>
        <p:nvPicPr>
          <p:cNvPr id="1056" name="Picture 24" descr="Home - Good Earth Cotton®">
            <a:extLst>
              <a:ext uri="{FF2B5EF4-FFF2-40B4-BE49-F238E27FC236}">
                <a16:creationId xmlns:a16="http://schemas.microsoft.com/office/drawing/2014/main" id="{825B3CC0-731E-A052-8C41-D7C8C045B6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8" t="6038" r="6886" b="6886"/>
          <a:stretch/>
        </p:blipFill>
        <p:spPr bwMode="auto">
          <a:xfrm>
            <a:off x="11528565" y="5706161"/>
            <a:ext cx="469313" cy="46931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Oval 1063">
            <a:extLst>
              <a:ext uri="{FF2B5EF4-FFF2-40B4-BE49-F238E27FC236}">
                <a16:creationId xmlns:a16="http://schemas.microsoft.com/office/drawing/2014/main" id="{27DB6904-6BBB-941A-479D-D51FC981CA0C}"/>
              </a:ext>
            </a:extLst>
          </p:cNvPr>
          <p:cNvSpPr/>
          <p:nvPr/>
        </p:nvSpPr>
        <p:spPr>
          <a:xfrm>
            <a:off x="3605282" y="1688525"/>
            <a:ext cx="319901" cy="31990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44A2016C-079A-5D0E-49B8-29778A1FF5F6}"/>
              </a:ext>
            </a:extLst>
          </p:cNvPr>
          <p:cNvSpPr/>
          <p:nvPr/>
        </p:nvSpPr>
        <p:spPr>
          <a:xfrm>
            <a:off x="6594812" y="1686212"/>
            <a:ext cx="319901" cy="31990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44ED1EFA-25C1-32A7-FB07-931805FB8C25}"/>
              </a:ext>
            </a:extLst>
          </p:cNvPr>
          <p:cNvSpPr/>
          <p:nvPr/>
        </p:nvSpPr>
        <p:spPr>
          <a:xfrm>
            <a:off x="9563306" y="1686212"/>
            <a:ext cx="319901" cy="31990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9AD1A0C0-5BE1-0992-976A-0FD4CD20DDFC}"/>
              </a:ext>
            </a:extLst>
          </p:cNvPr>
          <p:cNvSpPr/>
          <p:nvPr/>
        </p:nvSpPr>
        <p:spPr>
          <a:xfrm>
            <a:off x="5084375" y="634001"/>
            <a:ext cx="2641321" cy="45464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9690" marR="5080" indent="-47625">
              <a:spcBef>
                <a:spcPts val="95"/>
              </a:spcBef>
              <a:spcAft>
                <a:spcPts val="300"/>
              </a:spcAft>
            </a:pP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 Input: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Fleet, Distribution Nodes, Historical Data, Potential Routes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07C4F8C-C2DC-7239-CD2B-8107C3260978}"/>
              </a:ext>
            </a:extLst>
          </p:cNvPr>
          <p:cNvSpPr/>
          <p:nvPr/>
        </p:nvSpPr>
        <p:spPr>
          <a:xfrm>
            <a:off x="7816715" y="632433"/>
            <a:ext cx="4232705" cy="46874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9690" marR="5080" indent="-47625" algn="ctr">
              <a:lnSpc>
                <a:spcPct val="100000"/>
              </a:lnSpc>
              <a:spcBef>
                <a:spcPts val="95"/>
              </a:spcBef>
              <a:spcAft>
                <a:spcPts val="300"/>
              </a:spcAft>
            </a:pP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Green Input: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Weather &amp; Traffic Patterns, Customer Requests, Geographic Obstacles, Customer Requests, Accidental Damage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C943357-D657-01FA-8B70-CDFB8F4CC61E}"/>
              </a:ext>
            </a:extLst>
          </p:cNvPr>
          <p:cNvGrpSpPr/>
          <p:nvPr/>
        </p:nvGrpSpPr>
        <p:grpSpPr>
          <a:xfrm>
            <a:off x="2150725" y="4302242"/>
            <a:ext cx="786883" cy="400110"/>
            <a:chOff x="964261" y="3034678"/>
            <a:chExt cx="786883" cy="4001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050067-C8A2-D38F-AEF5-74F2B20ABE70}"/>
                </a:ext>
              </a:extLst>
            </p:cNvPr>
            <p:cNvSpPr txBox="1"/>
            <p:nvPr/>
          </p:nvSpPr>
          <p:spPr>
            <a:xfrm>
              <a:off x="964261" y="3034678"/>
              <a:ext cx="78688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/>
                <a:t>Tier 1 cities</a:t>
              </a:r>
            </a:p>
            <a:p>
              <a:r>
                <a:rPr lang="en-US" sz="1000"/>
                <a:t>Tier 2 cities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7FCAEF5-FAD5-7F89-BB7B-05F36A2470C7}"/>
                </a:ext>
              </a:extLst>
            </p:cNvPr>
            <p:cNvSpPr/>
            <p:nvPr/>
          </p:nvSpPr>
          <p:spPr>
            <a:xfrm>
              <a:off x="982939" y="3111341"/>
              <a:ext cx="64801" cy="4571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E77B0F7-6E4A-6755-7C3E-5ECC6EA8A591}"/>
                </a:ext>
              </a:extLst>
            </p:cNvPr>
            <p:cNvSpPr/>
            <p:nvPr/>
          </p:nvSpPr>
          <p:spPr>
            <a:xfrm>
              <a:off x="982018" y="3274002"/>
              <a:ext cx="64801" cy="4571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17265F68-8473-4287-D42D-03619137B8E3}"/>
              </a:ext>
            </a:extLst>
          </p:cNvPr>
          <p:cNvSpPr/>
          <p:nvPr/>
        </p:nvSpPr>
        <p:spPr>
          <a:xfrm>
            <a:off x="235494" y="624001"/>
            <a:ext cx="1467783" cy="464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Eco-conscious Route Optimization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AC541F4-F3A2-7F62-C569-D254E61A5AFA}"/>
              </a:ext>
            </a:extLst>
          </p:cNvPr>
          <p:cNvCxnSpPr>
            <a:cxnSpLocks/>
          </p:cNvCxnSpPr>
          <p:nvPr/>
        </p:nvCxnSpPr>
        <p:spPr>
          <a:xfrm>
            <a:off x="3430604" y="1218013"/>
            <a:ext cx="8574616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4E5E6D9-272A-2029-6E80-E8EF58C33EF4}"/>
              </a:ext>
            </a:extLst>
          </p:cNvPr>
          <p:cNvSpPr/>
          <p:nvPr/>
        </p:nvSpPr>
        <p:spPr>
          <a:xfrm>
            <a:off x="261542" y="1166642"/>
            <a:ext cx="3043392" cy="268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Optimization Capabilities</a:t>
            </a:r>
          </a:p>
        </p:txBody>
      </p:sp>
      <p:sp>
        <p:nvSpPr>
          <p:cNvPr id="105" name="Left Brace 104">
            <a:extLst>
              <a:ext uri="{FF2B5EF4-FFF2-40B4-BE49-F238E27FC236}">
                <a16:creationId xmlns:a16="http://schemas.microsoft.com/office/drawing/2014/main" id="{A185BB6A-E3AA-B883-5E2F-CE079064864D}"/>
              </a:ext>
            </a:extLst>
          </p:cNvPr>
          <p:cNvSpPr/>
          <p:nvPr/>
        </p:nvSpPr>
        <p:spPr>
          <a:xfrm>
            <a:off x="93807" y="568413"/>
            <a:ext cx="167736" cy="921128"/>
          </a:xfrm>
          <a:prstGeom prst="leftBrac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E99C3DE-CDD3-3E97-27AC-B60057F191C6}"/>
              </a:ext>
            </a:extLst>
          </p:cNvPr>
          <p:cNvSpPr/>
          <p:nvPr/>
        </p:nvSpPr>
        <p:spPr>
          <a:xfrm>
            <a:off x="233887" y="1513239"/>
            <a:ext cx="3033734" cy="35418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Route Planning </a:t>
            </a:r>
            <a:r>
              <a:rPr lang="en-IN" sz="1200" b="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sequence driver routes based on real-world operational constraints 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8C6F2D0-BBCD-1472-36FE-77C579D39050}"/>
              </a:ext>
            </a:extLst>
          </p:cNvPr>
          <p:cNvSpPr/>
          <p:nvPr/>
        </p:nvSpPr>
        <p:spPr>
          <a:xfrm>
            <a:off x="228963" y="1964959"/>
            <a:ext cx="3033734" cy="36178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Freight Allocation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</a:t>
            </a:r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IN" sz="1200" spc="-3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</a:t>
            </a:r>
            <a:r>
              <a:rPr lang="en-IN" sz="1200" spc="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volume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  <a:r>
              <a:rPr lang="en-IN" sz="1200" spc="-4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1200" spc="-1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fleet</a:t>
            </a:r>
            <a:r>
              <a:rPr lang="en-IN" sz="1200" spc="-2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capacity </a:t>
            </a:r>
            <a:r>
              <a:rPr lang="en-IN" sz="1200" spc="-37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1200" spc="-2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spc="-5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constraints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0304F78-1100-E8F6-AB0A-E94B10EE51FE}"/>
              </a:ext>
            </a:extLst>
          </p:cNvPr>
          <p:cNvSpPr/>
          <p:nvPr/>
        </p:nvSpPr>
        <p:spPr>
          <a:xfrm>
            <a:off x="224039" y="2424282"/>
            <a:ext cx="3033734" cy="35330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Fleet </a:t>
            </a: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Management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real-time fleet tracking &amp; driver performance tracking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17F0D14-E16F-F054-277F-79F11DB97EEC}"/>
              </a:ext>
            </a:extLst>
          </p:cNvPr>
          <p:cNvSpPr/>
          <p:nvPr/>
        </p:nvSpPr>
        <p:spPr>
          <a:xfrm>
            <a:off x="224039" y="2872689"/>
            <a:ext cx="3033734" cy="35330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Field Force Optimization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optimized sales force – customer allocation 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A184ED4-2960-3C50-1372-6243B0CFF80B}"/>
              </a:ext>
            </a:extLst>
          </p:cNvPr>
          <p:cNvSpPr/>
          <p:nvPr/>
        </p:nvSpPr>
        <p:spPr>
          <a:xfrm>
            <a:off x="218152" y="3321028"/>
            <a:ext cx="3033734" cy="35330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3D Packing Optimization </a:t>
            </a:r>
            <a:r>
              <a:rPr lang="en-IN" sz="1200" i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 optimised 3D packing algorithm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963501-5F15-0B9C-C746-416F8A3C78D1}"/>
              </a:ext>
            </a:extLst>
          </p:cNvPr>
          <p:cNvSpPr txBox="1"/>
          <p:nvPr/>
        </p:nvSpPr>
        <p:spPr>
          <a:xfrm>
            <a:off x="2004623" y="4096318"/>
            <a:ext cx="1077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/>
              <a:t>Legends</a:t>
            </a:r>
          </a:p>
        </p:txBody>
      </p:sp>
      <p:sp>
        <p:nvSpPr>
          <p:cNvPr id="24" name="Chevron 11">
            <a:extLst>
              <a:ext uri="{FF2B5EF4-FFF2-40B4-BE49-F238E27FC236}">
                <a16:creationId xmlns:a16="http://schemas.microsoft.com/office/drawing/2014/main" id="{29205ACD-FF73-36AD-96A0-88D0744222AF}"/>
              </a:ext>
            </a:extLst>
          </p:cNvPr>
          <p:cNvSpPr/>
          <p:nvPr/>
        </p:nvSpPr>
        <p:spPr>
          <a:xfrm>
            <a:off x="2134955" y="6241611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SC Reinvention</a:t>
            </a:r>
          </a:p>
        </p:txBody>
      </p:sp>
      <p:sp>
        <p:nvSpPr>
          <p:cNvPr id="26" name="Chevron 12">
            <a:extLst>
              <a:ext uri="{FF2B5EF4-FFF2-40B4-BE49-F238E27FC236}">
                <a16:creationId xmlns:a16="http://schemas.microsoft.com/office/drawing/2014/main" id="{D42799C8-F1A8-118E-8037-712E56C95AB4}"/>
              </a:ext>
            </a:extLst>
          </p:cNvPr>
          <p:cNvSpPr/>
          <p:nvPr/>
        </p:nvSpPr>
        <p:spPr>
          <a:xfrm>
            <a:off x="3465614" y="6241611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27" name="Chevron 13">
            <a:extLst>
              <a:ext uri="{FF2B5EF4-FFF2-40B4-BE49-F238E27FC236}">
                <a16:creationId xmlns:a16="http://schemas.microsoft.com/office/drawing/2014/main" id="{895C96A6-013D-7308-2303-2F020A1EC7F2}"/>
              </a:ext>
            </a:extLst>
          </p:cNvPr>
          <p:cNvSpPr/>
          <p:nvPr/>
        </p:nvSpPr>
        <p:spPr>
          <a:xfrm>
            <a:off x="5020292" y="6241611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  <p:sp>
        <p:nvSpPr>
          <p:cNvPr id="29" name="Chevron 14">
            <a:extLst>
              <a:ext uri="{FF2B5EF4-FFF2-40B4-BE49-F238E27FC236}">
                <a16:creationId xmlns:a16="http://schemas.microsoft.com/office/drawing/2014/main" id="{A767183C-988A-83D1-B13B-965F9A9F9747}"/>
              </a:ext>
            </a:extLst>
          </p:cNvPr>
          <p:cNvSpPr/>
          <p:nvPr/>
        </p:nvSpPr>
        <p:spPr>
          <a:xfrm>
            <a:off x="6327570" y="6241611"/>
            <a:ext cx="172390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Redefining P2P Ecosystem</a:t>
            </a:r>
          </a:p>
        </p:txBody>
      </p:sp>
      <p:sp>
        <p:nvSpPr>
          <p:cNvPr id="35" name="Chevron 15">
            <a:extLst>
              <a:ext uri="{FF2B5EF4-FFF2-40B4-BE49-F238E27FC236}">
                <a16:creationId xmlns:a16="http://schemas.microsoft.com/office/drawing/2014/main" id="{22E81078-3F32-2121-D843-53A521772EFC}"/>
              </a:ext>
            </a:extLst>
          </p:cNvPr>
          <p:cNvSpPr/>
          <p:nvPr/>
        </p:nvSpPr>
        <p:spPr>
          <a:xfrm>
            <a:off x="7881259" y="6241611"/>
            <a:ext cx="1332013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Win Win</a:t>
            </a:r>
          </a:p>
        </p:txBody>
      </p:sp>
      <p:sp>
        <p:nvSpPr>
          <p:cNvPr id="42" name="Chevron 16">
            <a:extLst>
              <a:ext uri="{FF2B5EF4-FFF2-40B4-BE49-F238E27FC236}">
                <a16:creationId xmlns:a16="http://schemas.microsoft.com/office/drawing/2014/main" id="{A7A4091A-9BB0-FF27-75C7-377BD9A64773}"/>
              </a:ext>
            </a:extLst>
          </p:cNvPr>
          <p:cNvSpPr/>
          <p:nvPr/>
        </p:nvSpPr>
        <p:spPr>
          <a:xfrm>
            <a:off x="831272" y="6234822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Analysis</a:t>
            </a:r>
          </a:p>
        </p:txBody>
      </p:sp>
      <p:sp>
        <p:nvSpPr>
          <p:cNvPr id="46" name="Chevron 12">
            <a:extLst>
              <a:ext uri="{FF2B5EF4-FFF2-40B4-BE49-F238E27FC236}">
                <a16:creationId xmlns:a16="http://schemas.microsoft.com/office/drawing/2014/main" id="{6E91EE74-C193-B48F-9B62-C4A58791D414}"/>
              </a:ext>
            </a:extLst>
          </p:cNvPr>
          <p:cNvSpPr/>
          <p:nvPr/>
        </p:nvSpPr>
        <p:spPr>
          <a:xfrm>
            <a:off x="3441246" y="6241611"/>
            <a:ext cx="1710047" cy="484632"/>
          </a:xfrm>
          <a:prstGeom prst="chevron">
            <a:avLst/>
          </a:prstGeom>
          <a:solidFill>
            <a:srgbClr val="7D38B4"/>
          </a:solidFill>
          <a:ln>
            <a:solidFill>
              <a:srgbClr val="D6B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  <a:endParaRPr lang="en-US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hevron 13">
            <a:extLst>
              <a:ext uri="{FF2B5EF4-FFF2-40B4-BE49-F238E27FC236}">
                <a16:creationId xmlns:a16="http://schemas.microsoft.com/office/drawing/2014/main" id="{167009E1-0B0C-558A-90EB-C16A1F4701C9}"/>
              </a:ext>
            </a:extLst>
          </p:cNvPr>
          <p:cNvSpPr/>
          <p:nvPr/>
        </p:nvSpPr>
        <p:spPr>
          <a:xfrm>
            <a:off x="4995924" y="6241611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</p:spTree>
    <p:extLst>
      <p:ext uri="{BB962C8B-B14F-4D97-AF65-F5344CB8AC3E}">
        <p14:creationId xmlns:p14="http://schemas.microsoft.com/office/powerpoint/2010/main" val="194764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A2842-23D1-9D4C-8C34-54F396B0B4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2615" y="211885"/>
            <a:ext cx="11421544" cy="6164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Customers will move towards sustainable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</a:rPr>
              <a:t>deliverablies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provided logistics company develop incentives about ESG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A18A83-16B3-39A0-285E-FDB7C052719C}"/>
              </a:ext>
            </a:extLst>
          </p:cNvPr>
          <p:cNvCxnSpPr>
            <a:cxnSpLocks/>
          </p:cNvCxnSpPr>
          <p:nvPr/>
        </p:nvCxnSpPr>
        <p:spPr>
          <a:xfrm>
            <a:off x="5258058" y="2274867"/>
            <a:ext cx="0" cy="378000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5318E04-3C14-356D-BFE9-7AC852CFCF64}"/>
              </a:ext>
            </a:extLst>
          </p:cNvPr>
          <p:cNvSpPr/>
          <p:nvPr/>
        </p:nvSpPr>
        <p:spPr>
          <a:xfrm>
            <a:off x="324719" y="2274990"/>
            <a:ext cx="4764543" cy="26927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Distribution Model after reaching Fulfilment Centers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D308E-FA85-BB89-7974-CCDECC0CDD5D}"/>
              </a:ext>
            </a:extLst>
          </p:cNvPr>
          <p:cNvSpPr/>
          <p:nvPr/>
        </p:nvSpPr>
        <p:spPr>
          <a:xfrm>
            <a:off x="5411623" y="2274867"/>
            <a:ext cx="6332076" cy="26057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Customer Satisfaction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21F16C-C14E-5364-F4F0-3F4C50321FBB}"/>
              </a:ext>
            </a:extLst>
          </p:cNvPr>
          <p:cNvSpPr/>
          <p:nvPr/>
        </p:nvSpPr>
        <p:spPr>
          <a:xfrm>
            <a:off x="322615" y="3113312"/>
            <a:ext cx="2141230" cy="3150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 Verification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A8C762-3D73-2899-9E40-06EB511F2726}"/>
              </a:ext>
            </a:extLst>
          </p:cNvPr>
          <p:cNvSpPr/>
          <p:nvPr/>
        </p:nvSpPr>
        <p:spPr>
          <a:xfrm>
            <a:off x="2617866" y="3113312"/>
            <a:ext cx="2505802" cy="31503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Front-&amp; back-end address verification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C75F1A-2BBE-3876-46C1-0F5F895ACA55}"/>
              </a:ext>
            </a:extLst>
          </p:cNvPr>
          <p:cNvSpPr/>
          <p:nvPr/>
        </p:nvSpPr>
        <p:spPr>
          <a:xfrm>
            <a:off x="322616" y="3489767"/>
            <a:ext cx="2155314" cy="662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Poor driver assignment &amp; tracking driver behaviour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BEAB69-C036-2F84-8368-23EFAE2CCA5D}"/>
              </a:ext>
            </a:extLst>
          </p:cNvPr>
          <p:cNvSpPr/>
          <p:nvPr/>
        </p:nvSpPr>
        <p:spPr>
          <a:xfrm>
            <a:off x="2610518" y="3489767"/>
            <a:ext cx="2527235" cy="66224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Hyper-scaling driver assignment, including actual drive time &amp; vehicle type &amp; capacity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12DBB3-8A9C-AF13-2C5F-4DDFFD844D87}"/>
              </a:ext>
            </a:extLst>
          </p:cNvPr>
          <p:cNvSpPr/>
          <p:nvPr/>
        </p:nvSpPr>
        <p:spPr>
          <a:xfrm>
            <a:off x="322615" y="4210480"/>
            <a:ext cx="2155313" cy="513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distance travelled by a delivery person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EE304-52C7-1DEC-67AA-55ECAF257203}"/>
              </a:ext>
            </a:extLst>
          </p:cNvPr>
          <p:cNvSpPr/>
          <p:nvPr/>
        </p:nvSpPr>
        <p:spPr>
          <a:xfrm>
            <a:off x="2617866" y="4210480"/>
            <a:ext cx="2519887" cy="51340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 optimization for single orders through AI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34D1F5-7767-8094-A86C-2ECE2F9D95B5}"/>
              </a:ext>
            </a:extLst>
          </p:cNvPr>
          <p:cNvSpPr/>
          <p:nvPr/>
        </p:nvSpPr>
        <p:spPr>
          <a:xfrm>
            <a:off x="325404" y="4800443"/>
            <a:ext cx="2138439" cy="513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Limited Customer Transparency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4A83DE-E10D-39B3-877B-086321D31B8C}"/>
              </a:ext>
            </a:extLst>
          </p:cNvPr>
          <p:cNvSpPr/>
          <p:nvPr/>
        </p:nvSpPr>
        <p:spPr>
          <a:xfrm>
            <a:off x="2617866" y="4800443"/>
            <a:ext cx="2505802" cy="51340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 of new peer-to-peer delivery of product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03ED4C-1148-FA8E-62CF-4575ED3179D3}"/>
              </a:ext>
            </a:extLst>
          </p:cNvPr>
          <p:cNvSpPr/>
          <p:nvPr/>
        </p:nvSpPr>
        <p:spPr>
          <a:xfrm>
            <a:off x="325404" y="5383565"/>
            <a:ext cx="2155313" cy="662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Lack of delivery partner repeatability, hence tacit knowledge is lost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979B96-C090-CC2E-2FCC-3F1D9B24210B}"/>
              </a:ext>
            </a:extLst>
          </p:cNvPr>
          <p:cNvSpPr/>
          <p:nvPr/>
        </p:nvSpPr>
        <p:spPr>
          <a:xfrm>
            <a:off x="2613307" y="5383565"/>
            <a:ext cx="2527235" cy="662247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Implementing our peer-to-peer delivery system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02ED25B-82BE-8545-6C96-0AD8F7E1D951}"/>
              </a:ext>
            </a:extLst>
          </p:cNvPr>
          <p:cNvGrpSpPr/>
          <p:nvPr/>
        </p:nvGrpSpPr>
        <p:grpSpPr>
          <a:xfrm>
            <a:off x="369679" y="2627291"/>
            <a:ext cx="2079173" cy="325684"/>
            <a:chOff x="385455" y="1402733"/>
            <a:chExt cx="2079173" cy="325684"/>
          </a:xfrm>
        </p:grpSpPr>
        <p:sp>
          <p:nvSpPr>
            <p:cNvPr id="24" name="object 66">
              <a:extLst>
                <a:ext uri="{FF2B5EF4-FFF2-40B4-BE49-F238E27FC236}">
                  <a16:creationId xmlns:a16="http://schemas.microsoft.com/office/drawing/2014/main" id="{CCC7A35B-B65A-C0FE-B726-4CBB3FCD3227}"/>
                </a:ext>
              </a:extLst>
            </p:cNvPr>
            <p:cNvSpPr txBox="1"/>
            <p:nvPr/>
          </p:nvSpPr>
          <p:spPr>
            <a:xfrm>
              <a:off x="385455" y="1402733"/>
              <a:ext cx="2079173" cy="22762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</a:pPr>
              <a:r>
                <a:rPr lang="en-IN" sz="1400" b="1">
                  <a:latin typeface="Calibri" panose="020F0502020204030204" pitchFamily="34" charset="0"/>
                  <a:cs typeface="Calibri" panose="020F0502020204030204" pitchFamily="34" charset="0"/>
                </a:rPr>
                <a:t>Key Challenges of LMD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1DE6E6-1B48-F07C-056D-3CED7BD69144}"/>
                </a:ext>
              </a:extLst>
            </p:cNvPr>
            <p:cNvCxnSpPr>
              <a:cxnSpLocks/>
            </p:cNvCxnSpPr>
            <p:nvPr/>
          </p:nvCxnSpPr>
          <p:spPr>
            <a:xfrm>
              <a:off x="385455" y="1728417"/>
              <a:ext cx="20791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1617BEB-16F1-A3F7-BA9D-AF923A92BD31}"/>
              </a:ext>
            </a:extLst>
          </p:cNvPr>
          <p:cNvGrpSpPr/>
          <p:nvPr/>
        </p:nvGrpSpPr>
        <p:grpSpPr>
          <a:xfrm>
            <a:off x="2582458" y="2631283"/>
            <a:ext cx="2527235" cy="321692"/>
            <a:chOff x="2598234" y="1406725"/>
            <a:chExt cx="2527235" cy="321692"/>
          </a:xfrm>
        </p:grpSpPr>
        <p:sp>
          <p:nvSpPr>
            <p:cNvPr id="25" name="object 66">
              <a:extLst>
                <a:ext uri="{FF2B5EF4-FFF2-40B4-BE49-F238E27FC236}">
                  <a16:creationId xmlns:a16="http://schemas.microsoft.com/office/drawing/2014/main" id="{D556EA97-3ECA-FE88-C4D6-B815C28F4274}"/>
                </a:ext>
              </a:extLst>
            </p:cNvPr>
            <p:cNvSpPr txBox="1"/>
            <p:nvPr/>
          </p:nvSpPr>
          <p:spPr>
            <a:xfrm>
              <a:off x="2822264" y="1406725"/>
              <a:ext cx="2079173" cy="22762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59690" marR="5080" indent="-47625" algn="ctr">
                <a:lnSpc>
                  <a:spcPct val="100000"/>
                </a:lnSpc>
                <a:spcBef>
                  <a:spcPts val="95"/>
                </a:spcBef>
              </a:pPr>
              <a:r>
                <a:rPr lang="en-IN" sz="1400" b="1">
                  <a:latin typeface="Calibri" panose="020F0502020204030204" pitchFamily="34" charset="0"/>
                  <a:cs typeface="Calibri" panose="020F0502020204030204" pitchFamily="34" charset="0"/>
                </a:rPr>
                <a:t>Key IT Solutions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BA6C622-B992-A21B-F45A-DE69BA71DE26}"/>
                </a:ext>
              </a:extLst>
            </p:cNvPr>
            <p:cNvCxnSpPr>
              <a:cxnSpLocks/>
            </p:cNvCxnSpPr>
            <p:nvPr/>
          </p:nvCxnSpPr>
          <p:spPr>
            <a:xfrm>
              <a:off x="2598234" y="1728417"/>
              <a:ext cx="252723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A13D71AE-B740-1270-834C-1E82810BD131}"/>
              </a:ext>
            </a:extLst>
          </p:cNvPr>
          <p:cNvSpPr/>
          <p:nvPr/>
        </p:nvSpPr>
        <p:spPr>
          <a:xfrm>
            <a:off x="5412082" y="2622592"/>
            <a:ext cx="1067177" cy="16535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journey before receiving the product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B12041-D4F3-99D5-7114-3C0EDB70CC7C}"/>
              </a:ext>
            </a:extLst>
          </p:cNvPr>
          <p:cNvSpPr/>
          <p:nvPr/>
        </p:nvSpPr>
        <p:spPr>
          <a:xfrm>
            <a:off x="6551417" y="2614965"/>
            <a:ext cx="5184924" cy="4495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Customer needs to give the following info one-day prior to scheduled delivery. Customer is shown a notification/prompt for the same.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57907B-E61D-4C22-731D-9E72C3E97E64}"/>
              </a:ext>
            </a:extLst>
          </p:cNvPr>
          <p:cNvSpPr/>
          <p:nvPr/>
        </p:nvSpPr>
        <p:spPr>
          <a:xfrm>
            <a:off x="6559232" y="3135614"/>
            <a:ext cx="1235124" cy="3137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Preferred time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77ADF7-128E-DB15-7438-C4D47036DFD0}"/>
              </a:ext>
            </a:extLst>
          </p:cNvPr>
          <p:cNvSpPr/>
          <p:nvPr/>
        </p:nvSpPr>
        <p:spPr>
          <a:xfrm>
            <a:off x="7891243" y="3147580"/>
            <a:ext cx="3852911" cy="3137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Preferred drop location: Home or Fulfilment Centre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655F6B-FB67-72F3-A48F-4B0F673A42A0}"/>
              </a:ext>
            </a:extLst>
          </p:cNvPr>
          <p:cNvSpPr/>
          <p:nvPr/>
        </p:nvSpPr>
        <p:spPr>
          <a:xfrm>
            <a:off x="6559230" y="3505788"/>
            <a:ext cx="5184923" cy="3137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Negative/positive ESG points for choosing delivery to home/fulfilment centre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83C5EB-660D-2205-CF6B-DFC175BE49DD}"/>
              </a:ext>
            </a:extLst>
          </p:cNvPr>
          <p:cNvSpPr/>
          <p:nvPr/>
        </p:nvSpPr>
        <p:spPr>
          <a:xfrm>
            <a:off x="6559230" y="3875463"/>
            <a:ext cx="2230232" cy="39371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Ability to change location till it’s dispatched from WH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4551A2-2A63-1E04-1E77-E96F365DC9DB}"/>
              </a:ext>
            </a:extLst>
          </p:cNvPr>
          <p:cNvSpPr/>
          <p:nvPr/>
        </p:nvSpPr>
        <p:spPr>
          <a:xfrm>
            <a:off x="8923282" y="3875463"/>
            <a:ext cx="2820864" cy="393713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Real time tracking of both side to ensure lower package miss/return rate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03B33D-971D-9E5A-C64D-2F09A99C246D}"/>
              </a:ext>
            </a:extLst>
          </p:cNvPr>
          <p:cNvSpPr/>
          <p:nvPr/>
        </p:nvSpPr>
        <p:spPr>
          <a:xfrm>
            <a:off x="5412083" y="4335725"/>
            <a:ext cx="1067177" cy="45729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Expectations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1DC5EA-EA3A-80C9-6431-5235B2EB0C35}"/>
              </a:ext>
            </a:extLst>
          </p:cNvPr>
          <p:cNvSpPr/>
          <p:nvPr/>
        </p:nvSpPr>
        <p:spPr>
          <a:xfrm>
            <a:off x="6558783" y="4332003"/>
            <a:ext cx="1607074" cy="45728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Visibility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39D3D2-4CCD-AE1D-B5F3-0D6802A51EE4}"/>
              </a:ext>
            </a:extLst>
          </p:cNvPr>
          <p:cNvSpPr/>
          <p:nvPr/>
        </p:nvSpPr>
        <p:spPr>
          <a:xfrm>
            <a:off x="8348149" y="4332003"/>
            <a:ext cx="1607083" cy="45728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Reliability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C72D36-F02C-D2AE-08E0-228D388DC79D}"/>
              </a:ext>
            </a:extLst>
          </p:cNvPr>
          <p:cNvSpPr/>
          <p:nvPr/>
        </p:nvSpPr>
        <p:spPr>
          <a:xfrm>
            <a:off x="10137058" y="4332003"/>
            <a:ext cx="1607088" cy="457289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Timeliness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692B65-2E0E-EA33-9DA5-507CEEF67B4D}"/>
              </a:ext>
            </a:extLst>
          </p:cNvPr>
          <p:cNvSpPr/>
          <p:nvPr/>
        </p:nvSpPr>
        <p:spPr>
          <a:xfrm>
            <a:off x="5412082" y="4826111"/>
            <a:ext cx="1067177" cy="121959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Satisfaction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EBB5BB-05CD-7656-5A74-9B2FE35D8257}"/>
              </a:ext>
            </a:extLst>
          </p:cNvPr>
          <p:cNvSpPr/>
          <p:nvPr/>
        </p:nvSpPr>
        <p:spPr>
          <a:xfrm>
            <a:off x="6559230" y="4863562"/>
            <a:ext cx="5184916" cy="257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Using anticipatory shipping via social listening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4C18B98-DB11-D9DD-9089-24B26E2BF520}"/>
              </a:ext>
            </a:extLst>
          </p:cNvPr>
          <p:cNvSpPr/>
          <p:nvPr/>
        </p:nvSpPr>
        <p:spPr>
          <a:xfrm>
            <a:off x="6558783" y="5172792"/>
            <a:ext cx="5184916" cy="87291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Delivery companies use customer and geolocation data to ensure a package is delivered the first time. By using geolocation to see that a customer isn’t home, the delivery company can automatically leave the package in an alternative location per the recipient’s known preference.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30" name="Chevron 11">
            <a:extLst>
              <a:ext uri="{FF2B5EF4-FFF2-40B4-BE49-F238E27FC236}">
                <a16:creationId xmlns:a16="http://schemas.microsoft.com/office/drawing/2014/main" id="{5900244D-3FF5-11A4-8742-9130E32A7BC8}"/>
              </a:ext>
            </a:extLst>
          </p:cNvPr>
          <p:cNvSpPr/>
          <p:nvPr/>
        </p:nvSpPr>
        <p:spPr>
          <a:xfrm>
            <a:off x="2072924" y="6243777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SC Reinvention</a:t>
            </a:r>
          </a:p>
        </p:txBody>
      </p:sp>
      <p:sp>
        <p:nvSpPr>
          <p:cNvPr id="31" name="Chevron 12">
            <a:extLst>
              <a:ext uri="{FF2B5EF4-FFF2-40B4-BE49-F238E27FC236}">
                <a16:creationId xmlns:a16="http://schemas.microsoft.com/office/drawing/2014/main" id="{83C686A8-4F4C-E69F-6F9A-7C075A88AADA}"/>
              </a:ext>
            </a:extLst>
          </p:cNvPr>
          <p:cNvSpPr/>
          <p:nvPr/>
        </p:nvSpPr>
        <p:spPr>
          <a:xfrm>
            <a:off x="3403583" y="6243777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32" name="Chevron 13">
            <a:extLst>
              <a:ext uri="{FF2B5EF4-FFF2-40B4-BE49-F238E27FC236}">
                <a16:creationId xmlns:a16="http://schemas.microsoft.com/office/drawing/2014/main" id="{02BAD1C1-E9EA-BA68-E3FD-0D70453CB745}"/>
              </a:ext>
            </a:extLst>
          </p:cNvPr>
          <p:cNvSpPr/>
          <p:nvPr/>
        </p:nvSpPr>
        <p:spPr>
          <a:xfrm>
            <a:off x="4958261" y="6243777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  <p:sp>
        <p:nvSpPr>
          <p:cNvPr id="33" name="Chevron 14">
            <a:extLst>
              <a:ext uri="{FF2B5EF4-FFF2-40B4-BE49-F238E27FC236}">
                <a16:creationId xmlns:a16="http://schemas.microsoft.com/office/drawing/2014/main" id="{08BE7E8D-EEDB-DC44-8170-901A18E334D0}"/>
              </a:ext>
            </a:extLst>
          </p:cNvPr>
          <p:cNvSpPr/>
          <p:nvPr/>
        </p:nvSpPr>
        <p:spPr>
          <a:xfrm>
            <a:off x="6265539" y="6243777"/>
            <a:ext cx="172390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Redefining P2P Ecosystem</a:t>
            </a:r>
          </a:p>
        </p:txBody>
      </p:sp>
      <p:sp>
        <p:nvSpPr>
          <p:cNvPr id="34" name="Chevron 15">
            <a:extLst>
              <a:ext uri="{FF2B5EF4-FFF2-40B4-BE49-F238E27FC236}">
                <a16:creationId xmlns:a16="http://schemas.microsoft.com/office/drawing/2014/main" id="{7DE70C49-2AD9-A27F-2BDF-0842238BEC40}"/>
              </a:ext>
            </a:extLst>
          </p:cNvPr>
          <p:cNvSpPr/>
          <p:nvPr/>
        </p:nvSpPr>
        <p:spPr>
          <a:xfrm>
            <a:off x="7819228" y="6243777"/>
            <a:ext cx="1332013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Win Win</a:t>
            </a:r>
          </a:p>
        </p:txBody>
      </p:sp>
      <p:sp>
        <p:nvSpPr>
          <p:cNvPr id="36" name="Chevron 16">
            <a:extLst>
              <a:ext uri="{FF2B5EF4-FFF2-40B4-BE49-F238E27FC236}">
                <a16:creationId xmlns:a16="http://schemas.microsoft.com/office/drawing/2014/main" id="{E3C74C54-482D-02A5-D544-BEFE55DA9926}"/>
              </a:ext>
            </a:extLst>
          </p:cNvPr>
          <p:cNvSpPr/>
          <p:nvPr/>
        </p:nvSpPr>
        <p:spPr>
          <a:xfrm>
            <a:off x="769241" y="6234516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Analysis</a:t>
            </a:r>
          </a:p>
        </p:txBody>
      </p:sp>
      <p:sp>
        <p:nvSpPr>
          <p:cNvPr id="50" name="Chevron 12">
            <a:extLst>
              <a:ext uri="{FF2B5EF4-FFF2-40B4-BE49-F238E27FC236}">
                <a16:creationId xmlns:a16="http://schemas.microsoft.com/office/drawing/2014/main" id="{93409E87-9026-5712-1F45-F01DF5DF741F}"/>
              </a:ext>
            </a:extLst>
          </p:cNvPr>
          <p:cNvSpPr/>
          <p:nvPr/>
        </p:nvSpPr>
        <p:spPr>
          <a:xfrm>
            <a:off x="3379215" y="6243777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52" name="Chevron 13">
            <a:extLst>
              <a:ext uri="{FF2B5EF4-FFF2-40B4-BE49-F238E27FC236}">
                <a16:creationId xmlns:a16="http://schemas.microsoft.com/office/drawing/2014/main" id="{3B664A68-FECD-77DF-885F-360247EBF2DE}"/>
              </a:ext>
            </a:extLst>
          </p:cNvPr>
          <p:cNvSpPr/>
          <p:nvPr/>
        </p:nvSpPr>
        <p:spPr>
          <a:xfrm>
            <a:off x="4933893" y="6243777"/>
            <a:ext cx="1472540" cy="484632"/>
          </a:xfrm>
          <a:prstGeom prst="chevron">
            <a:avLst/>
          </a:prstGeom>
          <a:solidFill>
            <a:srgbClr val="7D38B4"/>
          </a:solidFill>
          <a:ln>
            <a:solidFill>
              <a:srgbClr val="D6B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</a:p>
        </p:txBody>
      </p:sp>
      <p:graphicFrame>
        <p:nvGraphicFramePr>
          <p:cNvPr id="66" name="Table 112">
            <a:extLst>
              <a:ext uri="{FF2B5EF4-FFF2-40B4-BE49-F238E27FC236}">
                <a16:creationId xmlns:a16="http://schemas.microsoft.com/office/drawing/2014/main" id="{0719EC3A-A4C7-8E5B-3C95-AE04D8CF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80652"/>
              </p:ext>
            </p:extLst>
          </p:nvPr>
        </p:nvGraphicFramePr>
        <p:xfrm>
          <a:off x="322615" y="792725"/>
          <a:ext cx="11396851" cy="131447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96120">
                  <a:extLst>
                    <a:ext uri="{9D8B030D-6E8A-4147-A177-3AD203B41FA5}">
                      <a16:colId xmlns:a16="http://schemas.microsoft.com/office/drawing/2014/main" val="1665903062"/>
                    </a:ext>
                  </a:extLst>
                </a:gridCol>
                <a:gridCol w="2441613">
                  <a:extLst>
                    <a:ext uri="{9D8B030D-6E8A-4147-A177-3AD203B41FA5}">
                      <a16:colId xmlns:a16="http://schemas.microsoft.com/office/drawing/2014/main" val="906186273"/>
                    </a:ext>
                  </a:extLst>
                </a:gridCol>
                <a:gridCol w="1642539">
                  <a:extLst>
                    <a:ext uri="{9D8B030D-6E8A-4147-A177-3AD203B41FA5}">
                      <a16:colId xmlns:a16="http://schemas.microsoft.com/office/drawing/2014/main" val="923700556"/>
                    </a:ext>
                  </a:extLst>
                </a:gridCol>
                <a:gridCol w="1720227">
                  <a:extLst>
                    <a:ext uri="{9D8B030D-6E8A-4147-A177-3AD203B41FA5}">
                      <a16:colId xmlns:a16="http://schemas.microsoft.com/office/drawing/2014/main" val="2629857401"/>
                    </a:ext>
                  </a:extLst>
                </a:gridCol>
                <a:gridCol w="2319532">
                  <a:extLst>
                    <a:ext uri="{9D8B030D-6E8A-4147-A177-3AD203B41FA5}">
                      <a16:colId xmlns:a16="http://schemas.microsoft.com/office/drawing/2014/main" val="2744818558"/>
                    </a:ext>
                  </a:extLst>
                </a:gridCol>
                <a:gridCol w="2076820">
                  <a:extLst>
                    <a:ext uri="{9D8B030D-6E8A-4147-A177-3AD203B41FA5}">
                      <a16:colId xmlns:a16="http://schemas.microsoft.com/office/drawing/2014/main" val="3533452127"/>
                    </a:ext>
                  </a:extLst>
                </a:gridCol>
              </a:tblGrid>
              <a:tr h="445036">
                <a:tc>
                  <a:txBody>
                    <a:bodyPr/>
                    <a:lstStyle/>
                    <a:p>
                      <a:pPr marL="91440" marR="21590" algn="ctr">
                        <a:lnSpc>
                          <a:spcPts val="1220"/>
                        </a:lnSpc>
                      </a:pPr>
                      <a:r>
                        <a:rPr lang="en-IN" sz="1200" b="1" spc="-5">
                          <a:solidFill>
                            <a:schemeClr val="bg1"/>
                          </a:solidFill>
                        </a:rPr>
                        <a:t>Industry/</a:t>
                      </a:r>
                      <a:endParaRPr lang="en-IN" sz="1200" b="1">
                        <a:solidFill>
                          <a:schemeClr val="bg1"/>
                        </a:solidFill>
                      </a:endParaRPr>
                    </a:p>
                    <a:p>
                      <a:pPr marL="91440" marR="21590" algn="ctr">
                        <a:lnSpc>
                          <a:spcPct val="10000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5570" algn="ctr">
                        <a:lnSpc>
                          <a:spcPts val="122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Speed</a:t>
                      </a:r>
                      <a:r>
                        <a:rPr lang="en-IN" sz="1200" b="1" spc="-45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and</a:t>
                      </a:r>
                    </a:p>
                    <a:p>
                      <a:pPr marL="115570" algn="ctr">
                        <a:lnSpc>
                          <a:spcPct val="100000"/>
                        </a:lnSpc>
                      </a:pPr>
                      <a:r>
                        <a:rPr lang="en-IN" sz="1200" b="1" spc="-5">
                          <a:solidFill>
                            <a:schemeClr val="bg1"/>
                          </a:solidFill>
                        </a:rPr>
                        <a:t>reliability)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345" algn="ctr">
                        <a:lnSpc>
                          <a:spcPct val="10000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Flexibility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7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3980" algn="ctr">
                        <a:lnSpc>
                          <a:spcPts val="122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Shipment</a:t>
                      </a:r>
                    </a:p>
                    <a:p>
                      <a:pPr marL="93980" algn="ctr">
                        <a:lnSpc>
                          <a:spcPct val="10000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Integrity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065" algn="ctr">
                        <a:lnSpc>
                          <a:spcPts val="122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Customer</a:t>
                      </a:r>
                    </a:p>
                    <a:p>
                      <a:pPr marL="92075" marR="12065" algn="ctr">
                        <a:lnSpc>
                          <a:spcPct val="100000"/>
                        </a:lnSpc>
                      </a:pPr>
                      <a:r>
                        <a:rPr lang="en-IN" sz="1200" b="1" spc="-5">
                          <a:solidFill>
                            <a:schemeClr val="bg1"/>
                          </a:solidFill>
                        </a:rPr>
                        <a:t>service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0" algn="ctr">
                        <a:lnSpc>
                          <a:spcPts val="1220"/>
                        </a:lnSpc>
                      </a:pPr>
                      <a:r>
                        <a:rPr lang="en-IN" sz="1200" b="1" spc="-5">
                          <a:solidFill>
                            <a:schemeClr val="bg1"/>
                          </a:solidFill>
                        </a:rPr>
                        <a:t>Tech</a:t>
                      </a:r>
                      <a:r>
                        <a:rPr lang="en-IN" sz="1200" b="1" spc="-3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enabled</a:t>
                      </a:r>
                    </a:p>
                    <a:p>
                      <a:pPr marL="101600" algn="ctr">
                        <a:lnSpc>
                          <a:spcPct val="100000"/>
                        </a:lnSpc>
                      </a:pPr>
                      <a:r>
                        <a:rPr lang="en-IN" sz="1200" b="1">
                          <a:solidFill>
                            <a:schemeClr val="bg1"/>
                          </a:solidFill>
                        </a:rPr>
                        <a:t>offerings</a:t>
                      </a:r>
                      <a:endParaRPr lang="en-IN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081800"/>
                  </a:ext>
                </a:extLst>
              </a:tr>
              <a:tr h="279992">
                <a:tc>
                  <a:txBody>
                    <a:bodyPr/>
                    <a:lstStyle/>
                    <a:p>
                      <a:pPr marL="91440" marR="2159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Must</a:t>
                      </a:r>
                      <a:r>
                        <a:rPr lang="en-IN" sz="1200" b="0" spc="-5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have</a:t>
                      </a:r>
                      <a:endParaRPr lang="en-IN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191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6839" marR="85725" indent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Premium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offering,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with </a:t>
                      </a:r>
                      <a:r>
                        <a:rPr lang="en-US" sz="1200" b="0" spc="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better</a:t>
                      </a:r>
                      <a:r>
                        <a:rPr lang="en-US" sz="1200" b="0" spc="-3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transit</a:t>
                      </a:r>
                      <a:r>
                        <a:rPr lang="en-US" sz="1200" b="0" spc="-2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3204" marR="86995" indent="-14351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Fle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ible</a:t>
                      </a:r>
                      <a:r>
                        <a:rPr lang="en-IN" sz="1200" b="0" spc="-1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pic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-up 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scheduling</a:t>
                      </a:r>
                      <a:endParaRPr lang="en-IN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0330" marR="87630" indent="-508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Low</a:t>
                      </a:r>
                      <a:r>
                        <a:rPr lang="en-IN" sz="1200" b="0" spc="-4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damages</a:t>
                      </a:r>
                      <a:r>
                        <a:rPr lang="en-IN" sz="1200" b="0" spc="-4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en-IN" sz="1200" b="0" spc="-26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pilfer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ge/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la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ms</a:t>
                      </a:r>
                      <a:endParaRPr lang="en-IN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4460" marR="13652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24/7 support, </a:t>
                      </a: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10">
                          <a:solidFill>
                            <a:schemeClr val="tx1"/>
                          </a:solidFill>
                        </a:rPr>
                        <a:t>KAMs</a:t>
                      </a:r>
                      <a:r>
                        <a:rPr lang="en-US" sz="1200" b="0" spc="-2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n-US" sz="1200" b="0" spc="-3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large </a:t>
                      </a:r>
                      <a:r>
                        <a:rPr lang="en-US" sz="1200" b="0" spc="-26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b="0" spc="-5">
                          <a:solidFill>
                            <a:schemeClr val="tx1"/>
                          </a:solidFill>
                        </a:rPr>
                        <a:t>customers</a:t>
                      </a:r>
                      <a:endParaRPr lang="en-US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9725" marR="273685" indent="-4762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IN" sz="1200" b="0" spc="2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il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IN" sz="1200" b="0" spc="5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en-IN" sz="1200" b="0">
                          <a:solidFill>
                            <a:schemeClr val="tx1"/>
                          </a:solidFill>
                        </a:rPr>
                        <a:t>ne  </a:t>
                      </a:r>
                      <a:r>
                        <a:rPr lang="en-IN" sz="1200" b="0" spc="-5">
                          <a:solidFill>
                            <a:schemeClr val="tx1"/>
                          </a:solidFill>
                        </a:rPr>
                        <a:t>tracking</a:t>
                      </a:r>
                      <a:endParaRPr lang="en-IN" sz="12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6211991"/>
                  </a:ext>
                </a:extLst>
              </a:tr>
              <a:tr h="461129">
                <a:tc>
                  <a:txBody>
                    <a:bodyPr/>
                    <a:lstStyle/>
                    <a:p>
                      <a:pPr marL="91440" marR="2159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IN" sz="1200" b="1" spc="-5">
                          <a:solidFill>
                            <a:schemeClr val="tx1"/>
                          </a:solidFill>
                        </a:rPr>
                        <a:t>Differentiation</a:t>
                      </a:r>
                      <a:endParaRPr lang="en-IN"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191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1290" marR="12700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">
                          <a:solidFill>
                            <a:schemeClr val="tx1"/>
                          </a:solidFill>
                        </a:rPr>
                        <a:t>95%</a:t>
                      </a:r>
                      <a:r>
                        <a:rPr sz="1200" spc="-4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on-time</a:t>
                      </a:r>
                      <a:r>
                        <a:rPr sz="1200" spc="-5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SLA </a:t>
                      </a:r>
                      <a:r>
                        <a:rPr sz="1200" spc="-26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10">
                          <a:solidFill>
                            <a:schemeClr val="tx1"/>
                          </a:solidFill>
                        </a:rPr>
                        <a:t>with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money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back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guarantee;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same </a:t>
                      </a:r>
                      <a:r>
                        <a:rPr sz="1200" spc="-26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day</a:t>
                      </a:r>
                      <a:r>
                        <a:rPr sz="1200" spc="-2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delivery</a:t>
                      </a:r>
                      <a:endParaRPr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6395" marR="233679" indent="-12065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Flexibility</a:t>
                      </a:r>
                      <a:r>
                        <a:rPr lang="en-US" sz="1200" spc="-5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to </a:t>
                      </a:r>
                      <a:r>
                        <a:rPr lang="en-US" sz="1200" spc="-26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cater</a:t>
                      </a:r>
                      <a:r>
                        <a:rPr lang="en-US" sz="1200" spc="-3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200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Peak</a:t>
                      </a:r>
                      <a:r>
                        <a:rPr lang="en-US" sz="1200" spc="-4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200" spc="-5">
                          <a:solidFill>
                            <a:schemeClr val="tx1"/>
                          </a:solidFill>
                        </a:rPr>
                        <a:t>Demand</a:t>
                      </a:r>
                      <a:endParaRPr lang="en-US"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1920" marR="113030" indent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">
                          <a:solidFill>
                            <a:schemeClr val="tx1"/>
                          </a:solidFill>
                        </a:rPr>
                        <a:t>Less than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industry claims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1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re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q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ncy</a:t>
                      </a:r>
                      <a:r>
                        <a:rPr sz="1200" spc="-3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%age</a:t>
                      </a:r>
                      <a:endParaRPr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7155" marR="10858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">
                          <a:solidFill>
                            <a:schemeClr val="tx1"/>
                          </a:solidFill>
                        </a:rPr>
                        <a:t>Differentiated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5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usto</a:t>
                      </a:r>
                      <a:r>
                        <a:rPr sz="1200" spc="15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er</a:t>
                      </a:r>
                      <a:r>
                        <a:rPr sz="1200" spc="-2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5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er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vi</a:t>
                      </a:r>
                      <a:r>
                        <a:rPr sz="1200" spc="5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e 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offering – social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media</a:t>
                      </a:r>
                      <a:r>
                        <a:rPr sz="1200" spc="-35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enabled</a:t>
                      </a:r>
                      <a:endParaRPr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>
                          <a:solidFill>
                            <a:schemeClr val="tx1"/>
                          </a:solidFill>
                        </a:rPr>
                        <a:t>API/ERP</a:t>
                      </a:r>
                      <a:r>
                        <a:rPr lang="en-US" sz="1200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Integration, </a:t>
                      </a:r>
                      <a:r>
                        <a:rPr sz="12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Return</a:t>
                      </a:r>
                      <a:r>
                        <a:rPr sz="1200" spc="-4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request</a:t>
                      </a:r>
                      <a:r>
                        <a:rPr sz="1200" spc="-5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sz="1200" spc="-26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200" spc="-5">
                          <a:solidFill>
                            <a:schemeClr val="tx1"/>
                          </a:solidFill>
                        </a:rPr>
                        <a:t>QC/Scanning</a:t>
                      </a:r>
                      <a:endParaRPr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4254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861735"/>
                  </a:ext>
                </a:extLst>
              </a:tr>
            </a:tbl>
          </a:graphicData>
        </a:graphic>
      </p:graphicFrame>
      <p:pic>
        <p:nvPicPr>
          <p:cNvPr id="1026" name="Picture 2" descr="adress icon">
            <a:extLst>
              <a:ext uri="{FF2B5EF4-FFF2-40B4-BE49-F238E27FC236}">
                <a16:creationId xmlns:a16="http://schemas.microsoft.com/office/drawing/2014/main" id="{608EE965-DB47-8F2B-05D4-BA8DA306B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9" y="3081730"/>
            <a:ext cx="355718" cy="35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ssignment icon">
            <a:extLst>
              <a:ext uri="{FF2B5EF4-FFF2-40B4-BE49-F238E27FC236}">
                <a16:creationId xmlns:a16="http://schemas.microsoft.com/office/drawing/2014/main" id="{5081C2DF-EF06-DFF5-5B0E-76F512A04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0" y="3601296"/>
            <a:ext cx="314769" cy="43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ravel icon">
            <a:extLst>
              <a:ext uri="{FF2B5EF4-FFF2-40B4-BE49-F238E27FC236}">
                <a16:creationId xmlns:a16="http://schemas.microsoft.com/office/drawing/2014/main" id="{B3856419-4559-57A6-F2AE-1BB8E752E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5" y="4236019"/>
            <a:ext cx="324019" cy="32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ansparency icon">
            <a:extLst>
              <a:ext uri="{FF2B5EF4-FFF2-40B4-BE49-F238E27FC236}">
                <a16:creationId xmlns:a16="http://schemas.microsoft.com/office/drawing/2014/main" id="{8FFBABD9-FA23-B5BC-4C53-4141EE78C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9" y="4867051"/>
            <a:ext cx="399548" cy="39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ad icon">
            <a:extLst>
              <a:ext uri="{FF2B5EF4-FFF2-40B4-BE49-F238E27FC236}">
                <a16:creationId xmlns:a16="http://schemas.microsoft.com/office/drawing/2014/main" id="{6946337D-7774-8243-8AF5-15FBC1B66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8" y="5481752"/>
            <a:ext cx="309837" cy="30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48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EFBCD6DF-82D8-5E40-8FFC-F8F159434104}"/>
              </a:ext>
            </a:extLst>
          </p:cNvPr>
          <p:cNvSpPr/>
          <p:nvPr/>
        </p:nvSpPr>
        <p:spPr>
          <a:xfrm>
            <a:off x="9093281" y="5482557"/>
            <a:ext cx="2927099" cy="435885"/>
          </a:xfrm>
          <a:prstGeom prst="roundRect">
            <a:avLst/>
          </a:prstGeom>
          <a:solidFill>
            <a:srgbClr val="6201CE">
              <a:alpha val="51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Metrics: Impact tracking across decarbonization levers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E2B5EF2E-29C0-C042-98DE-5C500FA33C17}"/>
              </a:ext>
            </a:extLst>
          </p:cNvPr>
          <p:cNvSpPr/>
          <p:nvPr/>
        </p:nvSpPr>
        <p:spPr>
          <a:xfrm>
            <a:off x="9103692" y="3927795"/>
            <a:ext cx="2927099" cy="411170"/>
          </a:xfrm>
          <a:prstGeom prst="roundRect">
            <a:avLst/>
          </a:prstGeom>
          <a:solidFill>
            <a:srgbClr val="B452AC">
              <a:alpha val="51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Dialogue: Transparent comm. amongst all stakeholders for dynamic </a:t>
            </a:r>
            <a:r>
              <a:rPr lang="en-IN" sz="120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</a:t>
            </a:r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E7F82A39-85F9-5F46-B8EF-59434F2CCFA7}"/>
              </a:ext>
            </a:extLst>
          </p:cNvPr>
          <p:cNvSpPr/>
          <p:nvPr/>
        </p:nvSpPr>
        <p:spPr>
          <a:xfrm>
            <a:off x="9110175" y="3455187"/>
            <a:ext cx="2927099" cy="411170"/>
          </a:xfrm>
          <a:prstGeom prst="roundRect">
            <a:avLst/>
          </a:prstGeom>
          <a:solidFill>
            <a:srgbClr val="7A7A6B">
              <a:alpha val="55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Tangible Empathy: Flexibility along the SC allows scope for variability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48A7411-C23B-A84F-BC77-1A0FBBFB959A}"/>
              </a:ext>
            </a:extLst>
          </p:cNvPr>
          <p:cNvSpPr/>
          <p:nvPr/>
        </p:nvSpPr>
        <p:spPr>
          <a:xfrm>
            <a:off x="3849561" y="4850116"/>
            <a:ext cx="1710569" cy="1112107"/>
          </a:xfrm>
          <a:prstGeom prst="rect">
            <a:avLst/>
          </a:pr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8546D97-2707-4547-8DE6-0F400B1CEFC4}"/>
              </a:ext>
            </a:extLst>
          </p:cNvPr>
          <p:cNvSpPr/>
          <p:nvPr/>
        </p:nvSpPr>
        <p:spPr>
          <a:xfrm>
            <a:off x="5587542" y="4848236"/>
            <a:ext cx="1483249" cy="1112107"/>
          </a:xfrm>
          <a:prstGeom prst="rect">
            <a:avLst/>
          </a:pr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DC1B885-44F7-4440-BD1B-36B67EFCA64F}"/>
              </a:ext>
            </a:extLst>
          </p:cNvPr>
          <p:cNvSpPr/>
          <p:nvPr/>
        </p:nvSpPr>
        <p:spPr>
          <a:xfrm>
            <a:off x="7136437" y="4848236"/>
            <a:ext cx="1561120" cy="1112107"/>
          </a:xfrm>
          <a:prstGeom prst="rect">
            <a:avLst/>
          </a:pr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Triangle 99">
            <a:extLst>
              <a:ext uri="{FF2B5EF4-FFF2-40B4-BE49-F238E27FC236}">
                <a16:creationId xmlns:a16="http://schemas.microsoft.com/office/drawing/2014/main" id="{6EC6B140-213B-4142-9768-25E0BC54A7ED}"/>
              </a:ext>
            </a:extLst>
          </p:cNvPr>
          <p:cNvSpPr/>
          <p:nvPr/>
        </p:nvSpPr>
        <p:spPr>
          <a:xfrm>
            <a:off x="6682366" y="4540233"/>
            <a:ext cx="2015191" cy="308002"/>
          </a:xfrm>
          <a:custGeom>
            <a:avLst/>
            <a:gdLst>
              <a:gd name="connsiteX0" fmla="*/ 0 w 1134031"/>
              <a:gd name="connsiteY0" fmla="*/ 184435 h 184435"/>
              <a:gd name="connsiteX1" fmla="*/ 567016 w 1134031"/>
              <a:gd name="connsiteY1" fmla="*/ 0 h 184435"/>
              <a:gd name="connsiteX2" fmla="*/ 1134031 w 1134031"/>
              <a:gd name="connsiteY2" fmla="*/ 184435 h 184435"/>
              <a:gd name="connsiteX3" fmla="*/ 0 w 1134031"/>
              <a:gd name="connsiteY3" fmla="*/ 184435 h 184435"/>
              <a:gd name="connsiteX0" fmla="*/ 312785 w 1446816"/>
              <a:gd name="connsiteY0" fmla="*/ 308002 h 308002"/>
              <a:gd name="connsiteX1" fmla="*/ 0 w 1446816"/>
              <a:gd name="connsiteY1" fmla="*/ 0 h 308002"/>
              <a:gd name="connsiteX2" fmla="*/ 1446816 w 1446816"/>
              <a:gd name="connsiteY2" fmla="*/ 308002 h 308002"/>
              <a:gd name="connsiteX3" fmla="*/ 312785 w 1446816"/>
              <a:gd name="connsiteY3" fmla="*/ 308002 h 30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816" h="308002">
                <a:moveTo>
                  <a:pt x="312785" y="308002"/>
                </a:moveTo>
                <a:lnTo>
                  <a:pt x="0" y="0"/>
                </a:lnTo>
                <a:lnTo>
                  <a:pt x="1446816" y="308002"/>
                </a:lnTo>
                <a:lnTo>
                  <a:pt x="312785" y="308002"/>
                </a:lnTo>
                <a:close/>
              </a:path>
            </a:pathLst>
          </a:cu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Triangle 101">
            <a:extLst>
              <a:ext uri="{FF2B5EF4-FFF2-40B4-BE49-F238E27FC236}">
                <a16:creationId xmlns:a16="http://schemas.microsoft.com/office/drawing/2014/main" id="{9ADF29C9-C755-6A44-9F28-88D29F909925}"/>
              </a:ext>
            </a:extLst>
          </p:cNvPr>
          <p:cNvSpPr/>
          <p:nvPr/>
        </p:nvSpPr>
        <p:spPr>
          <a:xfrm>
            <a:off x="3857983" y="4514983"/>
            <a:ext cx="1977900" cy="333252"/>
          </a:xfrm>
          <a:custGeom>
            <a:avLst/>
            <a:gdLst>
              <a:gd name="connsiteX0" fmla="*/ 0 w 1134031"/>
              <a:gd name="connsiteY0" fmla="*/ 254168 h 254168"/>
              <a:gd name="connsiteX1" fmla="*/ 567016 w 1134031"/>
              <a:gd name="connsiteY1" fmla="*/ 0 h 254168"/>
              <a:gd name="connsiteX2" fmla="*/ 1134031 w 1134031"/>
              <a:gd name="connsiteY2" fmla="*/ 254168 h 254168"/>
              <a:gd name="connsiteX3" fmla="*/ 0 w 1134031"/>
              <a:gd name="connsiteY3" fmla="*/ 254168 h 254168"/>
              <a:gd name="connsiteX0" fmla="*/ 0 w 1318306"/>
              <a:gd name="connsiteY0" fmla="*/ 333252 h 333252"/>
              <a:gd name="connsiteX1" fmla="*/ 1318306 w 1318306"/>
              <a:gd name="connsiteY1" fmla="*/ 0 h 333252"/>
              <a:gd name="connsiteX2" fmla="*/ 1134031 w 1318306"/>
              <a:gd name="connsiteY2" fmla="*/ 333252 h 333252"/>
              <a:gd name="connsiteX3" fmla="*/ 0 w 1318306"/>
              <a:gd name="connsiteY3" fmla="*/ 333252 h 333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8306" h="333252">
                <a:moveTo>
                  <a:pt x="0" y="333252"/>
                </a:moveTo>
                <a:lnTo>
                  <a:pt x="1318306" y="0"/>
                </a:lnTo>
                <a:lnTo>
                  <a:pt x="1134031" y="333252"/>
                </a:lnTo>
                <a:lnTo>
                  <a:pt x="0" y="333252"/>
                </a:lnTo>
                <a:close/>
              </a:path>
            </a:pathLst>
          </a:cu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Triangle 102">
            <a:extLst>
              <a:ext uri="{FF2B5EF4-FFF2-40B4-BE49-F238E27FC236}">
                <a16:creationId xmlns:a16="http://schemas.microsoft.com/office/drawing/2014/main" id="{D7E24DE0-EF67-6F47-B64B-0C35114DB197}"/>
              </a:ext>
            </a:extLst>
          </p:cNvPr>
          <p:cNvSpPr/>
          <p:nvPr/>
        </p:nvSpPr>
        <p:spPr>
          <a:xfrm>
            <a:off x="5587542" y="4516812"/>
            <a:ext cx="1483249" cy="329545"/>
          </a:xfrm>
          <a:custGeom>
            <a:avLst/>
            <a:gdLst>
              <a:gd name="connsiteX0" fmla="*/ 0 w 1137870"/>
              <a:gd name="connsiteY0" fmla="*/ 466705 h 466705"/>
              <a:gd name="connsiteX1" fmla="*/ 531533 w 1137870"/>
              <a:gd name="connsiteY1" fmla="*/ 0 h 466705"/>
              <a:gd name="connsiteX2" fmla="*/ 1137870 w 1137870"/>
              <a:gd name="connsiteY2" fmla="*/ 466705 h 466705"/>
              <a:gd name="connsiteX3" fmla="*/ 0 w 1137870"/>
              <a:gd name="connsiteY3" fmla="*/ 466705 h 466705"/>
              <a:gd name="connsiteX0" fmla="*/ 0 w 1137870"/>
              <a:gd name="connsiteY0" fmla="*/ 308763 h 308763"/>
              <a:gd name="connsiteX1" fmla="*/ 523221 w 1137870"/>
              <a:gd name="connsiteY1" fmla="*/ 0 h 308763"/>
              <a:gd name="connsiteX2" fmla="*/ 1137870 w 1137870"/>
              <a:gd name="connsiteY2" fmla="*/ 308763 h 308763"/>
              <a:gd name="connsiteX3" fmla="*/ 0 w 1137870"/>
              <a:gd name="connsiteY3" fmla="*/ 308763 h 308763"/>
              <a:gd name="connsiteX0" fmla="*/ 0 w 1137870"/>
              <a:gd name="connsiteY0" fmla="*/ 329545 h 329545"/>
              <a:gd name="connsiteX1" fmla="*/ 510752 w 1137870"/>
              <a:gd name="connsiteY1" fmla="*/ 0 h 329545"/>
              <a:gd name="connsiteX2" fmla="*/ 1137870 w 1137870"/>
              <a:gd name="connsiteY2" fmla="*/ 329545 h 329545"/>
              <a:gd name="connsiteX3" fmla="*/ 0 w 1137870"/>
              <a:gd name="connsiteY3" fmla="*/ 329545 h 32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7870" h="329545">
                <a:moveTo>
                  <a:pt x="0" y="329545"/>
                </a:moveTo>
                <a:lnTo>
                  <a:pt x="510752" y="0"/>
                </a:lnTo>
                <a:lnTo>
                  <a:pt x="1137870" y="329545"/>
                </a:lnTo>
                <a:lnTo>
                  <a:pt x="0" y="329545"/>
                </a:lnTo>
                <a:close/>
              </a:path>
            </a:pathLst>
          </a:custGeom>
          <a:noFill/>
          <a:ln>
            <a:solidFill>
              <a:srgbClr val="55247C"/>
            </a:solidFill>
            <a:prstDash val="dash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A5241-D6D8-2044-A378-BB3D49B1B8B2}"/>
              </a:ext>
            </a:extLst>
          </p:cNvPr>
          <p:cNvSpPr/>
          <p:nvPr/>
        </p:nvSpPr>
        <p:spPr>
          <a:xfrm>
            <a:off x="3757080" y="618066"/>
            <a:ext cx="5082166" cy="375919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7CEF5-1A12-734E-ADC8-375BE716C8B8}"/>
              </a:ext>
            </a:extLst>
          </p:cNvPr>
          <p:cNvSpPr txBox="1"/>
          <p:nvPr/>
        </p:nvSpPr>
        <p:spPr>
          <a:xfrm>
            <a:off x="4335021" y="560633"/>
            <a:ext cx="3906982" cy="22170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2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P2P network to enforce social conscientiousness</a:t>
            </a:r>
            <a:endParaRPr lang="en-US" sz="1167" b="1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5A2B0-4945-5C4F-A590-A8FEFDF69338}"/>
              </a:ext>
            </a:extLst>
          </p:cNvPr>
          <p:cNvSpPr txBox="1"/>
          <p:nvPr/>
        </p:nvSpPr>
        <p:spPr>
          <a:xfrm>
            <a:off x="4779836" y="4447313"/>
            <a:ext cx="2858334" cy="20705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Tenets of the buddy-driven ecosystem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A96FBC-150E-2641-8D46-CA4BC3C15B64}"/>
              </a:ext>
            </a:extLst>
          </p:cNvPr>
          <p:cNvSpPr/>
          <p:nvPr/>
        </p:nvSpPr>
        <p:spPr>
          <a:xfrm>
            <a:off x="8938724" y="1948901"/>
            <a:ext cx="3172603" cy="405761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36C34-165B-2F46-B884-7FA224EF490B}"/>
              </a:ext>
            </a:extLst>
          </p:cNvPr>
          <p:cNvSpPr txBox="1"/>
          <p:nvPr/>
        </p:nvSpPr>
        <p:spPr>
          <a:xfrm>
            <a:off x="9167494" y="1902086"/>
            <a:ext cx="2627746" cy="25901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Sustainability is in the ecosystem’s DNA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F6513D-2E45-3F48-A60F-3145C2FCC6ED}"/>
              </a:ext>
            </a:extLst>
          </p:cNvPr>
          <p:cNvSpPr/>
          <p:nvPr/>
        </p:nvSpPr>
        <p:spPr>
          <a:xfrm>
            <a:off x="25377" y="618065"/>
            <a:ext cx="3632223" cy="1235902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B7953E-88EA-3246-99D7-8C81DFC5A797}"/>
              </a:ext>
            </a:extLst>
          </p:cNvPr>
          <p:cNvSpPr txBox="1"/>
          <p:nvPr/>
        </p:nvSpPr>
        <p:spPr>
          <a:xfrm>
            <a:off x="663916" y="558695"/>
            <a:ext cx="2249003" cy="2500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 could be a buddy?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27A82A-4FF0-904D-8CC7-EB1D71FE2252}"/>
              </a:ext>
            </a:extLst>
          </p:cNvPr>
          <p:cNvSpPr/>
          <p:nvPr/>
        </p:nvSpPr>
        <p:spPr>
          <a:xfrm>
            <a:off x="25377" y="2037209"/>
            <a:ext cx="3632223" cy="113429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85DB80-CA6F-714B-967B-C46689AF2FF9}"/>
              </a:ext>
            </a:extLst>
          </p:cNvPr>
          <p:cNvSpPr txBox="1"/>
          <p:nvPr/>
        </p:nvSpPr>
        <p:spPr>
          <a:xfrm>
            <a:off x="682532" y="1956584"/>
            <a:ext cx="2249003" cy="16711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Buddy Cycle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57FA0F-B712-3B46-A936-04CE3FBEEF40}"/>
              </a:ext>
            </a:extLst>
          </p:cNvPr>
          <p:cNvSpPr/>
          <p:nvPr/>
        </p:nvSpPr>
        <p:spPr>
          <a:xfrm>
            <a:off x="25377" y="3288408"/>
            <a:ext cx="3632223" cy="12787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29D518-7151-8941-9636-9D8495E96AE4}"/>
              </a:ext>
            </a:extLst>
          </p:cNvPr>
          <p:cNvSpPr txBox="1"/>
          <p:nvPr/>
        </p:nvSpPr>
        <p:spPr>
          <a:xfrm>
            <a:off x="682532" y="3207785"/>
            <a:ext cx="2249003" cy="22121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Buddy Value Proposition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0F3D3C-D010-4044-A734-6F93E2DE5E8F}"/>
              </a:ext>
            </a:extLst>
          </p:cNvPr>
          <p:cNvSpPr/>
          <p:nvPr/>
        </p:nvSpPr>
        <p:spPr>
          <a:xfrm>
            <a:off x="25377" y="4727740"/>
            <a:ext cx="3632223" cy="12787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99ECB1-A40D-F54D-A082-A5FF794D0B1B}"/>
              </a:ext>
            </a:extLst>
          </p:cNvPr>
          <p:cNvSpPr txBox="1"/>
          <p:nvPr/>
        </p:nvSpPr>
        <p:spPr>
          <a:xfrm>
            <a:off x="424873" y="4592252"/>
            <a:ext cx="2879925" cy="2666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Building buddy incentives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AC4F66-FD79-6543-A94C-C40A2531C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173" y="1344568"/>
            <a:ext cx="538297" cy="1623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C1F4F0-79A1-F944-8608-0265C9E74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425" y="1383065"/>
            <a:ext cx="665527" cy="37435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29B067-4ED3-B94B-AFBA-9BCBA7D8923E}"/>
              </a:ext>
            </a:extLst>
          </p:cNvPr>
          <p:cNvSpPr txBox="1"/>
          <p:nvPr/>
        </p:nvSpPr>
        <p:spPr>
          <a:xfrm>
            <a:off x="3956173" y="908908"/>
            <a:ext cx="999855" cy="14508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E-Commerce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players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8CDDFE9-9483-7743-9CCE-EE360BCB2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878" y="1016759"/>
            <a:ext cx="555305" cy="555305"/>
          </a:xfrm>
          <a:prstGeom prst="rect">
            <a:avLst/>
          </a:prstGeom>
        </p:spPr>
      </p:pic>
      <p:pic>
        <p:nvPicPr>
          <p:cNvPr id="28" name="Picture 27" descr="A screen shot of a phone&#10;&#10;Description automatically generated">
            <a:extLst>
              <a:ext uri="{FF2B5EF4-FFF2-40B4-BE49-F238E27FC236}">
                <a16:creationId xmlns:a16="http://schemas.microsoft.com/office/drawing/2014/main" id="{40D55879-2D7C-D94B-AF04-B05730096B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47" b="96053" l="6916" r="89914">
                        <a14:foregroundMark x1="11960" y1="3684" x2="45965" y2="12807"/>
                        <a14:foregroundMark x1="45965" y1="12807" x2="37464" y2="84035"/>
                        <a14:foregroundMark x1="37464" y1="84035" x2="29539" y2="89912"/>
                        <a14:foregroundMark x1="29539" y1="89912" x2="28386" y2="96140"/>
                        <a14:foregroundMark x1="57061" y1="4035" x2="13256" y2="5175"/>
                        <a14:foregroundMark x1="6916" y1="7105" x2="6916" y2="17281"/>
                        <a14:foregroundMark x1="7061" y1="64123" x2="6916" y2="756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310" y="836776"/>
            <a:ext cx="2107764" cy="3462321"/>
          </a:xfrm>
          <a:prstGeom prst="rect">
            <a:avLst/>
          </a:prstGeom>
          <a:ln w="12700">
            <a:prstDash val="dashDot"/>
            <a:tailEnd type="triangle"/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FA84AC-5337-9046-97D1-0851E4358ED3}"/>
              </a:ext>
            </a:extLst>
          </p:cNvPr>
          <p:cNvSpPr txBox="1"/>
          <p:nvPr/>
        </p:nvSpPr>
        <p:spPr>
          <a:xfrm>
            <a:off x="7222380" y="781586"/>
            <a:ext cx="1510619" cy="41169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r"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Digital commerce player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offer incentives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against </a:t>
            </a:r>
            <a:r>
              <a:rPr lang="en-US" sz="1200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EcoPoints</a:t>
            </a:r>
            <a:endParaRPr lang="en-US" sz="120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6476E30-E7B8-A449-BE58-D2778BA145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6177" y="1393132"/>
            <a:ext cx="388703" cy="38870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33573B0-6B73-7F4C-BFBF-24D74C189B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1975" y="6631708"/>
            <a:ext cx="362181" cy="22629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F6CF53-A322-2343-950F-33F665CE62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7620" y="1417541"/>
            <a:ext cx="543986" cy="339883"/>
          </a:xfrm>
          <a:prstGeom prst="rect">
            <a:avLst/>
          </a:prstGeom>
        </p:spPr>
      </p:pic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28620EB3-5E8E-FB4D-B84D-0506DE6E04DF}"/>
              </a:ext>
            </a:extLst>
          </p:cNvPr>
          <p:cNvCxnSpPr>
            <a:cxnSpLocks/>
          </p:cNvCxnSpPr>
          <p:nvPr/>
        </p:nvCxnSpPr>
        <p:spPr>
          <a:xfrm>
            <a:off x="5907455" y="1109581"/>
            <a:ext cx="1510619" cy="165909"/>
          </a:xfrm>
          <a:prstGeom prst="bentConnector3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37BA419F-F31C-6E46-B3C6-F96D4AFA522A}"/>
              </a:ext>
            </a:extLst>
          </p:cNvPr>
          <p:cNvCxnSpPr>
            <a:cxnSpLocks/>
            <a:stCxn id="22" idx="3"/>
            <a:endCxn id="65" idx="4"/>
          </p:cNvCxnSpPr>
          <p:nvPr/>
        </p:nvCxnSpPr>
        <p:spPr>
          <a:xfrm>
            <a:off x="4898952" y="1570245"/>
            <a:ext cx="582292" cy="1200664"/>
          </a:xfrm>
          <a:prstGeom prst="bentConnector4">
            <a:avLst>
              <a:gd name="adj1" fmla="val 48037"/>
              <a:gd name="adj2" fmla="val 119039"/>
            </a:avLst>
          </a:prstGeom>
          <a:ln w="127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E8205A47-B70B-AE45-BD0F-4FEB68AB73C4}"/>
              </a:ext>
            </a:extLst>
          </p:cNvPr>
          <p:cNvSpPr/>
          <p:nvPr/>
        </p:nvSpPr>
        <p:spPr>
          <a:xfrm>
            <a:off x="5458384" y="2725190"/>
            <a:ext cx="45719" cy="457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409121-9CEE-A54C-8F6C-A88ED103F76B}"/>
              </a:ext>
            </a:extLst>
          </p:cNvPr>
          <p:cNvSpPr txBox="1"/>
          <p:nvPr/>
        </p:nvSpPr>
        <p:spPr>
          <a:xfrm>
            <a:off x="3844591" y="1969279"/>
            <a:ext cx="1512501" cy="55530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track/modify each order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multiple platforms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(app/website redirection)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27F92B38-FAA5-B042-87BA-D85594F8ED90}"/>
              </a:ext>
            </a:extLst>
          </p:cNvPr>
          <p:cNvCxnSpPr>
            <a:cxnSpLocks/>
          </p:cNvCxnSpPr>
          <p:nvPr/>
        </p:nvCxnSpPr>
        <p:spPr>
          <a:xfrm>
            <a:off x="6364193" y="1192533"/>
            <a:ext cx="1256251" cy="805571"/>
          </a:xfrm>
          <a:prstGeom prst="bentConnector3">
            <a:avLst>
              <a:gd name="adj1" fmla="val 34560"/>
            </a:avLst>
          </a:prstGeom>
          <a:ln w="127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Graphic 76" descr="Group success">
            <a:extLst>
              <a:ext uri="{FF2B5EF4-FFF2-40B4-BE49-F238E27FC236}">
                <a16:creationId xmlns:a16="http://schemas.microsoft.com/office/drawing/2014/main" id="{73C02F39-D84E-CD4F-846A-D4824F49CE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4104" y="1723047"/>
            <a:ext cx="622542" cy="622542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73EEE082-8F6C-6141-B088-F40E72C1D898}"/>
              </a:ext>
            </a:extLst>
          </p:cNvPr>
          <p:cNvSpPr txBox="1"/>
          <p:nvPr/>
        </p:nvSpPr>
        <p:spPr>
          <a:xfrm>
            <a:off x="7070791" y="2228405"/>
            <a:ext cx="1719758" cy="58742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Add/modify/delete </a:t>
            </a:r>
            <a:r>
              <a:rPr lang="en-US" sz="1200">
                <a:solidFill>
                  <a:srgbClr val="7D38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buddies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your network . Compete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your buddies on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sustainability &amp; rewards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EB81CAAB-AB68-714D-B776-E054DE560C6C}"/>
              </a:ext>
            </a:extLst>
          </p:cNvPr>
          <p:cNvCxnSpPr>
            <a:cxnSpLocks/>
          </p:cNvCxnSpPr>
          <p:nvPr/>
        </p:nvCxnSpPr>
        <p:spPr>
          <a:xfrm flipV="1">
            <a:off x="6998345" y="3045413"/>
            <a:ext cx="639825" cy="587426"/>
          </a:xfrm>
          <a:prstGeom prst="bentConnector2">
            <a:avLst/>
          </a:prstGeom>
          <a:ln w="127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85C5690-1A0B-FF40-BF65-60A458AD4573}"/>
              </a:ext>
            </a:extLst>
          </p:cNvPr>
          <p:cNvSpPr txBox="1"/>
          <p:nvPr/>
        </p:nvSpPr>
        <p:spPr>
          <a:xfrm>
            <a:off x="7294085" y="3337015"/>
            <a:ext cx="1376364" cy="77222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Ability to have your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rgbClr val="7D38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buddy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pick up your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and share the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reward!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DD36A761-A7FB-464C-828D-837AAEC52ACD}"/>
              </a:ext>
            </a:extLst>
          </p:cNvPr>
          <p:cNvCxnSpPr>
            <a:cxnSpLocks/>
          </p:cNvCxnSpPr>
          <p:nvPr/>
        </p:nvCxnSpPr>
        <p:spPr>
          <a:xfrm rot="10800000">
            <a:off x="4696184" y="3567271"/>
            <a:ext cx="891358" cy="360525"/>
          </a:xfrm>
          <a:prstGeom prst="bentConnector3">
            <a:avLst>
              <a:gd name="adj1" fmla="val 50000"/>
            </a:avLst>
          </a:prstGeom>
          <a:ln w="127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40DA3C9-B4E9-AD49-9ADE-C7E80DC4A0A8}"/>
              </a:ext>
            </a:extLst>
          </p:cNvPr>
          <p:cNvSpPr txBox="1"/>
          <p:nvPr/>
        </p:nvSpPr>
        <p:spPr>
          <a:xfrm>
            <a:off x="3810340" y="3035914"/>
            <a:ext cx="668825" cy="41169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defTabSz="190492">
              <a:spcAft>
                <a:spcPts val="1000"/>
              </a:spcAft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Trigger: Become a </a:t>
            </a:r>
            <a:r>
              <a:rPr lang="en-US" sz="1200">
                <a:solidFill>
                  <a:srgbClr val="7D38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buddy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gain social, economic,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stewardship and 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gain social media</a:t>
            </a:r>
            <a:b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recognition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670DD037-440F-7248-BEAC-DB49EB4DD5D3}"/>
              </a:ext>
            </a:extLst>
          </p:cNvPr>
          <p:cNvSpPr/>
          <p:nvPr/>
        </p:nvSpPr>
        <p:spPr>
          <a:xfrm>
            <a:off x="115823" y="1061659"/>
            <a:ext cx="1228436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15-60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yrs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7FBBEDA2-74D6-FA48-B7A7-044D17561D6D}"/>
              </a:ext>
            </a:extLst>
          </p:cNvPr>
          <p:cNvSpPr/>
          <p:nvPr/>
        </p:nvSpPr>
        <p:spPr>
          <a:xfrm>
            <a:off x="126857" y="1297443"/>
            <a:ext cx="1228436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Office-goers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2E5F53DA-4A29-3141-955F-BD354512C1DE}"/>
              </a:ext>
            </a:extLst>
          </p:cNvPr>
          <p:cNvSpPr/>
          <p:nvPr/>
        </p:nvSpPr>
        <p:spPr>
          <a:xfrm>
            <a:off x="125958" y="1542188"/>
            <a:ext cx="1228436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Freq. travelers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C7D840E-081B-8143-95F4-98486B5F06E6}"/>
              </a:ext>
            </a:extLst>
          </p:cNvPr>
          <p:cNvGrpSpPr/>
          <p:nvPr/>
        </p:nvGrpSpPr>
        <p:grpSpPr>
          <a:xfrm>
            <a:off x="1553667" y="1073042"/>
            <a:ext cx="126337" cy="134219"/>
            <a:chOff x="7812684" y="2660359"/>
            <a:chExt cx="306171" cy="306910"/>
          </a:xfrm>
        </p:grpSpPr>
        <p:sp>
          <p:nvSpPr>
            <p:cNvPr id="103" name="Freeform 94">
              <a:extLst>
                <a:ext uri="{FF2B5EF4-FFF2-40B4-BE49-F238E27FC236}">
                  <a16:creationId xmlns:a16="http://schemas.microsoft.com/office/drawing/2014/main" id="{A99C98DF-78FB-774B-A0F1-C1D2018A68DC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Freeform 95">
              <a:extLst>
                <a:ext uri="{FF2B5EF4-FFF2-40B4-BE49-F238E27FC236}">
                  <a16:creationId xmlns:a16="http://schemas.microsoft.com/office/drawing/2014/main" id="{ED4A4781-0B70-7744-B80A-47F8B0D034B9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00484F5-170D-B14C-A806-1544177BFF33}"/>
              </a:ext>
            </a:extLst>
          </p:cNvPr>
          <p:cNvGrpSpPr/>
          <p:nvPr/>
        </p:nvGrpSpPr>
        <p:grpSpPr>
          <a:xfrm>
            <a:off x="1558221" y="1316617"/>
            <a:ext cx="126337" cy="134219"/>
            <a:chOff x="7812684" y="2660359"/>
            <a:chExt cx="306171" cy="306910"/>
          </a:xfrm>
        </p:grpSpPr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A74DD834-641E-6045-9AE2-FF7F92833CA9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87E305AB-C2DA-E244-B25F-22674A656562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6F77DCA-BCC3-8D48-B2E5-9C1DDBC66FC2}"/>
              </a:ext>
            </a:extLst>
          </p:cNvPr>
          <p:cNvGrpSpPr/>
          <p:nvPr/>
        </p:nvGrpSpPr>
        <p:grpSpPr>
          <a:xfrm>
            <a:off x="1553666" y="1543055"/>
            <a:ext cx="126337" cy="134219"/>
            <a:chOff x="7812684" y="2660359"/>
            <a:chExt cx="306171" cy="306910"/>
          </a:xfrm>
        </p:grpSpPr>
        <p:sp>
          <p:nvSpPr>
            <p:cNvPr id="115" name="Freeform 94">
              <a:extLst>
                <a:ext uri="{FF2B5EF4-FFF2-40B4-BE49-F238E27FC236}">
                  <a16:creationId xmlns:a16="http://schemas.microsoft.com/office/drawing/2014/main" id="{7E941B66-AA80-C14A-823E-6614E3216ACA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6" name="Freeform 95">
              <a:extLst>
                <a:ext uri="{FF2B5EF4-FFF2-40B4-BE49-F238E27FC236}">
                  <a16:creationId xmlns:a16="http://schemas.microsoft.com/office/drawing/2014/main" id="{1990B5D9-5AE7-F849-8C36-DF06B3BF42B0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695F9BA-1401-154A-9ADE-7EC0942EC071}"/>
              </a:ext>
            </a:extLst>
          </p:cNvPr>
          <p:cNvSpPr/>
          <p:nvPr/>
        </p:nvSpPr>
        <p:spPr>
          <a:xfrm>
            <a:off x="1801681" y="1064125"/>
            <a:ext cx="692889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200 Mn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FABCC931-F336-9741-8148-08CB1B35CC4B}"/>
              </a:ext>
            </a:extLst>
          </p:cNvPr>
          <p:cNvSpPr/>
          <p:nvPr/>
        </p:nvSpPr>
        <p:spPr>
          <a:xfrm>
            <a:off x="1812715" y="1299909"/>
            <a:ext cx="692889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60 Mn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797F5051-709A-0A47-ABE4-9280F0019A0A}"/>
              </a:ext>
            </a:extLst>
          </p:cNvPr>
          <p:cNvSpPr/>
          <p:nvPr/>
        </p:nvSpPr>
        <p:spPr>
          <a:xfrm>
            <a:off x="1811816" y="1544654"/>
            <a:ext cx="692889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1 Mn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A6F90A2F-E37C-0C49-B028-C593C96ADB62}"/>
              </a:ext>
            </a:extLst>
          </p:cNvPr>
          <p:cNvSpPr/>
          <p:nvPr/>
        </p:nvSpPr>
        <p:spPr>
          <a:xfrm>
            <a:off x="119887" y="825758"/>
            <a:ext cx="1228436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T1-T2 resident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3698783-9B68-4A49-AF53-49D7119150FB}"/>
              </a:ext>
            </a:extLst>
          </p:cNvPr>
          <p:cNvGrpSpPr/>
          <p:nvPr/>
        </p:nvGrpSpPr>
        <p:grpSpPr>
          <a:xfrm>
            <a:off x="1557731" y="837141"/>
            <a:ext cx="126337" cy="134219"/>
            <a:chOff x="7812684" y="2660359"/>
            <a:chExt cx="306171" cy="306910"/>
          </a:xfrm>
        </p:grpSpPr>
        <p:sp>
          <p:nvSpPr>
            <p:cNvPr id="122" name="Freeform 94">
              <a:extLst>
                <a:ext uri="{FF2B5EF4-FFF2-40B4-BE49-F238E27FC236}">
                  <a16:creationId xmlns:a16="http://schemas.microsoft.com/office/drawing/2014/main" id="{D5AC3FF3-30F4-7E44-8435-FA1B81B0144D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Freeform 95">
              <a:extLst>
                <a:ext uri="{FF2B5EF4-FFF2-40B4-BE49-F238E27FC236}">
                  <a16:creationId xmlns:a16="http://schemas.microsoft.com/office/drawing/2014/main" id="{417A4A21-C3E1-894F-AFBD-46D0164D122E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9C29CE80-8E78-714E-9768-A0E111C49504}"/>
              </a:ext>
            </a:extLst>
          </p:cNvPr>
          <p:cNvSpPr/>
          <p:nvPr/>
        </p:nvSpPr>
        <p:spPr>
          <a:xfrm>
            <a:off x="1805745" y="828224"/>
            <a:ext cx="692889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350 Mn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6C602743-4082-7840-BB4F-E8E7EAB4EAC1}"/>
              </a:ext>
            </a:extLst>
          </p:cNvPr>
          <p:cNvSpPr/>
          <p:nvPr/>
        </p:nvSpPr>
        <p:spPr>
          <a:xfrm>
            <a:off x="2620311" y="825518"/>
            <a:ext cx="942333" cy="8587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 Mn buddies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2030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BA832A5-C7E7-0D4D-AEC6-CFC9EF998C9C}"/>
              </a:ext>
            </a:extLst>
          </p:cNvPr>
          <p:cNvGrpSpPr/>
          <p:nvPr/>
        </p:nvGrpSpPr>
        <p:grpSpPr>
          <a:xfrm>
            <a:off x="2550271" y="1200879"/>
            <a:ext cx="126337" cy="134219"/>
            <a:chOff x="7812684" y="2660359"/>
            <a:chExt cx="306171" cy="306910"/>
          </a:xfrm>
        </p:grpSpPr>
        <p:sp>
          <p:nvSpPr>
            <p:cNvPr id="127" name="Freeform 94">
              <a:extLst>
                <a:ext uri="{FF2B5EF4-FFF2-40B4-BE49-F238E27FC236}">
                  <a16:creationId xmlns:a16="http://schemas.microsoft.com/office/drawing/2014/main" id="{4F54942F-00EC-FF40-8846-75C6A04A06CB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8" name="Freeform 95">
              <a:extLst>
                <a:ext uri="{FF2B5EF4-FFF2-40B4-BE49-F238E27FC236}">
                  <a16:creationId xmlns:a16="http://schemas.microsoft.com/office/drawing/2014/main" id="{AD5A89DB-6C5B-3044-8B44-B2F3AEC4B8D1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9" name="Pentagon 128">
            <a:extLst>
              <a:ext uri="{FF2B5EF4-FFF2-40B4-BE49-F238E27FC236}">
                <a16:creationId xmlns:a16="http://schemas.microsoft.com/office/drawing/2014/main" id="{4D92F8C9-3DDD-1C4B-81C5-C54F443FF0B7}"/>
              </a:ext>
            </a:extLst>
          </p:cNvPr>
          <p:cNvSpPr/>
          <p:nvPr/>
        </p:nvSpPr>
        <p:spPr>
          <a:xfrm>
            <a:off x="75527" y="2161342"/>
            <a:ext cx="1185715" cy="188496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Acquire</a:t>
            </a:r>
          </a:p>
        </p:txBody>
      </p:sp>
      <p:sp>
        <p:nvSpPr>
          <p:cNvPr id="130" name="Chevron 129">
            <a:extLst>
              <a:ext uri="{FF2B5EF4-FFF2-40B4-BE49-F238E27FC236}">
                <a16:creationId xmlns:a16="http://schemas.microsoft.com/office/drawing/2014/main" id="{65559EF5-9919-6E41-A053-84CE9AF3A298}"/>
              </a:ext>
            </a:extLst>
          </p:cNvPr>
          <p:cNvSpPr/>
          <p:nvPr/>
        </p:nvSpPr>
        <p:spPr>
          <a:xfrm>
            <a:off x="1225548" y="2171109"/>
            <a:ext cx="1185715" cy="188496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Engage</a:t>
            </a:r>
          </a:p>
        </p:txBody>
      </p:sp>
      <p:sp>
        <p:nvSpPr>
          <p:cNvPr id="131" name="Chevron 130">
            <a:extLst>
              <a:ext uri="{FF2B5EF4-FFF2-40B4-BE49-F238E27FC236}">
                <a16:creationId xmlns:a16="http://schemas.microsoft.com/office/drawing/2014/main" id="{C2E0AF24-169E-8D40-BB76-A3B088D352F6}"/>
              </a:ext>
            </a:extLst>
          </p:cNvPr>
          <p:cNvSpPr/>
          <p:nvPr/>
        </p:nvSpPr>
        <p:spPr>
          <a:xfrm>
            <a:off x="2389341" y="2171109"/>
            <a:ext cx="1179738" cy="188496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Retain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9C5B9A96-2834-0444-8A68-C71FD6FF6777}"/>
              </a:ext>
            </a:extLst>
          </p:cNvPr>
          <p:cNvSpPr/>
          <p:nvPr/>
        </p:nvSpPr>
        <p:spPr>
          <a:xfrm>
            <a:off x="75527" y="2423150"/>
            <a:ext cx="1147611" cy="649797"/>
          </a:xfrm>
          <a:prstGeom prst="roundRect">
            <a:avLst/>
          </a:prstGeom>
          <a:noFill/>
          <a:ln>
            <a:solidFill>
              <a:srgbClr val="7D38B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In-App trigger, SM marketing, </a:t>
            </a:r>
          </a:p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personalization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C5767A3F-CC06-6E44-8870-0DD1DE9FCD99}"/>
              </a:ext>
            </a:extLst>
          </p:cNvPr>
          <p:cNvSpPr/>
          <p:nvPr/>
        </p:nvSpPr>
        <p:spPr>
          <a:xfrm>
            <a:off x="1272169" y="2423149"/>
            <a:ext cx="1147611" cy="649797"/>
          </a:xfrm>
          <a:prstGeom prst="roundRect">
            <a:avLst/>
          </a:prstGeom>
          <a:noFill/>
          <a:ln>
            <a:solidFill>
              <a:srgbClr val="7D38B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E-comm, direct &amp; social media messaging</a:t>
            </a:r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86C553BF-4A15-8B47-8FB2-B60A3AFDA0A9}"/>
              </a:ext>
            </a:extLst>
          </p:cNvPr>
          <p:cNvSpPr/>
          <p:nvPr/>
        </p:nvSpPr>
        <p:spPr>
          <a:xfrm>
            <a:off x="2467919" y="2423149"/>
            <a:ext cx="1147611" cy="649797"/>
          </a:xfrm>
          <a:prstGeom prst="roundRect">
            <a:avLst/>
          </a:prstGeom>
          <a:noFill/>
          <a:ln>
            <a:solidFill>
              <a:srgbClr val="7D38B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Rewards via </a:t>
            </a:r>
            <a:r>
              <a:rPr lang="en-US" sz="1100" err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EcoPoints</a:t>
            </a:r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tie into other SM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1464D2A-7AD9-6B47-9375-274E7D3B7C30}"/>
              </a:ext>
            </a:extLst>
          </p:cNvPr>
          <p:cNvGrpSpPr/>
          <p:nvPr/>
        </p:nvGrpSpPr>
        <p:grpSpPr>
          <a:xfrm>
            <a:off x="107191" y="3498896"/>
            <a:ext cx="1122390" cy="857801"/>
            <a:chOff x="2287967" y="1540213"/>
            <a:chExt cx="3756041" cy="2734032"/>
          </a:xfrm>
        </p:grpSpPr>
        <p:sp>
          <p:nvSpPr>
            <p:cNvPr id="139" name="Freeform 6">
              <a:extLst>
                <a:ext uri="{FF2B5EF4-FFF2-40B4-BE49-F238E27FC236}">
                  <a16:creationId xmlns:a16="http://schemas.microsoft.com/office/drawing/2014/main" id="{9AFC86ED-12AF-CE42-BB41-1426D29C5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765" y="1540213"/>
              <a:ext cx="1164444" cy="847195"/>
            </a:xfrm>
            <a:custGeom>
              <a:avLst/>
              <a:gdLst>
                <a:gd name="T0" fmla="*/ 492 w 984"/>
                <a:gd name="T1" fmla="*/ 0 h 854"/>
                <a:gd name="T2" fmla="*/ 0 w 984"/>
                <a:gd name="T3" fmla="*/ 854 h 854"/>
                <a:gd name="T4" fmla="*/ 984 w 984"/>
                <a:gd name="T5" fmla="*/ 854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4" h="854">
                  <a:moveTo>
                    <a:pt x="492" y="0"/>
                  </a:moveTo>
                  <a:lnTo>
                    <a:pt x="0" y="854"/>
                  </a:lnTo>
                  <a:lnTo>
                    <a:pt x="984" y="854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5760" rIns="0" bIns="0" rtlCol="0" anchor="ctr"/>
            <a:lstStyle/>
            <a:p>
              <a:pPr algn="ctr">
                <a:lnSpc>
                  <a:spcPct val="95000"/>
                </a:lnSpc>
              </a:pPr>
              <a:endParaRPr lang="en-US" sz="120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0" name="Freeform 7">
              <a:extLst>
                <a:ext uri="{FF2B5EF4-FFF2-40B4-BE49-F238E27FC236}">
                  <a16:creationId xmlns:a16="http://schemas.microsoft.com/office/drawing/2014/main" id="{1492BF4D-B6E0-DD47-938D-CEC240A0B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459" y="2481644"/>
              <a:ext cx="2460242" cy="854139"/>
            </a:xfrm>
            <a:custGeom>
              <a:avLst/>
              <a:gdLst>
                <a:gd name="T0" fmla="*/ 0 w 2079"/>
                <a:gd name="T1" fmla="*/ 861 h 861"/>
                <a:gd name="T2" fmla="*/ 2079 w 2079"/>
                <a:gd name="T3" fmla="*/ 861 h 861"/>
                <a:gd name="T4" fmla="*/ 1587 w 2079"/>
                <a:gd name="T5" fmla="*/ 0 h 861"/>
                <a:gd name="T6" fmla="*/ 492 w 2079"/>
                <a:gd name="T7" fmla="*/ 0 h 861"/>
                <a:gd name="T8" fmla="*/ 0 w 2079"/>
                <a:gd name="T9" fmla="*/ 861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9" h="861">
                  <a:moveTo>
                    <a:pt x="0" y="861"/>
                  </a:moveTo>
                  <a:lnTo>
                    <a:pt x="2079" y="861"/>
                  </a:lnTo>
                  <a:lnTo>
                    <a:pt x="1587" y="0"/>
                  </a:lnTo>
                  <a:lnTo>
                    <a:pt x="492" y="0"/>
                  </a:lnTo>
                  <a:lnTo>
                    <a:pt x="0" y="86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5000"/>
                </a:lnSpc>
              </a:pPr>
              <a:endParaRPr lang="en-US" sz="120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1" name="Freeform 8">
              <a:extLst>
                <a:ext uri="{FF2B5EF4-FFF2-40B4-BE49-F238E27FC236}">
                  <a16:creationId xmlns:a16="http://schemas.microsoft.com/office/drawing/2014/main" id="{9DD226AE-AAC9-874B-957B-58CF6C4C8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967" y="3429034"/>
              <a:ext cx="3756041" cy="845211"/>
            </a:xfrm>
            <a:custGeom>
              <a:avLst/>
              <a:gdLst>
                <a:gd name="T0" fmla="*/ 246 w 3174"/>
                <a:gd name="T1" fmla="*/ 426 h 852"/>
                <a:gd name="T2" fmla="*/ 0 w 3174"/>
                <a:gd name="T3" fmla="*/ 852 h 852"/>
                <a:gd name="T4" fmla="*/ 3174 w 3174"/>
                <a:gd name="T5" fmla="*/ 852 h 852"/>
                <a:gd name="T6" fmla="*/ 2928 w 3174"/>
                <a:gd name="T7" fmla="*/ 426 h 852"/>
                <a:gd name="T8" fmla="*/ 2682 w 3174"/>
                <a:gd name="T9" fmla="*/ 0 h 852"/>
                <a:gd name="T10" fmla="*/ 492 w 3174"/>
                <a:gd name="T11" fmla="*/ 0 h 852"/>
                <a:gd name="T12" fmla="*/ 246 w 3174"/>
                <a:gd name="T13" fmla="*/ 426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74" h="852">
                  <a:moveTo>
                    <a:pt x="246" y="426"/>
                  </a:moveTo>
                  <a:lnTo>
                    <a:pt x="0" y="852"/>
                  </a:lnTo>
                  <a:lnTo>
                    <a:pt x="3174" y="852"/>
                  </a:lnTo>
                  <a:lnTo>
                    <a:pt x="2928" y="426"/>
                  </a:lnTo>
                  <a:lnTo>
                    <a:pt x="2682" y="0"/>
                  </a:lnTo>
                  <a:lnTo>
                    <a:pt x="492" y="0"/>
                  </a:lnTo>
                  <a:lnTo>
                    <a:pt x="246" y="42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5000"/>
                </a:lnSpc>
              </a:pPr>
              <a:endParaRPr lang="en-US" sz="120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44" name="Graphic 143" descr="Coins">
            <a:extLst>
              <a:ext uri="{FF2B5EF4-FFF2-40B4-BE49-F238E27FC236}">
                <a16:creationId xmlns:a16="http://schemas.microsoft.com/office/drawing/2014/main" id="{8D49B0BD-9EA8-9849-B9AD-F1FE522EF9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2571" y="4082518"/>
            <a:ext cx="279921" cy="279921"/>
          </a:xfrm>
          <a:prstGeom prst="rect">
            <a:avLst/>
          </a:prstGeom>
        </p:spPr>
      </p:pic>
      <p:pic>
        <p:nvPicPr>
          <p:cNvPr id="146" name="Graphic 145" descr="Children">
            <a:extLst>
              <a:ext uri="{FF2B5EF4-FFF2-40B4-BE49-F238E27FC236}">
                <a16:creationId xmlns:a16="http://schemas.microsoft.com/office/drawing/2014/main" id="{11BE6DF5-82B4-EE48-B3E1-64163EA5F7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4059" y="3805690"/>
            <a:ext cx="259715" cy="259715"/>
          </a:xfrm>
          <a:prstGeom prst="rect">
            <a:avLst/>
          </a:prstGeom>
        </p:spPr>
      </p:pic>
      <p:pic>
        <p:nvPicPr>
          <p:cNvPr id="148" name="Graphic 147" descr="Sustainability">
            <a:extLst>
              <a:ext uri="{FF2B5EF4-FFF2-40B4-BE49-F238E27FC236}">
                <a16:creationId xmlns:a16="http://schemas.microsoft.com/office/drawing/2014/main" id="{0C6BD2F4-24D3-8142-B0A6-1F1E19B592D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1624" y="3569087"/>
            <a:ext cx="184869" cy="184869"/>
          </a:xfrm>
          <a:prstGeom prst="rect">
            <a:avLst/>
          </a:prstGeom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A567D2D-38DF-314F-A3D5-93F03CB4B05E}"/>
              </a:ext>
            </a:extLst>
          </p:cNvPr>
          <p:cNvCxnSpPr>
            <a:cxnSpLocks/>
          </p:cNvCxnSpPr>
          <p:nvPr/>
        </p:nvCxnSpPr>
        <p:spPr>
          <a:xfrm flipH="1">
            <a:off x="793774" y="3644955"/>
            <a:ext cx="310638" cy="0"/>
          </a:xfrm>
          <a:prstGeom prst="line">
            <a:avLst/>
          </a:prstGeom>
          <a:ln w="9525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27EA17A1-F985-5D4C-8CC0-BDBEDEBA1F1B}"/>
              </a:ext>
            </a:extLst>
          </p:cNvPr>
          <p:cNvCxnSpPr>
            <a:cxnSpLocks/>
          </p:cNvCxnSpPr>
          <p:nvPr/>
        </p:nvCxnSpPr>
        <p:spPr>
          <a:xfrm flipH="1">
            <a:off x="950604" y="3927795"/>
            <a:ext cx="310638" cy="0"/>
          </a:xfrm>
          <a:prstGeom prst="line">
            <a:avLst/>
          </a:prstGeom>
          <a:ln w="9525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6240CD0-A1C6-2B46-B37B-5D911A36B46E}"/>
              </a:ext>
            </a:extLst>
          </p:cNvPr>
          <p:cNvCxnSpPr>
            <a:cxnSpLocks/>
          </p:cNvCxnSpPr>
          <p:nvPr/>
        </p:nvCxnSpPr>
        <p:spPr>
          <a:xfrm flipH="1">
            <a:off x="1116850" y="4210964"/>
            <a:ext cx="310638" cy="0"/>
          </a:xfrm>
          <a:prstGeom prst="line">
            <a:avLst/>
          </a:prstGeom>
          <a:ln w="9525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093E097C-060F-C346-8A11-D5AF8A1BBFB5}"/>
              </a:ext>
            </a:extLst>
          </p:cNvPr>
          <p:cNvSpPr txBox="1"/>
          <p:nvPr/>
        </p:nvSpPr>
        <p:spPr>
          <a:xfrm>
            <a:off x="1178878" y="3505066"/>
            <a:ext cx="2094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Environmental: ESG Champion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A50F0C8-D5A1-4549-BB34-1616322F84EE}"/>
              </a:ext>
            </a:extLst>
          </p:cNvPr>
          <p:cNvSpPr txBox="1"/>
          <p:nvPr/>
        </p:nvSpPr>
        <p:spPr>
          <a:xfrm>
            <a:off x="1257347" y="3786477"/>
            <a:ext cx="2173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Social: Validation from peer-set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74F7FEB-B66F-5B41-9789-667288D1DCEE}"/>
              </a:ext>
            </a:extLst>
          </p:cNvPr>
          <p:cNvSpPr txBox="1"/>
          <p:nvPr/>
        </p:nvSpPr>
        <p:spPr>
          <a:xfrm>
            <a:off x="1400001" y="4069563"/>
            <a:ext cx="2094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Economic: Additional revenue stream</a:t>
            </a:r>
          </a:p>
        </p:txBody>
      </p:sp>
      <p:sp>
        <p:nvSpPr>
          <p:cNvPr id="167" name="label">
            <a:extLst>
              <a:ext uri="{FF2B5EF4-FFF2-40B4-BE49-F238E27FC236}">
                <a16:creationId xmlns:a16="http://schemas.microsoft.com/office/drawing/2014/main" id="{02B625D1-658A-3B49-AB9C-0E49148E1B5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46307" y="3680568"/>
            <a:ext cx="1025636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>
              <a:buSzPts val="1200"/>
            </a:pP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B2ECE89-BDBE-8F42-8526-893B3BC2EFF6}"/>
              </a:ext>
            </a:extLst>
          </p:cNvPr>
          <p:cNvGrpSpPr/>
          <p:nvPr/>
        </p:nvGrpSpPr>
        <p:grpSpPr>
          <a:xfrm rot="5400000">
            <a:off x="6206418" y="4307088"/>
            <a:ext cx="126337" cy="134219"/>
            <a:chOff x="7812684" y="2660359"/>
            <a:chExt cx="306171" cy="306910"/>
          </a:xfrm>
        </p:grpSpPr>
        <p:sp>
          <p:nvSpPr>
            <p:cNvPr id="196" name="Freeform 94">
              <a:extLst>
                <a:ext uri="{FF2B5EF4-FFF2-40B4-BE49-F238E27FC236}">
                  <a16:creationId xmlns:a16="http://schemas.microsoft.com/office/drawing/2014/main" id="{74BCCD8B-6957-9F4A-BABE-FD0FEC427A9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7" name="Freeform 95">
              <a:extLst>
                <a:ext uri="{FF2B5EF4-FFF2-40B4-BE49-F238E27FC236}">
                  <a16:creationId xmlns:a16="http://schemas.microsoft.com/office/drawing/2014/main" id="{08494416-22C5-354E-A7B0-3159A3976761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119E6C7F-488E-B14E-86DB-DE41721FF93C}"/>
              </a:ext>
            </a:extLst>
          </p:cNvPr>
          <p:cNvSpPr txBox="1"/>
          <p:nvPr/>
        </p:nvSpPr>
        <p:spPr>
          <a:xfrm>
            <a:off x="4387911" y="4754314"/>
            <a:ext cx="908820" cy="18408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Accessibility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6688BF5-2D71-A94B-B671-83F64F97EDC9}"/>
              </a:ext>
            </a:extLst>
          </p:cNvPr>
          <p:cNvSpPr txBox="1"/>
          <p:nvPr/>
        </p:nvSpPr>
        <p:spPr>
          <a:xfrm>
            <a:off x="5821699" y="4758863"/>
            <a:ext cx="908820" cy="18408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Transparency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1BA6569-D206-D145-8525-D81D013855E5}"/>
              </a:ext>
            </a:extLst>
          </p:cNvPr>
          <p:cNvSpPr txBox="1"/>
          <p:nvPr/>
        </p:nvSpPr>
        <p:spPr>
          <a:xfrm>
            <a:off x="7340619" y="4770078"/>
            <a:ext cx="908820" cy="18408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267232C-1638-AD4D-A941-52308D369ED5}"/>
              </a:ext>
            </a:extLst>
          </p:cNvPr>
          <p:cNvSpPr txBox="1"/>
          <p:nvPr/>
        </p:nvSpPr>
        <p:spPr>
          <a:xfrm>
            <a:off x="3835235" y="5072043"/>
            <a:ext cx="1724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Aggregation of multiple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ecomm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players through an intuitive UI format 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09B7A2C-630E-C14D-9FDA-19C184CB0463}"/>
              </a:ext>
            </a:extLst>
          </p:cNvPr>
          <p:cNvSpPr txBox="1"/>
          <p:nvPr/>
        </p:nvSpPr>
        <p:spPr>
          <a:xfrm>
            <a:off x="5575813" y="4988790"/>
            <a:ext cx="1511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Providing maximum visibility &amp; ownership of delivery channels to the consumer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6E54B56-C244-234B-A312-CE5D841A7BDB}"/>
              </a:ext>
            </a:extLst>
          </p:cNvPr>
          <p:cNvSpPr txBox="1"/>
          <p:nvPr/>
        </p:nvSpPr>
        <p:spPr>
          <a:xfrm>
            <a:off x="7141990" y="5041755"/>
            <a:ext cx="1581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Introducing trust as the core driver for ecosystem scalability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7F2F44-B339-6C44-A322-CE92F573501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900" b="89968" l="10000" r="90000">
                        <a14:foregroundMark x1="26581" y1="33414" x2="31613" y2="26861"/>
                        <a14:foregroundMark x1="31613" y1="26861" x2="41484" y2="22735"/>
                        <a14:foregroundMark x1="41484" y1="22735" x2="52774" y2="24029"/>
                        <a14:foregroundMark x1="52774" y1="24029" x2="62645" y2="31068"/>
                        <a14:foregroundMark x1="62645" y1="31068" x2="67548" y2="41100"/>
                        <a14:foregroundMark x1="67548" y1="41100" x2="68645" y2="53155"/>
                        <a14:foregroundMark x1="68645" y1="53155" x2="65097" y2="63916"/>
                        <a14:foregroundMark x1="65097" y1="63916" x2="60774" y2="70793"/>
                        <a14:foregroundMark x1="60774" y1="70793" x2="51871" y2="78317"/>
                        <a14:foregroundMark x1="51871" y1="78317" x2="38129" y2="81796"/>
                        <a14:foregroundMark x1="38129" y1="81796" x2="32194" y2="80178"/>
                        <a14:foregroundMark x1="32194" y1="80178" x2="30839" y2="66748"/>
                        <a14:foregroundMark x1="30839" y1="66748" x2="35161" y2="34061"/>
                        <a14:foregroundMark x1="35161" y1="34061" x2="27161" y2="32201"/>
                        <a14:foregroundMark x1="27161" y1="32201" x2="28323" y2="39401"/>
                        <a14:foregroundMark x1="28323" y1="39401" x2="53548" y2="50809"/>
                        <a14:foregroundMark x1="53548" y1="50809" x2="59742" y2="48544"/>
                        <a14:foregroundMark x1="59742" y1="48544" x2="64129" y2="42233"/>
                        <a14:foregroundMark x1="64129" y1="42233" x2="71548" y2="47896"/>
                        <a14:foregroundMark x1="71548" y1="47896" x2="69548" y2="58981"/>
                        <a14:foregroundMark x1="40774" y1="14159" x2="54710" y2="67718"/>
                        <a14:foregroundMark x1="54710" y1="67718" x2="67161" y2="85275"/>
                        <a14:foregroundMark x1="62000" y1="19903" x2="39290" y2="79288"/>
                        <a14:foregroundMark x1="39290" y1="79288" x2="39484" y2="79207"/>
                        <a14:foregroundMark x1="28839" y1="53479" x2="81806" y2="57201"/>
                        <a14:foregroundMark x1="21871" y1="44175" x2="27226" y2="63835"/>
                        <a14:foregroundMark x1="79290" y1="45146" x2="73419" y2="81230"/>
                        <a14:foregroundMark x1="53419" y1="8900" x2="57548" y2="9466"/>
                        <a14:foregroundMark x1="56452" y1="40939" x2="56452" y2="63592"/>
                        <a14:foregroundMark x1="33548" y1="76537" x2="37032" y2="74110"/>
                        <a14:foregroundMark x1="30774" y1="42961" x2="24323" y2="42718"/>
                        <a14:foregroundMark x1="23161" y1="38916" x2="23161" y2="38916"/>
                        <a14:foregroundMark x1="23355" y1="38754" x2="29226" y2="41748"/>
                        <a14:foregroundMark x1="29226" y1="41748" x2="33806" y2="41990"/>
                        <a14:foregroundMark x1="66645" y1="43932" x2="69871" y2="419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9963" y="1979854"/>
            <a:ext cx="2029952" cy="1618723"/>
          </a:xfrm>
          <a:prstGeom prst="rect">
            <a:avLst/>
          </a:prstGeom>
        </p:spPr>
      </p:pic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7D5A8E8D-5EDB-5C43-AED0-79EB0FA74FF5}"/>
              </a:ext>
            </a:extLst>
          </p:cNvPr>
          <p:cNvSpPr/>
          <p:nvPr/>
        </p:nvSpPr>
        <p:spPr>
          <a:xfrm>
            <a:off x="9110176" y="4408692"/>
            <a:ext cx="2927099" cy="442434"/>
          </a:xfrm>
          <a:prstGeom prst="roundRect">
            <a:avLst/>
          </a:prstGeom>
          <a:solidFill>
            <a:srgbClr val="084AE7">
              <a:alpha val="63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Animated Purpose: Aggregation of </a:t>
            </a:r>
            <a:r>
              <a:rPr lang="en-IN" sz="120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ecomm</a:t>
            </a:r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players in a novel P2P ecosystem</a:t>
            </a:r>
            <a:endParaRPr lang="en-US" sz="11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61017FCA-A92C-F243-B7EB-3A2ADE9A42BA}"/>
              </a:ext>
            </a:extLst>
          </p:cNvPr>
          <p:cNvSpPr/>
          <p:nvPr/>
        </p:nvSpPr>
        <p:spPr>
          <a:xfrm>
            <a:off x="9089055" y="4950527"/>
            <a:ext cx="2927099" cy="441007"/>
          </a:xfrm>
          <a:prstGeom prst="roundRect">
            <a:avLst/>
          </a:prstGeom>
          <a:solidFill>
            <a:srgbClr val="05B471">
              <a:alpha val="54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Planetary Considerations: Significant carbon emission, traffic  reduction with P2P</a:t>
            </a:r>
            <a:endParaRPr lang="en-US" sz="12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41088B-5D1E-BC4D-ABAF-1A0E1FF5695A}"/>
              </a:ext>
            </a:extLst>
          </p:cNvPr>
          <p:cNvSpPr/>
          <p:nvPr/>
        </p:nvSpPr>
        <p:spPr>
          <a:xfrm>
            <a:off x="10481367" y="2166348"/>
            <a:ext cx="17840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Sustainability DNA  assessment shows that the P2P ecosystem furthers a sustainable supply chain effort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Text Placeholder 1">
            <a:extLst>
              <a:ext uri="{FF2B5EF4-FFF2-40B4-BE49-F238E27FC236}">
                <a16:creationId xmlns:a16="http://schemas.microsoft.com/office/drawing/2014/main" id="{1294205C-9370-544A-899D-6E26C84BE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378" y="102548"/>
            <a:ext cx="11170591" cy="442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Redefining last-mile delivery with a P2P social ecosystem approach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8C01EDD-FD48-204E-B4FD-B8FF17C5FD75}"/>
              </a:ext>
            </a:extLst>
          </p:cNvPr>
          <p:cNvSpPr/>
          <p:nvPr/>
        </p:nvSpPr>
        <p:spPr>
          <a:xfrm>
            <a:off x="8921318" y="618065"/>
            <a:ext cx="3210267" cy="12787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470054E-B5F0-EC47-9E24-5449FBE72B72}"/>
              </a:ext>
            </a:extLst>
          </p:cNvPr>
          <p:cNvSpPr txBox="1"/>
          <p:nvPr/>
        </p:nvSpPr>
        <p:spPr>
          <a:xfrm>
            <a:off x="9157349" y="529830"/>
            <a:ext cx="2879925" cy="26662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ctr" defTabSz="190492">
              <a:spcAft>
                <a:spcPts val="1000"/>
              </a:spcAft>
            </a:pPr>
            <a:r>
              <a:rPr lang="en-US" sz="1167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 we onboard &amp; track our buddies?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AFF0EFA-EFB5-8B49-B957-610B37E6FD91}"/>
              </a:ext>
            </a:extLst>
          </p:cNvPr>
          <p:cNvGrpSpPr/>
          <p:nvPr/>
        </p:nvGrpSpPr>
        <p:grpSpPr>
          <a:xfrm>
            <a:off x="9019980" y="748786"/>
            <a:ext cx="1388952" cy="1101882"/>
            <a:chOff x="629999" y="2466974"/>
            <a:chExt cx="4416552" cy="3474544"/>
          </a:xfrm>
        </p:grpSpPr>
        <p:sp>
          <p:nvSpPr>
            <p:cNvPr id="145" name="Freeform 13">
              <a:extLst>
                <a:ext uri="{FF2B5EF4-FFF2-40B4-BE49-F238E27FC236}">
                  <a16:creationId xmlns:a16="http://schemas.microsoft.com/office/drawing/2014/main" id="{6F0A6D5B-A398-2840-85CF-2C2AE15DE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330" y="4857499"/>
              <a:ext cx="1969224" cy="1084019"/>
            </a:xfrm>
            <a:custGeom>
              <a:avLst/>
              <a:gdLst>
                <a:gd name="T0" fmla="*/ 883 w 1738"/>
                <a:gd name="T1" fmla="*/ 956 h 956"/>
                <a:gd name="T2" fmla="*/ 0 w 1738"/>
                <a:gd name="T3" fmla="*/ 669 h 956"/>
                <a:gd name="T4" fmla="*/ 46 w 1738"/>
                <a:gd name="T5" fmla="*/ 166 h 956"/>
                <a:gd name="T6" fmla="*/ 483 w 1738"/>
                <a:gd name="T7" fmla="*/ 0 h 956"/>
                <a:gd name="T8" fmla="*/ 660 w 1738"/>
                <a:gd name="T9" fmla="*/ 91 h 956"/>
                <a:gd name="T10" fmla="*/ 883 w 1738"/>
                <a:gd name="T11" fmla="*/ 126 h 956"/>
                <a:gd name="T12" fmla="*/ 1106 w 1738"/>
                <a:gd name="T13" fmla="*/ 91 h 956"/>
                <a:gd name="T14" fmla="*/ 1248 w 1738"/>
                <a:gd name="T15" fmla="*/ 24 h 956"/>
                <a:gd name="T16" fmla="*/ 1263 w 1738"/>
                <a:gd name="T17" fmla="*/ 468 h 956"/>
                <a:gd name="T18" fmla="*/ 1738 w 1738"/>
                <a:gd name="T19" fmla="*/ 690 h 956"/>
                <a:gd name="T20" fmla="*/ 883 w 1738"/>
                <a:gd name="T21" fmla="*/ 956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8" h="956">
                  <a:moveTo>
                    <a:pt x="883" y="956"/>
                  </a:moveTo>
                  <a:cubicBezTo>
                    <a:pt x="567" y="956"/>
                    <a:pt x="263" y="857"/>
                    <a:pt x="0" y="669"/>
                  </a:cubicBezTo>
                  <a:cubicBezTo>
                    <a:pt x="46" y="166"/>
                    <a:pt x="46" y="166"/>
                    <a:pt x="46" y="166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539" y="39"/>
                    <a:pt x="600" y="70"/>
                    <a:pt x="660" y="91"/>
                  </a:cubicBezTo>
                  <a:cubicBezTo>
                    <a:pt x="731" y="114"/>
                    <a:pt x="806" y="126"/>
                    <a:pt x="883" y="126"/>
                  </a:cubicBezTo>
                  <a:cubicBezTo>
                    <a:pt x="961" y="126"/>
                    <a:pt x="1036" y="114"/>
                    <a:pt x="1106" y="91"/>
                  </a:cubicBezTo>
                  <a:cubicBezTo>
                    <a:pt x="1154" y="75"/>
                    <a:pt x="1201" y="53"/>
                    <a:pt x="1248" y="24"/>
                  </a:cubicBezTo>
                  <a:cubicBezTo>
                    <a:pt x="1263" y="468"/>
                    <a:pt x="1263" y="468"/>
                    <a:pt x="1263" y="468"/>
                  </a:cubicBezTo>
                  <a:cubicBezTo>
                    <a:pt x="1738" y="690"/>
                    <a:pt x="1738" y="690"/>
                    <a:pt x="1738" y="690"/>
                  </a:cubicBezTo>
                  <a:cubicBezTo>
                    <a:pt x="1480" y="864"/>
                    <a:pt x="1186" y="956"/>
                    <a:pt x="883" y="956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7" name="Freeform 14">
              <a:extLst>
                <a:ext uri="{FF2B5EF4-FFF2-40B4-BE49-F238E27FC236}">
                  <a16:creationId xmlns:a16="http://schemas.microsoft.com/office/drawing/2014/main" id="{35CBE31F-1816-C64A-9F62-5C5A8809E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450" y="3721407"/>
              <a:ext cx="1278101" cy="1869815"/>
            </a:xfrm>
            <a:custGeom>
              <a:avLst/>
              <a:gdLst>
                <a:gd name="T0" fmla="*/ 14 w 1128"/>
                <a:gd name="T1" fmla="*/ 1430 h 1651"/>
                <a:gd name="T2" fmla="*/ 0 w 1128"/>
                <a:gd name="T3" fmla="*/ 983 h 1651"/>
                <a:gd name="T4" fmla="*/ 197 w 1128"/>
                <a:gd name="T5" fmla="*/ 750 h 1651"/>
                <a:gd name="T6" fmla="*/ 274 w 1128"/>
                <a:gd name="T7" fmla="*/ 425 h 1651"/>
                <a:gd name="T8" fmla="*/ 265 w 1128"/>
                <a:gd name="T9" fmla="*/ 312 h 1651"/>
                <a:gd name="T10" fmla="*/ 255 w 1128"/>
                <a:gd name="T11" fmla="*/ 260 h 1651"/>
                <a:gd name="T12" fmla="*/ 673 w 1128"/>
                <a:gd name="T13" fmla="*/ 362 h 1651"/>
                <a:gd name="T14" fmla="*/ 1041 w 1128"/>
                <a:gd name="T15" fmla="*/ 0 h 1651"/>
                <a:gd name="T16" fmla="*/ 1029 w 1128"/>
                <a:gd name="T17" fmla="*/ 896 h 1651"/>
                <a:gd name="T18" fmla="*/ 485 w 1128"/>
                <a:gd name="T19" fmla="*/ 1651 h 1651"/>
                <a:gd name="T20" fmla="*/ 14 w 1128"/>
                <a:gd name="T21" fmla="*/ 1430 h 1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8" h="1651">
                  <a:moveTo>
                    <a:pt x="14" y="1430"/>
                  </a:moveTo>
                  <a:cubicBezTo>
                    <a:pt x="0" y="983"/>
                    <a:pt x="0" y="983"/>
                    <a:pt x="0" y="983"/>
                  </a:cubicBezTo>
                  <a:cubicBezTo>
                    <a:pt x="80" y="921"/>
                    <a:pt x="148" y="841"/>
                    <a:pt x="197" y="750"/>
                  </a:cubicBezTo>
                  <a:cubicBezTo>
                    <a:pt x="247" y="650"/>
                    <a:pt x="274" y="538"/>
                    <a:pt x="274" y="425"/>
                  </a:cubicBezTo>
                  <a:cubicBezTo>
                    <a:pt x="274" y="383"/>
                    <a:pt x="271" y="346"/>
                    <a:pt x="265" y="312"/>
                  </a:cubicBezTo>
                  <a:cubicBezTo>
                    <a:pt x="262" y="295"/>
                    <a:pt x="259" y="278"/>
                    <a:pt x="255" y="260"/>
                  </a:cubicBezTo>
                  <a:cubicBezTo>
                    <a:pt x="673" y="362"/>
                    <a:pt x="673" y="362"/>
                    <a:pt x="673" y="362"/>
                  </a:cubicBezTo>
                  <a:cubicBezTo>
                    <a:pt x="1041" y="0"/>
                    <a:pt x="1041" y="0"/>
                    <a:pt x="1041" y="0"/>
                  </a:cubicBezTo>
                  <a:cubicBezTo>
                    <a:pt x="1128" y="299"/>
                    <a:pt x="1124" y="608"/>
                    <a:pt x="1029" y="896"/>
                  </a:cubicBezTo>
                  <a:cubicBezTo>
                    <a:pt x="933" y="1196"/>
                    <a:pt x="745" y="1456"/>
                    <a:pt x="485" y="1651"/>
                  </a:cubicBezTo>
                  <a:lnTo>
                    <a:pt x="14" y="143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6" name="Freeform 15">
              <a:extLst>
                <a:ext uri="{FF2B5EF4-FFF2-40B4-BE49-F238E27FC236}">
                  <a16:creationId xmlns:a16="http://schemas.microsoft.com/office/drawing/2014/main" id="{0CF70E31-EBFE-264F-BEDC-C3B1E4A5E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415" y="2466974"/>
              <a:ext cx="1581059" cy="1585794"/>
            </a:xfrm>
            <a:custGeom>
              <a:avLst/>
              <a:gdLst>
                <a:gd name="T0" fmla="*/ 608 w 1395"/>
                <a:gd name="T1" fmla="*/ 1296 h 1399"/>
                <a:gd name="T2" fmla="*/ 364 w 1395"/>
                <a:gd name="T3" fmla="*/ 966 h 1399"/>
                <a:gd name="T4" fmla="*/ 1 w 1395"/>
                <a:gd name="T5" fmla="*/ 832 h 1399"/>
                <a:gd name="T6" fmla="*/ 223 w 1395"/>
                <a:gd name="T7" fmla="*/ 440 h 1399"/>
                <a:gd name="T8" fmla="*/ 0 w 1395"/>
                <a:gd name="T9" fmla="*/ 0 h 1399"/>
                <a:gd name="T10" fmla="*/ 850 w 1395"/>
                <a:gd name="T11" fmla="*/ 286 h 1399"/>
                <a:gd name="T12" fmla="*/ 1395 w 1395"/>
                <a:gd name="T13" fmla="*/ 1039 h 1399"/>
                <a:gd name="T14" fmla="*/ 1029 w 1395"/>
                <a:gd name="T15" fmla="*/ 1399 h 1399"/>
                <a:gd name="T16" fmla="*/ 608 w 1395"/>
                <a:gd name="T17" fmla="*/ 1296 h 1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5" h="1399">
                  <a:moveTo>
                    <a:pt x="608" y="1296"/>
                  </a:moveTo>
                  <a:cubicBezTo>
                    <a:pt x="561" y="1165"/>
                    <a:pt x="477" y="1052"/>
                    <a:pt x="364" y="966"/>
                  </a:cubicBezTo>
                  <a:cubicBezTo>
                    <a:pt x="255" y="888"/>
                    <a:pt x="131" y="842"/>
                    <a:pt x="1" y="832"/>
                  </a:cubicBezTo>
                  <a:cubicBezTo>
                    <a:pt x="223" y="440"/>
                    <a:pt x="223" y="440"/>
                    <a:pt x="223" y="44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12" y="10"/>
                    <a:pt x="605" y="109"/>
                    <a:pt x="850" y="286"/>
                  </a:cubicBezTo>
                  <a:cubicBezTo>
                    <a:pt x="1103" y="471"/>
                    <a:pt x="1291" y="731"/>
                    <a:pt x="1395" y="1039"/>
                  </a:cubicBezTo>
                  <a:cubicBezTo>
                    <a:pt x="1029" y="1399"/>
                    <a:pt x="1029" y="1399"/>
                    <a:pt x="1029" y="1399"/>
                  </a:cubicBezTo>
                  <a:lnTo>
                    <a:pt x="608" y="12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81D3989-2496-9A40-A742-725FD60E7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203" y="3574663"/>
              <a:ext cx="1240232" cy="1988159"/>
            </a:xfrm>
            <a:custGeom>
              <a:avLst/>
              <a:gdLst>
                <a:gd name="T0" fmla="*/ 613 w 1096"/>
                <a:gd name="T1" fmla="*/ 1759 h 1759"/>
                <a:gd name="T2" fmla="*/ 96 w 1096"/>
                <a:gd name="T3" fmla="*/ 1028 h 1759"/>
                <a:gd name="T4" fmla="*/ 97 w 1096"/>
                <a:gd name="T5" fmla="*/ 98 h 1759"/>
                <a:gd name="T6" fmla="*/ 572 w 1096"/>
                <a:gd name="T7" fmla="*/ 0 h 1759"/>
                <a:gd name="T8" fmla="*/ 883 w 1096"/>
                <a:gd name="T9" fmla="*/ 353 h 1759"/>
                <a:gd name="T10" fmla="*/ 862 w 1096"/>
                <a:gd name="T11" fmla="*/ 445 h 1759"/>
                <a:gd name="T12" fmla="*/ 853 w 1096"/>
                <a:gd name="T13" fmla="*/ 556 h 1759"/>
                <a:gd name="T14" fmla="*/ 933 w 1096"/>
                <a:gd name="T15" fmla="*/ 881 h 1759"/>
                <a:gd name="T16" fmla="*/ 1096 w 1096"/>
                <a:gd name="T17" fmla="*/ 1089 h 1759"/>
                <a:gd name="T18" fmla="*/ 658 w 1096"/>
                <a:gd name="T19" fmla="*/ 1255 h 1759"/>
                <a:gd name="T20" fmla="*/ 613 w 1096"/>
                <a:gd name="T21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96" h="1759">
                  <a:moveTo>
                    <a:pt x="613" y="1759"/>
                  </a:moveTo>
                  <a:cubicBezTo>
                    <a:pt x="367" y="1566"/>
                    <a:pt x="189" y="1315"/>
                    <a:pt x="96" y="1028"/>
                  </a:cubicBezTo>
                  <a:cubicBezTo>
                    <a:pt x="0" y="728"/>
                    <a:pt x="0" y="407"/>
                    <a:pt x="97" y="98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883" y="353"/>
                    <a:pt x="883" y="353"/>
                    <a:pt x="883" y="353"/>
                  </a:cubicBezTo>
                  <a:cubicBezTo>
                    <a:pt x="873" y="387"/>
                    <a:pt x="866" y="416"/>
                    <a:pt x="862" y="445"/>
                  </a:cubicBezTo>
                  <a:cubicBezTo>
                    <a:pt x="856" y="474"/>
                    <a:pt x="853" y="513"/>
                    <a:pt x="853" y="556"/>
                  </a:cubicBezTo>
                  <a:cubicBezTo>
                    <a:pt x="853" y="671"/>
                    <a:pt x="881" y="784"/>
                    <a:pt x="933" y="881"/>
                  </a:cubicBezTo>
                  <a:cubicBezTo>
                    <a:pt x="973" y="959"/>
                    <a:pt x="1029" y="1030"/>
                    <a:pt x="1096" y="1089"/>
                  </a:cubicBezTo>
                  <a:cubicBezTo>
                    <a:pt x="658" y="1255"/>
                    <a:pt x="658" y="1255"/>
                    <a:pt x="658" y="1255"/>
                  </a:cubicBezTo>
                  <a:lnTo>
                    <a:pt x="613" y="175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rnd">
              <a:noFill/>
              <a:round/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Clr>
                  <a:schemeClr val="bg1"/>
                </a:buClr>
              </a:pPr>
              <a:endParaRPr lang="en-US" sz="2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1" name="Freeform 17">
              <a:extLst>
                <a:ext uri="{FF2B5EF4-FFF2-40B4-BE49-F238E27FC236}">
                  <a16:creationId xmlns:a16="http://schemas.microsoft.com/office/drawing/2014/main" id="{52962781-A8DF-374E-BA57-55412DA6F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99" y="2466974"/>
              <a:ext cx="2878096" cy="942009"/>
            </a:xfrm>
            <a:custGeom>
              <a:avLst/>
              <a:gdLst>
                <a:gd name="T0" fmla="*/ 0 w 608"/>
                <a:gd name="T1" fmla="*/ 199 h 199"/>
                <a:gd name="T2" fmla="*/ 0 w 608"/>
                <a:gd name="T3" fmla="*/ 0 h 199"/>
                <a:gd name="T4" fmla="*/ 555 w 608"/>
                <a:gd name="T5" fmla="*/ 0 h 199"/>
                <a:gd name="T6" fmla="*/ 608 w 608"/>
                <a:gd name="T7" fmla="*/ 105 h 199"/>
                <a:gd name="T8" fmla="*/ 555 w 608"/>
                <a:gd name="T9" fmla="*/ 199 h 199"/>
                <a:gd name="T10" fmla="*/ 0 w 608"/>
                <a:gd name="T11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8" h="199">
                  <a:moveTo>
                    <a:pt x="0" y="199"/>
                  </a:moveTo>
                  <a:lnTo>
                    <a:pt x="0" y="0"/>
                  </a:lnTo>
                  <a:lnTo>
                    <a:pt x="555" y="0"/>
                  </a:lnTo>
                  <a:lnTo>
                    <a:pt x="608" y="105"/>
                  </a:lnTo>
                  <a:lnTo>
                    <a:pt x="555" y="199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85" name="label">
            <a:extLst>
              <a:ext uri="{FF2B5EF4-FFF2-40B4-BE49-F238E27FC236}">
                <a16:creationId xmlns:a16="http://schemas.microsoft.com/office/drawing/2014/main" id="{3E729CEB-8EFB-B640-A1BF-6F66C77D90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21318" y="720178"/>
            <a:ext cx="1084654" cy="352953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Interest</a:t>
            </a:r>
          </a:p>
        </p:txBody>
      </p:sp>
      <p:sp>
        <p:nvSpPr>
          <p:cNvPr id="186" name="label">
            <a:extLst>
              <a:ext uri="{FF2B5EF4-FFF2-40B4-BE49-F238E27FC236}">
                <a16:creationId xmlns:a16="http://schemas.microsoft.com/office/drawing/2014/main" id="{BB666AB8-6C4B-B84D-AD92-19BCD6835050}"/>
              </a:ext>
            </a:extLst>
          </p:cNvPr>
          <p:cNvSpPr>
            <a:spLocks noChangeArrowheads="1"/>
          </p:cNvSpPr>
          <p:nvPr/>
        </p:nvSpPr>
        <p:spPr bwMode="gray">
          <a:xfrm rot="15581182">
            <a:off x="9080893" y="1221592"/>
            <a:ext cx="812993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>
              <a:buSzPts val="1200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Track</a:t>
            </a:r>
          </a:p>
        </p:txBody>
      </p:sp>
      <p:sp>
        <p:nvSpPr>
          <p:cNvPr id="187" name="label">
            <a:extLst>
              <a:ext uri="{FF2B5EF4-FFF2-40B4-BE49-F238E27FC236}">
                <a16:creationId xmlns:a16="http://schemas.microsoft.com/office/drawing/2014/main" id="{461B1FC9-8E7C-C94B-B747-F805E9F2224D}"/>
              </a:ext>
            </a:extLst>
          </p:cNvPr>
          <p:cNvSpPr>
            <a:spLocks noChangeArrowheads="1"/>
          </p:cNvSpPr>
          <p:nvPr/>
        </p:nvSpPr>
        <p:spPr bwMode="gray">
          <a:xfrm rot="2279244">
            <a:off x="9816451" y="1015064"/>
            <a:ext cx="1080193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>
              <a:buSzPts val="1200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</a:t>
            </a:r>
          </a:p>
        </p:txBody>
      </p:sp>
      <p:sp>
        <p:nvSpPr>
          <p:cNvPr id="188" name="label">
            <a:extLst>
              <a:ext uri="{FF2B5EF4-FFF2-40B4-BE49-F238E27FC236}">
                <a16:creationId xmlns:a16="http://schemas.microsoft.com/office/drawing/2014/main" id="{1C6E822D-4DCB-EC41-96E5-19472F016CB6}"/>
              </a:ext>
            </a:extLst>
          </p:cNvPr>
          <p:cNvSpPr>
            <a:spLocks noChangeArrowheads="1"/>
          </p:cNvSpPr>
          <p:nvPr/>
        </p:nvSpPr>
        <p:spPr bwMode="gray">
          <a:xfrm rot="17903962">
            <a:off x="9889545" y="1323705"/>
            <a:ext cx="652832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>
              <a:buSzPts val="1200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</a:t>
            </a:r>
          </a:p>
        </p:txBody>
      </p:sp>
      <p:sp>
        <p:nvSpPr>
          <p:cNvPr id="204" name="label">
            <a:extLst>
              <a:ext uri="{FF2B5EF4-FFF2-40B4-BE49-F238E27FC236}">
                <a16:creationId xmlns:a16="http://schemas.microsoft.com/office/drawing/2014/main" id="{93FA8128-D7EE-C24D-8B84-98D2019BE8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79999" y="1517363"/>
            <a:ext cx="652832" cy="31227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wrap="square" tIns="91440" bIns="91440" anchor="ctr">
            <a:noAutofit/>
          </a:bodyPr>
          <a:lstStyle/>
          <a:p>
            <a:pPr algn="ctr">
              <a:buSzPts val="1200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Train</a:t>
            </a:r>
          </a:p>
        </p:txBody>
      </p:sp>
      <p:pic>
        <p:nvPicPr>
          <p:cNvPr id="205" name="Graphic 204" descr="Group success">
            <a:extLst>
              <a:ext uri="{FF2B5EF4-FFF2-40B4-BE49-F238E27FC236}">
                <a16:creationId xmlns:a16="http://schemas.microsoft.com/office/drawing/2014/main" id="{A5AE4464-C1B3-7149-89D9-46D2284F3E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72795" y="1109055"/>
            <a:ext cx="352958" cy="352958"/>
          </a:xfrm>
          <a:prstGeom prst="rect">
            <a:avLst/>
          </a:prstGeom>
        </p:spPr>
      </p:pic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57730987-976A-4540-9E5D-77683893241C}"/>
              </a:ext>
            </a:extLst>
          </p:cNvPr>
          <p:cNvSpPr/>
          <p:nvPr/>
        </p:nvSpPr>
        <p:spPr>
          <a:xfrm>
            <a:off x="10459436" y="818353"/>
            <a:ext cx="1615627" cy="2158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Onboard &amp; info-capture</a:t>
            </a:r>
          </a:p>
        </p:txBody>
      </p:sp>
      <p:sp>
        <p:nvSpPr>
          <p:cNvPr id="207" name="Rounded Rectangle 206">
            <a:extLst>
              <a:ext uri="{FF2B5EF4-FFF2-40B4-BE49-F238E27FC236}">
                <a16:creationId xmlns:a16="http://schemas.microsoft.com/office/drawing/2014/main" id="{FF0C1C14-351A-B942-93E8-84881106FAC6}"/>
              </a:ext>
            </a:extLst>
          </p:cNvPr>
          <p:cNvSpPr/>
          <p:nvPr/>
        </p:nvSpPr>
        <p:spPr>
          <a:xfrm>
            <a:off x="10464433" y="1061356"/>
            <a:ext cx="1615627" cy="2158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Real-time, GPS tracking</a:t>
            </a:r>
          </a:p>
        </p:txBody>
      </p:sp>
      <p:sp>
        <p:nvSpPr>
          <p:cNvPr id="208" name="Rounded Rectangle 207">
            <a:extLst>
              <a:ext uri="{FF2B5EF4-FFF2-40B4-BE49-F238E27FC236}">
                <a16:creationId xmlns:a16="http://schemas.microsoft.com/office/drawing/2014/main" id="{F1785BC0-CA47-174B-922B-543C79771D42}"/>
              </a:ext>
            </a:extLst>
          </p:cNvPr>
          <p:cNvSpPr/>
          <p:nvPr/>
        </p:nvSpPr>
        <p:spPr>
          <a:xfrm>
            <a:off x="10459436" y="1304353"/>
            <a:ext cx="1615627" cy="2158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360 deg buddy feedback</a:t>
            </a:r>
          </a:p>
        </p:txBody>
      </p:sp>
      <p:sp>
        <p:nvSpPr>
          <p:cNvPr id="209" name="Rounded Rectangle 208">
            <a:extLst>
              <a:ext uri="{FF2B5EF4-FFF2-40B4-BE49-F238E27FC236}">
                <a16:creationId xmlns:a16="http://schemas.microsoft.com/office/drawing/2014/main" id="{F3C9E123-AF31-B14B-9B1F-EF8940B3C579}"/>
              </a:ext>
            </a:extLst>
          </p:cNvPr>
          <p:cNvSpPr/>
          <p:nvPr/>
        </p:nvSpPr>
        <p:spPr>
          <a:xfrm>
            <a:off x="10459436" y="1547275"/>
            <a:ext cx="1615627" cy="2158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KPIs (</a:t>
            </a:r>
            <a:r>
              <a:rPr lang="en-US" sz="1100" err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eg</a:t>
            </a:r>
            <a:r>
              <a:rPr lang="en-US" sz="11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% acc. delivery)</a:t>
            </a:r>
          </a:p>
        </p:txBody>
      </p: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621469CE-8E29-C342-B349-D1BD6A8FC95B}"/>
              </a:ext>
            </a:extLst>
          </p:cNvPr>
          <p:cNvSpPr/>
          <p:nvPr/>
        </p:nvSpPr>
        <p:spPr>
          <a:xfrm>
            <a:off x="86170" y="4978349"/>
            <a:ext cx="692889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Tier 1</a:t>
            </a:r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A9BAEF43-1B3D-F94D-9268-7D84BB76B47F}"/>
              </a:ext>
            </a:extLst>
          </p:cNvPr>
          <p:cNvSpPr/>
          <p:nvPr/>
        </p:nvSpPr>
        <p:spPr>
          <a:xfrm>
            <a:off x="74725" y="5660403"/>
            <a:ext cx="692889" cy="1725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Tier 2</a:t>
            </a:r>
          </a:p>
        </p:txBody>
      </p:sp>
      <p:sp>
        <p:nvSpPr>
          <p:cNvPr id="213" name="Rounded Rectangle 212">
            <a:extLst>
              <a:ext uri="{FF2B5EF4-FFF2-40B4-BE49-F238E27FC236}">
                <a16:creationId xmlns:a16="http://schemas.microsoft.com/office/drawing/2014/main" id="{5BA84EFF-D44D-4C4C-992D-8C4FE132B48C}"/>
              </a:ext>
            </a:extLst>
          </p:cNvPr>
          <p:cNvSpPr/>
          <p:nvPr/>
        </p:nvSpPr>
        <p:spPr>
          <a:xfrm>
            <a:off x="833232" y="4965637"/>
            <a:ext cx="996832" cy="1725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Offices</a:t>
            </a:r>
          </a:p>
        </p:txBody>
      </p:sp>
      <p:sp>
        <p:nvSpPr>
          <p:cNvPr id="214" name="Rounded Rectangle 213">
            <a:extLst>
              <a:ext uri="{FF2B5EF4-FFF2-40B4-BE49-F238E27FC236}">
                <a16:creationId xmlns:a16="http://schemas.microsoft.com/office/drawing/2014/main" id="{E70052F3-1998-8043-9BBC-8AEF9A2086AD}"/>
              </a:ext>
            </a:extLst>
          </p:cNvPr>
          <p:cNvSpPr/>
          <p:nvPr/>
        </p:nvSpPr>
        <p:spPr>
          <a:xfrm>
            <a:off x="816963" y="5647691"/>
            <a:ext cx="1001656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Kirana</a:t>
            </a:r>
          </a:p>
        </p:txBody>
      </p: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06FE0D36-3044-C24B-963D-2C81A66C5719}"/>
              </a:ext>
            </a:extLst>
          </p:cNvPr>
          <p:cNvSpPr/>
          <p:nvPr/>
        </p:nvSpPr>
        <p:spPr>
          <a:xfrm>
            <a:off x="823403" y="5164231"/>
            <a:ext cx="1001656" cy="1725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Metro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Stn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1639849F-B778-114D-A1FF-CAB5F35A1B3F}"/>
              </a:ext>
            </a:extLst>
          </p:cNvPr>
          <p:cNvSpPr/>
          <p:nvPr/>
        </p:nvSpPr>
        <p:spPr>
          <a:xfrm>
            <a:off x="823403" y="5370344"/>
            <a:ext cx="1015707" cy="18774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Societies</a:t>
            </a:r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99CE71C6-4516-A24F-BABA-62DD455B25D7}"/>
              </a:ext>
            </a:extLst>
          </p:cNvPr>
          <p:cNvSpPr/>
          <p:nvPr/>
        </p:nvSpPr>
        <p:spPr>
          <a:xfrm>
            <a:off x="1938586" y="4985077"/>
            <a:ext cx="1655481" cy="179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B074E267-E8C3-5F40-8CD2-A8C19768A7E6}"/>
              </a:ext>
            </a:extLst>
          </p:cNvPr>
          <p:cNvSpPr/>
          <p:nvPr/>
        </p:nvSpPr>
        <p:spPr>
          <a:xfrm>
            <a:off x="1947153" y="5184172"/>
            <a:ext cx="1655481" cy="179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Rounded Rectangle 218">
            <a:extLst>
              <a:ext uri="{FF2B5EF4-FFF2-40B4-BE49-F238E27FC236}">
                <a16:creationId xmlns:a16="http://schemas.microsoft.com/office/drawing/2014/main" id="{1B83C010-760C-3747-8E66-0F67BED91C4A}"/>
              </a:ext>
            </a:extLst>
          </p:cNvPr>
          <p:cNvSpPr/>
          <p:nvPr/>
        </p:nvSpPr>
        <p:spPr>
          <a:xfrm>
            <a:off x="1957202" y="5383267"/>
            <a:ext cx="1655481" cy="179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AB6E7926-A660-C44F-B09B-5C4FAC007326}"/>
              </a:ext>
            </a:extLst>
          </p:cNvPr>
          <p:cNvSpPr/>
          <p:nvPr/>
        </p:nvSpPr>
        <p:spPr>
          <a:xfrm>
            <a:off x="1951732" y="5653819"/>
            <a:ext cx="1655481" cy="1791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FB3D4176-DFA8-6A42-94DD-EB36EEF0669F}"/>
              </a:ext>
            </a:extLst>
          </p:cNvPr>
          <p:cNvSpPr txBox="1"/>
          <p:nvPr/>
        </p:nvSpPr>
        <p:spPr>
          <a:xfrm>
            <a:off x="225461" y="4740898"/>
            <a:ext cx="45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City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3D99C727-2570-A24B-BF72-271CFECDABF3}"/>
              </a:ext>
            </a:extLst>
          </p:cNvPr>
          <p:cNvSpPr txBox="1"/>
          <p:nvPr/>
        </p:nvSpPr>
        <p:spPr>
          <a:xfrm>
            <a:off x="951669" y="4733500"/>
            <a:ext cx="801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2E8C7FA-A921-9A41-9AA5-AD688CC24834}"/>
              </a:ext>
            </a:extLst>
          </p:cNvPr>
          <p:cNvSpPr txBox="1"/>
          <p:nvPr/>
        </p:nvSpPr>
        <p:spPr>
          <a:xfrm>
            <a:off x="1882942" y="4723752"/>
            <a:ext cx="1614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Commission Metrics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721AB9C-1772-4145-A7DE-C7A0FDDFC78B}"/>
              </a:ext>
            </a:extLst>
          </p:cNvPr>
          <p:cNvSpPr txBox="1"/>
          <p:nvPr/>
        </p:nvSpPr>
        <p:spPr>
          <a:xfrm>
            <a:off x="1992473" y="4924129"/>
            <a:ext cx="1576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ESG Score -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EcoPoints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53D07F7-812B-FA42-AAA4-5B2557F99DF8}"/>
              </a:ext>
            </a:extLst>
          </p:cNvPr>
          <p:cNvSpPr txBox="1"/>
          <p:nvPr/>
        </p:nvSpPr>
        <p:spPr>
          <a:xfrm>
            <a:off x="2073594" y="5132025"/>
            <a:ext cx="1490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B2886DB-519F-6441-BD88-2AF794DD8781}"/>
              </a:ext>
            </a:extLst>
          </p:cNvPr>
          <p:cNvSpPr txBox="1"/>
          <p:nvPr/>
        </p:nvSpPr>
        <p:spPr>
          <a:xfrm>
            <a:off x="2087645" y="5340580"/>
            <a:ext cx="1490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Peer network scale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30C0CE8-8D0B-7F4C-9909-458161EA2FED}"/>
              </a:ext>
            </a:extLst>
          </p:cNvPr>
          <p:cNvSpPr txBox="1"/>
          <p:nvPr/>
        </p:nvSpPr>
        <p:spPr>
          <a:xfrm>
            <a:off x="2087645" y="5595475"/>
            <a:ext cx="1490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% of dist. cost</a:t>
            </a:r>
          </a:p>
        </p:txBody>
      </p:sp>
      <p:sp>
        <p:nvSpPr>
          <p:cNvPr id="10" name="Chevron 11">
            <a:extLst>
              <a:ext uri="{FF2B5EF4-FFF2-40B4-BE49-F238E27FC236}">
                <a16:creationId xmlns:a16="http://schemas.microsoft.com/office/drawing/2014/main" id="{27AACEBC-6D3A-270D-6316-F8BC54F78720}"/>
              </a:ext>
            </a:extLst>
          </p:cNvPr>
          <p:cNvSpPr/>
          <p:nvPr/>
        </p:nvSpPr>
        <p:spPr>
          <a:xfrm>
            <a:off x="2134955" y="6241611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SC Reinvention</a:t>
            </a:r>
          </a:p>
        </p:txBody>
      </p:sp>
      <p:sp>
        <p:nvSpPr>
          <p:cNvPr id="11" name="Chevron 12">
            <a:extLst>
              <a:ext uri="{FF2B5EF4-FFF2-40B4-BE49-F238E27FC236}">
                <a16:creationId xmlns:a16="http://schemas.microsoft.com/office/drawing/2014/main" id="{D8D92503-89E1-BEA3-951B-2267F2B7C77D}"/>
              </a:ext>
            </a:extLst>
          </p:cNvPr>
          <p:cNvSpPr/>
          <p:nvPr/>
        </p:nvSpPr>
        <p:spPr>
          <a:xfrm>
            <a:off x="3465614" y="6241611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20" name="Chevron 13">
            <a:extLst>
              <a:ext uri="{FF2B5EF4-FFF2-40B4-BE49-F238E27FC236}">
                <a16:creationId xmlns:a16="http://schemas.microsoft.com/office/drawing/2014/main" id="{A1957A3A-906C-81E0-9042-1821CEF9FB0D}"/>
              </a:ext>
            </a:extLst>
          </p:cNvPr>
          <p:cNvSpPr/>
          <p:nvPr/>
        </p:nvSpPr>
        <p:spPr>
          <a:xfrm>
            <a:off x="5020292" y="6241611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  <p:sp>
        <p:nvSpPr>
          <p:cNvPr id="34" name="Chevron 14">
            <a:extLst>
              <a:ext uri="{FF2B5EF4-FFF2-40B4-BE49-F238E27FC236}">
                <a16:creationId xmlns:a16="http://schemas.microsoft.com/office/drawing/2014/main" id="{9607D310-D96E-422F-99C0-06E9DCEC36BC}"/>
              </a:ext>
            </a:extLst>
          </p:cNvPr>
          <p:cNvSpPr/>
          <p:nvPr/>
        </p:nvSpPr>
        <p:spPr>
          <a:xfrm>
            <a:off x="6327570" y="6241611"/>
            <a:ext cx="1723901" cy="484632"/>
          </a:xfrm>
          <a:prstGeom prst="chevron">
            <a:avLst/>
          </a:prstGeom>
          <a:solidFill>
            <a:srgbClr val="7D38B4"/>
          </a:solidFill>
          <a:ln>
            <a:solidFill>
              <a:srgbClr val="D6B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Redefining P2P Ecosystem</a:t>
            </a:r>
          </a:p>
        </p:txBody>
      </p:sp>
      <p:sp>
        <p:nvSpPr>
          <p:cNvPr id="38" name="Chevron 15">
            <a:extLst>
              <a:ext uri="{FF2B5EF4-FFF2-40B4-BE49-F238E27FC236}">
                <a16:creationId xmlns:a16="http://schemas.microsoft.com/office/drawing/2014/main" id="{1BD343FE-AE70-2DE6-C37B-B544E0D5F705}"/>
              </a:ext>
            </a:extLst>
          </p:cNvPr>
          <p:cNvSpPr/>
          <p:nvPr/>
        </p:nvSpPr>
        <p:spPr>
          <a:xfrm>
            <a:off x="7881259" y="6241611"/>
            <a:ext cx="1332013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Win Win</a:t>
            </a:r>
          </a:p>
        </p:txBody>
      </p:sp>
      <p:sp>
        <p:nvSpPr>
          <p:cNvPr id="39" name="Chevron 16">
            <a:extLst>
              <a:ext uri="{FF2B5EF4-FFF2-40B4-BE49-F238E27FC236}">
                <a16:creationId xmlns:a16="http://schemas.microsoft.com/office/drawing/2014/main" id="{9BD06BEB-1AF8-7396-847F-36EF8F56382D}"/>
              </a:ext>
            </a:extLst>
          </p:cNvPr>
          <p:cNvSpPr/>
          <p:nvPr/>
        </p:nvSpPr>
        <p:spPr>
          <a:xfrm>
            <a:off x="831272" y="6234822"/>
            <a:ext cx="1472541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Analysis</a:t>
            </a:r>
          </a:p>
        </p:txBody>
      </p:sp>
      <p:sp>
        <p:nvSpPr>
          <p:cNvPr id="40" name="Chevron 12">
            <a:extLst>
              <a:ext uri="{FF2B5EF4-FFF2-40B4-BE49-F238E27FC236}">
                <a16:creationId xmlns:a16="http://schemas.microsoft.com/office/drawing/2014/main" id="{A2CEE02D-2843-6701-CF8B-1F4207647F3C}"/>
              </a:ext>
            </a:extLst>
          </p:cNvPr>
          <p:cNvSpPr/>
          <p:nvPr/>
        </p:nvSpPr>
        <p:spPr>
          <a:xfrm>
            <a:off x="3441246" y="6241611"/>
            <a:ext cx="1710047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41" name="Chevron 13">
            <a:extLst>
              <a:ext uri="{FF2B5EF4-FFF2-40B4-BE49-F238E27FC236}">
                <a16:creationId xmlns:a16="http://schemas.microsoft.com/office/drawing/2014/main" id="{10CA02BE-A611-E0CB-D301-AAF59CF30B63}"/>
              </a:ext>
            </a:extLst>
          </p:cNvPr>
          <p:cNvSpPr/>
          <p:nvPr/>
        </p:nvSpPr>
        <p:spPr>
          <a:xfrm>
            <a:off x="4995924" y="6241611"/>
            <a:ext cx="1472540" cy="484632"/>
          </a:xfrm>
          <a:prstGeom prst="chevron">
            <a:avLst/>
          </a:prstGeom>
          <a:solidFill>
            <a:srgbClr val="D6BA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</a:t>
            </a:r>
          </a:p>
        </p:txBody>
      </p:sp>
    </p:spTree>
    <p:extLst>
      <p:ext uri="{BB962C8B-B14F-4D97-AF65-F5344CB8AC3E}">
        <p14:creationId xmlns:p14="http://schemas.microsoft.com/office/powerpoint/2010/main" val="258020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3CE19A-D163-D672-E252-950B007F6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727" y="265122"/>
            <a:ext cx="11327981" cy="616479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0">
              <a:buNone/>
            </a:pPr>
            <a:r>
              <a:rPr lang="en-US" b="1">
                <a:latin typeface="Calibri"/>
                <a:cs typeface="Calibri"/>
              </a:rPr>
              <a:t>2-pronged approach for growth strategy involves defining the winning industry standards and expanding the horizontal and vertical boundaries </a:t>
            </a:r>
            <a:endParaRPr lang="en-US" b="1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2A4C8F7-C76B-394A-9033-84522AEFC025}"/>
              </a:ext>
            </a:extLst>
          </p:cNvPr>
          <p:cNvSpPr txBox="1">
            <a:spLocks/>
          </p:cNvSpPr>
          <p:nvPr/>
        </p:nvSpPr>
        <p:spPr>
          <a:xfrm>
            <a:off x="513292" y="685271"/>
            <a:ext cx="11170591" cy="616479"/>
          </a:xfrm>
          <a:prstGeom prst="rect">
            <a:avLst/>
          </a:prstGeom>
        </p:spPr>
        <p:txBody>
          <a:bodyPr/>
          <a:lstStyle>
            <a:lvl1pPr marL="0" indent="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7432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2960" indent="-27432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440"/>
              </a:spcAft>
              <a:buFont typeface="System Font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336" indent="0" algn="l" defTabSz="27432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440"/>
              </a:spcAft>
              <a:buFont typeface="Graphik" panose="020B0503030202060203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7432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7432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7432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440"/>
              </a:spcAft>
              <a:buFont typeface="Arial" panose="020B0604020202020204" pitchFamily="34" charset="0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67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805DA-CC8B-AA40-8F65-9B3199A7C3AB}"/>
              </a:ext>
            </a:extLst>
          </p:cNvPr>
          <p:cNvSpPr/>
          <p:nvPr/>
        </p:nvSpPr>
        <p:spPr>
          <a:xfrm>
            <a:off x="424820" y="4959536"/>
            <a:ext cx="4433339" cy="1397659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A3BDA-6792-B349-8EA6-B5A75445B772}"/>
              </a:ext>
            </a:extLst>
          </p:cNvPr>
          <p:cNvSpPr/>
          <p:nvPr/>
        </p:nvSpPr>
        <p:spPr>
          <a:xfrm>
            <a:off x="415447" y="1082449"/>
            <a:ext cx="4433339" cy="195347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5E4BA8-97A3-9F44-AE59-3ADE6E15FF82}"/>
              </a:ext>
            </a:extLst>
          </p:cNvPr>
          <p:cNvSpPr/>
          <p:nvPr/>
        </p:nvSpPr>
        <p:spPr>
          <a:xfrm>
            <a:off x="415447" y="3275729"/>
            <a:ext cx="4433339" cy="1486793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A5041E-F112-2846-8F9E-3DB86AD3E736}"/>
              </a:ext>
            </a:extLst>
          </p:cNvPr>
          <p:cNvSpPr/>
          <p:nvPr/>
        </p:nvSpPr>
        <p:spPr>
          <a:xfrm>
            <a:off x="8765514" y="1064505"/>
            <a:ext cx="2999805" cy="528683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t"/>
          <a:lstStyle/>
          <a:p>
            <a:pPr algn="ct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F91B0A-BFE6-F8DB-D2D1-710B7BE1C369}"/>
              </a:ext>
            </a:extLst>
          </p:cNvPr>
          <p:cNvSpPr/>
          <p:nvPr/>
        </p:nvSpPr>
        <p:spPr>
          <a:xfrm>
            <a:off x="5159829" y="1459506"/>
            <a:ext cx="3429000" cy="300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1. Full potential from core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4AD29A-5EBE-D74A-26B1-79618F243955}"/>
              </a:ext>
            </a:extLst>
          </p:cNvPr>
          <p:cNvSpPr/>
          <p:nvPr/>
        </p:nvSpPr>
        <p:spPr>
          <a:xfrm>
            <a:off x="5159829" y="2730863"/>
            <a:ext cx="3429000" cy="300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2. Horizontal Adjacencies in the ecosystem</a:t>
            </a:r>
          </a:p>
        </p:txBody>
      </p:sp>
      <p:grpSp>
        <p:nvGrpSpPr>
          <p:cNvPr id="5126" name="Group 5125">
            <a:extLst>
              <a:ext uri="{FF2B5EF4-FFF2-40B4-BE49-F238E27FC236}">
                <a16:creationId xmlns:a16="http://schemas.microsoft.com/office/drawing/2014/main" id="{D5BC00ED-3DED-8956-2DF3-3A5FF8028984}"/>
              </a:ext>
            </a:extLst>
          </p:cNvPr>
          <p:cNvGrpSpPr/>
          <p:nvPr/>
        </p:nvGrpSpPr>
        <p:grpSpPr>
          <a:xfrm>
            <a:off x="5159829" y="3111533"/>
            <a:ext cx="3429000" cy="1189069"/>
            <a:chOff x="5159829" y="3111533"/>
            <a:chExt cx="3429000" cy="118906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8DCDC8-FF35-2B00-73BA-766FBA94B907}"/>
                </a:ext>
              </a:extLst>
            </p:cNvPr>
            <p:cNvSpPr/>
            <p:nvPr/>
          </p:nvSpPr>
          <p:spPr>
            <a:xfrm>
              <a:off x="5159829" y="3111533"/>
              <a:ext cx="3429000" cy="300968"/>
            </a:xfrm>
            <a:prstGeom prst="rect">
              <a:avLst/>
            </a:prstGeom>
            <a:noFill/>
            <a:ln>
              <a:solidFill>
                <a:srgbClr val="C280D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Priority opportunities for horizontal expansion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887C838-A966-61AB-A49B-EC13D24E69B3}"/>
                </a:ext>
              </a:extLst>
            </p:cNvPr>
            <p:cNvGrpSpPr/>
            <p:nvPr/>
          </p:nvGrpSpPr>
          <p:grpSpPr>
            <a:xfrm>
              <a:off x="5247245" y="3406518"/>
              <a:ext cx="1182491" cy="894084"/>
              <a:chOff x="5247245" y="3465893"/>
              <a:chExt cx="1182491" cy="894084"/>
            </a:xfrm>
          </p:grpSpPr>
          <p:pic>
            <p:nvPicPr>
              <p:cNvPr id="19" name="Graphic 18" descr="Food Safety with solid fill">
                <a:extLst>
                  <a:ext uri="{FF2B5EF4-FFF2-40B4-BE49-F238E27FC236}">
                    <a16:creationId xmlns:a16="http://schemas.microsoft.com/office/drawing/2014/main" id="{1C2B0623-40D5-5250-ECAC-D5B0C571E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99607" y="3465893"/>
                <a:ext cx="618871" cy="618871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5B85B85-50C4-C11B-21F1-17C1E6EEA51F}"/>
                  </a:ext>
                </a:extLst>
              </p:cNvPr>
              <p:cNvSpPr/>
              <p:nvPr/>
            </p:nvSpPr>
            <p:spPr>
              <a:xfrm>
                <a:off x="5247245" y="4133641"/>
                <a:ext cx="1182491" cy="226336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latin typeface="Calibri" panose="020F0502020204030204" pitchFamily="34" charset="0"/>
                    <a:cs typeface="Calibri" panose="020F0502020204030204" pitchFamily="34" charset="0"/>
                  </a:rPr>
                  <a:t>Grocery Retail</a:t>
                </a:r>
                <a:endParaRPr lang="en-US" sz="12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7E2C6B9-95FC-804F-3D7F-1719DA22AD31}"/>
                  </a:ext>
                </a:extLst>
              </p:cNvPr>
              <p:cNvSpPr/>
              <p:nvPr/>
            </p:nvSpPr>
            <p:spPr>
              <a:xfrm>
                <a:off x="5271043" y="3551578"/>
                <a:ext cx="230931" cy="23093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en-US" b="1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E117EBA-BD15-2AA3-1514-2FF6C15F1F64}"/>
                </a:ext>
              </a:extLst>
            </p:cNvPr>
            <p:cNvGrpSpPr/>
            <p:nvPr/>
          </p:nvGrpSpPr>
          <p:grpSpPr>
            <a:xfrm>
              <a:off x="6354842" y="3456877"/>
              <a:ext cx="860351" cy="843076"/>
              <a:chOff x="6354842" y="3516252"/>
              <a:chExt cx="860351" cy="843076"/>
            </a:xfrm>
          </p:grpSpPr>
          <p:pic>
            <p:nvPicPr>
              <p:cNvPr id="23" name="Graphic 22" descr="Medicine with solid fill">
                <a:extLst>
                  <a:ext uri="{FF2B5EF4-FFF2-40B4-BE49-F238E27FC236}">
                    <a16:creationId xmlns:a16="http://schemas.microsoft.com/office/drawing/2014/main" id="{9ED3815D-6DF2-DF73-2263-DE8E24A391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554088" y="3516252"/>
                <a:ext cx="615185" cy="615185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033DEE9-575D-6794-315F-4D46BE814E0E}"/>
                  </a:ext>
                </a:extLst>
              </p:cNvPr>
              <p:cNvSpPr/>
              <p:nvPr/>
            </p:nvSpPr>
            <p:spPr>
              <a:xfrm>
                <a:off x="6470307" y="4132992"/>
                <a:ext cx="744886" cy="226336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latin typeface="Calibri" panose="020F0502020204030204" pitchFamily="34" charset="0"/>
                    <a:cs typeface="Calibri" panose="020F0502020204030204" pitchFamily="34" charset="0"/>
                  </a:rPr>
                  <a:t>Pharma</a:t>
                </a:r>
                <a:endParaRPr lang="en-US" sz="12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D0C080-686C-9B4A-1658-9ED1A27F94AC}"/>
                  </a:ext>
                </a:extLst>
              </p:cNvPr>
              <p:cNvSpPr/>
              <p:nvPr/>
            </p:nvSpPr>
            <p:spPr>
              <a:xfrm>
                <a:off x="6354842" y="3551578"/>
                <a:ext cx="230931" cy="23093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endParaRPr lang="en-US" b="1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C67AB33-3D2B-7AFE-F8C5-133BCB64C840}"/>
                </a:ext>
              </a:extLst>
            </p:cNvPr>
            <p:cNvGrpSpPr/>
            <p:nvPr/>
          </p:nvGrpSpPr>
          <p:grpSpPr>
            <a:xfrm>
              <a:off x="7181455" y="3422869"/>
              <a:ext cx="1404733" cy="877084"/>
              <a:chOff x="7181455" y="3482244"/>
              <a:chExt cx="1404733" cy="877084"/>
            </a:xfrm>
          </p:grpSpPr>
          <p:pic>
            <p:nvPicPr>
              <p:cNvPr id="28" name="Graphic 27" descr="Car Mechanic with solid fill">
                <a:extLst>
                  <a:ext uri="{FF2B5EF4-FFF2-40B4-BE49-F238E27FC236}">
                    <a16:creationId xmlns:a16="http://schemas.microsoft.com/office/drawing/2014/main" id="{FC7FB9ED-C43D-9EC4-852D-EEDE402952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582643" y="3482244"/>
                <a:ext cx="610885" cy="610885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FF17CCB-850D-5A32-A8F2-B1597334E56A}"/>
                  </a:ext>
                </a:extLst>
              </p:cNvPr>
              <p:cNvSpPr/>
              <p:nvPr/>
            </p:nvSpPr>
            <p:spPr>
              <a:xfrm>
                <a:off x="7181455" y="4132991"/>
                <a:ext cx="1404733" cy="226337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latin typeface="Calibri" panose="020F0502020204030204" pitchFamily="34" charset="0"/>
                    <a:cs typeface="Calibri" panose="020F0502020204030204" pitchFamily="34" charset="0"/>
                  </a:rPr>
                  <a:t>Auto component</a:t>
                </a:r>
                <a:endParaRPr lang="en-US" sz="12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296072E-800C-2211-78EF-F8B0525DB946}"/>
                  </a:ext>
                </a:extLst>
              </p:cNvPr>
              <p:cNvSpPr/>
              <p:nvPr/>
            </p:nvSpPr>
            <p:spPr>
              <a:xfrm>
                <a:off x="7378262" y="3551577"/>
                <a:ext cx="230931" cy="23093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en-US" b="1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01D6F2F-D905-B994-C11E-63DE5CFE4F73}"/>
              </a:ext>
            </a:extLst>
          </p:cNvPr>
          <p:cNvSpPr/>
          <p:nvPr/>
        </p:nvSpPr>
        <p:spPr>
          <a:xfrm>
            <a:off x="5157188" y="4331861"/>
            <a:ext cx="3429000" cy="300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3. Ecosystem vertical Integration for EVP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9E52B09-4F14-D32A-3885-3DB17DA633DE}"/>
              </a:ext>
            </a:extLst>
          </p:cNvPr>
          <p:cNvGrpSpPr/>
          <p:nvPr/>
        </p:nvGrpSpPr>
        <p:grpSpPr>
          <a:xfrm>
            <a:off x="5152686" y="4610785"/>
            <a:ext cx="3459299" cy="1740683"/>
            <a:chOff x="5152686" y="4824539"/>
            <a:chExt cx="3459299" cy="174068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4A5E331-437E-BBAF-5515-9880D6DE36AC}"/>
                </a:ext>
              </a:extLst>
            </p:cNvPr>
            <p:cNvGrpSpPr/>
            <p:nvPr/>
          </p:nvGrpSpPr>
          <p:grpSpPr>
            <a:xfrm>
              <a:off x="5900525" y="4824539"/>
              <a:ext cx="2041379" cy="1740683"/>
              <a:chOff x="2609279" y="2143432"/>
              <a:chExt cx="5669482" cy="4297070"/>
            </a:xfrm>
          </p:grpSpPr>
          <p:graphicFrame>
            <p:nvGraphicFramePr>
              <p:cNvPr id="47" name="Diagram 46">
                <a:extLst>
                  <a:ext uri="{FF2B5EF4-FFF2-40B4-BE49-F238E27FC236}">
                    <a16:creationId xmlns:a16="http://schemas.microsoft.com/office/drawing/2014/main" id="{46892274-5F65-5068-82E9-12F9FB6C522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52338842"/>
                  </p:ext>
                </p:extLst>
              </p:nvPr>
            </p:nvGraphicFramePr>
            <p:xfrm>
              <a:off x="2609279" y="2143432"/>
              <a:ext cx="5669482" cy="429707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  <p:pic>
            <p:nvPicPr>
              <p:cNvPr id="48" name="Graphic 47" descr="Money outline">
                <a:extLst>
                  <a:ext uri="{FF2B5EF4-FFF2-40B4-BE49-F238E27FC236}">
                    <a16:creationId xmlns:a16="http://schemas.microsoft.com/office/drawing/2014/main" id="{322287B4-A7C7-0E04-02AC-34EF5C5767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942321" y="3758765"/>
                <a:ext cx="853851" cy="970738"/>
              </a:xfrm>
              <a:prstGeom prst="rect">
                <a:avLst/>
              </a:prstGeom>
            </p:spPr>
          </p:pic>
          <p:pic>
            <p:nvPicPr>
              <p:cNvPr id="49" name="Graphic 48" descr="Crane outline">
                <a:extLst>
                  <a:ext uri="{FF2B5EF4-FFF2-40B4-BE49-F238E27FC236}">
                    <a16:creationId xmlns:a16="http://schemas.microsoft.com/office/drawing/2014/main" id="{9FF17946-590B-524C-C2DC-BABCB16EB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507869" y="4855951"/>
                <a:ext cx="853851" cy="970739"/>
              </a:xfrm>
              <a:prstGeom prst="rect">
                <a:avLst/>
              </a:prstGeom>
            </p:spPr>
          </p:pic>
          <p:pic>
            <p:nvPicPr>
              <p:cNvPr id="50" name="Graphic 49" descr="Group of people outline">
                <a:extLst>
                  <a:ext uri="{FF2B5EF4-FFF2-40B4-BE49-F238E27FC236}">
                    <a16:creationId xmlns:a16="http://schemas.microsoft.com/office/drawing/2014/main" id="{D35C68B2-3C14-AE4E-DF2E-E053BC42AD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626329" y="4862049"/>
                <a:ext cx="753842" cy="857039"/>
              </a:xfrm>
              <a:prstGeom prst="rect">
                <a:avLst/>
              </a:prstGeom>
            </p:spPr>
          </p:pic>
          <p:pic>
            <p:nvPicPr>
              <p:cNvPr id="51" name="Graphic 50" descr="Cloud Computing outline">
                <a:extLst>
                  <a:ext uri="{FF2B5EF4-FFF2-40B4-BE49-F238E27FC236}">
                    <a16:creationId xmlns:a16="http://schemas.microsoft.com/office/drawing/2014/main" id="{4C3721CA-0CF4-503F-CC2B-94D56F8A4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152391" y="3806599"/>
                <a:ext cx="853850" cy="970738"/>
              </a:xfrm>
              <a:prstGeom prst="rect">
                <a:avLst/>
              </a:prstGeom>
            </p:spPr>
          </p:pic>
          <p:pic>
            <p:nvPicPr>
              <p:cNvPr id="52" name="Graphic 51" descr="Network outline">
                <a:extLst>
                  <a:ext uri="{FF2B5EF4-FFF2-40B4-BE49-F238E27FC236}">
                    <a16:creationId xmlns:a16="http://schemas.microsoft.com/office/drawing/2014/main" id="{C8F1E84D-2E50-9ED4-6CD1-1BE3173A51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5597466" y="2742888"/>
                <a:ext cx="853851" cy="970738"/>
              </a:xfrm>
              <a:prstGeom prst="rect">
                <a:avLst/>
              </a:prstGeom>
            </p:spPr>
          </p:pic>
          <p:pic>
            <p:nvPicPr>
              <p:cNvPr id="53" name="Graphic 52" descr="Anchor outline">
                <a:extLst>
                  <a:ext uri="{FF2B5EF4-FFF2-40B4-BE49-F238E27FC236}">
                    <a16:creationId xmlns:a16="http://schemas.microsoft.com/office/drawing/2014/main" id="{BBC7C790-9A0D-417E-FBAE-B67FE2C226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4507869" y="2746436"/>
                <a:ext cx="853851" cy="970738"/>
              </a:xfrm>
              <a:prstGeom prst="rect">
                <a:avLst/>
              </a:prstGeom>
            </p:spPr>
          </p:pic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1603A68-9190-CED4-E657-120AFF0FF771}"/>
                </a:ext>
              </a:extLst>
            </p:cNvPr>
            <p:cNvSpPr/>
            <p:nvPr/>
          </p:nvSpPr>
          <p:spPr>
            <a:xfrm>
              <a:off x="5152686" y="4890741"/>
              <a:ext cx="1406615" cy="388357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Anchor industry </a:t>
              </a:r>
            </a:p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&amp; clients 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FDC61C0-9EE3-90F8-9E4E-08B89036D73B}"/>
                </a:ext>
              </a:extLst>
            </p:cNvPr>
            <p:cNvSpPr/>
            <p:nvPr/>
          </p:nvSpPr>
          <p:spPr>
            <a:xfrm>
              <a:off x="5159829" y="5397392"/>
              <a:ext cx="1076086" cy="38835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Pricing model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35A0D10-9C28-DB1A-79C6-1EAF83ED6F0C}"/>
                </a:ext>
              </a:extLst>
            </p:cNvPr>
            <p:cNvSpPr/>
            <p:nvPr/>
          </p:nvSpPr>
          <p:spPr>
            <a:xfrm>
              <a:off x="5152686" y="5905221"/>
              <a:ext cx="1076086" cy="38835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Right assets &amp; infra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154C79E-60A2-EECD-138E-ED9B3E38C619}"/>
                </a:ext>
              </a:extLst>
            </p:cNvPr>
            <p:cNvSpPr/>
            <p:nvPr/>
          </p:nvSpPr>
          <p:spPr>
            <a:xfrm>
              <a:off x="7556717" y="4890741"/>
              <a:ext cx="1014290" cy="388357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VC Nodes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F340DAB-B2C5-E130-D470-BD5FE09B10CB}"/>
                </a:ext>
              </a:extLst>
            </p:cNvPr>
            <p:cNvSpPr/>
            <p:nvPr/>
          </p:nvSpPr>
          <p:spPr>
            <a:xfrm>
              <a:off x="7494920" y="5387814"/>
              <a:ext cx="1076086" cy="38835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Tech Stack</a:t>
              </a:r>
              <a:endParaRPr lang="en-US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00D4AAD-5DBD-6630-D2F2-471B9C5776C7}"/>
                </a:ext>
              </a:extLst>
            </p:cNvPr>
            <p:cNvSpPr/>
            <p:nvPr/>
          </p:nvSpPr>
          <p:spPr>
            <a:xfrm>
              <a:off x="7535899" y="5928218"/>
              <a:ext cx="1076086" cy="38835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Organization &amp; Capability</a:t>
              </a:r>
            </a:p>
          </p:txBody>
        </p:sp>
      </p:grpSp>
      <p:grpSp>
        <p:nvGrpSpPr>
          <p:cNvPr id="5125" name="Group 5124">
            <a:extLst>
              <a:ext uri="{FF2B5EF4-FFF2-40B4-BE49-F238E27FC236}">
                <a16:creationId xmlns:a16="http://schemas.microsoft.com/office/drawing/2014/main" id="{1F6FC03F-12CA-CEC2-CE69-361A6389A06E}"/>
              </a:ext>
            </a:extLst>
          </p:cNvPr>
          <p:cNvGrpSpPr/>
          <p:nvPr/>
        </p:nvGrpSpPr>
        <p:grpSpPr>
          <a:xfrm>
            <a:off x="5159829" y="1816825"/>
            <a:ext cx="3429000" cy="932565"/>
            <a:chOff x="5159829" y="1816825"/>
            <a:chExt cx="3429000" cy="9325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DB37E9-BDD9-FFE6-79ED-CD54F3AF9503}"/>
                </a:ext>
              </a:extLst>
            </p:cNvPr>
            <p:cNvSpPr/>
            <p:nvPr/>
          </p:nvSpPr>
          <p:spPr>
            <a:xfrm>
              <a:off x="5159829" y="1816825"/>
              <a:ext cx="3429000" cy="853942"/>
            </a:xfrm>
            <a:prstGeom prst="rect">
              <a:avLst/>
            </a:prstGeom>
            <a:noFill/>
            <a:ln>
              <a:solidFill>
                <a:srgbClr val="C280D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latin typeface="Calibri" panose="020F0502020204030204" pitchFamily="34" charset="0"/>
                  <a:cs typeface="Calibri" panose="020F0502020204030204" pitchFamily="34" charset="0"/>
                </a:rPr>
                <a:t>Single point of aggregation from multiple firms with shared delivery routes &amp; fulfilling together </a:t>
              </a:r>
            </a:p>
            <a:p>
              <a:endParaRPr 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D02B2567-A62B-AD8D-A203-3E8C687F0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224090" y="2393417"/>
              <a:ext cx="753360" cy="22718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569B8664-0B23-3C94-4764-AC5E7EFA8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678753" y="2237387"/>
              <a:ext cx="790377" cy="444587"/>
            </a:xfrm>
            <a:prstGeom prst="rect">
              <a:avLst/>
            </a:prstGeom>
          </p:spPr>
        </p:pic>
        <p:pic>
          <p:nvPicPr>
            <p:cNvPr id="5121" name="Picture 2" descr="Myntra Logo and symbol, meaning, history, PNG, brand">
              <a:extLst>
                <a:ext uri="{FF2B5EF4-FFF2-40B4-BE49-F238E27FC236}">
                  <a16:creationId xmlns:a16="http://schemas.microsoft.com/office/drawing/2014/main" id="{66AAA02F-03B0-44FA-FF3A-D89BB2075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5" t="20938" r="-3349" b="21654"/>
            <a:stretch/>
          </p:blipFill>
          <p:spPr bwMode="auto">
            <a:xfrm>
              <a:off x="6049769" y="2305584"/>
              <a:ext cx="1008638" cy="320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3" name="Picture 5122">
              <a:extLst>
                <a:ext uri="{FF2B5EF4-FFF2-40B4-BE49-F238E27FC236}">
                  <a16:creationId xmlns:a16="http://schemas.microsoft.com/office/drawing/2014/main" id="{13CDD646-C6A8-7953-F491-371F0781E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053888" y="2194085"/>
              <a:ext cx="555305" cy="555305"/>
            </a:xfrm>
            <a:prstGeom prst="rect">
              <a:avLst/>
            </a:prstGeom>
          </p:spPr>
        </p:pic>
      </p:grpSp>
      <p:sp>
        <p:nvSpPr>
          <p:cNvPr id="5124" name="Rectangle 5123">
            <a:extLst>
              <a:ext uri="{FF2B5EF4-FFF2-40B4-BE49-F238E27FC236}">
                <a16:creationId xmlns:a16="http://schemas.microsoft.com/office/drawing/2014/main" id="{CEBA7BBD-CA92-0B94-180A-0F2025F0CE26}"/>
              </a:ext>
            </a:extLst>
          </p:cNvPr>
          <p:cNvSpPr/>
          <p:nvPr/>
        </p:nvSpPr>
        <p:spPr>
          <a:xfrm>
            <a:off x="5124535" y="1064631"/>
            <a:ext cx="3511199" cy="528683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6200" bIns="76200" rtlCol="0" anchor="ctr"/>
          <a:lstStyle/>
          <a:p>
            <a:pPr algn="ctr"/>
            <a:endParaRPr lang="en-US" sz="15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127" name="Table 5127">
            <a:extLst>
              <a:ext uri="{FF2B5EF4-FFF2-40B4-BE49-F238E27FC236}">
                <a16:creationId xmlns:a16="http://schemas.microsoft.com/office/drawing/2014/main" id="{447CF91D-4EC7-1E20-4ED6-4560E7739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05559"/>
              </p:ext>
            </p:extLst>
          </p:nvPr>
        </p:nvGraphicFramePr>
        <p:xfrm>
          <a:off x="8936773" y="2234847"/>
          <a:ext cx="2657286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7286">
                  <a:extLst>
                    <a:ext uri="{9D8B030D-6E8A-4147-A177-3AD203B41FA5}">
                      <a16:colId xmlns:a16="http://schemas.microsoft.com/office/drawing/2014/main" val="3060241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Kripi Badonia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+91 88000 97307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PGP38453@iiml.ac.in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14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Kritika Prakash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+91 98719 31051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PGP38347@iiml.ac.in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53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Shivam Pathak 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+91 80738 00369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ABM19021@iiml.ac.in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53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Manav Sehgal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+91 98183 11969</a:t>
                      </a:r>
                    </a:p>
                    <a:p>
                      <a:pPr algn="ctr"/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PGP39088@iiml.ac.in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701312"/>
                  </a:ext>
                </a:extLst>
              </a:tr>
            </a:tbl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92E1D782-5028-494A-ABA9-8C71364A90D8}"/>
              </a:ext>
            </a:extLst>
          </p:cNvPr>
          <p:cNvSpPr txBox="1"/>
          <p:nvPr/>
        </p:nvSpPr>
        <p:spPr>
          <a:xfrm>
            <a:off x="419985" y="1632085"/>
            <a:ext cx="1468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Open-source routing model and P2P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Protect IP, but empower innovation ecosystem</a:t>
            </a:r>
          </a:p>
        </p:txBody>
      </p:sp>
      <p:sp>
        <p:nvSpPr>
          <p:cNvPr id="81" name="Chevron 80">
            <a:extLst>
              <a:ext uri="{FF2B5EF4-FFF2-40B4-BE49-F238E27FC236}">
                <a16:creationId xmlns:a16="http://schemas.microsoft.com/office/drawing/2014/main" id="{2DC7ADDD-D862-A04E-B76D-9D3F9B86D41F}"/>
              </a:ext>
            </a:extLst>
          </p:cNvPr>
          <p:cNvSpPr/>
          <p:nvPr/>
        </p:nvSpPr>
        <p:spPr>
          <a:xfrm>
            <a:off x="1917594" y="1323845"/>
            <a:ext cx="1472541" cy="260477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 Linkage</a:t>
            </a:r>
          </a:p>
        </p:txBody>
      </p:sp>
      <p:sp>
        <p:nvSpPr>
          <p:cNvPr id="82" name="Chevron 81">
            <a:extLst>
              <a:ext uri="{FF2B5EF4-FFF2-40B4-BE49-F238E27FC236}">
                <a16:creationId xmlns:a16="http://schemas.microsoft.com/office/drawing/2014/main" id="{001B5A8F-C64B-BB43-8D52-5FA5BC22BEAE}"/>
              </a:ext>
            </a:extLst>
          </p:cNvPr>
          <p:cNvSpPr/>
          <p:nvPr/>
        </p:nvSpPr>
        <p:spPr>
          <a:xfrm>
            <a:off x="3384785" y="1323845"/>
            <a:ext cx="1404254" cy="260477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Penetrate</a:t>
            </a:r>
          </a:p>
        </p:txBody>
      </p:sp>
      <p:sp>
        <p:nvSpPr>
          <p:cNvPr id="83" name="Chevron 82">
            <a:extLst>
              <a:ext uri="{FF2B5EF4-FFF2-40B4-BE49-F238E27FC236}">
                <a16:creationId xmlns:a16="http://schemas.microsoft.com/office/drawing/2014/main" id="{E328E09A-7DA3-A44B-8BA8-7B8656D4AE90}"/>
              </a:ext>
            </a:extLst>
          </p:cNvPr>
          <p:cNvSpPr/>
          <p:nvPr/>
        </p:nvSpPr>
        <p:spPr>
          <a:xfrm>
            <a:off x="415447" y="1323845"/>
            <a:ext cx="1472541" cy="260477"/>
          </a:xfrm>
          <a:prstGeom prst="chevron">
            <a:avLst/>
          </a:pr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 Diffusion</a:t>
            </a:r>
          </a:p>
        </p:txBody>
      </p:sp>
      <p:sp>
        <p:nvSpPr>
          <p:cNvPr id="79" name="Oval 20">
            <a:extLst>
              <a:ext uri="{FF2B5EF4-FFF2-40B4-BE49-F238E27FC236}">
                <a16:creationId xmlns:a16="http://schemas.microsoft.com/office/drawing/2014/main" id="{A127E112-CAB7-D741-81CA-113F06D0E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788" y="1192913"/>
            <a:ext cx="193857" cy="1977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4" name="Oval 20">
            <a:extLst>
              <a:ext uri="{FF2B5EF4-FFF2-40B4-BE49-F238E27FC236}">
                <a16:creationId xmlns:a16="http://schemas.microsoft.com/office/drawing/2014/main" id="{D6DA81C2-411A-014C-87A0-EAA6D66A4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678" y="1192913"/>
            <a:ext cx="193857" cy="1977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5" name="Oval 20">
            <a:extLst>
              <a:ext uri="{FF2B5EF4-FFF2-40B4-BE49-F238E27FC236}">
                <a16:creationId xmlns:a16="http://schemas.microsoft.com/office/drawing/2014/main" id="{153A7741-336F-9346-9144-C8BD7773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912" y="1169219"/>
            <a:ext cx="193857" cy="1977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52180DD-05FB-DA44-BF36-100556832623}"/>
              </a:ext>
            </a:extLst>
          </p:cNvPr>
          <p:cNvSpPr/>
          <p:nvPr/>
        </p:nvSpPr>
        <p:spPr>
          <a:xfrm>
            <a:off x="886425" y="947088"/>
            <a:ext cx="3429000" cy="1995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Winning the industry standard 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81C9EF1-B6FB-7E4E-952F-925EB1D37569}"/>
              </a:ext>
            </a:extLst>
          </p:cNvPr>
          <p:cNvSpPr/>
          <p:nvPr/>
        </p:nvSpPr>
        <p:spPr>
          <a:xfrm>
            <a:off x="895797" y="4886212"/>
            <a:ext cx="3429000" cy="1995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Breaking the performance frontier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595312-A0B8-4F8B-5154-6F9B805A9F34}"/>
              </a:ext>
            </a:extLst>
          </p:cNvPr>
          <p:cNvSpPr/>
          <p:nvPr/>
        </p:nvSpPr>
        <p:spPr>
          <a:xfrm>
            <a:off x="5361777" y="954382"/>
            <a:ext cx="2999806" cy="20624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Win through growth potential 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44BC98E-99B2-A042-A2CA-EC9371392ABB}"/>
              </a:ext>
            </a:extLst>
          </p:cNvPr>
          <p:cNvSpPr/>
          <p:nvPr/>
        </p:nvSpPr>
        <p:spPr>
          <a:xfrm>
            <a:off x="917616" y="3165013"/>
            <a:ext cx="3429000" cy="1995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Winning the virtuous cycle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1634AF9-5CDD-E14C-80DC-BEAA89824975}"/>
              </a:ext>
            </a:extLst>
          </p:cNvPr>
          <p:cNvSpPr txBox="1"/>
          <p:nvPr/>
        </p:nvSpPr>
        <p:spPr>
          <a:xfrm>
            <a:off x="1785838" y="1593576"/>
            <a:ext cx="1741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Promote load sharing amongst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peerset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with open-source model to establish standard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Linkages with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ecomm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players to inc. avail. of complementary goods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16599A6-4C53-B040-8AE5-602DD454D566}"/>
              </a:ext>
            </a:extLst>
          </p:cNvPr>
          <p:cNvSpPr txBox="1"/>
          <p:nvPr/>
        </p:nvSpPr>
        <p:spPr>
          <a:xfrm>
            <a:off x="3393501" y="1578609"/>
            <a:ext cx="1468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Aggressive promotion to increase installed base and improve likelihood of winning standards battle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714D02F-C580-0C48-9A3F-F8604F2E92CE}"/>
              </a:ext>
            </a:extLst>
          </p:cNvPr>
          <p:cNvGrpSpPr/>
          <p:nvPr/>
        </p:nvGrpSpPr>
        <p:grpSpPr>
          <a:xfrm rot="5400000">
            <a:off x="2525613" y="2982312"/>
            <a:ext cx="126337" cy="134219"/>
            <a:chOff x="7812684" y="2660359"/>
            <a:chExt cx="306171" cy="306910"/>
          </a:xfrm>
        </p:grpSpPr>
        <p:sp>
          <p:nvSpPr>
            <p:cNvPr id="96" name="Freeform 94">
              <a:extLst>
                <a:ext uri="{FF2B5EF4-FFF2-40B4-BE49-F238E27FC236}">
                  <a16:creationId xmlns:a16="http://schemas.microsoft.com/office/drawing/2014/main" id="{AE97AF2D-E5FF-1647-8079-2F6396863BC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Freeform 95">
              <a:extLst>
                <a:ext uri="{FF2B5EF4-FFF2-40B4-BE49-F238E27FC236}">
                  <a16:creationId xmlns:a16="http://schemas.microsoft.com/office/drawing/2014/main" id="{9A22F250-96A3-C242-BCFF-5055EAE6B157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80F45C2-5C9A-7446-9CE3-7E8B4A6B63C9}"/>
              </a:ext>
            </a:extLst>
          </p:cNvPr>
          <p:cNvGrpSpPr/>
          <p:nvPr/>
        </p:nvGrpSpPr>
        <p:grpSpPr>
          <a:xfrm rot="5400000">
            <a:off x="2552057" y="4684224"/>
            <a:ext cx="126337" cy="134219"/>
            <a:chOff x="7812684" y="2660359"/>
            <a:chExt cx="306171" cy="306910"/>
          </a:xfrm>
        </p:grpSpPr>
        <p:sp>
          <p:nvSpPr>
            <p:cNvPr id="99" name="Freeform 94">
              <a:extLst>
                <a:ext uri="{FF2B5EF4-FFF2-40B4-BE49-F238E27FC236}">
                  <a16:creationId xmlns:a16="http://schemas.microsoft.com/office/drawing/2014/main" id="{2AD920D5-B921-1D4C-B6A7-CA1689F46CA9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0" name="Freeform 95">
              <a:extLst>
                <a:ext uri="{FF2B5EF4-FFF2-40B4-BE49-F238E27FC236}">
                  <a16:creationId xmlns:a16="http://schemas.microsoft.com/office/drawing/2014/main" id="{0F654945-2619-3143-AFCE-9519E286855B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F87DF43-ACF9-B347-A824-EE1725415C18}"/>
              </a:ext>
            </a:extLst>
          </p:cNvPr>
          <p:cNvGrpSpPr/>
          <p:nvPr/>
        </p:nvGrpSpPr>
        <p:grpSpPr>
          <a:xfrm>
            <a:off x="4912538" y="3468451"/>
            <a:ext cx="155005" cy="171862"/>
            <a:chOff x="7812684" y="2660359"/>
            <a:chExt cx="306171" cy="306910"/>
          </a:xfrm>
        </p:grpSpPr>
        <p:sp>
          <p:nvSpPr>
            <p:cNvPr id="103" name="Freeform 94">
              <a:extLst>
                <a:ext uri="{FF2B5EF4-FFF2-40B4-BE49-F238E27FC236}">
                  <a16:creationId xmlns:a16="http://schemas.microsoft.com/office/drawing/2014/main" id="{34BDE2CC-E6BC-9E4E-B78F-BCFC589705D9}"/>
                </a:ext>
              </a:extLst>
            </p:cNvPr>
            <p:cNvSpPr>
              <a:spLocks/>
            </p:cNvSpPr>
            <p:nvPr/>
          </p:nvSpPr>
          <p:spPr bwMode="gray">
            <a:xfrm>
              <a:off x="7812684" y="2660359"/>
              <a:ext cx="306171" cy="306910"/>
            </a:xfrm>
            <a:custGeom>
              <a:avLst/>
              <a:gdLst>
                <a:gd name="T0" fmla="*/ 0 w 1052"/>
                <a:gd name="T1" fmla="*/ 526 h 1052"/>
                <a:gd name="T2" fmla="*/ 0 w 1052"/>
                <a:gd name="T3" fmla="*/ 526 h 1052"/>
                <a:gd name="T4" fmla="*/ 526 w 1052"/>
                <a:gd name="T5" fmla="*/ 0 h 1052"/>
                <a:gd name="T6" fmla="*/ 1052 w 1052"/>
                <a:gd name="T7" fmla="*/ 526 h 1052"/>
                <a:gd name="T8" fmla="*/ 1052 w 1052"/>
                <a:gd name="T9" fmla="*/ 526 h 1052"/>
                <a:gd name="T10" fmla="*/ 526 w 1052"/>
                <a:gd name="T11" fmla="*/ 1052 h 1052"/>
                <a:gd name="T12" fmla="*/ 526 w 1052"/>
                <a:gd name="T13" fmla="*/ 1052 h 1052"/>
                <a:gd name="T14" fmla="*/ 0 w 1052"/>
                <a:gd name="T15" fmla="*/ 526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2" h="1052">
                  <a:moveTo>
                    <a:pt x="0" y="526"/>
                  </a:moveTo>
                  <a:cubicBezTo>
                    <a:pt x="0" y="526"/>
                    <a:pt x="0" y="526"/>
                    <a:pt x="0" y="526"/>
                  </a:cubicBezTo>
                  <a:cubicBezTo>
                    <a:pt x="0" y="236"/>
                    <a:pt x="236" y="0"/>
                    <a:pt x="526" y="0"/>
                  </a:cubicBezTo>
                  <a:cubicBezTo>
                    <a:pt x="817" y="0"/>
                    <a:pt x="1052" y="236"/>
                    <a:pt x="1052" y="526"/>
                  </a:cubicBezTo>
                  <a:cubicBezTo>
                    <a:pt x="1052" y="526"/>
                    <a:pt x="1052" y="526"/>
                    <a:pt x="1052" y="526"/>
                  </a:cubicBezTo>
                  <a:cubicBezTo>
                    <a:pt x="1052" y="817"/>
                    <a:pt x="817" y="1052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236" y="1052"/>
                    <a:pt x="0" y="817"/>
                    <a:pt x="0" y="526"/>
                  </a:cubicBezTo>
                  <a:close/>
                </a:path>
              </a:pathLst>
            </a:custGeom>
            <a:solidFill>
              <a:srgbClr val="002060"/>
            </a:solidFill>
            <a:ln>
              <a:solidFill>
                <a:schemeClr val="tx2"/>
              </a:solidFill>
            </a:ln>
          </p:spPr>
          <p:txBody>
            <a:bodyPr vert="horz" wrap="square" lIns="0" tIns="0" rIns="0" bIns="0" numCol="1" anchor="t" anchorCtr="1" compatLnSpc="1">
              <a:prstTxWarp prst="textNoShape">
                <a:avLst/>
              </a:prstTxWarp>
            </a:bodyPr>
            <a:lstStyle/>
            <a:p>
              <a:endParaRPr lang="en-US" sz="2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Freeform 95">
              <a:extLst>
                <a:ext uri="{FF2B5EF4-FFF2-40B4-BE49-F238E27FC236}">
                  <a16:creationId xmlns:a16="http://schemas.microsoft.com/office/drawing/2014/main" id="{B676CEC2-1B3C-9949-9F3B-BB9CDDE63EAB}"/>
                </a:ext>
              </a:extLst>
            </p:cNvPr>
            <p:cNvSpPr>
              <a:spLocks/>
            </p:cNvSpPr>
            <p:nvPr/>
          </p:nvSpPr>
          <p:spPr bwMode="gray">
            <a:xfrm>
              <a:off x="7929115" y="2702619"/>
              <a:ext cx="120251" cy="224731"/>
            </a:xfrm>
            <a:custGeom>
              <a:avLst/>
              <a:gdLst>
                <a:gd name="T0" fmla="*/ 66 w 976"/>
                <a:gd name="T1" fmla="*/ 1824 h 1824"/>
                <a:gd name="T2" fmla="*/ 0 w 976"/>
                <a:gd name="T3" fmla="*/ 1758 h 1824"/>
                <a:gd name="T4" fmla="*/ 843 w 976"/>
                <a:gd name="T5" fmla="*/ 912 h 1824"/>
                <a:gd name="T6" fmla="*/ 0 w 976"/>
                <a:gd name="T7" fmla="*/ 66 h 1824"/>
                <a:gd name="T8" fmla="*/ 66 w 976"/>
                <a:gd name="T9" fmla="*/ 0 h 1824"/>
                <a:gd name="T10" fmla="*/ 976 w 976"/>
                <a:gd name="T11" fmla="*/ 912 h 1824"/>
                <a:gd name="T12" fmla="*/ 66 w 976"/>
                <a:gd name="T13" fmla="*/ 1824 h 1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6" h="1824">
                  <a:moveTo>
                    <a:pt x="66" y="1824"/>
                  </a:moveTo>
                  <a:lnTo>
                    <a:pt x="0" y="1758"/>
                  </a:lnTo>
                  <a:lnTo>
                    <a:pt x="843" y="912"/>
                  </a:lnTo>
                  <a:lnTo>
                    <a:pt x="0" y="66"/>
                  </a:lnTo>
                  <a:lnTo>
                    <a:pt x="66" y="0"/>
                  </a:lnTo>
                  <a:lnTo>
                    <a:pt x="976" y="912"/>
                  </a:lnTo>
                  <a:lnTo>
                    <a:pt x="66" y="1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8641" tIns="44321" rIns="88641" bIns="44321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6E6F7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DAA7CDFB-45A5-CB4D-B55E-047C2D82A53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2834" y="5085229"/>
            <a:ext cx="2419221" cy="1263097"/>
          </a:xfrm>
          <a:prstGeom prst="rect">
            <a:avLst/>
          </a:prstGeom>
        </p:spPr>
      </p:pic>
      <p:pic>
        <p:nvPicPr>
          <p:cNvPr id="5260" name="Picture 525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05326DD-3030-D6E2-917E-DB25F3D7AD6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1342" y="3359439"/>
            <a:ext cx="4435287" cy="1422195"/>
          </a:xfrm>
          <a:prstGeom prst="rect">
            <a:avLst/>
          </a:prstGeom>
        </p:spPr>
      </p:pic>
      <p:sp>
        <p:nvSpPr>
          <p:cNvPr id="5315" name="Oval 20">
            <a:extLst>
              <a:ext uri="{FF2B5EF4-FFF2-40B4-BE49-F238E27FC236}">
                <a16:creationId xmlns:a16="http://schemas.microsoft.com/office/drawing/2014/main" id="{0DB8AC0B-5BF1-9E2E-E96E-D89205586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397" y="3175071"/>
            <a:ext cx="193857" cy="19777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0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4</a:t>
            </a:r>
            <a:endParaRPr lang="en-US" sz="70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42" name="TextBox 5341">
            <a:extLst>
              <a:ext uri="{FF2B5EF4-FFF2-40B4-BE49-F238E27FC236}">
                <a16:creationId xmlns:a16="http://schemas.microsoft.com/office/drawing/2014/main" id="{3F3371F2-0152-38E5-142D-C16FD9ADAA08}"/>
              </a:ext>
            </a:extLst>
          </p:cNvPr>
          <p:cNvSpPr txBox="1"/>
          <p:nvPr/>
        </p:nvSpPr>
        <p:spPr>
          <a:xfrm>
            <a:off x="3001296" y="5052433"/>
            <a:ext cx="1865812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cs typeface="Calibri"/>
              </a:rPr>
              <a:t>The modelled 4-step process will put client on peak performance trajectory enabling </a:t>
            </a:r>
            <a:r>
              <a:rPr lang="en-US" sz="1200" err="1">
                <a:cs typeface="Calibri"/>
              </a:rPr>
              <a:t>Ecodeliver</a:t>
            </a:r>
            <a:r>
              <a:rPr lang="en-US" sz="1200">
                <a:cs typeface="Calibri"/>
              </a:rPr>
              <a:t> to break the industry frontier and win in this market </a:t>
            </a:r>
          </a:p>
        </p:txBody>
      </p:sp>
    </p:spTree>
    <p:extLst>
      <p:ext uri="{BB962C8B-B14F-4D97-AF65-F5344CB8AC3E}">
        <p14:creationId xmlns:p14="http://schemas.microsoft.com/office/powerpoint/2010/main" val="870226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FORMATWIZARD_TAG" val="Whi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2012</Words>
  <Application>Microsoft Office PowerPoint</Application>
  <PresentationFormat>Widescreen</PresentationFormat>
  <Paragraphs>419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Graphik</vt:lpstr>
      <vt:lpstr>Graphik Regular</vt:lpstr>
      <vt:lpstr>Graphik Semibold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SHIVAM PATHAK</dc:creator>
  <cp:lastModifiedBy>SHIVAM PATHAK</cp:lastModifiedBy>
  <cp:revision>2</cp:revision>
  <dcterms:created xsi:type="dcterms:W3CDTF">2023-08-17T21:13:22Z</dcterms:created>
  <dcterms:modified xsi:type="dcterms:W3CDTF">2023-09-01T21:43:36Z</dcterms:modified>
</cp:coreProperties>
</file>