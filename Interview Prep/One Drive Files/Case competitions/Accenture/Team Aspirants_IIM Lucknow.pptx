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147468597" r:id="rId5"/>
    <p:sldId id="2147468617" r:id="rId6"/>
    <p:sldId id="2147468616" r:id="rId7"/>
    <p:sldId id="2147468600" r:id="rId8"/>
    <p:sldId id="2147468609" r:id="rId9"/>
    <p:sldId id="2147468605" r:id="rId10"/>
    <p:sldId id="2147468608" r:id="rId11"/>
    <p:sldId id="21474686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0A0"/>
    <a:srgbClr val="720C9C"/>
    <a:srgbClr val="7913A3"/>
    <a:srgbClr val="710C9A"/>
    <a:srgbClr val="5F02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E5485-F032-4715-AAA9-B3D2715C35B0}" v="3295" dt="2022-09-01T16:51:12.372"/>
    <p1510:client id="{0F841302-1C78-2748-840A-C3A3435B3DB8}" v="2248" vWet="2252" dt="2022-09-01T16:45:02.923"/>
    <p1510:client id="{823CA4AF-654C-521D-5121-45713C680ED4}" v="8" dt="2022-09-01T10:13:56.522"/>
    <p1510:client id="{826B51E1-5EF4-FAC4-DB84-0662F58FF9A9}" v="4" dt="2022-09-01T10:24:35.481"/>
    <p1510:client id="{A6BBE94C-B9D3-EED6-1004-2691CF398AFB}" v="1" dt="2022-09-01T16:42:01.303"/>
    <p1510:client id="{D5089747-B5E7-C682-EF67-C0F5F27F8097}" v="1095" dt="2022-09-01T16:50:28.992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3"/>
  </p:normalViewPr>
  <p:slideViewPr>
    <p:cSldViewPr snapToGrid="0">
      <p:cViewPr varScale="1"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nyam/Downloads/donu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bg1"/>
                </a:solidFill>
              </a:rPr>
              <a:t>TAM (Billion</a:t>
            </a:r>
            <a:r>
              <a:rPr lang="en-US" baseline="0">
                <a:solidFill>
                  <a:schemeClr val="bg1"/>
                </a:solidFill>
              </a:rPr>
              <a:t> USD)</a:t>
            </a:r>
            <a:endParaRPr lang="en-US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24126711383865415"/>
          <c:y val="2.60872155184012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17988594883548"/>
          <c:y val="0.21159248071959633"/>
          <c:w val="0.84580824490468687"/>
          <c:h val="0.568147310868902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Bedsheets</c:v>
                </c:pt>
                <c:pt idx="1">
                  <c:v>Towels</c:v>
                </c:pt>
                <c:pt idx="2">
                  <c:v>Top of Bed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7.4999999999999997E-2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6-4001-A84F-F60ADDF5F2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03773168"/>
        <c:axId val="1603766096"/>
      </c:barChart>
      <c:catAx>
        <c:axId val="1603773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66096"/>
        <c:crosses val="autoZero"/>
        <c:auto val="1"/>
        <c:lblAlgn val="ctr"/>
        <c:lblOffset val="100"/>
        <c:noMultiLvlLbl val="0"/>
      </c:catAx>
      <c:valAx>
        <c:axId val="160376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7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300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bg1"/>
                </a:solidFill>
              </a:rPr>
              <a:t>TAM (Billion</a:t>
            </a:r>
            <a:r>
              <a:rPr lang="en-US" baseline="0">
                <a:solidFill>
                  <a:schemeClr val="bg1"/>
                </a:solidFill>
              </a:rPr>
              <a:t> USD)</a:t>
            </a:r>
            <a:endParaRPr lang="en-US">
              <a:solidFill>
                <a:schemeClr val="bg1"/>
              </a:solidFill>
            </a:endParaRPr>
          </a:p>
        </c:rich>
      </c:tx>
      <c:layout>
        <c:manualLayout>
          <c:xMode val="edge"/>
          <c:yMode val="edge"/>
          <c:x val="0.24126711383865415"/>
          <c:y val="2.60872155184012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917988594883548"/>
          <c:y val="0.21159248071959633"/>
          <c:w val="0.84580824490468687"/>
          <c:h val="0.568147310868902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Bedsheets</c:v>
                </c:pt>
                <c:pt idx="1">
                  <c:v>Towels</c:v>
                </c:pt>
                <c:pt idx="2">
                  <c:v>Top of Bed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7.4999999999999997E-2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6-4001-A84F-F60ADDF5F2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03773168"/>
        <c:axId val="1603766096"/>
      </c:barChart>
      <c:catAx>
        <c:axId val="1603773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66096"/>
        <c:crosses val="autoZero"/>
        <c:auto val="1"/>
        <c:lblAlgn val="ctr"/>
        <c:lblOffset val="100"/>
        <c:noMultiLvlLbl val="0"/>
      </c:catAx>
      <c:valAx>
        <c:axId val="160376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77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300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105980625030293E-2"/>
          <c:y val="9.2920174453137841E-2"/>
          <c:w val="0.82178803874993944"/>
          <c:h val="0.814159651093724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Towels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6-4516-8950-427CA5147B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Towels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A6-4516-8950-427CA5147B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A6-4516-8950-427CA5147B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Towels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A6-4516-8950-427CA5147B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67583615"/>
        <c:axId val="267601087"/>
      </c:barChart>
      <c:catAx>
        <c:axId val="2675836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67601087"/>
        <c:crosses val="autoZero"/>
        <c:auto val="1"/>
        <c:lblAlgn val="ctr"/>
        <c:lblOffset val="100"/>
        <c:noMultiLvlLbl val="0"/>
      </c:catAx>
      <c:valAx>
        <c:axId val="2676010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7583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 price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</c:f>
              <c:strCache>
                <c:ptCount val="1"/>
                <c:pt idx="0">
                  <c:v>Bedsheet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B-4348-B935-193BEC5A06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Premium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</c:f>
              <c:strCache>
                <c:ptCount val="1"/>
                <c:pt idx="0">
                  <c:v>Bedsheet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B-4348-B935-193BEC5A06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</c:f>
              <c:strCache>
                <c:ptCount val="1"/>
                <c:pt idx="0">
                  <c:v>Bedsheet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5B-4348-B935-193BEC5A0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67583615"/>
        <c:axId val="267601087"/>
      </c:barChart>
      <c:catAx>
        <c:axId val="26758361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67601087"/>
        <c:crosses val="autoZero"/>
        <c:auto val="1"/>
        <c:lblAlgn val="ctr"/>
        <c:lblOffset val="100"/>
        <c:noMultiLvlLbl val="0"/>
      </c:catAx>
      <c:valAx>
        <c:axId val="2676010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7583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FF0000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>
                <a:solidFill>
                  <a:srgbClr val="710C9A"/>
                </a:solidFill>
              </a:rPr>
              <a:t>Channel Strategy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456036745406818E-2"/>
          <c:y val="0.10627644856601984"/>
          <c:w val="0.88822442082367381"/>
          <c:h val="0.782258017665712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 Bed &amp; Bath Industry Split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Sheet1!$C$4:$F$4</c:f>
              <c:numCache>
                <c:formatCode>0%</c:formatCode>
                <c:ptCount val="4"/>
                <c:pt idx="0">
                  <c:v>0.32</c:v>
                </c:pt>
                <c:pt idx="1">
                  <c:v>0.37</c:v>
                </c:pt>
                <c:pt idx="2">
                  <c:v>0.11</c:v>
                </c:pt>
                <c:pt idx="3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0A-477E-BE77-2AEADE8BD9E1}"/>
            </c:ext>
          </c:extLst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 ABC Sales Split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Sheet1!$C$3:$F$3</c:f>
              <c:strCache>
                <c:ptCount val="4"/>
                <c:pt idx="0">
                  <c:v>Flipkart</c:v>
                </c:pt>
                <c:pt idx="1">
                  <c:v>Amazon</c:v>
                </c:pt>
                <c:pt idx="2">
                  <c:v>Myntra</c:v>
                </c:pt>
                <c:pt idx="3">
                  <c:v>Others</c:v>
                </c:pt>
              </c:strCache>
            </c:strRef>
          </c:cat>
          <c:val>
            <c:numRef>
              <c:f>Sheet1!$C$5:$F$5</c:f>
              <c:numCache>
                <c:formatCode>0%</c:formatCode>
                <c:ptCount val="4"/>
                <c:pt idx="0">
                  <c:v>0.1</c:v>
                </c:pt>
                <c:pt idx="1">
                  <c:v>0.12</c:v>
                </c:pt>
                <c:pt idx="2">
                  <c:v>0.64</c:v>
                </c:pt>
                <c:pt idx="3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0A-477E-BE77-2AEADE8BD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9501200"/>
        <c:axId val="729501616"/>
      </c:lineChart>
      <c:catAx>
        <c:axId val="72950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rgbClr val="720C9C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616"/>
        <c:crosses val="autoZero"/>
        <c:auto val="1"/>
        <c:lblAlgn val="ctr"/>
        <c:lblOffset val="100"/>
        <c:noMultiLvlLbl val="0"/>
      </c:catAx>
      <c:valAx>
        <c:axId val="72950161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501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7816135220337617"/>
          <c:y val="0.77771730774340209"/>
          <c:w val="0.33603367771759807"/>
          <c:h val="0.110507816957662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rgbClr val="7913A3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Estimated Incremental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998099106164402"/>
          <c:y val="0.23813608405332312"/>
          <c:w val="0.4282126923616269"/>
          <c:h val="0.55251130842687213"/>
        </c:manualLayout>
      </c:layout>
      <c:doughnutChart>
        <c:varyColors val="1"/>
        <c:ser>
          <c:idx val="0"/>
          <c:order val="0"/>
          <c:tx>
            <c:strRef>
              <c:f>Sheet1!$B$16</c:f>
              <c:strCache>
                <c:ptCount val="1"/>
                <c:pt idx="0">
                  <c:v>Estimated Revenue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E6-6446-AE43-7B62B6A96E8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E6-6446-AE43-7B62B6A96E80}"/>
              </c:ext>
            </c:extLst>
          </c:dPt>
          <c:dPt>
            <c:idx val="2"/>
            <c:bubble3D val="0"/>
            <c:spPr>
              <a:solidFill>
                <a:schemeClr val="accent2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E6-6446-AE43-7B62B6A96E80}"/>
              </c:ext>
            </c:extLst>
          </c:dPt>
          <c:dLbls>
            <c:dLbl>
              <c:idx val="0"/>
              <c:layout>
                <c:manualLayout>
                  <c:x val="0.16444839248008433"/>
                  <c:y val="-6.94442051126587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669015207892641"/>
                      <c:h val="0.218571667903214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E6-6446-AE43-7B62B6A96E80}"/>
                </c:ext>
              </c:extLst>
            </c:dLbl>
            <c:dLbl>
              <c:idx val="1"/>
              <c:layout>
                <c:manualLayout>
                  <c:x val="0.23825073991661888"/>
                  <c:y val="4.54098556829332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265012943439874"/>
                      <c:h val="0.218571667903214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4E6-6446-AE43-7B62B6A96E80}"/>
                </c:ext>
              </c:extLst>
            </c:dLbl>
            <c:dLbl>
              <c:idx val="2"/>
              <c:layout>
                <c:manualLayout>
                  <c:x val="-0.15748927686644848"/>
                  <c:y val="-7.55230596175478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082443294081336"/>
                      <c:h val="0.2185716679032142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4E6-6446-AE43-7B62B6A96E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Sheet1!$A$17:$A$19</c:f>
              <c:strCache>
                <c:ptCount val="3"/>
                <c:pt idx="0">
                  <c:v>Year 1 (INR)</c:v>
                </c:pt>
                <c:pt idx="1">
                  <c:v>Year 2 (INR)</c:v>
                </c:pt>
                <c:pt idx="2">
                  <c:v>Year 3 (INR)</c:v>
                </c:pt>
              </c:strCache>
            </c:strRef>
          </c:cat>
          <c:val>
            <c:numRef>
              <c:f>Sheet1!$B$17:$B$19</c:f>
              <c:numCache>
                <c:formatCode>_ * #,##0_ ;_ * \-#,##0_ ;_ * "-"??_ ;_ @_ </c:formatCode>
                <c:ptCount val="3"/>
                <c:pt idx="0">
                  <c:v>199750000</c:v>
                </c:pt>
                <c:pt idx="1">
                  <c:v>208250000</c:v>
                </c:pt>
                <c:pt idx="2">
                  <c:v>217175000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4E6-6446-AE43-7B62B6A96E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4E96A-2271-4AC7-BA66-51094D54C7F4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9BB6F-CED8-45A6-8576-5942191CF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71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9BB6F-CED8-45A6-8576-5942191CF0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107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9BB6F-CED8-45A6-8576-5942191CF0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83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D9BB6F-CED8-45A6-8576-5942191CF01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941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D9BB6F-CED8-45A6-8576-5942191CF01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09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9BB6F-CED8-45A6-8576-5942191CF01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41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6.jpe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89528D09-D9F4-47CA-BBA9-7AF13078DF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097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144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481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481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7AB52F34-4FE5-48B6-38F5-204C06349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891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tings + Greater Than 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3480952-D46F-8A15-415F-5BD167F1B4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Big number">
            <a:extLst>
              <a:ext uri="{FF2B5EF4-FFF2-40B4-BE49-F238E27FC236}">
                <a16:creationId xmlns:a16="http://schemas.microsoft.com/office/drawing/2014/main" id="{AF875396-CEBE-1CA8-8B88-FC8618F5368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-1504393" y="1210514"/>
            <a:ext cx="7470218" cy="4411980"/>
          </a:xfrm>
        </p:spPr>
        <p:txBody>
          <a:bodyPr anchor="b"/>
          <a:lstStyle>
            <a:lvl1pPr marL="0" indent="0" algn="l" defTabSz="914034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kumimoji="0" lang="en-US" sz="35000" b="1" i="0" u="none" strike="noStrike" kern="1200" cap="none" spc="-300" normalizeH="0" baseline="0" dirty="0">
                <a:ln>
                  <a:noFill/>
                </a:ln>
                <a:solidFill>
                  <a:srgbClr val="FFFFFF">
                    <a:alpha val="10000"/>
                  </a:srgbClr>
                </a:solidFill>
                <a:effectLst/>
                <a:uLnTx/>
                <a:uFillTx/>
                <a:latin typeface="Graphik Bold" panose="020B0803030202060203" pitchFamily="34" charset="0"/>
                <a:ea typeface="Graphik" charset="0"/>
                <a:cs typeface="Graphik" charset="0"/>
              </a:defRPr>
            </a:lvl1pPr>
            <a:lvl2pPr marL="457017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03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01</a:t>
            </a:r>
          </a:p>
        </p:txBody>
      </p:sp>
      <p:sp>
        <p:nvSpPr>
          <p:cNvPr id="7" name="Intro text">
            <a:extLst>
              <a:ext uri="{FF2B5EF4-FFF2-40B4-BE49-F238E27FC236}">
                <a16:creationId xmlns:a16="http://schemas.microsoft.com/office/drawing/2014/main" id="{D2B03D1E-353E-D768-6A30-AA55AE069D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5138" y="3428728"/>
            <a:ext cx="7535862" cy="2193766"/>
          </a:xfrm>
        </p:spPr>
        <p:txBody>
          <a:bodyPr lIns="0" anchor="b"/>
          <a:lstStyle>
            <a:lvl1pPr marL="0" indent="0">
              <a:lnSpc>
                <a:spcPct val="110000"/>
              </a:lnSpc>
              <a:buNone/>
              <a:defRPr kumimoji="0" lang="en-US" sz="4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Graphik Extralight" charset="0"/>
                <a:cs typeface="Graphik Extralight" charset="0"/>
              </a:defRPr>
            </a:lvl1pPr>
            <a:lvl2pPr marL="0" indent="0">
              <a:lnSpc>
                <a:spcPct val="110000"/>
              </a:lnSpc>
              <a:buFont typeface="Arial" panose="020B0604020202020204" pitchFamily="34" charset="0"/>
              <a:buNone/>
              <a:defRPr kumimoji="0" lang="en-US" sz="4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Graphik Extralight" charset="0"/>
                <a:cs typeface="Graphik Extralight" charset="0"/>
              </a:defRPr>
            </a:lvl2pPr>
            <a:lvl3pPr marL="0" indent="0">
              <a:buNone/>
              <a:defRPr sz="5400">
                <a:latin typeface="+mj-lt"/>
              </a:defRPr>
            </a:lvl3pPr>
          </a:lstStyle>
          <a:p>
            <a:pPr lvl="0"/>
            <a:r>
              <a:rPr lang="en-US"/>
              <a:t>Click to edit </a:t>
            </a:r>
            <a:r>
              <a:rPr lang="pl-PL"/>
              <a:t>m</a:t>
            </a:r>
            <a:r>
              <a:rPr lang="en-US"/>
              <a:t>aster text</a:t>
            </a:r>
            <a:endParaRPr lang="pl-PL"/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33239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2F806-53EB-4AFB-B0F7-2A7BC4E5136F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928152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4C878-35E6-4631-95D1-AE66D6398682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26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F6557B-1FAD-4B21-979D-AF32AE2ABE3A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27837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F6557B-1FAD-4B21-979D-AF32AE2ABE3A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27837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C2CB2-4FB2-4965-A2E7-4A3640116F06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3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525D8-8C3D-4FEA-A4F3-A7048ED97C11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6643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968416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Image - Left-aligned, G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ty skyline at night&#10;&#10;Description automatically generated with low confidence">
            <a:extLst>
              <a:ext uri="{FF2B5EF4-FFF2-40B4-BE49-F238E27FC236}">
                <a16:creationId xmlns:a16="http://schemas.microsoft.com/office/drawing/2014/main" id="{CEC421B1-DA5A-787E-79B3-D22F9C8AF8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7A4A4-F42C-1A83-FEDA-0AFDFFFDD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07" y="4132750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Team members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1A059A3-99AF-82A8-75D3-67F692FB30D3}"/>
              </a:ext>
            </a:extLst>
          </p:cNvPr>
          <p:cNvSpPr txBox="1"/>
          <p:nvPr userDrawn="1"/>
        </p:nvSpPr>
        <p:spPr>
          <a:xfrm>
            <a:off x="279807" y="5694604"/>
            <a:ext cx="23182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Accenture B-School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Next-Horizon Strategy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Challenge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5097151-112E-4372-9CB9-6113667910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9807" y="1701921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Case Topic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A1B0CBE-CE23-4422-94E8-BBC562A7C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9807" y="2934675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4192443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Image - Left-aligned, G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8D73DB1-391D-4EBC-A01D-D0A58B320E3F}"/>
              </a:ext>
            </a:extLst>
          </p:cNvPr>
          <p:cNvSpPr/>
          <p:nvPr/>
        </p:nvSpPr>
        <p:spPr>
          <a:xfrm>
            <a:off x="1200229" y="5941281"/>
            <a:ext cx="138591" cy="146687"/>
          </a:xfrm>
          <a:custGeom>
            <a:avLst/>
            <a:gdLst>
              <a:gd name="connsiteX0" fmla="*/ 0 w 138591"/>
              <a:gd name="connsiteY0" fmla="*/ 103534 h 146687"/>
              <a:gd name="connsiteX1" fmla="*/ 80967 w 138591"/>
              <a:gd name="connsiteY1" fmla="*/ 73473 h 146687"/>
              <a:gd name="connsiteX2" fmla="*/ 0 w 138591"/>
              <a:gd name="connsiteY2" fmla="*/ 41862 h 146687"/>
              <a:gd name="connsiteX3" fmla="*/ 0 w 138591"/>
              <a:gd name="connsiteY3" fmla="*/ 0 h 146687"/>
              <a:gd name="connsiteX4" fmla="*/ 138591 w 138591"/>
              <a:gd name="connsiteY4" fmla="*/ 55815 h 146687"/>
              <a:gd name="connsiteX5" fmla="*/ 138591 w 138591"/>
              <a:gd name="connsiteY5" fmla="*/ 90528 h 146687"/>
              <a:gd name="connsiteX6" fmla="*/ 0 w 138591"/>
              <a:gd name="connsiteY6" fmla="*/ 146688 h 146687"/>
              <a:gd name="connsiteX7" fmla="*/ 0 w 138591"/>
              <a:gd name="connsiteY7" fmla="*/ 103534 h 14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8591" h="146687">
                <a:moveTo>
                  <a:pt x="0" y="103534"/>
                </a:moveTo>
                <a:lnTo>
                  <a:pt x="80967" y="73473"/>
                </a:lnTo>
                <a:lnTo>
                  <a:pt x="0" y="41862"/>
                </a:lnTo>
                <a:lnTo>
                  <a:pt x="0" y="0"/>
                </a:lnTo>
                <a:lnTo>
                  <a:pt x="138591" y="55815"/>
                </a:lnTo>
                <a:lnTo>
                  <a:pt x="138591" y="90528"/>
                </a:lnTo>
                <a:lnTo>
                  <a:pt x="0" y="146688"/>
                </a:lnTo>
                <a:lnTo>
                  <a:pt x="0" y="103534"/>
                </a:lnTo>
                <a:close/>
              </a:path>
            </a:pathLst>
          </a:custGeom>
          <a:solidFill>
            <a:schemeClr val="tx1"/>
          </a:solidFill>
          <a:ln w="85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18377B-B7FD-47CD-A6A5-79A8C77C9B9A}"/>
              </a:ext>
            </a:extLst>
          </p:cNvPr>
          <p:cNvSpPr/>
          <p:nvPr/>
        </p:nvSpPr>
        <p:spPr>
          <a:xfrm>
            <a:off x="381000" y="6097185"/>
            <a:ext cx="1405550" cy="214715"/>
          </a:xfrm>
          <a:custGeom>
            <a:avLst/>
            <a:gdLst>
              <a:gd name="connsiteX0" fmla="*/ 53003 w 1405550"/>
              <a:gd name="connsiteY0" fmla="*/ 214364 h 214715"/>
              <a:gd name="connsiteX1" fmla="*/ -314 w 1405550"/>
              <a:gd name="connsiteY1" fmla="*/ 166559 h 214715"/>
              <a:gd name="connsiteX2" fmla="*/ -314 w 1405550"/>
              <a:gd name="connsiteY2" fmla="*/ 164750 h 214715"/>
              <a:gd name="connsiteX3" fmla="*/ 76259 w 1405550"/>
              <a:gd name="connsiteY3" fmla="*/ 111691 h 214715"/>
              <a:gd name="connsiteX4" fmla="*/ 96415 w 1405550"/>
              <a:gd name="connsiteY4" fmla="*/ 111691 h 214715"/>
              <a:gd name="connsiteX5" fmla="*/ 96415 w 1405550"/>
              <a:gd name="connsiteY5" fmla="*/ 103939 h 214715"/>
              <a:gd name="connsiteX6" fmla="*/ 72556 w 1405550"/>
              <a:gd name="connsiteY6" fmla="*/ 78098 h 214715"/>
              <a:gd name="connsiteX7" fmla="*/ 48093 w 1405550"/>
              <a:gd name="connsiteY7" fmla="*/ 98030 h 214715"/>
              <a:gd name="connsiteX8" fmla="*/ 48007 w 1405550"/>
              <a:gd name="connsiteY8" fmla="*/ 99201 h 214715"/>
              <a:gd name="connsiteX9" fmla="*/ 4940 w 1405550"/>
              <a:gd name="connsiteY9" fmla="*/ 99201 h 214715"/>
              <a:gd name="connsiteX10" fmla="*/ 75054 w 1405550"/>
              <a:gd name="connsiteY10" fmla="*/ 45539 h 214715"/>
              <a:gd name="connsiteX11" fmla="*/ 141980 w 1405550"/>
              <a:gd name="connsiteY11" fmla="*/ 102561 h 214715"/>
              <a:gd name="connsiteX12" fmla="*/ 141980 w 1405550"/>
              <a:gd name="connsiteY12" fmla="*/ 211091 h 214715"/>
              <a:gd name="connsiteX13" fmla="*/ 97707 w 1405550"/>
              <a:gd name="connsiteY13" fmla="*/ 211091 h 214715"/>
              <a:gd name="connsiteX14" fmla="*/ 97707 w 1405550"/>
              <a:gd name="connsiteY14" fmla="*/ 192744 h 214715"/>
              <a:gd name="connsiteX15" fmla="*/ 53003 w 1405550"/>
              <a:gd name="connsiteY15" fmla="*/ 214364 h 214715"/>
              <a:gd name="connsiteX16" fmla="*/ 96071 w 1405550"/>
              <a:gd name="connsiteY16" fmla="*/ 156998 h 214715"/>
              <a:gd name="connsiteX17" fmla="*/ 96071 w 1405550"/>
              <a:gd name="connsiteY17" fmla="*/ 141493 h 214715"/>
              <a:gd name="connsiteX18" fmla="*/ 78068 w 1405550"/>
              <a:gd name="connsiteY18" fmla="*/ 141493 h 214715"/>
              <a:gd name="connsiteX19" fmla="*/ 44303 w 1405550"/>
              <a:gd name="connsiteY19" fmla="*/ 162252 h 214715"/>
              <a:gd name="connsiteX20" fmla="*/ 44303 w 1405550"/>
              <a:gd name="connsiteY20" fmla="*/ 163803 h 214715"/>
              <a:gd name="connsiteX21" fmla="*/ 66268 w 1405550"/>
              <a:gd name="connsiteY21" fmla="*/ 182752 h 214715"/>
              <a:gd name="connsiteX22" fmla="*/ 96415 w 1405550"/>
              <a:gd name="connsiteY22" fmla="*/ 156998 h 214715"/>
              <a:gd name="connsiteX23" fmla="*/ 243964 w 1405550"/>
              <a:gd name="connsiteY23" fmla="*/ 214364 h 214715"/>
              <a:gd name="connsiteX24" fmla="*/ 166443 w 1405550"/>
              <a:gd name="connsiteY24" fmla="*/ 131588 h 214715"/>
              <a:gd name="connsiteX25" fmla="*/ 166443 w 1405550"/>
              <a:gd name="connsiteY25" fmla="*/ 129435 h 214715"/>
              <a:gd name="connsiteX26" fmla="*/ 243964 w 1405550"/>
              <a:gd name="connsiteY26" fmla="*/ 45367 h 214715"/>
              <a:gd name="connsiteX27" fmla="*/ 314940 w 1405550"/>
              <a:gd name="connsiteY27" fmla="*/ 106437 h 214715"/>
              <a:gd name="connsiteX28" fmla="*/ 271872 w 1405550"/>
              <a:gd name="connsiteY28" fmla="*/ 106437 h 214715"/>
              <a:gd name="connsiteX29" fmla="*/ 245170 w 1405550"/>
              <a:gd name="connsiteY29" fmla="*/ 80596 h 214715"/>
              <a:gd name="connsiteX30" fmla="*/ 212697 w 1405550"/>
              <a:gd name="connsiteY30" fmla="*/ 127712 h 214715"/>
              <a:gd name="connsiteX31" fmla="*/ 212697 w 1405550"/>
              <a:gd name="connsiteY31" fmla="*/ 132449 h 214715"/>
              <a:gd name="connsiteX32" fmla="*/ 245515 w 1405550"/>
              <a:gd name="connsiteY32" fmla="*/ 180168 h 214715"/>
              <a:gd name="connsiteX33" fmla="*/ 274973 w 1405550"/>
              <a:gd name="connsiteY33" fmla="*/ 150968 h 214715"/>
              <a:gd name="connsiteX34" fmla="*/ 316232 w 1405550"/>
              <a:gd name="connsiteY34" fmla="*/ 150968 h 214715"/>
              <a:gd name="connsiteX35" fmla="*/ 244309 w 1405550"/>
              <a:gd name="connsiteY35" fmla="*/ 214364 h 214715"/>
              <a:gd name="connsiteX36" fmla="*/ 412617 w 1405550"/>
              <a:gd name="connsiteY36" fmla="*/ 214364 h 214715"/>
              <a:gd name="connsiteX37" fmla="*/ 335095 w 1405550"/>
              <a:gd name="connsiteY37" fmla="*/ 131588 h 214715"/>
              <a:gd name="connsiteX38" fmla="*/ 335095 w 1405550"/>
              <a:gd name="connsiteY38" fmla="*/ 129435 h 214715"/>
              <a:gd name="connsiteX39" fmla="*/ 412617 w 1405550"/>
              <a:gd name="connsiteY39" fmla="*/ 45367 h 214715"/>
              <a:gd name="connsiteX40" fmla="*/ 483592 w 1405550"/>
              <a:gd name="connsiteY40" fmla="*/ 106437 h 214715"/>
              <a:gd name="connsiteX41" fmla="*/ 440524 w 1405550"/>
              <a:gd name="connsiteY41" fmla="*/ 106437 h 214715"/>
              <a:gd name="connsiteX42" fmla="*/ 413909 w 1405550"/>
              <a:gd name="connsiteY42" fmla="*/ 80596 h 214715"/>
              <a:gd name="connsiteX43" fmla="*/ 381350 w 1405550"/>
              <a:gd name="connsiteY43" fmla="*/ 127712 h 214715"/>
              <a:gd name="connsiteX44" fmla="*/ 381350 w 1405550"/>
              <a:gd name="connsiteY44" fmla="*/ 132449 h 214715"/>
              <a:gd name="connsiteX45" fmla="*/ 414167 w 1405550"/>
              <a:gd name="connsiteY45" fmla="*/ 180168 h 214715"/>
              <a:gd name="connsiteX46" fmla="*/ 443625 w 1405550"/>
              <a:gd name="connsiteY46" fmla="*/ 150968 h 214715"/>
              <a:gd name="connsiteX47" fmla="*/ 484884 w 1405550"/>
              <a:gd name="connsiteY47" fmla="*/ 150968 h 214715"/>
              <a:gd name="connsiteX48" fmla="*/ 412961 w 1405550"/>
              <a:gd name="connsiteY48" fmla="*/ 214364 h 214715"/>
              <a:gd name="connsiteX49" fmla="*/ 582561 w 1405550"/>
              <a:gd name="connsiteY49" fmla="*/ 214364 h 214715"/>
              <a:gd name="connsiteX50" fmla="*/ 503834 w 1405550"/>
              <a:gd name="connsiteY50" fmla="*/ 132536 h 214715"/>
              <a:gd name="connsiteX51" fmla="*/ 503834 w 1405550"/>
              <a:gd name="connsiteY51" fmla="*/ 129435 h 214715"/>
              <a:gd name="connsiteX52" fmla="*/ 581355 w 1405550"/>
              <a:gd name="connsiteY52" fmla="*/ 45367 h 214715"/>
              <a:gd name="connsiteX53" fmla="*/ 655517 w 1405550"/>
              <a:gd name="connsiteY53" fmla="*/ 121596 h 214715"/>
              <a:gd name="connsiteX54" fmla="*/ 655517 w 1405550"/>
              <a:gd name="connsiteY54" fmla="*/ 141063 h 214715"/>
              <a:gd name="connsiteX55" fmla="*/ 550088 w 1405550"/>
              <a:gd name="connsiteY55" fmla="*/ 141063 h 214715"/>
              <a:gd name="connsiteX56" fmla="*/ 583853 w 1405550"/>
              <a:gd name="connsiteY56" fmla="*/ 181374 h 214715"/>
              <a:gd name="connsiteX57" fmla="*/ 613656 w 1405550"/>
              <a:gd name="connsiteY57" fmla="*/ 160271 h 214715"/>
              <a:gd name="connsiteX58" fmla="*/ 655517 w 1405550"/>
              <a:gd name="connsiteY58" fmla="*/ 160271 h 214715"/>
              <a:gd name="connsiteX59" fmla="*/ 582905 w 1405550"/>
              <a:gd name="connsiteY59" fmla="*/ 214364 h 214715"/>
              <a:gd name="connsiteX60" fmla="*/ 550346 w 1405550"/>
              <a:gd name="connsiteY60" fmla="*/ 111002 h 214715"/>
              <a:gd name="connsiteX61" fmla="*/ 611072 w 1405550"/>
              <a:gd name="connsiteY61" fmla="*/ 111002 h 214715"/>
              <a:gd name="connsiteX62" fmla="*/ 581355 w 1405550"/>
              <a:gd name="connsiteY62" fmla="*/ 76548 h 214715"/>
              <a:gd name="connsiteX63" fmla="*/ 550691 w 1405550"/>
              <a:gd name="connsiteY63" fmla="*/ 111088 h 214715"/>
              <a:gd name="connsiteX64" fmla="*/ 683080 w 1405550"/>
              <a:gd name="connsiteY64" fmla="*/ 48726 h 214715"/>
              <a:gd name="connsiteX65" fmla="*/ 728301 w 1405550"/>
              <a:gd name="connsiteY65" fmla="*/ 48726 h 214715"/>
              <a:gd name="connsiteX66" fmla="*/ 728301 w 1405550"/>
              <a:gd name="connsiteY66" fmla="*/ 72844 h 214715"/>
              <a:gd name="connsiteX67" fmla="*/ 777312 w 1405550"/>
              <a:gd name="connsiteY67" fmla="*/ 45281 h 214715"/>
              <a:gd name="connsiteX68" fmla="*/ 826323 w 1405550"/>
              <a:gd name="connsiteY68" fmla="*/ 102302 h 214715"/>
              <a:gd name="connsiteX69" fmla="*/ 826323 w 1405550"/>
              <a:gd name="connsiteY69" fmla="*/ 210832 h 214715"/>
              <a:gd name="connsiteX70" fmla="*/ 781016 w 1405550"/>
              <a:gd name="connsiteY70" fmla="*/ 210832 h 214715"/>
              <a:gd name="connsiteX71" fmla="*/ 781016 w 1405550"/>
              <a:gd name="connsiteY71" fmla="*/ 109193 h 214715"/>
              <a:gd name="connsiteX72" fmla="*/ 756812 w 1405550"/>
              <a:gd name="connsiteY72" fmla="*/ 81888 h 214715"/>
              <a:gd name="connsiteX73" fmla="*/ 728181 w 1405550"/>
              <a:gd name="connsiteY73" fmla="*/ 107436 h 214715"/>
              <a:gd name="connsiteX74" fmla="*/ 728301 w 1405550"/>
              <a:gd name="connsiteY74" fmla="*/ 111949 h 214715"/>
              <a:gd name="connsiteX75" fmla="*/ 728301 w 1405550"/>
              <a:gd name="connsiteY75" fmla="*/ 210832 h 214715"/>
              <a:gd name="connsiteX76" fmla="*/ 683080 w 1405550"/>
              <a:gd name="connsiteY76" fmla="*/ 210832 h 214715"/>
              <a:gd name="connsiteX77" fmla="*/ 910993 w 1405550"/>
              <a:gd name="connsiteY77" fmla="*/ -284 h 214715"/>
              <a:gd name="connsiteX78" fmla="*/ 910993 w 1405550"/>
              <a:gd name="connsiteY78" fmla="*/ 48726 h 214715"/>
              <a:gd name="connsiteX79" fmla="*/ 942002 w 1405550"/>
              <a:gd name="connsiteY79" fmla="*/ 48726 h 214715"/>
              <a:gd name="connsiteX80" fmla="*/ 942002 w 1405550"/>
              <a:gd name="connsiteY80" fmla="*/ 82491 h 214715"/>
              <a:gd name="connsiteX81" fmla="*/ 910993 w 1405550"/>
              <a:gd name="connsiteY81" fmla="*/ 82491 h 214715"/>
              <a:gd name="connsiteX82" fmla="*/ 910993 w 1405550"/>
              <a:gd name="connsiteY82" fmla="*/ 159410 h 214715"/>
              <a:gd name="connsiteX83" fmla="*/ 927101 w 1405550"/>
              <a:gd name="connsiteY83" fmla="*/ 177067 h 214715"/>
              <a:gd name="connsiteX84" fmla="*/ 942864 w 1405550"/>
              <a:gd name="connsiteY84" fmla="*/ 174225 h 214715"/>
              <a:gd name="connsiteX85" fmla="*/ 942864 w 1405550"/>
              <a:gd name="connsiteY85" fmla="*/ 209971 h 214715"/>
              <a:gd name="connsiteX86" fmla="*/ 917454 w 1405550"/>
              <a:gd name="connsiteY86" fmla="*/ 213330 h 214715"/>
              <a:gd name="connsiteX87" fmla="*/ 865342 w 1405550"/>
              <a:gd name="connsiteY87" fmla="*/ 164405 h 214715"/>
              <a:gd name="connsiteX88" fmla="*/ 865342 w 1405550"/>
              <a:gd name="connsiteY88" fmla="*/ 82836 h 214715"/>
              <a:gd name="connsiteX89" fmla="*/ 846478 w 1405550"/>
              <a:gd name="connsiteY89" fmla="*/ 82836 h 214715"/>
              <a:gd name="connsiteX90" fmla="*/ 846478 w 1405550"/>
              <a:gd name="connsiteY90" fmla="*/ 49071 h 214715"/>
              <a:gd name="connsiteX91" fmla="*/ 866117 w 1405550"/>
              <a:gd name="connsiteY91" fmla="*/ 49071 h 214715"/>
              <a:gd name="connsiteX92" fmla="*/ 866117 w 1405550"/>
              <a:gd name="connsiteY92" fmla="*/ 18665 h 214715"/>
              <a:gd name="connsiteX93" fmla="*/ 1112549 w 1405550"/>
              <a:gd name="connsiteY93" fmla="*/ 210832 h 214715"/>
              <a:gd name="connsiteX94" fmla="*/ 1067242 w 1405550"/>
              <a:gd name="connsiteY94" fmla="*/ 210832 h 214715"/>
              <a:gd name="connsiteX95" fmla="*/ 1067242 w 1405550"/>
              <a:gd name="connsiteY95" fmla="*/ 186973 h 214715"/>
              <a:gd name="connsiteX96" fmla="*/ 1020127 w 1405550"/>
              <a:gd name="connsiteY96" fmla="*/ 214278 h 214715"/>
              <a:gd name="connsiteX97" fmla="*/ 969565 w 1405550"/>
              <a:gd name="connsiteY97" fmla="*/ 158462 h 214715"/>
              <a:gd name="connsiteX98" fmla="*/ 969565 w 1405550"/>
              <a:gd name="connsiteY98" fmla="*/ 48813 h 214715"/>
              <a:gd name="connsiteX99" fmla="*/ 1015131 w 1405550"/>
              <a:gd name="connsiteY99" fmla="*/ 48813 h 214715"/>
              <a:gd name="connsiteX100" fmla="*/ 1015131 w 1405550"/>
              <a:gd name="connsiteY100" fmla="*/ 151744 h 214715"/>
              <a:gd name="connsiteX101" fmla="*/ 1038732 w 1405550"/>
              <a:gd name="connsiteY101" fmla="*/ 178962 h 214715"/>
              <a:gd name="connsiteX102" fmla="*/ 1067354 w 1405550"/>
              <a:gd name="connsiteY102" fmla="*/ 153036 h 214715"/>
              <a:gd name="connsiteX103" fmla="*/ 1067242 w 1405550"/>
              <a:gd name="connsiteY103" fmla="*/ 148901 h 214715"/>
              <a:gd name="connsiteX104" fmla="*/ 1067242 w 1405550"/>
              <a:gd name="connsiteY104" fmla="*/ 48813 h 214715"/>
              <a:gd name="connsiteX105" fmla="*/ 1112549 w 1405550"/>
              <a:gd name="connsiteY105" fmla="*/ 48813 h 214715"/>
              <a:gd name="connsiteX106" fmla="*/ 1145367 w 1405550"/>
              <a:gd name="connsiteY106" fmla="*/ 48726 h 214715"/>
              <a:gd name="connsiteX107" fmla="*/ 1190674 w 1405550"/>
              <a:gd name="connsiteY107" fmla="*/ 48726 h 214715"/>
              <a:gd name="connsiteX108" fmla="*/ 1190674 w 1405550"/>
              <a:gd name="connsiteY108" fmla="*/ 78443 h 214715"/>
              <a:gd name="connsiteX109" fmla="*/ 1239340 w 1405550"/>
              <a:gd name="connsiteY109" fmla="*/ 46487 h 214715"/>
              <a:gd name="connsiteX110" fmla="*/ 1239340 w 1405550"/>
              <a:gd name="connsiteY110" fmla="*/ 91191 h 214715"/>
              <a:gd name="connsiteX111" fmla="*/ 1190674 w 1405550"/>
              <a:gd name="connsiteY111" fmla="*/ 127454 h 214715"/>
              <a:gd name="connsiteX112" fmla="*/ 1190674 w 1405550"/>
              <a:gd name="connsiteY112" fmla="*/ 210832 h 214715"/>
              <a:gd name="connsiteX113" fmla="*/ 1145367 w 1405550"/>
              <a:gd name="connsiteY113" fmla="*/ 210832 h 214715"/>
              <a:gd name="connsiteX114" fmla="*/ 1332366 w 1405550"/>
              <a:gd name="connsiteY114" fmla="*/ 214278 h 214715"/>
              <a:gd name="connsiteX115" fmla="*/ 1253638 w 1405550"/>
              <a:gd name="connsiteY115" fmla="*/ 132449 h 214715"/>
              <a:gd name="connsiteX116" fmla="*/ 1253638 w 1405550"/>
              <a:gd name="connsiteY116" fmla="*/ 129349 h 214715"/>
              <a:gd name="connsiteX117" fmla="*/ 1331160 w 1405550"/>
              <a:gd name="connsiteY117" fmla="*/ 45281 h 214715"/>
              <a:gd name="connsiteX118" fmla="*/ 1405236 w 1405550"/>
              <a:gd name="connsiteY118" fmla="*/ 121510 h 214715"/>
              <a:gd name="connsiteX119" fmla="*/ 1405236 w 1405550"/>
              <a:gd name="connsiteY119" fmla="*/ 141063 h 214715"/>
              <a:gd name="connsiteX120" fmla="*/ 1299807 w 1405550"/>
              <a:gd name="connsiteY120" fmla="*/ 141063 h 214715"/>
              <a:gd name="connsiteX121" fmla="*/ 1333658 w 1405550"/>
              <a:gd name="connsiteY121" fmla="*/ 181374 h 214715"/>
              <a:gd name="connsiteX122" fmla="*/ 1363375 w 1405550"/>
              <a:gd name="connsiteY122" fmla="*/ 160271 h 214715"/>
              <a:gd name="connsiteX123" fmla="*/ 1405236 w 1405550"/>
              <a:gd name="connsiteY123" fmla="*/ 160271 h 214715"/>
              <a:gd name="connsiteX124" fmla="*/ 1332711 w 1405550"/>
              <a:gd name="connsiteY124" fmla="*/ 214364 h 214715"/>
              <a:gd name="connsiteX125" fmla="*/ 1300152 w 1405550"/>
              <a:gd name="connsiteY125" fmla="*/ 110916 h 214715"/>
              <a:gd name="connsiteX126" fmla="*/ 1360877 w 1405550"/>
              <a:gd name="connsiteY126" fmla="*/ 110916 h 214715"/>
              <a:gd name="connsiteX127" fmla="*/ 1331074 w 1405550"/>
              <a:gd name="connsiteY127" fmla="*/ 76462 h 214715"/>
              <a:gd name="connsiteX128" fmla="*/ 1300496 w 1405550"/>
              <a:gd name="connsiteY128" fmla="*/ 111088 h 21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1405550" h="214715">
                <a:moveTo>
                  <a:pt x="53003" y="214364"/>
                </a:moveTo>
                <a:cubicBezTo>
                  <a:pt x="23889" y="214364"/>
                  <a:pt x="-314" y="199462"/>
                  <a:pt x="-314" y="166559"/>
                </a:cubicBezTo>
                <a:lnTo>
                  <a:pt x="-314" y="164750"/>
                </a:lnTo>
                <a:cubicBezTo>
                  <a:pt x="-314" y="124697"/>
                  <a:pt x="34140" y="111691"/>
                  <a:pt x="76259" y="111691"/>
                </a:cubicBezTo>
                <a:lnTo>
                  <a:pt x="96415" y="111691"/>
                </a:lnTo>
                <a:lnTo>
                  <a:pt x="96415" y="103939"/>
                </a:lnTo>
                <a:cubicBezTo>
                  <a:pt x="96415" y="87832"/>
                  <a:pt x="89266" y="78098"/>
                  <a:pt x="72556" y="78098"/>
                </a:cubicBezTo>
                <a:cubicBezTo>
                  <a:pt x="60299" y="76849"/>
                  <a:pt x="49351" y="85773"/>
                  <a:pt x="48093" y="98030"/>
                </a:cubicBezTo>
                <a:cubicBezTo>
                  <a:pt x="48059" y="98418"/>
                  <a:pt x="48025" y="98805"/>
                  <a:pt x="48007" y="99201"/>
                </a:cubicBezTo>
                <a:lnTo>
                  <a:pt x="4940" y="99201"/>
                </a:lnTo>
                <a:cubicBezTo>
                  <a:pt x="8041" y="63197"/>
                  <a:pt x="36551" y="45539"/>
                  <a:pt x="75054" y="45539"/>
                </a:cubicBezTo>
                <a:cubicBezTo>
                  <a:pt x="113556" y="45539"/>
                  <a:pt x="141980" y="62250"/>
                  <a:pt x="141980" y="102561"/>
                </a:cubicBezTo>
                <a:lnTo>
                  <a:pt x="141980" y="211091"/>
                </a:lnTo>
                <a:lnTo>
                  <a:pt x="97707" y="211091"/>
                </a:lnTo>
                <a:lnTo>
                  <a:pt x="97707" y="192744"/>
                </a:lnTo>
                <a:cubicBezTo>
                  <a:pt x="87474" y="207102"/>
                  <a:pt x="70618" y="215260"/>
                  <a:pt x="53003" y="214364"/>
                </a:cubicBezTo>
                <a:close/>
                <a:moveTo>
                  <a:pt x="96071" y="156998"/>
                </a:moveTo>
                <a:lnTo>
                  <a:pt x="96071" y="141493"/>
                </a:lnTo>
                <a:lnTo>
                  <a:pt x="78068" y="141493"/>
                </a:lnTo>
                <a:cubicBezTo>
                  <a:pt x="55760" y="141493"/>
                  <a:pt x="44303" y="147695"/>
                  <a:pt x="44303" y="162252"/>
                </a:cubicBezTo>
                <a:lnTo>
                  <a:pt x="44303" y="163803"/>
                </a:lnTo>
                <a:cubicBezTo>
                  <a:pt x="44303" y="175000"/>
                  <a:pt x="51108" y="182752"/>
                  <a:pt x="66268" y="182752"/>
                </a:cubicBezTo>
                <a:cubicBezTo>
                  <a:pt x="81428" y="182752"/>
                  <a:pt x="96415" y="174052"/>
                  <a:pt x="96415" y="156998"/>
                </a:cubicBezTo>
                <a:close/>
                <a:moveTo>
                  <a:pt x="243964" y="214364"/>
                </a:moveTo>
                <a:cubicBezTo>
                  <a:pt x="199002" y="214364"/>
                  <a:pt x="166443" y="186456"/>
                  <a:pt x="166443" y="131588"/>
                </a:cubicBezTo>
                <a:lnTo>
                  <a:pt x="166443" y="129435"/>
                </a:lnTo>
                <a:cubicBezTo>
                  <a:pt x="166443" y="74481"/>
                  <a:pt x="200897" y="45367"/>
                  <a:pt x="243964" y="45367"/>
                </a:cubicBezTo>
                <a:cubicBezTo>
                  <a:pt x="280830" y="45367"/>
                  <a:pt x="311236" y="63972"/>
                  <a:pt x="314940" y="106437"/>
                </a:cubicBezTo>
                <a:lnTo>
                  <a:pt x="271872" y="106437"/>
                </a:lnTo>
                <a:cubicBezTo>
                  <a:pt x="269116" y="90674"/>
                  <a:pt x="261019" y="80596"/>
                  <a:pt x="245170" y="80596"/>
                </a:cubicBezTo>
                <a:cubicBezTo>
                  <a:pt x="225962" y="80596"/>
                  <a:pt x="212697" y="95756"/>
                  <a:pt x="212697" y="127712"/>
                </a:cubicBezTo>
                <a:lnTo>
                  <a:pt x="212697" y="132449"/>
                </a:lnTo>
                <a:cubicBezTo>
                  <a:pt x="212697" y="165267"/>
                  <a:pt x="224412" y="180168"/>
                  <a:pt x="245515" y="180168"/>
                </a:cubicBezTo>
                <a:cubicBezTo>
                  <a:pt x="261019" y="180168"/>
                  <a:pt x="272475" y="168712"/>
                  <a:pt x="274973" y="150968"/>
                </a:cubicBezTo>
                <a:lnTo>
                  <a:pt x="316232" y="150968"/>
                </a:lnTo>
                <a:cubicBezTo>
                  <a:pt x="313475" y="188007"/>
                  <a:pt x="288324" y="214364"/>
                  <a:pt x="244309" y="214364"/>
                </a:cubicBezTo>
                <a:close/>
                <a:moveTo>
                  <a:pt x="412617" y="214364"/>
                </a:moveTo>
                <a:cubicBezTo>
                  <a:pt x="367740" y="214364"/>
                  <a:pt x="335095" y="186456"/>
                  <a:pt x="335095" y="131588"/>
                </a:cubicBezTo>
                <a:lnTo>
                  <a:pt x="335095" y="129435"/>
                </a:lnTo>
                <a:cubicBezTo>
                  <a:pt x="335095" y="74481"/>
                  <a:pt x="369549" y="45367"/>
                  <a:pt x="412617" y="45367"/>
                </a:cubicBezTo>
                <a:cubicBezTo>
                  <a:pt x="449482" y="45367"/>
                  <a:pt x="479888" y="63972"/>
                  <a:pt x="483592" y="106437"/>
                </a:cubicBezTo>
                <a:lnTo>
                  <a:pt x="440524" y="106437"/>
                </a:lnTo>
                <a:cubicBezTo>
                  <a:pt x="437768" y="90674"/>
                  <a:pt x="429671" y="80596"/>
                  <a:pt x="413909" y="80596"/>
                </a:cubicBezTo>
                <a:cubicBezTo>
                  <a:pt x="394700" y="80596"/>
                  <a:pt x="381350" y="95756"/>
                  <a:pt x="381350" y="127712"/>
                </a:cubicBezTo>
                <a:lnTo>
                  <a:pt x="381350" y="132449"/>
                </a:lnTo>
                <a:cubicBezTo>
                  <a:pt x="381350" y="165267"/>
                  <a:pt x="393150" y="180168"/>
                  <a:pt x="414167" y="180168"/>
                </a:cubicBezTo>
                <a:cubicBezTo>
                  <a:pt x="429671" y="180168"/>
                  <a:pt x="441214" y="168712"/>
                  <a:pt x="443625" y="150968"/>
                </a:cubicBezTo>
                <a:lnTo>
                  <a:pt x="484884" y="150968"/>
                </a:lnTo>
                <a:cubicBezTo>
                  <a:pt x="482128" y="188007"/>
                  <a:pt x="457062" y="214364"/>
                  <a:pt x="412961" y="214364"/>
                </a:cubicBezTo>
                <a:close/>
                <a:moveTo>
                  <a:pt x="582561" y="214364"/>
                </a:moveTo>
                <a:cubicBezTo>
                  <a:pt x="535790" y="214364"/>
                  <a:pt x="503834" y="186456"/>
                  <a:pt x="503834" y="132536"/>
                </a:cubicBezTo>
                <a:lnTo>
                  <a:pt x="503834" y="129435"/>
                </a:lnTo>
                <a:cubicBezTo>
                  <a:pt x="503834" y="75170"/>
                  <a:pt x="537598" y="45367"/>
                  <a:pt x="581355" y="45367"/>
                </a:cubicBezTo>
                <a:cubicBezTo>
                  <a:pt x="621666" y="45367"/>
                  <a:pt x="655517" y="68020"/>
                  <a:pt x="655517" y="121596"/>
                </a:cubicBezTo>
                <a:lnTo>
                  <a:pt x="655517" y="141063"/>
                </a:lnTo>
                <a:lnTo>
                  <a:pt x="550088" y="141063"/>
                </a:lnTo>
                <a:cubicBezTo>
                  <a:pt x="551897" y="170263"/>
                  <a:pt x="564300" y="181374"/>
                  <a:pt x="583853" y="181374"/>
                </a:cubicBezTo>
                <a:cubicBezTo>
                  <a:pt x="597643" y="182683"/>
                  <a:pt x="610305" y="173708"/>
                  <a:pt x="613656" y="160271"/>
                </a:cubicBezTo>
                <a:lnTo>
                  <a:pt x="655517" y="160271"/>
                </a:lnTo>
                <a:cubicBezTo>
                  <a:pt x="650780" y="191107"/>
                  <a:pt x="625370" y="214364"/>
                  <a:pt x="582905" y="214364"/>
                </a:cubicBezTo>
                <a:close/>
                <a:moveTo>
                  <a:pt x="550346" y="111002"/>
                </a:moveTo>
                <a:lnTo>
                  <a:pt x="611072" y="111002"/>
                </a:lnTo>
                <a:cubicBezTo>
                  <a:pt x="610210" y="87142"/>
                  <a:pt x="599357" y="76548"/>
                  <a:pt x="581355" y="76548"/>
                </a:cubicBezTo>
                <a:cubicBezTo>
                  <a:pt x="567401" y="76979"/>
                  <a:pt x="554395" y="84731"/>
                  <a:pt x="550691" y="111088"/>
                </a:cubicBezTo>
                <a:close/>
                <a:moveTo>
                  <a:pt x="683080" y="48726"/>
                </a:moveTo>
                <a:lnTo>
                  <a:pt x="728301" y="48726"/>
                </a:lnTo>
                <a:lnTo>
                  <a:pt x="728301" y="72844"/>
                </a:lnTo>
                <a:cubicBezTo>
                  <a:pt x="738000" y="55014"/>
                  <a:pt x="757036" y="44299"/>
                  <a:pt x="777312" y="45281"/>
                </a:cubicBezTo>
                <a:cubicBezTo>
                  <a:pt x="806770" y="45281"/>
                  <a:pt x="826323" y="62938"/>
                  <a:pt x="826323" y="102302"/>
                </a:cubicBezTo>
                <a:lnTo>
                  <a:pt x="826323" y="210832"/>
                </a:lnTo>
                <a:lnTo>
                  <a:pt x="781016" y="210832"/>
                </a:lnTo>
                <a:lnTo>
                  <a:pt x="781016" y="109193"/>
                </a:lnTo>
                <a:cubicBezTo>
                  <a:pt x="781016" y="90243"/>
                  <a:pt x="773264" y="81888"/>
                  <a:pt x="756812" y="81888"/>
                </a:cubicBezTo>
                <a:cubicBezTo>
                  <a:pt x="741850" y="81036"/>
                  <a:pt x="729033" y="92474"/>
                  <a:pt x="728181" y="107436"/>
                </a:cubicBezTo>
                <a:cubicBezTo>
                  <a:pt x="728095" y="108943"/>
                  <a:pt x="728138" y="110451"/>
                  <a:pt x="728301" y="111949"/>
                </a:cubicBezTo>
                <a:lnTo>
                  <a:pt x="728301" y="210832"/>
                </a:lnTo>
                <a:lnTo>
                  <a:pt x="683080" y="210832"/>
                </a:lnTo>
                <a:close/>
                <a:moveTo>
                  <a:pt x="910993" y="-284"/>
                </a:moveTo>
                <a:lnTo>
                  <a:pt x="910993" y="48726"/>
                </a:lnTo>
                <a:lnTo>
                  <a:pt x="942002" y="48726"/>
                </a:lnTo>
                <a:lnTo>
                  <a:pt x="942002" y="82491"/>
                </a:lnTo>
                <a:lnTo>
                  <a:pt x="910993" y="82491"/>
                </a:lnTo>
                <a:lnTo>
                  <a:pt x="910993" y="159410"/>
                </a:lnTo>
                <a:cubicBezTo>
                  <a:pt x="910993" y="171468"/>
                  <a:pt x="916506" y="177067"/>
                  <a:pt x="927101" y="177067"/>
                </a:cubicBezTo>
                <a:cubicBezTo>
                  <a:pt x="932493" y="177240"/>
                  <a:pt x="937868" y="176275"/>
                  <a:pt x="942864" y="174225"/>
                </a:cubicBezTo>
                <a:lnTo>
                  <a:pt x="942864" y="209971"/>
                </a:lnTo>
                <a:cubicBezTo>
                  <a:pt x="934595" y="212262"/>
                  <a:pt x="926041" y="213399"/>
                  <a:pt x="917454" y="213330"/>
                </a:cubicBezTo>
                <a:cubicBezTo>
                  <a:pt x="882138" y="213330"/>
                  <a:pt x="865342" y="197223"/>
                  <a:pt x="865342" y="164405"/>
                </a:cubicBezTo>
                <a:lnTo>
                  <a:pt x="865342" y="82836"/>
                </a:lnTo>
                <a:lnTo>
                  <a:pt x="846478" y="82836"/>
                </a:lnTo>
                <a:lnTo>
                  <a:pt x="846478" y="49071"/>
                </a:lnTo>
                <a:lnTo>
                  <a:pt x="866117" y="49071"/>
                </a:lnTo>
                <a:lnTo>
                  <a:pt x="866117" y="18665"/>
                </a:lnTo>
                <a:close/>
                <a:moveTo>
                  <a:pt x="1112549" y="210832"/>
                </a:moveTo>
                <a:lnTo>
                  <a:pt x="1067242" y="210832"/>
                </a:lnTo>
                <a:lnTo>
                  <a:pt x="1067242" y="186973"/>
                </a:lnTo>
                <a:cubicBezTo>
                  <a:pt x="1058431" y="204699"/>
                  <a:pt x="1039886" y="215449"/>
                  <a:pt x="1020127" y="214278"/>
                </a:cubicBezTo>
                <a:cubicBezTo>
                  <a:pt x="990927" y="214278"/>
                  <a:pt x="969565" y="196620"/>
                  <a:pt x="969565" y="158462"/>
                </a:cubicBezTo>
                <a:lnTo>
                  <a:pt x="969565" y="48813"/>
                </a:lnTo>
                <a:lnTo>
                  <a:pt x="1015131" y="48813"/>
                </a:lnTo>
                <a:lnTo>
                  <a:pt x="1015131" y="151744"/>
                </a:lnTo>
                <a:cubicBezTo>
                  <a:pt x="1015131" y="170349"/>
                  <a:pt x="1022625" y="178962"/>
                  <a:pt x="1038732" y="178962"/>
                </a:cubicBezTo>
                <a:cubicBezTo>
                  <a:pt x="1053797" y="179703"/>
                  <a:pt x="1066605" y="168101"/>
                  <a:pt x="1067354" y="153036"/>
                </a:cubicBezTo>
                <a:cubicBezTo>
                  <a:pt x="1067423" y="151658"/>
                  <a:pt x="1067380" y="150279"/>
                  <a:pt x="1067242" y="148901"/>
                </a:cubicBezTo>
                <a:lnTo>
                  <a:pt x="1067242" y="48813"/>
                </a:lnTo>
                <a:lnTo>
                  <a:pt x="1112549" y="48813"/>
                </a:lnTo>
                <a:close/>
                <a:moveTo>
                  <a:pt x="1145367" y="48726"/>
                </a:moveTo>
                <a:lnTo>
                  <a:pt x="1190674" y="48726"/>
                </a:lnTo>
                <a:lnTo>
                  <a:pt x="1190674" y="78443"/>
                </a:lnTo>
                <a:cubicBezTo>
                  <a:pt x="1197935" y="58115"/>
                  <a:pt x="1217798" y="45074"/>
                  <a:pt x="1239340" y="46487"/>
                </a:cubicBezTo>
                <a:lnTo>
                  <a:pt x="1239340" y="91191"/>
                </a:lnTo>
                <a:cubicBezTo>
                  <a:pt x="1208676" y="91191"/>
                  <a:pt x="1190674" y="100493"/>
                  <a:pt x="1190674" y="127454"/>
                </a:cubicBezTo>
                <a:lnTo>
                  <a:pt x="1190674" y="210832"/>
                </a:lnTo>
                <a:lnTo>
                  <a:pt x="1145367" y="210832"/>
                </a:lnTo>
                <a:close/>
                <a:moveTo>
                  <a:pt x="1332366" y="214278"/>
                </a:moveTo>
                <a:cubicBezTo>
                  <a:pt x="1285508" y="214278"/>
                  <a:pt x="1253638" y="186370"/>
                  <a:pt x="1253638" y="132449"/>
                </a:cubicBezTo>
                <a:lnTo>
                  <a:pt x="1253638" y="129349"/>
                </a:lnTo>
                <a:cubicBezTo>
                  <a:pt x="1253638" y="75084"/>
                  <a:pt x="1287403" y="45281"/>
                  <a:pt x="1331160" y="45281"/>
                </a:cubicBezTo>
                <a:cubicBezTo>
                  <a:pt x="1371471" y="45281"/>
                  <a:pt x="1405236" y="67934"/>
                  <a:pt x="1405236" y="121510"/>
                </a:cubicBezTo>
                <a:lnTo>
                  <a:pt x="1405236" y="141063"/>
                </a:lnTo>
                <a:lnTo>
                  <a:pt x="1299807" y="141063"/>
                </a:lnTo>
                <a:cubicBezTo>
                  <a:pt x="1301702" y="170263"/>
                  <a:pt x="1314105" y="181374"/>
                  <a:pt x="1333658" y="181374"/>
                </a:cubicBezTo>
                <a:cubicBezTo>
                  <a:pt x="1347414" y="182631"/>
                  <a:pt x="1360033" y="173674"/>
                  <a:pt x="1363375" y="160271"/>
                </a:cubicBezTo>
                <a:lnTo>
                  <a:pt x="1405236" y="160271"/>
                </a:lnTo>
                <a:cubicBezTo>
                  <a:pt x="1400154" y="191107"/>
                  <a:pt x="1375175" y="214364"/>
                  <a:pt x="1332711" y="214364"/>
                </a:cubicBezTo>
                <a:close/>
                <a:moveTo>
                  <a:pt x="1300152" y="110916"/>
                </a:moveTo>
                <a:lnTo>
                  <a:pt x="1360877" y="110916"/>
                </a:lnTo>
                <a:cubicBezTo>
                  <a:pt x="1359929" y="87056"/>
                  <a:pt x="1349076" y="76462"/>
                  <a:pt x="1331074" y="76462"/>
                </a:cubicBezTo>
                <a:cubicBezTo>
                  <a:pt x="1317206" y="76979"/>
                  <a:pt x="1304200" y="84731"/>
                  <a:pt x="1300496" y="111088"/>
                </a:cubicBezTo>
                <a:close/>
              </a:path>
            </a:pathLst>
          </a:custGeom>
          <a:solidFill>
            <a:schemeClr val="tx1"/>
          </a:solidFill>
          <a:ln w="85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600807"/>
            <a:ext cx="6246042" cy="2492990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7A4A4-F42C-1A83-FEDA-0AFDFFFDD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4224338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00196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525D8-8C3D-4FEA-A4F3-A7048ED97C11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40663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744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3A33DB62-CB79-01CF-0DF4-C353DADFA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779"/>
          <a:stretch/>
        </p:blipFill>
        <p:spPr>
          <a:xfrm>
            <a:off x="1524" y="0"/>
            <a:ext cx="12188952" cy="2552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68" y="419100"/>
            <a:ext cx="11429532" cy="1136715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1828800"/>
            <a:ext cx="11430000" cy="4464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2937" y="2554288"/>
            <a:ext cx="10906125" cy="3478212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2" name="Picture 1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82241DB8-C3B3-46F2-630C-A8500C8431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9C4459-4FCF-36D1-7012-CD1D3645DE93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08A999-4567-2B8E-A91C-3B1A267EBCD4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39EE47E-6A8D-85A1-A7CD-451E65CFB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17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B9124D07-1463-DF1A-9DED-E59CF2A7DE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779"/>
          <a:stretch/>
        </p:blipFill>
        <p:spPr>
          <a:xfrm>
            <a:off x="1524" y="0"/>
            <a:ext cx="12188952" cy="25525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578471"/>
            <a:ext cx="11430000" cy="57334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2937" y="1429171"/>
            <a:ext cx="10906125" cy="3478212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DD33DB6-17D3-1D21-045A-180E4602B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EE450D-2C41-6015-13CA-9EA3F89E2D99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E56D5-513D-4066-1E23-D723C12F63C6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D0C551F-56AD-EFB0-9141-BC26B724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C4986B-0CF1-4791-AE40-063D1C0DC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936" y="859347"/>
            <a:ext cx="10906125" cy="393954"/>
          </a:xfrm>
        </p:spPr>
        <p:txBody>
          <a:bodyPr wrap="square" anchor="t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</p:spTree>
    <p:extLst>
      <p:ext uri="{BB962C8B-B14F-4D97-AF65-F5344CB8AC3E}">
        <p14:creationId xmlns:p14="http://schemas.microsoft.com/office/powerpoint/2010/main" val="809524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1EEA6CD-FE2B-3518-7363-CCD1F2D9B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A394997-029E-65F2-A4C5-F8AA26A410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E23304-5345-1EDA-115D-84317B6E5D67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9937F-4EA5-9B8D-55F7-58793CF784A2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6D91864-15A9-8B36-C349-D42D2ECAA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098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1EEA6CD-FE2B-3518-7363-CCD1F2D9B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A394997-029E-65F2-A4C5-F8AA26A410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E23304-5345-1EDA-115D-84317B6E5D67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9937F-4EA5-9B8D-55F7-58793CF784A2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6D91864-15A9-8B36-C349-D42D2ECAA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35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FEDEF5E-B65C-2B39-3CDB-C6C5E33B88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7D570-694E-0244-1B53-4703C3406F1E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52F56-61B4-78B0-9630-E2673BFB81EB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7DDBC2DF-6E62-B90B-3875-CA1D1BA66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341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ackground pattern&#10;&#10;Description automatically generated">
            <a:extLst>
              <a:ext uri="{FF2B5EF4-FFF2-40B4-BE49-F238E27FC236}">
                <a16:creationId xmlns:a16="http://schemas.microsoft.com/office/drawing/2014/main" id="{E1337FA5-A70C-9EE8-26C7-E9AADAA33D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pic>
        <p:nvPicPr>
          <p:cNvPr id="25" name="Picture 2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40970C0-70D4-E2CC-0F29-AC1BFC4EC5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685F17-2D51-6747-A26D-2D218FF8DD93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0A5AFE-18D4-247D-A86B-3C05EE1FD680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8B637B5E-A052-73DA-AC74-FCF7E6532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381AE8-13A8-F06B-24ED-D14AD53C364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430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F06B3-1844-84A8-E661-FFA40975D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2999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7D271E0-0BA0-0A2F-910F-1206DDD058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30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D463BDEB-F525-C5BB-5BA2-F4E661D66AA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47933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93906B97-A8D1-ADD7-E91D-BC19A4D04F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932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8923D737-C362-01DF-05E2-7DEBCD04F0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47933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95C1AAF7-B406-4998-037D-03AA2962D3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552866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28D6CD2-2F8C-2351-691E-BBA769EAF3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52865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8A8762DD-0FEA-B4A3-3374-C4785A9D49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52866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E1DE6DE-E888-B10E-D254-D373731EBBE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2578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89180913-74D9-8A36-616A-4AAB1AC640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7799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F314B5EF-FDA2-EC49-B4E7-063614D4DD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578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9D22BA0-2421-D65E-1FB8-6C2F8E84B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356740"/>
            <a:ext cx="10286998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68C2A61-8D65-EA48-3357-A98833890D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3000" y="933002"/>
            <a:ext cx="10287000" cy="292100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20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8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" b="62784"/>
          <a:stretch/>
        </p:blipFill>
        <p:spPr>
          <a:xfrm>
            <a:off x="1185" y="0"/>
            <a:ext cx="12189630" cy="25530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578471"/>
            <a:ext cx="11430000" cy="57334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DD33DB6-17D3-1D21-045A-180E4602B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EE450D-2C41-6015-13CA-9EA3F89E2D99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E56D5-513D-4066-1E23-D723C12F63C6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D0C551F-56AD-EFB0-9141-BC26B724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381AE8-13A8-F06B-24ED-D14AD53C364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430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F06B3-1844-84A8-E661-FFA40975D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3000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7D271E0-0BA0-0A2F-910F-1206DDD058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30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D463BDEB-F525-C5BB-5BA2-F4E661D66AA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47933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93906B97-A8D1-ADD7-E91D-BC19A4D04F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933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8923D737-C362-01DF-05E2-7DEBCD04F0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47933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95C1AAF7-B406-4998-037D-03AA2962D3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552866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28D6CD2-2F8C-2351-691E-BBA769EAF3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52866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8A8762DD-0FEA-B4A3-3374-C4785A9D49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52866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E1DE6DE-E888-B10E-D254-D373731EBBE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2578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89180913-74D9-8A36-616A-4AAB1AC640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7800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F314B5EF-FDA2-EC49-B4E7-063614D4DD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578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9D22BA0-2421-D65E-1FB8-6C2F8E84B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356740"/>
            <a:ext cx="10286998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68C2A61-8D65-EA48-3357-A98833890D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3000" y="933002"/>
            <a:ext cx="10287000" cy="292100"/>
          </a:xfrm>
        </p:spPr>
        <p:txBody>
          <a:bodyPr/>
          <a:lstStyle>
            <a:lvl1pPr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20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90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AF0885-2F0A-4AA6-A875-A37E3A1C3DC0}"/>
              </a:ext>
            </a:extLst>
          </p:cNvPr>
          <p:cNvSpPr>
            <a:spLocks/>
          </p:cNvSpPr>
          <p:nvPr userDrawn="1"/>
        </p:nvSpPr>
        <p:spPr>
          <a:xfrm>
            <a:off x="135809" y="130130"/>
            <a:ext cx="11920383" cy="6597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1169"/>
            <a:ext cx="11430000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640116"/>
            <a:ext cx="11430000" cy="4172994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-Light" panose="020B04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62AA138-A236-01B2-4E67-64D86396BB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55FE47-B848-29AC-D68B-7EAFEFADEB09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9BE74B-ABA6-2465-0682-098DE7F57603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EB162B84-EDA1-71B2-3E4E-0D08EF99C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FC5BC2E7-671D-3179-6C33-F1505C34EF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custGeom>
            <a:avLst/>
            <a:gdLst>
              <a:gd name="connsiteX0" fmla="*/ 134676 w 12188952"/>
              <a:gd name="connsiteY0" fmla="*/ 129600 h 6858000"/>
              <a:gd name="connsiteX1" fmla="*/ 134676 w 12188952"/>
              <a:gd name="connsiteY1" fmla="*/ 6728400 h 6858000"/>
              <a:gd name="connsiteX2" fmla="*/ 12054276 w 12188952"/>
              <a:gd name="connsiteY2" fmla="*/ 6728400 h 6858000"/>
              <a:gd name="connsiteX3" fmla="*/ 12054276 w 12188952"/>
              <a:gd name="connsiteY3" fmla="*/ 129600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34676" y="129600"/>
                </a:moveTo>
                <a:lnTo>
                  <a:pt x="134676" y="6728400"/>
                </a:lnTo>
                <a:lnTo>
                  <a:pt x="12054276" y="6728400"/>
                </a:lnTo>
                <a:lnTo>
                  <a:pt x="12054276" y="12960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5133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CFBD7941-757D-854B-5D47-68C5EC6014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63" b="39063"/>
          <a:stretch/>
        </p:blipFill>
        <p:spPr>
          <a:xfrm>
            <a:off x="135808" y="130129"/>
            <a:ext cx="11920384" cy="6597741"/>
          </a:xfrm>
          <a:prstGeom prst="rect">
            <a:avLst/>
          </a:prstGeom>
        </p:spPr>
      </p:pic>
      <p:pic>
        <p:nvPicPr>
          <p:cNvPr id="4" name="Picture 3" descr="Background pattern&#10;&#10;Description automatically generated" hidden="1">
            <a:extLst>
              <a:ext uri="{FF2B5EF4-FFF2-40B4-BE49-F238E27FC236}">
                <a16:creationId xmlns:a16="http://schemas.microsoft.com/office/drawing/2014/main" id="{73CACFE1-4B7E-E853-BFF8-C72A658865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4" cy="6597741"/>
          </a:xfrm>
          <a:prstGeom prst="rect">
            <a:avLst/>
          </a:prstGeom>
        </p:spPr>
      </p:pic>
      <p:pic>
        <p:nvPicPr>
          <p:cNvPr id="9" name="Picture 8" descr="Background pattern&#10;&#10;Description automatically generated" hidden="1">
            <a:extLst>
              <a:ext uri="{FF2B5EF4-FFF2-40B4-BE49-F238E27FC236}">
                <a16:creationId xmlns:a16="http://schemas.microsoft.com/office/drawing/2014/main" id="{970F20F0-E09F-1E58-30DC-4AA2145D16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89600"/>
            <a:ext cx="11430000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640116"/>
            <a:ext cx="11430000" cy="4172994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7" name="Picture 1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64E9254B-10DC-3AD1-3C58-C99FF6BCC9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16F227-2C46-3C4B-D93F-9C0FF9A8C94A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614923-AC2D-B8B1-F69B-9B16B1793A4A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39A36242-074A-F5DE-9C6A-3A6D211F0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03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885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9502030-B187-FE51-4FE0-32C86C0F5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7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9502030-B187-FE51-4FE0-32C86C0F5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7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316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CDE1A5-7B8C-446C-B047-DEF343C830D4}" type="datetime2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Monday, September 26, 2022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06473"/>
            <a:ext cx="192024" cy="202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8E1FC7-2070-C6D2-9539-8A395D566A2E}"/>
              </a:ext>
            </a:extLst>
          </p:cNvPr>
          <p:cNvSpPr txBox="1"/>
          <p:nvPr userDrawn="1"/>
        </p:nvSpPr>
        <p:spPr>
          <a:xfrm>
            <a:off x="8317890" y="6204312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2022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91400-851B-BCD8-B484-8AD24764356F}"/>
              </a:ext>
            </a:extLst>
          </p:cNvPr>
          <p:cNvSpPr txBox="1"/>
          <p:nvPr userDrawn="1"/>
        </p:nvSpPr>
        <p:spPr>
          <a:xfrm>
            <a:off x="11430000" y="6203026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F61F0E23-B742-F8E2-EAD8-F20E43429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199234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3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9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91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92" r:id="rId28"/>
    <p:sldLayoutId id="2147483686" r:id="rId29"/>
    <p:sldLayoutId id="2147483687" r:id="rId30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hart" Target="../charts/chart3.xml"/><Relationship Id="rId3" Type="http://schemas.openxmlformats.org/officeDocument/2006/relationships/slideLayout" Target="../slideLayouts/slideLayout19.xml"/><Relationship Id="rId7" Type="http://schemas.microsoft.com/office/2007/relationships/hdphoto" Target="../media/hdphoto2.wdp"/><Relationship Id="rId12" Type="http://schemas.openxmlformats.org/officeDocument/2006/relationships/image" Target="../media/image2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22.png"/><Relationship Id="rId1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chart" Target="../charts/chart5.xml"/><Relationship Id="rId7" Type="http://schemas.microsoft.com/office/2007/relationships/hdphoto" Target="../media/hdphoto4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3.png"/><Relationship Id="rId5" Type="http://schemas.microsoft.com/office/2007/relationships/hdphoto" Target="../media/hdphoto3.wdp"/><Relationship Id="rId4" Type="http://schemas.openxmlformats.org/officeDocument/2006/relationships/image" Target="../media/image32.png"/><Relationship Id="rId9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40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Relationship Id="rId6" Type="http://schemas.microsoft.com/office/2007/relationships/hdphoto" Target="../media/hdphoto4.wdp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svg"/><Relationship Id="rId4" Type="http://schemas.microsoft.com/office/2007/relationships/hdphoto" Target="../media/hdphoto3.wdp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chart" Target="../charts/chart6.xml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6.png"/><Relationship Id="rId5" Type="http://schemas.openxmlformats.org/officeDocument/2006/relationships/image" Target="../media/image45.jpeg"/><Relationship Id="rId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B09F7-1491-4ED5-99A6-E747AE954B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239" y="1269539"/>
            <a:ext cx="5715000" cy="763587"/>
          </a:xfrm>
        </p:spPr>
        <p:txBody>
          <a:bodyPr/>
          <a:lstStyle/>
          <a:p>
            <a:r>
              <a:rPr lang="en-IN" sz="1800" dirty="0"/>
              <a:t>E-Commerce Strategy</a:t>
            </a:r>
          </a:p>
          <a:p>
            <a:r>
              <a:rPr lang="en-IN" sz="1300" b="0" i="1" dirty="0"/>
              <a:t>- Designing Digital Strategy for a Home Textiles Brand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E6A4AB-D8EA-4F33-A556-7078CE135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9807" y="2316093"/>
            <a:ext cx="5715000" cy="763587"/>
          </a:xfrm>
        </p:spPr>
        <p:txBody>
          <a:bodyPr/>
          <a:lstStyle/>
          <a:p>
            <a:r>
              <a:rPr lang="en-IN" sz="1600"/>
              <a:t>Team Aspirants</a:t>
            </a:r>
          </a:p>
        </p:txBody>
      </p:sp>
      <p:pic>
        <p:nvPicPr>
          <p:cNvPr id="2050" name="Picture 2" descr="Indian Institute of Management Lucknow - Wikipedia">
            <a:extLst>
              <a:ext uri="{FF2B5EF4-FFF2-40B4-BE49-F238E27FC236}">
                <a16:creationId xmlns:a16="http://schemas.microsoft.com/office/drawing/2014/main" id="{8A23970B-BC5C-3A93-E451-E93152758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254" y="159304"/>
            <a:ext cx="565938" cy="50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id="{78A0C5A4-3046-B0A0-4726-D2FBC6CA1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07" y="2697886"/>
            <a:ext cx="866142" cy="960089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859696-B090-D32A-C204-BB205B7B4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39" y="4131127"/>
            <a:ext cx="905710" cy="96009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0FB7F5-02AB-854B-2208-3F48C5B22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994" y="4131127"/>
            <a:ext cx="859406" cy="960090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53CE4-F419-86E9-41DA-6D5CDA7A689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708" b="12195"/>
          <a:stretch/>
        </p:blipFill>
        <p:spPr>
          <a:xfrm>
            <a:off x="1667358" y="2700810"/>
            <a:ext cx="850042" cy="960091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D3BA0F-CD76-DDFE-040C-540BCBD1D3B1}"/>
              </a:ext>
            </a:extLst>
          </p:cNvPr>
          <p:cNvSpPr txBox="1"/>
          <p:nvPr/>
        </p:nvSpPr>
        <p:spPr>
          <a:xfrm>
            <a:off x="240239" y="3657975"/>
            <a:ext cx="1086756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 err="1"/>
              <a:t>Archit</a:t>
            </a:r>
            <a:r>
              <a:rPr lang="en-IN" sz="1200" i="1" dirty="0"/>
              <a:t> Kapoor</a:t>
            </a:r>
            <a:endParaRPr lang="en-US" sz="12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C5DE9-CCE6-E65E-041F-4D54ED33F2DB}"/>
              </a:ext>
            </a:extLst>
          </p:cNvPr>
          <p:cNvSpPr txBox="1"/>
          <p:nvPr/>
        </p:nvSpPr>
        <p:spPr>
          <a:xfrm>
            <a:off x="1492647" y="3657975"/>
            <a:ext cx="1264018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/>
              <a:t>Deeksha Verma</a:t>
            </a:r>
            <a:endParaRPr lang="en-US" sz="1200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C2636-D72E-7F10-EE06-81E2BDF3FF2C}"/>
              </a:ext>
            </a:extLst>
          </p:cNvPr>
          <p:cNvSpPr txBox="1"/>
          <p:nvPr/>
        </p:nvSpPr>
        <p:spPr>
          <a:xfrm>
            <a:off x="266029" y="5139420"/>
            <a:ext cx="1264018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err="1"/>
              <a:t>Hensi</a:t>
            </a:r>
            <a:r>
              <a:rPr lang="en-IN" sz="1200" i="1"/>
              <a:t> </a:t>
            </a:r>
            <a:r>
              <a:rPr lang="en-IN" sz="1200" i="1" err="1"/>
              <a:t>Sheth</a:t>
            </a:r>
            <a:endParaRPr lang="en-US" sz="1200" noProof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81D79-A3D0-4D30-26CD-1B17FA4E405F}"/>
              </a:ext>
            </a:extLst>
          </p:cNvPr>
          <p:cNvSpPr txBox="1"/>
          <p:nvPr/>
        </p:nvSpPr>
        <p:spPr>
          <a:xfrm>
            <a:off x="1565814" y="5155128"/>
            <a:ext cx="1264018" cy="228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err="1"/>
              <a:t>Sanyam</a:t>
            </a:r>
            <a:r>
              <a:rPr lang="en-IN" sz="1200" i="1"/>
              <a:t> Gupta</a:t>
            </a:r>
            <a:endParaRPr lang="en-US" sz="12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7654E4-7D95-ACEE-BB66-C3E6003168A2}"/>
              </a:ext>
            </a:extLst>
          </p:cNvPr>
          <p:cNvSpPr txBox="1"/>
          <p:nvPr/>
        </p:nvSpPr>
        <p:spPr>
          <a:xfrm>
            <a:off x="65528" y="3863218"/>
            <a:ext cx="1427119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Procurement Lead</a:t>
            </a:r>
            <a:endParaRPr lang="en-US" sz="12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B1C71-8466-A699-628C-23BB920A01EC}"/>
              </a:ext>
            </a:extLst>
          </p:cNvPr>
          <p:cNvSpPr txBox="1"/>
          <p:nvPr/>
        </p:nvSpPr>
        <p:spPr>
          <a:xfrm>
            <a:off x="1492647" y="3863218"/>
            <a:ext cx="1427119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Marketing Lead</a:t>
            </a:r>
            <a:endParaRPr lang="en-US" sz="12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A0BCD-1DD1-E7D4-E77A-CC1ABA12FDC6}"/>
              </a:ext>
            </a:extLst>
          </p:cNvPr>
          <p:cNvSpPr txBox="1"/>
          <p:nvPr/>
        </p:nvSpPr>
        <p:spPr>
          <a:xfrm>
            <a:off x="255888" y="5383663"/>
            <a:ext cx="977304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Digital Lead</a:t>
            </a:r>
            <a:endParaRPr lang="en-US" sz="12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BF2D2-4F2C-27E6-FDA8-540464FA9B61}"/>
              </a:ext>
            </a:extLst>
          </p:cNvPr>
          <p:cNvSpPr txBox="1"/>
          <p:nvPr/>
        </p:nvSpPr>
        <p:spPr>
          <a:xfrm>
            <a:off x="1431663" y="5383662"/>
            <a:ext cx="1427119" cy="2541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200" i="1" dirty="0"/>
              <a:t>Supply Chain Lead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33944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133C0-C2BB-4004-9C70-EA103922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630" y="779437"/>
            <a:ext cx="10906125" cy="344710"/>
          </a:xfrm>
        </p:spPr>
        <p:txBody>
          <a:bodyPr/>
          <a:lstStyle/>
          <a:p>
            <a:r>
              <a:rPr lang="en-IN" sz="2800" dirty="0"/>
              <a:t>Addressable Ecommerce Market Size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9069CE-9684-B11F-06F1-229C8F7243B9}"/>
              </a:ext>
            </a:extLst>
          </p:cNvPr>
          <p:cNvGrpSpPr/>
          <p:nvPr/>
        </p:nvGrpSpPr>
        <p:grpSpPr>
          <a:xfrm>
            <a:off x="642934" y="1794953"/>
            <a:ext cx="6052113" cy="1666217"/>
            <a:chOff x="503964" y="1628189"/>
            <a:chExt cx="6052113" cy="268345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2AB5073-D959-DFD2-A7D7-9F2E631624BD}"/>
                </a:ext>
              </a:extLst>
            </p:cNvPr>
            <p:cNvSpPr/>
            <p:nvPr/>
          </p:nvSpPr>
          <p:spPr>
            <a:xfrm>
              <a:off x="503964" y="2723048"/>
              <a:ext cx="2009955" cy="60828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Home Textile Market Size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0898F52-29EA-AF0B-C8CA-8E848DBA731B}"/>
                </a:ext>
              </a:extLst>
            </p:cNvPr>
            <p:cNvSpPr/>
            <p:nvPr/>
          </p:nvSpPr>
          <p:spPr>
            <a:xfrm>
              <a:off x="3066894" y="1628189"/>
              <a:ext cx="1539296" cy="7267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Supermarkets &amp; Hypermarkets 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9991C2-FBD8-67A5-EF6A-63138A64297C}"/>
                </a:ext>
              </a:extLst>
            </p:cNvPr>
            <p:cNvSpPr/>
            <p:nvPr/>
          </p:nvSpPr>
          <p:spPr>
            <a:xfrm>
              <a:off x="5296625" y="1630716"/>
              <a:ext cx="1242199" cy="56806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Bedsheets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331F7AC-57CD-85B2-A298-D1842F3170DF}"/>
                </a:ext>
              </a:extLst>
            </p:cNvPr>
            <p:cNvSpPr/>
            <p:nvPr/>
          </p:nvSpPr>
          <p:spPr>
            <a:xfrm>
              <a:off x="5267484" y="2730408"/>
              <a:ext cx="1276706" cy="4333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Towels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E8A485E-12B2-7850-963D-3BB1085A3C43}"/>
                </a:ext>
              </a:extLst>
            </p:cNvPr>
            <p:cNvSpPr/>
            <p:nvPr/>
          </p:nvSpPr>
          <p:spPr>
            <a:xfrm>
              <a:off x="5279370" y="3601370"/>
              <a:ext cx="1276707" cy="49658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 Top of Bed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999DDFB-D3EC-3A52-DF2F-E5BC29204F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1572" y="2271688"/>
              <a:ext cx="350819" cy="58947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5FAC1D-84FA-2940-4370-0C05AC337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9300" y="2178107"/>
              <a:ext cx="593103" cy="74178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F670AF-AC56-5E8C-32A0-F36EE415B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54" y="3041714"/>
              <a:ext cx="5405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CFB945A-AC21-A339-2AF8-AB3127CA7B0E}"/>
                </a:ext>
              </a:extLst>
            </p:cNvPr>
            <p:cNvSpPr/>
            <p:nvPr/>
          </p:nvSpPr>
          <p:spPr>
            <a:xfrm>
              <a:off x="3034400" y="2769611"/>
              <a:ext cx="1311215" cy="4333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Online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0EE654B-190F-D2D5-77DB-40A22CDD0C22}"/>
                </a:ext>
              </a:extLst>
            </p:cNvPr>
            <p:cNvSpPr/>
            <p:nvPr/>
          </p:nvSpPr>
          <p:spPr>
            <a:xfrm>
              <a:off x="3044562" y="3686527"/>
              <a:ext cx="1311215" cy="6251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Speciality Stores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7E4E83-54DB-7965-AB65-6AFB9CFA3D02}"/>
                </a:ext>
              </a:extLst>
            </p:cNvPr>
            <p:cNvCxnSpPr/>
            <p:nvPr/>
          </p:nvCxnSpPr>
          <p:spPr>
            <a:xfrm flipH="1">
              <a:off x="2591572" y="3001223"/>
              <a:ext cx="3450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FFD6052-C8FA-385F-8095-A5BC9F31B7D7}"/>
                </a:ext>
              </a:extLst>
            </p:cNvPr>
            <p:cNvCxnSpPr>
              <a:cxnSpLocks/>
            </p:cNvCxnSpPr>
            <p:nvPr/>
          </p:nvCxnSpPr>
          <p:spPr>
            <a:xfrm>
              <a:off x="2585832" y="3249750"/>
              <a:ext cx="356536" cy="58947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BD1534B-F4A5-0E24-4052-FCCB9122A03E}"/>
                </a:ext>
              </a:extLst>
            </p:cNvPr>
            <p:cNvCxnSpPr>
              <a:cxnSpLocks/>
            </p:cNvCxnSpPr>
            <p:nvPr/>
          </p:nvCxnSpPr>
          <p:spPr>
            <a:xfrm>
              <a:off x="4535396" y="3156871"/>
              <a:ext cx="552469" cy="62105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F9B15DAC-335D-787E-E9C9-412679E4E662}"/>
              </a:ext>
            </a:extLst>
          </p:cNvPr>
          <p:cNvSpPr/>
          <p:nvPr/>
        </p:nvSpPr>
        <p:spPr>
          <a:xfrm>
            <a:off x="2568426" y="1263984"/>
            <a:ext cx="2796715" cy="4217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Total Addressable Market (By Category)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AECE792-1DB3-A677-5D23-2B24AF32DB0C}"/>
              </a:ext>
            </a:extLst>
          </p:cNvPr>
          <p:cNvCxnSpPr>
            <a:cxnSpLocks/>
          </p:cNvCxnSpPr>
          <p:nvPr/>
        </p:nvCxnSpPr>
        <p:spPr>
          <a:xfrm flipV="1">
            <a:off x="7362825" y="723874"/>
            <a:ext cx="0" cy="564832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8D9A485-A8C1-0FA2-C687-4C2FBCAB6716}"/>
              </a:ext>
            </a:extLst>
          </p:cNvPr>
          <p:cNvCxnSpPr>
            <a:cxnSpLocks/>
          </p:cNvCxnSpPr>
          <p:nvPr/>
        </p:nvCxnSpPr>
        <p:spPr>
          <a:xfrm>
            <a:off x="489642" y="3581400"/>
            <a:ext cx="6744876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D027A5FA-3EA1-E3DD-2584-4EC67D963C72}"/>
              </a:ext>
            </a:extLst>
          </p:cNvPr>
          <p:cNvSpPr/>
          <p:nvPr/>
        </p:nvSpPr>
        <p:spPr>
          <a:xfrm>
            <a:off x="638903" y="3670465"/>
            <a:ext cx="2540440" cy="37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Serviceable Addressable Market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B267D66-9A0F-F1EF-C1F3-08448828509E}"/>
              </a:ext>
            </a:extLst>
          </p:cNvPr>
          <p:cNvGrpSpPr/>
          <p:nvPr/>
        </p:nvGrpSpPr>
        <p:grpSpPr>
          <a:xfrm>
            <a:off x="8357757" y="2971359"/>
            <a:ext cx="2578360" cy="1840760"/>
            <a:chOff x="7371869" y="3595211"/>
            <a:chExt cx="2910840" cy="2987623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9A817EE-7576-7DAC-1FDA-2934E5F12834}"/>
                </a:ext>
              </a:extLst>
            </p:cNvPr>
            <p:cNvGrpSpPr/>
            <p:nvPr/>
          </p:nvGrpSpPr>
          <p:grpSpPr>
            <a:xfrm>
              <a:off x="7371869" y="3646627"/>
              <a:ext cx="2910840" cy="2936207"/>
              <a:chOff x="7371869" y="3646627"/>
              <a:chExt cx="2910840" cy="2936207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E28BBE9A-8B9E-9C18-BA79-D25CE857C6BA}"/>
                  </a:ext>
                </a:extLst>
              </p:cNvPr>
              <p:cNvSpPr/>
              <p:nvPr/>
            </p:nvSpPr>
            <p:spPr>
              <a:xfrm>
                <a:off x="7371869" y="3646627"/>
                <a:ext cx="2910840" cy="293620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C729522-28BF-3E82-F17F-2D4ACFB0C1C1}"/>
                  </a:ext>
                </a:extLst>
              </p:cNvPr>
              <p:cNvSpPr/>
              <p:nvPr/>
            </p:nvSpPr>
            <p:spPr>
              <a:xfrm>
                <a:off x="7655639" y="4247823"/>
                <a:ext cx="2303700" cy="233172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96DDCE6-757B-1CF0-DB1F-CF72C5003296}"/>
                  </a:ext>
                </a:extLst>
              </p:cNvPr>
              <p:cNvSpPr/>
              <p:nvPr/>
            </p:nvSpPr>
            <p:spPr>
              <a:xfrm>
                <a:off x="7869693" y="4922232"/>
                <a:ext cx="1899132" cy="164669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F093EB-9C20-CCFC-BE02-6A0F4A6800DB}"/>
                </a:ext>
              </a:extLst>
            </p:cNvPr>
            <p:cNvSpPr txBox="1"/>
            <p:nvPr/>
          </p:nvSpPr>
          <p:spPr>
            <a:xfrm>
              <a:off x="8209962" y="3595211"/>
              <a:ext cx="1234655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TAM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$ 0.49Bn 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F07B0EB-CEFE-9014-71E1-04C711EAAF96}"/>
                </a:ext>
              </a:extLst>
            </p:cNvPr>
            <p:cNvSpPr txBox="1"/>
            <p:nvPr/>
          </p:nvSpPr>
          <p:spPr>
            <a:xfrm>
              <a:off x="8036401" y="4223632"/>
              <a:ext cx="1613216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SAM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 $ 0.31Bn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9E8C376-2A3B-600D-D65F-BD1C3C5591AB}"/>
                </a:ext>
              </a:extLst>
            </p:cNvPr>
            <p:cNvSpPr txBox="1"/>
            <p:nvPr/>
          </p:nvSpPr>
          <p:spPr>
            <a:xfrm>
              <a:off x="8225397" y="5057048"/>
              <a:ext cx="1221617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SOM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$ 0.05Bn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58958EC7-A1E3-E31D-6870-DFEF9D40E2A7}"/>
              </a:ext>
            </a:extLst>
          </p:cNvPr>
          <p:cNvSpPr txBox="1"/>
          <p:nvPr/>
        </p:nvSpPr>
        <p:spPr>
          <a:xfrm>
            <a:off x="1370426" y="2876814"/>
            <a:ext cx="542839" cy="206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$7 Bn</a:t>
            </a: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A8AD03C-8863-34D8-3083-5E2C0DD80AEF}"/>
              </a:ext>
            </a:extLst>
          </p:cNvPr>
          <p:cNvSpPr txBox="1"/>
          <p:nvPr/>
        </p:nvSpPr>
        <p:spPr>
          <a:xfrm>
            <a:off x="2859401" y="2460914"/>
            <a:ext cx="228821" cy="1606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7%</a:t>
            </a: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B779B41-C875-7775-769F-844CE2F004B4}"/>
              </a:ext>
            </a:extLst>
          </p:cNvPr>
          <p:cNvSpPr txBox="1"/>
          <p:nvPr/>
        </p:nvSpPr>
        <p:spPr>
          <a:xfrm>
            <a:off x="3486014" y="2800986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$0.49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9D2730C-EFE4-4D83-90A0-5B8909623FF9}"/>
              </a:ext>
            </a:extLst>
          </p:cNvPr>
          <p:cNvSpPr txBox="1"/>
          <p:nvPr/>
        </p:nvSpPr>
        <p:spPr>
          <a:xfrm>
            <a:off x="4866115" y="207119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45%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EB5DDE7-091F-8632-E3CE-D0D309D156DC}"/>
              </a:ext>
            </a:extLst>
          </p:cNvPr>
          <p:cNvSpPr txBox="1"/>
          <p:nvPr/>
        </p:nvSpPr>
        <p:spPr>
          <a:xfrm>
            <a:off x="4866115" y="2490836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15%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73165AB-67A5-F778-C64D-0D271EE1738D}"/>
              </a:ext>
            </a:extLst>
          </p:cNvPr>
          <p:cNvSpPr txBox="1"/>
          <p:nvPr/>
        </p:nvSpPr>
        <p:spPr>
          <a:xfrm>
            <a:off x="4858919" y="2760115"/>
            <a:ext cx="566491" cy="1688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IN" sz="1200">
              <a:solidFill>
                <a:schemeClr val="bg1"/>
              </a:solidFill>
            </a:endParaRPr>
          </a:p>
          <a:p>
            <a:pPr algn="l" defTabSz="228600">
              <a:spcAft>
                <a:spcPts val="1200"/>
              </a:spcAft>
            </a:pPr>
            <a:r>
              <a:rPr lang="en-IN" sz="1200" noProof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E301CAA-CA13-9AB7-8617-112457B9F6D3}"/>
              </a:ext>
            </a:extLst>
          </p:cNvPr>
          <p:cNvSpPr txBox="1"/>
          <p:nvPr/>
        </p:nvSpPr>
        <p:spPr>
          <a:xfrm>
            <a:off x="5703353" y="2183932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$0.22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FA8A23B-29CE-0297-62AB-D780A844D76F}"/>
              </a:ext>
            </a:extLst>
          </p:cNvPr>
          <p:cNvSpPr txBox="1"/>
          <p:nvPr/>
        </p:nvSpPr>
        <p:spPr>
          <a:xfrm>
            <a:off x="5663141" y="2755482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$0.075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F28EBBF-5366-2878-0016-B5DE9B541744}"/>
              </a:ext>
            </a:extLst>
          </p:cNvPr>
          <p:cNvSpPr txBox="1"/>
          <p:nvPr/>
        </p:nvSpPr>
        <p:spPr>
          <a:xfrm>
            <a:off x="5703353" y="3345307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$0.10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B6542D-C672-95E1-FA7D-D42273C7F5EA}"/>
              </a:ext>
            </a:extLst>
          </p:cNvPr>
          <p:cNvGrpSpPr/>
          <p:nvPr/>
        </p:nvGrpSpPr>
        <p:grpSpPr>
          <a:xfrm>
            <a:off x="470333" y="4489662"/>
            <a:ext cx="2817028" cy="908130"/>
            <a:chOff x="-1573847" y="1815418"/>
            <a:chExt cx="2817028" cy="90813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F548861-ABA6-DF35-3044-2258514BE1DF}"/>
                </a:ext>
              </a:extLst>
            </p:cNvPr>
            <p:cNvSpPr/>
            <p:nvPr/>
          </p:nvSpPr>
          <p:spPr>
            <a:xfrm>
              <a:off x="-1573847" y="2317363"/>
              <a:ext cx="955528" cy="4061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1/ Metro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616E88-2171-F4F2-0005-E6D26FB9AC1A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 flipH="1">
              <a:off x="-584289" y="1815418"/>
              <a:ext cx="329185" cy="2489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FB6CAF-75BE-B02C-480E-68A8C68545E4}"/>
                </a:ext>
              </a:extLst>
            </p:cNvPr>
            <p:cNvSpPr/>
            <p:nvPr/>
          </p:nvSpPr>
          <p:spPr>
            <a:xfrm>
              <a:off x="-496512" y="2317363"/>
              <a:ext cx="691746" cy="4061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2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22642E-B919-92A7-9D5D-0220F803D260}"/>
                </a:ext>
              </a:extLst>
            </p:cNvPr>
            <p:cNvSpPr/>
            <p:nvPr/>
          </p:nvSpPr>
          <p:spPr>
            <a:xfrm>
              <a:off x="471687" y="2321683"/>
              <a:ext cx="771494" cy="3660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3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2C9338-CBC8-69A3-CD56-AD4DCCE7A0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77862" y="1843908"/>
              <a:ext cx="0" cy="17312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EBC202-5AE9-EF22-68CD-B6C1AE04A4D1}"/>
                </a:ext>
              </a:extLst>
            </p:cNvPr>
            <p:cNvCxnSpPr>
              <a:cxnSpLocks/>
            </p:cNvCxnSpPr>
            <p:nvPr/>
          </p:nvCxnSpPr>
          <p:spPr>
            <a:xfrm>
              <a:off x="-121609" y="1829904"/>
              <a:ext cx="374312" cy="30112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B7511B-E3A0-E8FC-C101-5635CEB789C3}"/>
              </a:ext>
            </a:extLst>
          </p:cNvPr>
          <p:cNvSpPr/>
          <p:nvPr/>
        </p:nvSpPr>
        <p:spPr>
          <a:xfrm>
            <a:off x="874010" y="4112472"/>
            <a:ext cx="2009955" cy="34336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Total Addressable Market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16385-0697-D08A-88CC-644812B7787C}"/>
              </a:ext>
            </a:extLst>
          </p:cNvPr>
          <p:cNvSpPr txBox="1"/>
          <p:nvPr/>
        </p:nvSpPr>
        <p:spPr>
          <a:xfrm>
            <a:off x="3002912" y="4174691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$0.49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565606D5-3910-11D5-558F-49A034D811E4}"/>
              </a:ext>
            </a:extLst>
          </p:cNvPr>
          <p:cNvGraphicFramePr/>
          <p:nvPr/>
        </p:nvGraphicFramePr>
        <p:xfrm>
          <a:off x="7981908" y="808092"/>
          <a:ext cx="3406892" cy="1947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6C9335-DB44-49ED-984E-7C0E004042EB}"/>
              </a:ext>
            </a:extLst>
          </p:cNvPr>
          <p:cNvCxnSpPr>
            <a:cxnSpLocks/>
          </p:cNvCxnSpPr>
          <p:nvPr/>
        </p:nvCxnSpPr>
        <p:spPr>
          <a:xfrm flipV="1">
            <a:off x="3782130" y="3692515"/>
            <a:ext cx="7404" cy="248014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1885F4D-5309-F095-853A-59A58B11E9A1}"/>
              </a:ext>
            </a:extLst>
          </p:cNvPr>
          <p:cNvSpPr txBox="1"/>
          <p:nvPr/>
        </p:nvSpPr>
        <p:spPr>
          <a:xfrm>
            <a:off x="1140990" y="473865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22%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B3F157-53F4-075D-3CFE-CF60FBE551BE}"/>
              </a:ext>
            </a:extLst>
          </p:cNvPr>
          <p:cNvSpPr txBox="1"/>
          <p:nvPr/>
        </p:nvSpPr>
        <p:spPr>
          <a:xfrm>
            <a:off x="1716341" y="4739911"/>
            <a:ext cx="329185" cy="18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40%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9BF441-B084-727E-400A-F8EAC5391AAF}"/>
              </a:ext>
            </a:extLst>
          </p:cNvPr>
          <p:cNvSpPr txBox="1"/>
          <p:nvPr/>
        </p:nvSpPr>
        <p:spPr>
          <a:xfrm>
            <a:off x="2435820" y="478315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38%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CE1EBB-0B6D-E47C-8367-C0F08432C345}"/>
              </a:ext>
            </a:extLst>
          </p:cNvPr>
          <p:cNvSpPr txBox="1"/>
          <p:nvPr/>
        </p:nvSpPr>
        <p:spPr>
          <a:xfrm>
            <a:off x="642934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$0.11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4EA5D1-8925-CA2C-5EE5-1D2D39217E89}"/>
              </a:ext>
            </a:extLst>
          </p:cNvPr>
          <p:cNvSpPr txBox="1"/>
          <p:nvPr/>
        </p:nvSpPr>
        <p:spPr>
          <a:xfrm>
            <a:off x="1636270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$0.20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DC6FC9-BC2C-6A80-919E-D699E45F07A4}"/>
              </a:ext>
            </a:extLst>
          </p:cNvPr>
          <p:cNvSpPr txBox="1"/>
          <p:nvPr/>
        </p:nvSpPr>
        <p:spPr>
          <a:xfrm>
            <a:off x="2630944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$0.18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3C3F98B-2BD9-CEE3-5671-6630D7125125}"/>
              </a:ext>
            </a:extLst>
          </p:cNvPr>
          <p:cNvSpPr/>
          <p:nvPr/>
        </p:nvSpPr>
        <p:spPr>
          <a:xfrm>
            <a:off x="786767" y="5802636"/>
            <a:ext cx="2291574" cy="30829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SAM = 0.11 + 0.20 = 0.31 Bn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FCD896-8D70-C46E-25DC-9F46A7515DBD}"/>
              </a:ext>
            </a:extLst>
          </p:cNvPr>
          <p:cNvSpPr/>
          <p:nvPr/>
        </p:nvSpPr>
        <p:spPr>
          <a:xfrm>
            <a:off x="4368059" y="3718904"/>
            <a:ext cx="2615904" cy="406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Serviceable Obtainable Market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58E7DC-4306-7ECC-2F11-9EEF495DEA94}"/>
              </a:ext>
            </a:extLst>
          </p:cNvPr>
          <p:cNvSpPr/>
          <p:nvPr/>
        </p:nvSpPr>
        <p:spPr>
          <a:xfrm>
            <a:off x="4318993" y="4334267"/>
            <a:ext cx="2718363" cy="45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Current Share of ABC = 10%</a:t>
            </a:r>
          </a:p>
          <a:p>
            <a:pPr algn="ctr"/>
            <a:r>
              <a:rPr lang="en-IN" sz="1200" dirty="0"/>
              <a:t>(leading home textile player)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1A527A-40D2-66D2-51D4-ADBE18C9C20E}"/>
              </a:ext>
            </a:extLst>
          </p:cNvPr>
          <p:cNvSpPr/>
          <p:nvPr/>
        </p:nvSpPr>
        <p:spPr>
          <a:xfrm>
            <a:off x="4278139" y="4828484"/>
            <a:ext cx="2757657" cy="6506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Potential increase in share = 5%</a:t>
            </a:r>
          </a:p>
          <a:p>
            <a:pPr algn="ctr"/>
            <a:r>
              <a:rPr lang="en-IN" sz="1200" dirty="0"/>
              <a:t>(campaigns and ideal portfolio mix)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630131-98F2-DDFA-AE6E-68BBA58C6ABB}"/>
              </a:ext>
            </a:extLst>
          </p:cNvPr>
          <p:cNvSpPr/>
          <p:nvPr/>
        </p:nvSpPr>
        <p:spPr>
          <a:xfrm>
            <a:off x="4386220" y="5799909"/>
            <a:ext cx="2291574" cy="30829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SOM = 0.15*0.31 = 0.05 Bn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72617-FC16-6FEE-6EC2-9AE81787A07F}"/>
              </a:ext>
            </a:extLst>
          </p:cNvPr>
          <p:cNvCxnSpPr>
            <a:cxnSpLocks/>
          </p:cNvCxnSpPr>
          <p:nvPr/>
        </p:nvCxnSpPr>
        <p:spPr>
          <a:xfrm>
            <a:off x="7556873" y="2915657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34A6086-C0F7-6CE6-0CB3-6A713DC4F515}"/>
              </a:ext>
            </a:extLst>
          </p:cNvPr>
          <p:cNvSpPr/>
          <p:nvPr/>
        </p:nvSpPr>
        <p:spPr>
          <a:xfrm>
            <a:off x="7527598" y="5167628"/>
            <a:ext cx="4168587" cy="10050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/>
              <a:t>Assumptions:</a:t>
            </a:r>
          </a:p>
          <a:p>
            <a:pPr marL="228600" indent="-228600">
              <a:buAutoNum type="arabicPeriod"/>
            </a:pPr>
            <a:r>
              <a:rPr lang="en-IN" sz="1200"/>
              <a:t>Current share of ABC is 10% as it is a leading player</a:t>
            </a:r>
          </a:p>
          <a:p>
            <a:pPr marL="228600" indent="-228600">
              <a:buAutoNum type="arabicPeriod"/>
            </a:pPr>
            <a:r>
              <a:rPr lang="en-IN" sz="1200"/>
              <a:t>People are willing to switch between brands and there is scope to gain market share</a:t>
            </a:r>
          </a:p>
          <a:p>
            <a:pPr marL="228600" indent="-228600">
              <a:buAutoNum type="arabicPeriod"/>
            </a:pPr>
            <a:r>
              <a:rPr lang="en-IN" sz="1200"/>
              <a:t>Only targeting tier 1 and 2 cities and ignoring tier 3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7051C8-2AB7-98F8-ECAF-5336E87AE7D2}"/>
              </a:ext>
            </a:extLst>
          </p:cNvPr>
          <p:cNvCxnSpPr>
            <a:cxnSpLocks/>
          </p:cNvCxnSpPr>
          <p:nvPr/>
        </p:nvCxnSpPr>
        <p:spPr>
          <a:xfrm>
            <a:off x="7439223" y="4909383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6442CD-4D87-671E-2BD2-125E231F5A70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27" name="Arrow: Chevron 3">
              <a:extLst>
                <a:ext uri="{FF2B5EF4-FFF2-40B4-BE49-F238E27FC236}">
                  <a16:creationId xmlns:a16="http://schemas.microsoft.com/office/drawing/2014/main" id="{156A7A39-961F-9DC5-49A5-A44202BD4D30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8" name="Arrow: Chevron 5">
              <a:extLst>
                <a:ext uri="{FF2B5EF4-FFF2-40B4-BE49-F238E27FC236}">
                  <a16:creationId xmlns:a16="http://schemas.microsoft.com/office/drawing/2014/main" id="{1806727A-6CAA-999B-FFD6-9EB6CDE84050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9" name="Arrow: Chevron 6">
              <a:extLst>
                <a:ext uri="{FF2B5EF4-FFF2-40B4-BE49-F238E27FC236}">
                  <a16:creationId xmlns:a16="http://schemas.microsoft.com/office/drawing/2014/main" id="{48E05D30-6217-D298-83B8-863904C0EFF4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30" name="Arrow: Chevron 7">
              <a:extLst>
                <a:ext uri="{FF2B5EF4-FFF2-40B4-BE49-F238E27FC236}">
                  <a16:creationId xmlns:a16="http://schemas.microsoft.com/office/drawing/2014/main" id="{FD665519-887A-1C62-FE5A-E6C9D89DE7DB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31" name="Arrow: Chevron 8">
              <a:extLst>
                <a:ext uri="{FF2B5EF4-FFF2-40B4-BE49-F238E27FC236}">
                  <a16:creationId xmlns:a16="http://schemas.microsoft.com/office/drawing/2014/main" id="{06F75E20-BB53-6936-7758-A00BEE9FB923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32" name="Arrow: Chevron 11">
              <a:extLst>
                <a:ext uri="{FF2B5EF4-FFF2-40B4-BE49-F238E27FC236}">
                  <a16:creationId xmlns:a16="http://schemas.microsoft.com/office/drawing/2014/main" id="{FE6DA11E-3DE7-E864-4E30-7C95B3D19ABD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9CCE2E-302D-5692-A9B3-885B85272C3C}"/>
              </a:ext>
            </a:extLst>
          </p:cNvPr>
          <p:cNvSpPr txBox="1"/>
          <p:nvPr/>
        </p:nvSpPr>
        <p:spPr>
          <a:xfrm>
            <a:off x="786767" y="6695735"/>
            <a:ext cx="5111757" cy="1622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100" noProof="0" dirty="0">
                <a:solidFill>
                  <a:schemeClr val="bg1"/>
                </a:solidFill>
              </a:rPr>
              <a:t>Source: EMIS Reports, Textile Ministry</a:t>
            </a:r>
          </a:p>
        </p:txBody>
      </p:sp>
    </p:spTree>
    <p:extLst>
      <p:ext uri="{BB962C8B-B14F-4D97-AF65-F5344CB8AC3E}">
        <p14:creationId xmlns:p14="http://schemas.microsoft.com/office/powerpoint/2010/main" val="40224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133C0-C2BB-4004-9C70-EA103922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630" y="779437"/>
            <a:ext cx="10906125" cy="344710"/>
          </a:xfrm>
        </p:spPr>
        <p:txBody>
          <a:bodyPr/>
          <a:lstStyle/>
          <a:p>
            <a:r>
              <a:rPr lang="en-IN" sz="2800" dirty="0"/>
              <a:t>Addressable Ecommerce Market Size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9069CE-9684-B11F-06F1-229C8F7243B9}"/>
              </a:ext>
            </a:extLst>
          </p:cNvPr>
          <p:cNvGrpSpPr/>
          <p:nvPr/>
        </p:nvGrpSpPr>
        <p:grpSpPr>
          <a:xfrm>
            <a:off x="642934" y="1794953"/>
            <a:ext cx="6052113" cy="1666217"/>
            <a:chOff x="503964" y="1628189"/>
            <a:chExt cx="6052113" cy="268345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2AB5073-D959-DFD2-A7D7-9F2E631624BD}"/>
                </a:ext>
              </a:extLst>
            </p:cNvPr>
            <p:cNvSpPr/>
            <p:nvPr/>
          </p:nvSpPr>
          <p:spPr>
            <a:xfrm>
              <a:off x="503964" y="2723048"/>
              <a:ext cx="2009955" cy="60828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Home Textile Market Size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0898F52-29EA-AF0B-C8CA-8E848DBA731B}"/>
                </a:ext>
              </a:extLst>
            </p:cNvPr>
            <p:cNvSpPr/>
            <p:nvPr/>
          </p:nvSpPr>
          <p:spPr>
            <a:xfrm>
              <a:off x="3066894" y="1628189"/>
              <a:ext cx="1539296" cy="7267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Supermarkets &amp; Hypermarkets 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9991C2-FBD8-67A5-EF6A-63138A64297C}"/>
                </a:ext>
              </a:extLst>
            </p:cNvPr>
            <p:cNvSpPr/>
            <p:nvPr/>
          </p:nvSpPr>
          <p:spPr>
            <a:xfrm>
              <a:off x="5296625" y="1630716"/>
              <a:ext cx="1242199" cy="56806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Bedsheets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331F7AC-57CD-85B2-A298-D1842F3170DF}"/>
                </a:ext>
              </a:extLst>
            </p:cNvPr>
            <p:cNvSpPr/>
            <p:nvPr/>
          </p:nvSpPr>
          <p:spPr>
            <a:xfrm>
              <a:off x="5267484" y="2730408"/>
              <a:ext cx="1276706" cy="4333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Towels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E8A485E-12B2-7850-963D-3BB1085A3C43}"/>
                </a:ext>
              </a:extLst>
            </p:cNvPr>
            <p:cNvSpPr/>
            <p:nvPr/>
          </p:nvSpPr>
          <p:spPr>
            <a:xfrm>
              <a:off x="5279370" y="3601370"/>
              <a:ext cx="1276707" cy="49658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 Top of Bed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999DDFB-D3EC-3A52-DF2F-E5BC29204F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1572" y="2271688"/>
              <a:ext cx="350819" cy="58947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5FAC1D-84FA-2940-4370-0C05AC337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9300" y="2178107"/>
              <a:ext cx="593103" cy="74178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F670AF-AC56-5E8C-32A0-F36EE415B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54" y="3041714"/>
              <a:ext cx="54059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CFB945A-AC21-A339-2AF8-AB3127CA7B0E}"/>
                </a:ext>
              </a:extLst>
            </p:cNvPr>
            <p:cNvSpPr/>
            <p:nvPr/>
          </p:nvSpPr>
          <p:spPr>
            <a:xfrm>
              <a:off x="3034400" y="2769611"/>
              <a:ext cx="1311215" cy="4333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Online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0EE654B-190F-D2D5-77DB-40A22CDD0C22}"/>
                </a:ext>
              </a:extLst>
            </p:cNvPr>
            <p:cNvSpPr/>
            <p:nvPr/>
          </p:nvSpPr>
          <p:spPr>
            <a:xfrm>
              <a:off x="3044562" y="3686527"/>
              <a:ext cx="1311215" cy="6251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/>
                <a:t>Speciality Stores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7E4E83-54DB-7965-AB65-6AFB9CFA3D02}"/>
                </a:ext>
              </a:extLst>
            </p:cNvPr>
            <p:cNvCxnSpPr/>
            <p:nvPr/>
          </p:nvCxnSpPr>
          <p:spPr>
            <a:xfrm flipH="1">
              <a:off x="2591572" y="3001223"/>
              <a:ext cx="3450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FFD6052-C8FA-385F-8095-A5BC9F31B7D7}"/>
                </a:ext>
              </a:extLst>
            </p:cNvPr>
            <p:cNvCxnSpPr>
              <a:cxnSpLocks/>
            </p:cNvCxnSpPr>
            <p:nvPr/>
          </p:nvCxnSpPr>
          <p:spPr>
            <a:xfrm>
              <a:off x="2585832" y="3249750"/>
              <a:ext cx="356536" cy="58947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BD1534B-F4A5-0E24-4052-FCCB9122A03E}"/>
                </a:ext>
              </a:extLst>
            </p:cNvPr>
            <p:cNvCxnSpPr>
              <a:cxnSpLocks/>
            </p:cNvCxnSpPr>
            <p:nvPr/>
          </p:nvCxnSpPr>
          <p:spPr>
            <a:xfrm>
              <a:off x="4535396" y="3156871"/>
              <a:ext cx="552469" cy="62105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F9B15DAC-335D-787E-E9C9-412679E4E662}"/>
              </a:ext>
            </a:extLst>
          </p:cNvPr>
          <p:cNvSpPr/>
          <p:nvPr/>
        </p:nvSpPr>
        <p:spPr>
          <a:xfrm>
            <a:off x="2568426" y="1263984"/>
            <a:ext cx="2796715" cy="4217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Total Addressable Market (By Category)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AECE792-1DB3-A677-5D23-2B24AF32DB0C}"/>
              </a:ext>
            </a:extLst>
          </p:cNvPr>
          <p:cNvCxnSpPr>
            <a:cxnSpLocks/>
          </p:cNvCxnSpPr>
          <p:nvPr/>
        </p:nvCxnSpPr>
        <p:spPr>
          <a:xfrm flipV="1">
            <a:off x="7362825" y="723874"/>
            <a:ext cx="0" cy="564832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8D9A485-A8C1-0FA2-C687-4C2FBCAB6716}"/>
              </a:ext>
            </a:extLst>
          </p:cNvPr>
          <p:cNvCxnSpPr>
            <a:cxnSpLocks/>
          </p:cNvCxnSpPr>
          <p:nvPr/>
        </p:nvCxnSpPr>
        <p:spPr>
          <a:xfrm>
            <a:off x="489642" y="3581400"/>
            <a:ext cx="6744876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D027A5FA-3EA1-E3DD-2584-4EC67D963C72}"/>
              </a:ext>
            </a:extLst>
          </p:cNvPr>
          <p:cNvSpPr/>
          <p:nvPr/>
        </p:nvSpPr>
        <p:spPr>
          <a:xfrm>
            <a:off x="638903" y="3670465"/>
            <a:ext cx="2540440" cy="37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Serviceable Addressable Market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B267D66-9A0F-F1EF-C1F3-08448828509E}"/>
              </a:ext>
            </a:extLst>
          </p:cNvPr>
          <p:cNvGrpSpPr/>
          <p:nvPr/>
        </p:nvGrpSpPr>
        <p:grpSpPr>
          <a:xfrm>
            <a:off x="8357757" y="2971359"/>
            <a:ext cx="2578360" cy="1840760"/>
            <a:chOff x="7371869" y="3595211"/>
            <a:chExt cx="2910840" cy="2987623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9A817EE-7576-7DAC-1FDA-2934E5F12834}"/>
                </a:ext>
              </a:extLst>
            </p:cNvPr>
            <p:cNvGrpSpPr/>
            <p:nvPr/>
          </p:nvGrpSpPr>
          <p:grpSpPr>
            <a:xfrm>
              <a:off x="7371869" y="3646627"/>
              <a:ext cx="2910840" cy="2936207"/>
              <a:chOff x="7371869" y="3646627"/>
              <a:chExt cx="2910840" cy="2936207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E28BBE9A-8B9E-9C18-BA79-D25CE857C6BA}"/>
                  </a:ext>
                </a:extLst>
              </p:cNvPr>
              <p:cNvSpPr/>
              <p:nvPr/>
            </p:nvSpPr>
            <p:spPr>
              <a:xfrm>
                <a:off x="7371869" y="3646627"/>
                <a:ext cx="2910840" cy="2936207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C729522-28BF-3E82-F17F-2D4ACFB0C1C1}"/>
                  </a:ext>
                </a:extLst>
              </p:cNvPr>
              <p:cNvSpPr/>
              <p:nvPr/>
            </p:nvSpPr>
            <p:spPr>
              <a:xfrm>
                <a:off x="7655639" y="4247823"/>
                <a:ext cx="2303700" cy="233172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96DDCE6-757B-1CF0-DB1F-CF72C5003296}"/>
                  </a:ext>
                </a:extLst>
              </p:cNvPr>
              <p:cNvSpPr/>
              <p:nvPr/>
            </p:nvSpPr>
            <p:spPr>
              <a:xfrm>
                <a:off x="7869693" y="4922232"/>
                <a:ext cx="1899132" cy="164669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F093EB-9C20-CCFC-BE02-6A0F4A6800DB}"/>
                </a:ext>
              </a:extLst>
            </p:cNvPr>
            <p:cNvSpPr txBox="1"/>
            <p:nvPr/>
          </p:nvSpPr>
          <p:spPr>
            <a:xfrm>
              <a:off x="8209962" y="3595211"/>
              <a:ext cx="1234655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TAM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$ 0.49Bn 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F07B0EB-CEFE-9014-71E1-04C711EAAF96}"/>
                </a:ext>
              </a:extLst>
            </p:cNvPr>
            <p:cNvSpPr txBox="1"/>
            <p:nvPr/>
          </p:nvSpPr>
          <p:spPr>
            <a:xfrm>
              <a:off x="8036401" y="4223632"/>
              <a:ext cx="1613216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SAM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 $ 0.31Bn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9E8C376-2A3B-600D-D65F-BD1C3C5591AB}"/>
                </a:ext>
              </a:extLst>
            </p:cNvPr>
            <p:cNvSpPr txBox="1"/>
            <p:nvPr/>
          </p:nvSpPr>
          <p:spPr>
            <a:xfrm>
              <a:off x="8225397" y="5057048"/>
              <a:ext cx="1221617" cy="749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SOM</a:t>
              </a:r>
            </a:p>
            <a:p>
              <a:pPr algn="ctr"/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$ 0.05Bn</a:t>
              </a: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58958EC7-A1E3-E31D-6870-DFEF9D40E2A7}"/>
              </a:ext>
            </a:extLst>
          </p:cNvPr>
          <p:cNvSpPr txBox="1"/>
          <p:nvPr/>
        </p:nvSpPr>
        <p:spPr>
          <a:xfrm>
            <a:off x="1370426" y="2876814"/>
            <a:ext cx="542839" cy="206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$7 Bn</a:t>
            </a: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A8AD03C-8863-34D8-3083-5E2C0DD80AEF}"/>
              </a:ext>
            </a:extLst>
          </p:cNvPr>
          <p:cNvSpPr txBox="1"/>
          <p:nvPr/>
        </p:nvSpPr>
        <p:spPr>
          <a:xfrm>
            <a:off x="2859401" y="2460914"/>
            <a:ext cx="228821" cy="1606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7%</a:t>
            </a: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B779B41-C875-7775-769F-844CE2F004B4}"/>
              </a:ext>
            </a:extLst>
          </p:cNvPr>
          <p:cNvSpPr txBox="1"/>
          <p:nvPr/>
        </p:nvSpPr>
        <p:spPr>
          <a:xfrm>
            <a:off x="3486014" y="2800986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$0.49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9D2730C-EFE4-4D83-90A0-5B8909623FF9}"/>
              </a:ext>
            </a:extLst>
          </p:cNvPr>
          <p:cNvSpPr txBox="1"/>
          <p:nvPr/>
        </p:nvSpPr>
        <p:spPr>
          <a:xfrm>
            <a:off x="4866115" y="207119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45%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EB5DDE7-091F-8632-E3CE-D0D309D156DC}"/>
              </a:ext>
            </a:extLst>
          </p:cNvPr>
          <p:cNvSpPr txBox="1"/>
          <p:nvPr/>
        </p:nvSpPr>
        <p:spPr>
          <a:xfrm>
            <a:off x="4866115" y="2490836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15%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73165AB-67A5-F778-C64D-0D271EE1738D}"/>
              </a:ext>
            </a:extLst>
          </p:cNvPr>
          <p:cNvSpPr txBox="1"/>
          <p:nvPr/>
        </p:nvSpPr>
        <p:spPr>
          <a:xfrm>
            <a:off x="4858919" y="2760115"/>
            <a:ext cx="566491" cy="1688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IN" sz="1200">
              <a:solidFill>
                <a:schemeClr val="bg1"/>
              </a:solidFill>
            </a:endParaRPr>
          </a:p>
          <a:p>
            <a:pPr algn="l" defTabSz="228600">
              <a:spcAft>
                <a:spcPts val="1200"/>
              </a:spcAft>
            </a:pPr>
            <a:r>
              <a:rPr lang="en-IN" sz="1200" noProof="0">
                <a:solidFill>
                  <a:schemeClr val="bg1"/>
                </a:solidFill>
              </a:rPr>
              <a:t>20%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E301CAA-CA13-9AB7-8617-112457B9F6D3}"/>
              </a:ext>
            </a:extLst>
          </p:cNvPr>
          <p:cNvSpPr txBox="1"/>
          <p:nvPr/>
        </p:nvSpPr>
        <p:spPr>
          <a:xfrm>
            <a:off x="5703353" y="2183932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$0.22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FA8A23B-29CE-0297-62AB-D780A844D76F}"/>
              </a:ext>
            </a:extLst>
          </p:cNvPr>
          <p:cNvSpPr txBox="1"/>
          <p:nvPr/>
        </p:nvSpPr>
        <p:spPr>
          <a:xfrm>
            <a:off x="5663141" y="2755482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$0.075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F28EBBF-5366-2878-0016-B5DE9B541744}"/>
              </a:ext>
            </a:extLst>
          </p:cNvPr>
          <p:cNvSpPr txBox="1"/>
          <p:nvPr/>
        </p:nvSpPr>
        <p:spPr>
          <a:xfrm>
            <a:off x="5703353" y="3345307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$0.10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B6542D-C672-95E1-FA7D-D42273C7F5EA}"/>
              </a:ext>
            </a:extLst>
          </p:cNvPr>
          <p:cNvGrpSpPr/>
          <p:nvPr/>
        </p:nvGrpSpPr>
        <p:grpSpPr>
          <a:xfrm>
            <a:off x="470333" y="4489662"/>
            <a:ext cx="2817028" cy="908130"/>
            <a:chOff x="-1573847" y="1815418"/>
            <a:chExt cx="2817028" cy="90813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F548861-ABA6-DF35-3044-2258514BE1DF}"/>
                </a:ext>
              </a:extLst>
            </p:cNvPr>
            <p:cNvSpPr/>
            <p:nvPr/>
          </p:nvSpPr>
          <p:spPr>
            <a:xfrm>
              <a:off x="-1573847" y="2317363"/>
              <a:ext cx="955528" cy="4061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1/ Metro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616E88-2171-F4F2-0005-E6D26FB9AC1A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 flipH="1">
              <a:off x="-584289" y="1815418"/>
              <a:ext cx="329185" cy="2489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FB6CAF-75BE-B02C-480E-68A8C68545E4}"/>
                </a:ext>
              </a:extLst>
            </p:cNvPr>
            <p:cNvSpPr/>
            <p:nvPr/>
          </p:nvSpPr>
          <p:spPr>
            <a:xfrm>
              <a:off x="-496512" y="2317363"/>
              <a:ext cx="691746" cy="4061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2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22642E-B919-92A7-9D5D-0220F803D260}"/>
                </a:ext>
              </a:extLst>
            </p:cNvPr>
            <p:cNvSpPr/>
            <p:nvPr/>
          </p:nvSpPr>
          <p:spPr>
            <a:xfrm>
              <a:off x="471687" y="2321683"/>
              <a:ext cx="771494" cy="36601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/>
                <a:t>Tier 3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2C9338-CBC8-69A3-CD56-AD4DCCE7A0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77862" y="1843908"/>
              <a:ext cx="0" cy="17312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EBC202-5AE9-EF22-68CD-B6C1AE04A4D1}"/>
                </a:ext>
              </a:extLst>
            </p:cNvPr>
            <p:cNvCxnSpPr>
              <a:cxnSpLocks/>
            </p:cNvCxnSpPr>
            <p:nvPr/>
          </p:nvCxnSpPr>
          <p:spPr>
            <a:xfrm>
              <a:off x="-121609" y="1829904"/>
              <a:ext cx="374312" cy="30112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B7511B-E3A0-E8FC-C101-5635CEB789C3}"/>
              </a:ext>
            </a:extLst>
          </p:cNvPr>
          <p:cNvSpPr/>
          <p:nvPr/>
        </p:nvSpPr>
        <p:spPr>
          <a:xfrm>
            <a:off x="874010" y="4112472"/>
            <a:ext cx="2009955" cy="34336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Total Addressable Market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16385-0697-D08A-88CC-644812B7787C}"/>
              </a:ext>
            </a:extLst>
          </p:cNvPr>
          <p:cNvSpPr txBox="1"/>
          <p:nvPr/>
        </p:nvSpPr>
        <p:spPr>
          <a:xfrm>
            <a:off x="3002912" y="4174691"/>
            <a:ext cx="1024516" cy="2293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$0.49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565606D5-3910-11D5-558F-49A034D81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0098865"/>
              </p:ext>
            </p:extLst>
          </p:nvPr>
        </p:nvGraphicFramePr>
        <p:xfrm>
          <a:off x="7981908" y="808092"/>
          <a:ext cx="3406892" cy="1947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6C9335-DB44-49ED-984E-7C0E004042EB}"/>
              </a:ext>
            </a:extLst>
          </p:cNvPr>
          <p:cNvCxnSpPr>
            <a:cxnSpLocks/>
          </p:cNvCxnSpPr>
          <p:nvPr/>
        </p:nvCxnSpPr>
        <p:spPr>
          <a:xfrm flipV="1">
            <a:off x="3782130" y="3692515"/>
            <a:ext cx="7404" cy="248014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1885F4D-5309-F095-853A-59A58B11E9A1}"/>
              </a:ext>
            </a:extLst>
          </p:cNvPr>
          <p:cNvSpPr txBox="1"/>
          <p:nvPr/>
        </p:nvSpPr>
        <p:spPr>
          <a:xfrm>
            <a:off x="1140990" y="473865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>
                <a:solidFill>
                  <a:schemeClr val="bg1"/>
                </a:solidFill>
              </a:rPr>
              <a:t>22%</a:t>
            </a:r>
          </a:p>
          <a:p>
            <a:pPr algn="l" defTabSz="228600">
              <a:spcAft>
                <a:spcPts val="1200"/>
              </a:spcAft>
            </a:pPr>
            <a:endParaRPr lang="en-IN" sz="1200" noProof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B3F157-53F4-075D-3CFE-CF60FBE551BE}"/>
              </a:ext>
            </a:extLst>
          </p:cNvPr>
          <p:cNvSpPr txBox="1"/>
          <p:nvPr/>
        </p:nvSpPr>
        <p:spPr>
          <a:xfrm>
            <a:off x="1716341" y="4739911"/>
            <a:ext cx="329185" cy="18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40%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9BF441-B084-727E-400A-F8EAC5391AAF}"/>
              </a:ext>
            </a:extLst>
          </p:cNvPr>
          <p:cNvSpPr txBox="1"/>
          <p:nvPr/>
        </p:nvSpPr>
        <p:spPr>
          <a:xfrm>
            <a:off x="2435820" y="4783150"/>
            <a:ext cx="637801" cy="1882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38%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CE1EBB-0B6D-E47C-8367-C0F08432C345}"/>
              </a:ext>
            </a:extLst>
          </p:cNvPr>
          <p:cNvSpPr txBox="1"/>
          <p:nvPr/>
        </p:nvSpPr>
        <p:spPr>
          <a:xfrm>
            <a:off x="642934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$0.11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4EA5D1-8925-CA2C-5EE5-1D2D39217E89}"/>
              </a:ext>
            </a:extLst>
          </p:cNvPr>
          <p:cNvSpPr txBox="1"/>
          <p:nvPr/>
        </p:nvSpPr>
        <p:spPr>
          <a:xfrm>
            <a:off x="1636270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$0.20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DC6FC9-BC2C-6A80-919E-D699E45F07A4}"/>
              </a:ext>
            </a:extLst>
          </p:cNvPr>
          <p:cNvSpPr txBox="1"/>
          <p:nvPr/>
        </p:nvSpPr>
        <p:spPr>
          <a:xfrm>
            <a:off x="2630944" y="5410920"/>
            <a:ext cx="735507" cy="19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dirty="0">
                <a:solidFill>
                  <a:schemeClr val="bg1"/>
                </a:solidFill>
              </a:rPr>
              <a:t>$0.18 Bn</a:t>
            </a:r>
          </a:p>
          <a:p>
            <a:pPr algn="l" defTabSz="228600">
              <a:spcAft>
                <a:spcPts val="1200"/>
              </a:spcAft>
            </a:pPr>
            <a:endParaRPr lang="en-IN" sz="1200" noProof="0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3C3F98B-2BD9-CEE3-5671-6630D7125125}"/>
              </a:ext>
            </a:extLst>
          </p:cNvPr>
          <p:cNvSpPr/>
          <p:nvPr/>
        </p:nvSpPr>
        <p:spPr>
          <a:xfrm>
            <a:off x="786767" y="5802636"/>
            <a:ext cx="2291574" cy="30829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SAM = 0.11 + 0.20 = 0.31 Bn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FCD896-8D70-C46E-25DC-9F46A7515DBD}"/>
              </a:ext>
            </a:extLst>
          </p:cNvPr>
          <p:cNvSpPr/>
          <p:nvPr/>
        </p:nvSpPr>
        <p:spPr>
          <a:xfrm>
            <a:off x="4368059" y="3718904"/>
            <a:ext cx="2615904" cy="4067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Serviceable Obtainable Market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58E7DC-4306-7ECC-2F11-9EEF495DEA94}"/>
              </a:ext>
            </a:extLst>
          </p:cNvPr>
          <p:cNvSpPr/>
          <p:nvPr/>
        </p:nvSpPr>
        <p:spPr>
          <a:xfrm>
            <a:off x="4318993" y="4334267"/>
            <a:ext cx="2718363" cy="4507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Current Share of ABC = 10%</a:t>
            </a:r>
          </a:p>
          <a:p>
            <a:pPr algn="ctr"/>
            <a:r>
              <a:rPr lang="en-IN" sz="1200" dirty="0"/>
              <a:t>(leading home textile player)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1A527A-40D2-66D2-51D4-ADBE18C9C20E}"/>
              </a:ext>
            </a:extLst>
          </p:cNvPr>
          <p:cNvSpPr/>
          <p:nvPr/>
        </p:nvSpPr>
        <p:spPr>
          <a:xfrm>
            <a:off x="4278139" y="4828484"/>
            <a:ext cx="2757657" cy="6506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Potential increase in share = 5%</a:t>
            </a:r>
          </a:p>
          <a:p>
            <a:pPr algn="ctr"/>
            <a:r>
              <a:rPr lang="en-IN" sz="1200" dirty="0"/>
              <a:t>(campaigns and ideal portfolio mix)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5630131-98F2-DDFA-AE6E-68BBA58C6ABB}"/>
              </a:ext>
            </a:extLst>
          </p:cNvPr>
          <p:cNvSpPr/>
          <p:nvPr/>
        </p:nvSpPr>
        <p:spPr>
          <a:xfrm>
            <a:off x="4386220" y="5799909"/>
            <a:ext cx="2291574" cy="30829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 dirty="0"/>
              <a:t>SOM = 0.15*0.31 = 0.05 Bn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72617-FC16-6FEE-6EC2-9AE81787A07F}"/>
              </a:ext>
            </a:extLst>
          </p:cNvPr>
          <p:cNvCxnSpPr>
            <a:cxnSpLocks/>
          </p:cNvCxnSpPr>
          <p:nvPr/>
        </p:nvCxnSpPr>
        <p:spPr>
          <a:xfrm>
            <a:off x="7556873" y="2915657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34A6086-C0F7-6CE6-0CB3-6A713DC4F515}"/>
              </a:ext>
            </a:extLst>
          </p:cNvPr>
          <p:cNvSpPr/>
          <p:nvPr/>
        </p:nvSpPr>
        <p:spPr>
          <a:xfrm>
            <a:off x="7527598" y="5167628"/>
            <a:ext cx="4168587" cy="10050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200"/>
              <a:t>Assumptions:</a:t>
            </a:r>
          </a:p>
          <a:p>
            <a:pPr marL="228600" indent="-228600">
              <a:buAutoNum type="arabicPeriod"/>
            </a:pPr>
            <a:r>
              <a:rPr lang="en-IN" sz="1200"/>
              <a:t>Current share of ABC is 10% as it is a leading player</a:t>
            </a:r>
          </a:p>
          <a:p>
            <a:pPr marL="228600" indent="-228600">
              <a:buAutoNum type="arabicPeriod"/>
            </a:pPr>
            <a:r>
              <a:rPr lang="en-IN" sz="1200"/>
              <a:t>People are willing to switch between brands and there is scope to gain market share</a:t>
            </a:r>
          </a:p>
          <a:p>
            <a:pPr marL="228600" indent="-228600">
              <a:buAutoNum type="arabicPeriod"/>
            </a:pPr>
            <a:r>
              <a:rPr lang="en-IN" sz="1200"/>
              <a:t>Only targeting tier 1 and 2 cities and ignoring tier 3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7051C8-2AB7-98F8-ECAF-5336E87AE7D2}"/>
              </a:ext>
            </a:extLst>
          </p:cNvPr>
          <p:cNvCxnSpPr>
            <a:cxnSpLocks/>
          </p:cNvCxnSpPr>
          <p:nvPr/>
        </p:nvCxnSpPr>
        <p:spPr>
          <a:xfrm>
            <a:off x="7439223" y="4909383"/>
            <a:ext cx="425696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6442CD-4D87-671E-2BD2-125E231F5A70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27" name="Arrow: Chevron 3">
              <a:extLst>
                <a:ext uri="{FF2B5EF4-FFF2-40B4-BE49-F238E27FC236}">
                  <a16:creationId xmlns:a16="http://schemas.microsoft.com/office/drawing/2014/main" id="{156A7A39-961F-9DC5-49A5-A44202BD4D30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8" name="Arrow: Chevron 5">
              <a:extLst>
                <a:ext uri="{FF2B5EF4-FFF2-40B4-BE49-F238E27FC236}">
                  <a16:creationId xmlns:a16="http://schemas.microsoft.com/office/drawing/2014/main" id="{1806727A-6CAA-999B-FFD6-9EB6CDE84050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9" name="Arrow: Chevron 6">
              <a:extLst>
                <a:ext uri="{FF2B5EF4-FFF2-40B4-BE49-F238E27FC236}">
                  <a16:creationId xmlns:a16="http://schemas.microsoft.com/office/drawing/2014/main" id="{48E05D30-6217-D298-83B8-863904C0EFF4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30" name="Arrow: Chevron 7">
              <a:extLst>
                <a:ext uri="{FF2B5EF4-FFF2-40B4-BE49-F238E27FC236}">
                  <a16:creationId xmlns:a16="http://schemas.microsoft.com/office/drawing/2014/main" id="{FD665519-887A-1C62-FE5A-E6C9D89DE7DB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31" name="Arrow: Chevron 8">
              <a:extLst>
                <a:ext uri="{FF2B5EF4-FFF2-40B4-BE49-F238E27FC236}">
                  <a16:creationId xmlns:a16="http://schemas.microsoft.com/office/drawing/2014/main" id="{06F75E20-BB53-6936-7758-A00BEE9FB923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32" name="Arrow: Chevron 11">
              <a:extLst>
                <a:ext uri="{FF2B5EF4-FFF2-40B4-BE49-F238E27FC236}">
                  <a16:creationId xmlns:a16="http://schemas.microsoft.com/office/drawing/2014/main" id="{FE6DA11E-3DE7-E864-4E30-7C95B3D19ABD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9CCE2E-302D-5692-A9B3-885B85272C3C}"/>
              </a:ext>
            </a:extLst>
          </p:cNvPr>
          <p:cNvSpPr txBox="1"/>
          <p:nvPr/>
        </p:nvSpPr>
        <p:spPr>
          <a:xfrm>
            <a:off x="786767" y="6695735"/>
            <a:ext cx="5111757" cy="1622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100" noProof="0" dirty="0">
                <a:solidFill>
                  <a:schemeClr val="bg1"/>
                </a:solidFill>
              </a:rPr>
              <a:t>Source: EMIS Reports, Textile Ministry</a:t>
            </a:r>
          </a:p>
        </p:txBody>
      </p:sp>
    </p:spTree>
    <p:extLst>
      <p:ext uri="{BB962C8B-B14F-4D97-AF65-F5344CB8AC3E}">
        <p14:creationId xmlns:p14="http://schemas.microsoft.com/office/powerpoint/2010/main" val="100065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88">
            <a:extLst>
              <a:ext uri="{FF2B5EF4-FFF2-40B4-BE49-F238E27FC236}">
                <a16:creationId xmlns:a16="http://schemas.microsoft.com/office/drawing/2014/main" id="{6B3C666A-AB5E-CED9-7905-D6AAA2673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118857"/>
              </p:ext>
            </p:extLst>
          </p:nvPr>
        </p:nvGraphicFramePr>
        <p:xfrm>
          <a:off x="3683743" y="1004759"/>
          <a:ext cx="3503290" cy="292816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40930">
                  <a:extLst>
                    <a:ext uri="{9D8B030D-6E8A-4147-A177-3AD203B41FA5}">
                      <a16:colId xmlns:a16="http://schemas.microsoft.com/office/drawing/2014/main" val="3087952110"/>
                    </a:ext>
                  </a:extLst>
                </a:gridCol>
                <a:gridCol w="648866">
                  <a:extLst>
                    <a:ext uri="{9D8B030D-6E8A-4147-A177-3AD203B41FA5}">
                      <a16:colId xmlns:a16="http://schemas.microsoft.com/office/drawing/2014/main" val="1634314632"/>
                    </a:ext>
                  </a:extLst>
                </a:gridCol>
                <a:gridCol w="792708">
                  <a:extLst>
                    <a:ext uri="{9D8B030D-6E8A-4147-A177-3AD203B41FA5}">
                      <a16:colId xmlns:a16="http://schemas.microsoft.com/office/drawing/2014/main" val="405670508"/>
                    </a:ext>
                  </a:extLst>
                </a:gridCol>
                <a:gridCol w="720786">
                  <a:extLst>
                    <a:ext uri="{9D8B030D-6E8A-4147-A177-3AD203B41FA5}">
                      <a16:colId xmlns:a16="http://schemas.microsoft.com/office/drawing/2014/main" val="2897957749"/>
                    </a:ext>
                  </a:extLst>
                </a:gridCol>
              </a:tblGrid>
              <a:tr h="2289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2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2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2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317784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indent="0"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Lacks_Time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4.15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1853107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Lacks_Knowledge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3.90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3.07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3990277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Ecofriendly_Finishes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3.80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2.71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1.93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1815840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Designs</a:t>
                      </a: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3.78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1.64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461355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Wellness_Hygiene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0" kern="1200">
                          <a:solidFill>
                            <a:schemeClr val="bg1"/>
                          </a:solidFill>
                        </a:rPr>
                        <a:t>4.03</a:t>
                      </a:r>
                      <a:endParaRPr lang="en-US" sz="1200" b="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3.21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51759244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Durability</a:t>
                      </a: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3.64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2.30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1.92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8636958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Cost_Saving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3.68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4.21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19989143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>
                          <a:solidFill>
                            <a:srgbClr val="FF0000"/>
                          </a:solidFill>
                        </a:rPr>
                        <a:t>3.69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 dirty="0">
                          <a:solidFill>
                            <a:srgbClr val="FF0000"/>
                          </a:solidFill>
                        </a:rPr>
                        <a:t>4.10</a:t>
                      </a:r>
                      <a:endParaRPr lang="en-US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4.29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6754759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Functional benefits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2.31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3.61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4.14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59157456"/>
                  </a:ext>
                </a:extLst>
              </a:tr>
              <a:tr h="2289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Brand_Conscious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3.20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3.79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0" kern="1200">
                          <a:solidFill>
                            <a:schemeClr val="bg1"/>
                          </a:solidFill>
                        </a:rPr>
                        <a:t>2.21</a:t>
                      </a:r>
                      <a:endParaRPr lang="en-US" sz="1200" b="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4062603"/>
                  </a:ext>
                </a:extLst>
              </a:tr>
              <a:tr h="2271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l" rtl="0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Trend_conscious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2.15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b="1" kern="1200">
                          <a:solidFill>
                            <a:srgbClr val="FF0000"/>
                          </a:solidFill>
                        </a:rPr>
                        <a:t>3.81</a:t>
                      </a:r>
                      <a:endParaRPr lang="en-US" sz="12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3.30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028876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4FB42633-D36B-1898-A144-D7751ED1EDA9}"/>
              </a:ext>
            </a:extLst>
          </p:cNvPr>
          <p:cNvSpPr/>
          <p:nvPr/>
        </p:nvSpPr>
        <p:spPr>
          <a:xfrm>
            <a:off x="3840502" y="587873"/>
            <a:ext cx="3374402" cy="234771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Cluster Analysis for Segmentation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B332C4-F28C-949B-9817-2D61DB5854C3}"/>
              </a:ext>
            </a:extLst>
          </p:cNvPr>
          <p:cNvGrpSpPr/>
          <p:nvPr/>
        </p:nvGrpSpPr>
        <p:grpSpPr>
          <a:xfrm>
            <a:off x="6903629" y="914203"/>
            <a:ext cx="7001529" cy="2776877"/>
            <a:chOff x="-300655" y="660367"/>
            <a:chExt cx="6491927" cy="277687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1EDE426-B004-A8A1-72B1-A5A3823A3682}"/>
                </a:ext>
              </a:extLst>
            </p:cNvPr>
            <p:cNvGrpSpPr/>
            <p:nvPr/>
          </p:nvGrpSpPr>
          <p:grpSpPr>
            <a:xfrm>
              <a:off x="-300655" y="660367"/>
              <a:ext cx="423363" cy="2776877"/>
              <a:chOff x="-268082" y="4837974"/>
              <a:chExt cx="384523" cy="1573639"/>
            </a:xfrm>
          </p:grpSpPr>
          <p:sp>
            <p:nvSpPr>
              <p:cNvPr id="35" name="Arrow: Up 34">
                <a:extLst>
                  <a:ext uri="{FF2B5EF4-FFF2-40B4-BE49-F238E27FC236}">
                    <a16:creationId xmlns:a16="http://schemas.microsoft.com/office/drawing/2014/main" id="{89D55FC3-7C09-479D-3EA4-8687C0BAA74F}"/>
                  </a:ext>
                </a:extLst>
              </p:cNvPr>
              <p:cNvSpPr/>
              <p:nvPr/>
            </p:nvSpPr>
            <p:spPr>
              <a:xfrm>
                <a:off x="2001" y="4837974"/>
                <a:ext cx="114440" cy="1573639"/>
              </a:xfrm>
              <a:prstGeom prst="upArrow">
                <a:avLst/>
              </a:prstGeom>
              <a:solidFill>
                <a:srgbClr val="7030A0"/>
              </a:solidFill>
              <a:ln w="12700" cap="flat" cmpd="sng" algn="ctr">
                <a:solidFill>
                  <a:srgbClr val="A100FF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D84BD6-67E8-2555-4C18-B296C0366D09}"/>
                  </a:ext>
                </a:extLst>
              </p:cNvPr>
              <p:cNvSpPr txBox="1"/>
              <p:nvPr/>
            </p:nvSpPr>
            <p:spPr>
              <a:xfrm>
                <a:off x="-268082" y="6122530"/>
                <a:ext cx="311033" cy="52361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9AE433-12B0-772F-55D4-12445A9FA34A}"/>
                </a:ext>
              </a:extLst>
            </p:cNvPr>
            <p:cNvSpPr txBox="1"/>
            <p:nvPr/>
          </p:nvSpPr>
          <p:spPr>
            <a:xfrm>
              <a:off x="3404193" y="2598315"/>
              <a:ext cx="27568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69863" marR="0" lvl="0" indent="-169863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657F8D-1A7A-A49F-B97B-24FA67114C82}"/>
                </a:ext>
              </a:extLst>
            </p:cNvPr>
            <p:cNvSpPr txBox="1"/>
            <p:nvPr/>
          </p:nvSpPr>
          <p:spPr>
            <a:xfrm>
              <a:off x="3398141" y="1583116"/>
              <a:ext cx="2793131" cy="184666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marL="169863" marR="0" lvl="0" indent="-169863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8E98024C-5E7C-07FF-E960-C9594FDC8128}"/>
              </a:ext>
            </a:extLst>
          </p:cNvPr>
          <p:cNvSpPr txBox="1"/>
          <p:nvPr/>
        </p:nvSpPr>
        <p:spPr>
          <a:xfrm>
            <a:off x="10724451" y="764621"/>
            <a:ext cx="105968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Priority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DC48F10-BFCA-6884-702D-4C83B1DFB970}"/>
              </a:ext>
            </a:extLst>
          </p:cNvPr>
          <p:cNvCxnSpPr>
            <a:cxnSpLocks/>
          </p:cNvCxnSpPr>
          <p:nvPr/>
        </p:nvCxnSpPr>
        <p:spPr>
          <a:xfrm>
            <a:off x="10983757" y="804987"/>
            <a:ext cx="0" cy="308879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2A1EC1F-00EE-BA1F-CB15-F59E72D82712}"/>
              </a:ext>
            </a:extLst>
          </p:cNvPr>
          <p:cNvGrpSpPr/>
          <p:nvPr/>
        </p:nvGrpSpPr>
        <p:grpSpPr>
          <a:xfrm>
            <a:off x="11032564" y="1326309"/>
            <a:ext cx="425011" cy="232183"/>
            <a:chOff x="9740739" y="925074"/>
            <a:chExt cx="425011" cy="232183"/>
          </a:xfrm>
        </p:grpSpPr>
        <p:pic>
          <p:nvPicPr>
            <p:cNvPr id="74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0E88AAE9-86BA-D5DA-4F4E-0B331C913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0739" y="925074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DB6000A3-C4B3-76A0-4B26-39490806D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1258" y="943993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C8D1BDAD-29EE-AC11-FC7D-B52D4D86DF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8251" y="936449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1B07FD4-0612-6317-0EE1-C610473C4D3C}"/>
              </a:ext>
            </a:extLst>
          </p:cNvPr>
          <p:cNvGrpSpPr/>
          <p:nvPr/>
        </p:nvGrpSpPr>
        <p:grpSpPr>
          <a:xfrm>
            <a:off x="11075338" y="2246811"/>
            <a:ext cx="323961" cy="213264"/>
            <a:chOff x="9783513" y="1845576"/>
            <a:chExt cx="323961" cy="213264"/>
          </a:xfrm>
        </p:grpSpPr>
        <p:pic>
          <p:nvPicPr>
            <p:cNvPr id="72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730C46B1-506A-EBF7-FABE-59412261A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3513" y="1845576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18" descr="How to Insert a Tick Symbol In Microsoft Word - Simul Docs">
              <a:extLst>
                <a:ext uri="{FF2B5EF4-FFF2-40B4-BE49-F238E27FC236}">
                  <a16:creationId xmlns:a16="http://schemas.microsoft.com/office/drawing/2014/main" id="{CD9ED2B4-F08E-8473-9321-7F23140E33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29975" y="1845576"/>
              <a:ext cx="177499" cy="213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0" name="Picture 18" descr="How to Insert a Tick Symbol In Microsoft Word - Simul Docs">
            <a:extLst>
              <a:ext uri="{FF2B5EF4-FFF2-40B4-BE49-F238E27FC236}">
                <a16:creationId xmlns:a16="http://schemas.microsoft.com/office/drawing/2014/main" id="{30E2C15E-4553-4A59-E5DD-6BAEF2C4D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5337" y="3307700"/>
            <a:ext cx="177499" cy="2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753E432-938C-46AF-C7C6-E9BDF91564A3}"/>
              </a:ext>
            </a:extLst>
          </p:cNvPr>
          <p:cNvCxnSpPr>
            <a:cxnSpLocks/>
          </p:cNvCxnSpPr>
          <p:nvPr/>
        </p:nvCxnSpPr>
        <p:spPr>
          <a:xfrm>
            <a:off x="11516276" y="811519"/>
            <a:ext cx="0" cy="31508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8380A19-7218-DC83-1C24-96CB9CA910A7}"/>
              </a:ext>
            </a:extLst>
          </p:cNvPr>
          <p:cNvSpPr txBox="1"/>
          <p:nvPr/>
        </p:nvSpPr>
        <p:spPr>
          <a:xfrm>
            <a:off x="10753573" y="585669"/>
            <a:ext cx="105968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Priority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0D2B38B2-94A5-CEA4-CBE1-3E17CE41570C}"/>
              </a:ext>
            </a:extLst>
          </p:cNvPr>
          <p:cNvGrpSpPr/>
          <p:nvPr/>
        </p:nvGrpSpPr>
        <p:grpSpPr>
          <a:xfrm>
            <a:off x="7300717" y="790190"/>
            <a:ext cx="4081987" cy="3080655"/>
            <a:chOff x="4401634" y="760893"/>
            <a:chExt cx="4081987" cy="3080655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EEACD135-1E64-6F23-EAF7-6C6FF07D9F61}"/>
                </a:ext>
              </a:extLst>
            </p:cNvPr>
            <p:cNvSpPr/>
            <p:nvPr/>
          </p:nvSpPr>
          <p:spPr>
            <a:xfrm>
              <a:off x="4666893" y="761753"/>
              <a:ext cx="3411067" cy="968863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59B87C70-1365-9F83-93AA-B34A5A079DD0}"/>
                </a:ext>
              </a:extLst>
            </p:cNvPr>
            <p:cNvSpPr/>
            <p:nvPr/>
          </p:nvSpPr>
          <p:spPr>
            <a:xfrm>
              <a:off x="4666893" y="1862972"/>
              <a:ext cx="3375789" cy="948287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8D7FC310-5447-94E4-B14C-55E01BEA9F5B}"/>
                </a:ext>
              </a:extLst>
            </p:cNvPr>
            <p:cNvSpPr/>
            <p:nvPr/>
          </p:nvSpPr>
          <p:spPr>
            <a:xfrm>
              <a:off x="4666893" y="2919847"/>
              <a:ext cx="3375785" cy="92170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1AA61D7E-D164-92DA-92C8-7EE5747BF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829" y="1997007"/>
              <a:ext cx="741213" cy="654239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C39D9DFC-9F04-5F91-22B3-38EF1D585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360" y="910465"/>
              <a:ext cx="658563" cy="658563"/>
            </a:xfrm>
            <a:prstGeom prst="rect">
              <a:avLst/>
            </a:prstGeom>
          </p:spPr>
        </p:pic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DF94605E-7E6D-48D7-2D06-504C253F7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3115" y="3094455"/>
              <a:ext cx="704832" cy="580834"/>
            </a:xfrm>
            <a:prstGeom prst="rect">
              <a:avLst/>
            </a:prstGeom>
          </p:spPr>
        </p:pic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339C143-232F-CD36-72BC-17A846235773}"/>
                </a:ext>
              </a:extLst>
            </p:cNvPr>
            <p:cNvSpPr txBox="1"/>
            <p:nvPr/>
          </p:nvSpPr>
          <p:spPr>
            <a:xfrm>
              <a:off x="5520080" y="1871311"/>
              <a:ext cx="2963541" cy="718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                Explorers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Leisure shoppers, Tier 1 cities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Young</a:t>
              </a:r>
              <a:r>
                <a:rPr kumimoji="0" lang="en-US" sz="1200" b="0" i="0" u="none" strike="noStrike" kern="1200" cap="none" spc="-5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(20-30</a:t>
              </a:r>
              <a:r>
                <a:rPr kumimoji="0" 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yrs.)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Tech-Savvy</a:t>
              </a:r>
              <a:r>
                <a:rPr kumimoji="0" lang="en-US" sz="1200" b="0" i="0" u="none" strike="noStrike" kern="1200" cap="none" spc="-5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early</a:t>
              </a:r>
              <a:r>
                <a:rPr kumimoji="0" lang="en-US" sz="1200" b="0" i="0" u="none" strike="noStrike" kern="1200" cap="none" spc="-1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adopters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Limited</a:t>
              </a:r>
              <a:r>
                <a:rPr kumimoji="0" lang="en-US" sz="1200" b="0" i="0" u="none" strike="noStrike" kern="1200" cap="none" spc="-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d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is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p</a:t>
              </a:r>
              <a:r>
                <a:rPr kumimoji="0" lang="en-US" sz="1200" b="0" i="0" u="none" strike="noStrike" kern="1200" cap="none" spc="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sab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le</a:t>
              </a:r>
              <a:r>
                <a:rPr kumimoji="0" lang="en-US" sz="1200" b="0" i="0" u="none" strike="noStrike" kern="1200" cap="none" spc="-4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c</a:t>
              </a:r>
              <a:r>
                <a:rPr kumimoji="0" lang="en-US" sz="1200" b="0" i="0" u="none" strike="noStrike" kern="1200" cap="none" spc="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me</a:t>
              </a:r>
            </a:p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968716AB-D350-2AEC-B584-A4545A84D2C5}"/>
                </a:ext>
              </a:extLst>
            </p:cNvPr>
            <p:cNvSpPr txBox="1"/>
            <p:nvPr/>
          </p:nvSpPr>
          <p:spPr>
            <a:xfrm>
              <a:off x="5473530" y="760893"/>
              <a:ext cx="2648127" cy="762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              Product focused</a:t>
              </a: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Middle</a:t>
              </a:r>
              <a:r>
                <a:rPr kumimoji="0" lang="en-US" sz="1200" b="0" i="0" u="none" strike="noStrike" kern="1200" cap="none" spc="-4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aged</a:t>
              </a:r>
              <a:r>
                <a:rPr kumimoji="0" lang="en-US" sz="1200" b="0" i="0" u="none" strike="noStrike" kern="1200" cap="none" spc="-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(25-50</a:t>
              </a:r>
              <a:r>
                <a:rPr kumimoji="0" 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yr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), Tier 1&amp;2 cities</a:t>
              </a: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Sustainability 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conscious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Awareness regarding finishes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  <a:p>
              <a:pPr marL="184785" marR="0" lvl="0" indent="-17272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/>
                <a:buChar char=""/>
                <a:tabLst>
                  <a:tab pos="185420" algn="l"/>
                </a:tabLst>
                <a:defRPr/>
              </a:pP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High</a:t>
              </a:r>
              <a:r>
                <a:rPr kumimoji="0" lang="en-US" sz="1200" b="0" i="0" u="none" strike="noStrike" kern="1200" cap="none" spc="-1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willingness</a:t>
              </a:r>
              <a:r>
                <a:rPr kumimoji="0" lang="en-US" sz="1200" b="0" i="0" u="none" strike="noStrike" kern="1200" cap="none" spc="-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to</a:t>
              </a:r>
              <a:r>
                <a:rPr kumimoji="0" 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pay</a:t>
              </a:r>
            </a:p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A07585E-E9B1-E8D2-5D3A-0E2B0E95D975}"/>
                </a:ext>
              </a:extLst>
            </p:cNvPr>
            <p:cNvSpPr txBox="1"/>
            <p:nvPr/>
          </p:nvSpPr>
          <p:spPr>
            <a:xfrm>
              <a:off x="5436923" y="2919847"/>
              <a:ext cx="3000147" cy="6796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457200" marR="0" lvl="1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Bargain Hunters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Cost conscious, Tier 2  cities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Durability and fabric of product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Medium 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d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is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p</a:t>
              </a:r>
              <a:r>
                <a:rPr kumimoji="0" lang="en-US" sz="1200" b="0" i="0" u="none" strike="noStrike" kern="1200" cap="none" spc="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sab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le</a:t>
              </a:r>
              <a:r>
                <a:rPr kumimoji="0" lang="en-US" sz="1200" b="0" i="0" u="none" strike="noStrike" kern="1200" cap="none" spc="-4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 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i</a:t>
              </a:r>
              <a:r>
                <a:rPr kumimoji="0" lang="en-US" sz="1200" b="0" i="0" u="none" strike="noStrike" kern="1200" cap="none" spc="-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n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c</a:t>
              </a:r>
              <a:r>
                <a:rPr kumimoji="0" lang="en-US" sz="1200" b="0" i="0" u="none" strike="noStrike" kern="1200" cap="none" spc="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o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me</a:t>
              </a:r>
            </a:p>
            <a:p>
              <a:pPr marL="171450" marR="0" lvl="0" indent="-17145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Not brand conscious</a:t>
              </a:r>
            </a:p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B910D71-93EF-7F93-DCF2-B4A61F32F5BA}"/>
                </a:ext>
              </a:extLst>
            </p:cNvPr>
            <p:cNvSpPr txBox="1"/>
            <p:nvPr/>
          </p:nvSpPr>
          <p:spPr>
            <a:xfrm>
              <a:off x="4401634" y="826834"/>
              <a:ext cx="184666" cy="743144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Cluster 1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624A36C-B209-0539-645B-A17106AC8D36}"/>
                </a:ext>
              </a:extLst>
            </p:cNvPr>
            <p:cNvSpPr txBox="1"/>
            <p:nvPr/>
          </p:nvSpPr>
          <p:spPr>
            <a:xfrm>
              <a:off x="4422263" y="1925353"/>
              <a:ext cx="184666" cy="709856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Cluster 2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C316C30D-00B9-F2FE-CD0D-2A573A03C013}"/>
                </a:ext>
              </a:extLst>
            </p:cNvPr>
            <p:cNvSpPr txBox="1"/>
            <p:nvPr/>
          </p:nvSpPr>
          <p:spPr>
            <a:xfrm>
              <a:off x="4422263" y="2911167"/>
              <a:ext cx="184666" cy="745598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Cluster 3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CF13EE3F-162C-A2F2-DB11-AE279A5F322E}"/>
              </a:ext>
            </a:extLst>
          </p:cNvPr>
          <p:cNvSpPr txBox="1"/>
          <p:nvPr/>
        </p:nvSpPr>
        <p:spPr>
          <a:xfrm>
            <a:off x="4412326" y="812302"/>
            <a:ext cx="211412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5 point agreement scale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EC1F802-B1B7-63F1-1E12-BC4F83598020}"/>
              </a:ext>
            </a:extLst>
          </p:cNvPr>
          <p:cNvSpPr/>
          <p:nvPr/>
        </p:nvSpPr>
        <p:spPr>
          <a:xfrm>
            <a:off x="3976273" y="3974275"/>
            <a:ext cx="7775951" cy="2592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Consumer Life-Cycle (Micro Analysis)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8C5D5E6B-01E7-4C82-39EB-0D6ABD31847B}"/>
              </a:ext>
            </a:extLst>
          </p:cNvPr>
          <p:cNvSpPr/>
          <p:nvPr/>
        </p:nvSpPr>
        <p:spPr>
          <a:xfrm>
            <a:off x="-3659543" y="168542"/>
            <a:ext cx="605726" cy="62732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A20848-8C23-5A49-E54E-BF7D1BD93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4" y="1284051"/>
            <a:ext cx="706953" cy="2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yntra logo DOWNLOAD in SVG or PNG format - LogosArchive">
            <a:extLst>
              <a:ext uri="{FF2B5EF4-FFF2-40B4-BE49-F238E27FC236}">
                <a16:creationId xmlns:a16="http://schemas.microsoft.com/office/drawing/2014/main" id="{ADBAAE59-BC24-486D-EB07-AF151D57A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58" y="1751617"/>
            <a:ext cx="548836" cy="37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lipkart Logo PNG, Transparent HQ Flipkart Logos Download - Free Transparent  PNG Logos">
            <a:extLst>
              <a:ext uri="{FF2B5EF4-FFF2-40B4-BE49-F238E27FC236}">
                <a16:creationId xmlns:a16="http://schemas.microsoft.com/office/drawing/2014/main" id="{B4F6FFFB-1F19-A09E-FCE3-A6A050B02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" t="31179" r="1" b="28694"/>
          <a:stretch/>
        </p:blipFill>
        <p:spPr bwMode="auto">
          <a:xfrm>
            <a:off x="394772" y="2301807"/>
            <a:ext cx="934960" cy="28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3EF97CD-6703-B33D-B9CC-90ABB18A7C3F}"/>
              </a:ext>
            </a:extLst>
          </p:cNvPr>
          <p:cNvCxnSpPr>
            <a:cxnSpLocks/>
          </p:cNvCxnSpPr>
          <p:nvPr/>
        </p:nvCxnSpPr>
        <p:spPr>
          <a:xfrm flipH="1">
            <a:off x="2512910" y="795864"/>
            <a:ext cx="22729" cy="1734605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CEADB51-5A09-BC33-C9FE-D31D97FE251D}"/>
              </a:ext>
            </a:extLst>
          </p:cNvPr>
          <p:cNvCxnSpPr>
            <a:cxnSpLocks/>
          </p:cNvCxnSpPr>
          <p:nvPr/>
        </p:nvCxnSpPr>
        <p:spPr>
          <a:xfrm flipH="1">
            <a:off x="1294645" y="787293"/>
            <a:ext cx="6510" cy="1743176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08C2DE2F-A958-ACAB-1672-F647A1118139}"/>
              </a:ext>
            </a:extLst>
          </p:cNvPr>
          <p:cNvSpPr txBox="1"/>
          <p:nvPr/>
        </p:nvSpPr>
        <p:spPr>
          <a:xfrm>
            <a:off x="1578429" y="835543"/>
            <a:ext cx="867591" cy="1931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Towels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DF9C9C9-5964-AFBE-310C-25155A51C1E2}"/>
              </a:ext>
            </a:extLst>
          </p:cNvPr>
          <p:cNvSpPr txBox="1"/>
          <p:nvPr/>
        </p:nvSpPr>
        <p:spPr>
          <a:xfrm>
            <a:off x="2607145" y="833388"/>
            <a:ext cx="1023893" cy="2582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Bedsheets</a:t>
            </a: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435E3959-0517-C0C4-4DEF-FC139CF1237A}"/>
              </a:ext>
            </a:extLst>
          </p:cNvPr>
          <p:cNvCxnSpPr>
            <a:cxnSpLocks/>
          </p:cNvCxnSpPr>
          <p:nvPr/>
        </p:nvCxnSpPr>
        <p:spPr>
          <a:xfrm flipH="1">
            <a:off x="421417" y="1128723"/>
            <a:ext cx="3037773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C89FC4E-114C-C5F9-8E38-6C4573565D5F}"/>
              </a:ext>
            </a:extLst>
          </p:cNvPr>
          <p:cNvGraphicFramePr/>
          <p:nvPr/>
        </p:nvGraphicFramePr>
        <p:xfrm>
          <a:off x="1087096" y="1186577"/>
          <a:ext cx="1567796" cy="1503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16058B0-C593-B7F6-563F-609254B6CEE0}"/>
              </a:ext>
            </a:extLst>
          </p:cNvPr>
          <p:cNvSpPr txBox="1"/>
          <p:nvPr/>
        </p:nvSpPr>
        <p:spPr>
          <a:xfrm>
            <a:off x="1361761" y="1830193"/>
            <a:ext cx="521010" cy="3413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Low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E4852B-330B-9AED-D763-4D199A2628A4}"/>
              </a:ext>
            </a:extLst>
          </p:cNvPr>
          <p:cNvSpPr txBox="1"/>
          <p:nvPr/>
        </p:nvSpPr>
        <p:spPr>
          <a:xfrm>
            <a:off x="1606419" y="1254893"/>
            <a:ext cx="586074" cy="2107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Mid price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68B7E6-BF76-E430-0295-201A3B09DA2D}"/>
              </a:ext>
            </a:extLst>
          </p:cNvPr>
          <p:cNvSpPr txBox="1"/>
          <p:nvPr/>
        </p:nvSpPr>
        <p:spPr>
          <a:xfrm>
            <a:off x="1933923" y="1297613"/>
            <a:ext cx="772959" cy="3628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Premium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E54318-8C83-2CDB-1F48-A81B7FE8CA82}"/>
              </a:ext>
            </a:extLst>
          </p:cNvPr>
          <p:cNvSpPr txBox="1"/>
          <p:nvPr/>
        </p:nvSpPr>
        <p:spPr>
          <a:xfrm>
            <a:off x="2638470" y="1235120"/>
            <a:ext cx="586074" cy="2107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Mid price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2E5E2204-8896-889B-8BCD-769E3FB1BFE8}"/>
              </a:ext>
            </a:extLst>
          </p:cNvPr>
          <p:cNvGraphicFramePr/>
          <p:nvPr/>
        </p:nvGraphicFramePr>
        <p:xfrm>
          <a:off x="2395176" y="1175156"/>
          <a:ext cx="1567796" cy="1503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D268F7E-7CC2-7035-B955-8B2C9A484087}"/>
              </a:ext>
            </a:extLst>
          </p:cNvPr>
          <p:cNvSpPr txBox="1"/>
          <p:nvPr/>
        </p:nvSpPr>
        <p:spPr>
          <a:xfrm>
            <a:off x="2971811" y="1295658"/>
            <a:ext cx="772959" cy="3628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Premium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981EBD-1395-E0D6-6CF3-B1E492FCD512}"/>
              </a:ext>
            </a:extLst>
          </p:cNvPr>
          <p:cNvSpPr/>
          <p:nvPr/>
        </p:nvSpPr>
        <p:spPr>
          <a:xfrm>
            <a:off x="508665" y="3085549"/>
            <a:ext cx="2894299" cy="210145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Geographic presence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284FF7-81BD-3842-E135-2DFF2455C829}"/>
              </a:ext>
            </a:extLst>
          </p:cNvPr>
          <p:cNvSpPr/>
          <p:nvPr/>
        </p:nvSpPr>
        <p:spPr>
          <a:xfrm>
            <a:off x="3915238" y="3950786"/>
            <a:ext cx="7970257" cy="2378269"/>
          </a:xfrm>
          <a:prstGeom prst="rect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aphicFrame>
        <p:nvGraphicFramePr>
          <p:cNvPr id="39" name="Table 39">
            <a:extLst>
              <a:ext uri="{FF2B5EF4-FFF2-40B4-BE49-F238E27FC236}">
                <a16:creationId xmlns:a16="http://schemas.microsoft.com/office/drawing/2014/main" id="{379E6511-4E4E-E127-6F75-95BF45FD0DAC}"/>
              </a:ext>
            </a:extLst>
          </p:cNvPr>
          <p:cNvGraphicFramePr>
            <a:graphicFrameLocks noGrp="1"/>
          </p:cNvGraphicFramePr>
          <p:nvPr/>
        </p:nvGraphicFramePr>
        <p:xfrm>
          <a:off x="517756" y="3288850"/>
          <a:ext cx="2894300" cy="6400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447150">
                  <a:extLst>
                    <a:ext uri="{9D8B030D-6E8A-4147-A177-3AD203B41FA5}">
                      <a16:colId xmlns:a16="http://schemas.microsoft.com/office/drawing/2014/main" val="2896764032"/>
                    </a:ext>
                  </a:extLst>
                </a:gridCol>
                <a:gridCol w="1447150">
                  <a:extLst>
                    <a:ext uri="{9D8B030D-6E8A-4147-A177-3AD203B41FA5}">
                      <a16:colId xmlns:a16="http://schemas.microsoft.com/office/drawing/2014/main" val="2295638832"/>
                    </a:ext>
                  </a:extLst>
                </a:gridCol>
              </a:tblGrid>
              <a:tr h="288075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accent3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accent3"/>
                          </a:solidFill>
                        </a:rPr>
                        <a:t>Proposed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35786"/>
                  </a:ext>
                </a:extLst>
              </a:tr>
              <a:tr h="288075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accent3"/>
                          </a:solidFill>
                        </a:rPr>
                        <a:t>Metro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accent3"/>
                          </a:solidFill>
                        </a:rPr>
                        <a:t>Tier 1 &amp; 2 cities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421348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9A999F54-88FD-0C94-A3BE-1A019D5566EC}"/>
              </a:ext>
            </a:extLst>
          </p:cNvPr>
          <p:cNvSpPr/>
          <p:nvPr/>
        </p:nvSpPr>
        <p:spPr>
          <a:xfrm>
            <a:off x="503188" y="567286"/>
            <a:ext cx="3065714" cy="231791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Income based segmentation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4D37A5C-CAED-8EBC-FBBF-2621B57B3BBB}"/>
              </a:ext>
            </a:extLst>
          </p:cNvPr>
          <p:cNvSpPr/>
          <p:nvPr/>
        </p:nvSpPr>
        <p:spPr>
          <a:xfrm>
            <a:off x="472784" y="2618959"/>
            <a:ext cx="2888586" cy="384798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*Weighted avg of prod portfolio across segments on 3 platforms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5789E8-9078-12A0-A4BD-2D82F5046170}"/>
              </a:ext>
            </a:extLst>
          </p:cNvPr>
          <p:cNvSpPr/>
          <p:nvPr/>
        </p:nvSpPr>
        <p:spPr>
          <a:xfrm>
            <a:off x="4244607" y="4273203"/>
            <a:ext cx="1310270" cy="25390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Awareness</a:t>
            </a:r>
          </a:p>
        </p:txBody>
      </p:sp>
      <p:sp>
        <p:nvSpPr>
          <p:cNvPr id="52" name="Arrow: Pentagon 51">
            <a:extLst>
              <a:ext uri="{FF2B5EF4-FFF2-40B4-BE49-F238E27FC236}">
                <a16:creationId xmlns:a16="http://schemas.microsoft.com/office/drawing/2014/main" id="{320A5C42-7A7F-6DFA-4849-92C9960975AD}"/>
              </a:ext>
            </a:extLst>
          </p:cNvPr>
          <p:cNvSpPr/>
          <p:nvPr/>
        </p:nvSpPr>
        <p:spPr>
          <a:xfrm>
            <a:off x="3949557" y="4827667"/>
            <a:ext cx="917086" cy="290249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Gap</a:t>
            </a:r>
          </a:p>
        </p:txBody>
      </p: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15275758-5AE3-6FC9-67DB-47D102F42F14}"/>
              </a:ext>
            </a:extLst>
          </p:cNvPr>
          <p:cNvSpPr/>
          <p:nvPr/>
        </p:nvSpPr>
        <p:spPr>
          <a:xfrm>
            <a:off x="3942827" y="5325905"/>
            <a:ext cx="917086" cy="290249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Need</a:t>
            </a:r>
          </a:p>
        </p:txBody>
      </p:sp>
      <p:sp>
        <p:nvSpPr>
          <p:cNvPr id="55" name="Arrow: Pentagon 54">
            <a:extLst>
              <a:ext uri="{FF2B5EF4-FFF2-40B4-BE49-F238E27FC236}">
                <a16:creationId xmlns:a16="http://schemas.microsoft.com/office/drawing/2014/main" id="{D0912B7C-05BF-B0FC-CAAE-8A9A41DD7D63}"/>
              </a:ext>
            </a:extLst>
          </p:cNvPr>
          <p:cNvSpPr/>
          <p:nvPr/>
        </p:nvSpPr>
        <p:spPr>
          <a:xfrm>
            <a:off x="3942827" y="5840493"/>
            <a:ext cx="958134" cy="347213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Solution</a:t>
            </a:r>
          </a:p>
        </p:txBody>
      </p:sp>
      <p:pic>
        <p:nvPicPr>
          <p:cNvPr id="56" name="Picture 18" descr="How to Insert a Tick Symbol In Microsoft Word - Simul Docs">
            <a:extLst>
              <a:ext uri="{FF2B5EF4-FFF2-40B4-BE49-F238E27FC236}">
                <a16:creationId xmlns:a16="http://schemas.microsoft.com/office/drawing/2014/main" id="{6D247A96-705D-FA64-5956-C94D30CDE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884" y="3296468"/>
            <a:ext cx="177499" cy="21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88E797BE-FAE4-CA11-D9C9-ED22943ABC94}"/>
              </a:ext>
            </a:extLst>
          </p:cNvPr>
          <p:cNvSpPr/>
          <p:nvPr/>
        </p:nvSpPr>
        <p:spPr>
          <a:xfrm>
            <a:off x="6163252" y="4270862"/>
            <a:ext cx="1235047" cy="28871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Acquisition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FEF5FD3-4314-CC99-21F3-0487D70E7FBE}"/>
              </a:ext>
            </a:extLst>
          </p:cNvPr>
          <p:cNvSpPr/>
          <p:nvPr/>
        </p:nvSpPr>
        <p:spPr>
          <a:xfrm>
            <a:off x="8000886" y="4256348"/>
            <a:ext cx="1235047" cy="29912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Conversion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68DE129-84D3-1423-0BD9-BD37E4163CDC}"/>
              </a:ext>
            </a:extLst>
          </p:cNvPr>
          <p:cNvSpPr/>
          <p:nvPr/>
        </p:nvSpPr>
        <p:spPr>
          <a:xfrm>
            <a:off x="9940995" y="4261857"/>
            <a:ext cx="1184246" cy="28641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Retention</a:t>
            </a:r>
          </a:p>
        </p:txBody>
      </p:sp>
      <p:sp>
        <p:nvSpPr>
          <p:cNvPr id="88" name="Half Frame 87">
            <a:extLst>
              <a:ext uri="{FF2B5EF4-FFF2-40B4-BE49-F238E27FC236}">
                <a16:creationId xmlns:a16="http://schemas.microsoft.com/office/drawing/2014/main" id="{0013AF09-C9EB-F412-6FCC-5FC2190D1FD6}"/>
              </a:ext>
            </a:extLst>
          </p:cNvPr>
          <p:cNvSpPr/>
          <p:nvPr/>
        </p:nvSpPr>
        <p:spPr>
          <a:xfrm>
            <a:off x="480454" y="3956287"/>
            <a:ext cx="583908" cy="562404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9" name="Half Frame 88">
            <a:extLst>
              <a:ext uri="{FF2B5EF4-FFF2-40B4-BE49-F238E27FC236}">
                <a16:creationId xmlns:a16="http://schemas.microsoft.com/office/drawing/2014/main" id="{991BA1DB-D37E-ED43-AA71-2CD4A16290BD}"/>
              </a:ext>
            </a:extLst>
          </p:cNvPr>
          <p:cNvSpPr/>
          <p:nvPr/>
        </p:nvSpPr>
        <p:spPr>
          <a:xfrm flipH="1">
            <a:off x="3250208" y="3981376"/>
            <a:ext cx="588831" cy="640080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0" name="Half Frame 89">
            <a:extLst>
              <a:ext uri="{FF2B5EF4-FFF2-40B4-BE49-F238E27FC236}">
                <a16:creationId xmlns:a16="http://schemas.microsoft.com/office/drawing/2014/main" id="{77D93F44-3091-8EFC-757A-108F5272DB99}"/>
              </a:ext>
            </a:extLst>
          </p:cNvPr>
          <p:cNvSpPr/>
          <p:nvPr/>
        </p:nvSpPr>
        <p:spPr>
          <a:xfrm rot="16200000">
            <a:off x="410665" y="5755900"/>
            <a:ext cx="583908" cy="562404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1" name="Half Frame 90">
            <a:extLst>
              <a:ext uri="{FF2B5EF4-FFF2-40B4-BE49-F238E27FC236}">
                <a16:creationId xmlns:a16="http://schemas.microsoft.com/office/drawing/2014/main" id="{DC6DFD75-8409-E1A3-0D21-6CF6EBB0A7AE}"/>
              </a:ext>
            </a:extLst>
          </p:cNvPr>
          <p:cNvSpPr/>
          <p:nvPr/>
        </p:nvSpPr>
        <p:spPr>
          <a:xfrm rot="5400000" flipH="1">
            <a:off x="3275832" y="5687899"/>
            <a:ext cx="588831" cy="640080"/>
          </a:xfrm>
          <a:prstGeom prst="halfFrame">
            <a:avLst>
              <a:gd name="adj1" fmla="val 11669"/>
              <a:gd name="adj2" fmla="val 116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59E086A-05E4-4BA3-97D6-6ABD16E69389}"/>
              </a:ext>
            </a:extLst>
          </p:cNvPr>
          <p:cNvSpPr/>
          <p:nvPr/>
        </p:nvSpPr>
        <p:spPr>
          <a:xfrm>
            <a:off x="1104453" y="4069285"/>
            <a:ext cx="2736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Expert talks &amp; secondary research</a:t>
            </a:r>
          </a:p>
        </p:txBody>
      </p:sp>
      <p:grpSp>
        <p:nvGrpSpPr>
          <p:cNvPr id="95" name="Manager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7D1632B1-0892-1044-579A-69339FBEED9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16104" y="4056630"/>
            <a:ext cx="325012" cy="320150"/>
            <a:chOff x="5354638" y="3213100"/>
            <a:chExt cx="860426" cy="823913"/>
          </a:xfrm>
          <a:solidFill>
            <a:schemeClr val="accent1">
              <a:lumMod val="50000"/>
            </a:schemeClr>
          </a:solidFill>
        </p:grpSpPr>
        <p:sp>
          <p:nvSpPr>
            <p:cNvPr id="96" name="Freeform 64">
              <a:extLst>
                <a:ext uri="{FF2B5EF4-FFF2-40B4-BE49-F238E27FC236}">
                  <a16:creationId xmlns:a16="http://schemas.microsoft.com/office/drawing/2014/main" id="{7AC0ACDA-BD43-BE83-297B-EC15C4C7D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576" y="3616325"/>
              <a:ext cx="169863" cy="144463"/>
            </a:xfrm>
            <a:custGeom>
              <a:avLst/>
              <a:gdLst>
                <a:gd name="T0" fmla="*/ 72 w 107"/>
                <a:gd name="T1" fmla="*/ 72 h 91"/>
                <a:gd name="T2" fmla="*/ 53 w 107"/>
                <a:gd name="T3" fmla="*/ 91 h 91"/>
                <a:gd name="T4" fmla="*/ 60 w 107"/>
                <a:gd name="T5" fmla="*/ 91 h 91"/>
                <a:gd name="T6" fmla="*/ 107 w 107"/>
                <a:gd name="T7" fmla="*/ 91 h 91"/>
                <a:gd name="T8" fmla="*/ 107 w 107"/>
                <a:gd name="T9" fmla="*/ 43 h 91"/>
                <a:gd name="T10" fmla="*/ 107 w 107"/>
                <a:gd name="T11" fmla="*/ 38 h 91"/>
                <a:gd name="T12" fmla="*/ 89 w 107"/>
                <a:gd name="T13" fmla="*/ 55 h 91"/>
                <a:gd name="T14" fmla="*/ 34 w 107"/>
                <a:gd name="T15" fmla="*/ 0 h 91"/>
                <a:gd name="T16" fmla="*/ 0 w 107"/>
                <a:gd name="T17" fmla="*/ 0 h 91"/>
                <a:gd name="T18" fmla="*/ 72 w 107"/>
                <a:gd name="T19" fmla="*/ 72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91">
                  <a:moveTo>
                    <a:pt x="72" y="72"/>
                  </a:moveTo>
                  <a:lnTo>
                    <a:pt x="53" y="91"/>
                  </a:lnTo>
                  <a:lnTo>
                    <a:pt x="60" y="91"/>
                  </a:lnTo>
                  <a:lnTo>
                    <a:pt x="107" y="91"/>
                  </a:lnTo>
                  <a:lnTo>
                    <a:pt x="107" y="43"/>
                  </a:lnTo>
                  <a:lnTo>
                    <a:pt x="107" y="38"/>
                  </a:lnTo>
                  <a:lnTo>
                    <a:pt x="89" y="55"/>
                  </a:lnTo>
                  <a:lnTo>
                    <a:pt x="34" y="0"/>
                  </a:lnTo>
                  <a:lnTo>
                    <a:pt x="0" y="0"/>
                  </a:lnTo>
                  <a:lnTo>
                    <a:pt x="72" y="7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65">
              <a:extLst>
                <a:ext uri="{FF2B5EF4-FFF2-40B4-BE49-F238E27FC236}">
                  <a16:creationId xmlns:a16="http://schemas.microsoft.com/office/drawing/2014/main" id="{E3BF66B2-C9A4-F071-F3EC-53C05407B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263" y="3617913"/>
              <a:ext cx="157163" cy="149225"/>
            </a:xfrm>
            <a:custGeom>
              <a:avLst/>
              <a:gdLst>
                <a:gd name="T0" fmla="*/ 167 w 205"/>
                <a:gd name="T1" fmla="*/ 73 h 197"/>
                <a:gd name="T2" fmla="*/ 205 w 205"/>
                <a:gd name="T3" fmla="*/ 111 h 197"/>
                <a:gd name="T4" fmla="*/ 205 w 205"/>
                <a:gd name="T5" fmla="*/ 0 h 197"/>
                <a:gd name="T6" fmla="*/ 162 w 205"/>
                <a:gd name="T7" fmla="*/ 0 h 197"/>
                <a:gd name="T8" fmla="*/ 94 w 205"/>
                <a:gd name="T9" fmla="*/ 0 h 197"/>
                <a:gd name="T10" fmla="*/ 131 w 205"/>
                <a:gd name="T11" fmla="*/ 38 h 197"/>
                <a:gd name="T12" fmla="*/ 0 w 205"/>
                <a:gd name="T13" fmla="*/ 169 h 197"/>
                <a:gd name="T14" fmla="*/ 43 w 205"/>
                <a:gd name="T15" fmla="*/ 197 h 197"/>
                <a:gd name="T16" fmla="*/ 167 w 205"/>
                <a:gd name="T17" fmla="*/ 7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5" h="197">
                  <a:moveTo>
                    <a:pt x="167" y="73"/>
                  </a:moveTo>
                  <a:lnTo>
                    <a:pt x="205" y="111"/>
                  </a:lnTo>
                  <a:lnTo>
                    <a:pt x="205" y="0"/>
                  </a:lnTo>
                  <a:lnTo>
                    <a:pt x="162" y="0"/>
                  </a:lnTo>
                  <a:lnTo>
                    <a:pt x="94" y="0"/>
                  </a:lnTo>
                  <a:lnTo>
                    <a:pt x="131" y="38"/>
                  </a:lnTo>
                  <a:lnTo>
                    <a:pt x="0" y="169"/>
                  </a:lnTo>
                  <a:cubicBezTo>
                    <a:pt x="16" y="175"/>
                    <a:pt x="30" y="185"/>
                    <a:pt x="43" y="197"/>
                  </a:cubicBezTo>
                  <a:lnTo>
                    <a:pt x="167" y="73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66">
              <a:extLst>
                <a:ext uri="{FF2B5EF4-FFF2-40B4-BE49-F238E27FC236}">
                  <a16:creationId xmlns:a16="http://schemas.microsoft.com/office/drawing/2014/main" id="{195BAB86-B7C5-F06A-36BB-B7806BBE8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8163" y="3438525"/>
              <a:ext cx="333375" cy="139700"/>
            </a:xfrm>
            <a:custGeom>
              <a:avLst/>
              <a:gdLst>
                <a:gd name="T0" fmla="*/ 439 w 439"/>
                <a:gd name="T1" fmla="*/ 159 h 182"/>
                <a:gd name="T2" fmla="*/ 288 w 439"/>
                <a:gd name="T3" fmla="*/ 0 h 182"/>
                <a:gd name="T4" fmla="*/ 220 w 439"/>
                <a:gd name="T5" fmla="*/ 68 h 182"/>
                <a:gd name="T6" fmla="*/ 151 w 439"/>
                <a:gd name="T7" fmla="*/ 0 h 182"/>
                <a:gd name="T8" fmla="*/ 0 w 439"/>
                <a:gd name="T9" fmla="*/ 159 h 182"/>
                <a:gd name="T10" fmla="*/ 0 w 439"/>
                <a:gd name="T11" fmla="*/ 182 h 182"/>
                <a:gd name="T12" fmla="*/ 439 w 439"/>
                <a:gd name="T13" fmla="*/ 182 h 182"/>
                <a:gd name="T14" fmla="*/ 439 w 439"/>
                <a:gd name="T15" fmla="*/ 159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9" h="182">
                  <a:moveTo>
                    <a:pt x="439" y="159"/>
                  </a:moveTo>
                  <a:cubicBezTo>
                    <a:pt x="439" y="62"/>
                    <a:pt x="376" y="15"/>
                    <a:pt x="288" y="0"/>
                  </a:cubicBezTo>
                  <a:lnTo>
                    <a:pt x="220" y="68"/>
                  </a:lnTo>
                  <a:lnTo>
                    <a:pt x="151" y="0"/>
                  </a:lnTo>
                  <a:cubicBezTo>
                    <a:pt x="64" y="15"/>
                    <a:pt x="0" y="62"/>
                    <a:pt x="0" y="159"/>
                  </a:cubicBezTo>
                  <a:lnTo>
                    <a:pt x="0" y="182"/>
                  </a:lnTo>
                  <a:lnTo>
                    <a:pt x="439" y="182"/>
                  </a:lnTo>
                  <a:lnTo>
                    <a:pt x="439" y="1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Oval 67">
              <a:extLst>
                <a:ext uri="{FF2B5EF4-FFF2-40B4-BE49-F238E27FC236}">
                  <a16:creationId xmlns:a16="http://schemas.microsoft.com/office/drawing/2014/main" id="{E021F9C4-6CC6-C9D6-48DD-BA70587AD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6426" y="3213100"/>
              <a:ext cx="196850" cy="1952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68">
              <a:extLst>
                <a:ext uri="{FF2B5EF4-FFF2-40B4-BE49-F238E27FC236}">
                  <a16:creationId xmlns:a16="http://schemas.microsoft.com/office/drawing/2014/main" id="{A78CB8C1-7B4E-AAE8-0658-FB4B00B13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4638" y="3938588"/>
              <a:ext cx="249238" cy="98425"/>
            </a:xfrm>
            <a:custGeom>
              <a:avLst/>
              <a:gdLst>
                <a:gd name="T0" fmla="*/ 221 w 326"/>
                <a:gd name="T1" fmla="*/ 0 h 129"/>
                <a:gd name="T2" fmla="*/ 164 w 326"/>
                <a:gd name="T3" fmla="*/ 57 h 129"/>
                <a:gd name="T4" fmla="*/ 107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1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1" y="0"/>
                  </a:moveTo>
                  <a:lnTo>
                    <a:pt x="164" y="57"/>
                  </a:lnTo>
                  <a:lnTo>
                    <a:pt x="107" y="0"/>
                  </a:lnTo>
                  <a:cubicBezTo>
                    <a:pt x="45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69">
              <a:extLst>
                <a:ext uri="{FF2B5EF4-FFF2-40B4-BE49-F238E27FC236}">
                  <a16:creationId xmlns:a16="http://schemas.microsoft.com/office/drawing/2014/main" id="{4AEE395B-EE92-6731-BDD0-95574DB79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6" y="3938588"/>
              <a:ext cx="249238" cy="98425"/>
            </a:xfrm>
            <a:custGeom>
              <a:avLst/>
              <a:gdLst>
                <a:gd name="T0" fmla="*/ 220 w 326"/>
                <a:gd name="T1" fmla="*/ 0 h 129"/>
                <a:gd name="T2" fmla="*/ 163 w 326"/>
                <a:gd name="T3" fmla="*/ 57 h 129"/>
                <a:gd name="T4" fmla="*/ 106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0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0" y="0"/>
                  </a:moveTo>
                  <a:lnTo>
                    <a:pt x="163" y="57"/>
                  </a:lnTo>
                  <a:lnTo>
                    <a:pt x="106" y="0"/>
                  </a:lnTo>
                  <a:cubicBezTo>
                    <a:pt x="44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Oval 70">
              <a:extLst>
                <a:ext uri="{FF2B5EF4-FFF2-40B4-BE49-F238E27FC236}">
                  <a16:creationId xmlns:a16="http://schemas.microsoft.com/office/drawing/2014/main" id="{7DC515CC-85D6-72CA-997B-547DCF0DB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026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71">
              <a:extLst>
                <a:ext uri="{FF2B5EF4-FFF2-40B4-BE49-F238E27FC236}">
                  <a16:creationId xmlns:a16="http://schemas.microsoft.com/office/drawing/2014/main" id="{3F513CAD-B8B9-4D90-EF0A-59616A13E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938588"/>
              <a:ext cx="249238" cy="98425"/>
            </a:xfrm>
            <a:custGeom>
              <a:avLst/>
              <a:gdLst>
                <a:gd name="T0" fmla="*/ 221 w 326"/>
                <a:gd name="T1" fmla="*/ 0 h 129"/>
                <a:gd name="T2" fmla="*/ 164 w 326"/>
                <a:gd name="T3" fmla="*/ 57 h 129"/>
                <a:gd name="T4" fmla="*/ 106 w 326"/>
                <a:gd name="T5" fmla="*/ 0 h 129"/>
                <a:gd name="T6" fmla="*/ 0 w 326"/>
                <a:gd name="T7" fmla="*/ 118 h 129"/>
                <a:gd name="T8" fmla="*/ 0 w 326"/>
                <a:gd name="T9" fmla="*/ 129 h 129"/>
                <a:gd name="T10" fmla="*/ 326 w 326"/>
                <a:gd name="T11" fmla="*/ 129 h 129"/>
                <a:gd name="T12" fmla="*/ 326 w 326"/>
                <a:gd name="T13" fmla="*/ 118 h 129"/>
                <a:gd name="T14" fmla="*/ 221 w 326"/>
                <a:gd name="T1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6" h="129">
                  <a:moveTo>
                    <a:pt x="221" y="0"/>
                  </a:moveTo>
                  <a:lnTo>
                    <a:pt x="164" y="57"/>
                  </a:lnTo>
                  <a:lnTo>
                    <a:pt x="106" y="0"/>
                  </a:lnTo>
                  <a:cubicBezTo>
                    <a:pt x="44" y="12"/>
                    <a:pt x="0" y="48"/>
                    <a:pt x="0" y="118"/>
                  </a:cubicBezTo>
                  <a:lnTo>
                    <a:pt x="0" y="129"/>
                  </a:lnTo>
                  <a:lnTo>
                    <a:pt x="326" y="129"/>
                  </a:lnTo>
                  <a:lnTo>
                    <a:pt x="326" y="118"/>
                  </a:lnTo>
                  <a:cubicBezTo>
                    <a:pt x="326" y="48"/>
                    <a:pt x="282" y="13"/>
                    <a:pt x="221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Oval 72">
              <a:extLst>
                <a:ext uri="{FF2B5EF4-FFF2-40B4-BE49-F238E27FC236}">
                  <a16:creationId xmlns:a16="http://schemas.microsoft.com/office/drawing/2014/main" id="{1292B1AD-7C59-729A-EF66-C0A24643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8651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Oval 73">
              <a:extLst>
                <a:ext uri="{FF2B5EF4-FFF2-40B4-BE49-F238E27FC236}">
                  <a16:creationId xmlns:a16="http://schemas.microsoft.com/office/drawing/2014/main" id="{AD7E9C4C-313D-B40F-57E1-CE5BF7FC4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8213" y="3770313"/>
              <a:ext cx="144463" cy="1444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9032F25-86FB-3C63-1124-1F8C4A12D3C0}"/>
              </a:ext>
            </a:extLst>
          </p:cNvPr>
          <p:cNvSpPr/>
          <p:nvPr/>
        </p:nvSpPr>
        <p:spPr>
          <a:xfrm>
            <a:off x="653216" y="4400704"/>
            <a:ext cx="31897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Telephonic discussion with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 interior designers, 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from Gujarat across tier-I,II cities. Research report on home textiles market on Euromonitor, CRISIL on e-commerce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E50F7CB-B5D7-6960-4B49-10B0ADBDA1AC}"/>
              </a:ext>
            </a:extLst>
          </p:cNvPr>
          <p:cNvSpPr/>
          <p:nvPr/>
        </p:nvSpPr>
        <p:spPr>
          <a:xfrm>
            <a:off x="978610" y="5178262"/>
            <a:ext cx="29357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Customer Interviews &amp; Survey</a:t>
            </a:r>
          </a:p>
        </p:txBody>
      </p:sp>
      <p:grpSp>
        <p:nvGrpSpPr>
          <p:cNvPr id="108" name="Interview3" descr="{&quot;Key&quot;:&quot;POWER_USER_SHAPE_ICON&quot;,&quot;Value&quot;:&quot;POWER_USER_SHAPE_ICON_STYLE_1&quot;}">
            <a:extLst>
              <a:ext uri="{FF2B5EF4-FFF2-40B4-BE49-F238E27FC236}">
                <a16:creationId xmlns:a16="http://schemas.microsoft.com/office/drawing/2014/main" id="{ECED882D-7EDB-755A-8B7D-DAA76670B6DB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755030" y="5206763"/>
            <a:ext cx="389593" cy="232727"/>
            <a:chOff x="7069138" y="4486275"/>
            <a:chExt cx="949326" cy="779463"/>
          </a:xfrm>
          <a:solidFill>
            <a:schemeClr val="accent1">
              <a:lumMod val="50000"/>
            </a:schemeClr>
          </a:solidFill>
        </p:grpSpPr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C3700CED-E89C-4494-76A3-352D8734E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9138" y="4805363"/>
              <a:ext cx="538163" cy="419100"/>
            </a:xfrm>
            <a:custGeom>
              <a:avLst/>
              <a:gdLst>
                <a:gd name="T0" fmla="*/ 76 w 707"/>
                <a:gd name="T1" fmla="*/ 230 h 551"/>
                <a:gd name="T2" fmla="*/ 76 w 707"/>
                <a:gd name="T3" fmla="*/ 306 h 551"/>
                <a:gd name="T4" fmla="*/ 0 w 707"/>
                <a:gd name="T5" fmla="*/ 306 h 551"/>
                <a:gd name="T6" fmla="*/ 0 w 707"/>
                <a:gd name="T7" fmla="*/ 353 h 551"/>
                <a:gd name="T8" fmla="*/ 122 w 707"/>
                <a:gd name="T9" fmla="*/ 353 h 551"/>
                <a:gd name="T10" fmla="*/ 122 w 707"/>
                <a:gd name="T11" fmla="*/ 410 h 551"/>
                <a:gd name="T12" fmla="*/ 98 w 707"/>
                <a:gd name="T13" fmla="*/ 410 h 551"/>
                <a:gd name="T14" fmla="*/ 79 w 707"/>
                <a:gd name="T15" fmla="*/ 420 h 551"/>
                <a:gd name="T16" fmla="*/ 76 w 707"/>
                <a:gd name="T17" fmla="*/ 441 h 551"/>
                <a:gd name="T18" fmla="*/ 111 w 707"/>
                <a:gd name="T19" fmla="*/ 536 h 551"/>
                <a:gd name="T20" fmla="*/ 133 w 707"/>
                <a:gd name="T21" fmla="*/ 551 h 551"/>
                <a:gd name="T22" fmla="*/ 444 w 707"/>
                <a:gd name="T23" fmla="*/ 551 h 551"/>
                <a:gd name="T24" fmla="*/ 444 w 707"/>
                <a:gd name="T25" fmla="*/ 515 h 551"/>
                <a:gd name="T26" fmla="*/ 157 w 707"/>
                <a:gd name="T27" fmla="*/ 515 h 551"/>
                <a:gd name="T28" fmla="*/ 157 w 707"/>
                <a:gd name="T29" fmla="*/ 212 h 551"/>
                <a:gd name="T30" fmla="*/ 176 w 707"/>
                <a:gd name="T31" fmla="*/ 194 h 551"/>
                <a:gd name="T32" fmla="*/ 587 w 707"/>
                <a:gd name="T33" fmla="*/ 194 h 551"/>
                <a:gd name="T34" fmla="*/ 707 w 707"/>
                <a:gd name="T35" fmla="*/ 139 h 551"/>
                <a:gd name="T36" fmla="*/ 516 w 707"/>
                <a:gd name="T37" fmla="*/ 3 h 551"/>
                <a:gd name="T38" fmla="*/ 402 w 707"/>
                <a:gd name="T39" fmla="*/ 86 h 551"/>
                <a:gd name="T40" fmla="*/ 284 w 707"/>
                <a:gd name="T41" fmla="*/ 0 h 551"/>
                <a:gd name="T42" fmla="*/ 76 w 707"/>
                <a:gd name="T43" fmla="*/ 230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7" h="551">
                  <a:moveTo>
                    <a:pt x="76" y="230"/>
                  </a:moveTo>
                  <a:lnTo>
                    <a:pt x="76" y="306"/>
                  </a:lnTo>
                  <a:lnTo>
                    <a:pt x="0" y="306"/>
                  </a:lnTo>
                  <a:lnTo>
                    <a:pt x="0" y="353"/>
                  </a:lnTo>
                  <a:lnTo>
                    <a:pt x="122" y="353"/>
                  </a:lnTo>
                  <a:lnTo>
                    <a:pt x="122" y="410"/>
                  </a:lnTo>
                  <a:lnTo>
                    <a:pt x="98" y="410"/>
                  </a:lnTo>
                  <a:cubicBezTo>
                    <a:pt x="91" y="410"/>
                    <a:pt x="84" y="414"/>
                    <a:pt x="79" y="420"/>
                  </a:cubicBezTo>
                  <a:cubicBezTo>
                    <a:pt x="75" y="426"/>
                    <a:pt x="74" y="434"/>
                    <a:pt x="76" y="441"/>
                  </a:cubicBezTo>
                  <a:lnTo>
                    <a:pt x="111" y="536"/>
                  </a:lnTo>
                  <a:cubicBezTo>
                    <a:pt x="114" y="545"/>
                    <a:pt x="123" y="551"/>
                    <a:pt x="133" y="551"/>
                  </a:cubicBezTo>
                  <a:lnTo>
                    <a:pt x="444" y="551"/>
                  </a:lnTo>
                  <a:lnTo>
                    <a:pt x="444" y="515"/>
                  </a:lnTo>
                  <a:lnTo>
                    <a:pt x="157" y="515"/>
                  </a:lnTo>
                  <a:lnTo>
                    <a:pt x="157" y="212"/>
                  </a:lnTo>
                  <a:cubicBezTo>
                    <a:pt x="157" y="202"/>
                    <a:pt x="165" y="194"/>
                    <a:pt x="176" y="194"/>
                  </a:cubicBezTo>
                  <a:lnTo>
                    <a:pt x="587" y="194"/>
                  </a:lnTo>
                  <a:cubicBezTo>
                    <a:pt x="620" y="170"/>
                    <a:pt x="660" y="152"/>
                    <a:pt x="707" y="139"/>
                  </a:cubicBezTo>
                  <a:cubicBezTo>
                    <a:pt x="674" y="71"/>
                    <a:pt x="604" y="24"/>
                    <a:pt x="516" y="3"/>
                  </a:cubicBezTo>
                  <a:lnTo>
                    <a:pt x="402" y="86"/>
                  </a:lnTo>
                  <a:lnTo>
                    <a:pt x="284" y="0"/>
                  </a:lnTo>
                  <a:cubicBezTo>
                    <a:pt x="162" y="23"/>
                    <a:pt x="76" y="89"/>
                    <a:pt x="76" y="23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Oval 157">
              <a:extLst>
                <a:ext uri="{FF2B5EF4-FFF2-40B4-BE49-F238E27FC236}">
                  <a16:creationId xmlns:a16="http://schemas.microsoft.com/office/drawing/2014/main" id="{0085F2A6-2447-F797-F965-7EE2147E7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2651" y="4486275"/>
              <a:ext cx="282575" cy="282575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Oval 158">
              <a:extLst>
                <a:ext uri="{FF2B5EF4-FFF2-40B4-BE49-F238E27FC236}">
                  <a16:creationId xmlns:a16="http://schemas.microsoft.com/office/drawing/2014/main" id="{C594DBFF-60A8-9C29-D43C-EEA1C471B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5046663"/>
              <a:ext cx="65088" cy="65088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65C6A0B5-98F2-E79C-BADF-E547FFD64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8551" y="4935538"/>
              <a:ext cx="569913" cy="330200"/>
            </a:xfrm>
            <a:custGeom>
              <a:avLst/>
              <a:gdLst>
                <a:gd name="T0" fmla="*/ 375 w 749"/>
                <a:gd name="T1" fmla="*/ 0 h 434"/>
                <a:gd name="T2" fmla="*/ 59 w 749"/>
                <a:gd name="T3" fmla="*/ 139 h 434"/>
                <a:gd name="T4" fmla="*/ 0 w 749"/>
                <a:gd name="T5" fmla="*/ 208 h 434"/>
                <a:gd name="T6" fmla="*/ 0 w 749"/>
                <a:gd name="T7" fmla="*/ 434 h 434"/>
                <a:gd name="T8" fmla="*/ 58 w 749"/>
                <a:gd name="T9" fmla="*/ 434 h 434"/>
                <a:gd name="T10" fmla="*/ 58 w 749"/>
                <a:gd name="T11" fmla="*/ 208 h 434"/>
                <a:gd name="T12" fmla="*/ 75 w 749"/>
                <a:gd name="T13" fmla="*/ 191 h 434"/>
                <a:gd name="T14" fmla="*/ 673 w 749"/>
                <a:gd name="T15" fmla="*/ 191 h 434"/>
                <a:gd name="T16" fmla="*/ 690 w 749"/>
                <a:gd name="T17" fmla="*/ 208 h 434"/>
                <a:gd name="T18" fmla="*/ 690 w 749"/>
                <a:gd name="T19" fmla="*/ 434 h 434"/>
                <a:gd name="T20" fmla="*/ 749 w 749"/>
                <a:gd name="T21" fmla="*/ 434 h 434"/>
                <a:gd name="T22" fmla="*/ 749 w 749"/>
                <a:gd name="T23" fmla="*/ 208 h 434"/>
                <a:gd name="T24" fmla="*/ 690 w 749"/>
                <a:gd name="T25" fmla="*/ 139 h 434"/>
                <a:gd name="T26" fmla="*/ 375 w 749"/>
                <a:gd name="T27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9" h="434">
                  <a:moveTo>
                    <a:pt x="375" y="0"/>
                  </a:moveTo>
                  <a:cubicBezTo>
                    <a:pt x="178" y="0"/>
                    <a:pt x="88" y="75"/>
                    <a:pt x="59" y="139"/>
                  </a:cubicBezTo>
                  <a:cubicBezTo>
                    <a:pt x="25" y="145"/>
                    <a:pt x="0" y="173"/>
                    <a:pt x="0" y="208"/>
                  </a:cubicBezTo>
                  <a:lnTo>
                    <a:pt x="0" y="434"/>
                  </a:lnTo>
                  <a:lnTo>
                    <a:pt x="58" y="434"/>
                  </a:lnTo>
                  <a:lnTo>
                    <a:pt x="58" y="208"/>
                  </a:lnTo>
                  <a:cubicBezTo>
                    <a:pt x="58" y="199"/>
                    <a:pt x="65" y="191"/>
                    <a:pt x="75" y="191"/>
                  </a:cubicBezTo>
                  <a:lnTo>
                    <a:pt x="673" y="191"/>
                  </a:lnTo>
                  <a:cubicBezTo>
                    <a:pt x="682" y="191"/>
                    <a:pt x="690" y="199"/>
                    <a:pt x="690" y="208"/>
                  </a:cubicBezTo>
                  <a:lnTo>
                    <a:pt x="690" y="434"/>
                  </a:lnTo>
                  <a:lnTo>
                    <a:pt x="749" y="434"/>
                  </a:lnTo>
                  <a:lnTo>
                    <a:pt x="749" y="208"/>
                  </a:lnTo>
                  <a:cubicBezTo>
                    <a:pt x="749" y="173"/>
                    <a:pt x="724" y="145"/>
                    <a:pt x="690" y="139"/>
                  </a:cubicBezTo>
                  <a:cubicBezTo>
                    <a:pt x="661" y="75"/>
                    <a:pt x="571" y="0"/>
                    <a:pt x="37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Oval 160">
              <a:extLst>
                <a:ext uri="{FF2B5EF4-FFF2-40B4-BE49-F238E27FC236}">
                  <a16:creationId xmlns:a16="http://schemas.microsoft.com/office/drawing/2014/main" id="{0B04026A-6E29-6076-1163-24A200A3E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5076" y="4603750"/>
              <a:ext cx="296863" cy="2968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286E2D2-AC9D-3D48-7E1A-2E2556F324B5}"/>
              </a:ext>
            </a:extLst>
          </p:cNvPr>
          <p:cNvSpPr/>
          <p:nvPr/>
        </p:nvSpPr>
        <p:spPr>
          <a:xfrm>
            <a:off x="547262" y="5541376"/>
            <a:ext cx="33460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In-depth interviews of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7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homeowners,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5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on rentals &amp; assisted online survey of </a:t>
            </a: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100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people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tier-I, II, III cities; age: 25 to 50.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F648EFC-83AC-B5E0-6BEC-1372CD167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912030"/>
              </p:ext>
            </p:extLst>
          </p:nvPr>
        </p:nvGraphicFramePr>
        <p:xfrm>
          <a:off x="4900961" y="4622172"/>
          <a:ext cx="6984540" cy="1737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28180">
                  <a:extLst>
                    <a:ext uri="{9D8B030D-6E8A-4147-A177-3AD203B41FA5}">
                      <a16:colId xmlns:a16="http://schemas.microsoft.com/office/drawing/2014/main" val="867598811"/>
                    </a:ext>
                  </a:extLst>
                </a:gridCol>
                <a:gridCol w="2328180">
                  <a:extLst>
                    <a:ext uri="{9D8B030D-6E8A-4147-A177-3AD203B41FA5}">
                      <a16:colId xmlns:a16="http://schemas.microsoft.com/office/drawing/2014/main" val="1493971915"/>
                    </a:ext>
                  </a:extLst>
                </a:gridCol>
                <a:gridCol w="2328180">
                  <a:extLst>
                    <a:ext uri="{9D8B030D-6E8A-4147-A177-3AD203B41FA5}">
                      <a16:colId xmlns:a16="http://schemas.microsoft.com/office/drawing/2014/main" val="2663337145"/>
                    </a:ext>
                  </a:extLst>
                </a:gridCol>
              </a:tblGrid>
              <a:tr h="597259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Inertia, less brand awareness</a:t>
                      </a:r>
                    </a:p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Sustainability, Unorganized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Reluctance to commit on online platforms, less reviews on e-commerce 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High bargaining power of buyers, less brand conscious, variety of options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962214"/>
                  </a:ext>
                </a:extLst>
              </a:tr>
              <a:tr h="426613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Brand awareness &amp; educate,</a:t>
                      </a:r>
                    </a:p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Identify and activate triggers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Testimonials, blogs, featured on credible pages for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>
                          <a:solidFill>
                            <a:schemeClr val="bg1"/>
                          </a:solidFill>
                        </a:rPr>
                        <a:t>Tracking and redeeming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23883"/>
                  </a:ext>
                </a:extLst>
              </a:tr>
              <a:tr h="597259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Bacteria free bedding, Influencer marketing,</a:t>
                      </a:r>
                    </a:p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Bundle pricing,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Video marketing,  Discounts, coupons, e-commerce catalogues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dirty="0">
                          <a:solidFill>
                            <a:schemeClr val="bg1"/>
                          </a:solidFill>
                        </a:rPr>
                        <a:t>Rewards programme, old towel exchange campaign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885550"/>
                  </a:ext>
                </a:extLst>
              </a:tr>
            </a:tbl>
          </a:graphicData>
        </a:graphic>
      </p:graphicFrame>
      <p:sp>
        <p:nvSpPr>
          <p:cNvPr id="49" name="Arrow: Curved Up 48">
            <a:extLst>
              <a:ext uri="{FF2B5EF4-FFF2-40B4-BE49-F238E27FC236}">
                <a16:creationId xmlns:a16="http://schemas.microsoft.com/office/drawing/2014/main" id="{450DDA34-3238-43F7-47A1-8641A3052D05}"/>
              </a:ext>
            </a:extLst>
          </p:cNvPr>
          <p:cNvSpPr/>
          <p:nvPr/>
        </p:nvSpPr>
        <p:spPr>
          <a:xfrm>
            <a:off x="5420307" y="4445101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0" name="Arrow: Curved Up 49">
            <a:extLst>
              <a:ext uri="{FF2B5EF4-FFF2-40B4-BE49-F238E27FC236}">
                <a16:creationId xmlns:a16="http://schemas.microsoft.com/office/drawing/2014/main" id="{CA71B35E-1E0A-7F8A-114B-7BD43EC98007}"/>
              </a:ext>
            </a:extLst>
          </p:cNvPr>
          <p:cNvSpPr/>
          <p:nvPr/>
        </p:nvSpPr>
        <p:spPr>
          <a:xfrm>
            <a:off x="7264932" y="4420408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1" name="Arrow: Curved Up 50">
            <a:extLst>
              <a:ext uri="{FF2B5EF4-FFF2-40B4-BE49-F238E27FC236}">
                <a16:creationId xmlns:a16="http://schemas.microsoft.com/office/drawing/2014/main" id="{C9F99DFD-D192-04E7-61CC-78DFD5A62FF7}"/>
              </a:ext>
            </a:extLst>
          </p:cNvPr>
          <p:cNvSpPr/>
          <p:nvPr/>
        </p:nvSpPr>
        <p:spPr>
          <a:xfrm>
            <a:off x="9174062" y="4431291"/>
            <a:ext cx="846176" cy="1475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374FB9-18B7-C327-2B6D-2B1C4F39EC4B}"/>
              </a:ext>
            </a:extLst>
          </p:cNvPr>
          <p:cNvSpPr/>
          <p:nvPr/>
        </p:nvSpPr>
        <p:spPr>
          <a:xfrm>
            <a:off x="7826606" y="582880"/>
            <a:ext cx="3014247" cy="204521"/>
          </a:xfrm>
          <a:prstGeom prst="rect">
            <a:avLst/>
          </a:prstGeom>
          <a:solidFill>
            <a:srgbClr val="B455AA"/>
          </a:solidFill>
          <a:ln w="12700" cap="flat" cmpd="sng" algn="ctr">
            <a:solidFill>
              <a:srgbClr val="B455AA"/>
            </a:solidFill>
            <a:prstDash val="solid"/>
            <a:miter lim="800000"/>
          </a:ln>
          <a:effectLst/>
        </p:spPr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Target market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4BF66E-E184-1F4F-27B5-264BC7604411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3" name="Arrow: Chevron 3">
              <a:extLst>
                <a:ext uri="{FF2B5EF4-FFF2-40B4-BE49-F238E27FC236}">
                  <a16:creationId xmlns:a16="http://schemas.microsoft.com/office/drawing/2014/main" id="{8FA98204-8B7F-E24A-8D6F-DC6C644E99BC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4" name="Arrow: Chevron 5">
              <a:extLst>
                <a:ext uri="{FF2B5EF4-FFF2-40B4-BE49-F238E27FC236}">
                  <a16:creationId xmlns:a16="http://schemas.microsoft.com/office/drawing/2014/main" id="{D4769E26-09EE-8BC9-8BD6-D3F043346C7C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6" name="Arrow: Chevron 6">
              <a:extLst>
                <a:ext uri="{FF2B5EF4-FFF2-40B4-BE49-F238E27FC236}">
                  <a16:creationId xmlns:a16="http://schemas.microsoft.com/office/drawing/2014/main" id="{5E0FDDEB-52AB-B7AF-BBBB-F20283BC6500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7" name="Arrow: Chevron 7">
              <a:extLst>
                <a:ext uri="{FF2B5EF4-FFF2-40B4-BE49-F238E27FC236}">
                  <a16:creationId xmlns:a16="http://schemas.microsoft.com/office/drawing/2014/main" id="{FA96EC27-29EB-6D13-CFC6-44D8DEEF797D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8" name="Arrow: Chevron 8">
              <a:extLst>
                <a:ext uri="{FF2B5EF4-FFF2-40B4-BE49-F238E27FC236}">
                  <a16:creationId xmlns:a16="http://schemas.microsoft.com/office/drawing/2014/main" id="{41C439FB-C05C-659A-4AB5-824B739F3E6F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9" name="Arrow: Chevron 11">
              <a:extLst>
                <a:ext uri="{FF2B5EF4-FFF2-40B4-BE49-F238E27FC236}">
                  <a16:creationId xmlns:a16="http://schemas.microsoft.com/office/drawing/2014/main" id="{9432ECB3-164A-981C-F902-9DABB0950CD8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987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C2A7DE-11F0-3110-81FF-4F89FDE992B2}"/>
              </a:ext>
            </a:extLst>
          </p:cNvPr>
          <p:cNvSpPr txBox="1"/>
          <p:nvPr/>
        </p:nvSpPr>
        <p:spPr>
          <a:xfrm>
            <a:off x="427377" y="4579071"/>
            <a:ext cx="2443173" cy="6828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Value Based pricing across all the segments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Penetration in market that is not brand loyal</a:t>
            </a:r>
          </a:p>
          <a:p>
            <a:pPr marL="171450" indent="-171450" algn="l" defTabSz="228600">
              <a:buFont typeface="Wingdings" panose="05000000000000000000" pitchFamily="2" charset="2"/>
              <a:buChar char="Ø"/>
            </a:pPr>
            <a:endParaRPr lang="en-IN" sz="1200" dirty="0">
              <a:solidFill>
                <a:schemeClr val="bg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8E6F36E-09FE-F195-22D8-B1A80033AAF1}"/>
              </a:ext>
            </a:extLst>
          </p:cNvPr>
          <p:cNvGrpSpPr/>
          <p:nvPr/>
        </p:nvGrpSpPr>
        <p:grpSpPr>
          <a:xfrm>
            <a:off x="447744" y="1373608"/>
            <a:ext cx="6309672" cy="3034763"/>
            <a:chOff x="114714" y="1765072"/>
            <a:chExt cx="4530617" cy="2973370"/>
          </a:xfrm>
        </p:grpSpPr>
        <p:graphicFrame>
          <p:nvGraphicFramePr>
            <p:cNvPr id="40" name="Table 11">
              <a:extLst>
                <a:ext uri="{FF2B5EF4-FFF2-40B4-BE49-F238E27FC236}">
                  <a16:creationId xmlns:a16="http://schemas.microsoft.com/office/drawing/2014/main" id="{0755529C-53B1-F561-3235-F9931CD71D3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4714" y="1765072"/>
            <a:ext cx="4530617" cy="2973370"/>
          </p:xfrm>
          <a:graphic>
            <a:graphicData uri="http://schemas.openxmlformats.org/drawingml/2006/table">
              <a:tbl>
                <a:tblPr firstRow="1" bandRow="1"/>
                <a:tblGrid>
                  <a:gridCol w="1051612">
                    <a:extLst>
                      <a:ext uri="{9D8B030D-6E8A-4147-A177-3AD203B41FA5}">
                        <a16:colId xmlns:a16="http://schemas.microsoft.com/office/drawing/2014/main" val="3050072784"/>
                      </a:ext>
                    </a:extLst>
                  </a:gridCol>
                  <a:gridCol w="1051612">
                    <a:extLst>
                      <a:ext uri="{9D8B030D-6E8A-4147-A177-3AD203B41FA5}">
                        <a16:colId xmlns:a16="http://schemas.microsoft.com/office/drawing/2014/main" val="2012927551"/>
                      </a:ext>
                    </a:extLst>
                  </a:gridCol>
                  <a:gridCol w="1051612">
                    <a:extLst>
                      <a:ext uri="{9D8B030D-6E8A-4147-A177-3AD203B41FA5}">
                        <a16:colId xmlns:a16="http://schemas.microsoft.com/office/drawing/2014/main" val="495890647"/>
                      </a:ext>
                    </a:extLst>
                  </a:gridCol>
                  <a:gridCol w="1051612">
                    <a:extLst>
                      <a:ext uri="{9D8B030D-6E8A-4147-A177-3AD203B41FA5}">
                        <a16:colId xmlns:a16="http://schemas.microsoft.com/office/drawing/2014/main" val="1548761734"/>
                      </a:ext>
                    </a:extLst>
                  </a:gridCol>
                  <a:gridCol w="1079096">
                    <a:extLst>
                      <a:ext uri="{9D8B030D-6E8A-4147-A177-3AD203B41FA5}">
                        <a16:colId xmlns:a16="http://schemas.microsoft.com/office/drawing/2014/main" val="3771332836"/>
                      </a:ext>
                    </a:extLst>
                  </a:gridCol>
                  <a:gridCol w="1024128">
                    <a:extLst>
                      <a:ext uri="{9D8B030D-6E8A-4147-A177-3AD203B41FA5}">
                        <a16:colId xmlns:a16="http://schemas.microsoft.com/office/drawing/2014/main" val="3572802092"/>
                      </a:ext>
                    </a:extLst>
                  </a:gridCol>
                </a:tblGrid>
                <a:tr h="454531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Category of Products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Bed Linen, Bath Linen, Flooring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Bed Linen, Bath Linen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Bed Linen, Bath Linen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Bed Linen, Bath Linen, Flooring, Others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Bed Linen, Bath Linen, Flooring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834200168"/>
                    </a:ext>
                  </a:extLst>
                </a:tr>
                <a:tr h="454531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Consumer Needs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Essential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Luxury, Essential, Design, Gifting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 Essential, Design, Gifting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Luxury, Design, Gifting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IN" sz="1200" b="0">
                            <a:solidFill>
                              <a:schemeClr val="bg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Grey area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63745327"/>
                    </a:ext>
                  </a:extLst>
                </a:tr>
                <a:tr h="713711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Price</a:t>
                        </a:r>
                      </a:p>
                      <a:p>
                        <a:pPr algn="ctr"/>
                        <a:r>
                          <a:rPr lang="en-IN" sz="12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Segment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12231252"/>
                    </a:ext>
                  </a:extLst>
                </a:tr>
                <a:tr h="675132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pPr algn="ctr"/>
                        <a:r>
                          <a:rPr lang="en-IN" sz="12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Willingness to act sustainably</a:t>
                        </a: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IN" sz="1400" b="0">
                          <a:solidFill>
                            <a:schemeClr val="bg1"/>
                          </a:solidFill>
                        </a:endParaRPr>
                      </a:p>
                    </a:txBody>
                    <a:tcPr anchor="ctr">
                      <a:lnL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solidFill>
                          <a:schemeClr val="tx1">
                            <a:lumMod val="7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169291331"/>
                    </a:ext>
                  </a:extLst>
                </a:tr>
              </a:tbl>
            </a:graphicData>
          </a:graphic>
        </p:graphicFrame>
        <p:graphicFrame>
          <p:nvGraphicFramePr>
            <p:cNvPr id="42" name="Table 27">
              <a:extLst>
                <a:ext uri="{FF2B5EF4-FFF2-40B4-BE49-F238E27FC236}">
                  <a16:creationId xmlns:a16="http://schemas.microsoft.com/office/drawing/2014/main" id="{86F380D5-DE5A-E44E-1699-2127EB6C3A4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82008" y="3581533"/>
            <a:ext cx="733559" cy="295729"/>
          </p:xfrm>
          <a:graphic>
            <a:graphicData uri="http://schemas.openxmlformats.org/drawingml/2006/table">
              <a:tbl>
                <a:tblPr firstRow="1" bandRow="1"/>
                <a:tblGrid>
                  <a:gridCol w="170268">
                    <a:extLst>
                      <a:ext uri="{9D8B030D-6E8A-4147-A177-3AD203B41FA5}">
                        <a16:colId xmlns:a16="http://schemas.microsoft.com/office/drawing/2014/main" val="414480020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2667686244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1186997789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22609687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4231428382"/>
                      </a:ext>
                    </a:extLst>
                  </a:gridCol>
                  <a:gridCol w="170268">
                    <a:extLst>
                      <a:ext uri="{9D8B030D-6E8A-4147-A177-3AD203B41FA5}">
                        <a16:colId xmlns:a16="http://schemas.microsoft.com/office/drawing/2014/main" val="3989598063"/>
                      </a:ext>
                    </a:extLst>
                  </a:gridCol>
                </a:tblGrid>
                <a:tr h="301835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Graphik"/>
                          </a:defRPr>
                        </a:lvl9pPr>
                      </a:lstStyle>
                      <a:p>
                        <a:endParaRPr lang="en-IN" sz="1400"/>
                      </a:p>
                    </a:txBody>
                    <a:tcPr marL="71147" marR="71147" marT="35573" marB="35573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68319533"/>
                    </a:ext>
                  </a:extLst>
                </a:tr>
              </a:tbl>
            </a:graphicData>
          </a:graphic>
        </p:graphicFrame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9A66551-91BB-A35C-D9A4-2FA08270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537" y="710055"/>
            <a:ext cx="1190792" cy="6360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82B69A9-3C1E-DE80-1F01-5FEF6DB594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03" r="74252"/>
          <a:stretch/>
        </p:blipFill>
        <p:spPr>
          <a:xfrm>
            <a:off x="2708367" y="627993"/>
            <a:ext cx="758951" cy="7181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87EED8D-B471-FB33-C99D-E97B41EC5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507" y="640079"/>
            <a:ext cx="862953" cy="6867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AA0282C-7F67-D331-92CB-66366CCB4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563" y="627994"/>
            <a:ext cx="1023956" cy="686728"/>
          </a:xfrm>
          <a:prstGeom prst="rect">
            <a:avLst/>
          </a:prstGeom>
        </p:spPr>
      </p:pic>
      <p:graphicFrame>
        <p:nvGraphicFramePr>
          <p:cNvPr id="83" name="Table 83">
            <a:extLst>
              <a:ext uri="{FF2B5EF4-FFF2-40B4-BE49-F238E27FC236}">
                <a16:creationId xmlns:a16="http://schemas.microsoft.com/office/drawing/2014/main" id="{05379084-44DA-857E-00C0-19D864B15580}"/>
              </a:ext>
            </a:extLst>
          </p:cNvPr>
          <p:cNvGraphicFramePr>
            <a:graphicFrameLocks noGrp="1"/>
          </p:cNvGraphicFramePr>
          <p:nvPr/>
        </p:nvGraphicFramePr>
        <p:xfrm>
          <a:off x="7817460" y="577636"/>
          <a:ext cx="3683826" cy="17714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48736">
                  <a:extLst>
                    <a:ext uri="{9D8B030D-6E8A-4147-A177-3AD203B41FA5}">
                      <a16:colId xmlns:a16="http://schemas.microsoft.com/office/drawing/2014/main" val="305229609"/>
                    </a:ext>
                  </a:extLst>
                </a:gridCol>
                <a:gridCol w="948736">
                  <a:extLst>
                    <a:ext uri="{9D8B030D-6E8A-4147-A177-3AD203B41FA5}">
                      <a16:colId xmlns:a16="http://schemas.microsoft.com/office/drawing/2014/main" val="1178836432"/>
                    </a:ext>
                  </a:extLst>
                </a:gridCol>
                <a:gridCol w="948736">
                  <a:extLst>
                    <a:ext uri="{9D8B030D-6E8A-4147-A177-3AD203B41FA5}">
                      <a16:colId xmlns:a16="http://schemas.microsoft.com/office/drawing/2014/main" val="1247978657"/>
                    </a:ext>
                  </a:extLst>
                </a:gridCol>
                <a:gridCol w="837618">
                  <a:extLst>
                    <a:ext uri="{9D8B030D-6E8A-4147-A177-3AD203B41FA5}">
                      <a16:colId xmlns:a16="http://schemas.microsoft.com/office/drawing/2014/main" val="2842272435"/>
                    </a:ext>
                  </a:extLst>
                </a:gridCol>
              </a:tblGrid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94538"/>
                  </a:ext>
                </a:extLst>
              </a:tr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9250"/>
                  </a:ext>
                </a:extLst>
              </a:tr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43770"/>
                  </a:ext>
                </a:extLst>
              </a:tr>
              <a:tr h="44285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294524"/>
                  </a:ext>
                </a:extLst>
              </a:tr>
            </a:tbl>
          </a:graphicData>
        </a:graphic>
      </p:graphicFrame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620780B-3EE5-9C91-E331-5A65CD8CE19E}"/>
              </a:ext>
            </a:extLst>
          </p:cNvPr>
          <p:cNvCxnSpPr>
            <a:cxnSpLocks/>
          </p:cNvCxnSpPr>
          <p:nvPr/>
        </p:nvCxnSpPr>
        <p:spPr>
          <a:xfrm>
            <a:off x="9714237" y="577636"/>
            <a:ext cx="0" cy="177143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3929E2F-C690-9E60-FFCF-EA78EB0BA12F}"/>
              </a:ext>
            </a:extLst>
          </p:cNvPr>
          <p:cNvCxnSpPr>
            <a:cxnSpLocks/>
            <a:stCxn id="83" idx="1"/>
            <a:endCxn id="83" idx="3"/>
          </p:cNvCxnSpPr>
          <p:nvPr/>
        </p:nvCxnSpPr>
        <p:spPr>
          <a:xfrm>
            <a:off x="7817460" y="1463354"/>
            <a:ext cx="368382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8" name="Table 83">
            <a:extLst>
              <a:ext uri="{FF2B5EF4-FFF2-40B4-BE49-F238E27FC236}">
                <a16:creationId xmlns:a16="http://schemas.microsoft.com/office/drawing/2014/main" id="{5F085202-BB9A-3F88-75C4-2EFC8A5CA8FD}"/>
              </a:ext>
            </a:extLst>
          </p:cNvPr>
          <p:cNvGraphicFramePr>
            <a:graphicFrameLocks noGrp="1"/>
          </p:cNvGraphicFramePr>
          <p:nvPr/>
        </p:nvGraphicFramePr>
        <p:xfrm>
          <a:off x="7861686" y="2566110"/>
          <a:ext cx="3639600" cy="1793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09900">
                  <a:extLst>
                    <a:ext uri="{9D8B030D-6E8A-4147-A177-3AD203B41FA5}">
                      <a16:colId xmlns:a16="http://schemas.microsoft.com/office/drawing/2014/main" val="305229609"/>
                    </a:ext>
                  </a:extLst>
                </a:gridCol>
                <a:gridCol w="909900">
                  <a:extLst>
                    <a:ext uri="{9D8B030D-6E8A-4147-A177-3AD203B41FA5}">
                      <a16:colId xmlns:a16="http://schemas.microsoft.com/office/drawing/2014/main" val="1178836432"/>
                    </a:ext>
                  </a:extLst>
                </a:gridCol>
                <a:gridCol w="909900">
                  <a:extLst>
                    <a:ext uri="{9D8B030D-6E8A-4147-A177-3AD203B41FA5}">
                      <a16:colId xmlns:a16="http://schemas.microsoft.com/office/drawing/2014/main" val="1247978657"/>
                    </a:ext>
                  </a:extLst>
                </a:gridCol>
                <a:gridCol w="909900">
                  <a:extLst>
                    <a:ext uri="{9D8B030D-6E8A-4147-A177-3AD203B41FA5}">
                      <a16:colId xmlns:a16="http://schemas.microsoft.com/office/drawing/2014/main" val="2842272435"/>
                    </a:ext>
                  </a:extLst>
                </a:gridCol>
              </a:tblGrid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94538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9250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43770"/>
                  </a:ext>
                </a:extLst>
              </a:tr>
              <a:tr h="44843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294524"/>
                  </a:ext>
                </a:extLst>
              </a:tr>
            </a:tbl>
          </a:graphicData>
        </a:graphic>
      </p:graphicFrame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874A81E-162C-220D-5FFB-FE89474B2D0E}"/>
              </a:ext>
            </a:extLst>
          </p:cNvPr>
          <p:cNvCxnSpPr>
            <a:cxnSpLocks/>
            <a:stCxn id="88" idx="1"/>
            <a:endCxn id="88" idx="3"/>
          </p:cNvCxnSpPr>
          <p:nvPr/>
        </p:nvCxnSpPr>
        <p:spPr>
          <a:xfrm>
            <a:off x="7861686" y="3462970"/>
            <a:ext cx="36396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E839D94-5C81-4184-C77D-D2EF33F5BE89}"/>
              </a:ext>
            </a:extLst>
          </p:cNvPr>
          <p:cNvCxnSpPr>
            <a:cxnSpLocks/>
            <a:stCxn id="88" idx="0"/>
            <a:endCxn id="88" idx="2"/>
          </p:cNvCxnSpPr>
          <p:nvPr/>
        </p:nvCxnSpPr>
        <p:spPr>
          <a:xfrm>
            <a:off x="9681486" y="2566110"/>
            <a:ext cx="0" cy="179372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2" name="Table 83">
            <a:extLst>
              <a:ext uri="{FF2B5EF4-FFF2-40B4-BE49-F238E27FC236}">
                <a16:creationId xmlns:a16="http://schemas.microsoft.com/office/drawing/2014/main" id="{B66A3110-79EA-A1A8-FCD0-7B8A2A765B16}"/>
              </a:ext>
            </a:extLst>
          </p:cNvPr>
          <p:cNvGraphicFramePr>
            <a:graphicFrameLocks noGrp="1"/>
          </p:cNvGraphicFramePr>
          <p:nvPr/>
        </p:nvGraphicFramePr>
        <p:xfrm>
          <a:off x="7877071" y="4554585"/>
          <a:ext cx="3642504" cy="1742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10626">
                  <a:extLst>
                    <a:ext uri="{9D8B030D-6E8A-4147-A177-3AD203B41FA5}">
                      <a16:colId xmlns:a16="http://schemas.microsoft.com/office/drawing/2014/main" val="305229609"/>
                    </a:ext>
                  </a:extLst>
                </a:gridCol>
                <a:gridCol w="910626">
                  <a:extLst>
                    <a:ext uri="{9D8B030D-6E8A-4147-A177-3AD203B41FA5}">
                      <a16:colId xmlns:a16="http://schemas.microsoft.com/office/drawing/2014/main" val="1178836432"/>
                    </a:ext>
                  </a:extLst>
                </a:gridCol>
                <a:gridCol w="910626">
                  <a:extLst>
                    <a:ext uri="{9D8B030D-6E8A-4147-A177-3AD203B41FA5}">
                      <a16:colId xmlns:a16="http://schemas.microsoft.com/office/drawing/2014/main" val="1247978657"/>
                    </a:ext>
                  </a:extLst>
                </a:gridCol>
                <a:gridCol w="910626">
                  <a:extLst>
                    <a:ext uri="{9D8B030D-6E8A-4147-A177-3AD203B41FA5}">
                      <a16:colId xmlns:a16="http://schemas.microsoft.com/office/drawing/2014/main" val="2842272435"/>
                    </a:ext>
                  </a:extLst>
                </a:gridCol>
              </a:tblGrid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94538"/>
                  </a:ext>
                </a:extLst>
              </a:tr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9250"/>
                  </a:ext>
                </a:extLst>
              </a:tr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43770"/>
                  </a:ext>
                </a:extLst>
              </a:tr>
              <a:tr h="43569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294524"/>
                  </a:ext>
                </a:extLst>
              </a:tr>
            </a:tbl>
          </a:graphicData>
        </a:graphic>
      </p:graphicFrame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80FA994-6649-F332-2C66-5C58C6D98637}"/>
              </a:ext>
            </a:extLst>
          </p:cNvPr>
          <p:cNvCxnSpPr>
            <a:cxnSpLocks/>
            <a:stCxn id="102" idx="1"/>
            <a:endCxn id="102" idx="3"/>
          </p:cNvCxnSpPr>
          <p:nvPr/>
        </p:nvCxnSpPr>
        <p:spPr>
          <a:xfrm>
            <a:off x="7877071" y="5425983"/>
            <a:ext cx="364250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D806F3E-4544-884F-57B3-0DCEACA8EF13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9696183" y="4565402"/>
            <a:ext cx="2140" cy="173197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B11DFA5-5833-B5C4-F8F0-63A81167C2B9}"/>
              </a:ext>
            </a:extLst>
          </p:cNvPr>
          <p:cNvSpPr/>
          <p:nvPr/>
        </p:nvSpPr>
        <p:spPr>
          <a:xfrm>
            <a:off x="6931152" y="756009"/>
            <a:ext cx="553765" cy="161469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Bed Linen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69F9139-4611-26B9-BE20-5BD5CD36BD7E}"/>
              </a:ext>
            </a:extLst>
          </p:cNvPr>
          <p:cNvSpPr txBox="1"/>
          <p:nvPr/>
        </p:nvSpPr>
        <p:spPr>
          <a:xfrm>
            <a:off x="8400216" y="552750"/>
            <a:ext cx="780360" cy="1854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C3FAC33-AFA8-0AC3-0186-70A48A1058BB}"/>
              </a:ext>
            </a:extLst>
          </p:cNvPr>
          <p:cNvSpPr txBox="1"/>
          <p:nvPr/>
        </p:nvSpPr>
        <p:spPr>
          <a:xfrm>
            <a:off x="10320151" y="555204"/>
            <a:ext cx="684953" cy="2040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99147B7-2CA8-E585-543C-5E6D8A108DBD}"/>
              </a:ext>
            </a:extLst>
          </p:cNvPr>
          <p:cNvSpPr/>
          <p:nvPr/>
        </p:nvSpPr>
        <p:spPr>
          <a:xfrm>
            <a:off x="6931152" y="2772333"/>
            <a:ext cx="553764" cy="161469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Bath Linen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BAEDDA7D-CCF4-7FF4-EDAC-348B0F2A5A1B}"/>
              </a:ext>
            </a:extLst>
          </p:cNvPr>
          <p:cNvSpPr/>
          <p:nvPr/>
        </p:nvSpPr>
        <p:spPr>
          <a:xfrm>
            <a:off x="6931152" y="4735439"/>
            <a:ext cx="549484" cy="161469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Others*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2E8F32C-CCD5-5FB8-606D-2CAF388887F5}"/>
              </a:ext>
            </a:extLst>
          </p:cNvPr>
          <p:cNvCxnSpPr/>
          <p:nvPr/>
        </p:nvCxnSpPr>
        <p:spPr>
          <a:xfrm>
            <a:off x="6859039" y="2566111"/>
            <a:ext cx="4955009" cy="1081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BAA51F6-5A19-CBA9-F38A-B302D884F485}"/>
              </a:ext>
            </a:extLst>
          </p:cNvPr>
          <p:cNvCxnSpPr/>
          <p:nvPr/>
        </p:nvCxnSpPr>
        <p:spPr>
          <a:xfrm>
            <a:off x="6843127" y="4549177"/>
            <a:ext cx="4955009" cy="1081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0" name="Picture 129">
            <a:extLst>
              <a:ext uri="{FF2B5EF4-FFF2-40B4-BE49-F238E27FC236}">
                <a16:creationId xmlns:a16="http://schemas.microsoft.com/office/drawing/2014/main" id="{0289446B-21C0-FF94-DD3D-047187203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0306" y="756009"/>
            <a:ext cx="1042143" cy="507344"/>
          </a:xfrm>
          <a:prstGeom prst="rect">
            <a:avLst/>
          </a:prstGeom>
        </p:spPr>
      </p:pic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0987527-2F8C-D113-C82C-176636FFC779}"/>
              </a:ext>
            </a:extLst>
          </p:cNvPr>
          <p:cNvCxnSpPr>
            <a:cxnSpLocks/>
          </p:cNvCxnSpPr>
          <p:nvPr/>
        </p:nvCxnSpPr>
        <p:spPr>
          <a:xfrm>
            <a:off x="7550935" y="605912"/>
            <a:ext cx="0" cy="5657304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0EA94805-26DB-3FB7-8ED1-264C2ACE0EC2}"/>
              </a:ext>
            </a:extLst>
          </p:cNvPr>
          <p:cNvSpPr txBox="1"/>
          <p:nvPr/>
        </p:nvSpPr>
        <p:spPr>
          <a:xfrm rot="5400000">
            <a:off x="11290444" y="918383"/>
            <a:ext cx="647736" cy="2077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E07E454-4194-DFB8-2618-B74FFC6B43CC}"/>
              </a:ext>
            </a:extLst>
          </p:cNvPr>
          <p:cNvSpPr txBox="1"/>
          <p:nvPr/>
        </p:nvSpPr>
        <p:spPr>
          <a:xfrm rot="5400000">
            <a:off x="11290196" y="1781154"/>
            <a:ext cx="643360" cy="2077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491B485E-3088-5C98-ACE8-81C7906EC31E}"/>
              </a:ext>
            </a:extLst>
          </p:cNvPr>
          <p:cNvSpPr/>
          <p:nvPr/>
        </p:nvSpPr>
        <p:spPr>
          <a:xfrm>
            <a:off x="7616952" y="757106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209DBA0F-1BD6-38EB-32BF-EC2D2855EC05}"/>
              </a:ext>
            </a:extLst>
          </p:cNvPr>
          <p:cNvSpPr/>
          <p:nvPr/>
        </p:nvSpPr>
        <p:spPr>
          <a:xfrm rot="5400000">
            <a:off x="9577076" y="1648618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Quality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9702D2FF-2621-F8F9-8E5D-BFAC32DB581D}"/>
              </a:ext>
            </a:extLst>
          </p:cNvPr>
          <p:cNvSpPr/>
          <p:nvPr/>
        </p:nvSpPr>
        <p:spPr>
          <a:xfrm>
            <a:off x="7628893" y="2766461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1BD284AD-BBCF-3A8B-F04F-6AF8E30A3785}"/>
              </a:ext>
            </a:extLst>
          </p:cNvPr>
          <p:cNvSpPr/>
          <p:nvPr/>
        </p:nvSpPr>
        <p:spPr>
          <a:xfrm rot="5400000">
            <a:off x="9589017" y="3657973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Softness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1704C63D-45E3-BD5E-F314-D03414737DCC}"/>
              </a:ext>
            </a:extLst>
          </p:cNvPr>
          <p:cNvSpPr/>
          <p:nvPr/>
        </p:nvSpPr>
        <p:spPr>
          <a:xfrm>
            <a:off x="7653762" y="4727064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78E43526-4C80-5FB8-E304-383A4CFDE50E}"/>
              </a:ext>
            </a:extLst>
          </p:cNvPr>
          <p:cNvSpPr/>
          <p:nvPr/>
        </p:nvSpPr>
        <p:spPr>
          <a:xfrm rot="5400000">
            <a:off x="9613886" y="5618576"/>
            <a:ext cx="164592" cy="159306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Design</a:t>
            </a:r>
          </a:p>
        </p:txBody>
      </p:sp>
      <p:pic>
        <p:nvPicPr>
          <p:cNvPr id="181" name="Picture 180">
            <a:extLst>
              <a:ext uri="{FF2B5EF4-FFF2-40B4-BE49-F238E27FC236}">
                <a16:creationId xmlns:a16="http://schemas.microsoft.com/office/drawing/2014/main" id="{6BB89C16-C3E6-2829-4008-93B823E6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239" y="1539730"/>
            <a:ext cx="569078" cy="303983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EECBA271-ACC5-059F-597E-7407715785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03" r="74252"/>
          <a:stretch/>
        </p:blipFill>
        <p:spPr>
          <a:xfrm>
            <a:off x="8423014" y="798214"/>
            <a:ext cx="338198" cy="320013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CC15D9F2-7FE0-F136-2BDB-433A197F3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09" y="1705700"/>
            <a:ext cx="381984" cy="303978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438345A5-673C-E5A8-F072-B0F30AD970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8960" y="880871"/>
            <a:ext cx="544900" cy="36544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18FC32D4-17A8-7EA6-640E-557B3F0B7B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9346" y="1157329"/>
            <a:ext cx="544182" cy="245691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54C6372E-C8EE-331A-ACDD-F8D4B5B1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782" y="3520990"/>
            <a:ext cx="569078" cy="303983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084E15E4-399C-EF32-9841-08B2E18EED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03" r="74252"/>
          <a:stretch/>
        </p:blipFill>
        <p:spPr>
          <a:xfrm>
            <a:off x="8007712" y="2806969"/>
            <a:ext cx="338198" cy="320013"/>
          </a:xfrm>
          <a:prstGeom prst="rect">
            <a:avLst/>
          </a:prstGeom>
        </p:spPr>
      </p:pic>
      <p:pic>
        <p:nvPicPr>
          <p:cNvPr id="200" name="Picture 199">
            <a:extLst>
              <a:ext uri="{FF2B5EF4-FFF2-40B4-BE49-F238E27FC236}">
                <a16:creationId xmlns:a16="http://schemas.microsoft.com/office/drawing/2014/main" id="{6F6E3297-9DF5-9956-B957-E5A1610E1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939" y="3935073"/>
            <a:ext cx="381984" cy="303978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7AC2DD52-FAB5-28DD-4594-DE77E57F7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7171" y="2655560"/>
            <a:ext cx="544900" cy="365444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2FF48873-8E44-37DD-67AB-87BB1FEB2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9155" y="3226192"/>
            <a:ext cx="544182" cy="24569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CD7E936D-33DF-510C-C34F-9BD47B669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490" y="5471015"/>
            <a:ext cx="569078" cy="303983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D8BEBF84-2DC6-8540-DCCA-8AE3AAF792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263" y="4759384"/>
            <a:ext cx="544900" cy="365444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907523AD-E5BD-15E8-C154-10741BED25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304" y="5130439"/>
            <a:ext cx="544182" cy="208840"/>
          </a:xfrm>
          <a:prstGeom prst="rect">
            <a:avLst/>
          </a:prstGeom>
        </p:spPr>
      </p:pic>
      <p:graphicFrame>
        <p:nvGraphicFramePr>
          <p:cNvPr id="230" name="Table 27">
            <a:extLst>
              <a:ext uri="{FF2B5EF4-FFF2-40B4-BE49-F238E27FC236}">
                <a16:creationId xmlns:a16="http://schemas.microsoft.com/office/drawing/2014/main" id="{F86D6C34-EA26-FF31-1B5D-6A2440BA3EC0}"/>
              </a:ext>
            </a:extLst>
          </p:cNvPr>
          <p:cNvGraphicFramePr>
            <a:graphicFrameLocks/>
          </p:cNvGraphicFramePr>
          <p:nvPr/>
        </p:nvGraphicFramePr>
        <p:xfrm>
          <a:off x="2576292" y="3227575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32" name="Table 27">
            <a:extLst>
              <a:ext uri="{FF2B5EF4-FFF2-40B4-BE49-F238E27FC236}">
                <a16:creationId xmlns:a16="http://schemas.microsoft.com/office/drawing/2014/main" id="{BDD3950A-3E86-9D33-352E-C1E02C883A27}"/>
              </a:ext>
            </a:extLst>
          </p:cNvPr>
          <p:cNvGraphicFramePr>
            <a:graphicFrameLocks/>
          </p:cNvGraphicFramePr>
          <p:nvPr/>
        </p:nvGraphicFramePr>
        <p:xfrm>
          <a:off x="3628324" y="3231914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34" name="Table 27">
            <a:extLst>
              <a:ext uri="{FF2B5EF4-FFF2-40B4-BE49-F238E27FC236}">
                <a16:creationId xmlns:a16="http://schemas.microsoft.com/office/drawing/2014/main" id="{AD97839D-B365-87E4-C976-F7EADACA4F8C}"/>
              </a:ext>
            </a:extLst>
          </p:cNvPr>
          <p:cNvGraphicFramePr>
            <a:graphicFrameLocks/>
          </p:cNvGraphicFramePr>
          <p:nvPr/>
        </p:nvGraphicFramePr>
        <p:xfrm>
          <a:off x="4680741" y="3227575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36" name="Table 27">
            <a:extLst>
              <a:ext uri="{FF2B5EF4-FFF2-40B4-BE49-F238E27FC236}">
                <a16:creationId xmlns:a16="http://schemas.microsoft.com/office/drawing/2014/main" id="{AADE2B50-1838-6346-D609-18B83D6AA8A3}"/>
              </a:ext>
            </a:extLst>
          </p:cNvPr>
          <p:cNvGraphicFramePr>
            <a:graphicFrameLocks/>
          </p:cNvGraphicFramePr>
          <p:nvPr/>
        </p:nvGraphicFramePr>
        <p:xfrm>
          <a:off x="5728670" y="3224527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38" name="Table 27">
            <a:extLst>
              <a:ext uri="{FF2B5EF4-FFF2-40B4-BE49-F238E27FC236}">
                <a16:creationId xmlns:a16="http://schemas.microsoft.com/office/drawing/2014/main" id="{B09B024A-F268-9A7C-CC2D-BBA774B2FA93}"/>
              </a:ext>
            </a:extLst>
          </p:cNvPr>
          <p:cNvGraphicFramePr>
            <a:graphicFrameLocks/>
          </p:cNvGraphicFramePr>
          <p:nvPr/>
        </p:nvGraphicFramePr>
        <p:xfrm>
          <a:off x="1518162" y="3923569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40" name="Table 27">
            <a:extLst>
              <a:ext uri="{FF2B5EF4-FFF2-40B4-BE49-F238E27FC236}">
                <a16:creationId xmlns:a16="http://schemas.microsoft.com/office/drawing/2014/main" id="{DFA0461A-344F-C071-B57F-75AF87591F58}"/>
              </a:ext>
            </a:extLst>
          </p:cNvPr>
          <p:cNvGraphicFramePr>
            <a:graphicFrameLocks/>
          </p:cNvGraphicFramePr>
          <p:nvPr/>
        </p:nvGraphicFramePr>
        <p:xfrm>
          <a:off x="2583437" y="3921405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42" name="Table 27">
            <a:extLst>
              <a:ext uri="{FF2B5EF4-FFF2-40B4-BE49-F238E27FC236}">
                <a16:creationId xmlns:a16="http://schemas.microsoft.com/office/drawing/2014/main" id="{14117D0F-9A15-AD77-4C1D-9DED44ED583A}"/>
              </a:ext>
            </a:extLst>
          </p:cNvPr>
          <p:cNvGraphicFramePr>
            <a:graphicFrameLocks/>
          </p:cNvGraphicFramePr>
          <p:nvPr/>
        </p:nvGraphicFramePr>
        <p:xfrm>
          <a:off x="3640412" y="3918967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44" name="Table 27">
            <a:extLst>
              <a:ext uri="{FF2B5EF4-FFF2-40B4-BE49-F238E27FC236}">
                <a16:creationId xmlns:a16="http://schemas.microsoft.com/office/drawing/2014/main" id="{DB95AEBA-8B04-01ED-48E8-CE439E1F4F86}"/>
              </a:ext>
            </a:extLst>
          </p:cNvPr>
          <p:cNvGraphicFramePr>
            <a:graphicFrameLocks/>
          </p:cNvGraphicFramePr>
          <p:nvPr/>
        </p:nvGraphicFramePr>
        <p:xfrm>
          <a:off x="4688774" y="3918978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graphicFrame>
        <p:nvGraphicFramePr>
          <p:cNvPr id="246" name="Table 27">
            <a:extLst>
              <a:ext uri="{FF2B5EF4-FFF2-40B4-BE49-F238E27FC236}">
                <a16:creationId xmlns:a16="http://schemas.microsoft.com/office/drawing/2014/main" id="{7619F7EA-7042-C9D9-FA5F-E06A7C0D2F24}"/>
              </a:ext>
            </a:extLst>
          </p:cNvPr>
          <p:cNvGraphicFramePr>
            <a:graphicFrameLocks/>
          </p:cNvGraphicFramePr>
          <p:nvPr/>
        </p:nvGraphicFramePr>
        <p:xfrm>
          <a:off x="5750528" y="3924329"/>
          <a:ext cx="1021608" cy="301835"/>
        </p:xfrm>
        <a:graphic>
          <a:graphicData uri="http://schemas.openxmlformats.org/drawingml/2006/table">
            <a:tbl>
              <a:tblPr firstRow="1" bandRow="1"/>
              <a:tblGrid>
                <a:gridCol w="170268">
                  <a:extLst>
                    <a:ext uri="{9D8B030D-6E8A-4147-A177-3AD203B41FA5}">
                      <a16:colId xmlns:a16="http://schemas.microsoft.com/office/drawing/2014/main" val="414480020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2667686244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1186997789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22609687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4231428382"/>
                    </a:ext>
                  </a:extLst>
                </a:gridCol>
                <a:gridCol w="170268">
                  <a:extLst>
                    <a:ext uri="{9D8B030D-6E8A-4147-A177-3AD203B41FA5}">
                      <a16:colId xmlns:a16="http://schemas.microsoft.com/office/drawing/2014/main" val="3989598063"/>
                    </a:ext>
                  </a:extLst>
                </a:gridCol>
              </a:tblGrid>
              <a:tr h="301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raphik"/>
                        </a:defRPr>
                      </a:lvl9pPr>
                    </a:lstStyle>
                    <a:p>
                      <a:endParaRPr lang="en-IN" sz="1400"/>
                    </a:p>
                  </a:txBody>
                  <a:tcPr marL="71147" marR="71147" marT="35573" marB="35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19533"/>
                  </a:ext>
                </a:extLst>
              </a:tr>
            </a:tbl>
          </a:graphicData>
        </a:graphic>
      </p:graphicFrame>
      <p:sp>
        <p:nvSpPr>
          <p:cNvPr id="248" name="Rectangle 247">
            <a:extLst>
              <a:ext uri="{FF2B5EF4-FFF2-40B4-BE49-F238E27FC236}">
                <a16:creationId xmlns:a16="http://schemas.microsoft.com/office/drawing/2014/main" id="{AF4A625F-962C-6F37-0AFA-AA38BE133E7E}"/>
              </a:ext>
            </a:extLst>
          </p:cNvPr>
          <p:cNvSpPr/>
          <p:nvPr/>
        </p:nvSpPr>
        <p:spPr>
          <a:xfrm>
            <a:off x="2036282" y="3072082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84D64D2-3451-9A13-A9FE-A99C5CEC0E5A}"/>
              </a:ext>
            </a:extLst>
          </p:cNvPr>
          <p:cNvSpPr/>
          <p:nvPr/>
        </p:nvSpPr>
        <p:spPr>
          <a:xfrm>
            <a:off x="2673284" y="3069316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8C2C20A-2A20-5433-AF66-9AFE76EDE57E}"/>
              </a:ext>
            </a:extLst>
          </p:cNvPr>
          <p:cNvSpPr/>
          <p:nvPr/>
        </p:nvSpPr>
        <p:spPr>
          <a:xfrm>
            <a:off x="4026816" y="3076329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7DBCE521-3965-E617-1B3B-CAC35C26E45A}"/>
              </a:ext>
            </a:extLst>
          </p:cNvPr>
          <p:cNvSpPr/>
          <p:nvPr/>
        </p:nvSpPr>
        <p:spPr>
          <a:xfrm>
            <a:off x="4717745" y="3076329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44AE7A1E-D581-7EDB-4C54-D7BFA95AC411}"/>
              </a:ext>
            </a:extLst>
          </p:cNvPr>
          <p:cNvSpPr/>
          <p:nvPr/>
        </p:nvSpPr>
        <p:spPr>
          <a:xfrm>
            <a:off x="6004789" y="3084505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FB526613-C90D-BAC1-C9A4-CBD13EEF0C1E}"/>
              </a:ext>
            </a:extLst>
          </p:cNvPr>
          <p:cNvGrpSpPr/>
          <p:nvPr/>
        </p:nvGrpSpPr>
        <p:grpSpPr>
          <a:xfrm>
            <a:off x="2090176" y="5065790"/>
            <a:ext cx="3094472" cy="598321"/>
            <a:chOff x="7681522" y="2322835"/>
            <a:chExt cx="3795649" cy="533333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A14CE1D9-0E13-BFA0-9A05-74311A5A441A}"/>
                </a:ext>
              </a:extLst>
            </p:cNvPr>
            <p:cNvGrpSpPr/>
            <p:nvPr/>
          </p:nvGrpSpPr>
          <p:grpSpPr>
            <a:xfrm>
              <a:off x="7681522" y="2322835"/>
              <a:ext cx="3795649" cy="533333"/>
              <a:chOff x="7681518" y="2315181"/>
              <a:chExt cx="3700670" cy="516420"/>
            </a:xfrm>
          </p:grpSpPr>
          <p:sp>
            <p:nvSpPr>
              <p:cNvPr id="261" name="Arrow: Pentagon 260">
                <a:extLst>
                  <a:ext uri="{FF2B5EF4-FFF2-40B4-BE49-F238E27FC236}">
                    <a16:creationId xmlns:a16="http://schemas.microsoft.com/office/drawing/2014/main" id="{E5A8E16C-0426-628B-8EE1-721B4374618B}"/>
                  </a:ext>
                </a:extLst>
              </p:cNvPr>
              <p:cNvSpPr/>
              <p:nvPr/>
            </p:nvSpPr>
            <p:spPr>
              <a:xfrm rot="10800000">
                <a:off x="7681518" y="2599559"/>
                <a:ext cx="915671" cy="230070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2" name="Arrow: Pentagon 261">
                <a:extLst>
                  <a:ext uri="{FF2B5EF4-FFF2-40B4-BE49-F238E27FC236}">
                    <a16:creationId xmlns:a16="http://schemas.microsoft.com/office/drawing/2014/main" id="{F6DEDBCA-5105-429D-5565-71ABF38392BF}"/>
                  </a:ext>
                </a:extLst>
              </p:cNvPr>
              <p:cNvSpPr/>
              <p:nvPr/>
            </p:nvSpPr>
            <p:spPr>
              <a:xfrm rot="10800000">
                <a:off x="7681519" y="2359803"/>
                <a:ext cx="915671" cy="190140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3" name="Arrow: Pentagon 262">
                <a:extLst>
                  <a:ext uri="{FF2B5EF4-FFF2-40B4-BE49-F238E27FC236}">
                    <a16:creationId xmlns:a16="http://schemas.microsoft.com/office/drawing/2014/main" id="{6E87FBC2-0DB6-9B75-7D5F-B412D5F84239}"/>
                  </a:ext>
                </a:extLst>
              </p:cNvPr>
              <p:cNvSpPr/>
              <p:nvPr/>
            </p:nvSpPr>
            <p:spPr>
              <a:xfrm>
                <a:off x="10453979" y="2601530"/>
                <a:ext cx="915671" cy="230071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4" name="Arrow: Pentagon 263">
                <a:extLst>
                  <a:ext uri="{FF2B5EF4-FFF2-40B4-BE49-F238E27FC236}">
                    <a16:creationId xmlns:a16="http://schemas.microsoft.com/office/drawing/2014/main" id="{E2D278CB-757A-C2B7-4319-15BFBA0D5191}"/>
                  </a:ext>
                </a:extLst>
              </p:cNvPr>
              <p:cNvSpPr/>
              <p:nvPr/>
            </p:nvSpPr>
            <p:spPr>
              <a:xfrm>
                <a:off x="10466517" y="2342769"/>
                <a:ext cx="915671" cy="190141"/>
              </a:xfrm>
              <a:prstGeom prst="homePlat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266" name="TextBox 9">
                <a:extLst>
                  <a:ext uri="{FF2B5EF4-FFF2-40B4-BE49-F238E27FC236}">
                    <a16:creationId xmlns:a16="http://schemas.microsoft.com/office/drawing/2014/main" id="{0E94AE9F-31DA-8092-B87E-8601A278424A}"/>
                  </a:ext>
                </a:extLst>
              </p:cNvPr>
              <p:cNvSpPr txBox="1"/>
              <p:nvPr/>
            </p:nvSpPr>
            <p:spPr>
              <a:xfrm>
                <a:off x="10505108" y="2315181"/>
                <a:ext cx="617666" cy="212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Place</a:t>
                </a:r>
              </a:p>
            </p:txBody>
          </p:sp>
          <p:sp>
            <p:nvSpPr>
              <p:cNvPr id="265" name="TextBox 8">
                <a:extLst>
                  <a:ext uri="{FF2B5EF4-FFF2-40B4-BE49-F238E27FC236}">
                    <a16:creationId xmlns:a16="http://schemas.microsoft.com/office/drawing/2014/main" id="{E447A8BB-DE2B-9904-D98C-CBC4F6B6631E}"/>
                  </a:ext>
                </a:extLst>
              </p:cNvPr>
              <p:cNvSpPr txBox="1"/>
              <p:nvPr/>
            </p:nvSpPr>
            <p:spPr>
              <a:xfrm>
                <a:off x="7688582" y="2590739"/>
                <a:ext cx="987652" cy="212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Promotion</a:t>
                </a:r>
              </a:p>
            </p:txBody>
          </p:sp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4BAE329B-94C5-A2AB-E554-A62BBBC6E9FE}"/>
                  </a:ext>
                </a:extLst>
              </p:cNvPr>
              <p:cNvSpPr txBox="1"/>
              <p:nvPr/>
            </p:nvSpPr>
            <p:spPr>
              <a:xfrm>
                <a:off x="7901166" y="2332529"/>
                <a:ext cx="592745" cy="212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Price</a:t>
                </a:r>
              </a:p>
            </p:txBody>
          </p:sp>
        </p:grpSp>
        <p:sp>
          <p:nvSpPr>
            <p:cNvPr id="260" name="TextBox 3">
              <a:extLst>
                <a:ext uri="{FF2B5EF4-FFF2-40B4-BE49-F238E27FC236}">
                  <a16:creationId xmlns:a16="http://schemas.microsoft.com/office/drawing/2014/main" id="{2FB9FD41-5F67-4D15-10A8-66DA1EF804BD}"/>
                </a:ext>
              </a:extLst>
            </p:cNvPr>
            <p:cNvSpPr txBox="1"/>
            <p:nvPr/>
          </p:nvSpPr>
          <p:spPr>
            <a:xfrm>
              <a:off x="10496042" y="2608912"/>
              <a:ext cx="939172" cy="2194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Products</a:t>
              </a:r>
            </a:p>
          </p:txBody>
        </p:sp>
      </p:grpSp>
      <p:sp>
        <p:nvSpPr>
          <p:cNvPr id="272" name="Oval 271">
            <a:extLst>
              <a:ext uri="{FF2B5EF4-FFF2-40B4-BE49-F238E27FC236}">
                <a16:creationId xmlns:a16="http://schemas.microsoft.com/office/drawing/2014/main" id="{07B6A27B-0A2E-29CE-E0A0-101DE46078E5}"/>
              </a:ext>
            </a:extLst>
          </p:cNvPr>
          <p:cNvSpPr/>
          <p:nvPr/>
        </p:nvSpPr>
        <p:spPr>
          <a:xfrm>
            <a:off x="9436771" y="814100"/>
            <a:ext cx="883376" cy="127990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4772668F-9820-7EF5-DCE2-68A33D36A5E9}"/>
              </a:ext>
            </a:extLst>
          </p:cNvPr>
          <p:cNvSpPr/>
          <p:nvPr/>
        </p:nvSpPr>
        <p:spPr>
          <a:xfrm>
            <a:off x="8400216" y="3059894"/>
            <a:ext cx="1536844" cy="831427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0141AAEC-2298-FDA6-C367-E0B696E31EA9}"/>
              </a:ext>
            </a:extLst>
          </p:cNvPr>
          <p:cNvSpPr/>
          <p:nvPr/>
        </p:nvSpPr>
        <p:spPr>
          <a:xfrm>
            <a:off x="386992" y="5394759"/>
            <a:ext cx="2466963" cy="835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4CF8D6DD-3A64-8EEC-3B79-26CF1840720A}"/>
              </a:ext>
            </a:extLst>
          </p:cNvPr>
          <p:cNvSpPr/>
          <p:nvPr/>
        </p:nvSpPr>
        <p:spPr>
          <a:xfrm>
            <a:off x="8857171" y="4554585"/>
            <a:ext cx="1176357" cy="1033421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806ABA-CA55-5766-A65B-6A5CA1BA6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291" y="4704852"/>
            <a:ext cx="2391437" cy="165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5" name="Rectangle 294">
            <a:extLst>
              <a:ext uri="{FF2B5EF4-FFF2-40B4-BE49-F238E27FC236}">
                <a16:creationId xmlns:a16="http://schemas.microsoft.com/office/drawing/2014/main" id="{297CCFF4-5CF9-85DB-6584-B4A773D4261B}"/>
              </a:ext>
            </a:extLst>
          </p:cNvPr>
          <p:cNvSpPr/>
          <p:nvPr/>
        </p:nvSpPr>
        <p:spPr>
          <a:xfrm>
            <a:off x="388890" y="4533391"/>
            <a:ext cx="2466963" cy="79938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AD1FECE1-A955-9239-6977-72A113714450}"/>
              </a:ext>
            </a:extLst>
          </p:cNvPr>
          <p:cNvSpPr/>
          <p:nvPr/>
        </p:nvSpPr>
        <p:spPr>
          <a:xfrm>
            <a:off x="4415593" y="5382673"/>
            <a:ext cx="2364543" cy="835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ABBF9369-E61E-30AB-8E24-B736663D11D5}"/>
              </a:ext>
            </a:extLst>
          </p:cNvPr>
          <p:cNvSpPr/>
          <p:nvPr/>
        </p:nvSpPr>
        <p:spPr>
          <a:xfrm>
            <a:off x="4417491" y="4540814"/>
            <a:ext cx="2364543" cy="77987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D0F4EE21-0721-E58E-264D-7200AB30CAEE}"/>
              </a:ext>
            </a:extLst>
          </p:cNvPr>
          <p:cNvCxnSpPr/>
          <p:nvPr/>
        </p:nvCxnSpPr>
        <p:spPr>
          <a:xfrm>
            <a:off x="6843127" y="605912"/>
            <a:ext cx="15912" cy="56914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7D303B8A-F5DC-A213-6696-33A39AD82E53}"/>
              </a:ext>
            </a:extLst>
          </p:cNvPr>
          <p:cNvCxnSpPr>
            <a:cxnSpLocks/>
          </p:cNvCxnSpPr>
          <p:nvPr/>
        </p:nvCxnSpPr>
        <p:spPr>
          <a:xfrm>
            <a:off x="386992" y="4533391"/>
            <a:ext cx="645073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AC14B8F-C474-1106-A01C-1DE64F62004D}"/>
              </a:ext>
            </a:extLst>
          </p:cNvPr>
          <p:cNvSpPr txBox="1"/>
          <p:nvPr/>
        </p:nvSpPr>
        <p:spPr>
          <a:xfrm>
            <a:off x="4457569" y="5661827"/>
            <a:ext cx="2362511" cy="6828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noProof="0" dirty="0">
                <a:solidFill>
                  <a:schemeClr val="bg1"/>
                </a:solidFill>
              </a:rPr>
              <a:t>Super soft</a:t>
            </a:r>
            <a:r>
              <a:rPr lang="en-IN" sz="1200" dirty="0">
                <a:solidFill>
                  <a:schemeClr val="bg1"/>
                </a:solidFill>
              </a:rPr>
              <a:t>, quick dryer, anti microbial towels. High quality designs matching any decor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02C1C-7D86-A3D7-7FDC-CCD9F6038063}"/>
              </a:ext>
            </a:extLst>
          </p:cNvPr>
          <p:cNvSpPr txBox="1"/>
          <p:nvPr/>
        </p:nvSpPr>
        <p:spPr>
          <a:xfrm>
            <a:off x="415324" y="5450966"/>
            <a:ext cx="2339747" cy="7669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Widening the              marketing funnel to increase brand awareness, desire to transact &amp; purchase intent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E3288-2A66-0C89-8BC6-4E32F529F0C3}"/>
              </a:ext>
            </a:extLst>
          </p:cNvPr>
          <p:cNvSpPr txBox="1"/>
          <p:nvPr/>
        </p:nvSpPr>
        <p:spPr>
          <a:xfrm>
            <a:off x="4442073" y="4555921"/>
            <a:ext cx="2364543" cy="7669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1"/>
                </a:solidFill>
              </a:rPr>
              <a:t>Promotional campaigns focused on increasing  revenue from Amazon, Flipkart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8693E3-A739-405D-DB9A-B2DE7F59BB1B}"/>
              </a:ext>
            </a:extLst>
          </p:cNvPr>
          <p:cNvSpPr/>
          <p:nvPr/>
        </p:nvSpPr>
        <p:spPr>
          <a:xfrm>
            <a:off x="3043254" y="4575208"/>
            <a:ext cx="1237686" cy="28174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r>
              <a:rPr lang="en-IN" sz="1100" b="1" dirty="0"/>
              <a:t>Differentiated play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60305-B052-66FD-D15A-A0244F1C420D}"/>
              </a:ext>
            </a:extLst>
          </p:cNvPr>
          <p:cNvSpPr/>
          <p:nvPr/>
        </p:nvSpPr>
        <p:spPr>
          <a:xfrm>
            <a:off x="1618617" y="3790377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D25697-9D4B-25B1-7836-BD4FA9D0A590}"/>
              </a:ext>
            </a:extLst>
          </p:cNvPr>
          <p:cNvSpPr/>
          <p:nvPr/>
        </p:nvSpPr>
        <p:spPr>
          <a:xfrm>
            <a:off x="2781485" y="3776160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3C7B76-0579-B65F-0EE5-246BB07C2D80}"/>
              </a:ext>
            </a:extLst>
          </p:cNvPr>
          <p:cNvSpPr/>
          <p:nvPr/>
        </p:nvSpPr>
        <p:spPr>
          <a:xfrm>
            <a:off x="3858547" y="3776012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7BA45-145F-F15F-79D4-53A21900C094}"/>
              </a:ext>
            </a:extLst>
          </p:cNvPr>
          <p:cNvSpPr/>
          <p:nvPr/>
        </p:nvSpPr>
        <p:spPr>
          <a:xfrm>
            <a:off x="5105509" y="3804120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7B8346-1945-6DD2-51E2-3EF2289468C6}"/>
              </a:ext>
            </a:extLst>
          </p:cNvPr>
          <p:cNvSpPr/>
          <p:nvPr/>
        </p:nvSpPr>
        <p:spPr>
          <a:xfrm>
            <a:off x="5759029" y="3790377"/>
            <a:ext cx="158278" cy="5966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AA6484-E025-B715-4F40-B625C819C8AB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12" name="Arrow: Chevron 3">
              <a:extLst>
                <a:ext uri="{FF2B5EF4-FFF2-40B4-BE49-F238E27FC236}">
                  <a16:creationId xmlns:a16="http://schemas.microsoft.com/office/drawing/2014/main" id="{7DC6835C-9220-6C75-A06B-174104A7EEFA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14" name="Arrow: Chevron 5">
              <a:extLst>
                <a:ext uri="{FF2B5EF4-FFF2-40B4-BE49-F238E27FC236}">
                  <a16:creationId xmlns:a16="http://schemas.microsoft.com/office/drawing/2014/main" id="{071A15C0-C817-C52C-188B-1CE82D554C40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15" name="Arrow: Chevron 6">
              <a:extLst>
                <a:ext uri="{FF2B5EF4-FFF2-40B4-BE49-F238E27FC236}">
                  <a16:creationId xmlns:a16="http://schemas.microsoft.com/office/drawing/2014/main" id="{C844DD22-3B34-AF40-5116-46324F0F9747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16" name="Arrow: Chevron 7">
              <a:extLst>
                <a:ext uri="{FF2B5EF4-FFF2-40B4-BE49-F238E27FC236}">
                  <a16:creationId xmlns:a16="http://schemas.microsoft.com/office/drawing/2014/main" id="{F253C181-5072-F61A-F381-4256EF8A3308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17" name="Arrow: Chevron 8">
              <a:extLst>
                <a:ext uri="{FF2B5EF4-FFF2-40B4-BE49-F238E27FC236}">
                  <a16:creationId xmlns:a16="http://schemas.microsoft.com/office/drawing/2014/main" id="{32D7C437-6062-63F1-A0FB-D758E247727D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18" name="Arrow: Chevron 11">
              <a:extLst>
                <a:ext uri="{FF2B5EF4-FFF2-40B4-BE49-F238E27FC236}">
                  <a16:creationId xmlns:a16="http://schemas.microsoft.com/office/drawing/2014/main" id="{A885BC2E-7D98-3E0C-9B5A-BC951EA81C18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594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064D1-507B-6859-5A50-0A74D7EFF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56197E-4EEA-A115-3DDF-C46D6AFE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974" y="774261"/>
            <a:ext cx="10906125" cy="403828"/>
          </a:xfrm>
        </p:spPr>
        <p:txBody>
          <a:bodyPr/>
          <a:lstStyle/>
          <a:p>
            <a:r>
              <a:rPr lang="en-US"/>
              <a:t>Having an omni-platform presence will facilitate high growth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8728F7B-2429-46F7-8FD1-12E7B00724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7785024"/>
              </p:ext>
            </p:extLst>
          </p:nvPr>
        </p:nvGraphicFramePr>
        <p:xfrm>
          <a:off x="503344" y="1338943"/>
          <a:ext cx="5427088" cy="4819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Arrow: Up 6">
            <a:extLst>
              <a:ext uri="{FF2B5EF4-FFF2-40B4-BE49-F238E27FC236}">
                <a16:creationId xmlns:a16="http://schemas.microsoft.com/office/drawing/2014/main" id="{C2944409-079A-53B4-DBB9-2219619820BC}"/>
              </a:ext>
            </a:extLst>
          </p:cNvPr>
          <p:cNvSpPr/>
          <p:nvPr/>
        </p:nvSpPr>
        <p:spPr>
          <a:xfrm>
            <a:off x="1414792" y="4181522"/>
            <a:ext cx="381000" cy="780951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272E6629-028C-A1AA-17E7-FA38901D0AEE}"/>
              </a:ext>
            </a:extLst>
          </p:cNvPr>
          <p:cNvSpPr/>
          <p:nvPr/>
        </p:nvSpPr>
        <p:spPr>
          <a:xfrm>
            <a:off x="2473547" y="3827734"/>
            <a:ext cx="381000" cy="780951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2D75870C-721A-D9B7-152F-58CEEE21B2A1}"/>
              </a:ext>
            </a:extLst>
          </p:cNvPr>
          <p:cNvSpPr/>
          <p:nvPr/>
        </p:nvSpPr>
        <p:spPr>
          <a:xfrm>
            <a:off x="1953635" y="3996464"/>
            <a:ext cx="381000" cy="780951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BCCE0-1DAF-8784-97C6-7BA4C2189C24}"/>
              </a:ext>
            </a:extLst>
          </p:cNvPr>
          <p:cNvSpPr txBox="1"/>
          <p:nvPr/>
        </p:nvSpPr>
        <p:spPr>
          <a:xfrm>
            <a:off x="1174336" y="2063454"/>
            <a:ext cx="2703802" cy="10885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200" b="1" dirty="0">
                <a:solidFill>
                  <a:srgbClr val="5F0289"/>
                </a:solidFill>
              </a:rPr>
              <a:t>Having and Omni-Channel platform presence will enable:</a:t>
            </a:r>
            <a:br>
              <a:rPr lang="en-IN" sz="1200" b="1" dirty="0">
                <a:solidFill>
                  <a:srgbClr val="5F0289"/>
                </a:solidFill>
              </a:rPr>
            </a:br>
            <a:br>
              <a:rPr lang="en-IN" sz="600" b="1" dirty="0">
                <a:solidFill>
                  <a:srgbClr val="5F0289"/>
                </a:solidFill>
              </a:rPr>
            </a:br>
            <a:r>
              <a:rPr lang="en-IN" sz="1200" b="1" dirty="0">
                <a:solidFill>
                  <a:srgbClr val="5F0289"/>
                </a:solidFill>
              </a:rPr>
              <a:t>1) Access to larger TAM</a:t>
            </a:r>
            <a:br>
              <a:rPr lang="en-IN" sz="1200" b="1" dirty="0">
                <a:solidFill>
                  <a:srgbClr val="5F0289"/>
                </a:solidFill>
              </a:rPr>
            </a:br>
            <a:r>
              <a:rPr lang="en-IN" sz="1200" b="1" dirty="0">
                <a:solidFill>
                  <a:srgbClr val="5F0289"/>
                </a:solidFill>
              </a:rPr>
              <a:t>2) Reduce threat due to single provider</a:t>
            </a:r>
            <a:br>
              <a:rPr lang="en-IN" sz="1200" b="1" dirty="0">
                <a:solidFill>
                  <a:srgbClr val="5F0289"/>
                </a:solidFill>
              </a:rPr>
            </a:br>
            <a:r>
              <a:rPr lang="en-IN" sz="1200" b="1" dirty="0">
                <a:solidFill>
                  <a:srgbClr val="5F0289"/>
                </a:solidFill>
              </a:rPr>
              <a:t>3) Match accessibility with competitors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7DDF34-1A44-EBD5-DAAF-C99A73B7BDB3}"/>
              </a:ext>
            </a:extLst>
          </p:cNvPr>
          <p:cNvSpPr txBox="1"/>
          <p:nvPr/>
        </p:nvSpPr>
        <p:spPr>
          <a:xfrm>
            <a:off x="7715504" y="1837836"/>
            <a:ext cx="1300977" cy="1964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400" b="1" i="1" noProof="0" dirty="0">
                <a:solidFill>
                  <a:srgbClr val="7310A0"/>
                </a:solidFill>
              </a:rPr>
              <a:t>Unfavourable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DB5291-39E3-2492-D760-F2F29278959B}"/>
              </a:ext>
            </a:extLst>
          </p:cNvPr>
          <p:cNvSpPr txBox="1"/>
          <p:nvPr/>
        </p:nvSpPr>
        <p:spPr>
          <a:xfrm>
            <a:off x="10421898" y="1874661"/>
            <a:ext cx="1057202" cy="159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IN" sz="1400" b="1" i="1" noProof="0" dirty="0">
                <a:solidFill>
                  <a:srgbClr val="7310A0"/>
                </a:solidFill>
              </a:rPr>
              <a:t>Favourable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A36648-CCEB-0937-D892-26ECE885B1E0}"/>
              </a:ext>
            </a:extLst>
          </p:cNvPr>
          <p:cNvSpPr txBox="1"/>
          <p:nvPr/>
        </p:nvSpPr>
        <p:spPr>
          <a:xfrm>
            <a:off x="6112568" y="1980269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>
                <a:solidFill>
                  <a:schemeClr val="bg1"/>
                </a:solidFill>
              </a:rPr>
              <a:t>Market Size</a:t>
            </a:r>
            <a:endParaRPr lang="en-IN" sz="1400" b="1" noProof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E0C5EC-8A5F-6654-7A23-8CC47E0DD02A}"/>
              </a:ext>
            </a:extLst>
          </p:cNvPr>
          <p:cNvSpPr txBox="1"/>
          <p:nvPr/>
        </p:nvSpPr>
        <p:spPr>
          <a:xfrm>
            <a:off x="6096000" y="2453551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>
                <a:solidFill>
                  <a:schemeClr val="bg1"/>
                </a:solidFill>
              </a:rPr>
              <a:t>Online experience store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061EF-F227-2C60-BE72-3DB5D0630442}"/>
              </a:ext>
            </a:extLst>
          </p:cNvPr>
          <p:cNvSpPr txBox="1"/>
          <p:nvPr/>
        </p:nvSpPr>
        <p:spPr>
          <a:xfrm>
            <a:off x="6112568" y="2926833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 noProof="0">
                <a:solidFill>
                  <a:schemeClr val="bg1"/>
                </a:solidFill>
              </a:rPr>
              <a:t>Commission Cost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A7AFC9-87D7-5BE7-7F0D-60D7A8D74995}"/>
              </a:ext>
            </a:extLst>
          </p:cNvPr>
          <p:cNvSpPr txBox="1"/>
          <p:nvPr/>
        </p:nvSpPr>
        <p:spPr>
          <a:xfrm>
            <a:off x="6106886" y="3873398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>
                <a:solidFill>
                  <a:schemeClr val="bg1"/>
                </a:solidFill>
              </a:rPr>
              <a:t>Category Relevance</a:t>
            </a:r>
            <a:endParaRPr lang="en-IN" sz="1400" b="1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5C31C1-26E9-A9AE-B845-63F58241EA9D}"/>
              </a:ext>
            </a:extLst>
          </p:cNvPr>
          <p:cNvSpPr txBox="1"/>
          <p:nvPr/>
        </p:nvSpPr>
        <p:spPr>
          <a:xfrm>
            <a:off x="6096000" y="3400115"/>
            <a:ext cx="1706218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IN" sz="1400" b="1" noProof="0">
                <a:solidFill>
                  <a:schemeClr val="bg1"/>
                </a:solidFill>
              </a:rPr>
              <a:t>Envelopment Threat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84796-6C31-4747-1BAA-1FA461592C93}"/>
              </a:ext>
            </a:extLst>
          </p:cNvPr>
          <p:cNvSpPr txBox="1"/>
          <p:nvPr/>
        </p:nvSpPr>
        <p:spPr>
          <a:xfrm>
            <a:off x="5987143" y="1251974"/>
            <a:ext cx="5592654" cy="488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b="1" noProof="0">
                <a:solidFill>
                  <a:srgbClr val="7310A0"/>
                </a:solidFill>
              </a:rPr>
              <a:t>Comparative favourability of platforms 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0EE2E32-0706-C1AF-06FB-82D752A6A46F}"/>
              </a:ext>
            </a:extLst>
          </p:cNvPr>
          <p:cNvSpPr/>
          <p:nvPr/>
        </p:nvSpPr>
        <p:spPr>
          <a:xfrm>
            <a:off x="7715504" y="2123145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BE5EFFE2-8340-C8BF-CE2C-BDA641D1E751}"/>
              </a:ext>
            </a:extLst>
          </p:cNvPr>
          <p:cNvSpPr/>
          <p:nvPr/>
        </p:nvSpPr>
        <p:spPr>
          <a:xfrm>
            <a:off x="7715504" y="2584819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86F9FEEF-6AC2-1D39-8E15-DFBE8A3C6A7D}"/>
              </a:ext>
            </a:extLst>
          </p:cNvPr>
          <p:cNvSpPr/>
          <p:nvPr/>
        </p:nvSpPr>
        <p:spPr>
          <a:xfrm>
            <a:off x="7715504" y="3046493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744BE279-FFF3-492B-1FE3-6F44627ED483}"/>
              </a:ext>
            </a:extLst>
          </p:cNvPr>
          <p:cNvSpPr/>
          <p:nvPr/>
        </p:nvSpPr>
        <p:spPr>
          <a:xfrm>
            <a:off x="7715504" y="3969842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54E7876A-36FB-AED2-7436-8B4784BAEA8B}"/>
              </a:ext>
            </a:extLst>
          </p:cNvPr>
          <p:cNvSpPr/>
          <p:nvPr/>
        </p:nvSpPr>
        <p:spPr>
          <a:xfrm>
            <a:off x="7715504" y="3508167"/>
            <a:ext cx="3709167" cy="295983"/>
          </a:xfrm>
          <a:prstGeom prst="left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B88CA7-6611-9FFE-B883-5502B367CA2F}"/>
              </a:ext>
            </a:extLst>
          </p:cNvPr>
          <p:cNvSpPr/>
          <p:nvPr/>
        </p:nvSpPr>
        <p:spPr>
          <a:xfrm>
            <a:off x="5987143" y="1779340"/>
            <a:ext cx="5592656" cy="257113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7314694E-2633-5A3B-2817-C0D9C0A2A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769066"/>
              </p:ext>
            </p:extLst>
          </p:nvPr>
        </p:nvGraphicFramePr>
        <p:xfrm>
          <a:off x="5987143" y="4401713"/>
          <a:ext cx="5592654" cy="174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109">
                  <a:extLst>
                    <a:ext uri="{9D8B030D-6E8A-4147-A177-3AD203B41FA5}">
                      <a16:colId xmlns:a16="http://schemas.microsoft.com/office/drawing/2014/main" val="1039826539"/>
                    </a:ext>
                  </a:extLst>
                </a:gridCol>
                <a:gridCol w="559234">
                  <a:extLst>
                    <a:ext uri="{9D8B030D-6E8A-4147-A177-3AD203B41FA5}">
                      <a16:colId xmlns:a16="http://schemas.microsoft.com/office/drawing/2014/main" val="777795203"/>
                    </a:ext>
                  </a:extLst>
                </a:gridCol>
                <a:gridCol w="707571">
                  <a:extLst>
                    <a:ext uri="{9D8B030D-6E8A-4147-A177-3AD203B41FA5}">
                      <a16:colId xmlns:a16="http://schemas.microsoft.com/office/drawing/2014/main" val="285068563"/>
                    </a:ext>
                  </a:extLst>
                </a:gridCol>
                <a:gridCol w="1077686">
                  <a:extLst>
                    <a:ext uri="{9D8B030D-6E8A-4147-A177-3AD203B41FA5}">
                      <a16:colId xmlns:a16="http://schemas.microsoft.com/office/drawing/2014/main" val="3107901916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3042167659"/>
                    </a:ext>
                  </a:extLst>
                </a:gridCol>
                <a:gridCol w="1227483">
                  <a:extLst>
                    <a:ext uri="{9D8B030D-6E8A-4147-A177-3AD203B41FA5}">
                      <a16:colId xmlns:a16="http://schemas.microsoft.com/office/drawing/2014/main" val="3308288125"/>
                    </a:ext>
                  </a:extLst>
                </a:gridCol>
              </a:tblGrid>
              <a:tr h="435782">
                <a:tc gridSpan="2"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Favourable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r>
                        <a:rPr lang="en-IN"/>
                        <a:t>Favourable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Factoring in  growth rate (Exhibit 3)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Bedsheet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Towel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Top of bed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7480001"/>
                  </a:ext>
                </a:extLst>
              </a:tr>
              <a:tr h="435782">
                <a:tc>
                  <a:txBody>
                    <a:bodyPr/>
                    <a:lstStyle/>
                    <a:p>
                      <a:r>
                        <a:rPr lang="en-IN" sz="1200" dirty="0"/>
                        <a:t>Amazon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70%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34%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 41%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 39%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687218"/>
                  </a:ext>
                </a:extLst>
              </a:tr>
              <a:tr h="435782">
                <a:tc>
                  <a:txBody>
                    <a:bodyPr/>
                    <a:lstStyle/>
                    <a:p>
                      <a:r>
                        <a:rPr lang="en-IN" sz="1200"/>
                        <a:t>Flipkart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58%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25%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21%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23%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80442"/>
                  </a:ext>
                </a:extLst>
              </a:tr>
              <a:tr h="435782">
                <a:tc>
                  <a:txBody>
                    <a:bodyPr/>
                    <a:lstStyle/>
                    <a:p>
                      <a:r>
                        <a:rPr lang="en-IN" sz="1200" dirty="0"/>
                        <a:t>Myntra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66%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 41%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38%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 37%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7171417"/>
                  </a:ext>
                </a:extLst>
              </a:tr>
            </a:tbl>
          </a:graphicData>
        </a:graphic>
      </p:graphicFrame>
      <p:pic>
        <p:nvPicPr>
          <p:cNvPr id="1028" name="Picture 4" descr="Amazon, buy, logo, online, shop icon - Free download">
            <a:extLst>
              <a:ext uri="{FF2B5EF4-FFF2-40B4-BE49-F238E27FC236}">
                <a16:creationId xmlns:a16="http://schemas.microsoft.com/office/drawing/2014/main" id="{76C3D4C2-A501-D8FB-3B7A-91AED1415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418" y="2109316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Amazon, buy, logo, online, shop icon - Free download">
            <a:extLst>
              <a:ext uri="{FF2B5EF4-FFF2-40B4-BE49-F238E27FC236}">
                <a16:creationId xmlns:a16="http://schemas.microsoft.com/office/drawing/2014/main" id="{0FB3B30D-CC59-8F74-2B0B-EE01D3EB1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740" y="2587724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Amazon, buy, logo, online, shop icon - Free download">
            <a:extLst>
              <a:ext uri="{FF2B5EF4-FFF2-40B4-BE49-F238E27FC236}">
                <a16:creationId xmlns:a16="http://schemas.microsoft.com/office/drawing/2014/main" id="{F9724A53-8800-648B-8B88-E3F384F9D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38" y="3013835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Amazon, buy, logo, online, shop icon - Free download">
            <a:extLst>
              <a:ext uri="{FF2B5EF4-FFF2-40B4-BE49-F238E27FC236}">
                <a16:creationId xmlns:a16="http://schemas.microsoft.com/office/drawing/2014/main" id="{22542831-46F1-17B5-6BDE-0C402725C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043" y="3461733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Amazon, buy, logo, online, shop icon - Free download">
            <a:extLst>
              <a:ext uri="{FF2B5EF4-FFF2-40B4-BE49-F238E27FC236}">
                <a16:creationId xmlns:a16="http://schemas.microsoft.com/office/drawing/2014/main" id="{C5840006-1CFE-D435-D2FA-09D425A30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9" b="96000" l="1778" r="99111">
                        <a14:foregroundMark x1="25778" y1="37778" x2="25778" y2="37778"/>
                        <a14:foregroundMark x1="10222" y1="55556" x2="20000" y2="28444"/>
                        <a14:foregroundMark x1="20000" y1="28444" x2="34222" y2="10667"/>
                        <a14:foregroundMark x1="34222" y1="10667" x2="35111" y2="11111"/>
                        <a14:foregroundMark x1="13778" y1="49333" x2="60444" y2="81333"/>
                        <a14:foregroundMark x1="60444" y1="81333" x2="83111" y2="55556"/>
                        <a14:foregroundMark x1="83111" y1="55556" x2="80889" y2="32000"/>
                        <a14:foregroundMark x1="80889" y1="32000" x2="63111" y2="20444"/>
                        <a14:foregroundMark x1="63111" y1="20444" x2="31111" y2="18222"/>
                        <a14:foregroundMark x1="31111" y1="18222" x2="28444" y2="19111"/>
                        <a14:foregroundMark x1="0" y1="54222" x2="7111" y2="32889"/>
                        <a14:foregroundMark x1="7111" y1="32889" x2="25333" y2="9333"/>
                        <a14:foregroundMark x1="25333" y1="9333" x2="51556" y2="1333"/>
                        <a14:foregroundMark x1="51556" y1="1333" x2="56889" y2="1778"/>
                        <a14:foregroundMark x1="63111" y1="4000" x2="84444" y2="19111"/>
                        <a14:foregroundMark x1="84444" y1="19111" x2="92444" y2="38222"/>
                        <a14:foregroundMark x1="92444" y1="38222" x2="90222" y2="64444"/>
                        <a14:foregroundMark x1="90222" y1="64444" x2="74222" y2="82667"/>
                        <a14:foregroundMark x1="74222" y1="82667" x2="46667" y2="96444"/>
                        <a14:foregroundMark x1="46667" y1="96444" x2="28000" y2="84889"/>
                        <a14:foregroundMark x1="28000" y1="84889" x2="11556" y2="68000"/>
                        <a14:foregroundMark x1="11556" y1="68000" x2="11111" y2="47556"/>
                        <a14:foregroundMark x1="11111" y1="47556" x2="12000" y2="45778"/>
                        <a14:foregroundMark x1="6667" y1="72889" x2="1778" y2="52889"/>
                        <a14:foregroundMark x1="1778" y1="52889" x2="6667" y2="38222"/>
                        <a14:foregroundMark x1="62222" y1="51111" x2="62222" y2="51111"/>
                        <a14:foregroundMark x1="62222" y1="51111" x2="56889" y2="21778"/>
                        <a14:foregroundMark x1="56889" y1="21778" x2="48000" y2="47111"/>
                        <a14:foregroundMark x1="48000" y1="47111" x2="49778" y2="48889"/>
                        <a14:foregroundMark x1="42222" y1="19556" x2="21778" y2="48444"/>
                        <a14:foregroundMark x1="21778" y1="48444" x2="40000" y2="70222"/>
                        <a14:foregroundMark x1="40000" y1="70222" x2="68889" y2="58222"/>
                        <a14:foregroundMark x1="68889" y1="58222" x2="62667" y2="28444"/>
                        <a14:foregroundMark x1="62667" y1="28444" x2="44889" y2="16889"/>
                        <a14:foregroundMark x1="44889" y1="16889" x2="39111" y2="21333"/>
                        <a14:foregroundMark x1="52444" y1="37333" x2="31111" y2="52889"/>
                        <a14:foregroundMark x1="31111" y1="52889" x2="45778" y2="68889"/>
                        <a14:foregroundMark x1="45778" y1="68889" x2="64444" y2="60000"/>
                        <a14:foregroundMark x1="64444" y1="60000" x2="65333" y2="47556"/>
                        <a14:foregroundMark x1="96444" y1="67556" x2="99111" y2="45778"/>
                        <a14:foregroundMark x1="99111" y1="45778" x2="95556" y2="31556"/>
                        <a14:foregroundMark x1="37778" y1="26222" x2="51111" y2="3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977" y="3942624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BA64160B-AB33-667A-43CB-A70CB298A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245" y="3939551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21674DDE-642B-8D01-EEB9-7D4CB99C9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897" y="3490246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9126E2BB-E262-C1B8-19CD-69B56D75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772" y="3011987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625412C1-DE48-ADBF-2095-F3D3CF6C9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087" y="2544214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Flipkart Bandra Kurla Complex 4000 51 - Container Service in 4000 51">
            <a:extLst>
              <a:ext uri="{FF2B5EF4-FFF2-40B4-BE49-F238E27FC236}">
                <a16:creationId xmlns:a16="http://schemas.microsoft.com/office/drawing/2014/main" id="{27AB3CD5-532B-8A3A-6A60-30CC45FBD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5556" l="2222" r="96889">
                        <a14:foregroundMark x1="24000" y1="32889" x2="24000" y2="32889"/>
                        <a14:foregroundMark x1="24000" y1="32889" x2="43111" y2="12889"/>
                        <a14:foregroundMark x1="43111" y1="12889" x2="66667" y2="15111"/>
                        <a14:foregroundMark x1="66667" y1="15111" x2="67556" y2="26667"/>
                        <a14:foregroundMark x1="67556" y1="26667" x2="67111" y2="27556"/>
                        <a14:foregroundMark x1="0" y1="48444" x2="7010" y2="26178"/>
                        <a14:foregroundMark x1="8166" y1="23916" x2="27111" y2="7556"/>
                        <a14:foregroundMark x1="27111" y1="7556" x2="36767" y2="2261"/>
                        <a14:foregroundMark x1="5778" y1="29778" x2="444" y2="44000"/>
                        <a14:foregroundMark x1="444" y1="44000" x2="1778" y2="61333"/>
                        <a14:foregroundMark x1="4615" y1="65778" x2="15111" y2="82222"/>
                        <a14:foregroundMark x1="1778" y1="61333" x2="4615" y2="65778"/>
                        <a14:foregroundMark x1="15111" y1="82222" x2="35111" y2="95556"/>
                        <a14:foregroundMark x1="91111" y1="75111" x2="94667" y2="39111"/>
                        <a14:foregroundMark x1="94667" y1="39111" x2="87111" y2="26667"/>
                        <a14:foregroundMark x1="87111" y1="26667" x2="86667" y2="25778"/>
                        <a14:foregroundMark x1="1814" y1="63995" x2="889" y2="62222"/>
                        <a14:foregroundMark x1="6222" y1="72444" x2="3191" y2="66635"/>
                        <a14:foregroundMark x1="1048" y1="60946" x2="4621" y2="32367"/>
                        <a14:foregroundMark x1="889" y1="62222" x2="962" y2="61641"/>
                        <a14:foregroundMark x1="98222" y1="39111" x2="97333" y2="58667"/>
                        <a14:foregroundMark x1="97333" y1="58667" x2="96000" y2="60889"/>
                        <a14:foregroundMark x1="3645" y1="65778" x2="2222" y2="61333"/>
                        <a14:foregroundMark x1="5778" y1="72444" x2="3645" y2="65778"/>
                        <a14:backgroundMark x1="889" y1="67111" x2="0" y2="65333"/>
                        <a14:backgroundMark x1="2222" y1="68000" x2="0" y2="58222"/>
                        <a14:backgroundMark x1="0" y1="46667" x2="5333" y2="25778"/>
                        <a14:backgroundMark x1="5333" y1="25778" x2="9778" y2="19111"/>
                        <a14:backgroundMark x1="4889" y1="24889" x2="19111" y2="2667"/>
                        <a14:backgroundMark x1="37333" y1="1333" x2="44000" y2="889"/>
                        <a14:backgroundMark x1="4444" y1="72000" x2="1333" y2="65333"/>
                        <a14:backgroundMark x1="5778" y1="75111" x2="444" y2="65778"/>
                        <a14:backgroundMark x1="444" y1="65778" x2="444" y2="65778"/>
                        <a14:backgroundMark x1="5778" y1="73778" x2="1333" y2="6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729" y="2086073"/>
            <a:ext cx="318561" cy="3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37FDEA23-51F5-172B-5C2A-23D2B1201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181" y="2024219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74D0B6A6-439A-2581-5F6B-220B075B5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801" y="2490875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1CBEE2B2-1205-6BD0-C414-C3AB93833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677" y="2938141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D67C0E67-AF8A-AABC-AED3-37213D10D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895" y="3403182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8" descr="Myntra PNG, Transparent Myntra LOGO Download - Free Transparent PNG Logos">
            <a:extLst>
              <a:ext uri="{FF2B5EF4-FFF2-40B4-BE49-F238E27FC236}">
                <a16:creationId xmlns:a16="http://schemas.microsoft.com/office/drawing/2014/main" id="{0DA5ACC0-603A-2808-F992-5942E41FC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524" y="3871800"/>
            <a:ext cx="564352" cy="56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F95E56-D727-298F-5A59-A61936E0E89D}"/>
              </a:ext>
            </a:extLst>
          </p:cNvPr>
          <p:cNvSpPr txBox="1"/>
          <p:nvPr/>
        </p:nvSpPr>
        <p:spPr>
          <a:xfrm>
            <a:off x="5987143" y="6158675"/>
            <a:ext cx="4457010" cy="1726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000" dirty="0">
                <a:solidFill>
                  <a:schemeClr val="bg1"/>
                </a:solidFill>
              </a:rPr>
              <a:t>*Upper range of growth rate in exhibit 3 is considered for calculations</a:t>
            </a:r>
            <a:endParaRPr lang="en-US" sz="1000" noProof="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D22327-92D0-76A6-69DD-390A1F412327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25" name="Arrow: Chevron 3">
              <a:extLst>
                <a:ext uri="{FF2B5EF4-FFF2-40B4-BE49-F238E27FC236}">
                  <a16:creationId xmlns:a16="http://schemas.microsoft.com/office/drawing/2014/main" id="{C8D49DEC-41AF-51B5-3E7B-BF3D71B29AFE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6" name="Arrow: Chevron 5">
              <a:extLst>
                <a:ext uri="{FF2B5EF4-FFF2-40B4-BE49-F238E27FC236}">
                  <a16:creationId xmlns:a16="http://schemas.microsoft.com/office/drawing/2014/main" id="{1321EF97-5FBD-33F1-8533-54C2952FB367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7" name="Arrow: Chevron 6">
              <a:extLst>
                <a:ext uri="{FF2B5EF4-FFF2-40B4-BE49-F238E27FC236}">
                  <a16:creationId xmlns:a16="http://schemas.microsoft.com/office/drawing/2014/main" id="{F2B037D3-C3D7-A042-0229-36352AAD3920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28" name="Arrow: Chevron 7">
              <a:extLst>
                <a:ext uri="{FF2B5EF4-FFF2-40B4-BE49-F238E27FC236}">
                  <a16:creationId xmlns:a16="http://schemas.microsoft.com/office/drawing/2014/main" id="{D7F41D9A-57EE-DFB5-A8EC-6221BBF1DF4F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29" name="Arrow: Chevron 8">
              <a:extLst>
                <a:ext uri="{FF2B5EF4-FFF2-40B4-BE49-F238E27FC236}">
                  <a16:creationId xmlns:a16="http://schemas.microsoft.com/office/drawing/2014/main" id="{7CC0CF77-1306-F104-334B-979881921BF1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30" name="Arrow: Chevron 11">
              <a:extLst>
                <a:ext uri="{FF2B5EF4-FFF2-40B4-BE49-F238E27FC236}">
                  <a16:creationId xmlns:a16="http://schemas.microsoft.com/office/drawing/2014/main" id="{51BB29D7-A112-9287-E57A-E868186DAF72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573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457BDB-DE99-FC67-004D-8E3FFD441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B37723-169A-A065-5603-294286E5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6" y="859347"/>
            <a:ext cx="10906125" cy="295466"/>
          </a:xfrm>
        </p:spPr>
        <p:txBody>
          <a:bodyPr/>
          <a:lstStyle/>
          <a:p>
            <a:r>
              <a:rPr lang="en-US" sz="2400"/>
              <a:t>ABC needs to widen its marketing funnel, follow a holistic digital strategy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9F5579-FC8A-E948-7D0B-5B6972BB0DE7}"/>
              </a:ext>
            </a:extLst>
          </p:cNvPr>
          <p:cNvGrpSpPr/>
          <p:nvPr/>
        </p:nvGrpSpPr>
        <p:grpSpPr>
          <a:xfrm>
            <a:off x="320119" y="2046718"/>
            <a:ext cx="3478878" cy="3165998"/>
            <a:chOff x="3357337" y="3077745"/>
            <a:chExt cx="2349647" cy="2138327"/>
          </a:xfrm>
          <a:effectLst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51EC77-759D-09F7-A3A1-4BD8D2751558}"/>
                </a:ext>
              </a:extLst>
            </p:cNvPr>
            <p:cNvGrpSpPr/>
            <p:nvPr/>
          </p:nvGrpSpPr>
          <p:grpSpPr>
            <a:xfrm>
              <a:off x="3357337" y="3077745"/>
              <a:ext cx="2349647" cy="2138327"/>
              <a:chOff x="2308226" y="2162176"/>
              <a:chExt cx="4306887" cy="3919538"/>
            </a:xfrm>
          </p:grpSpPr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CC526741-528C-AAA9-D83A-949BA4763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226" y="2233613"/>
                <a:ext cx="4010025" cy="1473200"/>
              </a:xfrm>
              <a:custGeom>
                <a:avLst/>
                <a:gdLst>
                  <a:gd name="T0" fmla="*/ 43 w 1067"/>
                  <a:gd name="T1" fmla="*/ 68 h 392"/>
                  <a:gd name="T2" fmla="*/ 268 w 1067"/>
                  <a:gd name="T3" fmla="*/ 225 h 392"/>
                  <a:gd name="T4" fmla="*/ 874 w 1067"/>
                  <a:gd name="T5" fmla="*/ 392 h 392"/>
                  <a:gd name="T6" fmla="*/ 990 w 1067"/>
                  <a:gd name="T7" fmla="*/ 338 h 392"/>
                  <a:gd name="T8" fmla="*/ 977 w 1067"/>
                  <a:gd name="T9" fmla="*/ 315 h 392"/>
                  <a:gd name="T10" fmla="*/ 1014 w 1067"/>
                  <a:gd name="T11" fmla="*/ 291 h 392"/>
                  <a:gd name="T12" fmla="*/ 43 w 1067"/>
                  <a:gd name="T13" fmla="*/ 68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7" h="392">
                    <a:moveTo>
                      <a:pt x="43" y="68"/>
                    </a:moveTo>
                    <a:cubicBezTo>
                      <a:pt x="58" y="93"/>
                      <a:pt x="137" y="165"/>
                      <a:pt x="268" y="225"/>
                    </a:cubicBezTo>
                    <a:cubicBezTo>
                      <a:pt x="510" y="272"/>
                      <a:pt x="802" y="345"/>
                      <a:pt x="874" y="392"/>
                    </a:cubicBezTo>
                    <a:cubicBezTo>
                      <a:pt x="941" y="386"/>
                      <a:pt x="990" y="364"/>
                      <a:pt x="990" y="338"/>
                    </a:cubicBezTo>
                    <a:cubicBezTo>
                      <a:pt x="990" y="329"/>
                      <a:pt x="985" y="322"/>
                      <a:pt x="977" y="315"/>
                    </a:cubicBezTo>
                    <a:cubicBezTo>
                      <a:pt x="994" y="309"/>
                      <a:pt x="1007" y="301"/>
                      <a:pt x="1014" y="291"/>
                    </a:cubicBezTo>
                    <a:cubicBezTo>
                      <a:pt x="1067" y="223"/>
                      <a:pt x="0" y="0"/>
                      <a:pt x="43" y="6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412D3ED3-A707-24DE-527F-A3BBD172C2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4801" y="3354388"/>
                <a:ext cx="2943225" cy="1465263"/>
              </a:xfrm>
              <a:custGeom>
                <a:avLst/>
                <a:gdLst>
                  <a:gd name="T0" fmla="*/ 42 w 783"/>
                  <a:gd name="T1" fmla="*/ 68 h 390"/>
                  <a:gd name="T2" fmla="*/ 405 w 783"/>
                  <a:gd name="T3" fmla="*/ 276 h 390"/>
                  <a:gd name="T4" fmla="*/ 389 w 783"/>
                  <a:gd name="T5" fmla="*/ 292 h 390"/>
                  <a:gd name="T6" fmla="*/ 609 w 783"/>
                  <a:gd name="T7" fmla="*/ 390 h 390"/>
                  <a:gd name="T8" fmla="*/ 679 w 783"/>
                  <a:gd name="T9" fmla="*/ 344 h 390"/>
                  <a:gd name="T10" fmla="*/ 730 w 783"/>
                  <a:gd name="T11" fmla="*/ 311 h 390"/>
                  <a:gd name="T12" fmla="*/ 42 w 783"/>
                  <a:gd name="T13" fmla="*/ 68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3" h="390">
                    <a:moveTo>
                      <a:pt x="42" y="68"/>
                    </a:moveTo>
                    <a:cubicBezTo>
                      <a:pt x="62" y="101"/>
                      <a:pt x="192" y="214"/>
                      <a:pt x="405" y="276"/>
                    </a:cubicBezTo>
                    <a:cubicBezTo>
                      <a:pt x="399" y="281"/>
                      <a:pt x="393" y="287"/>
                      <a:pt x="389" y="292"/>
                    </a:cubicBezTo>
                    <a:cubicBezTo>
                      <a:pt x="482" y="326"/>
                      <a:pt x="564" y="361"/>
                      <a:pt x="609" y="390"/>
                    </a:cubicBezTo>
                    <a:cubicBezTo>
                      <a:pt x="642" y="380"/>
                      <a:pt x="668" y="364"/>
                      <a:pt x="679" y="344"/>
                    </a:cubicBezTo>
                    <a:cubicBezTo>
                      <a:pt x="708" y="349"/>
                      <a:pt x="707" y="340"/>
                      <a:pt x="730" y="311"/>
                    </a:cubicBezTo>
                    <a:cubicBezTo>
                      <a:pt x="783" y="242"/>
                      <a:pt x="0" y="0"/>
                      <a:pt x="42" y="6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5" name="Freeform 6">
                <a:extLst>
                  <a:ext uri="{FF2B5EF4-FFF2-40B4-BE49-F238E27FC236}">
                    <a16:creationId xmlns:a16="http://schemas.microsoft.com/office/drawing/2014/main" id="{C4394B82-204F-B60A-2300-FCF501565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838" y="2162176"/>
                <a:ext cx="4105275" cy="1368425"/>
              </a:xfrm>
              <a:custGeom>
                <a:avLst/>
                <a:gdLst>
                  <a:gd name="T0" fmla="*/ 1019 w 1092"/>
                  <a:gd name="T1" fmla="*/ 211 h 364"/>
                  <a:gd name="T2" fmla="*/ 536 w 1092"/>
                  <a:gd name="T3" fmla="*/ 334 h 364"/>
                  <a:gd name="T4" fmla="*/ 100 w 1092"/>
                  <a:gd name="T5" fmla="*/ 285 h 364"/>
                  <a:gd name="T6" fmla="*/ 0 w 1092"/>
                  <a:gd name="T7" fmla="*/ 103 h 364"/>
                  <a:gd name="T8" fmla="*/ 546 w 1092"/>
                  <a:gd name="T9" fmla="*/ 144 h 364"/>
                  <a:gd name="T10" fmla="*/ 1092 w 1092"/>
                  <a:gd name="T11" fmla="*/ 0 h 364"/>
                  <a:gd name="T12" fmla="*/ 1019 w 1092"/>
                  <a:gd name="T13" fmla="*/ 211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2" h="364">
                    <a:moveTo>
                      <a:pt x="1019" y="211"/>
                    </a:moveTo>
                    <a:cubicBezTo>
                      <a:pt x="1019" y="211"/>
                      <a:pt x="941" y="301"/>
                      <a:pt x="536" y="334"/>
                    </a:cubicBezTo>
                    <a:cubicBezTo>
                      <a:pt x="175" y="364"/>
                      <a:pt x="100" y="285"/>
                      <a:pt x="100" y="28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3"/>
                      <a:pt x="118" y="182"/>
                      <a:pt x="546" y="144"/>
                    </a:cubicBezTo>
                    <a:cubicBezTo>
                      <a:pt x="981" y="104"/>
                      <a:pt x="1092" y="0"/>
                      <a:pt x="1092" y="0"/>
                    </a:cubicBezTo>
                    <a:lnTo>
                      <a:pt x="1019" y="211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6" name="Freeform 7">
                <a:extLst>
                  <a:ext uri="{FF2B5EF4-FFF2-40B4-BE49-F238E27FC236}">
                    <a16:creationId xmlns:a16="http://schemas.microsoft.com/office/drawing/2014/main" id="{D12DD839-C72F-D518-32D6-084600614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7838" y="3316288"/>
                <a:ext cx="3108325" cy="1228725"/>
              </a:xfrm>
              <a:custGeom>
                <a:avLst/>
                <a:gdLst>
                  <a:gd name="T0" fmla="*/ 748 w 827"/>
                  <a:gd name="T1" fmla="*/ 211 h 327"/>
                  <a:gd name="T2" fmla="*/ 407 w 827"/>
                  <a:gd name="T3" fmla="*/ 305 h 327"/>
                  <a:gd name="T4" fmla="*/ 111 w 827"/>
                  <a:gd name="T5" fmla="*/ 268 h 327"/>
                  <a:gd name="T6" fmla="*/ 0 w 827"/>
                  <a:gd name="T7" fmla="*/ 83 h 327"/>
                  <a:gd name="T8" fmla="*/ 416 w 827"/>
                  <a:gd name="T9" fmla="*/ 113 h 327"/>
                  <a:gd name="T10" fmla="*/ 827 w 827"/>
                  <a:gd name="T11" fmla="*/ 0 h 327"/>
                  <a:gd name="T12" fmla="*/ 748 w 827"/>
                  <a:gd name="T13" fmla="*/ 211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7" h="327">
                    <a:moveTo>
                      <a:pt x="748" y="211"/>
                    </a:moveTo>
                    <a:cubicBezTo>
                      <a:pt x="748" y="211"/>
                      <a:pt x="711" y="279"/>
                      <a:pt x="407" y="305"/>
                    </a:cubicBezTo>
                    <a:cubicBezTo>
                      <a:pt x="135" y="327"/>
                      <a:pt x="111" y="268"/>
                      <a:pt x="111" y="268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3"/>
                      <a:pt x="94" y="142"/>
                      <a:pt x="416" y="113"/>
                    </a:cubicBezTo>
                    <a:cubicBezTo>
                      <a:pt x="743" y="83"/>
                      <a:pt x="827" y="0"/>
                      <a:pt x="827" y="0"/>
                    </a:cubicBezTo>
                    <a:lnTo>
                      <a:pt x="748" y="211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14288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7" name="Freeform 9">
                <a:extLst>
                  <a:ext uri="{FF2B5EF4-FFF2-40B4-BE49-F238E27FC236}">
                    <a16:creationId xmlns:a16="http://schemas.microsoft.com/office/drawing/2014/main" id="{F368C090-E79E-AD63-EEC6-BBCD86CE2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526" y="4511676"/>
                <a:ext cx="1830388" cy="1570038"/>
              </a:xfrm>
              <a:custGeom>
                <a:avLst/>
                <a:gdLst>
                  <a:gd name="T0" fmla="*/ 251 w 487"/>
                  <a:gd name="T1" fmla="*/ 261 h 418"/>
                  <a:gd name="T2" fmla="*/ 458 w 487"/>
                  <a:gd name="T3" fmla="*/ 413 h 418"/>
                  <a:gd name="T4" fmla="*/ 483 w 487"/>
                  <a:gd name="T5" fmla="*/ 280 h 418"/>
                  <a:gd name="T6" fmla="*/ 42 w 487"/>
                  <a:gd name="T7" fmla="*/ 68 h 418"/>
                  <a:gd name="T8" fmla="*/ 251 w 487"/>
                  <a:gd name="T9" fmla="*/ 261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418">
                    <a:moveTo>
                      <a:pt x="251" y="261"/>
                    </a:moveTo>
                    <a:cubicBezTo>
                      <a:pt x="355" y="309"/>
                      <a:pt x="454" y="370"/>
                      <a:pt x="458" y="413"/>
                    </a:cubicBezTo>
                    <a:cubicBezTo>
                      <a:pt x="458" y="418"/>
                      <a:pt x="487" y="321"/>
                      <a:pt x="483" y="280"/>
                    </a:cubicBezTo>
                    <a:cubicBezTo>
                      <a:pt x="475" y="185"/>
                      <a:pt x="0" y="0"/>
                      <a:pt x="42" y="68"/>
                    </a:cubicBezTo>
                    <a:cubicBezTo>
                      <a:pt x="50" y="81"/>
                      <a:pt x="176" y="226"/>
                      <a:pt x="251" y="261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0582A760-9F61-CC8E-7A43-55032AAD8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738" y="4533901"/>
                <a:ext cx="1962150" cy="1011238"/>
              </a:xfrm>
              <a:custGeom>
                <a:avLst/>
                <a:gdLst>
                  <a:gd name="T0" fmla="*/ 455 w 522"/>
                  <a:gd name="T1" fmla="*/ 186 h 269"/>
                  <a:gd name="T2" fmla="*/ 265 w 522"/>
                  <a:gd name="T3" fmla="*/ 251 h 269"/>
                  <a:gd name="T4" fmla="*/ 88 w 522"/>
                  <a:gd name="T5" fmla="*/ 220 h 269"/>
                  <a:gd name="T6" fmla="*/ 0 w 522"/>
                  <a:gd name="T7" fmla="*/ 65 h 269"/>
                  <a:gd name="T8" fmla="*/ 257 w 522"/>
                  <a:gd name="T9" fmla="*/ 79 h 269"/>
                  <a:gd name="T10" fmla="*/ 522 w 522"/>
                  <a:gd name="T11" fmla="*/ 0 h 269"/>
                  <a:gd name="T12" fmla="*/ 455 w 522"/>
                  <a:gd name="T13" fmla="*/ 186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2" h="269">
                    <a:moveTo>
                      <a:pt x="455" y="186"/>
                    </a:moveTo>
                    <a:cubicBezTo>
                      <a:pt x="455" y="186"/>
                      <a:pt x="441" y="228"/>
                      <a:pt x="265" y="251"/>
                    </a:cubicBezTo>
                    <a:cubicBezTo>
                      <a:pt x="121" y="269"/>
                      <a:pt x="88" y="220"/>
                      <a:pt x="88" y="220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65"/>
                      <a:pt x="47" y="104"/>
                      <a:pt x="257" y="79"/>
                    </a:cubicBezTo>
                    <a:cubicBezTo>
                      <a:pt x="470" y="54"/>
                      <a:pt x="522" y="0"/>
                      <a:pt x="522" y="0"/>
                    </a:cubicBezTo>
                    <a:lnTo>
                      <a:pt x="455" y="186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14288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D5453C7-520D-4E28-5804-9AED0CF40F72}"/>
                </a:ext>
              </a:extLst>
            </p:cNvPr>
            <p:cNvSpPr/>
            <p:nvPr/>
          </p:nvSpPr>
          <p:spPr>
            <a:xfrm>
              <a:off x="4225962" y="4609265"/>
              <a:ext cx="754127" cy="1937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8B1D132-5DC5-9BDF-EF1A-0876D3D4BEFF}"/>
                </a:ext>
              </a:extLst>
            </p:cNvPr>
            <p:cNvSpPr/>
            <p:nvPr/>
          </p:nvSpPr>
          <p:spPr>
            <a:xfrm>
              <a:off x="3973979" y="3998602"/>
              <a:ext cx="1166596" cy="274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6B1FE4-0B03-E248-1CF9-B8125166C3E9}"/>
                </a:ext>
              </a:extLst>
            </p:cNvPr>
            <p:cNvSpPr/>
            <p:nvPr/>
          </p:nvSpPr>
          <p:spPr>
            <a:xfrm>
              <a:off x="3871978" y="3431226"/>
              <a:ext cx="1383784" cy="274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Awareness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D9B711D-5FDC-3911-31B7-EBBD3284E86C}"/>
              </a:ext>
            </a:extLst>
          </p:cNvPr>
          <p:cNvSpPr txBox="1"/>
          <p:nvPr/>
        </p:nvSpPr>
        <p:spPr>
          <a:xfrm>
            <a:off x="1460012" y="3493451"/>
            <a:ext cx="2430966" cy="6467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Consideration</a:t>
            </a:r>
          </a:p>
          <a:p>
            <a:pPr algn="l" defTabSz="228600">
              <a:spcAft>
                <a:spcPts val="1200"/>
              </a:spcAft>
            </a:pPr>
            <a:endParaRPr lang="en-US" sz="1400" noProof="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345B3-15A1-18AC-2159-6DCE084CB55A}"/>
              </a:ext>
            </a:extLst>
          </p:cNvPr>
          <p:cNvSpPr txBox="1"/>
          <p:nvPr/>
        </p:nvSpPr>
        <p:spPr>
          <a:xfrm>
            <a:off x="1720876" y="4346525"/>
            <a:ext cx="2442117" cy="7136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/>
              <a:t>Purchase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FA1C08B-9EB3-B3AA-6CEB-5C4FF32C6384}"/>
              </a:ext>
            </a:extLst>
          </p:cNvPr>
          <p:cNvGrpSpPr/>
          <p:nvPr/>
        </p:nvGrpSpPr>
        <p:grpSpPr>
          <a:xfrm>
            <a:off x="3477388" y="1641581"/>
            <a:ext cx="2834204" cy="1536517"/>
            <a:chOff x="4146459" y="1831151"/>
            <a:chExt cx="2834204" cy="153651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3C3D001-F837-1510-3596-D861EC2D76AD}"/>
                </a:ext>
              </a:extLst>
            </p:cNvPr>
            <p:cNvGrpSpPr/>
            <p:nvPr/>
          </p:nvGrpSpPr>
          <p:grpSpPr>
            <a:xfrm>
              <a:off x="4146459" y="1980440"/>
              <a:ext cx="810422" cy="872315"/>
              <a:chOff x="4146459" y="2136555"/>
              <a:chExt cx="810422" cy="872315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9946149-612E-B48B-BDA8-5F6FC0DE5B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6459" y="2556394"/>
                <a:ext cx="793531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0FE385D-0B84-322F-3526-07C5501A2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6881" y="2136555"/>
                <a:ext cx="0" cy="872315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358C218-D751-2326-FC7A-4B96E0C85F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1980440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1886DCE-8F2B-791A-AC90-F138DD2586E8}"/>
                </a:ext>
              </a:extLst>
            </p:cNvPr>
            <p:cNvSpPr txBox="1"/>
            <p:nvPr/>
          </p:nvSpPr>
          <p:spPr>
            <a:xfrm>
              <a:off x="6980663" y="3367668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endParaRPr lang="en-US" sz="1200" noProof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FEE762D-32C5-62EE-CFE7-A875146E4A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2850197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65D2EA79-ED72-AA00-9508-E8C5B4A8C51C}"/>
                </a:ext>
              </a:extLst>
            </p:cNvPr>
            <p:cNvSpPr/>
            <p:nvPr/>
          </p:nvSpPr>
          <p:spPr>
            <a:xfrm>
              <a:off x="5564459" y="1831151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Online SEO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715D950C-A329-8F6B-67DC-905C3AC5543D}"/>
                </a:ext>
              </a:extLst>
            </p:cNvPr>
            <p:cNvSpPr/>
            <p:nvPr/>
          </p:nvSpPr>
          <p:spPr>
            <a:xfrm>
              <a:off x="5564459" y="223693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Offline SEO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B9D8652-3088-8945-13A0-763D637E8D6B}"/>
                </a:ext>
              </a:extLst>
            </p:cNvPr>
            <p:cNvSpPr/>
            <p:nvPr/>
          </p:nvSpPr>
          <p:spPr>
            <a:xfrm>
              <a:off x="5564459" y="2640913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9525" algn="ctr">
                <a:tabLst>
                  <a:tab pos="927100" algn="l"/>
                </a:tabLst>
              </a:pP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Instagram Ads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3C94784-785C-A3A0-210F-03B77963C1FA}"/>
              </a:ext>
            </a:extLst>
          </p:cNvPr>
          <p:cNvGrpSpPr/>
          <p:nvPr/>
        </p:nvGrpSpPr>
        <p:grpSpPr>
          <a:xfrm>
            <a:off x="3119344" y="3064479"/>
            <a:ext cx="3193146" cy="1539156"/>
            <a:chOff x="3787517" y="1828512"/>
            <a:chExt cx="3193146" cy="153915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831C58-160E-4ED4-2D0B-7AE91BAA421D}"/>
                </a:ext>
              </a:extLst>
            </p:cNvPr>
            <p:cNvGrpSpPr/>
            <p:nvPr/>
          </p:nvGrpSpPr>
          <p:grpSpPr>
            <a:xfrm>
              <a:off x="3787517" y="1980440"/>
              <a:ext cx="1169364" cy="872315"/>
              <a:chOff x="3787517" y="2136555"/>
              <a:chExt cx="1169364" cy="872315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CA634D9-F364-A2B0-8C74-03465893CF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517" y="2572712"/>
                <a:ext cx="11573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E01EE34A-E936-6F71-9986-507975A928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6881" y="2136555"/>
                <a:ext cx="0" cy="872315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FCB3264-A766-8C43-6B28-9311F7ECA8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1980440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57002A3-E703-B75C-59B3-78ED4BC74A93}"/>
                </a:ext>
              </a:extLst>
            </p:cNvPr>
            <p:cNvSpPr txBox="1"/>
            <p:nvPr/>
          </p:nvSpPr>
          <p:spPr>
            <a:xfrm>
              <a:off x="6980663" y="3367668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endParaRPr lang="en-US" sz="1200" noProof="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47939D2-0821-262E-C7CE-E87E24F5D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571" y="2850197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E4D14BBC-FA73-5100-8C5D-D6F1334AA547}"/>
                </a:ext>
              </a:extLst>
            </p:cNvPr>
            <p:cNvSpPr/>
            <p:nvPr/>
          </p:nvSpPr>
          <p:spPr>
            <a:xfrm>
              <a:off x="5563561" y="1828512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Video Ads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613FB9DC-51DA-03CF-3127-2B8C18707AE3}"/>
                </a:ext>
              </a:extLst>
            </p:cNvPr>
            <p:cNvSpPr/>
            <p:nvPr/>
          </p:nvSpPr>
          <p:spPr>
            <a:xfrm>
              <a:off x="5564459" y="223693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Copymining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E6C56F6D-FBF0-EE28-9F5A-7C959C0005D9}"/>
                </a:ext>
              </a:extLst>
            </p:cNvPr>
            <p:cNvSpPr/>
            <p:nvPr/>
          </p:nvSpPr>
          <p:spPr>
            <a:xfrm>
              <a:off x="5563561" y="264007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2B9B44-21AD-98F9-766F-D833292C920A}"/>
                </a:ext>
              </a:extLst>
            </p:cNvPr>
            <p:cNvSpPr txBox="1"/>
            <p:nvPr/>
          </p:nvSpPr>
          <p:spPr>
            <a:xfrm>
              <a:off x="5597912" y="2739603"/>
              <a:ext cx="1136911" cy="3317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Advertorials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66D46E5-4972-BF6E-3E73-7509AE2DECD4}"/>
              </a:ext>
            </a:extLst>
          </p:cNvPr>
          <p:cNvGrpSpPr/>
          <p:nvPr/>
        </p:nvGrpSpPr>
        <p:grpSpPr>
          <a:xfrm>
            <a:off x="2675495" y="4440047"/>
            <a:ext cx="3446527" cy="1190957"/>
            <a:chOff x="3344566" y="4026130"/>
            <a:chExt cx="3446527" cy="11909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F10524-AAA0-EA3D-4A79-3FBFA03FBC92}"/>
                </a:ext>
              </a:extLst>
            </p:cNvPr>
            <p:cNvGrpSpPr/>
            <p:nvPr/>
          </p:nvGrpSpPr>
          <p:grpSpPr>
            <a:xfrm>
              <a:off x="3344566" y="4178886"/>
              <a:ext cx="1601229" cy="872315"/>
              <a:chOff x="3360741" y="2136555"/>
              <a:chExt cx="1601229" cy="872315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8301EB5-9902-A762-B8CB-54CFBACB6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0741" y="2556394"/>
                <a:ext cx="1601229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8476EDC-6DFA-B4FE-25EC-EB4A9CBA8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6881" y="2136555"/>
                <a:ext cx="0" cy="872315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1EF3913-0A94-226B-5BCD-678AE1173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7396" y="4178886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6DDAC8C-283F-9FD9-5A27-ADB5FF4FC4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7396" y="5054307"/>
              <a:ext cx="514368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4A4EB872-8AF3-F0D6-9B35-307567CFE4A3}"/>
                </a:ext>
              </a:extLst>
            </p:cNvPr>
            <p:cNvSpPr/>
            <p:nvPr/>
          </p:nvSpPr>
          <p:spPr>
            <a:xfrm>
              <a:off x="5564459" y="4026130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Occasion Marketing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2FB1359-A191-671C-EF99-DD7CAB00EB96}"/>
                </a:ext>
              </a:extLst>
            </p:cNvPr>
            <p:cNvSpPr/>
            <p:nvPr/>
          </p:nvSpPr>
          <p:spPr>
            <a:xfrm>
              <a:off x="5564459" y="4885315"/>
              <a:ext cx="1226634" cy="331772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Personalized Emails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F922E74F-FBF6-AC67-EBEB-88CA61C50A97}"/>
                </a:ext>
              </a:extLst>
            </p:cNvPr>
            <p:cNvSpPr/>
            <p:nvPr/>
          </p:nvSpPr>
          <p:spPr>
            <a:xfrm>
              <a:off x="5564459" y="4443720"/>
              <a:ext cx="1226634" cy="364949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US" sz="1200">
                  <a:solidFill>
                    <a:schemeClr val="accent6">
                      <a:lumMod val="75000"/>
                    </a:schemeClr>
                  </a:solidFill>
                </a:rPr>
                <a:t>Promotional Campaigns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1138296D-7B8B-8380-0CF5-C758C748B85D}"/>
              </a:ext>
            </a:extLst>
          </p:cNvPr>
          <p:cNvSpPr txBox="1"/>
          <p:nvPr/>
        </p:nvSpPr>
        <p:spPr>
          <a:xfrm>
            <a:off x="7824486" y="1382751"/>
            <a:ext cx="2245065" cy="331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noProof="0">
                <a:solidFill>
                  <a:schemeClr val="bg1"/>
                </a:solidFill>
              </a:rPr>
              <a:t>Customer Journey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5999DB-65CB-35EE-7B77-5C89B41E91C7}"/>
              </a:ext>
            </a:extLst>
          </p:cNvPr>
          <p:cNvSpPr txBox="1"/>
          <p:nvPr/>
        </p:nvSpPr>
        <p:spPr>
          <a:xfrm>
            <a:off x="7225990" y="1790870"/>
            <a:ext cx="3992137" cy="1824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i="1" noProof="0">
                <a:solidFill>
                  <a:schemeClr val="bg1"/>
                </a:solidFill>
              </a:rPr>
              <a:t>Home textiles is a high involvement buying industry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F122D9-E075-496C-4573-4E7A516E6DED}"/>
              </a:ext>
            </a:extLst>
          </p:cNvPr>
          <p:cNvSpPr txBox="1"/>
          <p:nvPr/>
        </p:nvSpPr>
        <p:spPr>
          <a:xfrm>
            <a:off x="6726461" y="3009770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 noProof="0">
                <a:solidFill>
                  <a:schemeClr val="bg1"/>
                </a:solidFill>
              </a:rPr>
              <a:t>Search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707286-E839-2B99-9C2D-04DA06152E6E}"/>
              </a:ext>
            </a:extLst>
          </p:cNvPr>
          <p:cNvSpPr txBox="1"/>
          <p:nvPr/>
        </p:nvSpPr>
        <p:spPr>
          <a:xfrm>
            <a:off x="7987189" y="3002826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Platform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092445-7F77-09BE-2361-6C4C72A64AD1}"/>
              </a:ext>
            </a:extLst>
          </p:cNvPr>
          <p:cNvSpPr txBox="1"/>
          <p:nvPr/>
        </p:nvSpPr>
        <p:spPr>
          <a:xfrm>
            <a:off x="9247917" y="2999483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Compare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416305-D787-2EC8-39F1-F7E568D77C6C}"/>
              </a:ext>
            </a:extLst>
          </p:cNvPr>
          <p:cNvSpPr txBox="1"/>
          <p:nvPr/>
        </p:nvSpPr>
        <p:spPr>
          <a:xfrm>
            <a:off x="10471961" y="3009770"/>
            <a:ext cx="814039" cy="2275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Decision</a:t>
            </a:r>
            <a:endParaRPr lang="en-US" sz="1200" noProof="0">
              <a:solidFill>
                <a:schemeClr val="bg1"/>
              </a:solidFill>
            </a:endParaRPr>
          </a:p>
        </p:txBody>
      </p:sp>
      <p:pic>
        <p:nvPicPr>
          <p:cNvPr id="72" name="Picture 2" descr="16,083 Google Icons - Free in SVG, PNG, ICO - IconScout">
            <a:extLst>
              <a:ext uri="{FF2B5EF4-FFF2-40B4-BE49-F238E27FC236}">
                <a16:creationId xmlns:a16="http://schemas.microsoft.com/office/drawing/2014/main" id="{21CC2822-6221-6DA2-F1CD-D254DAEDA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689" y="2367981"/>
            <a:ext cx="461797" cy="46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FFFFF12-2DB8-B7E6-5C63-B68824EEF0C3}"/>
              </a:ext>
            </a:extLst>
          </p:cNvPr>
          <p:cNvGrpSpPr/>
          <p:nvPr/>
        </p:nvGrpSpPr>
        <p:grpSpPr>
          <a:xfrm>
            <a:off x="7995707" y="2246593"/>
            <a:ext cx="713348" cy="663836"/>
            <a:chOff x="7522539" y="2096275"/>
            <a:chExt cx="863152" cy="803242"/>
          </a:xfrm>
        </p:grpSpPr>
        <p:pic>
          <p:nvPicPr>
            <p:cNvPr id="73" name="Picture 4" descr="Amazon, buy, logo, online, shop icon - Free download">
              <a:extLst>
                <a:ext uri="{FF2B5EF4-FFF2-40B4-BE49-F238E27FC236}">
                  <a16:creationId xmlns:a16="http://schemas.microsoft.com/office/drawing/2014/main" id="{778BEA04-75FB-2A0B-8660-BB8118A53D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89" b="96000" l="1778" r="99111">
                          <a14:foregroundMark x1="25778" y1="37778" x2="25778" y2="37778"/>
                          <a14:foregroundMark x1="10222" y1="55556" x2="20000" y2="28444"/>
                          <a14:foregroundMark x1="20000" y1="28444" x2="34222" y2="10667"/>
                          <a14:foregroundMark x1="34222" y1="10667" x2="35111" y2="11111"/>
                          <a14:foregroundMark x1="13778" y1="49333" x2="60444" y2="81333"/>
                          <a14:foregroundMark x1="60444" y1="81333" x2="83111" y2="55556"/>
                          <a14:foregroundMark x1="83111" y1="55556" x2="80889" y2="32000"/>
                          <a14:foregroundMark x1="80889" y1="32000" x2="63111" y2="20444"/>
                          <a14:foregroundMark x1="63111" y1="20444" x2="31111" y2="18222"/>
                          <a14:foregroundMark x1="31111" y1="18222" x2="28444" y2="19111"/>
                          <a14:foregroundMark x1="0" y1="54222" x2="7111" y2="32889"/>
                          <a14:foregroundMark x1="7111" y1="32889" x2="25333" y2="9333"/>
                          <a14:foregroundMark x1="25333" y1="9333" x2="51556" y2="1333"/>
                          <a14:foregroundMark x1="51556" y1="1333" x2="56889" y2="1778"/>
                          <a14:foregroundMark x1="63111" y1="4000" x2="84444" y2="19111"/>
                          <a14:foregroundMark x1="84444" y1="19111" x2="92444" y2="38222"/>
                          <a14:foregroundMark x1="92444" y1="38222" x2="90222" y2="64444"/>
                          <a14:foregroundMark x1="90222" y1="64444" x2="74222" y2="82667"/>
                          <a14:foregroundMark x1="74222" y1="82667" x2="46667" y2="96444"/>
                          <a14:foregroundMark x1="46667" y1="96444" x2="28000" y2="84889"/>
                          <a14:foregroundMark x1="28000" y1="84889" x2="11556" y2="68000"/>
                          <a14:foregroundMark x1="11556" y1="68000" x2="11111" y2="47556"/>
                          <a14:foregroundMark x1="11111" y1="47556" x2="12000" y2="45778"/>
                          <a14:foregroundMark x1="6667" y1="72889" x2="1778" y2="52889"/>
                          <a14:foregroundMark x1="1778" y1="52889" x2="6667" y2="38222"/>
                          <a14:foregroundMark x1="62222" y1="51111" x2="62222" y2="51111"/>
                          <a14:foregroundMark x1="62222" y1="51111" x2="56889" y2="21778"/>
                          <a14:foregroundMark x1="56889" y1="21778" x2="48000" y2="47111"/>
                          <a14:foregroundMark x1="48000" y1="47111" x2="49778" y2="48889"/>
                          <a14:foregroundMark x1="42222" y1="19556" x2="21778" y2="48444"/>
                          <a14:foregroundMark x1="21778" y1="48444" x2="40000" y2="70222"/>
                          <a14:foregroundMark x1="40000" y1="70222" x2="68889" y2="58222"/>
                          <a14:foregroundMark x1="68889" y1="58222" x2="62667" y2="28444"/>
                          <a14:foregroundMark x1="62667" y1="28444" x2="44889" y2="16889"/>
                          <a14:foregroundMark x1="44889" y1="16889" x2="39111" y2="21333"/>
                          <a14:foregroundMark x1="52444" y1="37333" x2="31111" y2="52889"/>
                          <a14:foregroundMark x1="31111" y1="52889" x2="45778" y2="68889"/>
                          <a14:foregroundMark x1="45778" y1="68889" x2="64444" y2="60000"/>
                          <a14:foregroundMark x1="64444" y1="60000" x2="65333" y2="47556"/>
                          <a14:foregroundMark x1="96444" y1="67556" x2="99111" y2="45778"/>
                          <a14:foregroundMark x1="99111" y1="45778" x2="95556" y2="31556"/>
                          <a14:foregroundMark x1="37778" y1="26222" x2="51111" y2="328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4741" y="2574690"/>
              <a:ext cx="324827" cy="32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6" descr="Flipkart Bandra Kurla Complex 4000 51 - Container Service in 4000 51">
              <a:extLst>
                <a:ext uri="{FF2B5EF4-FFF2-40B4-BE49-F238E27FC236}">
                  <a16:creationId xmlns:a16="http://schemas.microsoft.com/office/drawing/2014/main" id="{49E3CC43-0FBC-E416-ED44-579DAF79F5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95556" l="2222" r="96889">
                          <a14:foregroundMark x1="24000" y1="32889" x2="24000" y2="32889"/>
                          <a14:foregroundMark x1="24000" y1="32889" x2="43111" y2="12889"/>
                          <a14:foregroundMark x1="43111" y1="12889" x2="66667" y2="15111"/>
                          <a14:foregroundMark x1="66667" y1="15111" x2="67556" y2="26667"/>
                          <a14:foregroundMark x1="67556" y1="26667" x2="67111" y2="27556"/>
                          <a14:foregroundMark x1="0" y1="48444" x2="7010" y2="26178"/>
                          <a14:foregroundMark x1="8166" y1="23916" x2="27111" y2="7556"/>
                          <a14:foregroundMark x1="27111" y1="7556" x2="36767" y2="2261"/>
                          <a14:foregroundMark x1="5778" y1="29778" x2="444" y2="44000"/>
                          <a14:foregroundMark x1="444" y1="44000" x2="1778" y2="61333"/>
                          <a14:foregroundMark x1="4615" y1="65778" x2="15111" y2="82222"/>
                          <a14:foregroundMark x1="1778" y1="61333" x2="4615" y2="65778"/>
                          <a14:foregroundMark x1="15111" y1="82222" x2="35111" y2="95556"/>
                          <a14:foregroundMark x1="91111" y1="75111" x2="94667" y2="39111"/>
                          <a14:foregroundMark x1="94667" y1="39111" x2="87111" y2="26667"/>
                          <a14:foregroundMark x1="87111" y1="26667" x2="86667" y2="25778"/>
                          <a14:foregroundMark x1="1814" y1="63995" x2="889" y2="62222"/>
                          <a14:foregroundMark x1="6222" y1="72444" x2="3191" y2="66635"/>
                          <a14:foregroundMark x1="1048" y1="60946" x2="4621" y2="32367"/>
                          <a14:foregroundMark x1="889" y1="62222" x2="962" y2="61641"/>
                          <a14:foregroundMark x1="98222" y1="39111" x2="97333" y2="58667"/>
                          <a14:foregroundMark x1="97333" y1="58667" x2="96000" y2="60889"/>
                          <a14:foregroundMark x1="3645" y1="65778" x2="2222" y2="61333"/>
                          <a14:foregroundMark x1="5778" y1="72444" x2="3645" y2="65778"/>
                          <a14:backgroundMark x1="889" y1="67111" x2="0" y2="65333"/>
                          <a14:backgroundMark x1="2222" y1="68000" x2="0" y2="58222"/>
                          <a14:backgroundMark x1="0" y1="46667" x2="5333" y2="25778"/>
                          <a14:backgroundMark x1="5333" y1="25778" x2="9778" y2="19111"/>
                          <a14:backgroundMark x1="4889" y1="24889" x2="19111" y2="2667"/>
                          <a14:backgroundMark x1="37333" y1="1333" x2="44000" y2="889"/>
                          <a14:backgroundMark x1="4444" y1="72000" x2="1333" y2="65333"/>
                          <a14:backgroundMark x1="5778" y1="75111" x2="444" y2="65778"/>
                          <a14:backgroundMark x1="444" y1="65778" x2="444" y2="65778"/>
                          <a14:backgroundMark x1="5778" y1="73778" x2="1333" y2="6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7130" y="2151445"/>
              <a:ext cx="318561" cy="318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8" descr="Myntra PNG, Transparent Myntra LOGO Download - Free Transparent PNG Logos">
              <a:extLst>
                <a:ext uri="{FF2B5EF4-FFF2-40B4-BE49-F238E27FC236}">
                  <a16:creationId xmlns:a16="http://schemas.microsoft.com/office/drawing/2014/main" id="{F89C0FB7-A9B1-BFD5-F89C-F486BEF839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2539" y="2096275"/>
              <a:ext cx="564352" cy="564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A6B6FB3-F928-2500-021C-666B0E5E6DFC}"/>
              </a:ext>
            </a:extLst>
          </p:cNvPr>
          <p:cNvGrpSpPr/>
          <p:nvPr/>
        </p:nvGrpSpPr>
        <p:grpSpPr>
          <a:xfrm>
            <a:off x="9369955" y="2317337"/>
            <a:ext cx="586062" cy="710328"/>
            <a:chOff x="8642472" y="3356758"/>
            <a:chExt cx="644668" cy="781361"/>
          </a:xfrm>
        </p:grpSpPr>
        <p:pic>
          <p:nvPicPr>
            <p:cNvPr id="77" name="Graphic 76" descr="Open hand outline">
              <a:extLst>
                <a:ext uri="{FF2B5EF4-FFF2-40B4-BE49-F238E27FC236}">
                  <a16:creationId xmlns:a16="http://schemas.microsoft.com/office/drawing/2014/main" id="{976E1FE3-0298-B0B6-7FB8-D6BFD27C0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42472" y="3493451"/>
              <a:ext cx="644668" cy="644668"/>
            </a:xfrm>
            <a:prstGeom prst="rect">
              <a:avLst/>
            </a:prstGeom>
          </p:spPr>
        </p:pic>
        <p:pic>
          <p:nvPicPr>
            <p:cNvPr id="79" name="Graphic 78" descr="Coins outline">
              <a:extLst>
                <a:ext uri="{FF2B5EF4-FFF2-40B4-BE49-F238E27FC236}">
                  <a16:creationId xmlns:a16="http://schemas.microsoft.com/office/drawing/2014/main" id="{3B8B5299-B45E-C78C-ED76-3C58B4297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54733" y="3356758"/>
              <a:ext cx="367325" cy="367325"/>
            </a:xfrm>
            <a:prstGeom prst="rect">
              <a:avLst/>
            </a:prstGeom>
          </p:spPr>
        </p:pic>
      </p:grpSp>
      <p:pic>
        <p:nvPicPr>
          <p:cNvPr id="81" name="Graphic 80" descr="Shopping cart outline">
            <a:extLst>
              <a:ext uri="{FF2B5EF4-FFF2-40B4-BE49-F238E27FC236}">
                <a16:creationId xmlns:a16="http://schemas.microsoft.com/office/drawing/2014/main" id="{010ACADF-784D-0283-6411-C7E5BAA271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63214" y="2300855"/>
            <a:ext cx="644668" cy="644668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E349CF2-630F-D45D-D37A-390E54D2F449}"/>
              </a:ext>
            </a:extLst>
          </p:cNvPr>
          <p:cNvCxnSpPr/>
          <p:nvPr/>
        </p:nvCxnSpPr>
        <p:spPr>
          <a:xfrm>
            <a:off x="8056312" y="3817883"/>
            <a:ext cx="0" cy="228834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9B06CB6-38E3-3BA3-AA23-E6E719BD5804}"/>
              </a:ext>
            </a:extLst>
          </p:cNvPr>
          <p:cNvCxnSpPr>
            <a:cxnSpLocks/>
          </p:cNvCxnSpPr>
          <p:nvPr/>
        </p:nvCxnSpPr>
        <p:spPr>
          <a:xfrm flipH="1">
            <a:off x="6362025" y="4216736"/>
            <a:ext cx="50233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1B5A32-1EE2-6FEE-CBBE-B00680CA15FA}"/>
              </a:ext>
            </a:extLst>
          </p:cNvPr>
          <p:cNvCxnSpPr/>
          <p:nvPr/>
        </p:nvCxnSpPr>
        <p:spPr>
          <a:xfrm>
            <a:off x="10287848" y="3806160"/>
            <a:ext cx="0" cy="228834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5AD3C1E-FE2D-599C-4CAA-0069AEB0426E}"/>
              </a:ext>
            </a:extLst>
          </p:cNvPr>
          <p:cNvCxnSpPr>
            <a:cxnSpLocks/>
          </p:cNvCxnSpPr>
          <p:nvPr/>
        </p:nvCxnSpPr>
        <p:spPr>
          <a:xfrm flipH="1">
            <a:off x="6362025" y="4701481"/>
            <a:ext cx="50233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3272BD8-5618-65CC-62B9-A5CC9A72B3D5}"/>
              </a:ext>
            </a:extLst>
          </p:cNvPr>
          <p:cNvCxnSpPr>
            <a:cxnSpLocks/>
          </p:cNvCxnSpPr>
          <p:nvPr/>
        </p:nvCxnSpPr>
        <p:spPr>
          <a:xfrm flipH="1">
            <a:off x="6362025" y="5212718"/>
            <a:ext cx="50233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8A101FA-A986-B737-5C89-7E84CDF6368E}"/>
              </a:ext>
            </a:extLst>
          </p:cNvPr>
          <p:cNvCxnSpPr>
            <a:cxnSpLocks/>
          </p:cNvCxnSpPr>
          <p:nvPr/>
        </p:nvCxnSpPr>
        <p:spPr>
          <a:xfrm flipH="1">
            <a:off x="6369173" y="5662122"/>
            <a:ext cx="50233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A9F09899-C7FE-9E2E-D506-1ABA53051E03}"/>
              </a:ext>
            </a:extLst>
          </p:cNvPr>
          <p:cNvSpPr txBox="1"/>
          <p:nvPr/>
        </p:nvSpPr>
        <p:spPr>
          <a:xfrm>
            <a:off x="6392402" y="4335013"/>
            <a:ext cx="1538194" cy="293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Own Website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3A065D0-5A22-CE58-9DDB-B826139CDBD0}"/>
              </a:ext>
            </a:extLst>
          </p:cNvPr>
          <p:cNvSpPr txBox="1"/>
          <p:nvPr/>
        </p:nvSpPr>
        <p:spPr>
          <a:xfrm>
            <a:off x="8102963" y="4259839"/>
            <a:ext cx="2239349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Run effective SEO</a:t>
            </a:r>
          </a:p>
          <a:p>
            <a:pPr marL="171450" indent="-1714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Track metrics effectively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82B576-2AF4-694B-B51D-5F15CDA6B5AD}"/>
              </a:ext>
            </a:extLst>
          </p:cNvPr>
          <p:cNvSpPr txBox="1"/>
          <p:nvPr/>
        </p:nvSpPr>
        <p:spPr>
          <a:xfrm>
            <a:off x="10388962" y="4269905"/>
            <a:ext cx="1309231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CTR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Brand Authority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96AF452-D6D8-1609-A3EB-3553A27EB950}"/>
              </a:ext>
            </a:extLst>
          </p:cNvPr>
          <p:cNvSpPr txBox="1"/>
          <p:nvPr/>
        </p:nvSpPr>
        <p:spPr>
          <a:xfrm>
            <a:off x="6392402" y="4852844"/>
            <a:ext cx="1538194" cy="293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E-Commerce Affiliate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3E91084-D44A-3489-4CC9-4C0E4E94D7DA}"/>
              </a:ext>
            </a:extLst>
          </p:cNvPr>
          <p:cNvSpPr txBox="1"/>
          <p:nvPr/>
        </p:nvSpPr>
        <p:spPr>
          <a:xfrm>
            <a:off x="8128242" y="4775925"/>
            <a:ext cx="2239349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Website &amp; Blogs </a:t>
            </a:r>
          </a:p>
          <a:p>
            <a:pPr marL="171450" indent="-1714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Easy to Manage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921135-2C4B-3B24-9C2E-7191F06ADF33}"/>
              </a:ext>
            </a:extLst>
          </p:cNvPr>
          <p:cNvSpPr txBox="1"/>
          <p:nvPr/>
        </p:nvSpPr>
        <p:spPr>
          <a:xfrm>
            <a:off x="6381515" y="5318222"/>
            <a:ext cx="1538194" cy="293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E-Commerce PPC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4951870-4807-BADE-8664-B144CA33CC4A}"/>
              </a:ext>
            </a:extLst>
          </p:cNvPr>
          <p:cNvSpPr txBox="1"/>
          <p:nvPr/>
        </p:nvSpPr>
        <p:spPr>
          <a:xfrm>
            <a:off x="8128242" y="5245464"/>
            <a:ext cx="2239349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Widen Consideration Set </a:t>
            </a:r>
          </a:p>
          <a:p>
            <a:pPr marL="171450" indent="-1714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High Visibility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0E4B003-7561-6DE0-C181-790E6AD7FB12}"/>
              </a:ext>
            </a:extLst>
          </p:cNvPr>
          <p:cNvSpPr txBox="1"/>
          <p:nvPr/>
        </p:nvSpPr>
        <p:spPr>
          <a:xfrm>
            <a:off x="6381515" y="5747272"/>
            <a:ext cx="1538194" cy="293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>
                <a:solidFill>
                  <a:schemeClr val="bg1"/>
                </a:solidFill>
              </a:rPr>
              <a:t>Influencer Marketing</a:t>
            </a:r>
            <a:endParaRPr lang="en-US" sz="1200" noProof="0">
              <a:solidFill>
                <a:schemeClr val="bg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65D184-F2F5-450D-451D-025AF152C64E}"/>
              </a:ext>
            </a:extLst>
          </p:cNvPr>
          <p:cNvSpPr txBox="1"/>
          <p:nvPr/>
        </p:nvSpPr>
        <p:spPr>
          <a:xfrm>
            <a:off x="8128242" y="5690312"/>
            <a:ext cx="2239349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Video Collaterals </a:t>
            </a:r>
          </a:p>
          <a:p>
            <a:pPr marL="171450" indent="-1714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Content Creation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1EE7CB-080D-8C39-52C9-4050493B409B}"/>
              </a:ext>
            </a:extLst>
          </p:cNvPr>
          <p:cNvSpPr txBox="1"/>
          <p:nvPr/>
        </p:nvSpPr>
        <p:spPr>
          <a:xfrm>
            <a:off x="10388962" y="4775585"/>
            <a:ext cx="1160097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Bounce Rate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Traffic Rate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C48B463-0258-B3E6-70BD-D06E92ED412C}"/>
              </a:ext>
            </a:extLst>
          </p:cNvPr>
          <p:cNvSpPr txBox="1"/>
          <p:nvPr/>
        </p:nvSpPr>
        <p:spPr>
          <a:xfrm>
            <a:off x="10388961" y="5245464"/>
            <a:ext cx="1160099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Bounce Rate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CPS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4E56BB7-E372-B788-EDE9-5C91A411C02E}"/>
              </a:ext>
            </a:extLst>
          </p:cNvPr>
          <p:cNvSpPr txBox="1"/>
          <p:nvPr/>
        </p:nvSpPr>
        <p:spPr>
          <a:xfrm>
            <a:off x="10388962" y="5715196"/>
            <a:ext cx="665891" cy="3689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ROAS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CPA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DF985D9-E7C5-EBB9-933D-2C93926CED4E}"/>
              </a:ext>
            </a:extLst>
          </p:cNvPr>
          <p:cNvSpPr txBox="1"/>
          <p:nvPr/>
        </p:nvSpPr>
        <p:spPr>
          <a:xfrm>
            <a:off x="10984524" y="5437048"/>
            <a:ext cx="468921" cy="165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bg1"/>
                </a:solidFill>
              </a:rPr>
              <a:t>CLV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5F346C-ECAC-EA21-EB81-27FA10EA0BAA}"/>
              </a:ext>
            </a:extLst>
          </p:cNvPr>
          <p:cNvSpPr txBox="1"/>
          <p:nvPr/>
        </p:nvSpPr>
        <p:spPr>
          <a:xfrm>
            <a:off x="6369173" y="3854280"/>
            <a:ext cx="1538194" cy="293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 noProof="0">
                <a:solidFill>
                  <a:schemeClr val="bg1"/>
                </a:solidFill>
              </a:rPr>
              <a:t>Strategy </a:t>
            </a:r>
            <a:r>
              <a:rPr lang="en-US" sz="1200" b="1">
                <a:solidFill>
                  <a:schemeClr val="bg1"/>
                </a:solidFill>
              </a:rPr>
              <a:t>Actions</a:t>
            </a:r>
            <a:endParaRPr lang="en-US" sz="1200" b="1" noProof="0">
              <a:solidFill>
                <a:schemeClr val="bg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4EC38E3-73C7-2AC6-31A2-849E5256FA8F}"/>
              </a:ext>
            </a:extLst>
          </p:cNvPr>
          <p:cNvSpPr txBox="1"/>
          <p:nvPr/>
        </p:nvSpPr>
        <p:spPr>
          <a:xfrm>
            <a:off x="8170211" y="3845139"/>
            <a:ext cx="1984245" cy="293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 noProof="0">
                <a:solidFill>
                  <a:schemeClr val="bg1"/>
                </a:solidFill>
              </a:rPr>
              <a:t>Achievable Target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4D79409-C4A5-FC9C-240B-2FB2A7A32C8C}"/>
              </a:ext>
            </a:extLst>
          </p:cNvPr>
          <p:cNvSpPr txBox="1"/>
          <p:nvPr/>
        </p:nvSpPr>
        <p:spPr>
          <a:xfrm>
            <a:off x="10387810" y="3847680"/>
            <a:ext cx="1304234" cy="2937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 noProof="0">
                <a:solidFill>
                  <a:schemeClr val="bg1"/>
                </a:solidFill>
              </a:rPr>
              <a:t>KPIs To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79B516-8BB9-E23A-8C48-5A942F7CA817}"/>
              </a:ext>
            </a:extLst>
          </p:cNvPr>
          <p:cNvSpPr/>
          <p:nvPr/>
        </p:nvSpPr>
        <p:spPr>
          <a:xfrm>
            <a:off x="6392402" y="2046718"/>
            <a:ext cx="5156657" cy="144673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DB2F-7DF7-0C07-5C47-B4B59AD18EB6}"/>
              </a:ext>
            </a:extLst>
          </p:cNvPr>
          <p:cNvSpPr txBox="1"/>
          <p:nvPr/>
        </p:nvSpPr>
        <p:spPr>
          <a:xfrm>
            <a:off x="642935" y="5437048"/>
            <a:ext cx="3488781" cy="669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i="1" dirty="0">
                <a:solidFill>
                  <a:schemeClr val="bg1"/>
                </a:solidFill>
              </a:rPr>
              <a:t>ABC company needs to increase its internet presence to increase penetration and gain a larger market share</a:t>
            </a:r>
            <a:endParaRPr lang="en-US" sz="1400" i="1" noProof="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4D68A3-7061-09A2-CC48-8DA34A2F8337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14" name="Arrow: Chevron 3">
              <a:extLst>
                <a:ext uri="{FF2B5EF4-FFF2-40B4-BE49-F238E27FC236}">
                  <a16:creationId xmlns:a16="http://schemas.microsoft.com/office/drawing/2014/main" id="{4B6B7589-A268-6AC6-12CD-49ACF9262C1D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21" name="Arrow: Chevron 5">
              <a:extLst>
                <a:ext uri="{FF2B5EF4-FFF2-40B4-BE49-F238E27FC236}">
                  <a16:creationId xmlns:a16="http://schemas.microsoft.com/office/drawing/2014/main" id="{2F0CB302-ACCB-8C5A-E26D-493BF89365ED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22" name="Arrow: Chevron 6">
              <a:extLst>
                <a:ext uri="{FF2B5EF4-FFF2-40B4-BE49-F238E27FC236}">
                  <a16:creationId xmlns:a16="http://schemas.microsoft.com/office/drawing/2014/main" id="{5859DD77-F253-B161-591B-CAB4124B9E4C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24" name="Arrow: Chevron 7">
              <a:extLst>
                <a:ext uri="{FF2B5EF4-FFF2-40B4-BE49-F238E27FC236}">
                  <a16:creationId xmlns:a16="http://schemas.microsoft.com/office/drawing/2014/main" id="{453403D4-AA59-65EE-3F91-0491D7FB405E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26" name="Arrow: Chevron 8">
              <a:extLst>
                <a:ext uri="{FF2B5EF4-FFF2-40B4-BE49-F238E27FC236}">
                  <a16:creationId xmlns:a16="http://schemas.microsoft.com/office/drawing/2014/main" id="{22732226-68A5-158F-AC81-230541C5194E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29" name="Arrow: Chevron 11">
              <a:extLst>
                <a:ext uri="{FF2B5EF4-FFF2-40B4-BE49-F238E27FC236}">
                  <a16:creationId xmlns:a16="http://schemas.microsoft.com/office/drawing/2014/main" id="{31BEA2D7-3047-10A3-AB0B-61ECD09BEC3E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854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0D416-70DD-0FC7-1980-136B87430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8</a:t>
            </a:fld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DA9052-70D2-2D2A-64BA-6B565727C6C1}"/>
              </a:ext>
            </a:extLst>
          </p:cNvPr>
          <p:cNvSpPr/>
          <p:nvPr/>
        </p:nvSpPr>
        <p:spPr>
          <a:xfrm>
            <a:off x="973770" y="651230"/>
            <a:ext cx="3380818" cy="2592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“ Naya </a:t>
            </a:r>
            <a:r>
              <a:rPr lang="en-US" b="1" err="1">
                <a:solidFill>
                  <a:schemeClr val="tx1"/>
                </a:solidFill>
              </a:rPr>
              <a:t>Saaz</a:t>
            </a:r>
            <a:r>
              <a:rPr lang="en-US" b="1">
                <a:solidFill>
                  <a:schemeClr val="tx1"/>
                </a:solidFill>
              </a:rPr>
              <a:t>, Naya Rishta”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1D7ADC-7C04-6594-FC16-61818C018515}"/>
              </a:ext>
            </a:extLst>
          </p:cNvPr>
          <p:cNvSpPr txBox="1"/>
          <p:nvPr/>
        </p:nvSpPr>
        <p:spPr>
          <a:xfrm>
            <a:off x="1150361" y="947543"/>
            <a:ext cx="1985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bg1"/>
                </a:solidFill>
                <a:latin typeface="Carlito"/>
              </a:rPr>
              <a:t>What festivals mean to engaged Customers?</a:t>
            </a:r>
          </a:p>
        </p:txBody>
      </p:sp>
      <p:sp>
        <p:nvSpPr>
          <p:cNvPr id="31" name="TextBox 71">
            <a:extLst>
              <a:ext uri="{FF2B5EF4-FFF2-40B4-BE49-F238E27FC236}">
                <a16:creationId xmlns:a16="http://schemas.microsoft.com/office/drawing/2014/main" id="{9DA6E7C4-172A-2DE7-AE58-ADDACBD7B118}"/>
              </a:ext>
            </a:extLst>
          </p:cNvPr>
          <p:cNvSpPr txBox="1"/>
          <p:nvPr/>
        </p:nvSpPr>
        <p:spPr>
          <a:xfrm>
            <a:off x="483678" y="2840363"/>
            <a:ext cx="3795574" cy="796826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Rationale</a:t>
            </a:r>
            <a:r>
              <a:rPr lang="en-US" sz="1200" dirty="0">
                <a:solidFill>
                  <a:schemeClr val="bg1"/>
                </a:solidFill>
              </a:rPr>
              <a:t>: Traditionally, festivals meant spending time &amp; enjoying with friends, neighbors &amp; family so associating ABC with festivals would garner positive sentiment around the brand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F241CD-A2F0-5CCD-C9EA-C9E9241AA2D8}"/>
              </a:ext>
            </a:extLst>
          </p:cNvPr>
          <p:cNvSpPr txBox="1"/>
          <p:nvPr/>
        </p:nvSpPr>
        <p:spPr>
          <a:xfrm>
            <a:off x="483677" y="1435098"/>
            <a:ext cx="2247203" cy="1243102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Concept</a:t>
            </a:r>
            <a:r>
              <a:rPr lang="en-US" sz="1100" dirty="0">
                <a:solidFill>
                  <a:schemeClr val="bg1"/>
                </a:solidFill>
              </a:rPr>
              <a:t>: Run campaigns like “</a:t>
            </a:r>
            <a:r>
              <a:rPr lang="en-US" sz="1100" b="1" i="1" dirty="0">
                <a:solidFill>
                  <a:schemeClr val="bg1"/>
                </a:solidFill>
              </a:rPr>
              <a:t>This Diwali, Make a change”</a:t>
            </a:r>
            <a:r>
              <a:rPr lang="en-US" sz="1100" dirty="0">
                <a:solidFill>
                  <a:schemeClr val="bg1"/>
                </a:solidFill>
              </a:rPr>
              <a:t> to telling everyone to say </a:t>
            </a:r>
            <a:r>
              <a:rPr lang="en-US" sz="1100" b="1" i="1" dirty="0">
                <a:solidFill>
                  <a:schemeClr val="bg1"/>
                </a:solidFill>
              </a:rPr>
              <a:t>no to crackers</a:t>
            </a:r>
            <a:r>
              <a:rPr lang="en-US" sz="1100" dirty="0">
                <a:solidFill>
                  <a:schemeClr val="bg1"/>
                </a:solidFill>
              </a:rPr>
              <a:t> and showing the family spreading a new air purifying bedsheets and comforters in a home filled with </a:t>
            </a:r>
            <a:r>
              <a:rPr lang="en-US" sz="1100" dirty="0" err="1">
                <a:solidFill>
                  <a:schemeClr val="bg1"/>
                </a:solidFill>
              </a:rPr>
              <a:t>Diyas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1" name="TextBox 71">
            <a:extLst>
              <a:ext uri="{FF2B5EF4-FFF2-40B4-BE49-F238E27FC236}">
                <a16:creationId xmlns:a16="http://schemas.microsoft.com/office/drawing/2014/main" id="{D41F352A-06E1-4CB0-5791-D7E4475BA8C9}"/>
              </a:ext>
            </a:extLst>
          </p:cNvPr>
          <p:cNvSpPr txBox="1"/>
          <p:nvPr/>
        </p:nvSpPr>
        <p:spPr>
          <a:xfrm>
            <a:off x="4493562" y="2878187"/>
            <a:ext cx="3726125" cy="796826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Rationale</a:t>
            </a:r>
            <a:r>
              <a:rPr lang="en-US" sz="1200" dirty="0">
                <a:solidFill>
                  <a:schemeClr val="bg1"/>
                </a:solidFill>
              </a:rPr>
              <a:t>: We have long seen this trend that customers usually don't dispose off their old towels &amp; bedsheets. We plan to receive these back from customers in order to recycle the same.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23FF96-ADCC-B77F-5C67-BA146B903E6D}"/>
              </a:ext>
            </a:extLst>
          </p:cNvPr>
          <p:cNvSpPr/>
          <p:nvPr/>
        </p:nvSpPr>
        <p:spPr>
          <a:xfrm>
            <a:off x="4940043" y="678248"/>
            <a:ext cx="3244232" cy="232182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#GoGreenWithABC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5" name="AutoShape 3" descr="10 Best Mattress Brands in India for 2022 | Expert Tested | Outlook">
            <a:extLst>
              <a:ext uri="{FF2B5EF4-FFF2-40B4-BE49-F238E27FC236}">
                <a16:creationId xmlns:a16="http://schemas.microsoft.com/office/drawing/2014/main" id="{E79FDF0A-C71C-A5DE-9349-4B11D74EDF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9331028-2907-E2A4-01DC-05C00EE7A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949" y="1053383"/>
            <a:ext cx="1564639" cy="1644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5CA75FF-6989-D9F6-F6CC-0633A06AF6E8}"/>
              </a:ext>
            </a:extLst>
          </p:cNvPr>
          <p:cNvSpPr txBox="1"/>
          <p:nvPr/>
        </p:nvSpPr>
        <p:spPr>
          <a:xfrm>
            <a:off x="5049584" y="871942"/>
            <a:ext cx="20310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Carlito"/>
              </a:rPr>
              <a:t>Our customers are becoming environment conscious by the 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E7F77-758A-3C9F-D825-F51687F5A76E}"/>
              </a:ext>
            </a:extLst>
          </p:cNvPr>
          <p:cNvSpPr txBox="1"/>
          <p:nvPr/>
        </p:nvSpPr>
        <p:spPr>
          <a:xfrm>
            <a:off x="4491687" y="1473888"/>
            <a:ext cx="2607299" cy="1350824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Concept</a:t>
            </a:r>
            <a:r>
              <a:rPr lang="en-US" sz="1200" dirty="0">
                <a:solidFill>
                  <a:schemeClr val="bg1"/>
                </a:solidFill>
              </a:rPr>
              <a:t>: We aim to run social media campaigns with the hashtag #GoGreenWithABC to engage our customers on social media. With this, we will provide our customers discount coupons if they return their used towels &amp; bedsheets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AEBB19-65BA-9A4C-FCEB-2A281131E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192074"/>
              </p:ext>
            </p:extLst>
          </p:nvPr>
        </p:nvGraphicFramePr>
        <p:xfrm>
          <a:off x="554048" y="3923321"/>
          <a:ext cx="8354780" cy="236569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387926">
                  <a:extLst>
                    <a:ext uri="{9D8B030D-6E8A-4147-A177-3AD203B41FA5}">
                      <a16:colId xmlns:a16="http://schemas.microsoft.com/office/drawing/2014/main" val="3045191246"/>
                    </a:ext>
                  </a:extLst>
                </a:gridCol>
                <a:gridCol w="1728106">
                  <a:extLst>
                    <a:ext uri="{9D8B030D-6E8A-4147-A177-3AD203B41FA5}">
                      <a16:colId xmlns:a16="http://schemas.microsoft.com/office/drawing/2014/main" val="80164781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956607906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054079568"/>
                    </a:ext>
                  </a:extLst>
                </a:gridCol>
                <a:gridCol w="1374320">
                  <a:extLst>
                    <a:ext uri="{9D8B030D-6E8A-4147-A177-3AD203B41FA5}">
                      <a16:colId xmlns:a16="http://schemas.microsoft.com/office/drawing/2014/main" val="3020698912"/>
                    </a:ext>
                  </a:extLst>
                </a:gridCol>
                <a:gridCol w="1360714">
                  <a:extLst>
                    <a:ext uri="{9D8B030D-6E8A-4147-A177-3AD203B41FA5}">
                      <a16:colId xmlns:a16="http://schemas.microsoft.com/office/drawing/2014/main" val="362972716"/>
                    </a:ext>
                  </a:extLst>
                </a:gridCol>
              </a:tblGrid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factor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Unit cost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Conversion Rate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in Year 1 (INR)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in Year 2 (INR)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Cost in Year 3 (INR)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5815512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Website maintenance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1,50,000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70,000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70,000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92160442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Paid search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Cost per click = Rs.6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2.50%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36,00,000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36,00,000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36,00,000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60013126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Paid social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Avg engagement ratio = 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30,00,000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31,50,000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33,07,500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8708856"/>
                  </a:ext>
                </a:extLst>
              </a:tr>
              <a:tr h="2110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Affiliates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Cost per sale = 8%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3,40,000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3,40,000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3,40,000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59489124"/>
                  </a:ext>
                </a:extLst>
              </a:tr>
              <a:tr h="3376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Direct reach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Cost per E-mail= INR 0.0425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1.50%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42,500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43,775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45,088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7069748"/>
                  </a:ext>
                </a:extLst>
              </a:tr>
              <a:tr h="16880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Total cost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71,32,500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72,03,775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73,62,588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6708170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C0ACAA5-E411-5CD5-E12F-0883D5757AA6}"/>
              </a:ext>
            </a:extLst>
          </p:cNvPr>
          <p:cNvGrpSpPr/>
          <p:nvPr/>
        </p:nvGrpSpPr>
        <p:grpSpPr>
          <a:xfrm>
            <a:off x="8184275" y="494808"/>
            <a:ext cx="3555442" cy="914400"/>
            <a:chOff x="-65988" y="324081"/>
            <a:chExt cx="3470200" cy="914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DF5690-A34A-0DCC-97EF-5EBBA58BAC50}"/>
                </a:ext>
              </a:extLst>
            </p:cNvPr>
            <p:cNvSpPr/>
            <p:nvPr/>
          </p:nvSpPr>
          <p:spPr>
            <a:xfrm>
              <a:off x="605928" y="504067"/>
              <a:ext cx="2798284" cy="2592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#AbHarGharABC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Ribbon">
              <a:extLst>
                <a:ext uri="{FF2B5EF4-FFF2-40B4-BE49-F238E27FC236}">
                  <a16:creationId xmlns:a16="http://schemas.microsoft.com/office/drawing/2014/main" id="{B6CF45E6-E1C4-0972-388E-25694B0D2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65988" y="324081"/>
              <a:ext cx="914400" cy="9144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0FD2E91-D117-9602-74DB-0547760799F7}"/>
              </a:ext>
            </a:extLst>
          </p:cNvPr>
          <p:cNvSpPr txBox="1"/>
          <p:nvPr/>
        </p:nvSpPr>
        <p:spPr>
          <a:xfrm>
            <a:off x="8888548" y="971529"/>
            <a:ext cx="254145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Carlito"/>
              </a:rPr>
              <a:t>Tier 2 penetration of organized </a:t>
            </a:r>
            <a:r>
              <a:rPr lang="en-US" sz="1200" i="1">
                <a:solidFill>
                  <a:schemeClr val="bg1"/>
                </a:solidFill>
                <a:latin typeface="Carlito"/>
              </a:rPr>
              <a:t>home textile </a:t>
            </a:r>
            <a:r>
              <a:rPr lang="en-US" sz="1200" i="1" dirty="0">
                <a:solidFill>
                  <a:schemeClr val="bg1"/>
                </a:solidFill>
                <a:latin typeface="Carlito"/>
              </a:rPr>
              <a:t>brands is less due to less brand conscious consumers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F448D-37E1-D7AB-7B3D-4B187BAA7E13}"/>
              </a:ext>
            </a:extLst>
          </p:cNvPr>
          <p:cNvSpPr txBox="1"/>
          <p:nvPr/>
        </p:nvSpPr>
        <p:spPr>
          <a:xfrm>
            <a:off x="8462355" y="1603234"/>
            <a:ext cx="2177753" cy="1166158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Concept</a:t>
            </a:r>
            <a:r>
              <a:rPr lang="en-US" sz="1200" dirty="0">
                <a:solidFill>
                  <a:schemeClr val="bg1"/>
                </a:solidFill>
              </a:rPr>
              <a:t>:</a:t>
            </a:r>
            <a:r>
              <a:rPr lang="en-US" sz="1200" b="0" i="0" dirty="0">
                <a:solidFill>
                  <a:srgbClr val="373E46"/>
                </a:solidFill>
                <a:effectLst/>
                <a:latin typeface="ars-maquette-web"/>
              </a:rPr>
              <a:t> Pioneering the Hostess Group Demonstrations in order to tap into the power of women’s social networks for personalized demonstrations of bed and bath linen products.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4C9778EC-DC82-B035-D0B1-77DEB98DF85C}"/>
              </a:ext>
            </a:extLst>
          </p:cNvPr>
          <p:cNvSpPr txBox="1"/>
          <p:nvPr/>
        </p:nvSpPr>
        <p:spPr>
          <a:xfrm>
            <a:off x="8462355" y="2892025"/>
            <a:ext cx="3033327" cy="796826"/>
          </a:xfrm>
          <a:prstGeom prst="rect">
            <a:avLst/>
          </a:prstGeom>
          <a:noFill/>
          <a:ln w="19050">
            <a:solidFill>
              <a:schemeClr val="accent4"/>
            </a:solidFill>
            <a:prstDash val="dash"/>
          </a:ln>
        </p:spPr>
        <p:txBody>
          <a:bodyPr wrap="square" lIns="36000" tIns="54000" rIns="36000" bIns="3600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Rationale</a:t>
            </a:r>
            <a:r>
              <a:rPr lang="en-US" sz="1200" dirty="0">
                <a:solidFill>
                  <a:schemeClr val="bg1"/>
                </a:solidFill>
              </a:rPr>
              <a:t>: </a:t>
            </a:r>
            <a:r>
              <a:rPr lang="en-US" sz="1200" b="0" i="0" dirty="0">
                <a:solidFill>
                  <a:srgbClr val="373E46"/>
                </a:solidFill>
                <a:effectLst/>
                <a:latin typeface="ars-maquette-web"/>
              </a:rPr>
              <a:t> Expanding reach and building trust in Tier 2 cities is a little tricky in India. Here, we are empowering women to become independent ABC dealers.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2" name="Picture 6" descr="GEM Global Entrepreneurship Monitor">
            <a:extLst>
              <a:ext uri="{FF2B5EF4-FFF2-40B4-BE49-F238E27FC236}">
                <a16:creationId xmlns:a16="http://schemas.microsoft.com/office/drawing/2014/main" id="{49E8BF4D-5F92-BF35-CD73-69B6CEB08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706" y="1439009"/>
            <a:ext cx="970011" cy="129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Ribbon">
            <a:extLst>
              <a:ext uri="{FF2B5EF4-FFF2-40B4-BE49-F238E27FC236}">
                <a16:creationId xmlns:a16="http://schemas.microsoft.com/office/drawing/2014/main" id="{2E419C94-4B90-BDC6-CFDC-81067D819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008" y="460654"/>
            <a:ext cx="936861" cy="914400"/>
          </a:xfrm>
          <a:prstGeom prst="rect">
            <a:avLst/>
          </a:prstGeom>
        </p:spPr>
      </p:pic>
      <p:pic>
        <p:nvPicPr>
          <p:cNvPr id="14" name="Graphic 13" descr="Ribbon">
            <a:extLst>
              <a:ext uri="{FF2B5EF4-FFF2-40B4-BE49-F238E27FC236}">
                <a16:creationId xmlns:a16="http://schemas.microsoft.com/office/drawing/2014/main" id="{B0EC542F-42F1-7EBA-68F4-DBC07AFCB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754" y="496804"/>
            <a:ext cx="936861" cy="91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1AD9D2-07F5-4572-135E-61BAC7E28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711" y="1237500"/>
            <a:ext cx="1120702" cy="152750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3036143-431B-713D-DB41-F0660FA0E579}"/>
              </a:ext>
            </a:extLst>
          </p:cNvPr>
          <p:cNvGrpSpPr/>
          <p:nvPr/>
        </p:nvGrpSpPr>
        <p:grpSpPr>
          <a:xfrm>
            <a:off x="0" y="142951"/>
            <a:ext cx="12192000" cy="378144"/>
            <a:chOff x="522892" y="124260"/>
            <a:chExt cx="10996651" cy="378144"/>
          </a:xfrm>
        </p:grpSpPr>
        <p:sp>
          <p:nvSpPr>
            <p:cNvPr id="17" name="Arrow: Chevron 3">
              <a:extLst>
                <a:ext uri="{FF2B5EF4-FFF2-40B4-BE49-F238E27FC236}">
                  <a16:creationId xmlns:a16="http://schemas.microsoft.com/office/drawing/2014/main" id="{9A917CA6-9AC9-E505-B7F8-78DE1B0A9327}"/>
                </a:ext>
              </a:extLst>
            </p:cNvPr>
            <p:cNvSpPr/>
            <p:nvPr/>
          </p:nvSpPr>
          <p:spPr>
            <a:xfrm>
              <a:off x="522892" y="143574"/>
              <a:ext cx="1855565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Addressable Ecommerce Market</a:t>
              </a:r>
            </a:p>
          </p:txBody>
        </p:sp>
        <p:sp>
          <p:nvSpPr>
            <p:cNvPr id="18" name="Arrow: Chevron 5">
              <a:extLst>
                <a:ext uri="{FF2B5EF4-FFF2-40B4-BE49-F238E27FC236}">
                  <a16:creationId xmlns:a16="http://schemas.microsoft.com/office/drawing/2014/main" id="{5C5E3C33-B35E-E0E5-D8B9-D5F510AAA5DE}"/>
                </a:ext>
              </a:extLst>
            </p:cNvPr>
            <p:cNvSpPr/>
            <p:nvPr/>
          </p:nvSpPr>
          <p:spPr>
            <a:xfrm>
              <a:off x="2291973" y="151322"/>
              <a:ext cx="1955142" cy="35083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Segmentation &amp; Cluster Analysis</a:t>
              </a:r>
            </a:p>
          </p:txBody>
        </p:sp>
        <p:sp>
          <p:nvSpPr>
            <p:cNvPr id="19" name="Arrow: Chevron 6">
              <a:extLst>
                <a:ext uri="{FF2B5EF4-FFF2-40B4-BE49-F238E27FC236}">
                  <a16:creationId xmlns:a16="http://schemas.microsoft.com/office/drawing/2014/main" id="{EFDB892E-92B4-C3A6-EC70-2AD76CE68DB1}"/>
                </a:ext>
              </a:extLst>
            </p:cNvPr>
            <p:cNvSpPr/>
            <p:nvPr/>
          </p:nvSpPr>
          <p:spPr>
            <a:xfrm>
              <a:off x="4140858" y="135602"/>
              <a:ext cx="1955142" cy="3665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Competitor Benchmarking</a:t>
              </a:r>
            </a:p>
          </p:txBody>
        </p:sp>
        <p:sp>
          <p:nvSpPr>
            <p:cNvPr id="20" name="Arrow: Chevron 7">
              <a:extLst>
                <a:ext uri="{FF2B5EF4-FFF2-40B4-BE49-F238E27FC236}">
                  <a16:creationId xmlns:a16="http://schemas.microsoft.com/office/drawing/2014/main" id="{84986969-E93A-504E-C3D1-D4368D55B901}"/>
                </a:ext>
              </a:extLst>
            </p:cNvPr>
            <p:cNvSpPr/>
            <p:nvPr/>
          </p:nvSpPr>
          <p:spPr>
            <a:xfrm>
              <a:off x="6027274" y="134750"/>
              <a:ext cx="1954629" cy="36765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Channel Strategy &amp; Portfolio Strategy</a:t>
              </a:r>
            </a:p>
          </p:txBody>
        </p:sp>
        <p:sp>
          <p:nvSpPr>
            <p:cNvPr id="21" name="Arrow: Chevron 8">
              <a:extLst>
                <a:ext uri="{FF2B5EF4-FFF2-40B4-BE49-F238E27FC236}">
                  <a16:creationId xmlns:a16="http://schemas.microsoft.com/office/drawing/2014/main" id="{60B8315B-9A74-3BCE-689D-B588091CC99C}"/>
                </a:ext>
              </a:extLst>
            </p:cNvPr>
            <p:cNvSpPr/>
            <p:nvPr/>
          </p:nvSpPr>
          <p:spPr>
            <a:xfrm>
              <a:off x="7876159" y="131844"/>
              <a:ext cx="1813329" cy="370311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Digital Marketing Mix</a:t>
              </a:r>
            </a:p>
          </p:txBody>
        </p:sp>
        <p:sp>
          <p:nvSpPr>
            <p:cNvPr id="22" name="Arrow: Chevron 11">
              <a:extLst>
                <a:ext uri="{FF2B5EF4-FFF2-40B4-BE49-F238E27FC236}">
                  <a16:creationId xmlns:a16="http://schemas.microsoft.com/office/drawing/2014/main" id="{79C2CAEB-1E0A-6D87-373C-C14F4B1B1090}"/>
                </a:ext>
              </a:extLst>
            </p:cNvPr>
            <p:cNvSpPr/>
            <p:nvPr/>
          </p:nvSpPr>
          <p:spPr>
            <a:xfrm>
              <a:off x="9584173" y="124260"/>
              <a:ext cx="1935370" cy="359680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Campaigns &amp; Feasibility Analysis</a:t>
              </a:r>
            </a:p>
          </p:txBody>
        </p:sp>
      </p:grp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CA48A07C-200B-9EB1-6147-B34D10F8CE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0553215"/>
              </p:ext>
            </p:extLst>
          </p:nvPr>
        </p:nvGraphicFramePr>
        <p:xfrm>
          <a:off x="8993529" y="3923321"/>
          <a:ext cx="2782320" cy="2365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9E501BB-78B2-A477-99A2-AA43DE144104}"/>
              </a:ext>
            </a:extLst>
          </p:cNvPr>
          <p:cNvSpPr txBox="1"/>
          <p:nvPr/>
        </p:nvSpPr>
        <p:spPr>
          <a:xfrm>
            <a:off x="4002493" y="3712001"/>
            <a:ext cx="3522312" cy="2344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 noProof="0" dirty="0">
                <a:solidFill>
                  <a:schemeClr val="bg1"/>
                </a:solidFill>
              </a:rPr>
              <a:t>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2063748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manager*hierarchy*business*people*organization*coaching*teams*boss*leader*employees*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TAGS_ICONS" val=""/>
</p:tagLst>
</file>

<file path=ppt/theme/theme1.xml><?xml version="1.0" encoding="utf-8"?>
<a:theme xmlns:a="http://schemas.openxmlformats.org/drawingml/2006/main" name="Accenture 2022 use this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29E97269A4E4999B4316A1C379336" ma:contentTypeVersion="4" ma:contentTypeDescription="Create a new document." ma:contentTypeScope="" ma:versionID="f20d241394743fabae99a664d04407ff">
  <xsd:schema xmlns:xsd="http://www.w3.org/2001/XMLSchema" xmlns:xs="http://www.w3.org/2001/XMLSchema" xmlns:p="http://schemas.microsoft.com/office/2006/metadata/properties" xmlns:ns3="c1290799-fbf8-423e-897d-8e5f5d40b1ee" targetNamespace="http://schemas.microsoft.com/office/2006/metadata/properties" ma:root="true" ma:fieldsID="8600128d6665c4291d704c40e6c18d94" ns3:_="">
    <xsd:import namespace="c1290799-fbf8-423e-897d-8e5f5d40b1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290799-fbf8-423e-897d-8e5f5d40b1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9521DA-A842-4DD6-AFEE-DF42E040E49C}">
  <ds:schemaRefs>
    <ds:schemaRef ds:uri="c1290799-fbf8-423e-897d-8e5f5d40b1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9B99216-FE7F-4A22-836B-9624125AAF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B01492-4F17-4AE7-9AFD-368956FDCA01}">
  <ds:schemaRefs>
    <ds:schemaRef ds:uri="c1290799-fbf8-423e-897d-8e5f5d40b1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1613</Words>
  <Application>Microsoft Macintosh PowerPoint</Application>
  <PresentationFormat>Widescreen</PresentationFormat>
  <Paragraphs>438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ars-maquette-web</vt:lpstr>
      <vt:lpstr>Calibri</vt:lpstr>
      <vt:lpstr>Carlito</vt:lpstr>
      <vt:lpstr>Graphik</vt:lpstr>
      <vt:lpstr>Graphik Bold</vt:lpstr>
      <vt:lpstr>Graphik Regular</vt:lpstr>
      <vt:lpstr>Graphik-Light</vt:lpstr>
      <vt:lpstr>GT Sectra Fine</vt:lpstr>
      <vt:lpstr>System Font</vt:lpstr>
      <vt:lpstr>Wingdings</vt:lpstr>
      <vt:lpstr>Accenture 2022 use this template</vt:lpstr>
      <vt:lpstr>PowerPoint Presentation</vt:lpstr>
      <vt:lpstr>Addressable Ecommerce Market Size</vt:lpstr>
      <vt:lpstr>Addressable Ecommerce Market Size</vt:lpstr>
      <vt:lpstr>PowerPoint Presentation</vt:lpstr>
      <vt:lpstr>PowerPoint Presentation</vt:lpstr>
      <vt:lpstr>Having an omni-platform presence will facilitate high growth </vt:lpstr>
      <vt:lpstr>ABC needs to widen its marketing funnel, follow a holistic digital strategy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Sharma, Shubhanshu</dc:creator>
  <cp:lastModifiedBy>SANYAM GUPTA</cp:lastModifiedBy>
  <cp:revision>317</cp:revision>
  <dcterms:created xsi:type="dcterms:W3CDTF">2022-08-26T17:09:31Z</dcterms:created>
  <dcterms:modified xsi:type="dcterms:W3CDTF">2022-09-26T07:01:05Z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0x01010097C29E97269A4E4999B4316A1C379336</vt:lpwstr>
  </property>
</Properties>
</file>